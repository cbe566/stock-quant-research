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海外对冲基金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537"/>
                </a:solidFill>
                <a:latin typeface="Microsoft YaHei"/>
              </a:defRPr>
            </a:pPr>
            <a:r>
              <a:t>OVERSEAS HEDGE FUNDS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463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投资者教育系列  |  全面解析全球对冲基金行业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数据来源：HFR · Preqin · Bloomberg · J.P. Morgan · Institutional Investor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icrosoft YaHei"/>
              </a:defRPr>
            </a:pPr>
            <a:r>
              <a:t>2026年3月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37"/>
                </a:solidFill>
                <a:latin typeface="Microsoft YaHei"/>
              </a:defRPr>
            </a:pPr>
            <a:r>
              <a:t>目  录 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904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什么是对冲基金？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0195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93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对冲基金 vs 公募基金 vs 私募股权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0487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963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对冲基金发展史（1949-2026）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90779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992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六大核心策略详解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41071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02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传奇案例与经典交易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1363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050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费用结构：2/20 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41655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07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风险全景与全球监管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91947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10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全球市场规模与趋势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42239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5138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中国投资者参与渠道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925312"/>
            <a:ext cx="9601200" cy="127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989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0167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核心术语表与总结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01  什么是对冲基金？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Hedge Fund — 以绝对回报为目标的私募投资基金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什么是对冲基金？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对冲基金（Hedge Fund）是一种以「绝对回报」为目标的私募投资基金，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通过多元化策略（做多、做空、杠杆、衍生品等）在各种市场环境下追求正收益。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绝对收益导向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46120"/>
            <a:ext cx="14630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不以跑赢指数为目标</a:t>
            </a:r>
            <a:br/>
            <a:r>
              <a:t>牛熊市皆追求正回报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743200"/>
            <a:ext cx="201168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策略灵活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246120"/>
            <a:ext cx="14630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33832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可做多、做空</a:t>
            </a:r>
            <a:br/>
            <a:r>
              <a:t>使用杠杆与衍生品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743200"/>
            <a:ext cx="201168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高门槛准入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246120"/>
            <a:ext cx="14630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33832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仅面向合格投资者</a:t>
            </a:r>
            <a:br/>
            <a:r>
              <a:t>通常$100万美元以上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743200"/>
            <a:ext cx="201168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流动性限制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246120"/>
            <a:ext cx="14630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33832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设有锁定期</a:t>
            </a:r>
            <a:br/>
            <a:r>
              <a:t>季度或年度赎回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743200"/>
            <a:ext cx="201168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2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有限合伙制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3246120"/>
            <a:ext cx="14630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20" y="33832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LP/GP结构运作</a:t>
            </a:r>
            <a:br/>
            <a:r>
              <a:t>管理人自有资金投入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核心逻辑：  投资组合收益 = Alpha（选股能力）+ Beta（市场风险）× 市场收益      →  对冲基金目标：最大化 Alpha，降低或消除 Beta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02  三种基金类型比较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对冲基金 vs 公募基金 vs 私募股权基金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对冲基金 vs 公募基金 vs 私募股权基金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比较维度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对冲基金 Hedge Fund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公募基金 Mutual Fund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私募股权 Private Equity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投资标的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全资产类别（股票、债券、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商品、外汇、衍生品）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主要为股票、债券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非上市公司股权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做多做空、杠杆、套利、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全球宏观等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主要做多（Long-only）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收购、重组、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改善经营后退出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投资者门槛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高（$100万~$500万）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低（任何人均可）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极高（$500万~$1000万）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流动性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较低（季度/年度赎回）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高（每日可赎回）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极低（5-10年锁定期）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费用结构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2%管理费+20%业绩报酬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1%-2%管理费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2%管理费+20%附带收益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收益目标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绝对收益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相对收益（跑赢基准）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高回报（经营改善）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监管程度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较低（2010后加强）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严格监管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信息透明度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高（定期披露持仓）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03  对冲基金发展史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从1949年到2026年 — 七十余年的传奇历程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发展史（上）：创始与崛起  1949-1999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1949</a:t>
            </a:r>
          </a:p>
        </p:txBody>
      </p:sp>
      <p:sp>
        <p:nvSpPr>
          <p:cNvPr id="5" name="Oval 4"/>
          <p:cNvSpPr/>
          <p:nvPr/>
        </p:nvSpPr>
        <p:spPr>
          <a:xfrm>
            <a:off x="1965960" y="1261872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1143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Alfred W. Jones 创立第一支对冲基金</a:t>
            </a:r>
            <a:br/>
            <a:r>
              <a:t>初始资金10万美元，发明「做多+做空」组合与2/20收费模式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1966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1929384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81051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《财富》杂志首次使用「Hedge Fund」一词</a:t>
            </a:r>
            <a:br/>
            <a:r>
              <a:t>Jones基金5年跑赢最优秀公募基金44%，引爆行业关注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1969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596896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47802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索罗斯创立量子基金 Quantum Fund</a:t>
            </a:r>
            <a:br/>
            <a:r>
              <a:t>Steinhardt创立Steinhardt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912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1970s</a:t>
            </a:r>
          </a:p>
        </p:txBody>
      </p:sp>
      <p:sp>
        <p:nvSpPr>
          <p:cNvPr id="14" name="Oval 13"/>
          <p:cNvSpPr/>
          <p:nvPr/>
        </p:nvSpPr>
        <p:spPr>
          <a:xfrm>
            <a:off x="1965960" y="3264408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3145536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第一次行业洗牌 — 石油危机引发股市暴跌</a:t>
            </a:r>
            <a:br/>
            <a:r>
              <a:t>过度杠杆基金遭受重创，行业规模大幅收缩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587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1990</a:t>
            </a:r>
          </a:p>
        </p:txBody>
      </p:sp>
      <p:sp>
        <p:nvSpPr>
          <p:cNvPr id="17" name="Oval 16"/>
          <p:cNvSpPr/>
          <p:nvPr/>
        </p:nvSpPr>
        <p:spPr>
          <a:xfrm>
            <a:off x="1965960" y="3931920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381304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Ken Griffin 22岁创立 Citadel 城堡投资</a:t>
            </a:r>
            <a:br/>
            <a:r>
              <a:t>在哈佛宿舍安装卫星天线开始交易的传奇故事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1992</a:t>
            </a:r>
          </a:p>
        </p:txBody>
      </p:sp>
      <p:sp>
        <p:nvSpPr>
          <p:cNvPr id="20" name="Oval 19"/>
          <p:cNvSpPr/>
          <p:nvPr/>
        </p:nvSpPr>
        <p:spPr>
          <a:xfrm>
            <a:off x="1965960" y="4599432"/>
            <a:ext cx="137160" cy="13716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4480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索罗斯做空英镑，获利超10亿英镑</a:t>
            </a:r>
            <a:br/>
            <a:r>
              <a:t>被称为「击垮英格兰银行的人」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1998</a:t>
            </a:r>
          </a:p>
        </p:txBody>
      </p:sp>
      <p:sp>
        <p:nvSpPr>
          <p:cNvPr id="23" name="Oval 22"/>
          <p:cNvSpPr/>
          <p:nvPr/>
        </p:nvSpPr>
        <p:spPr>
          <a:xfrm>
            <a:off x="1965960" y="5266944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514807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LTCM崩盘 — 诺贝尔奖得主也无法避免的灾难</a:t>
            </a:r>
            <a:br/>
            <a:r>
              <a:t>美联储协调14家机构注资36.5亿美元救助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6130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1999</a:t>
            </a:r>
          </a:p>
        </p:txBody>
      </p:sp>
      <p:sp>
        <p:nvSpPr>
          <p:cNvPr id="26" name="Oval 25"/>
          <p:cNvSpPr/>
          <p:nvPr/>
        </p:nvSpPr>
        <p:spPr>
          <a:xfrm>
            <a:off x="1965960" y="5934456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581558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行业增长至~4,000支基金</a:t>
            </a:r>
            <a:br/>
            <a:r>
              <a:t>管理资产超过4,500亿美元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1188720"/>
            <a:ext cx="25400" cy="5120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发展史（下）：机构化与新纪元  2000-2026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2000-02</a:t>
            </a:r>
          </a:p>
        </p:txBody>
      </p:sp>
      <p:sp>
        <p:nvSpPr>
          <p:cNvPr id="5" name="Oval 4"/>
          <p:cNvSpPr/>
          <p:nvPr/>
        </p:nvSpPr>
        <p:spPr>
          <a:xfrm>
            <a:off x="1965960" y="1261872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1143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科网泡沫破裂 — 对冲基金因可做空而表现优异</a:t>
            </a:r>
            <a:br/>
            <a:r>
              <a:t>养老金、主权财富基金开始大规模配置，行业进入「机构化」时代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2005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1929384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81051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行业规模首次突破 1 万亿美元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2007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596896"/>
            <a:ext cx="137160" cy="13716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47802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巅峰时刻 — 管理资产接近 2 万亿美元</a:t>
            </a:r>
            <a:br/>
            <a:r>
              <a:t>全球对冲基金数量超过 10,000 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912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2008</a:t>
            </a:r>
          </a:p>
        </p:txBody>
      </p:sp>
      <p:sp>
        <p:nvSpPr>
          <p:cNvPr id="14" name="Oval 13"/>
          <p:cNvSpPr/>
          <p:nvPr/>
        </p:nvSpPr>
        <p:spPr>
          <a:xfrm>
            <a:off x="1965960" y="3264408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3145536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全球金融危机 — 平均亏损15%-20%</a:t>
            </a:r>
            <a:br/>
            <a:r>
              <a:t>麦道夫650亿美元骗局曝光，行业信誉遭重创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587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2010</a:t>
            </a:r>
          </a:p>
        </p:txBody>
      </p:sp>
      <p:sp>
        <p:nvSpPr>
          <p:cNvPr id="17" name="Oval 16"/>
          <p:cNvSpPr/>
          <p:nvPr/>
        </p:nvSpPr>
        <p:spPr>
          <a:xfrm>
            <a:off x="1965960" y="3931920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381304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《Dodd-Frank法案》通过 — 要求向SEC注册</a:t>
            </a:r>
            <a:br/>
            <a:r>
              <a:t>引入Form PF报告制度，加强系统性风险监控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2021</a:t>
            </a:r>
          </a:p>
        </p:txBody>
      </p:sp>
      <p:sp>
        <p:nvSpPr>
          <p:cNvPr id="20" name="Oval 19"/>
          <p:cNvSpPr/>
          <p:nvPr/>
        </p:nvSpPr>
        <p:spPr>
          <a:xfrm>
            <a:off x="1965960" y="4599432"/>
            <a:ext cx="137160" cy="1371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4480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GameStop事件 — 散户对抗对冲基金</a:t>
            </a:r>
            <a:br/>
            <a:r>
              <a:t>Melvin Capital遭受重创，引发市场公平性讨论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23" name="Oval 22"/>
          <p:cNvSpPr/>
          <p:nvPr/>
        </p:nvSpPr>
        <p:spPr>
          <a:xfrm>
            <a:off x="1965960" y="5266944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514807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Citadel创造160亿美元年利润</a:t>
            </a:r>
            <a:br/>
            <a:r>
              <a:t>单一对冲基金年度最高纪录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6130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26" name="Oval 25"/>
          <p:cNvSpPr/>
          <p:nvPr/>
        </p:nvSpPr>
        <p:spPr>
          <a:xfrm>
            <a:off x="1965960" y="5934456"/>
            <a:ext cx="137160" cy="13716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581558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历史性里程碑 — 全球管理资产突破 5 万亿美元</a:t>
            </a:r>
            <a:br/>
            <a:r>
              <a:t>连续两年双位数回报，行业平均回报率11.2%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1188720"/>
            <a:ext cx="25400" cy="5120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04  六大核心策略详解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股票多空 · 全球宏观 · 事件驱动 · 相对价值 · 量化策略 · 多策略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六大核心策略一览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股票多空  Equity L/S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32004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同时做多低估股票</a:t>
            </a:r>
            <a:br/>
            <a:r>
              <a:t>做空高估股票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占比~30%</a:t>
            </a:r>
            <a:br/>
            <a:r>
              <a:t>2025回报17.6%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代表基金：Tiger Global、Lone Pine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3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全球宏观  Global 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39" y="1645920"/>
            <a:ext cx="3200400" cy="127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39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基于宏观经济趋势</a:t>
            </a:r>
            <a:br/>
            <a:r>
              <a:t>跨市场方向性投资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9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9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投资范围最广</a:t>
            </a:r>
            <a:br/>
            <a:r>
              <a:t>2025回报7.16%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代表基金：桥水基金、索罗斯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8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8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事件驱动  Event-Driven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8" y="1645920"/>
            <a:ext cx="3200400" cy="127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8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利用并购、重组等</a:t>
            </a:r>
            <a:br/>
            <a:r>
              <a:t>企业事件获利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8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8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含并购套利</a:t>
            </a:r>
            <a:br/>
            <a:r>
              <a:t>困境证券等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8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代表基金：Elliott、Paulson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相对价值  Relative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89120"/>
            <a:ext cx="3200400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利用相关证券间</a:t>
            </a:r>
            <a:br/>
            <a:r>
              <a:t>的价格偏差套利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低净敞口</a:t>
            </a:r>
            <a:br/>
            <a:r>
              <a:t>收益稳定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代表基金：Citadel、LTCM(历史)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39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量化策略  Quantitative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39" y="4389120"/>
            <a:ext cx="32004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39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39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完全依赖数学模型</a:t>
            </a:r>
            <a:br/>
            <a:r>
              <a:t>AI与机器学习驱动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39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39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增长最快</a:t>
            </a:r>
            <a:br/>
            <a:r>
              <a:t>CAGR 11.63%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39" y="5669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代表基金：文艺复兴、Two Sigma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8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78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多策略  Multi-Strategy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8" y="4389120"/>
            <a:ext cx="3200400" cy="127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83878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策略逻辑：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8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同一基金内配置</a:t>
            </a:r>
            <a:br/>
            <a:r>
              <a:t>多种策略动态调整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78" y="4480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537"/>
                </a:solidFill>
                <a:latin typeface="Microsoft YaHei"/>
              </a:defRPr>
            </a:pPr>
            <a:r>
              <a:t>关键数据：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78" y="4709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2025年成为</a:t>
            </a:r>
            <a:br/>
            <a:r>
              <a:t>最大策略类别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8" y="5669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代表基金：Millennium、Citadel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策略详解 ①  股票多空策略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股票多空 Equity Long/Short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核心逻辑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同时做多被低估的股票，做空被高估的股票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通过「对冲」降低市场系统性风险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收益来源是选股能力（Alpha），而非市场涨跌（Beta）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简单例子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基金经理看好茅台（做多100万），看空某劣质白酒（做空100万）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若白酒行业整体下跌10%：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茅台因品质优秀只跌5% → 亏5万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劣质白酒跌15% → 做空赚15万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  净收益 = +10万（即使行业下跌也能赚钱）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占比：约占对冲基金策略的 30%，最普遍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2025年回报率：17.6%（所有策略中表现最佳）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代表基金：Tiger Global、Lone Pine、Viking 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49039"/>
            <a:ext cx="502920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861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净敞口与总敞口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297679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1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总敞口 = |多头| + |空头|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例：做多$100万 + 做空$80万 → 总敞口$180万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净敞口 = 多头 - 空头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例：$100万 - $80万 = $20万（净多头20%）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  •  净敞口越低，对冲程度越高，市场风险越小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策略详解 ②  全球宏观策略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全球宏观 Global Macro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核心逻辑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基于对全球宏观经济趋势的判断进行投资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可跨市场、跨资产类别、跨地区操作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投资范围最广：股票、债券、外汇、商品、利率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关注因素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通胀走势与央行利率政策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GDP增长与经济周期判断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地缘政治事件（战争、贸易摩擦等）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汇率走势与资本流动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经典案例：索罗斯1992年做空英镑 → 获利超10亿英镑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全球宏观策略的思维方式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第一步：判断全球经济处于什么阶段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扩张？高峰？收缩？谷底？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第二步：判断各国央行政策方向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美联储加息还是降息？欧央行、日银政策？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第三步：找到价格偏离基本面的资产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汇率被高估？利率定价不合理？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第四步：建立方向性头寸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做多或做空，通常使用杠杆放大收益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代表基金：桥水 Bridgewater、Brevan Howard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2025年回报率：7.16%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05  传奇案例与经典交易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桥水 · 文艺复兴 · 城堡 · 索罗斯 · LTCM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案例 ①  桥水基金 Bridgewater Associates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基金概况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创始人：Ray Dalio（瑞·达利欧）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成立时间：1975年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管理资产：约 $1,500亿美元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累计净利润：$497亿美元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核心策略：系统化宏观策略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总部：美国康涅狄格州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5303520" cy="22860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「原则」— 极度透明、系统化决策、从错误中学习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经济机器理论 — 将经济视为一台可分析的机器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风险平价 — 根据风险（而非金额）平均分配资产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两大旗舰基金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Pure Alpha 纯阿尔法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主动宏观策略，追求绝对收益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根据全球经济指标做出方向性判断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灵活配置股票、债券、外汇、商品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All Weather 全天候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风险平价（Risk Parity）策略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将资产按四种经济环境分配：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增长上升 → 股票、商品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增长下降 → 债券、通胀连结债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通胀上升 → 商品、通胀连结债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  通胀下降 → 股票、债券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目标：在任何经济环境下都能获得合理回报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案例 ②  文艺复兴科技 Renaissance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基金概况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创始人：Jim Simons（吉姆·西蒙斯）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身份：世界级数学家、前NSA密码破译员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成立时间：1982年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管理资产：约 $1,300亿美元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大奖章基金 Medallion Fund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  •  被誉为「历史上最成功的对冲基金」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平均年化回报率：费前 &gt;60%，费后 ~40%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自1988年来几乎每年正收益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已对外部投资者关闭，仅限员工投资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核心竞争力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雇用数学家、物理学家（非传统金融人才）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使用复杂数学模型分析海量数据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极度保密，外界对其策略知之甚少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为什么文艺复兴如此特别？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与传统对冲基金的关键区别</a:t>
            </a:r>
          </a:p>
          <a:p>
            <a:pPr algn="l">
              <a:lnSpc>
                <a:spcPts val="52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传统基金 → 雇用MBA、金融分析师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  •  文艺复兴 → 雇用数学博士、物理学家、密码学家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传统基金 → 基于财报分析、行业研究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  •  文艺复兴 → 纯数学模型、统计套利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传统基金 → 管理费2%、业绩报酬20%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96D6"/>
                </a:solidFill>
                <a:latin typeface="Microsoft YaHei"/>
              </a:defRPr>
            </a:pPr>
            <a:r>
              <a:t>  •  文艺复兴 → 管理费5%、业绩报酬44%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（费率最高却仍供不应求）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启示：在对冲基金行业，技术与人才是核心壁垒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C0C8D4"/>
                </a:solidFill>
                <a:latin typeface="Microsoft YaHei"/>
              </a:defRPr>
            </a:pPr>
            <a:r>
              <a:t>Jim Simons 是陈-西蒙斯定理的共同创立者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经典交易  索罗斯做空英镑（1992年「黑色星期三」）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交易背景与逻辑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背景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1990年英国加入欧洲汇率机制（ERM）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英镑被要求维持对德国马克的特定汇率区间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英国通胀率是德国的3倍，高利率伤害经济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索罗斯的判断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英国加入ERM的汇率过高，基本面无法支撑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英国与德国的经济状况矛盾（一个需降息，一个需维持高息）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英国政府终将被迫退出ERM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交易策略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  •  大规模做空英镑，头寸从$15亿急增至$100亿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交易结果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1992年9月16日 — 黑色星期三</a:t>
            </a:r>
          </a:p>
          <a:p>
            <a:pPr algn="l">
              <a:lnSpc>
                <a:spcPts val="52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英格兰银行拼命买入英镑 → 无效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紧急加息两次（10%→12%→15%）→ 仍无法阻止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英镑对马克暴跌15%，对美元暴跌25%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英国被迫退出ERM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收益：索罗斯获利超过 10亿英镑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量子基金从$150亿飙升至$220亿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英国财政部损失约33亿英镑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历史影响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索罗斯被称为「击垮英格兰银行的人」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讽刺的是，脱离ERM后英国经济反而复苏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  •  成为全球宏观策略的经典教材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Microsoft YaHei"/>
              </a:defRPr>
            </a:pPr>
            <a:r>
              <a:t>惨痛教训  LTCM 崩盘（1998年）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辉煌时期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1994年创立，团队包含两位诺贝尔经济学奖得主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核心策略：固定收益套利 / 相对价值策略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1994年回报 20% → 1995年 43% → 1996年 41%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被华尔街视为「永远不会失败」的天才基金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30352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崩盘过程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57200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致命缺陷：杠杆比率高达 25:1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1998年8月 — 俄罗斯债务违约引爆危机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全球「逃向安全资产」，流动性急剧枯竭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8月单月亏损44%（$21亿）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全年亏损超过52%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美联储协调14家机构注资$36.5亿救助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029200" cy="53949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五大教训（投资者必知）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① 杠杆是双刃剑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可以放大收益，同样放大亏损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② 模型有局限性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再优秀的数学模型也无法预测极端事件（黑天鹅）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③ 流动性风险不可忽视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正常时期的相关性在危机时可能完全改变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④ 诺贝尔奖也救不了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学术荣誉不等于市场实战能力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⑤ 「大而不倒」风险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预示了2008年金融危机中系统性风险的概念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全球前十大对冲基金排名（2025-2026）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基金名称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管理资产（AUM）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核心策略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创始人/掌门人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Millennium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~$5,059亿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多策略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Israel Englander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Citadel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~$3,970亿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Ken Griffin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Balyasny Asset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~$2,480亿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多策略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Dmitry Balyasny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Bridgewater Associates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~$1,500亿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全球宏观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Ray Dalio（创始）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D.E. Shaw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~$850亿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量化+基本面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David E. Shaw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 Sigma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~$600亿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量化/AI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D. Siegel &amp; J. Overdeck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AQR Capital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量化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Cliff Asness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多策略/量化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Robyn Grew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Elliott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事件驱动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Paul Singer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TCI Fund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集中持股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Chris Hohn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注：排名根据 HFR、HedgeFollow、InvestmentNews 等多个来源综合整理，不同统计口径可能有差异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06  费用结构：2/20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管理费 + 业绩报酬 + 高水位线机制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对冲基金费用结构详解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383280" cy="2743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管理费 2%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301752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按管理资产总额每年收取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E74C3C"/>
                </a:solidFill>
                <a:latin typeface="Microsoft YaHei"/>
              </a:defRPr>
            </a:pPr>
            <a:r>
              <a:t>  •  不论基金盈亏均需支付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用途：员工薪酬、办公场地、行政管理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D4A537"/>
                </a:solidFill>
                <a:latin typeface="Microsoft YaHei"/>
              </a:defRPr>
            </a:pPr>
            <a:r>
              <a:t>例：AUM $10亿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年管理费 = $2,000万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383280" cy="2743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业绩报酬 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301752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按基金利润的百分比收取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  •  仅在基金获利时才收取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部分设有门槛收益率（如8%）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D4A537"/>
                </a:solidFill>
                <a:latin typeface="Microsoft YaHei"/>
              </a:defRPr>
            </a:pPr>
            <a:r>
              <a:t>例：获利 $5亿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业绩报酬 = $1亿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383280" cy="2743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高水位线机制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01752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防止基金经理重复收费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净值须超过历史最高点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4A537"/>
                </a:solidFill>
                <a:latin typeface="Microsoft YaHei"/>
              </a:defRPr>
            </a:pPr>
            <a:r>
              <a:t>  •  亏损后恢复的部分不收费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保护投资者利益的关键机制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高水位线运作机制 — 实例说明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时期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基金净值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高水位线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是否收业绩报酬？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初始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投资起点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第1年末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是（对$20利润收取）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盈利$20 × 20% = $4报酬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第2年末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亏损，低于高水位线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第3年末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虽然盈利但仍低于高水位线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第4年末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$140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是（仅对$20收取）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仅超出$120的$20收费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Microsoft YaHei"/>
              </a:defRPr>
            </a:pPr>
            <a:r>
              <a:t>行业费率变化趋势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时期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平均管理费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平均业绩报酬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传统模式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经典「2/20」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2019年行业平均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投资者议价能力增强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2025年行业平均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&lt;1.50%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费率持续压缩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顶级基金（如Medallion）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需求远超供给，反而提价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07  风险全景与全球监管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六大风险类型 · 美欧亚监管框架 · 投资者保护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对冲基金六大风险类型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市场风险  Market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3200400" cy="127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资产价格波动造成的损失</a:t>
            </a:r>
            <a:br/>
            <a:r>
              <a:t>极端市场中相关性可能突变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39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杠杆风险  Leverage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39" y="1645920"/>
            <a:ext cx="3200400" cy="127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39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对冲基金的杠杆没有法定上限</a:t>
            </a:r>
            <a:br/>
            <a:r>
              <a:t>LTCM的25:1杠杆是致命因素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8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8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流动性风险  Liquidity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1645920"/>
            <a:ext cx="3200400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8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投资者集中赎回时</a:t>
            </a:r>
            <a:br/>
            <a:r>
              <a:t>基金可能被迫低价抛售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交易对手风险  Counterparty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89120"/>
            <a:ext cx="3200400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交易对手（银行等）可能违约</a:t>
            </a:r>
            <a:br/>
            <a:r>
              <a:t>场外衍生品交易中尤为突出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39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操作风险  Operational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39" y="4389120"/>
            <a:ext cx="3200400" cy="127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39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估值不当、内控薄弱</a:t>
            </a:r>
            <a:br/>
            <a:r>
              <a:t>麦道夫骗局即为极端案例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8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8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模型风险  Model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8" y="4389120"/>
            <a:ext cx="3200400" cy="127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8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量化模型在未知市场可能失效</a:t>
            </a:r>
            <a:br/>
            <a:r>
              <a:t>「黑天鹅」难以被模型捕捉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全球监管框架与投资者保护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地区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监管机构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核心要求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关键法规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美国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SEC / CFTC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AUM&gt;$1.5亿须注册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定期提交Form PF报告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Dodd-Frank法案（2010）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欧洲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各国监管+ESMA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基金经理须在欧盟注册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报告杠杆、风险、流动性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AIFMD指令（2011）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香港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SFC证监会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持牌制度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第9类（资产管理）牌照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《证券及期货条例》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新加坡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MAS金管局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基金公司须持CMS牌照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《证券期货法》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开曼群岛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CIMA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全球最受欢迎注册地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监管逐步加强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SIBL / MFL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Microsoft YaHei"/>
              </a:defRPr>
            </a:pPr>
            <a:r>
              <a:t>投资者保护机制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保护机制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尽职调查 Due Diligence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审查基金文件、管理人履历、业绩历史、风控体系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独立托管人 Custodian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资产由独立机构托管，防止挪用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独立审计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年度由四大会计师事务所审计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独立行政管理人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独立计算净值，防止人为操控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投资者信函 Side Letters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大型投资者可协商额外保护条款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08  全球市场规模与趋势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$5.15万亿 — 历史性里程碑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全球对冲基金市场核心数据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651760" cy="1828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Microsoft YaHei"/>
              </a:defRPr>
            </a:pPr>
            <a:r>
              <a:t>$5.15万亿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2025年末管理资产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HFR数据，历史新高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188720"/>
            <a:ext cx="2651760" cy="1828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  <a:latin typeface="Microsoft YaHei"/>
              </a:defRPr>
            </a:pPr>
            <a:r>
              <a:t>$8.83万亿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2031年预测规模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CAGR 9.12%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651760" cy="1828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11.2%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2025年平均回报率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连续两年双位数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188720"/>
            <a:ext cx="2651760" cy="1828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Microsoft YaHei"/>
              </a:defRPr>
            </a:pPr>
            <a:r>
              <a:t>$6,428亿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2025年资本增长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创历史纪录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Microsoft YaHei"/>
              </a:defRPr>
            </a:pPr>
            <a:r>
              <a:t>六大行业趋势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多策略基金崛起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2025年首次超越股票策略</a:t>
            </a:r>
            <a:br/>
            <a:r>
              <a:t>成为最大策略类别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384048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39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量化与AI革命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4251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量化策略CAGR 11.63%</a:t>
            </a:r>
            <a:br/>
            <a:r>
              <a:t>AI深度融入投资决策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8" y="384048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78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费率持续压缩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8" y="4251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平均管理费降至1.5%以下</a:t>
            </a:r>
            <a:br/>
            <a:r>
              <a:t>顶级基金反而提价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5780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330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亚太市场加速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69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配置占比24%→30%</a:t>
            </a:r>
            <a:br/>
            <a:r>
              <a:t>中国、印度、日本为重点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525780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39" y="5330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ESG永续投资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39" y="5669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越来越多基金纳入ESG</a:t>
            </a:r>
            <a:br/>
            <a:r>
              <a:t>监管要求增加相关披露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8" y="5257800"/>
            <a:ext cx="3474720" cy="123444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8" y="5330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行业集中化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8" y="5669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Microsoft YaHei"/>
              </a:defRPr>
            </a:pPr>
            <a:r>
              <a:t>551家大基金管理</a:t>
            </a:r>
            <a:br/>
            <a:r>
              <a:t>行业86%的资产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09  中国投资者参与渠道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QDII · QDLP · QDIE · 直接投资 — 四大通道解析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37"/>
                </a:solidFill>
                <a:latin typeface="Microsoft YaHei"/>
              </a:defRPr>
            </a:pPr>
            <a:r>
              <a:t>中国投资者参与海外对冲基金的四大渠道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QDII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2860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0096D6"/>
                </a:solidFill>
                <a:latin typeface="Microsoft YaHei"/>
              </a:defRPr>
            </a:pPr>
            <a:r>
              <a:t>合格境内机构投资者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经证监会批准的基金公司、保险、券商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门槛较低，可通过银行购买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受额度限制，多数不直接投资对冲基金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QDLP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37360"/>
            <a:ext cx="22860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0096D6"/>
                </a:solidFill>
                <a:latin typeface="Microsoft YaHei"/>
              </a:defRPr>
            </a:pPr>
            <a:r>
              <a:t>合格境内有限合伙人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试点城市：上海、天津等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允许境外基金管理人在中国设立LP企业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可直接投资海外对冲基金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门槛较高，面向机构和高净值个人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QDIE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22860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0096D6"/>
                </a:solidFill>
                <a:latin typeface="Microsoft YaHei"/>
              </a:defRPr>
            </a:pPr>
            <a:r>
              <a:t>合格境内投资企业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试点城市：深圳前海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与QDLP类似的投资通道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可投对冲基金、PE、VC、房地产基金等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188720"/>
            <a:ext cx="2651760" cy="32004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直接海外投资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737360"/>
            <a:ext cx="22860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0096D6"/>
                </a:solidFill>
                <a:latin typeface="Microsoft YaHei"/>
              </a:defRPr>
            </a:pPr>
            <a:r>
              <a:t>通过海外银行/家族办公室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通过海外银行账户直接投资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需符合外汇管理规定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每人每年$5万便利额度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•  大额资金需合规通道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投资门槛对照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QDII基金产品：1,000-10,000人民币 → 适合一般投资者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QDLP/QDIE：100万-300万人民币 → 适合合格投资者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直接投资海外对冲基金：$100万-$500万美元 → 适合超高净值/机构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•  通过FOF（母基金）：$25万-$100万美元 → 适合高净值投资者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Microsoft YaHei"/>
              </a:defRPr>
            </a:pPr>
            <a:r>
              <a:t>中国投资者需特别注意的风险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外汇风险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3200400" cy="127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投资美元计价基金</a:t>
            </a:r>
            <a:br/>
            <a:r>
              <a:t>人民币汇率波动影响实际收益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3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监管风险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39" y="1645920"/>
            <a:ext cx="3200400" cy="127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39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中国外汇管制政策可能变化</a:t>
            </a:r>
            <a:br/>
            <a:r>
              <a:t>影响资金跨境流动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8" y="11887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8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信息不对称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1645920"/>
            <a:ext cx="3200400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8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海外基金信息披露制度不同</a:t>
            </a:r>
            <a:br/>
            <a:r>
              <a:t>语言和文化障碍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法律管辖风险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89120"/>
            <a:ext cx="3200400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多数基金注册在开曼等离岸地区</a:t>
            </a:r>
            <a:br/>
            <a:r>
              <a:t>法律纠纷处理困难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39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流动性风险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39" y="4389120"/>
            <a:ext cx="3200400" cy="127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39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锁定期和赎回限制</a:t>
            </a:r>
            <a:br/>
            <a:r>
              <a:t>急需资金时可能无法退出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8" y="3931920"/>
            <a:ext cx="3474720" cy="24688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8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Microsoft YaHei"/>
              </a:defRPr>
            </a:pPr>
            <a:r>
              <a:t>税务合规风险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8" y="4389120"/>
            <a:ext cx="3200400" cy="127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8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8D4"/>
                </a:solidFill>
                <a:latin typeface="Microsoft YaHei"/>
              </a:defRPr>
            </a:pPr>
            <a:r>
              <a:t>CRS共同申报准则</a:t>
            </a:r>
            <a:br/>
            <a:r>
              <a:t>海外投资税务申报要求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10  核心术语表与总结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C8D4"/>
                </a:solidFill>
                <a:latin typeface="Microsoft YaHei"/>
              </a:defRPr>
            </a:pPr>
            <a:r>
              <a:t>20个必知专业术语 · 投资建议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核心术语表（中英对照）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0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英文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中文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简要说明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Hedge Fund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对冲基金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使用多种策略追求绝对收益的私募基金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超额收益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基金经理选股能力带来的超额回报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市场风险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基金随市场整体波动的程度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管理资产规模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Assets Under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Long / Short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做多 / 做空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买入看好资产 / 卖出借入资产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杠杆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借钱投资以放大收益（和风险）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High-Water Mark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高水位线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业绩报酬计算基准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Lock-up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锁定期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投资者不得赎回的期间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Drawdown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回撤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从最高点下跌的幅度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Fund of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母基金（FOF）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投资于多支对冲基金的基金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Prime Broker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主经纪商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为对冲基金提供融资借券等服务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2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夏普比率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风险调整后收益指标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总结与投资建议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3035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对冲基金的核心价值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93776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① 绝对收益能力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在牛市和熊市中均可追求正回报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② 分散投资风险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与传统股票债券低相关，优化组合效率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③ 策略多元化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六大策略适应不同市场环境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④ 全球配置视角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跨市场、跨资产、跨地区投资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⑤ 行业持续增长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ECC71"/>
                </a:solidFill>
                <a:latin typeface="Microsoft YaHei"/>
              </a:defRPr>
            </a:pPr>
            <a:r>
              <a:t>管理资产从$390亿增长至$5.15万亿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给中国投资者的建议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466344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充分了解后再投资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不盲目追捧，先理解策略逻辑和风险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合规渠道参与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通过QDII、QDLP、FOF等合规通道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分散配置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对冲基金作为资产组合的一部分，占比10-20%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重视尽职调查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审查基金经理背景、历史业绩、风控体系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注意流动性安排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根据自身资金需求选择合适锁定期</a:t>
            </a:r>
          </a:p>
          <a:p>
            <a:pPr algn="l"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✓ 关注外汇与税务风险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人民币汇率波动、CRS合规申报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537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319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8D4"/>
                </a:solidFill>
                <a:latin typeface="Microsoft YaHei"/>
              </a:defRPr>
            </a:pPr>
            <a:r>
              <a:t>海外对冲基金  |  投资者教育系列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8D4"/>
                </a:solidFill>
                <a:latin typeface="Microsoft YaHei"/>
              </a:defRPr>
            </a:pPr>
            <a:r>
              <a:t>数据来源：HFR · Preqin · Bloomberg · J.P. Morgan</a:t>
            </a:r>
            <a:br/>
            <a:r>
              <a:t>Institutional Investor · Man Group · Wellington · Barclays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898"/>
                </a:solidFill>
                <a:latin typeface="Microsoft YaHei"/>
              </a:defRPr>
            </a:pPr>
            <a:r>
              <a:t>免责声明：本材料仅供教育目的，不构成任何投资建议。投资有风险，入市须谨慎。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2352</Words>
  <Application>Microsoft Macintosh PowerPoint</Application>
  <PresentationFormat>寬螢幕</PresentationFormat>
  <Paragraphs>673</Paragraphs>
  <Slides>34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宣逸 何</cp:lastModifiedBy>
  <cp:revision>1</cp:revision>
  <dcterms:created xsi:type="dcterms:W3CDTF">2013-01-27T09:14:16Z</dcterms:created>
  <dcterms:modified xsi:type="dcterms:W3CDTF">2026-03-28T12:42:48Z</dcterms:modified>
  <cp:category/>
</cp:coreProperties>
</file>