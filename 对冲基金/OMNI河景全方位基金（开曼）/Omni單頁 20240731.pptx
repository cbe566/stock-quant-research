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n17409\Desktop\work\007\&#31649;&#29702;&#20154;\Omni\&#25968;&#25454;&#20998;&#265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yn17409\Desktop\work\007\&#31649;&#29702;&#20154;\Omni\&#25968;&#25454;&#20998;&#26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'vs Indexes Analysis'!$B$1</c:f>
              <c:strCache>
                <c:ptCount val="1"/>
                <c:pt idx="0">
                  <c:v>本基金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'vs Indexes Analysis'!$A$3:$A$39</c:f>
              <c:numCache>
                <c:formatCode>m/d/yyyy</c:formatCode>
                <c:ptCount val="37"/>
                <c:pt idx="0">
                  <c:v>44408</c:v>
                </c:pt>
                <c:pt idx="1">
                  <c:v>44439</c:v>
                </c:pt>
                <c:pt idx="2">
                  <c:v>44469</c:v>
                </c:pt>
                <c:pt idx="3">
                  <c:v>44500</c:v>
                </c:pt>
                <c:pt idx="4">
                  <c:v>44530</c:v>
                </c:pt>
                <c:pt idx="5">
                  <c:v>44561</c:v>
                </c:pt>
                <c:pt idx="6">
                  <c:v>44592</c:v>
                </c:pt>
                <c:pt idx="7">
                  <c:v>44620</c:v>
                </c:pt>
                <c:pt idx="8">
                  <c:v>44651</c:v>
                </c:pt>
                <c:pt idx="9">
                  <c:v>44681</c:v>
                </c:pt>
                <c:pt idx="10">
                  <c:v>44712</c:v>
                </c:pt>
                <c:pt idx="11">
                  <c:v>44742</c:v>
                </c:pt>
                <c:pt idx="12">
                  <c:v>44773</c:v>
                </c:pt>
                <c:pt idx="13">
                  <c:v>44804</c:v>
                </c:pt>
                <c:pt idx="14">
                  <c:v>44834</c:v>
                </c:pt>
                <c:pt idx="15">
                  <c:v>44865</c:v>
                </c:pt>
                <c:pt idx="16">
                  <c:v>44895</c:v>
                </c:pt>
                <c:pt idx="17">
                  <c:v>44926</c:v>
                </c:pt>
                <c:pt idx="18">
                  <c:v>44957</c:v>
                </c:pt>
                <c:pt idx="19">
                  <c:v>44985</c:v>
                </c:pt>
                <c:pt idx="20">
                  <c:v>45016</c:v>
                </c:pt>
                <c:pt idx="21">
                  <c:v>45046</c:v>
                </c:pt>
                <c:pt idx="22">
                  <c:v>45077</c:v>
                </c:pt>
                <c:pt idx="23">
                  <c:v>45107</c:v>
                </c:pt>
                <c:pt idx="24">
                  <c:v>45138</c:v>
                </c:pt>
                <c:pt idx="25">
                  <c:v>45169</c:v>
                </c:pt>
                <c:pt idx="26">
                  <c:v>45199</c:v>
                </c:pt>
                <c:pt idx="27">
                  <c:v>45230</c:v>
                </c:pt>
                <c:pt idx="28">
                  <c:v>45260</c:v>
                </c:pt>
                <c:pt idx="29">
                  <c:v>45291</c:v>
                </c:pt>
                <c:pt idx="30">
                  <c:v>45322</c:v>
                </c:pt>
                <c:pt idx="31">
                  <c:v>45351</c:v>
                </c:pt>
                <c:pt idx="32">
                  <c:v>45382</c:v>
                </c:pt>
                <c:pt idx="33">
                  <c:v>45412</c:v>
                </c:pt>
                <c:pt idx="34">
                  <c:v>45443</c:v>
                </c:pt>
                <c:pt idx="35">
                  <c:v>45473</c:v>
                </c:pt>
                <c:pt idx="36">
                  <c:v>45504</c:v>
                </c:pt>
              </c:numCache>
            </c:numRef>
          </c:cat>
          <c:val>
            <c:numRef>
              <c:f>'vs Indexes Analysis'!$C$3:$C$60</c:f>
              <c:numCache>
                <c:formatCode>0.00%</c:formatCode>
                <c:ptCount val="58"/>
                <c:pt idx="0">
                  <c:v>4.4999999999999485E-3</c:v>
                </c:pt>
                <c:pt idx="1">
                  <c:v>8.1161999999999068E-3</c:v>
                </c:pt>
                <c:pt idx="2">
                  <c:v>3.7855627899999966E-2</c:v>
                </c:pt>
                <c:pt idx="3">
                  <c:v>3.4223133202350153E-2</c:v>
                </c:pt>
                <c:pt idx="4">
                  <c:v>3.525735633555227E-2</c:v>
                </c:pt>
                <c:pt idx="5">
                  <c:v>5.8240069646201542E-2</c:v>
                </c:pt>
                <c:pt idx="6">
                  <c:v>6.8504998321769817E-2</c:v>
                </c:pt>
                <c:pt idx="7">
                  <c:v>8.6883284292904372E-2</c:v>
                </c:pt>
                <c:pt idx="8">
                  <c:v>8.9274427518348798E-2</c:v>
                </c:pt>
                <c:pt idx="9">
                  <c:v>0.12097231335913272</c:v>
                </c:pt>
                <c:pt idx="10">
                  <c:v>0.12960380017199791</c:v>
                </c:pt>
                <c:pt idx="11">
                  <c:v>0.1383017494333223</c:v>
                </c:pt>
                <c:pt idx="12">
                  <c:v>0.13477301401007913</c:v>
                </c:pt>
                <c:pt idx="13">
                  <c:v>0.15962454301689988</c:v>
                </c:pt>
                <c:pt idx="14">
                  <c:v>0.15231890839589335</c:v>
                </c:pt>
                <c:pt idx="15">
                  <c:v>0.1750195908912926</c:v>
                </c:pt>
                <c:pt idx="16">
                  <c:v>0.17055451644590569</c:v>
                </c:pt>
                <c:pt idx="17">
                  <c:v>0.18623994696628099</c:v>
                </c:pt>
                <c:pt idx="18">
                  <c:v>0.17058157966632592</c:v>
                </c:pt>
                <c:pt idx="19">
                  <c:v>0.18989617573082018</c:v>
                </c:pt>
                <c:pt idx="20">
                  <c:v>0.18739739376178566</c:v>
                </c:pt>
                <c:pt idx="21">
                  <c:v>0.19250320255496112</c:v>
                </c:pt>
                <c:pt idx="22">
                  <c:v>0.21766502012887079</c:v>
                </c:pt>
                <c:pt idx="23">
                  <c:v>0.21900445165101257</c:v>
                </c:pt>
                <c:pt idx="24">
                  <c:v>0.22826888548356039</c:v>
                </c:pt>
                <c:pt idx="25">
                  <c:v>0.24644726498871705</c:v>
                </c:pt>
                <c:pt idx="26">
                  <c:v>0.24894015951869441</c:v>
                </c:pt>
                <c:pt idx="27">
                  <c:v>0.26167934914578517</c:v>
                </c:pt>
                <c:pt idx="28">
                  <c:v>0.27139428013420774</c:v>
                </c:pt>
                <c:pt idx="29">
                  <c:v>0.28105687666322776</c:v>
                </c:pt>
                <c:pt idx="30">
                  <c:v>0.30975255070048413</c:v>
                </c:pt>
                <c:pt idx="31">
                  <c:v>0.328089086410291</c:v>
                </c:pt>
                <c:pt idx="32">
                  <c:v>0.34296368417808631</c:v>
                </c:pt>
                <c:pt idx="33">
                  <c:v>0.36512258496702454</c:v>
                </c:pt>
                <c:pt idx="34">
                  <c:v>0.37972939662617167</c:v>
                </c:pt>
                <c:pt idx="35">
                  <c:v>0.37476237079831742</c:v>
                </c:pt>
                <c:pt idx="36">
                  <c:v>0.34877936199022908</c:v>
                </c:pt>
                <c:pt idx="37">
                  <c:v>0.3456771694576517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28-4F4D-AECE-3042E3D9E134}"/>
            </c:ext>
          </c:extLst>
        </c:ser>
        <c:ser>
          <c:idx val="1"/>
          <c:order val="1"/>
          <c:tx>
            <c:strRef>
              <c:f>'vs Indexes Analysis'!$G$1</c:f>
              <c:strCache>
                <c:ptCount val="1"/>
                <c:pt idx="0">
                  <c:v>MSCI World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'vs Indexes Analysis'!$A$3:$A$39</c:f>
              <c:numCache>
                <c:formatCode>m/d/yyyy</c:formatCode>
                <c:ptCount val="37"/>
                <c:pt idx="0">
                  <c:v>44408</c:v>
                </c:pt>
                <c:pt idx="1">
                  <c:v>44439</c:v>
                </c:pt>
                <c:pt idx="2">
                  <c:v>44469</c:v>
                </c:pt>
                <c:pt idx="3">
                  <c:v>44500</c:v>
                </c:pt>
                <c:pt idx="4">
                  <c:v>44530</c:v>
                </c:pt>
                <c:pt idx="5">
                  <c:v>44561</c:v>
                </c:pt>
                <c:pt idx="6">
                  <c:v>44592</c:v>
                </c:pt>
                <c:pt idx="7">
                  <c:v>44620</c:v>
                </c:pt>
                <c:pt idx="8">
                  <c:v>44651</c:v>
                </c:pt>
                <c:pt idx="9">
                  <c:v>44681</c:v>
                </c:pt>
                <c:pt idx="10">
                  <c:v>44712</c:v>
                </c:pt>
                <c:pt idx="11">
                  <c:v>44742</c:v>
                </c:pt>
                <c:pt idx="12">
                  <c:v>44773</c:v>
                </c:pt>
                <c:pt idx="13">
                  <c:v>44804</c:v>
                </c:pt>
                <c:pt idx="14">
                  <c:v>44834</c:v>
                </c:pt>
                <c:pt idx="15">
                  <c:v>44865</c:v>
                </c:pt>
                <c:pt idx="16">
                  <c:v>44895</c:v>
                </c:pt>
                <c:pt idx="17">
                  <c:v>44926</c:v>
                </c:pt>
                <c:pt idx="18">
                  <c:v>44957</c:v>
                </c:pt>
                <c:pt idx="19">
                  <c:v>44985</c:v>
                </c:pt>
                <c:pt idx="20">
                  <c:v>45016</c:v>
                </c:pt>
                <c:pt idx="21">
                  <c:v>45046</c:v>
                </c:pt>
                <c:pt idx="22">
                  <c:v>45077</c:v>
                </c:pt>
                <c:pt idx="23">
                  <c:v>45107</c:v>
                </c:pt>
                <c:pt idx="24">
                  <c:v>45138</c:v>
                </c:pt>
                <c:pt idx="25">
                  <c:v>45169</c:v>
                </c:pt>
                <c:pt idx="26">
                  <c:v>45199</c:v>
                </c:pt>
                <c:pt idx="27">
                  <c:v>45230</c:v>
                </c:pt>
                <c:pt idx="28">
                  <c:v>45260</c:v>
                </c:pt>
                <c:pt idx="29">
                  <c:v>45291</c:v>
                </c:pt>
                <c:pt idx="30">
                  <c:v>45322</c:v>
                </c:pt>
                <c:pt idx="31">
                  <c:v>45351</c:v>
                </c:pt>
                <c:pt idx="32">
                  <c:v>45382</c:v>
                </c:pt>
                <c:pt idx="33">
                  <c:v>45412</c:v>
                </c:pt>
                <c:pt idx="34">
                  <c:v>45443</c:v>
                </c:pt>
                <c:pt idx="35">
                  <c:v>45473</c:v>
                </c:pt>
                <c:pt idx="36">
                  <c:v>45504</c:v>
                </c:pt>
              </c:numCache>
            </c:numRef>
          </c:cat>
          <c:val>
            <c:numRef>
              <c:f>'vs Indexes Analysis'!$H$3:$H$60</c:f>
              <c:numCache>
                <c:formatCode>0.00%</c:formatCode>
                <c:ptCount val="58"/>
                <c:pt idx="0">
                  <c:v>1.7200000000000104E-2</c:v>
                </c:pt>
                <c:pt idx="1">
                  <c:v>4.1104200000000146E-2</c:v>
                </c:pt>
                <c:pt idx="2">
                  <c:v>-3.5591701799998487E-3</c:v>
                </c:pt>
                <c:pt idx="3">
                  <c:v>5.2141872206938222E-2</c:v>
                </c:pt>
                <c:pt idx="4">
                  <c:v>2.7942609146178521E-2</c:v>
                </c:pt>
                <c:pt idx="5">
                  <c:v>7.1013404469403518E-2</c:v>
                </c:pt>
                <c:pt idx="6">
                  <c:v>1.3821288670737397E-2</c:v>
                </c:pt>
                <c:pt idx="7">
                  <c:v>-1.3044975479037269E-2</c:v>
                </c:pt>
                <c:pt idx="8">
                  <c:v>1.1826291138890888E-2</c:v>
                </c:pt>
                <c:pt idx="9">
                  <c:v>-7.3470665204117602E-2</c:v>
                </c:pt>
                <c:pt idx="10">
                  <c:v>-7.4953112139791056E-2</c:v>
                </c:pt>
                <c:pt idx="11">
                  <c:v>-0.15607972420513139</c:v>
                </c:pt>
                <c:pt idx="12">
                  <c:v>-8.9747590527654686E-2</c:v>
                </c:pt>
                <c:pt idx="13">
                  <c:v>-0.12916151985780711</c:v>
                </c:pt>
                <c:pt idx="14">
                  <c:v>-0.21154284007925872</c:v>
                </c:pt>
                <c:pt idx="15">
                  <c:v>-0.15548353600889397</c:v>
                </c:pt>
                <c:pt idx="16">
                  <c:v>-9.8056416457498741E-2</c:v>
                </c:pt>
                <c:pt idx="17">
                  <c:v>-0.13720076798324332</c:v>
                </c:pt>
                <c:pt idx="18">
                  <c:v>-7.6804821742070262E-2</c:v>
                </c:pt>
                <c:pt idx="19">
                  <c:v>-0.10016165975199587</c:v>
                </c:pt>
                <c:pt idx="20">
                  <c:v>-7.4696234722977262E-2</c:v>
                </c:pt>
                <c:pt idx="21">
                  <c:v>-5.9983904855072545E-2</c:v>
                </c:pt>
                <c:pt idx="22">
                  <c:v>-7.1734106044384127E-2</c:v>
                </c:pt>
                <c:pt idx="23">
                  <c:v>-1.6687938532816249E-2</c:v>
                </c:pt>
                <c:pt idx="24">
                  <c:v>1.5663028289453873E-2</c:v>
                </c:pt>
                <c:pt idx="25">
                  <c:v>-1.0236378931927081E-2</c:v>
                </c:pt>
                <c:pt idx="26">
                  <c:v>-5.4280860069456316E-2</c:v>
                </c:pt>
                <c:pt idx="27">
                  <c:v>-8.2368718525393403E-2</c:v>
                </c:pt>
                <c:pt idx="28">
                  <c:v>2.1451224984179174E-3</c:v>
                </c:pt>
                <c:pt idx="29">
                  <c:v>5.0348302890591778E-2</c:v>
                </c:pt>
                <c:pt idx="30">
                  <c:v>6.2322273543544693E-2</c:v>
                </c:pt>
                <c:pt idx="31">
                  <c:v>0.10598371898618431</c:v>
                </c:pt>
                <c:pt idx="32">
                  <c:v>0.13927382892766849</c:v>
                </c:pt>
                <c:pt idx="33">
                  <c:v>9.5411786513953212E-2</c:v>
                </c:pt>
                <c:pt idx="34">
                  <c:v>0.14174770508349344</c:v>
                </c:pt>
                <c:pt idx="35">
                  <c:v>0.16378343579160504</c:v>
                </c:pt>
                <c:pt idx="36">
                  <c:v>0.18717548285101637</c:v>
                </c:pt>
                <c:pt idx="37">
                  <c:v>0.21899178579142364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28-4F4D-AECE-3042E3D9E134}"/>
            </c:ext>
          </c:extLst>
        </c:ser>
        <c:ser>
          <c:idx val="2"/>
          <c:order val="2"/>
          <c:tx>
            <c:strRef>
              <c:f>'vs Indexes Analysis'!$L$1</c:f>
              <c:strCache>
                <c:ptCount val="1"/>
                <c:pt idx="0">
                  <c:v>Equity Hedge Fund Index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'vs Indexes Analysis'!$A$3:$A$39</c:f>
              <c:numCache>
                <c:formatCode>m/d/yyyy</c:formatCode>
                <c:ptCount val="37"/>
                <c:pt idx="0">
                  <c:v>44408</c:v>
                </c:pt>
                <c:pt idx="1">
                  <c:v>44439</c:v>
                </c:pt>
                <c:pt idx="2">
                  <c:v>44469</c:v>
                </c:pt>
                <c:pt idx="3">
                  <c:v>44500</c:v>
                </c:pt>
                <c:pt idx="4">
                  <c:v>44530</c:v>
                </c:pt>
                <c:pt idx="5">
                  <c:v>44561</c:v>
                </c:pt>
                <c:pt idx="6">
                  <c:v>44592</c:v>
                </c:pt>
                <c:pt idx="7">
                  <c:v>44620</c:v>
                </c:pt>
                <c:pt idx="8">
                  <c:v>44651</c:v>
                </c:pt>
                <c:pt idx="9">
                  <c:v>44681</c:v>
                </c:pt>
                <c:pt idx="10">
                  <c:v>44712</c:v>
                </c:pt>
                <c:pt idx="11">
                  <c:v>44742</c:v>
                </c:pt>
                <c:pt idx="12">
                  <c:v>44773</c:v>
                </c:pt>
                <c:pt idx="13">
                  <c:v>44804</c:v>
                </c:pt>
                <c:pt idx="14">
                  <c:v>44834</c:v>
                </c:pt>
                <c:pt idx="15">
                  <c:v>44865</c:v>
                </c:pt>
                <c:pt idx="16">
                  <c:v>44895</c:v>
                </c:pt>
                <c:pt idx="17">
                  <c:v>44926</c:v>
                </c:pt>
                <c:pt idx="18">
                  <c:v>44957</c:v>
                </c:pt>
                <c:pt idx="19">
                  <c:v>44985</c:v>
                </c:pt>
                <c:pt idx="20">
                  <c:v>45016</c:v>
                </c:pt>
                <c:pt idx="21">
                  <c:v>45046</c:v>
                </c:pt>
                <c:pt idx="22">
                  <c:v>45077</c:v>
                </c:pt>
                <c:pt idx="23">
                  <c:v>45107</c:v>
                </c:pt>
                <c:pt idx="24">
                  <c:v>45138</c:v>
                </c:pt>
                <c:pt idx="25">
                  <c:v>45169</c:v>
                </c:pt>
                <c:pt idx="26">
                  <c:v>45199</c:v>
                </c:pt>
                <c:pt idx="27">
                  <c:v>45230</c:v>
                </c:pt>
                <c:pt idx="28">
                  <c:v>45260</c:v>
                </c:pt>
                <c:pt idx="29">
                  <c:v>45291</c:v>
                </c:pt>
                <c:pt idx="30">
                  <c:v>45322</c:v>
                </c:pt>
                <c:pt idx="31">
                  <c:v>45351</c:v>
                </c:pt>
                <c:pt idx="32">
                  <c:v>45382</c:v>
                </c:pt>
                <c:pt idx="33">
                  <c:v>45412</c:v>
                </c:pt>
                <c:pt idx="34">
                  <c:v>45443</c:v>
                </c:pt>
                <c:pt idx="35">
                  <c:v>45473</c:v>
                </c:pt>
                <c:pt idx="36">
                  <c:v>45504</c:v>
                </c:pt>
              </c:numCache>
            </c:numRef>
          </c:cat>
          <c:val>
            <c:numRef>
              <c:f>'vs Indexes Analysis'!$M$3:$M$60</c:f>
              <c:numCache>
                <c:formatCode>0.00%</c:formatCode>
                <c:ptCount val="58"/>
                <c:pt idx="0">
                  <c:v>-7.7000000000001512E-3</c:v>
                </c:pt>
                <c:pt idx="1">
                  <c:v>3.3145299999999267E-3</c:v>
                </c:pt>
                <c:pt idx="2">
                  <c:v>-8.5245814540000353E-3</c:v>
                </c:pt>
                <c:pt idx="3">
                  <c:v>4.9594842382254534E-3</c:v>
                </c:pt>
                <c:pt idx="4">
                  <c:v>-1.2325818890671858E-2</c:v>
                </c:pt>
                <c:pt idx="5">
                  <c:v>1.4028522267477417E-3</c:v>
                </c:pt>
                <c:pt idx="6">
                  <c:v>-2.7938251343495923E-2</c:v>
                </c:pt>
                <c:pt idx="7">
                  <c:v>-3.7658868830060865E-2</c:v>
                </c:pt>
                <c:pt idx="8">
                  <c:v>-3.236599260862616E-2</c:v>
                </c:pt>
                <c:pt idx="9">
                  <c:v>-6.0814432425932541E-2</c:v>
                </c:pt>
                <c:pt idx="10">
                  <c:v>-6.6731301501649076E-2</c:v>
                </c:pt>
                <c:pt idx="11">
                  <c:v>-0.10527529874963093</c:v>
                </c:pt>
                <c:pt idx="12">
                  <c:v>-8.2817708748246677E-2</c:v>
                </c:pt>
                <c:pt idx="13">
                  <c:v>-8.3918327497748746E-2</c:v>
                </c:pt>
                <c:pt idx="14">
                  <c:v>-0.12239375774284345</c:v>
                </c:pt>
                <c:pt idx="15">
                  <c:v>-0.10782549412137465</c:v>
                </c:pt>
                <c:pt idx="16">
                  <c:v>-7.6064081712095555E-2</c:v>
                </c:pt>
                <c:pt idx="17">
                  <c:v>-8.8999184568126166E-2</c:v>
                </c:pt>
                <c:pt idx="18">
                  <c:v>-5.0008349667642005E-2</c:v>
                </c:pt>
                <c:pt idx="19">
                  <c:v>-6.3783228597461217E-2</c:v>
                </c:pt>
                <c:pt idx="20">
                  <c:v>-6.4251336983162433E-2</c:v>
                </c:pt>
                <c:pt idx="21">
                  <c:v>-6.3034863721240453E-2</c:v>
                </c:pt>
                <c:pt idx="22">
                  <c:v>-6.846926151165722E-2</c:v>
                </c:pt>
                <c:pt idx="23">
                  <c:v>-4.6578289157180985E-2</c:v>
                </c:pt>
                <c:pt idx="24">
                  <c:v>-2.321945724153196E-2</c:v>
                </c:pt>
                <c:pt idx="25">
                  <c:v>-3.6015282351667843E-2</c:v>
                </c:pt>
                <c:pt idx="26">
                  <c:v>-5.0185857701098402E-2</c:v>
                </c:pt>
                <c:pt idx="27">
                  <c:v>-7.288641570204224E-2</c:v>
                </c:pt>
                <c:pt idx="28">
                  <c:v>-3.2371552068221399E-2</c:v>
                </c:pt>
                <c:pt idx="29">
                  <c:v>-2.278307337543195E-3</c:v>
                </c:pt>
                <c:pt idx="30">
                  <c:v>-3.9744342150693779E-3</c:v>
                </c:pt>
                <c:pt idx="31">
                  <c:v>2.1125410042710735E-2</c:v>
                </c:pt>
                <c:pt idx="32">
                  <c:v>4.2466931112603357E-2</c:v>
                </c:pt>
                <c:pt idx="33">
                  <c:v>3.3605962198146377E-2</c:v>
                </c:pt>
                <c:pt idx="34">
                  <c:v>5.3451196672350987E-2</c:v>
                </c:pt>
                <c:pt idx="35">
                  <c:v>5.3345851552683676E-2</c:v>
                </c:pt>
                <c:pt idx="36">
                  <c:v>6.7987358889266103E-2</c:v>
                </c:pt>
                <c:pt idx="37">
                  <c:v>7.5997264080935656E-2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28-4F4D-AECE-3042E3D9E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6559983"/>
        <c:axId val="616560399"/>
        <c:extLst/>
      </c:lineChart>
      <c:dateAx>
        <c:axId val="616559983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en-US"/>
          </a:p>
        </c:txPr>
        <c:crossAx val="616560399"/>
        <c:crosses val="autoZero"/>
        <c:auto val="1"/>
        <c:lblOffset val="100"/>
        <c:baseTimeUnit val="months"/>
        <c:majorUnit val="8"/>
        <c:majorTimeUnit val="months"/>
      </c:dateAx>
      <c:valAx>
        <c:axId val="616560399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en-US"/>
          </a:p>
        </c:txPr>
        <c:crossAx val="616559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latin typeface="微软雅黑" panose="020B0503020204020204" pitchFamily="34" charset="-122"/>
          <a:ea typeface="微软雅黑" panose="020B0503020204020204" pitchFamily="34" charset="-122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049234044123423E-2"/>
          <c:y val="5.1695210662609008E-2"/>
          <c:w val="0.90166539084546027"/>
          <c:h val="0.78910648325289801"/>
        </c:manualLayout>
      </c:layout>
      <c:lineChart>
        <c:grouping val="standard"/>
        <c:varyColors val="0"/>
        <c:ser>
          <c:idx val="0"/>
          <c:order val="0"/>
          <c:tx>
            <c:strRef>
              <c:f>'vs Indexes Analysis'!$B$1</c:f>
              <c:strCache>
                <c:ptCount val="1"/>
                <c:pt idx="0">
                  <c:v>本基金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'vs Indexes Analysis'!$A$2:$A$39</c:f>
              <c:numCache>
                <c:formatCode>m/d/yyyy</c:formatCode>
                <c:ptCount val="38"/>
                <c:pt idx="0">
                  <c:v>44377</c:v>
                </c:pt>
                <c:pt idx="1">
                  <c:v>44408</c:v>
                </c:pt>
                <c:pt idx="2">
                  <c:v>44439</c:v>
                </c:pt>
                <c:pt idx="3">
                  <c:v>44469</c:v>
                </c:pt>
                <c:pt idx="4">
                  <c:v>44500</c:v>
                </c:pt>
                <c:pt idx="5">
                  <c:v>44530</c:v>
                </c:pt>
                <c:pt idx="6">
                  <c:v>44561</c:v>
                </c:pt>
                <c:pt idx="7">
                  <c:v>44592</c:v>
                </c:pt>
                <c:pt idx="8">
                  <c:v>44620</c:v>
                </c:pt>
                <c:pt idx="9">
                  <c:v>44651</c:v>
                </c:pt>
                <c:pt idx="10">
                  <c:v>44681</c:v>
                </c:pt>
                <c:pt idx="11">
                  <c:v>44712</c:v>
                </c:pt>
                <c:pt idx="12">
                  <c:v>44742</c:v>
                </c:pt>
                <c:pt idx="13">
                  <c:v>44773</c:v>
                </c:pt>
                <c:pt idx="14">
                  <c:v>44804</c:v>
                </c:pt>
                <c:pt idx="15">
                  <c:v>44834</c:v>
                </c:pt>
                <c:pt idx="16">
                  <c:v>44865</c:v>
                </c:pt>
                <c:pt idx="17">
                  <c:v>44895</c:v>
                </c:pt>
                <c:pt idx="18">
                  <c:v>44926</c:v>
                </c:pt>
                <c:pt idx="19">
                  <c:v>44957</c:v>
                </c:pt>
                <c:pt idx="20">
                  <c:v>44985</c:v>
                </c:pt>
                <c:pt idx="21">
                  <c:v>45016</c:v>
                </c:pt>
                <c:pt idx="22">
                  <c:v>45046</c:v>
                </c:pt>
                <c:pt idx="23">
                  <c:v>45077</c:v>
                </c:pt>
                <c:pt idx="24">
                  <c:v>45107</c:v>
                </c:pt>
                <c:pt idx="25">
                  <c:v>45138</c:v>
                </c:pt>
                <c:pt idx="26">
                  <c:v>45169</c:v>
                </c:pt>
                <c:pt idx="27">
                  <c:v>45199</c:v>
                </c:pt>
                <c:pt idx="28">
                  <c:v>45230</c:v>
                </c:pt>
                <c:pt idx="29">
                  <c:v>45260</c:v>
                </c:pt>
                <c:pt idx="30">
                  <c:v>45291</c:v>
                </c:pt>
                <c:pt idx="31">
                  <c:v>45322</c:v>
                </c:pt>
                <c:pt idx="32">
                  <c:v>45351</c:v>
                </c:pt>
                <c:pt idx="33">
                  <c:v>45382</c:v>
                </c:pt>
                <c:pt idx="34">
                  <c:v>45412</c:v>
                </c:pt>
                <c:pt idx="35">
                  <c:v>45443</c:v>
                </c:pt>
                <c:pt idx="36">
                  <c:v>45473</c:v>
                </c:pt>
                <c:pt idx="37">
                  <c:v>45504</c:v>
                </c:pt>
              </c:numCache>
            </c:numRef>
          </c:cat>
          <c:val>
            <c:numRef>
              <c:f>'vs Indexes Analysis'!$F$3:$F$39</c:f>
              <c:numCache>
                <c:formatCode>0.00%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-3.4999999999999476E-3</c:v>
                </c:pt>
                <c:pt idx="4">
                  <c:v>-2.5035000000001029E-3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-3.0999999999999917E-3</c:v>
                </c:pt>
                <c:pt idx="13">
                  <c:v>0</c:v>
                </c:pt>
                <c:pt idx="14">
                  <c:v>-6.2999999999999723E-3</c:v>
                </c:pt>
                <c:pt idx="15">
                  <c:v>0</c:v>
                </c:pt>
                <c:pt idx="16">
                  <c:v>-3.8000000000000256E-3</c:v>
                </c:pt>
                <c:pt idx="17">
                  <c:v>0</c:v>
                </c:pt>
                <c:pt idx="18">
                  <c:v>-1.319999999999999E-2</c:v>
                </c:pt>
                <c:pt idx="19">
                  <c:v>0</c:v>
                </c:pt>
                <c:pt idx="20">
                  <c:v>-2.0999999999999908E-3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-3.5999999999999366E-3</c:v>
                </c:pt>
                <c:pt idx="36">
                  <c:v>-2.2431960000000029E-2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3A9-4F37-AA55-E6520A863700}"/>
            </c:ext>
          </c:extLst>
        </c:ser>
        <c:ser>
          <c:idx val="1"/>
          <c:order val="1"/>
          <c:tx>
            <c:strRef>
              <c:f>'vs Indexes Analysis'!$G$1</c:f>
              <c:strCache>
                <c:ptCount val="1"/>
                <c:pt idx="0">
                  <c:v>MSCI World</c:v>
                </c:pt>
              </c:strCache>
            </c:strRef>
          </c:tx>
          <c:spPr>
            <a:ln w="28575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'vs Indexes Analysis'!$A$2:$A$39</c:f>
              <c:numCache>
                <c:formatCode>m/d/yyyy</c:formatCode>
                <c:ptCount val="38"/>
                <c:pt idx="0">
                  <c:v>44377</c:v>
                </c:pt>
                <c:pt idx="1">
                  <c:v>44408</c:v>
                </c:pt>
                <c:pt idx="2">
                  <c:v>44439</c:v>
                </c:pt>
                <c:pt idx="3">
                  <c:v>44469</c:v>
                </c:pt>
                <c:pt idx="4">
                  <c:v>44500</c:v>
                </c:pt>
                <c:pt idx="5">
                  <c:v>44530</c:v>
                </c:pt>
                <c:pt idx="6">
                  <c:v>44561</c:v>
                </c:pt>
                <c:pt idx="7">
                  <c:v>44592</c:v>
                </c:pt>
                <c:pt idx="8">
                  <c:v>44620</c:v>
                </c:pt>
                <c:pt idx="9">
                  <c:v>44651</c:v>
                </c:pt>
                <c:pt idx="10">
                  <c:v>44681</c:v>
                </c:pt>
                <c:pt idx="11">
                  <c:v>44712</c:v>
                </c:pt>
                <c:pt idx="12">
                  <c:v>44742</c:v>
                </c:pt>
                <c:pt idx="13">
                  <c:v>44773</c:v>
                </c:pt>
                <c:pt idx="14">
                  <c:v>44804</c:v>
                </c:pt>
                <c:pt idx="15">
                  <c:v>44834</c:v>
                </c:pt>
                <c:pt idx="16">
                  <c:v>44865</c:v>
                </c:pt>
                <c:pt idx="17">
                  <c:v>44895</c:v>
                </c:pt>
                <c:pt idx="18">
                  <c:v>44926</c:v>
                </c:pt>
                <c:pt idx="19">
                  <c:v>44957</c:v>
                </c:pt>
                <c:pt idx="20">
                  <c:v>44985</c:v>
                </c:pt>
                <c:pt idx="21">
                  <c:v>45016</c:v>
                </c:pt>
                <c:pt idx="22">
                  <c:v>45046</c:v>
                </c:pt>
                <c:pt idx="23">
                  <c:v>45077</c:v>
                </c:pt>
                <c:pt idx="24">
                  <c:v>45107</c:v>
                </c:pt>
                <c:pt idx="25">
                  <c:v>45138</c:v>
                </c:pt>
                <c:pt idx="26">
                  <c:v>45169</c:v>
                </c:pt>
                <c:pt idx="27">
                  <c:v>45199</c:v>
                </c:pt>
                <c:pt idx="28">
                  <c:v>45230</c:v>
                </c:pt>
                <c:pt idx="29">
                  <c:v>45260</c:v>
                </c:pt>
                <c:pt idx="30">
                  <c:v>45291</c:v>
                </c:pt>
                <c:pt idx="31">
                  <c:v>45322</c:v>
                </c:pt>
                <c:pt idx="32">
                  <c:v>45351</c:v>
                </c:pt>
                <c:pt idx="33">
                  <c:v>45382</c:v>
                </c:pt>
                <c:pt idx="34">
                  <c:v>45412</c:v>
                </c:pt>
                <c:pt idx="35">
                  <c:v>45443</c:v>
                </c:pt>
                <c:pt idx="36">
                  <c:v>45473</c:v>
                </c:pt>
                <c:pt idx="37">
                  <c:v>45504</c:v>
                </c:pt>
              </c:numCache>
            </c:numRef>
          </c:cat>
          <c:val>
            <c:numRef>
              <c:f>'vs Indexes Analysis'!$K$3:$K$39</c:f>
              <c:numCache>
                <c:formatCode>0.00%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-4.2900000000000049E-2</c:v>
                </c:pt>
                <c:pt idx="3">
                  <c:v>0</c:v>
                </c:pt>
                <c:pt idx="4">
                  <c:v>-2.300000000000002E-2</c:v>
                </c:pt>
                <c:pt idx="5">
                  <c:v>0</c:v>
                </c:pt>
                <c:pt idx="6">
                  <c:v>-5.3400000000000003E-2</c:v>
                </c:pt>
                <c:pt idx="7">
                  <c:v>-7.8484899999999969E-2</c:v>
                </c:pt>
                <c:pt idx="8">
                  <c:v>-5.5262719480000055E-2</c:v>
                </c:pt>
                <c:pt idx="9">
                  <c:v>-0.13490407222783607</c:v>
                </c:pt>
                <c:pt idx="10">
                  <c:v>-0.13628822571227162</c:v>
                </c:pt>
                <c:pt idx="11">
                  <c:v>-0.21203574831730532</c:v>
                </c:pt>
                <c:pt idx="12">
                  <c:v>-0.15010175813504545</c:v>
                </c:pt>
                <c:pt idx="13">
                  <c:v>-0.18690235200779803</c:v>
                </c:pt>
                <c:pt idx="14">
                  <c:v>-0.26382138950786038</c:v>
                </c:pt>
                <c:pt idx="15">
                  <c:v>-0.21147909030186929</c:v>
                </c:pt>
                <c:pt idx="16">
                  <c:v>-0.15785966844239629</c:v>
                </c:pt>
                <c:pt idx="17">
                  <c:v>-0.19440855883199637</c:v>
                </c:pt>
                <c:pt idx="18">
                  <c:v>-0.13801715795023606</c:v>
                </c:pt>
                <c:pt idx="19">
                  <c:v>-0.15982532385409498</c:v>
                </c:pt>
                <c:pt idx="20">
                  <c:v>-0.1360483805191659</c:v>
                </c:pt>
                <c:pt idx="21">
                  <c:v>-0.1223115497694206</c:v>
                </c:pt>
                <c:pt idx="22">
                  <c:v>-0.13328265539730277</c:v>
                </c:pt>
                <c:pt idx="23">
                  <c:v>-8.1886316862363029E-2</c:v>
                </c:pt>
                <c:pt idx="24">
                  <c:v>-5.1680376687134766E-2</c:v>
                </c:pt>
                <c:pt idx="25">
                  <c:v>-7.5862527081612896E-2</c:v>
                </c:pt>
                <c:pt idx="26">
                  <c:v>-0.11698664462648112</c:v>
                </c:pt>
                <c:pt idx="27">
                  <c:v>-0.14321214128107451</c:v>
                </c:pt>
                <c:pt idx="28">
                  <c:v>-6.430197949306149E-2</c:v>
                </c:pt>
                <c:pt idx="29">
                  <c:v>-1.9294904706677607E-2</c:v>
                </c:pt>
                <c:pt idx="30">
                  <c:v>-8.1148666203337827E-3</c:v>
                </c:pt>
                <c:pt idx="31">
                  <c:v>0</c:v>
                </c:pt>
                <c:pt idx="32">
                  <c:v>0</c:v>
                </c:pt>
                <c:pt idx="33">
                  <c:v>-3.8499999999999979E-2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93A9-4F37-AA55-E6520A863700}"/>
            </c:ext>
          </c:extLst>
        </c:ser>
        <c:ser>
          <c:idx val="2"/>
          <c:order val="2"/>
          <c:tx>
            <c:strRef>
              <c:f>'vs Indexes Analysis'!$L$1</c:f>
              <c:strCache>
                <c:ptCount val="1"/>
                <c:pt idx="0">
                  <c:v>Equity Hedge Fund Index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'vs Indexes Analysis'!$A$2:$A$39</c:f>
              <c:numCache>
                <c:formatCode>m/d/yyyy</c:formatCode>
                <c:ptCount val="38"/>
                <c:pt idx="0">
                  <c:v>44377</c:v>
                </c:pt>
                <c:pt idx="1">
                  <c:v>44408</c:v>
                </c:pt>
                <c:pt idx="2">
                  <c:v>44439</c:v>
                </c:pt>
                <c:pt idx="3">
                  <c:v>44469</c:v>
                </c:pt>
                <c:pt idx="4">
                  <c:v>44500</c:v>
                </c:pt>
                <c:pt idx="5">
                  <c:v>44530</c:v>
                </c:pt>
                <c:pt idx="6">
                  <c:v>44561</c:v>
                </c:pt>
                <c:pt idx="7">
                  <c:v>44592</c:v>
                </c:pt>
                <c:pt idx="8">
                  <c:v>44620</c:v>
                </c:pt>
                <c:pt idx="9">
                  <c:v>44651</c:v>
                </c:pt>
                <c:pt idx="10">
                  <c:v>44681</c:v>
                </c:pt>
                <c:pt idx="11">
                  <c:v>44712</c:v>
                </c:pt>
                <c:pt idx="12">
                  <c:v>44742</c:v>
                </c:pt>
                <c:pt idx="13">
                  <c:v>44773</c:v>
                </c:pt>
                <c:pt idx="14">
                  <c:v>44804</c:v>
                </c:pt>
                <c:pt idx="15">
                  <c:v>44834</c:v>
                </c:pt>
                <c:pt idx="16">
                  <c:v>44865</c:v>
                </c:pt>
                <c:pt idx="17">
                  <c:v>44895</c:v>
                </c:pt>
                <c:pt idx="18">
                  <c:v>44926</c:v>
                </c:pt>
                <c:pt idx="19">
                  <c:v>44957</c:v>
                </c:pt>
                <c:pt idx="20">
                  <c:v>44985</c:v>
                </c:pt>
                <c:pt idx="21">
                  <c:v>45016</c:v>
                </c:pt>
                <c:pt idx="22">
                  <c:v>45046</c:v>
                </c:pt>
                <c:pt idx="23">
                  <c:v>45077</c:v>
                </c:pt>
                <c:pt idx="24">
                  <c:v>45107</c:v>
                </c:pt>
                <c:pt idx="25">
                  <c:v>45138</c:v>
                </c:pt>
                <c:pt idx="26">
                  <c:v>45169</c:v>
                </c:pt>
                <c:pt idx="27">
                  <c:v>45199</c:v>
                </c:pt>
                <c:pt idx="28">
                  <c:v>45230</c:v>
                </c:pt>
                <c:pt idx="29">
                  <c:v>45260</c:v>
                </c:pt>
                <c:pt idx="30">
                  <c:v>45291</c:v>
                </c:pt>
                <c:pt idx="31">
                  <c:v>45322</c:v>
                </c:pt>
                <c:pt idx="32">
                  <c:v>45351</c:v>
                </c:pt>
                <c:pt idx="33">
                  <c:v>45382</c:v>
                </c:pt>
                <c:pt idx="34">
                  <c:v>45412</c:v>
                </c:pt>
                <c:pt idx="35">
                  <c:v>45443</c:v>
                </c:pt>
                <c:pt idx="36">
                  <c:v>45473</c:v>
                </c:pt>
                <c:pt idx="37">
                  <c:v>45504</c:v>
                </c:pt>
              </c:numCache>
            </c:numRef>
          </c:cat>
          <c:val>
            <c:numRef>
              <c:f>'vs Indexes Analysis'!$P$2:$P$39</c:f>
              <c:numCache>
                <c:formatCode>0.00%</c:formatCode>
                <c:ptCount val="38"/>
                <c:pt idx="1">
                  <c:v>-7.7000000000001512E-3</c:v>
                </c:pt>
                <c:pt idx="2">
                  <c:v>0</c:v>
                </c:pt>
                <c:pt idx="3">
                  <c:v>-1.1800000000000033E-2</c:v>
                </c:pt>
                <c:pt idx="4">
                  <c:v>0</c:v>
                </c:pt>
                <c:pt idx="5">
                  <c:v>-1.7199999999999993E-2</c:v>
                </c:pt>
                <c:pt idx="6">
                  <c:v>-3.5390799999999167E-3</c:v>
                </c:pt>
                <c:pt idx="7">
                  <c:v>-3.2735384955999924E-2</c:v>
                </c:pt>
                <c:pt idx="8">
                  <c:v>-4.240803110643987E-2</c:v>
                </c:pt>
                <c:pt idx="9">
                  <c:v>-3.7141275277525199E-2</c:v>
                </c:pt>
                <c:pt idx="10">
                  <c:v>-6.544932178436591E-2</c:v>
                </c:pt>
                <c:pt idx="11">
                  <c:v>-7.1336991057124433E-2</c:v>
                </c:pt>
                <c:pt idx="12">
                  <c:v>-0.10969077332646515</c:v>
                </c:pt>
                <c:pt idx="13">
                  <c:v>-8.7344011736959382E-2</c:v>
                </c:pt>
                <c:pt idx="14">
                  <c:v>-8.8439198922874995E-2</c:v>
                </c:pt>
                <c:pt idx="15">
                  <c:v>-0.12672475256811433</c:v>
                </c:pt>
                <c:pt idx="16">
                  <c:v>-0.11222838346074515</c:v>
                </c:pt>
                <c:pt idx="17">
                  <c:v>-8.0623713911947559E-2</c:v>
                </c:pt>
                <c:pt idx="18">
                  <c:v>-9.3494981917180198E-2</c:v>
                </c:pt>
                <c:pt idx="19">
                  <c:v>-5.4696567143235675E-2</c:v>
                </c:pt>
                <c:pt idx="20">
                  <c:v>-6.8403466919658706E-2</c:v>
                </c:pt>
                <c:pt idx="21">
                  <c:v>-6.8869265186198847E-2</c:v>
                </c:pt>
                <c:pt idx="22">
                  <c:v>-6.765879523094076E-2</c:v>
                </c:pt>
                <c:pt idx="23">
                  <c:v>-7.3066374218601293E-2</c:v>
                </c:pt>
                <c:pt idx="24">
                  <c:v>-5.1283434012738272E-2</c:v>
                </c:pt>
                <c:pt idx="25">
                  <c:v>-2.8039878146050357E-2</c:v>
                </c:pt>
                <c:pt idx="26">
                  <c:v>-4.0772555742337069E-2</c:v>
                </c:pt>
                <c:pt idx="27">
                  <c:v>-5.4873199172924769E-2</c:v>
                </c:pt>
                <c:pt idx="28">
                  <c:v>-7.746172971269194E-2</c:v>
                </c:pt>
                <c:pt idx="29">
                  <c:v>-3.7146807301136509E-2</c:v>
                </c:pt>
                <c:pt idx="30">
                  <c:v>-7.2020730082019702E-3</c:v>
                </c:pt>
                <c:pt idx="31">
                  <c:v>-8.8898294840880077E-3</c:v>
                </c:pt>
                <c:pt idx="32">
                  <c:v>0</c:v>
                </c:pt>
                <c:pt idx="33">
                  <c:v>0</c:v>
                </c:pt>
                <c:pt idx="34">
                  <c:v>-8.499999999999952E-3</c:v>
                </c:pt>
                <c:pt idx="35">
                  <c:v>0</c:v>
                </c:pt>
                <c:pt idx="36">
                  <c:v>-9.9999999999988987E-5</c:v>
                </c:pt>
                <c:pt idx="3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A9-4F37-AA55-E6520A863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8606160"/>
        <c:axId val="688604496"/>
        <c:extLst/>
      </c:lineChart>
      <c:dateAx>
        <c:axId val="688606160"/>
        <c:scaling>
          <c:orientation val="minMax"/>
          <c:max val="45504"/>
          <c:min val="44378"/>
        </c:scaling>
        <c:delete val="0"/>
        <c:axPos val="b"/>
        <c:numFmt formatCode="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8604496"/>
        <c:crosses val="autoZero"/>
        <c:auto val="0"/>
        <c:lblOffset val="100"/>
        <c:baseTimeUnit val="months"/>
      </c:dateAx>
      <c:valAx>
        <c:axId val="688604496"/>
        <c:scaling>
          <c:orientation val="minMax"/>
        </c:scaling>
        <c:delete val="0"/>
        <c:axPos val="l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8606160"/>
        <c:crossesAt val="44378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1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3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3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8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6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0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4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3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88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7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14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A0BDB5C-9269-CEF0-4B80-2C0DA5905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4677" y="220164"/>
            <a:ext cx="5040064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buFontTx/>
              <a:buNone/>
              <a:defRPr kumimoji="1" lang="zh-CN" altLang="en-US" sz="2400" b="1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1pPr>
            <a:lvl2pPr marL="0" indent="0" algn="l" defTabSz="914400" rtl="0" eaLnBrk="1" latinLnBrk="0" hangingPunct="1">
              <a:buNone/>
              <a:defRPr kumimoji="1" lang="zh-CN" altLang="en-US" sz="2400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2pPr>
            <a:lvl3pPr marL="0" indent="0" algn="l" defTabSz="914400" rtl="0" eaLnBrk="1" latinLnBrk="0" hangingPunct="1">
              <a:buNone/>
              <a:defRPr kumimoji="1" lang="zh-CN" altLang="en-US" sz="2400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3pPr>
            <a:lvl4pPr marL="0" indent="0" algn="l" defTabSz="914400" rtl="0" eaLnBrk="1" latinLnBrk="0" hangingPunct="1">
              <a:buNone/>
              <a:defRPr kumimoji="1" lang="zh-CN" altLang="en-US" sz="2400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4pPr>
            <a:lvl5pPr marL="0" indent="0" algn="l" defTabSz="914400" rtl="0" eaLnBrk="1" latinLnBrk="0" hangingPunct="1">
              <a:buNone/>
              <a:defRPr kumimoji="1" lang="zh-CN" altLang="en-US" sz="2400" kern="1200" dirty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111CFDAE-5369-452D-8E5D-D9C07CF6EA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0332" y="295615"/>
            <a:ext cx="1998081" cy="19573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524059" y="6492875"/>
            <a:ext cx="9632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本资料所包含的信息均属保密信息，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仅供特定的专业投资者参考，</a:t>
            </a:r>
            <a:r>
              <a:rPr lang="zh-TW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未经诺亚书面许可，任何机构或个人不得以任何形式复制，传播或引用。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06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900FD-3762-434C-A4B9-A83B18F441C1}" type="datetimeFigureOut">
              <a:rPr lang="en-US" smtClean="0"/>
              <a:t>9/5/2024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2DD44-6D82-4286-B202-98CD21BC1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hart 3"/>
          <p:cNvGraphicFramePr>
            <a:graphicFrameLocks/>
          </p:cNvGraphicFramePr>
          <p:nvPr>
            <p:extLst/>
          </p:nvPr>
        </p:nvGraphicFramePr>
        <p:xfrm>
          <a:off x="569425" y="1336404"/>
          <a:ext cx="5712163" cy="2569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91383" y="1028627"/>
            <a:ext cx="1324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最大回撤对比</a:t>
            </a:r>
            <a:endParaRPr lang="en-HK" sz="1400" dirty="0"/>
          </a:p>
        </p:txBody>
      </p:sp>
      <p:sp>
        <p:nvSpPr>
          <p:cNvPr id="35" name="TextBox 34"/>
          <p:cNvSpPr txBox="1"/>
          <p:nvPr/>
        </p:nvSpPr>
        <p:spPr>
          <a:xfrm>
            <a:off x="2645990" y="1028628"/>
            <a:ext cx="1324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收益对比</a:t>
            </a:r>
            <a:endParaRPr lang="en-HK" sz="1400" dirty="0"/>
          </a:p>
        </p:txBody>
      </p:sp>
      <p:sp>
        <p:nvSpPr>
          <p:cNvPr id="36" name="Rectangle 35"/>
          <p:cNvSpPr/>
          <p:nvPr/>
        </p:nvSpPr>
        <p:spPr>
          <a:xfrm>
            <a:off x="957052" y="5973094"/>
            <a:ext cx="24240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/>
              <a:t>数据来源</a:t>
            </a:r>
            <a:r>
              <a:rPr lang="zh-CN" altLang="en-US" sz="1000" dirty="0" smtClean="0"/>
              <a:t>：</a:t>
            </a:r>
            <a:r>
              <a:rPr lang="en-US" altLang="zh-CN" sz="1000" dirty="0" smtClean="0"/>
              <a:t>MSIM</a:t>
            </a:r>
            <a:r>
              <a:rPr lang="zh-CN" altLang="en-US" sz="1000" dirty="0" smtClean="0"/>
              <a:t>，截止</a:t>
            </a:r>
            <a:r>
              <a:rPr lang="en-US" altLang="zh-CN" sz="1000" dirty="0" smtClean="0"/>
              <a:t>2024</a:t>
            </a:r>
            <a:r>
              <a:rPr lang="zh-CN" altLang="en-US" sz="1000" dirty="0" smtClean="0"/>
              <a:t>年</a:t>
            </a:r>
            <a:r>
              <a:rPr lang="en-US" altLang="zh-CN" sz="1000" dirty="0"/>
              <a:t>7</a:t>
            </a:r>
            <a:r>
              <a:rPr lang="zh-CN" altLang="en-US" sz="1000" dirty="0" smtClean="0"/>
              <a:t>月</a:t>
            </a:r>
            <a:r>
              <a:rPr lang="en-US" altLang="zh-CN" sz="1000" dirty="0" smtClean="0"/>
              <a:t>31</a:t>
            </a:r>
            <a:r>
              <a:rPr lang="zh-CN" altLang="en-US" sz="1000" dirty="0" smtClean="0"/>
              <a:t>日</a:t>
            </a:r>
            <a:endParaRPr lang="en-HK" sz="1000" dirty="0"/>
          </a:p>
        </p:txBody>
      </p:sp>
      <p:sp>
        <p:nvSpPr>
          <p:cNvPr id="15" name="矩形 14"/>
          <p:cNvSpPr/>
          <p:nvPr/>
        </p:nvSpPr>
        <p:spPr>
          <a:xfrm>
            <a:off x="947113" y="6198769"/>
            <a:ext cx="102241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TW" altLang="zh-CN" sz="1000" dirty="0" smtClean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以上信息仅供参考</a:t>
            </a:r>
            <a:r>
              <a:rPr lang="en-US" altLang="zh-CN" sz="1000" dirty="0" smtClean="0">
                <a:latin typeface="Arial" panose="020B0604020202020204" pitchFamily="34" charset="0"/>
                <a:ea typeface="SimSun" panose="02010600030101010101" pitchFamily="2" charset="-122"/>
              </a:rPr>
              <a:t>, </a:t>
            </a:r>
            <a:r>
              <a:rPr lang="zh-TW" altLang="zh-CN" sz="1000" dirty="0" smtClean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投资涉及风险，过去表现不代表或不保证未来表现。管理人</a:t>
            </a:r>
            <a:r>
              <a:rPr lang="zh-CN" altLang="en-US" sz="1000" dirty="0" smtClean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可</a:t>
            </a:r>
            <a:r>
              <a:rPr lang="zh-TW" altLang="zh-CN" sz="1000" dirty="0" smtClean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根据市场情况适时调整，并没有全面分析一切可能的潜在回报或亏损情况</a:t>
            </a:r>
            <a:r>
              <a:rPr lang="en-US" altLang="zh-CN" sz="1000" dirty="0" smtClean="0">
                <a:latin typeface="Arial" panose="020B0604020202020204" pitchFamily="34" charset="0"/>
                <a:ea typeface="SimSun" panose="02010600030101010101" pitchFamily="2" charset="-122"/>
              </a:rPr>
              <a:t>,</a:t>
            </a:r>
            <a:r>
              <a:rPr lang="zh-TW" altLang="zh-CN" sz="1000" dirty="0" smtClean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也不代表任何实际或将来产品的表现。请细阅具体产品销售文件</a:t>
            </a:r>
            <a:r>
              <a:rPr lang="en-US" altLang="zh-CN" sz="1000" dirty="0" smtClean="0">
                <a:latin typeface="Arial" panose="020B0604020202020204" pitchFamily="34" charset="0"/>
                <a:ea typeface="SimSun" panose="02010600030101010101" pitchFamily="2" charset="-122"/>
              </a:rPr>
              <a:t>,</a:t>
            </a:r>
            <a:r>
              <a:rPr lang="zh-TW" altLang="zh-CN" sz="1000" dirty="0" smtClean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以了解详细信息。</a:t>
            </a:r>
            <a:endParaRPr lang="zh-CN" altLang="zh-CN" sz="10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文本占位符 3"/>
          <p:cNvSpPr txBox="1">
            <a:spLocks/>
          </p:cNvSpPr>
          <p:nvPr/>
        </p:nvSpPr>
        <p:spPr>
          <a:xfrm>
            <a:off x="474677" y="220164"/>
            <a:ext cx="7461950" cy="5032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kumimoji="1" lang="zh-CN" altLang="en-US" sz="2400" b="1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zh-CN" altLang="en-US" sz="2400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zh-CN" altLang="en-US" sz="2400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zh-CN" altLang="en-US" sz="2400" kern="1200" dirty="0" smtClean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lang="zh-CN" altLang="en-US" sz="2400" kern="1200" dirty="0">
                <a:gradFill>
                  <a:gsLst>
                    <a:gs pos="0">
                      <a:srgbClr val="F0DAB2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Noto Sans" panose="020B050204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4E1C12"/>
                </a:solidFill>
                <a:latin typeface="+mj-ea"/>
                <a:ea typeface="+mn-ea"/>
                <a:cs typeface="+mn-cs"/>
              </a:rPr>
              <a:t>MS Omni </a:t>
            </a:r>
            <a:r>
              <a:rPr lang="en-US" altLang="zh-TW" sz="3200" dirty="0">
                <a:solidFill>
                  <a:srgbClr val="4E1C12"/>
                </a:solidFill>
                <a:latin typeface="+mj-ea"/>
                <a:ea typeface="+mn-ea"/>
                <a:cs typeface="+mn-cs"/>
              </a:rPr>
              <a:t>—— </a:t>
            </a:r>
            <a:r>
              <a:rPr lang="zh-TW" altLang="en-US" sz="2000" dirty="0">
                <a:solidFill>
                  <a:srgbClr val="4E1C12"/>
                </a:solidFill>
                <a:latin typeface="+mj-ea"/>
                <a:ea typeface="+mn-ea"/>
                <a:cs typeface="+mn-cs"/>
              </a:rPr>
              <a:t>捕捉穿越任意市場週期的絕對收益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168353" y="1532234"/>
            <a:ext cx="1043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solidFill>
                  <a:srgbClr val="C00000"/>
                </a:solidFill>
              </a:rPr>
              <a:t>本基金：</a:t>
            </a:r>
            <a:r>
              <a:rPr lang="en-US" altLang="zh-CN" sz="800" dirty="0" smtClean="0">
                <a:solidFill>
                  <a:srgbClr val="C00000"/>
                </a:solidFill>
              </a:rPr>
              <a:t>34.57%</a:t>
            </a:r>
            <a:endParaRPr lang="en-US" sz="800" dirty="0">
              <a:solidFill>
                <a:srgbClr val="C00000"/>
              </a:solidFill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474677" y="4428650"/>
          <a:ext cx="5737284" cy="1212003"/>
        </p:xfrm>
        <a:graphic>
          <a:graphicData uri="http://schemas.openxmlformats.org/drawingml/2006/table">
            <a:tbl>
              <a:tblPr/>
              <a:tblGrid>
                <a:gridCol w="409806">
                  <a:extLst>
                    <a:ext uri="{9D8B030D-6E8A-4147-A177-3AD203B41FA5}">
                      <a16:colId xmlns:a16="http://schemas.microsoft.com/office/drawing/2014/main" val="2550297659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2743380306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1680552799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1652489846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4148053205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2015640205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3676266190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1003891291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3991951397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3144618394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187318395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3520051434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115028117"/>
                    </a:ext>
                  </a:extLst>
                </a:gridCol>
                <a:gridCol w="409806">
                  <a:extLst>
                    <a:ext uri="{9D8B030D-6E8A-4147-A177-3AD203B41FA5}">
                      <a16:colId xmlns:a16="http://schemas.microsoft.com/office/drawing/2014/main" val="4215384581"/>
                    </a:ext>
                  </a:extLst>
                </a:gridCol>
              </a:tblGrid>
              <a:tr h="201487"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CN" altLang="en-US" sz="7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年初至今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141756"/>
                  </a:ext>
                </a:extLst>
              </a:tr>
              <a:tr h="25260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1.65%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1.07%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-0.36%</a:t>
                      </a:r>
                      <a:endParaRPr lang="en-US" sz="10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0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-1.89%</a:t>
                      </a:r>
                      <a:endParaRPr lang="en-US" sz="1000" b="0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5.29%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827273"/>
                  </a:ext>
                </a:extLst>
              </a:tr>
              <a:tr h="2457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-1.32%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-0.21%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7.99%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881551"/>
                  </a:ext>
                </a:extLst>
              </a:tr>
              <a:tr h="27323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-0.31%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2.19%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-0.63%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1.97%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-0.38%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1.34%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12.12%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096564"/>
                  </a:ext>
                </a:extLst>
              </a:tr>
              <a:tr h="2389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-0.35%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2.22%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5.81%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0886956"/>
                  </a:ext>
                </a:extLst>
              </a:tr>
            </a:tbl>
          </a:graphicData>
        </a:graphic>
      </p:graphicFrame>
      <p:graphicFrame>
        <p:nvGraphicFramePr>
          <p:cNvPr id="18" name="表格 44"/>
          <p:cNvGraphicFramePr>
            <a:graphicFrameLocks noGrp="1"/>
          </p:cNvGraphicFramePr>
          <p:nvPr>
            <p:extLst/>
          </p:nvPr>
        </p:nvGraphicFramePr>
        <p:xfrm>
          <a:off x="569425" y="4103181"/>
          <a:ext cx="5642536" cy="240992"/>
        </p:xfrm>
        <a:graphic>
          <a:graphicData uri="http://schemas.openxmlformats.org/drawingml/2006/table">
            <a:tbl>
              <a:tblPr/>
              <a:tblGrid>
                <a:gridCol w="5642536">
                  <a:extLst>
                    <a:ext uri="{9D8B030D-6E8A-4147-A177-3AD203B41FA5}">
                      <a16:colId xmlns:a16="http://schemas.microsoft.com/office/drawing/2014/main" val="3043663085"/>
                    </a:ext>
                  </a:extLst>
                </a:gridCol>
              </a:tblGrid>
              <a:tr h="240992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0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離岸基</a:t>
                      </a:r>
                      <a:r>
                        <a:rPr lang="zh-TW" altLang="en-US" sz="1000" b="1" i="0" u="none" strike="noStrike" dirty="0" smtClean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</a:t>
                      </a:r>
                      <a:r>
                        <a:rPr lang="en-US" altLang="zh-CN" sz="1000" b="1" i="0" u="none" strike="noStrike" dirty="0" smtClean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  <a:r>
                        <a:rPr lang="zh-TW" altLang="en-US" sz="1000" b="1" i="0" u="none" strike="noStrike" dirty="0" smtClean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</a:t>
                      </a:r>
                      <a:r>
                        <a:rPr lang="zh-TW" altLang="en-US" sz="10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額</a:t>
                      </a:r>
                      <a:r>
                        <a:rPr lang="zh-CN" altLang="en-US" sz="10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淨收益</a:t>
                      </a:r>
                    </a:p>
                  </a:txBody>
                  <a:tcPr marL="8540" marR="8540" marT="854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599228"/>
                  </a:ext>
                </a:extLst>
              </a:tr>
            </a:tbl>
          </a:graphicData>
        </a:graphic>
      </p:graphicFrame>
      <p:graphicFrame>
        <p:nvGraphicFramePr>
          <p:cNvPr id="19" name="表格 7"/>
          <p:cNvGraphicFramePr>
            <a:graphicFrameLocks noGrp="1"/>
          </p:cNvGraphicFramePr>
          <p:nvPr>
            <p:extLst/>
          </p:nvPr>
        </p:nvGraphicFramePr>
        <p:xfrm>
          <a:off x="6579703" y="4091563"/>
          <a:ext cx="4671392" cy="1712891"/>
        </p:xfrm>
        <a:graphic>
          <a:graphicData uri="http://schemas.openxmlformats.org/drawingml/2006/table">
            <a:tbl>
              <a:tblPr/>
              <a:tblGrid>
                <a:gridCol w="1997533">
                  <a:extLst>
                    <a:ext uri="{9D8B030D-6E8A-4147-A177-3AD203B41FA5}">
                      <a16:colId xmlns:a16="http://schemas.microsoft.com/office/drawing/2014/main" val="2522483088"/>
                    </a:ext>
                  </a:extLst>
                </a:gridCol>
                <a:gridCol w="1139947">
                  <a:extLst>
                    <a:ext uri="{9D8B030D-6E8A-4147-A177-3AD203B41FA5}">
                      <a16:colId xmlns:a16="http://schemas.microsoft.com/office/drawing/2014/main" val="940439210"/>
                    </a:ext>
                  </a:extLst>
                </a:gridCol>
                <a:gridCol w="1533912">
                  <a:extLst>
                    <a:ext uri="{9D8B030D-6E8A-4147-A177-3AD203B41FA5}">
                      <a16:colId xmlns:a16="http://schemas.microsoft.com/office/drawing/2014/main" val="2068930715"/>
                    </a:ext>
                  </a:extLst>
                </a:gridCol>
              </a:tblGrid>
              <a:tr h="218699"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離岸基</a:t>
                      </a:r>
                      <a:r>
                        <a:rPr lang="zh-CN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</a:t>
                      </a:r>
                      <a:r>
                        <a:rPr lang="en-US" altLang="zh-CN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  <a:r>
                        <a:rPr lang="zh-CN" altLang="en-US" sz="9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</a:t>
                      </a:r>
                      <a:r>
                        <a:rPr lang="zh-CN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額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en-US" sz="900" b="1" i="0" u="none" strike="noStrike" kern="1200" dirty="0">
                          <a:solidFill>
                            <a:srgbClr val="795B2A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MSCI World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658265"/>
                  </a:ext>
                </a:extLst>
              </a:tr>
              <a:tr h="249032"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累計收益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34.88%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18.72%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927887"/>
                  </a:ext>
                </a:extLst>
              </a:tr>
              <a:tr h="249032"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10.31%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5.83%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984277"/>
                  </a:ext>
                </a:extLst>
              </a:tr>
              <a:tr h="249032"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年化波動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3.83%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16.54%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98786"/>
                  </a:ext>
                </a:extLst>
              </a:tr>
              <a:tr h="249032">
                <a:tc>
                  <a:txBody>
                    <a:bodyPr/>
                    <a:lstStyle>
                      <a:lvl1pPr marL="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6400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12801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9202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256032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320040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384048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448056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5120640" algn="l" defTabSz="640080" rtl="0" eaLnBrk="1" latinLnBrk="0" hangingPunct="1">
                        <a:defRPr sz="25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年化收益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波動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3.20 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0.35 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945436"/>
                  </a:ext>
                </a:extLst>
              </a:tr>
              <a:tr h="24903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CN" altLang="en-US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市場貝塔</a:t>
                      </a:r>
                      <a:endParaRPr lang="en-US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0.08</a:t>
                      </a:r>
                      <a:endParaRPr lang="en-US" altLang="zh-CN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CN" sz="11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1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127364"/>
                  </a:ext>
                </a:extLst>
              </a:tr>
              <a:tr h="24903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正月概率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78.38%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59.46%</a:t>
                      </a:r>
                      <a:endParaRPr lang="en-US" altLang="zh-CN" sz="11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95B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51405"/>
                  </a:ext>
                </a:extLst>
              </a:tr>
            </a:tbl>
          </a:graphicData>
        </a:graphic>
      </p:graphicFrame>
      <p:graphicFrame>
        <p:nvGraphicFramePr>
          <p:cNvPr id="13" name="Chart 4"/>
          <p:cNvGraphicFramePr>
            <a:graphicFrameLocks/>
          </p:cNvGraphicFramePr>
          <p:nvPr>
            <p:extLst/>
          </p:nvPr>
        </p:nvGraphicFramePr>
        <p:xfrm>
          <a:off x="6593616" y="1356202"/>
          <a:ext cx="4994819" cy="2549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6211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280</Words>
  <Application>Microsoft Office PowerPoint</Application>
  <PresentationFormat>宽屏</PresentationFormat>
  <Paragraphs>87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Noto Sans</vt:lpstr>
      <vt:lpstr>新細明體</vt:lpstr>
      <vt:lpstr>SimSun</vt:lpstr>
      <vt:lpstr>等线</vt:lpstr>
      <vt:lpstr>等线 Light</vt:lpstr>
      <vt:lpstr>微软雅黑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孙怡凝</dc:creator>
  <cp:lastModifiedBy>孙怡凝</cp:lastModifiedBy>
  <cp:revision>1</cp:revision>
  <dcterms:created xsi:type="dcterms:W3CDTF">2024-09-05T09:19:41Z</dcterms:created>
  <dcterms:modified xsi:type="dcterms:W3CDTF">2024-09-05T09:21:51Z</dcterms:modified>
</cp:coreProperties>
</file>