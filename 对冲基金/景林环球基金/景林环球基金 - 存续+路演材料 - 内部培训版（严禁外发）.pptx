
<file path=[Content_Types].xml><?xml version="1.0" encoding="utf-8"?>
<Types xmlns="http://schemas.openxmlformats.org/package/2006/content-types">
  <Default Extension="jpeg" ContentType="image/jpeg"/>
  <Default Extension="JPG" ContentType="image/.jpg"/>
  <Default Extension="wav" ContentType="audio/x-wav"/>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colors15.xml" ContentType="application/vnd.ms-office.chartcolorstyle+xml"/>
  <Override PartName="/ppt/charts/colors16.xml" ContentType="application/vnd.ms-office.chartcolorstyle+xml"/>
  <Override PartName="/ppt/charts/colors17.xml" ContentType="application/vnd.ms-office.chartcolorstyle+xml"/>
  <Override PartName="/ppt/charts/colors18.xml" ContentType="application/vnd.ms-office.chartcolorstyle+xml"/>
  <Override PartName="/ppt/charts/colors19.xml" ContentType="application/vnd.ms-office.chartcolorstyle+xml"/>
  <Override PartName="/ppt/charts/colors2.xml" ContentType="application/vnd.ms-office.chartcolorstyle+xml"/>
  <Override PartName="/ppt/charts/colors20.xml" ContentType="application/vnd.ms-office.chartcolorstyle+xml"/>
  <Override PartName="/ppt/charts/colors21.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charts/style15.xml" ContentType="application/vnd.ms-office.chartstyle+xml"/>
  <Override PartName="/ppt/charts/style16.xml" ContentType="application/vnd.ms-office.chartstyle+xml"/>
  <Override PartName="/ppt/charts/style17.xml" ContentType="application/vnd.ms-office.chartstyle+xml"/>
  <Override PartName="/ppt/charts/style18.xml" ContentType="application/vnd.ms-office.chartstyle+xml"/>
  <Override PartName="/ppt/charts/style19.xml" ContentType="application/vnd.ms-office.chartstyle+xml"/>
  <Override PartName="/ppt/charts/style2.xml" ContentType="application/vnd.ms-office.chartstyle+xml"/>
  <Override PartName="/ppt/charts/style20.xml" ContentType="application/vnd.ms-office.chartstyle+xml"/>
  <Override PartName="/ppt/charts/style21.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9" r:id="rId3"/>
    <p:sldId id="262" r:id="rId4"/>
    <p:sldId id="279" r:id="rId6"/>
    <p:sldId id="275" r:id="rId7"/>
    <p:sldId id="266" r:id="rId8"/>
    <p:sldId id="276" r:id="rId9"/>
    <p:sldId id="267" r:id="rId10"/>
    <p:sldId id="277" r:id="rId11"/>
    <p:sldId id="271" r:id="rId12"/>
    <p:sldId id="268" r:id="rId13"/>
    <p:sldId id="269" r:id="rId14"/>
    <p:sldId id="270" r:id="rId15"/>
    <p:sldId id="272" r:id="rId16"/>
    <p:sldId id="274" r:id="rId17"/>
    <p:sldId id="280" r:id="rId18"/>
    <p:sldId id="260" r:id="rId19"/>
    <p:sldId id="285" r:id="rId20"/>
    <p:sldId id="304" r:id="rId21"/>
    <p:sldId id="257" r:id="rId22"/>
    <p:sldId id="281" r:id="rId23"/>
    <p:sldId id="282" r:id="rId24"/>
    <p:sldId id="283" r:id="rId25"/>
    <p:sldId id="284"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a Vida Villanueva" initials="MVV" lastIdx="1" clrIdx="0"/>
  <p:cmAuthor id="1" name="胡今阳" initials="胡今阳" lastIdx="19" clrIdx="0"/>
  <p:cmAuthor id="2" name="作者" initials="A" lastIdx="1" clrIdx="1"/>
  <p:cmAuthor id="3" name="lenovo" initials="l" lastIdx="6" clrIdx="2"/>
  <p:cmAuthor id="4" name="Administrator" initials="A" lastIdx="4" clrIdx="3"/>
  <p:cmAuthor id="5" name="袁定一" initials="袁定一" lastIdx="7" clrIdx="0"/>
  <p:cmAuthor id="6" name="ming qiu" initials="m" lastIdx="17" clrIdx="1"/>
  <p:cmAuthor id="7" name="1206988966@qq.com" initials="1" lastIdx="1" clrIdx="2"/>
  <p:cmAuthor id="8" name="姜伟光" initials="姜" lastIdx="1" clrIdx="0"/>
  <p:cmAuthor id="9" name="陆慧蔚" initials="陆慧蔚" lastIdx="4" clrIdx="4"/>
  <p:cmAuthor id="11" name="翟文杰" initials="翟" lastIdx="19" clrIdx="10"/>
  <p:cmAuthor id="12" name="Yang Jean" initials="YJ" lastIdx="24" clrIdx="11"/>
  <p:cmAuthor id="13" name="法务" initials="法务" lastIdx="59" clrIdx="12"/>
  <p:cmAuthor id="14" name="29088" initials="2" lastIdx="1" clrIdx="13"/>
  <p:cmAuthor id="15" name="124703096@qq.com" initials="1" lastIdx="1" clrIdx="14"/>
  <p:cmAuthor id="336075508" name="艾米丽斯诺" initials="艾" lastIdx="23" clrIdx="0"/>
  <p:cmAuthor id="336075509" name="Bris Xie 谢碧薇" initials="BX谢" lastIdx="22" clrIdx="15"/>
  <p:cmAuthor id="336075510" name="Carmen Chan 陈嘉敏" initials="CC陈" lastIdx="19" clrIdx="16"/>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874CB"/>
    <a:srgbClr val="002060"/>
    <a:srgbClr val="F2BA02"/>
    <a:srgbClr val="FCE6D5"/>
    <a:srgbClr val="0C29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0" Type="http://schemas.openxmlformats.org/officeDocument/2006/relationships/commentAuthors" Target="commentAuthors.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D:\&#12304;Working&#12305;\&#12304;&#26223;&#26519;&#12305;\1&#12289;&#26223;&#26519;&#37329;&#33394;&#20013;&#22269;&#23384;&#32493;-working%20paper%2020241129.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D:\&#12304;Working&#12305;\&#12304;&#26223;&#26519;&#12305;\&#37329;&#33394;&#20013;&#22269;&#20132;&#26131;&#25968;&#25454;-20240708.xlsx" TargetMode="External"/></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D:\&#12304;Working&#12305;\&#12304;&#26223;&#26519;&#12305;\1&#12289;&#26223;&#26519;&#37329;&#33394;&#20013;&#22269;&#23384;&#32493;-working%20paper%2020241129.xlsx" TargetMode="External"/></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D:\&#12304;Working&#12305;\&#12304;&#26223;&#26519;&#12305;\1&#12289;&#26223;&#26519;&#37329;&#33394;&#20013;&#22269;&#23384;&#32493;-working%20paper%2020241129.xlsx" TargetMode="External"/></Relationships>
</file>

<file path=ppt/charts/_rels/chart5.xml.rels><?xml version="1.0" encoding="UTF-8" standalone="yes"?>
<Relationships xmlns="http://schemas.openxmlformats.org/package/2006/relationships"><Relationship Id="rId3" Type="http://schemas.microsoft.com/office/2011/relationships/chartColorStyle" Target="colors5.xml"/><Relationship Id="rId2" Type="http://schemas.microsoft.com/office/2011/relationships/chartStyle" Target="style5.xml"/><Relationship Id="rId1" Type="http://schemas.openxmlformats.org/officeDocument/2006/relationships/oleObject" Target="file:///D:\&#12304;Working&#12305;\&#12304;&#26223;&#26519;&#12305;\1&#12289;&#26223;&#26519;&#37329;&#33394;&#20013;&#22269;&#23384;&#32493;-working%20paper%2020241129.xlsx" TargetMode="External"/></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file:///D:\&#12304;Working&#12305;\&#12304;&#26223;&#26519;&#12305;\1&#12289;&#26223;&#26519;&#37329;&#33394;&#20013;&#22269;&#23384;&#32493;-working%20paper%2020241129.xlsx" TargetMode="External"/></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file:///D:\&#12304;Working&#12305;\&#12304;&#26223;&#26519;&#12305;\&#26223;&#26519;&#21307;&#33647;&#23384;&#32493;&#24773;&#20917;-20241129.xlsx" TargetMode="External"/></Relationships>
</file>

<file path=ppt/charts/_rels/chart8.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oleObject" Target="file:///D:\&#12304;Working&#12305;\&#12304;&#26223;&#26519;&#12305;\1&#12289;&#26223;&#26519;&#37329;&#33394;&#20013;&#22269;&#23384;&#32493;-working%20paper%2020241129.xlsx" TargetMode="External"/></Relationships>
</file>

<file path=ppt/charts/_rels/chart9.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oleObject" Target="file:///D:\&#12304;Working&#12305;\&#12304;&#26223;&#26519;&#12305;\1&#12289;&#26223;&#26519;&#37329;&#33394;&#20013;&#22269;&#23384;&#32493;-working%20paper%2020241129.xlsx" TargetMode="External"/></Relationships>
</file>

<file path=ppt/charts/_rels/chart10.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oleObject" Target="file:///D:\&#12304;Working&#12305;\&#12304;&#26223;&#26519;&#12305;\Greenwoods%20Focused%20opportunities%20Fund%20data%20pack%202024Q3.xlsx" TargetMode="External"/></Relationships>
</file>

<file path=ppt/charts/_rels/chart11.xml.rels><?xml version="1.0" encoding="UTF-8" standalone="yes"?>
<Relationships xmlns="http://schemas.openxmlformats.org/package/2006/relationships"><Relationship Id="rId4" Type="http://schemas.microsoft.com/office/2011/relationships/chartColorStyle" Target="colors11.xml"/><Relationship Id="rId3" Type="http://schemas.microsoft.com/office/2011/relationships/chartStyle" Target="style11.xml"/><Relationship Id="rId2" Type="http://schemas.openxmlformats.org/officeDocument/2006/relationships/themeOverride" Target="../theme/themeOverride1.xml"/><Relationship Id="rId1" Type="http://schemas.openxmlformats.org/officeDocument/2006/relationships/oleObject" Target="file:///D:\&#12304;Working&#12305;\&#12304;&#26223;&#26519;&#12305;\Greenwoods%20Focused%20opportunities%20Fund%20data%20pack%202024Q3.xlsx" TargetMode="External"/></Relationships>
</file>

<file path=ppt/charts/_rels/chart12.xml.rels><?xml version="1.0" encoding="UTF-8" standalone="yes"?>
<Relationships xmlns="http://schemas.openxmlformats.org/package/2006/relationships"><Relationship Id="rId4" Type="http://schemas.microsoft.com/office/2011/relationships/chartColorStyle" Target="colors12.xml"/><Relationship Id="rId3" Type="http://schemas.microsoft.com/office/2011/relationships/chartStyle" Target="style12.xml"/><Relationship Id="rId2" Type="http://schemas.openxmlformats.org/officeDocument/2006/relationships/themeOverride" Target="../theme/themeOverride2.xml"/><Relationship Id="rId1" Type="http://schemas.openxmlformats.org/officeDocument/2006/relationships/oleObject" Target="file:///D:\&#12304;Working&#12305;\&#12304;&#26223;&#26519;&#12305;\Greenwoods%20Focused%20opportunities%20Fund%20data%20pack%202024Q3.xlsx" TargetMode="External"/></Relationships>
</file>

<file path=ppt/charts/_rels/chart13.xml.rels><?xml version="1.0" encoding="UTF-8" standalone="yes"?>
<Relationships xmlns="http://schemas.openxmlformats.org/package/2006/relationships"><Relationship Id="rId3" Type="http://schemas.microsoft.com/office/2011/relationships/chartColorStyle" Target="colors13.xml"/><Relationship Id="rId2" Type="http://schemas.microsoft.com/office/2011/relationships/chartStyle" Target="style13.xml"/><Relationship Id="rId1" Type="http://schemas.openxmlformats.org/officeDocument/2006/relationships/oleObject" Target="file:///D:\&#12304;Working&#12305;\&#12304;&#26223;&#26519;&#12305;\&#26223;&#26519;&#21508;&#31995;&#21015;&#20928;&#20540;&#27719;&#24635;.xlsx" TargetMode="External"/></Relationships>
</file>

<file path=ppt/charts/_rels/chart14.xml.rels><?xml version="1.0" encoding="UTF-8" standalone="yes"?>
<Relationships xmlns="http://schemas.openxmlformats.org/package/2006/relationships"><Relationship Id="rId3" Type="http://schemas.microsoft.com/office/2011/relationships/chartColorStyle" Target="colors14.xml"/><Relationship Id="rId2" Type="http://schemas.microsoft.com/office/2011/relationships/chartStyle" Target="style14.xml"/><Relationship Id="rId1" Type="http://schemas.openxmlformats.org/officeDocument/2006/relationships/oleObject" Target="file:///D:\&#12304;Working&#12305;\&#12304;&#26223;&#26519;&#12305;\Greenwoods%20Focused%20opportunities%20Fund%20data%20pack%202024Q3.xlsx" TargetMode="External"/></Relationships>
</file>

<file path=ppt/charts/_rels/chart15.xml.rels><?xml version="1.0" encoding="UTF-8" standalone="yes"?>
<Relationships xmlns="http://schemas.openxmlformats.org/package/2006/relationships"><Relationship Id="rId4" Type="http://schemas.microsoft.com/office/2011/relationships/chartColorStyle" Target="colors15.xml"/><Relationship Id="rId3" Type="http://schemas.microsoft.com/office/2011/relationships/chartStyle" Target="style15.xml"/><Relationship Id="rId2" Type="http://schemas.openxmlformats.org/officeDocument/2006/relationships/themeOverride" Target="../theme/themeOverride3.xml"/><Relationship Id="rId1" Type="http://schemas.openxmlformats.org/officeDocument/2006/relationships/oleObject" Target="file:///D:\&#12304;Working&#12305;\&#12304;&#26223;&#26519;&#12305;\Greenwoods%20Focused%20opportunities%20Fund%20data%20pack%202024Q3.xlsx" TargetMode="External"/></Relationships>
</file>

<file path=ppt/charts/_rels/chart16.xml.rels><?xml version="1.0" encoding="UTF-8" standalone="yes"?>
<Relationships xmlns="http://schemas.openxmlformats.org/package/2006/relationships"><Relationship Id="rId3" Type="http://schemas.microsoft.com/office/2011/relationships/chartColorStyle" Target="colors16.xml"/><Relationship Id="rId2" Type="http://schemas.microsoft.com/office/2011/relationships/chartStyle" Target="style16.xml"/><Relationship Id="rId1" Type="http://schemas.openxmlformats.org/officeDocument/2006/relationships/oleObject" Target="file:///D:\&#12304;Working&#12305;\&#12304;&#26223;&#26519;&#12305;\Greenwoods%20Focused%20opportunities%20Fund%20data%20pack%202024Q3.xlsx" TargetMode="External"/></Relationships>
</file>

<file path=ppt/charts/_rels/chart17.xml.rels><?xml version="1.0" encoding="UTF-8" standalone="yes"?>
<Relationships xmlns="http://schemas.openxmlformats.org/package/2006/relationships"><Relationship Id="rId3" Type="http://schemas.microsoft.com/office/2011/relationships/chartColorStyle" Target="colors17.xml"/><Relationship Id="rId2" Type="http://schemas.microsoft.com/office/2011/relationships/chartStyle" Target="style17.xml"/><Relationship Id="rId1" Type="http://schemas.openxmlformats.org/officeDocument/2006/relationships/oleObject" Target="file:///D:\&#12304;Working&#12305;\&#12304;&#26223;&#26519;&#12305;\Greenwoods%20Focused%20opportunities%20Fund%20data%20pack%202024Q3.xlsx" TargetMode="External"/></Relationships>
</file>

<file path=ppt/charts/_rels/chart18.xml.rels><?xml version="1.0" encoding="UTF-8" standalone="yes"?>
<Relationships xmlns="http://schemas.openxmlformats.org/package/2006/relationships"><Relationship Id="rId3" Type="http://schemas.microsoft.com/office/2011/relationships/chartColorStyle" Target="colors18.xml"/><Relationship Id="rId2" Type="http://schemas.microsoft.com/office/2011/relationships/chartStyle" Target="style18.xml"/><Relationship Id="rId1" Type="http://schemas.openxmlformats.org/officeDocument/2006/relationships/oleObject" Target="file:///D:\&#12304;Working&#12305;\&#12304;&#26223;&#26519;&#12305;\Greenwoods%20Focused%20opportunities%20Fund%20data%20pack%202024Q3.xlsx" TargetMode="External"/></Relationships>
</file>

<file path=ppt/charts/_rels/chart19.xml.rels><?xml version="1.0" encoding="UTF-8" standalone="yes"?>
<Relationships xmlns="http://schemas.openxmlformats.org/package/2006/relationships"><Relationship Id="rId3" Type="http://schemas.microsoft.com/office/2011/relationships/chartColorStyle" Target="colors19.xml"/><Relationship Id="rId2" Type="http://schemas.microsoft.com/office/2011/relationships/chartStyle" Target="style19.xml"/><Relationship Id="rId1" Type="http://schemas.openxmlformats.org/officeDocument/2006/relationships/oleObject" Target="file:///D:\&#12304;Working&#12305;\&#12304;&#26223;&#26519;&#12305;\Greenwoods%20Focused%20opportunities%20Fund%20data%20pack%202024Q3.xlsx" TargetMode="External"/></Relationships>
</file>

<file path=ppt/charts/_rels/chart20.xml.rels><?xml version="1.0" encoding="UTF-8" standalone="yes"?>
<Relationships xmlns="http://schemas.openxmlformats.org/package/2006/relationships"><Relationship Id="rId3" Type="http://schemas.microsoft.com/office/2011/relationships/chartColorStyle" Target="colors20.xml"/><Relationship Id="rId2" Type="http://schemas.microsoft.com/office/2011/relationships/chartStyle" Target="style20.xml"/><Relationship Id="rId1" Type="http://schemas.openxmlformats.org/officeDocument/2006/relationships/oleObject" Target="file:///D:\&#12304;Working&#12305;\&#12304;&#26223;&#26519;&#12305;\Greenwoods%20Focused%20opportunities%20Fund%20data%20pack%202024Q3.xlsx" TargetMode="External"/></Relationships>
</file>

<file path=ppt/charts/_rels/chart21.xml.rels><?xml version="1.0" encoding="UTF-8" standalone="yes"?>
<Relationships xmlns="http://schemas.openxmlformats.org/package/2006/relationships"><Relationship Id="rId3" Type="http://schemas.microsoft.com/office/2011/relationships/chartColorStyle" Target="colors21.xml"/><Relationship Id="rId2" Type="http://schemas.microsoft.com/office/2011/relationships/chartStyle" Target="style21.xml"/><Relationship Id="rId1" Type="http://schemas.openxmlformats.org/officeDocument/2006/relationships/oleObject" Target="file:///D:\&#12304;Working&#12305;\&#12304;&#26223;&#26519;&#12305;\Greenwoods%20Focused%20opportunities%20Fund%20data%20pack%202024Q3%20(00000003).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0"/>
          <c:tx>
            <c:strRef>
              <c:f>'[1、景林金色中国存续-working paper 20241129.xlsx]景林金色中国业绩（第4批）'!$B$1</c:f>
              <c:strCache>
                <c:ptCount val="1"/>
                <c:pt idx="0">
                  <c:v>景林金色中国</c:v>
                </c:pt>
              </c:strCache>
            </c:strRef>
          </c:tx>
          <c:spPr>
            <a:ln w="28575" cap="rnd">
              <a:solidFill>
                <a:srgbClr val="C00000"/>
              </a:solidFill>
              <a:round/>
            </a:ln>
            <a:effectLst/>
          </c:spPr>
          <c:marker>
            <c:symbol val="none"/>
          </c:marker>
          <c:dLbls>
            <c:delete val="1"/>
          </c:dLbls>
          <c:cat>
            <c:numRef>
              <c:f>'[1、景林金色中国存续-working paper 20241129.xlsx]景林金色中国业绩（第4批）'!$A$2:$A$252</c:f>
              <c:numCache>
                <c:formatCode>yyyy/m/d</c:formatCode>
                <c:ptCount val="251"/>
                <c:pt idx="0" c:formatCode="yyyy/m/d">
                  <c:v>38169</c:v>
                </c:pt>
                <c:pt idx="1" c:formatCode="yyyy/m/d">
                  <c:v>38199</c:v>
                </c:pt>
                <c:pt idx="2" c:formatCode="yyyy/m/d">
                  <c:v>38230</c:v>
                </c:pt>
                <c:pt idx="3" c:formatCode="yyyy/m/d">
                  <c:v>38260</c:v>
                </c:pt>
                <c:pt idx="4" c:formatCode="yyyy/m/d">
                  <c:v>38291</c:v>
                </c:pt>
                <c:pt idx="5" c:formatCode="yyyy/m/d">
                  <c:v>38321</c:v>
                </c:pt>
                <c:pt idx="6" c:formatCode="yyyy/m/d">
                  <c:v>38352</c:v>
                </c:pt>
                <c:pt idx="7" c:formatCode="yyyy/m/d">
                  <c:v>38383</c:v>
                </c:pt>
                <c:pt idx="8" c:formatCode="yyyy/m/d">
                  <c:v>38411</c:v>
                </c:pt>
                <c:pt idx="9" c:formatCode="yyyy/m/d">
                  <c:v>38442</c:v>
                </c:pt>
                <c:pt idx="10" c:formatCode="yyyy/m/d">
                  <c:v>38472</c:v>
                </c:pt>
                <c:pt idx="11" c:formatCode="yyyy/m/d">
                  <c:v>38503</c:v>
                </c:pt>
                <c:pt idx="12" c:formatCode="yyyy/m/d">
                  <c:v>38533</c:v>
                </c:pt>
                <c:pt idx="13" c:formatCode="yyyy/m/d">
                  <c:v>38564</c:v>
                </c:pt>
                <c:pt idx="14" c:formatCode="yyyy/m/d">
                  <c:v>38595</c:v>
                </c:pt>
                <c:pt idx="15" c:formatCode="yyyy/m/d">
                  <c:v>38625</c:v>
                </c:pt>
                <c:pt idx="16" c:formatCode="yyyy/m/d">
                  <c:v>38656</c:v>
                </c:pt>
                <c:pt idx="17" c:formatCode="yyyy/m/d">
                  <c:v>38686</c:v>
                </c:pt>
                <c:pt idx="18" c:formatCode="yyyy/m/d">
                  <c:v>38717</c:v>
                </c:pt>
                <c:pt idx="19" c:formatCode="yyyy/m/d">
                  <c:v>38748</c:v>
                </c:pt>
                <c:pt idx="20" c:formatCode="yyyy/m/d">
                  <c:v>38776</c:v>
                </c:pt>
                <c:pt idx="21" c:formatCode="yyyy/m/d">
                  <c:v>38807</c:v>
                </c:pt>
                <c:pt idx="22" c:formatCode="yyyy/m/d">
                  <c:v>38837</c:v>
                </c:pt>
                <c:pt idx="23" c:formatCode="yyyy/m/d">
                  <c:v>38868</c:v>
                </c:pt>
                <c:pt idx="24" c:formatCode="yyyy/m/d">
                  <c:v>38898</c:v>
                </c:pt>
                <c:pt idx="25" c:formatCode="yyyy/m/d">
                  <c:v>38929</c:v>
                </c:pt>
                <c:pt idx="26" c:formatCode="yyyy/m/d">
                  <c:v>38960</c:v>
                </c:pt>
                <c:pt idx="27" c:formatCode="yyyy/m/d">
                  <c:v>38990</c:v>
                </c:pt>
                <c:pt idx="28" c:formatCode="yyyy/m/d">
                  <c:v>39021</c:v>
                </c:pt>
                <c:pt idx="29" c:formatCode="yyyy/m/d">
                  <c:v>39051</c:v>
                </c:pt>
                <c:pt idx="30" c:formatCode="yyyy/m/d">
                  <c:v>39082</c:v>
                </c:pt>
                <c:pt idx="31" c:formatCode="yyyy/m/d">
                  <c:v>39113</c:v>
                </c:pt>
                <c:pt idx="32" c:formatCode="yyyy/m/d">
                  <c:v>39141</c:v>
                </c:pt>
                <c:pt idx="33" c:formatCode="yyyy/m/d">
                  <c:v>39172</c:v>
                </c:pt>
                <c:pt idx="34" c:formatCode="yyyy/m/d">
                  <c:v>39202</c:v>
                </c:pt>
                <c:pt idx="35" c:formatCode="yyyy/m/d">
                  <c:v>39233</c:v>
                </c:pt>
                <c:pt idx="36" c:formatCode="yyyy/m/d">
                  <c:v>39263</c:v>
                </c:pt>
                <c:pt idx="37" c:formatCode="yyyy/m/d">
                  <c:v>39294</c:v>
                </c:pt>
                <c:pt idx="38" c:formatCode="yyyy/m/d">
                  <c:v>39325</c:v>
                </c:pt>
                <c:pt idx="39" c:formatCode="yyyy/m/d">
                  <c:v>39355</c:v>
                </c:pt>
                <c:pt idx="40" c:formatCode="yyyy/m/d">
                  <c:v>39386</c:v>
                </c:pt>
                <c:pt idx="41" c:formatCode="yyyy/m/d">
                  <c:v>39416</c:v>
                </c:pt>
                <c:pt idx="42" c:formatCode="yyyy/m/d">
                  <c:v>39447</c:v>
                </c:pt>
                <c:pt idx="43" c:formatCode="yyyy/m/d">
                  <c:v>39478</c:v>
                </c:pt>
                <c:pt idx="44" c:formatCode="yyyy/m/d">
                  <c:v>39507</c:v>
                </c:pt>
                <c:pt idx="45" c:formatCode="yyyy/m/d">
                  <c:v>39538</c:v>
                </c:pt>
                <c:pt idx="46" c:formatCode="yyyy/m/d">
                  <c:v>39568</c:v>
                </c:pt>
                <c:pt idx="47" c:formatCode="yyyy/m/d">
                  <c:v>39599</c:v>
                </c:pt>
                <c:pt idx="48" c:formatCode="yyyy/m/d">
                  <c:v>39629</c:v>
                </c:pt>
                <c:pt idx="49" c:formatCode="yyyy/m/d">
                  <c:v>39660</c:v>
                </c:pt>
                <c:pt idx="50" c:formatCode="yyyy/m/d">
                  <c:v>39691</c:v>
                </c:pt>
                <c:pt idx="51" c:formatCode="yyyy/m/d">
                  <c:v>39721</c:v>
                </c:pt>
                <c:pt idx="52" c:formatCode="yyyy/m/d">
                  <c:v>39752</c:v>
                </c:pt>
                <c:pt idx="53" c:formatCode="yyyy/m/d">
                  <c:v>39782</c:v>
                </c:pt>
                <c:pt idx="54" c:formatCode="yyyy/m/d">
                  <c:v>39813</c:v>
                </c:pt>
                <c:pt idx="55" c:formatCode="yyyy/m/d">
                  <c:v>39844</c:v>
                </c:pt>
                <c:pt idx="56" c:formatCode="yyyy/m/d">
                  <c:v>39872</c:v>
                </c:pt>
                <c:pt idx="57" c:formatCode="yyyy/m/d">
                  <c:v>39903</c:v>
                </c:pt>
                <c:pt idx="58" c:formatCode="yyyy/m/d">
                  <c:v>39933</c:v>
                </c:pt>
                <c:pt idx="59" c:formatCode="yyyy/m/d">
                  <c:v>39964</c:v>
                </c:pt>
                <c:pt idx="60" c:formatCode="yyyy/m/d">
                  <c:v>39994</c:v>
                </c:pt>
                <c:pt idx="61" c:formatCode="yyyy/m/d">
                  <c:v>40025</c:v>
                </c:pt>
                <c:pt idx="62" c:formatCode="yyyy/m/d">
                  <c:v>40056</c:v>
                </c:pt>
                <c:pt idx="63" c:formatCode="yyyy/m/d">
                  <c:v>40086</c:v>
                </c:pt>
                <c:pt idx="64" c:formatCode="yyyy/m/d">
                  <c:v>40117</c:v>
                </c:pt>
                <c:pt idx="65" c:formatCode="yyyy/m/d">
                  <c:v>40147</c:v>
                </c:pt>
                <c:pt idx="66" c:formatCode="yyyy/m/d">
                  <c:v>40178</c:v>
                </c:pt>
                <c:pt idx="67" c:formatCode="yyyy/m/d">
                  <c:v>40209</c:v>
                </c:pt>
                <c:pt idx="68" c:formatCode="yyyy/m/d">
                  <c:v>40237</c:v>
                </c:pt>
                <c:pt idx="69" c:formatCode="yyyy/m/d">
                  <c:v>40268</c:v>
                </c:pt>
                <c:pt idx="70" c:formatCode="yyyy/m/d">
                  <c:v>40298</c:v>
                </c:pt>
                <c:pt idx="71" c:formatCode="yyyy/m/d">
                  <c:v>40329</c:v>
                </c:pt>
                <c:pt idx="72" c:formatCode="yyyy/m/d">
                  <c:v>40359</c:v>
                </c:pt>
                <c:pt idx="73" c:formatCode="yyyy/m/d">
                  <c:v>40390</c:v>
                </c:pt>
                <c:pt idx="74" c:formatCode="yyyy/m/d">
                  <c:v>40421</c:v>
                </c:pt>
                <c:pt idx="75" c:formatCode="yyyy/m/d">
                  <c:v>40451</c:v>
                </c:pt>
                <c:pt idx="76" c:formatCode="yyyy/m/d">
                  <c:v>40482</c:v>
                </c:pt>
                <c:pt idx="77" c:formatCode="yyyy/m/d">
                  <c:v>40512</c:v>
                </c:pt>
                <c:pt idx="78" c:formatCode="yyyy/m/d">
                  <c:v>40543</c:v>
                </c:pt>
                <c:pt idx="79" c:formatCode="yyyy/m/d">
                  <c:v>40574</c:v>
                </c:pt>
                <c:pt idx="80" c:formatCode="yyyy/m/d">
                  <c:v>40602</c:v>
                </c:pt>
                <c:pt idx="81" c:formatCode="yyyy/m/d">
                  <c:v>40633</c:v>
                </c:pt>
                <c:pt idx="82" c:formatCode="yyyy/m/d">
                  <c:v>40663</c:v>
                </c:pt>
                <c:pt idx="83" c:formatCode="yyyy/m/d">
                  <c:v>40694</c:v>
                </c:pt>
                <c:pt idx="84" c:formatCode="yyyy/m/d">
                  <c:v>40724</c:v>
                </c:pt>
                <c:pt idx="85" c:formatCode="yyyy/m/d">
                  <c:v>40755</c:v>
                </c:pt>
                <c:pt idx="86" c:formatCode="yyyy/m/d">
                  <c:v>40786</c:v>
                </c:pt>
                <c:pt idx="87" c:formatCode="yyyy/m/d">
                  <c:v>40816</c:v>
                </c:pt>
                <c:pt idx="88" c:formatCode="yyyy/m/d">
                  <c:v>40847</c:v>
                </c:pt>
                <c:pt idx="89" c:formatCode="yyyy/m/d">
                  <c:v>40877</c:v>
                </c:pt>
                <c:pt idx="90" c:formatCode="yyyy/m/d">
                  <c:v>40908</c:v>
                </c:pt>
                <c:pt idx="91" c:formatCode="yyyy/m/d">
                  <c:v>40939</c:v>
                </c:pt>
                <c:pt idx="92" c:formatCode="yyyy/m/d">
                  <c:v>40968</c:v>
                </c:pt>
                <c:pt idx="93" c:formatCode="yyyy/m/d">
                  <c:v>40999</c:v>
                </c:pt>
                <c:pt idx="94" c:formatCode="yyyy/m/d">
                  <c:v>41029</c:v>
                </c:pt>
                <c:pt idx="95" c:formatCode="yyyy/m/d">
                  <c:v>41060</c:v>
                </c:pt>
                <c:pt idx="96" c:formatCode="yyyy/m/d">
                  <c:v>41090</c:v>
                </c:pt>
                <c:pt idx="97" c:formatCode="yyyy/m/d">
                  <c:v>41121</c:v>
                </c:pt>
                <c:pt idx="98" c:formatCode="yyyy/m/d">
                  <c:v>41152</c:v>
                </c:pt>
                <c:pt idx="99" c:formatCode="yyyy/m/d">
                  <c:v>41182</c:v>
                </c:pt>
                <c:pt idx="100" c:formatCode="yyyy/m/d">
                  <c:v>41213</c:v>
                </c:pt>
                <c:pt idx="101" c:formatCode="yyyy/m/d">
                  <c:v>41243</c:v>
                </c:pt>
                <c:pt idx="102" c:formatCode="yyyy/m/d">
                  <c:v>41274</c:v>
                </c:pt>
                <c:pt idx="103" c:formatCode="yyyy/m/d">
                  <c:v>41305</c:v>
                </c:pt>
                <c:pt idx="104" c:formatCode="yyyy/m/d">
                  <c:v>41333</c:v>
                </c:pt>
                <c:pt idx="105" c:formatCode="yyyy/m/d">
                  <c:v>41364</c:v>
                </c:pt>
                <c:pt idx="106" c:formatCode="yyyy/m/d">
                  <c:v>41394</c:v>
                </c:pt>
                <c:pt idx="107" c:formatCode="yyyy/m/d">
                  <c:v>41425</c:v>
                </c:pt>
                <c:pt idx="108" c:formatCode="yyyy/m/d">
                  <c:v>41455</c:v>
                </c:pt>
                <c:pt idx="109" c:formatCode="yyyy/m/d">
                  <c:v>41486</c:v>
                </c:pt>
                <c:pt idx="110" c:formatCode="yyyy/m/d">
                  <c:v>41516</c:v>
                </c:pt>
                <c:pt idx="111" c:formatCode="yyyy/m/d">
                  <c:v>41517</c:v>
                </c:pt>
                <c:pt idx="112" c:formatCode="yyyy/m/d">
                  <c:v>41547</c:v>
                </c:pt>
                <c:pt idx="113" c:formatCode="yyyy/m/d">
                  <c:v>41578</c:v>
                </c:pt>
                <c:pt idx="114" c:formatCode="yyyy/m/d">
                  <c:v>41608</c:v>
                </c:pt>
                <c:pt idx="115" c:formatCode="yyyy/m/d">
                  <c:v>41639</c:v>
                </c:pt>
                <c:pt idx="116" c:formatCode="yyyy/m/d">
                  <c:v>41670</c:v>
                </c:pt>
                <c:pt idx="117" c:formatCode="yyyy/m/d">
                  <c:v>41698</c:v>
                </c:pt>
                <c:pt idx="118" c:formatCode="yyyy/m/d">
                  <c:v>41729</c:v>
                </c:pt>
                <c:pt idx="119" c:formatCode="yyyy/m/d">
                  <c:v>41759</c:v>
                </c:pt>
                <c:pt idx="120" c:formatCode="yyyy/m/d">
                  <c:v>41790</c:v>
                </c:pt>
                <c:pt idx="121" c:formatCode="yyyy/m/d">
                  <c:v>41820</c:v>
                </c:pt>
                <c:pt idx="122" c:formatCode="yyyy/m/d">
                  <c:v>41851</c:v>
                </c:pt>
                <c:pt idx="123" c:formatCode="yyyy/m/d">
                  <c:v>41881</c:v>
                </c:pt>
                <c:pt idx="124" c:formatCode="yyyy/m/d">
                  <c:v>41882</c:v>
                </c:pt>
                <c:pt idx="125" c:formatCode="yyyy/m/d">
                  <c:v>41912</c:v>
                </c:pt>
                <c:pt idx="126" c:formatCode="yyyy/m/d">
                  <c:v>41943</c:v>
                </c:pt>
                <c:pt idx="127" c:formatCode="yyyy/m/d">
                  <c:v>41973</c:v>
                </c:pt>
                <c:pt idx="128" c:formatCode="yyyy/m/d">
                  <c:v>42004</c:v>
                </c:pt>
                <c:pt idx="129" c:formatCode="yyyy/m/d">
                  <c:v>42035</c:v>
                </c:pt>
                <c:pt idx="130" c:formatCode="yyyy/m/d">
                  <c:v>42063</c:v>
                </c:pt>
                <c:pt idx="131" c:formatCode="yyyy/m/d">
                  <c:v>42094</c:v>
                </c:pt>
                <c:pt idx="132" c:formatCode="yyyy/m/d">
                  <c:v>42124</c:v>
                </c:pt>
                <c:pt idx="133" c:formatCode="yyyy/m/d">
                  <c:v>42155</c:v>
                </c:pt>
                <c:pt idx="134" c:formatCode="yyyy/m/d">
                  <c:v>42185</c:v>
                </c:pt>
                <c:pt idx="135" c:formatCode="yyyy/m/d">
                  <c:v>42216</c:v>
                </c:pt>
                <c:pt idx="136" c:formatCode="yyyy/m/d">
                  <c:v>42246</c:v>
                </c:pt>
                <c:pt idx="137" c:formatCode="yyyy/m/d">
                  <c:v>42247</c:v>
                </c:pt>
                <c:pt idx="138" c:formatCode="yyyy/m/d">
                  <c:v>42277</c:v>
                </c:pt>
                <c:pt idx="139" c:formatCode="yyyy/m/d">
                  <c:v>42307</c:v>
                </c:pt>
                <c:pt idx="140" c:formatCode="yyyy/m/d">
                  <c:v>42308</c:v>
                </c:pt>
                <c:pt idx="141" c:formatCode="yyyy/m/d">
                  <c:v>42338</c:v>
                </c:pt>
                <c:pt idx="142" c:formatCode="yyyy/m/d">
                  <c:v>42369</c:v>
                </c:pt>
                <c:pt idx="143" c:formatCode="yyyy/m/d">
                  <c:v>42400</c:v>
                </c:pt>
                <c:pt idx="144" c:formatCode="yyyy/m/d">
                  <c:v>42429</c:v>
                </c:pt>
                <c:pt idx="145" c:formatCode="yyyy/m/d">
                  <c:v>42460</c:v>
                </c:pt>
                <c:pt idx="146" c:formatCode="yyyy/m/d">
                  <c:v>42490</c:v>
                </c:pt>
                <c:pt idx="147" c:formatCode="yyyy/m/d">
                  <c:v>42521</c:v>
                </c:pt>
                <c:pt idx="148" c:formatCode="yyyy/m/d">
                  <c:v>42551</c:v>
                </c:pt>
                <c:pt idx="149" c:formatCode="yyyy/m/d">
                  <c:v>42582</c:v>
                </c:pt>
                <c:pt idx="150" c:formatCode="yyyy/m/d">
                  <c:v>42613</c:v>
                </c:pt>
                <c:pt idx="151" c:formatCode="yyyy/m/d">
                  <c:v>42643</c:v>
                </c:pt>
                <c:pt idx="152" c:formatCode="yyyy/m/d">
                  <c:v>42674</c:v>
                </c:pt>
                <c:pt idx="153" c:formatCode="yyyy/m/d">
                  <c:v>42704</c:v>
                </c:pt>
                <c:pt idx="154" c:formatCode="yyyy/m/d">
                  <c:v>42735</c:v>
                </c:pt>
                <c:pt idx="155" c:formatCode="yyyy/m/d">
                  <c:v>42766</c:v>
                </c:pt>
                <c:pt idx="156" c:formatCode="yyyy/m/d">
                  <c:v>42794</c:v>
                </c:pt>
                <c:pt idx="157" c:formatCode="yyyy/m/d">
                  <c:v>42825</c:v>
                </c:pt>
                <c:pt idx="158" c:formatCode="yyyy/m/d">
                  <c:v>42855</c:v>
                </c:pt>
                <c:pt idx="159" c:formatCode="yyyy/m/d">
                  <c:v>42886</c:v>
                </c:pt>
                <c:pt idx="160" c:formatCode="yyyy/m/d">
                  <c:v>42916</c:v>
                </c:pt>
                <c:pt idx="161" c:formatCode="yyyy/m/d">
                  <c:v>42947</c:v>
                </c:pt>
                <c:pt idx="162" c:formatCode="yyyy/m/d">
                  <c:v>42978</c:v>
                </c:pt>
                <c:pt idx="163" c:formatCode="yyyy/m/d">
                  <c:v>43008</c:v>
                </c:pt>
                <c:pt idx="164" c:formatCode="yyyy/m/d">
                  <c:v>43039</c:v>
                </c:pt>
                <c:pt idx="165" c:formatCode="yyyy/m/d">
                  <c:v>43069</c:v>
                </c:pt>
                <c:pt idx="166" c:formatCode="yyyy/m/d">
                  <c:v>43100</c:v>
                </c:pt>
                <c:pt idx="167" c:formatCode="yyyy/m/d">
                  <c:v>43131</c:v>
                </c:pt>
                <c:pt idx="168" c:formatCode="yyyy/m/d">
                  <c:v>43159</c:v>
                </c:pt>
                <c:pt idx="169" c:formatCode="yyyy/m/d">
                  <c:v>43190</c:v>
                </c:pt>
                <c:pt idx="170" c:formatCode="yyyy/m/d">
                  <c:v>43220</c:v>
                </c:pt>
                <c:pt idx="171" c:formatCode="yyyy/m/d">
                  <c:v>43251</c:v>
                </c:pt>
                <c:pt idx="172" c:formatCode="yyyy/m/d">
                  <c:v>43281</c:v>
                </c:pt>
                <c:pt idx="173" c:formatCode="yyyy/m/d">
                  <c:v>43312</c:v>
                </c:pt>
                <c:pt idx="174" c:formatCode="yyyy/m/d">
                  <c:v>43343</c:v>
                </c:pt>
                <c:pt idx="175" c:formatCode="yyyy/m/d">
                  <c:v>43373</c:v>
                </c:pt>
                <c:pt idx="176" c:formatCode="yyyy/m/d">
                  <c:v>43404</c:v>
                </c:pt>
                <c:pt idx="177" c:formatCode="yyyy/m/d">
                  <c:v>43434</c:v>
                </c:pt>
                <c:pt idx="178" c:formatCode="yyyy/m/d">
                  <c:v>43465</c:v>
                </c:pt>
                <c:pt idx="179" c:formatCode="yyyy/m/d">
                  <c:v>43496</c:v>
                </c:pt>
                <c:pt idx="180" c:formatCode="yyyy/m/d">
                  <c:v>43524</c:v>
                </c:pt>
                <c:pt idx="181" c:formatCode="yyyy/m/d">
                  <c:v>43555</c:v>
                </c:pt>
                <c:pt idx="182" c:formatCode="yyyy/m/d">
                  <c:v>43585</c:v>
                </c:pt>
                <c:pt idx="183" c:formatCode="yyyy/m/d">
                  <c:v>43616</c:v>
                </c:pt>
                <c:pt idx="184" c:formatCode="yyyy/m/d">
                  <c:v>43646</c:v>
                </c:pt>
                <c:pt idx="185" c:formatCode="yyyy/m/d">
                  <c:v>43677</c:v>
                </c:pt>
                <c:pt idx="186" c:formatCode="yyyy/m/d">
                  <c:v>43708</c:v>
                </c:pt>
                <c:pt idx="187" c:formatCode="yyyy/m/d">
                  <c:v>43738</c:v>
                </c:pt>
                <c:pt idx="188" c:formatCode="yyyy/m/d">
                  <c:v>43769</c:v>
                </c:pt>
                <c:pt idx="189" c:formatCode="yyyy/m/d">
                  <c:v>43799</c:v>
                </c:pt>
                <c:pt idx="190" c:formatCode="yyyy/m/d">
                  <c:v>43830</c:v>
                </c:pt>
                <c:pt idx="191" c:formatCode="yyyy/m/d">
                  <c:v>43861</c:v>
                </c:pt>
                <c:pt idx="192" c:formatCode="yyyy/m/d">
                  <c:v>43890</c:v>
                </c:pt>
                <c:pt idx="193" c:formatCode="yyyy/m/d">
                  <c:v>43921</c:v>
                </c:pt>
                <c:pt idx="194" c:formatCode="yyyy/m/d">
                  <c:v>43951</c:v>
                </c:pt>
                <c:pt idx="195" c:formatCode="yyyy/m/d">
                  <c:v>43982</c:v>
                </c:pt>
                <c:pt idx="196" c:formatCode="yyyy/m/d">
                  <c:v>44012</c:v>
                </c:pt>
                <c:pt idx="197" c:formatCode="yyyy/m/d">
                  <c:v>44043</c:v>
                </c:pt>
                <c:pt idx="198" c:formatCode="yyyy/m/d">
                  <c:v>44074</c:v>
                </c:pt>
                <c:pt idx="199" c:formatCode="yyyy/m/d">
                  <c:v>44104</c:v>
                </c:pt>
                <c:pt idx="200" c:formatCode="yyyy/m/d">
                  <c:v>44135</c:v>
                </c:pt>
                <c:pt idx="201" c:formatCode="yyyy/m/d">
                  <c:v>44165</c:v>
                </c:pt>
                <c:pt idx="202" c:formatCode="yyyy/m/d">
                  <c:v>44196</c:v>
                </c:pt>
                <c:pt idx="203" c:formatCode="yyyy/m/d">
                  <c:v>44227</c:v>
                </c:pt>
                <c:pt idx="204" c:formatCode="yyyy/m/d">
                  <c:v>44255</c:v>
                </c:pt>
                <c:pt idx="205" c:formatCode="yyyy/m/d">
                  <c:v>44286</c:v>
                </c:pt>
                <c:pt idx="206" c:formatCode="yyyy/m/d">
                  <c:v>44316</c:v>
                </c:pt>
                <c:pt idx="207" c:formatCode="yyyy/m/d">
                  <c:v>44347</c:v>
                </c:pt>
                <c:pt idx="208" c:formatCode="yyyy/m/d">
                  <c:v>44377</c:v>
                </c:pt>
                <c:pt idx="209" c:formatCode="yyyy/m/d">
                  <c:v>44408</c:v>
                </c:pt>
                <c:pt idx="210" c:formatCode="yyyy/m/d">
                  <c:v>44439</c:v>
                </c:pt>
                <c:pt idx="211" c:formatCode="yyyy/m/d">
                  <c:v>44469</c:v>
                </c:pt>
                <c:pt idx="212" c:formatCode="yyyy/m/d">
                  <c:v>44500</c:v>
                </c:pt>
                <c:pt idx="213" c:formatCode="yyyy/m/d">
                  <c:v>44530</c:v>
                </c:pt>
                <c:pt idx="214" c:formatCode="yyyy/m/d">
                  <c:v>44561</c:v>
                </c:pt>
                <c:pt idx="215" c:formatCode="yyyy/m/d">
                  <c:v>44592</c:v>
                </c:pt>
                <c:pt idx="216" c:formatCode="yyyy/m/d">
                  <c:v>44620</c:v>
                </c:pt>
                <c:pt idx="217" c:formatCode="yyyy/m/d">
                  <c:v>44651</c:v>
                </c:pt>
                <c:pt idx="218" c:formatCode="yyyy/m/d">
                  <c:v>44681</c:v>
                </c:pt>
                <c:pt idx="219" c:formatCode="yyyy/m/d">
                  <c:v>44712</c:v>
                </c:pt>
                <c:pt idx="220" c:formatCode="yyyy/m/d">
                  <c:v>44742</c:v>
                </c:pt>
                <c:pt idx="221" c:formatCode="yyyy/m/d">
                  <c:v>44773</c:v>
                </c:pt>
                <c:pt idx="222" c:formatCode="yyyy/m/d">
                  <c:v>44804</c:v>
                </c:pt>
                <c:pt idx="223" c:formatCode="yyyy/m/d">
                  <c:v>44834</c:v>
                </c:pt>
                <c:pt idx="224" c:formatCode="yyyy/m/d">
                  <c:v>44865</c:v>
                </c:pt>
                <c:pt idx="225" c:formatCode="yyyy/m/d">
                  <c:v>44895</c:v>
                </c:pt>
                <c:pt idx="226" c:formatCode="yyyy/m/d">
                  <c:v>44926</c:v>
                </c:pt>
                <c:pt idx="227" c:formatCode="yyyy/m/d">
                  <c:v>44957</c:v>
                </c:pt>
                <c:pt idx="228" c:formatCode="yyyy/m/d">
                  <c:v>44985</c:v>
                </c:pt>
                <c:pt idx="229" c:formatCode="yyyy/m/d">
                  <c:v>45016</c:v>
                </c:pt>
                <c:pt idx="230" c:formatCode="yyyy/m/d">
                  <c:v>45046</c:v>
                </c:pt>
                <c:pt idx="231" c:formatCode="yyyy/m/d">
                  <c:v>45077</c:v>
                </c:pt>
                <c:pt idx="232" c:formatCode="yyyy/m/d">
                  <c:v>45107</c:v>
                </c:pt>
                <c:pt idx="233" c:formatCode="yyyy/m/d">
                  <c:v>45138</c:v>
                </c:pt>
                <c:pt idx="234" c:formatCode="yyyy/m/d">
                  <c:v>45169</c:v>
                </c:pt>
                <c:pt idx="235" c:formatCode="yyyy/m/d">
                  <c:v>45199</c:v>
                </c:pt>
                <c:pt idx="236" c:formatCode="yyyy/m/d">
                  <c:v>45230</c:v>
                </c:pt>
                <c:pt idx="237" c:formatCode="yyyy/m/d">
                  <c:v>45260</c:v>
                </c:pt>
                <c:pt idx="238" c:formatCode="yyyy/m/d">
                  <c:v>45291</c:v>
                </c:pt>
                <c:pt idx="239" c:formatCode="yyyy/m/d">
                  <c:v>45322</c:v>
                </c:pt>
                <c:pt idx="240" c:formatCode="yyyy/m/d">
                  <c:v>45351</c:v>
                </c:pt>
                <c:pt idx="241" c:formatCode="yyyy/m/d">
                  <c:v>45382</c:v>
                </c:pt>
                <c:pt idx="242" c:formatCode="yyyy/m/d">
                  <c:v>45412</c:v>
                </c:pt>
                <c:pt idx="243" c:formatCode="yyyy/m/d">
                  <c:v>45443</c:v>
                </c:pt>
                <c:pt idx="244" c:formatCode="yyyy/m/d">
                  <c:v>45473</c:v>
                </c:pt>
                <c:pt idx="245" c:formatCode="yyyy/m/d">
                  <c:v>45504</c:v>
                </c:pt>
                <c:pt idx="246" c:formatCode="yyyy/m/d">
                  <c:v>45534</c:v>
                </c:pt>
                <c:pt idx="247" c:formatCode="yyyy/m/d">
                  <c:v>45564</c:v>
                </c:pt>
                <c:pt idx="248" c:formatCode="yyyy/m/d">
                  <c:v>45596</c:v>
                </c:pt>
                <c:pt idx="249" c:formatCode="yyyy/m/d">
                  <c:v>45625</c:v>
                </c:pt>
                <c:pt idx="250" c:formatCode="yyyy/m/d">
                  <c:v>45657</c:v>
                </c:pt>
              </c:numCache>
            </c:numRef>
          </c:cat>
          <c:val>
            <c:numRef>
              <c:f>'[1、景林金色中国存续-working paper 20241129.xlsx]景林金色中国业绩（第4批）'!$B$2:$B$252</c:f>
              <c:numCache>
                <c:formatCode>0.0000</c:formatCode>
                <c:ptCount val="251"/>
                <c:pt idx="0">
                  <c:v>1</c:v>
                </c:pt>
                <c:pt idx="1">
                  <c:v>0.978300979905731</c:v>
                </c:pt>
                <c:pt idx="2">
                  <c:v>0.968610456462416</c:v>
                </c:pt>
                <c:pt idx="3">
                  <c:v>1.02779242123543</c:v>
                </c:pt>
                <c:pt idx="4">
                  <c:v>1.04495627635822</c:v>
                </c:pt>
                <c:pt idx="5">
                  <c:v>1.09323834036219</c:v>
                </c:pt>
                <c:pt idx="6">
                  <c:v>1.14582299677499</c:v>
                </c:pt>
                <c:pt idx="7">
                  <c:v>1.2189205532126</c:v>
                </c:pt>
                <c:pt idx="8">
                  <c:v>1.33533087323245</c:v>
                </c:pt>
                <c:pt idx="9">
                  <c:v>1.36203795584222</c:v>
                </c:pt>
                <c:pt idx="10">
                  <c:v>1.39962943438353</c:v>
                </c:pt>
                <c:pt idx="11">
                  <c:v>1.34294374844952</c:v>
                </c:pt>
                <c:pt idx="12">
                  <c:v>1.36282095013644</c:v>
                </c:pt>
                <c:pt idx="13">
                  <c:v>1.39171421483503</c:v>
                </c:pt>
                <c:pt idx="14">
                  <c:v>1.44098083602084</c:v>
                </c:pt>
                <c:pt idx="15">
                  <c:v>1.49501519474076</c:v>
                </c:pt>
                <c:pt idx="16">
                  <c:v>1.44149249565865</c:v>
                </c:pt>
                <c:pt idx="17">
                  <c:v>1.4942554577028</c:v>
                </c:pt>
                <c:pt idx="18">
                  <c:v>1.52219517489457</c:v>
                </c:pt>
                <c:pt idx="19">
                  <c:v>1.82846223021583</c:v>
                </c:pt>
                <c:pt idx="20">
                  <c:v>1.86173561151079</c:v>
                </c:pt>
                <c:pt idx="21">
                  <c:v>2.03860704539816</c:v>
                </c:pt>
                <c:pt idx="22">
                  <c:v>2.12075942694121</c:v>
                </c:pt>
                <c:pt idx="23">
                  <c:v>2.13327183081121</c:v>
                </c:pt>
                <c:pt idx="24">
                  <c:v>2.17679390969983</c:v>
                </c:pt>
                <c:pt idx="25">
                  <c:v>2.11170460183577</c:v>
                </c:pt>
                <c:pt idx="26">
                  <c:v>2.18687980649963</c:v>
                </c:pt>
                <c:pt idx="27">
                  <c:v>2.31940740511039</c:v>
                </c:pt>
                <c:pt idx="28">
                  <c:v>2.40777722649467</c:v>
                </c:pt>
                <c:pt idx="29">
                  <c:v>2.63338811709253</c:v>
                </c:pt>
                <c:pt idx="30">
                  <c:v>2.92884830066981</c:v>
                </c:pt>
                <c:pt idx="31">
                  <c:v>3.06064717191764</c:v>
                </c:pt>
                <c:pt idx="32">
                  <c:v>3.13655110394443</c:v>
                </c:pt>
                <c:pt idx="33">
                  <c:v>3.20336144877202</c:v>
                </c:pt>
                <c:pt idx="34">
                  <c:v>3.52530389481518</c:v>
                </c:pt>
                <c:pt idx="35">
                  <c:v>3.95397388985363</c:v>
                </c:pt>
                <c:pt idx="36">
                  <c:v>4.12913979161498</c:v>
                </c:pt>
                <c:pt idx="37">
                  <c:v>4.83150117836765</c:v>
                </c:pt>
                <c:pt idx="38">
                  <c:v>5.17405730587944</c:v>
                </c:pt>
                <c:pt idx="39">
                  <c:v>5.98224696105185</c:v>
                </c:pt>
                <c:pt idx="40">
                  <c:v>6.45664072190523</c:v>
                </c:pt>
                <c:pt idx="41">
                  <c:v>5.84842470850905</c:v>
                </c:pt>
                <c:pt idx="42">
                  <c:v>5.86537924832548</c:v>
                </c:pt>
                <c:pt idx="43">
                  <c:v>4.60256450012404</c:v>
                </c:pt>
                <c:pt idx="44">
                  <c:v>4.92428212602332</c:v>
                </c:pt>
                <c:pt idx="45">
                  <c:v>4.254581679484</c:v>
                </c:pt>
                <c:pt idx="46">
                  <c:v>4.5090083105929</c:v>
                </c:pt>
                <c:pt idx="47">
                  <c:v>4.45940833540064</c:v>
                </c:pt>
                <c:pt idx="48">
                  <c:v>4.02728851401637</c:v>
                </c:pt>
                <c:pt idx="49">
                  <c:v>3.8452539692384</c:v>
                </c:pt>
                <c:pt idx="50">
                  <c:v>3.49879837509303</c:v>
                </c:pt>
                <c:pt idx="51">
                  <c:v>3.10553367650707</c:v>
                </c:pt>
                <c:pt idx="52">
                  <c:v>2.46983533862565</c:v>
                </c:pt>
                <c:pt idx="53">
                  <c:v>2.28286250310097</c:v>
                </c:pt>
                <c:pt idx="54">
                  <c:v>2.60612286033242</c:v>
                </c:pt>
                <c:pt idx="55">
                  <c:v>2.61706152319524</c:v>
                </c:pt>
                <c:pt idx="56">
                  <c:v>2.68301134954106</c:v>
                </c:pt>
                <c:pt idx="57">
                  <c:v>2.92716602580005</c:v>
                </c:pt>
                <c:pt idx="58">
                  <c:v>3.15519567104937</c:v>
                </c:pt>
                <c:pt idx="59">
                  <c:v>3.99573616968494</c:v>
                </c:pt>
                <c:pt idx="60">
                  <c:v>5.14252046638551</c:v>
                </c:pt>
                <c:pt idx="61">
                  <c:v>5.53540529645249</c:v>
                </c:pt>
                <c:pt idx="62">
                  <c:v>5.26804763086083</c:v>
                </c:pt>
                <c:pt idx="63">
                  <c:v>5.85806871743984</c:v>
                </c:pt>
                <c:pt idx="64">
                  <c:v>6.16971595137683</c:v>
                </c:pt>
                <c:pt idx="65">
                  <c:v>6.44673313073679</c:v>
                </c:pt>
                <c:pt idx="66">
                  <c:v>6.47252542793351</c:v>
                </c:pt>
                <c:pt idx="67">
                  <c:v>6.2097416894071</c:v>
                </c:pt>
                <c:pt idx="68">
                  <c:v>6.25444988836517</c:v>
                </c:pt>
                <c:pt idx="69">
                  <c:v>6.31636845695857</c:v>
                </c:pt>
                <c:pt idx="70">
                  <c:v>6.12940337385264</c:v>
                </c:pt>
                <c:pt idx="71">
                  <c:v>5.76593122054081</c:v>
                </c:pt>
                <c:pt idx="72">
                  <c:v>6.08709067228975</c:v>
                </c:pt>
                <c:pt idx="73">
                  <c:v>6.24657343091044</c:v>
                </c:pt>
                <c:pt idx="74">
                  <c:v>6.38212447283552</c:v>
                </c:pt>
                <c:pt idx="75">
                  <c:v>7.0784157157033</c:v>
                </c:pt>
                <c:pt idx="76">
                  <c:v>7.40190089307864</c:v>
                </c:pt>
                <c:pt idx="77">
                  <c:v>7.30715083105929</c:v>
                </c:pt>
                <c:pt idx="78">
                  <c:v>7.32468680228231</c:v>
                </c:pt>
                <c:pt idx="79">
                  <c:v>7.40306375589184</c:v>
                </c:pt>
                <c:pt idx="80">
                  <c:v>7.44452369139171</c:v>
                </c:pt>
                <c:pt idx="81">
                  <c:v>7.55321260233193</c:v>
                </c:pt>
                <c:pt idx="82">
                  <c:v>7.80246837013148</c:v>
                </c:pt>
                <c:pt idx="83">
                  <c:v>7.60662676755148</c:v>
                </c:pt>
                <c:pt idx="84">
                  <c:v>7.59445547010667</c:v>
                </c:pt>
                <c:pt idx="85">
                  <c:v>7.70912924832548</c:v>
                </c:pt>
                <c:pt idx="86">
                  <c:v>7.61893760853386</c:v>
                </c:pt>
                <c:pt idx="87">
                  <c:v>6.83571074175143</c:v>
                </c:pt>
                <c:pt idx="88">
                  <c:v>7.26909420739271</c:v>
                </c:pt>
                <c:pt idx="89">
                  <c:v>7.10262651947408</c:v>
                </c:pt>
                <c:pt idx="90">
                  <c:v>7.03870782684197</c:v>
                </c:pt>
                <c:pt idx="91">
                  <c:v>7.13724882163235</c:v>
                </c:pt>
                <c:pt idx="92">
                  <c:v>7.48768915901761</c:v>
                </c:pt>
                <c:pt idx="93">
                  <c:v>7.55881760109154</c:v>
                </c:pt>
                <c:pt idx="94">
                  <c:v>7.43863185313818</c:v>
                </c:pt>
                <c:pt idx="95">
                  <c:v>7.32259364921856</c:v>
                </c:pt>
                <c:pt idx="96">
                  <c:v>7.65576935003721</c:v>
                </c:pt>
                <c:pt idx="97">
                  <c:v>7.51183794343835</c:v>
                </c:pt>
                <c:pt idx="98">
                  <c:v>7.75447314562143</c:v>
                </c:pt>
                <c:pt idx="99">
                  <c:v>7.79246774993798</c:v>
                </c:pt>
                <c:pt idx="100">
                  <c:v>7.78935127759861</c:v>
                </c:pt>
                <c:pt idx="101">
                  <c:v>8.18037552716448</c:v>
                </c:pt>
                <c:pt idx="102">
                  <c:v>8.93297258744728</c:v>
                </c:pt>
                <c:pt idx="103">
                  <c:v>9.80680972463409</c:v>
                </c:pt>
                <c:pt idx="104">
                  <c:v>9.76029521210618</c:v>
                </c:pt>
                <c:pt idx="105">
                  <c:v>9.53702555197222</c:v>
                </c:pt>
                <c:pt idx="106">
                  <c:v>9.7664971471099</c:v>
                </c:pt>
                <c:pt idx="107">
                  <c:v>10.2502480774001</c:v>
                </c:pt>
                <c:pt idx="108">
                  <c:v>9.83936988340362</c:v>
                </c:pt>
                <c:pt idx="109">
                  <c:v>9.81998883651699</c:v>
                </c:pt>
                <c:pt idx="110">
                  <c:v>9.84402133465641</c:v>
                </c:pt>
                <c:pt idx="111">
                  <c:v>9.84402133465641</c:v>
                </c:pt>
                <c:pt idx="112">
                  <c:v>10.1262093773257</c:v>
                </c:pt>
                <c:pt idx="113">
                  <c:v>10.2835834780452</c:v>
                </c:pt>
                <c:pt idx="114">
                  <c:v>10.4239022575043</c:v>
                </c:pt>
                <c:pt idx="115">
                  <c:v>10.4921235425453</c:v>
                </c:pt>
                <c:pt idx="116">
                  <c:v>10.6068593401141</c:v>
                </c:pt>
                <c:pt idx="117">
                  <c:v>11.1355742991813</c:v>
                </c:pt>
                <c:pt idx="118">
                  <c:v>10.6060840982387</c:v>
                </c:pt>
                <c:pt idx="119">
                  <c:v>10.3742867774746</c:v>
                </c:pt>
                <c:pt idx="120">
                  <c:v>10.5929049863557</c:v>
                </c:pt>
                <c:pt idx="121">
                  <c:v>10.9743239890846</c:v>
                </c:pt>
                <c:pt idx="122">
                  <c:v>11.6518853882411</c:v>
                </c:pt>
                <c:pt idx="123">
                  <c:v>12.011597618457</c:v>
                </c:pt>
                <c:pt idx="124">
                  <c:v>12.011597618457</c:v>
                </c:pt>
                <c:pt idx="125">
                  <c:v>11.8743798064996</c:v>
                </c:pt>
                <c:pt idx="126">
                  <c:v>12.0162490697097</c:v>
                </c:pt>
                <c:pt idx="127">
                  <c:v>12.3247953361449</c:v>
                </c:pt>
                <c:pt idx="128">
                  <c:v>13.6411560406847</c:v>
                </c:pt>
                <c:pt idx="129">
                  <c:v>13.634954105681</c:v>
                </c:pt>
                <c:pt idx="130">
                  <c:v>13.7760481270156</c:v>
                </c:pt>
                <c:pt idx="131">
                  <c:v>14.2458447035475</c:v>
                </c:pt>
                <c:pt idx="132">
                  <c:v>16.8056933763334</c:v>
                </c:pt>
                <c:pt idx="133">
                  <c:v>17.0250868270901</c:v>
                </c:pt>
                <c:pt idx="134">
                  <c:v>17.4421669560903</c:v>
                </c:pt>
                <c:pt idx="135">
                  <c:v>15.9684321508311</c:v>
                </c:pt>
                <c:pt idx="136">
                  <c:v>14.5675700818655</c:v>
                </c:pt>
                <c:pt idx="137">
                  <c:v>14.5675700818655</c:v>
                </c:pt>
                <c:pt idx="138">
                  <c:v>14.5667948399901</c:v>
                </c:pt>
                <c:pt idx="139">
                  <c:v>16.1979037459687</c:v>
                </c:pt>
                <c:pt idx="140">
                  <c:v>16.1979037459687</c:v>
                </c:pt>
                <c:pt idx="141">
                  <c:v>16.6320391962292</c:v>
                </c:pt>
                <c:pt idx="142">
                  <c:v>16.6343649218556</c:v>
                </c:pt>
                <c:pt idx="143">
                  <c:v>14.779986355743</c:v>
                </c:pt>
                <c:pt idx="144">
                  <c:v>14.2318903497891</c:v>
                </c:pt>
                <c:pt idx="145">
                  <c:v>15.2125713222525</c:v>
                </c:pt>
                <c:pt idx="146">
                  <c:v>15.0396923840238</c:v>
                </c:pt>
                <c:pt idx="147">
                  <c:v>14.3334470354751</c:v>
                </c:pt>
                <c:pt idx="148">
                  <c:v>14.391590176135</c:v>
                </c:pt>
                <c:pt idx="149">
                  <c:v>15.0831059290499</c:v>
                </c:pt>
                <c:pt idx="150">
                  <c:v>16.2940337385264</c:v>
                </c:pt>
                <c:pt idx="151">
                  <c:v>16.8320516000992</c:v>
                </c:pt>
                <c:pt idx="152">
                  <c:v>16.303336641032</c:v>
                </c:pt>
                <c:pt idx="153">
                  <c:v>15.7862503100967</c:v>
                </c:pt>
                <c:pt idx="154">
                  <c:v>15.3087013148102</c:v>
                </c:pt>
                <c:pt idx="155">
                  <c:v>15.4063817911188</c:v>
                </c:pt>
                <c:pt idx="156">
                  <c:v>16.1606921359464</c:v>
                </c:pt>
                <c:pt idx="157">
                  <c:v>17.1778094765567</c:v>
                </c:pt>
                <c:pt idx="158">
                  <c:v>17.6243487968246</c:v>
                </c:pt>
                <c:pt idx="159">
                  <c:v>18.7817849168941</c:v>
                </c:pt>
                <c:pt idx="160">
                  <c:v>19.3763954353758</c:v>
                </c:pt>
                <c:pt idx="161">
                  <c:v>20.2369139171422</c:v>
                </c:pt>
                <c:pt idx="162">
                  <c:v>20.1500868270901</c:v>
                </c:pt>
                <c:pt idx="163">
                  <c:v>20.3462230215827</c:v>
                </c:pt>
                <c:pt idx="164">
                  <c:v>21.451717935996</c:v>
                </c:pt>
                <c:pt idx="165">
                  <c:v>22.2463408583478</c:v>
                </c:pt>
                <c:pt idx="166">
                  <c:v>23.286715455222</c:v>
                </c:pt>
                <c:pt idx="167">
                  <c:v>25.2201686926321</c:v>
                </c:pt>
                <c:pt idx="168">
                  <c:v>24.010016125031</c:v>
                </c:pt>
                <c:pt idx="169">
                  <c:v>23.4068779459191</c:v>
                </c:pt>
                <c:pt idx="170">
                  <c:v>23.1960121557926</c:v>
                </c:pt>
                <c:pt idx="171">
                  <c:v>25.0364363681469</c:v>
                </c:pt>
                <c:pt idx="172">
                  <c:v>23.7037955842223</c:v>
                </c:pt>
                <c:pt idx="173">
                  <c:v>22.7921111386753</c:v>
                </c:pt>
                <c:pt idx="174">
                  <c:v>20.596626147358</c:v>
                </c:pt>
                <c:pt idx="175">
                  <c:v>20.373356487224</c:v>
                </c:pt>
                <c:pt idx="176">
                  <c:v>18.2228355246837</c:v>
                </c:pt>
                <c:pt idx="177">
                  <c:v>18.6058050111635</c:v>
                </c:pt>
                <c:pt idx="178">
                  <c:v>17.9569275613992</c:v>
                </c:pt>
                <c:pt idx="179">
                  <c:v>19.8547196725378</c:v>
                </c:pt>
                <c:pt idx="180">
                  <c:v>21.4617960803771</c:v>
                </c:pt>
                <c:pt idx="181">
                  <c:v>23.1014326469859</c:v>
                </c:pt>
                <c:pt idx="182">
                  <c:v>24.1588625651203</c:v>
                </c:pt>
                <c:pt idx="183">
                  <c:v>22.8456028280824</c:v>
                </c:pt>
                <c:pt idx="184">
                  <c:v>24.1557615976185</c:v>
                </c:pt>
                <c:pt idx="185">
                  <c:v>24.1588625651203</c:v>
                </c:pt>
                <c:pt idx="186">
                  <c:v>25.2387744976433</c:v>
                </c:pt>
                <c:pt idx="187">
                  <c:v>24.8627821880427</c:v>
                </c:pt>
                <c:pt idx="188">
                  <c:v>25.7651637310841</c:v>
                </c:pt>
                <c:pt idx="189">
                  <c:v>25.6139915653684</c:v>
                </c:pt>
                <c:pt idx="190">
                  <c:v>26.4574547258745</c:v>
                </c:pt>
                <c:pt idx="191">
                  <c:v>25.1418692632101</c:v>
                </c:pt>
                <c:pt idx="192">
                  <c:v>25.6356983378814</c:v>
                </c:pt>
                <c:pt idx="193">
                  <c:v>23.6627077648226</c:v>
                </c:pt>
                <c:pt idx="194">
                  <c:v>26.3194616720417</c:v>
                </c:pt>
                <c:pt idx="195">
                  <c:v>27.001674522451</c:v>
                </c:pt>
                <c:pt idx="196">
                  <c:v>29.0979285537088</c:v>
                </c:pt>
                <c:pt idx="197">
                  <c:v>31.4306313569834</c:v>
                </c:pt>
                <c:pt idx="198">
                  <c:v>32.4206152319524</c:v>
                </c:pt>
                <c:pt idx="199">
                  <c:v>30.7639233440834</c:v>
                </c:pt>
                <c:pt idx="200">
                  <c:v>31.3910940213347</c:v>
                </c:pt>
                <c:pt idx="201">
                  <c:v>32.506667080129</c:v>
                </c:pt>
                <c:pt idx="202">
                  <c:v>33.8354316546763</c:v>
                </c:pt>
                <c:pt idx="203">
                  <c:v>35.5479409575788</c:v>
                </c:pt>
                <c:pt idx="204">
                  <c:v>36.598393698834</c:v>
                </c:pt>
                <c:pt idx="205">
                  <c:v>34.7432398908459</c:v>
                </c:pt>
                <c:pt idx="206">
                  <c:v>35.7921421483503</c:v>
                </c:pt>
                <c:pt idx="207">
                  <c:v>36.4968370131481</c:v>
                </c:pt>
                <c:pt idx="208">
                  <c:v>35.9332361696849</c:v>
                </c:pt>
                <c:pt idx="209">
                  <c:v>32.3981332175639</c:v>
                </c:pt>
                <c:pt idx="210">
                  <c:v>33.3617588687671</c:v>
                </c:pt>
                <c:pt idx="211">
                  <c:v>32.7051290002481</c:v>
                </c:pt>
                <c:pt idx="212">
                  <c:v>33.5478169188787</c:v>
                </c:pt>
                <c:pt idx="213">
                  <c:v>32.473331679484</c:v>
                </c:pt>
                <c:pt idx="214">
                  <c:v>31.3298499131729</c:v>
                </c:pt>
                <c:pt idx="215">
                  <c:v>29.2870875713222</c:v>
                </c:pt>
                <c:pt idx="216">
                  <c:v>27.1404428181593</c:v>
                </c:pt>
                <c:pt idx="217">
                  <c:v>23.6968184073431</c:v>
                </c:pt>
                <c:pt idx="218">
                  <c:v>23.5665777722649</c:v>
                </c:pt>
                <c:pt idx="219">
                  <c:v>23.3340052096254</c:v>
                </c:pt>
                <c:pt idx="220">
                  <c:v>24.8534792855371</c:v>
                </c:pt>
                <c:pt idx="221">
                  <c:v>22.6378380054577</c:v>
                </c:pt>
                <c:pt idx="222">
                  <c:v>22.9332051600099</c:v>
                </c:pt>
                <c:pt idx="223">
                  <c:v>20.3555259240883</c:v>
                </c:pt>
                <c:pt idx="224">
                  <c:v>17.1157901265195</c:v>
                </c:pt>
                <c:pt idx="225">
                  <c:v>22.00834160258</c:v>
                </c:pt>
                <c:pt idx="226">
                  <c:v>24.8635574299181</c:v>
                </c:pt>
                <c:pt idx="227">
                  <c:v>27.358285785165</c:v>
                </c:pt>
                <c:pt idx="228">
                  <c:v>25.3736665839742</c:v>
                </c:pt>
                <c:pt idx="229">
                  <c:v>25.9659513768296</c:v>
                </c:pt>
                <c:pt idx="230">
                  <c:v>25.3705656164723</c:v>
                </c:pt>
                <c:pt idx="231">
                  <c:v>23.2208198958075</c:v>
                </c:pt>
                <c:pt idx="232">
                  <c:v>23.9239642768544</c:v>
                </c:pt>
                <c:pt idx="233">
                  <c:v>26.0620813693872</c:v>
                </c:pt>
                <c:pt idx="234">
                  <c:v>25.3984743239891</c:v>
                </c:pt>
                <c:pt idx="235">
                  <c:v>25.6077896303647</c:v>
                </c:pt>
                <c:pt idx="236">
                  <c:v>25.3193996526916</c:v>
                </c:pt>
                <c:pt idx="237">
                  <c:v>27.9087075167452</c:v>
                </c:pt>
                <c:pt idx="238">
                  <c:v>26.6000992309601</c:v>
                </c:pt>
                <c:pt idx="239">
                  <c:v>25.801600099231</c:v>
                </c:pt>
                <c:pt idx="240">
                  <c:v>27.836610022327</c:v>
                </c:pt>
                <c:pt idx="241">
                  <c:v>28.8304701066733</c:v>
                </c:pt>
                <c:pt idx="242">
                  <c:v>29.3909699826346</c:v>
                </c:pt>
                <c:pt idx="243">
                  <c:v>31.4546638551228</c:v>
                </c:pt>
                <c:pt idx="244">
                  <c:v>31.4329570826098</c:v>
                </c:pt>
                <c:pt idx="245">
                  <c:v>29.6747085090548</c:v>
                </c:pt>
                <c:pt idx="246">
                  <c:v>29.2987161994542</c:v>
                </c:pt>
                <c:pt idx="247">
                  <c:v>32.8322686678244</c:v>
                </c:pt>
                <c:pt idx="248">
                  <c:v>31.5035040932771</c:v>
                </c:pt>
                <c:pt idx="249">
                  <c:v>30.1917948399901</c:v>
                </c:pt>
                <c:pt idx="250">
                  <c:v>32.0183984278095</c:v>
                </c:pt>
              </c:numCache>
            </c:numRef>
          </c:val>
          <c:smooth val="0"/>
        </c:ser>
        <c:ser>
          <c:idx val="2"/>
          <c:order val="1"/>
          <c:tx>
            <c:strRef>
              <c:f>'[1、景林金色中国存续-working paper 20241129.xlsx]景林金色中国业绩（第4批）'!$C$1</c:f>
              <c:strCache>
                <c:ptCount val="1"/>
                <c:pt idx="0">
                  <c:v>恒生指数</c:v>
                </c:pt>
              </c:strCache>
            </c:strRef>
          </c:tx>
          <c:spPr>
            <a:ln w="28575" cap="rnd">
              <a:solidFill>
                <a:schemeClr val="accent3"/>
              </a:solidFill>
              <a:round/>
            </a:ln>
            <a:effectLst/>
          </c:spPr>
          <c:marker>
            <c:symbol val="none"/>
          </c:marker>
          <c:dLbls>
            <c:delete val="1"/>
          </c:dLbls>
          <c:cat>
            <c:numRef>
              <c:f>'[1、景林金色中国存续-working paper 20241129.xlsx]景林金色中国业绩（第4批）'!$A$2:$A$252</c:f>
              <c:numCache>
                <c:formatCode>yyyy/m/d</c:formatCode>
                <c:ptCount val="251"/>
                <c:pt idx="0" c:formatCode="yyyy/m/d">
                  <c:v>38169</c:v>
                </c:pt>
                <c:pt idx="1" c:formatCode="yyyy/m/d">
                  <c:v>38199</c:v>
                </c:pt>
                <c:pt idx="2" c:formatCode="yyyy/m/d">
                  <c:v>38230</c:v>
                </c:pt>
                <c:pt idx="3" c:formatCode="yyyy/m/d">
                  <c:v>38260</c:v>
                </c:pt>
                <c:pt idx="4" c:formatCode="yyyy/m/d">
                  <c:v>38291</c:v>
                </c:pt>
                <c:pt idx="5" c:formatCode="yyyy/m/d">
                  <c:v>38321</c:v>
                </c:pt>
                <c:pt idx="6" c:formatCode="yyyy/m/d">
                  <c:v>38352</c:v>
                </c:pt>
                <c:pt idx="7" c:formatCode="yyyy/m/d">
                  <c:v>38383</c:v>
                </c:pt>
                <c:pt idx="8" c:formatCode="yyyy/m/d">
                  <c:v>38411</c:v>
                </c:pt>
                <c:pt idx="9" c:formatCode="yyyy/m/d">
                  <c:v>38442</c:v>
                </c:pt>
                <c:pt idx="10" c:formatCode="yyyy/m/d">
                  <c:v>38472</c:v>
                </c:pt>
                <c:pt idx="11" c:formatCode="yyyy/m/d">
                  <c:v>38503</c:v>
                </c:pt>
                <c:pt idx="12" c:formatCode="yyyy/m/d">
                  <c:v>38533</c:v>
                </c:pt>
                <c:pt idx="13" c:formatCode="yyyy/m/d">
                  <c:v>38564</c:v>
                </c:pt>
                <c:pt idx="14" c:formatCode="yyyy/m/d">
                  <c:v>38595</c:v>
                </c:pt>
                <c:pt idx="15" c:formatCode="yyyy/m/d">
                  <c:v>38625</c:v>
                </c:pt>
                <c:pt idx="16" c:formatCode="yyyy/m/d">
                  <c:v>38656</c:v>
                </c:pt>
                <c:pt idx="17" c:formatCode="yyyy/m/d">
                  <c:v>38686</c:v>
                </c:pt>
                <c:pt idx="18" c:formatCode="yyyy/m/d">
                  <c:v>38717</c:v>
                </c:pt>
                <c:pt idx="19" c:formatCode="yyyy/m/d">
                  <c:v>38748</c:v>
                </c:pt>
                <c:pt idx="20" c:formatCode="yyyy/m/d">
                  <c:v>38776</c:v>
                </c:pt>
                <c:pt idx="21" c:formatCode="yyyy/m/d">
                  <c:v>38807</c:v>
                </c:pt>
                <c:pt idx="22" c:formatCode="yyyy/m/d">
                  <c:v>38837</c:v>
                </c:pt>
                <c:pt idx="23" c:formatCode="yyyy/m/d">
                  <c:v>38868</c:v>
                </c:pt>
                <c:pt idx="24" c:formatCode="yyyy/m/d">
                  <c:v>38898</c:v>
                </c:pt>
                <c:pt idx="25" c:formatCode="yyyy/m/d">
                  <c:v>38929</c:v>
                </c:pt>
                <c:pt idx="26" c:formatCode="yyyy/m/d">
                  <c:v>38960</c:v>
                </c:pt>
                <c:pt idx="27" c:formatCode="yyyy/m/d">
                  <c:v>38990</c:v>
                </c:pt>
                <c:pt idx="28" c:formatCode="yyyy/m/d">
                  <c:v>39021</c:v>
                </c:pt>
                <c:pt idx="29" c:formatCode="yyyy/m/d">
                  <c:v>39051</c:v>
                </c:pt>
                <c:pt idx="30" c:formatCode="yyyy/m/d">
                  <c:v>39082</c:v>
                </c:pt>
                <c:pt idx="31" c:formatCode="yyyy/m/d">
                  <c:v>39113</c:v>
                </c:pt>
                <c:pt idx="32" c:formatCode="yyyy/m/d">
                  <c:v>39141</c:v>
                </c:pt>
                <c:pt idx="33" c:formatCode="yyyy/m/d">
                  <c:v>39172</c:v>
                </c:pt>
                <c:pt idx="34" c:formatCode="yyyy/m/d">
                  <c:v>39202</c:v>
                </c:pt>
                <c:pt idx="35" c:formatCode="yyyy/m/d">
                  <c:v>39233</c:v>
                </c:pt>
                <c:pt idx="36" c:formatCode="yyyy/m/d">
                  <c:v>39263</c:v>
                </c:pt>
                <c:pt idx="37" c:formatCode="yyyy/m/d">
                  <c:v>39294</c:v>
                </c:pt>
                <c:pt idx="38" c:formatCode="yyyy/m/d">
                  <c:v>39325</c:v>
                </c:pt>
                <c:pt idx="39" c:formatCode="yyyy/m/d">
                  <c:v>39355</c:v>
                </c:pt>
                <c:pt idx="40" c:formatCode="yyyy/m/d">
                  <c:v>39386</c:v>
                </c:pt>
                <c:pt idx="41" c:formatCode="yyyy/m/d">
                  <c:v>39416</c:v>
                </c:pt>
                <c:pt idx="42" c:formatCode="yyyy/m/d">
                  <c:v>39447</c:v>
                </c:pt>
                <c:pt idx="43" c:formatCode="yyyy/m/d">
                  <c:v>39478</c:v>
                </c:pt>
                <c:pt idx="44" c:formatCode="yyyy/m/d">
                  <c:v>39507</c:v>
                </c:pt>
                <c:pt idx="45" c:formatCode="yyyy/m/d">
                  <c:v>39538</c:v>
                </c:pt>
                <c:pt idx="46" c:formatCode="yyyy/m/d">
                  <c:v>39568</c:v>
                </c:pt>
                <c:pt idx="47" c:formatCode="yyyy/m/d">
                  <c:v>39599</c:v>
                </c:pt>
                <c:pt idx="48" c:formatCode="yyyy/m/d">
                  <c:v>39629</c:v>
                </c:pt>
                <c:pt idx="49" c:formatCode="yyyy/m/d">
                  <c:v>39660</c:v>
                </c:pt>
                <c:pt idx="50" c:formatCode="yyyy/m/d">
                  <c:v>39691</c:v>
                </c:pt>
                <c:pt idx="51" c:formatCode="yyyy/m/d">
                  <c:v>39721</c:v>
                </c:pt>
                <c:pt idx="52" c:formatCode="yyyy/m/d">
                  <c:v>39752</c:v>
                </c:pt>
                <c:pt idx="53" c:formatCode="yyyy/m/d">
                  <c:v>39782</c:v>
                </c:pt>
                <c:pt idx="54" c:formatCode="yyyy/m/d">
                  <c:v>39813</c:v>
                </c:pt>
                <c:pt idx="55" c:formatCode="yyyy/m/d">
                  <c:v>39844</c:v>
                </c:pt>
                <c:pt idx="56" c:formatCode="yyyy/m/d">
                  <c:v>39872</c:v>
                </c:pt>
                <c:pt idx="57" c:formatCode="yyyy/m/d">
                  <c:v>39903</c:v>
                </c:pt>
                <c:pt idx="58" c:formatCode="yyyy/m/d">
                  <c:v>39933</c:v>
                </c:pt>
                <c:pt idx="59" c:formatCode="yyyy/m/d">
                  <c:v>39964</c:v>
                </c:pt>
                <c:pt idx="60" c:formatCode="yyyy/m/d">
                  <c:v>39994</c:v>
                </c:pt>
                <c:pt idx="61" c:formatCode="yyyy/m/d">
                  <c:v>40025</c:v>
                </c:pt>
                <c:pt idx="62" c:formatCode="yyyy/m/d">
                  <c:v>40056</c:v>
                </c:pt>
                <c:pt idx="63" c:formatCode="yyyy/m/d">
                  <c:v>40086</c:v>
                </c:pt>
                <c:pt idx="64" c:formatCode="yyyy/m/d">
                  <c:v>40117</c:v>
                </c:pt>
                <c:pt idx="65" c:formatCode="yyyy/m/d">
                  <c:v>40147</c:v>
                </c:pt>
                <c:pt idx="66" c:formatCode="yyyy/m/d">
                  <c:v>40178</c:v>
                </c:pt>
                <c:pt idx="67" c:formatCode="yyyy/m/d">
                  <c:v>40209</c:v>
                </c:pt>
                <c:pt idx="68" c:formatCode="yyyy/m/d">
                  <c:v>40237</c:v>
                </c:pt>
                <c:pt idx="69" c:formatCode="yyyy/m/d">
                  <c:v>40268</c:v>
                </c:pt>
                <c:pt idx="70" c:formatCode="yyyy/m/d">
                  <c:v>40298</c:v>
                </c:pt>
                <c:pt idx="71" c:formatCode="yyyy/m/d">
                  <c:v>40329</c:v>
                </c:pt>
                <c:pt idx="72" c:formatCode="yyyy/m/d">
                  <c:v>40359</c:v>
                </c:pt>
                <c:pt idx="73" c:formatCode="yyyy/m/d">
                  <c:v>40390</c:v>
                </c:pt>
                <c:pt idx="74" c:formatCode="yyyy/m/d">
                  <c:v>40421</c:v>
                </c:pt>
                <c:pt idx="75" c:formatCode="yyyy/m/d">
                  <c:v>40451</c:v>
                </c:pt>
                <c:pt idx="76" c:formatCode="yyyy/m/d">
                  <c:v>40482</c:v>
                </c:pt>
                <c:pt idx="77" c:formatCode="yyyy/m/d">
                  <c:v>40512</c:v>
                </c:pt>
                <c:pt idx="78" c:formatCode="yyyy/m/d">
                  <c:v>40543</c:v>
                </c:pt>
                <c:pt idx="79" c:formatCode="yyyy/m/d">
                  <c:v>40574</c:v>
                </c:pt>
                <c:pt idx="80" c:formatCode="yyyy/m/d">
                  <c:v>40602</c:v>
                </c:pt>
                <c:pt idx="81" c:formatCode="yyyy/m/d">
                  <c:v>40633</c:v>
                </c:pt>
                <c:pt idx="82" c:formatCode="yyyy/m/d">
                  <c:v>40663</c:v>
                </c:pt>
                <c:pt idx="83" c:formatCode="yyyy/m/d">
                  <c:v>40694</c:v>
                </c:pt>
                <c:pt idx="84" c:formatCode="yyyy/m/d">
                  <c:v>40724</c:v>
                </c:pt>
                <c:pt idx="85" c:formatCode="yyyy/m/d">
                  <c:v>40755</c:v>
                </c:pt>
                <c:pt idx="86" c:formatCode="yyyy/m/d">
                  <c:v>40786</c:v>
                </c:pt>
                <c:pt idx="87" c:formatCode="yyyy/m/d">
                  <c:v>40816</c:v>
                </c:pt>
                <c:pt idx="88" c:formatCode="yyyy/m/d">
                  <c:v>40847</c:v>
                </c:pt>
                <c:pt idx="89" c:formatCode="yyyy/m/d">
                  <c:v>40877</c:v>
                </c:pt>
                <c:pt idx="90" c:formatCode="yyyy/m/d">
                  <c:v>40908</c:v>
                </c:pt>
                <c:pt idx="91" c:formatCode="yyyy/m/d">
                  <c:v>40939</c:v>
                </c:pt>
                <c:pt idx="92" c:formatCode="yyyy/m/d">
                  <c:v>40968</c:v>
                </c:pt>
                <c:pt idx="93" c:formatCode="yyyy/m/d">
                  <c:v>40999</c:v>
                </c:pt>
                <c:pt idx="94" c:formatCode="yyyy/m/d">
                  <c:v>41029</c:v>
                </c:pt>
                <c:pt idx="95" c:formatCode="yyyy/m/d">
                  <c:v>41060</c:v>
                </c:pt>
                <c:pt idx="96" c:formatCode="yyyy/m/d">
                  <c:v>41090</c:v>
                </c:pt>
                <c:pt idx="97" c:formatCode="yyyy/m/d">
                  <c:v>41121</c:v>
                </c:pt>
                <c:pt idx="98" c:formatCode="yyyy/m/d">
                  <c:v>41152</c:v>
                </c:pt>
                <c:pt idx="99" c:formatCode="yyyy/m/d">
                  <c:v>41182</c:v>
                </c:pt>
                <c:pt idx="100" c:formatCode="yyyy/m/d">
                  <c:v>41213</c:v>
                </c:pt>
                <c:pt idx="101" c:formatCode="yyyy/m/d">
                  <c:v>41243</c:v>
                </c:pt>
                <c:pt idx="102" c:formatCode="yyyy/m/d">
                  <c:v>41274</c:v>
                </c:pt>
                <c:pt idx="103" c:formatCode="yyyy/m/d">
                  <c:v>41305</c:v>
                </c:pt>
                <c:pt idx="104" c:formatCode="yyyy/m/d">
                  <c:v>41333</c:v>
                </c:pt>
                <c:pt idx="105" c:formatCode="yyyy/m/d">
                  <c:v>41364</c:v>
                </c:pt>
                <c:pt idx="106" c:formatCode="yyyy/m/d">
                  <c:v>41394</c:v>
                </c:pt>
                <c:pt idx="107" c:formatCode="yyyy/m/d">
                  <c:v>41425</c:v>
                </c:pt>
                <c:pt idx="108" c:formatCode="yyyy/m/d">
                  <c:v>41455</c:v>
                </c:pt>
                <c:pt idx="109" c:formatCode="yyyy/m/d">
                  <c:v>41486</c:v>
                </c:pt>
                <c:pt idx="110" c:formatCode="yyyy/m/d">
                  <c:v>41516</c:v>
                </c:pt>
                <c:pt idx="111" c:formatCode="yyyy/m/d">
                  <c:v>41517</c:v>
                </c:pt>
                <c:pt idx="112" c:formatCode="yyyy/m/d">
                  <c:v>41547</c:v>
                </c:pt>
                <c:pt idx="113" c:formatCode="yyyy/m/d">
                  <c:v>41578</c:v>
                </c:pt>
                <c:pt idx="114" c:formatCode="yyyy/m/d">
                  <c:v>41608</c:v>
                </c:pt>
                <c:pt idx="115" c:formatCode="yyyy/m/d">
                  <c:v>41639</c:v>
                </c:pt>
                <c:pt idx="116" c:formatCode="yyyy/m/d">
                  <c:v>41670</c:v>
                </c:pt>
                <c:pt idx="117" c:formatCode="yyyy/m/d">
                  <c:v>41698</c:v>
                </c:pt>
                <c:pt idx="118" c:formatCode="yyyy/m/d">
                  <c:v>41729</c:v>
                </c:pt>
                <c:pt idx="119" c:formatCode="yyyy/m/d">
                  <c:v>41759</c:v>
                </c:pt>
                <c:pt idx="120" c:formatCode="yyyy/m/d">
                  <c:v>41790</c:v>
                </c:pt>
                <c:pt idx="121" c:formatCode="yyyy/m/d">
                  <c:v>41820</c:v>
                </c:pt>
                <c:pt idx="122" c:formatCode="yyyy/m/d">
                  <c:v>41851</c:v>
                </c:pt>
                <c:pt idx="123" c:formatCode="yyyy/m/d">
                  <c:v>41881</c:v>
                </c:pt>
                <c:pt idx="124" c:formatCode="yyyy/m/d">
                  <c:v>41882</c:v>
                </c:pt>
                <c:pt idx="125" c:formatCode="yyyy/m/d">
                  <c:v>41912</c:v>
                </c:pt>
                <c:pt idx="126" c:formatCode="yyyy/m/d">
                  <c:v>41943</c:v>
                </c:pt>
                <c:pt idx="127" c:formatCode="yyyy/m/d">
                  <c:v>41973</c:v>
                </c:pt>
                <c:pt idx="128" c:formatCode="yyyy/m/d">
                  <c:v>42004</c:v>
                </c:pt>
                <c:pt idx="129" c:formatCode="yyyy/m/d">
                  <c:v>42035</c:v>
                </c:pt>
                <c:pt idx="130" c:formatCode="yyyy/m/d">
                  <c:v>42063</c:v>
                </c:pt>
                <c:pt idx="131" c:formatCode="yyyy/m/d">
                  <c:v>42094</c:v>
                </c:pt>
                <c:pt idx="132" c:formatCode="yyyy/m/d">
                  <c:v>42124</c:v>
                </c:pt>
                <c:pt idx="133" c:formatCode="yyyy/m/d">
                  <c:v>42155</c:v>
                </c:pt>
                <c:pt idx="134" c:formatCode="yyyy/m/d">
                  <c:v>42185</c:v>
                </c:pt>
                <c:pt idx="135" c:formatCode="yyyy/m/d">
                  <c:v>42216</c:v>
                </c:pt>
                <c:pt idx="136" c:formatCode="yyyy/m/d">
                  <c:v>42246</c:v>
                </c:pt>
                <c:pt idx="137" c:formatCode="yyyy/m/d">
                  <c:v>42247</c:v>
                </c:pt>
                <c:pt idx="138" c:formatCode="yyyy/m/d">
                  <c:v>42277</c:v>
                </c:pt>
                <c:pt idx="139" c:formatCode="yyyy/m/d">
                  <c:v>42307</c:v>
                </c:pt>
                <c:pt idx="140" c:formatCode="yyyy/m/d">
                  <c:v>42308</c:v>
                </c:pt>
                <c:pt idx="141" c:formatCode="yyyy/m/d">
                  <c:v>42338</c:v>
                </c:pt>
                <c:pt idx="142" c:formatCode="yyyy/m/d">
                  <c:v>42369</c:v>
                </c:pt>
                <c:pt idx="143" c:formatCode="yyyy/m/d">
                  <c:v>42400</c:v>
                </c:pt>
                <c:pt idx="144" c:formatCode="yyyy/m/d">
                  <c:v>42429</c:v>
                </c:pt>
                <c:pt idx="145" c:formatCode="yyyy/m/d">
                  <c:v>42460</c:v>
                </c:pt>
                <c:pt idx="146" c:formatCode="yyyy/m/d">
                  <c:v>42490</c:v>
                </c:pt>
                <c:pt idx="147" c:formatCode="yyyy/m/d">
                  <c:v>42521</c:v>
                </c:pt>
                <c:pt idx="148" c:formatCode="yyyy/m/d">
                  <c:v>42551</c:v>
                </c:pt>
                <c:pt idx="149" c:formatCode="yyyy/m/d">
                  <c:v>42582</c:v>
                </c:pt>
                <c:pt idx="150" c:formatCode="yyyy/m/d">
                  <c:v>42613</c:v>
                </c:pt>
                <c:pt idx="151" c:formatCode="yyyy/m/d">
                  <c:v>42643</c:v>
                </c:pt>
                <c:pt idx="152" c:formatCode="yyyy/m/d">
                  <c:v>42674</c:v>
                </c:pt>
                <c:pt idx="153" c:formatCode="yyyy/m/d">
                  <c:v>42704</c:v>
                </c:pt>
                <c:pt idx="154" c:formatCode="yyyy/m/d">
                  <c:v>42735</c:v>
                </c:pt>
                <c:pt idx="155" c:formatCode="yyyy/m/d">
                  <c:v>42766</c:v>
                </c:pt>
                <c:pt idx="156" c:formatCode="yyyy/m/d">
                  <c:v>42794</c:v>
                </c:pt>
                <c:pt idx="157" c:formatCode="yyyy/m/d">
                  <c:v>42825</c:v>
                </c:pt>
                <c:pt idx="158" c:formatCode="yyyy/m/d">
                  <c:v>42855</c:v>
                </c:pt>
                <c:pt idx="159" c:formatCode="yyyy/m/d">
                  <c:v>42886</c:v>
                </c:pt>
                <c:pt idx="160" c:formatCode="yyyy/m/d">
                  <c:v>42916</c:v>
                </c:pt>
                <c:pt idx="161" c:formatCode="yyyy/m/d">
                  <c:v>42947</c:v>
                </c:pt>
                <c:pt idx="162" c:formatCode="yyyy/m/d">
                  <c:v>42978</c:v>
                </c:pt>
                <c:pt idx="163" c:formatCode="yyyy/m/d">
                  <c:v>43008</c:v>
                </c:pt>
                <c:pt idx="164" c:formatCode="yyyy/m/d">
                  <c:v>43039</c:v>
                </c:pt>
                <c:pt idx="165" c:formatCode="yyyy/m/d">
                  <c:v>43069</c:v>
                </c:pt>
                <c:pt idx="166" c:formatCode="yyyy/m/d">
                  <c:v>43100</c:v>
                </c:pt>
                <c:pt idx="167" c:formatCode="yyyy/m/d">
                  <c:v>43131</c:v>
                </c:pt>
                <c:pt idx="168" c:formatCode="yyyy/m/d">
                  <c:v>43159</c:v>
                </c:pt>
                <c:pt idx="169" c:formatCode="yyyy/m/d">
                  <c:v>43190</c:v>
                </c:pt>
                <c:pt idx="170" c:formatCode="yyyy/m/d">
                  <c:v>43220</c:v>
                </c:pt>
                <c:pt idx="171" c:formatCode="yyyy/m/d">
                  <c:v>43251</c:v>
                </c:pt>
                <c:pt idx="172" c:formatCode="yyyy/m/d">
                  <c:v>43281</c:v>
                </c:pt>
                <c:pt idx="173" c:formatCode="yyyy/m/d">
                  <c:v>43312</c:v>
                </c:pt>
                <c:pt idx="174" c:formatCode="yyyy/m/d">
                  <c:v>43343</c:v>
                </c:pt>
                <c:pt idx="175" c:formatCode="yyyy/m/d">
                  <c:v>43373</c:v>
                </c:pt>
                <c:pt idx="176" c:formatCode="yyyy/m/d">
                  <c:v>43404</c:v>
                </c:pt>
                <c:pt idx="177" c:formatCode="yyyy/m/d">
                  <c:v>43434</c:v>
                </c:pt>
                <c:pt idx="178" c:formatCode="yyyy/m/d">
                  <c:v>43465</c:v>
                </c:pt>
                <c:pt idx="179" c:formatCode="yyyy/m/d">
                  <c:v>43496</c:v>
                </c:pt>
                <c:pt idx="180" c:formatCode="yyyy/m/d">
                  <c:v>43524</c:v>
                </c:pt>
                <c:pt idx="181" c:formatCode="yyyy/m/d">
                  <c:v>43555</c:v>
                </c:pt>
                <c:pt idx="182" c:formatCode="yyyy/m/d">
                  <c:v>43585</c:v>
                </c:pt>
                <c:pt idx="183" c:formatCode="yyyy/m/d">
                  <c:v>43616</c:v>
                </c:pt>
                <c:pt idx="184" c:formatCode="yyyy/m/d">
                  <c:v>43646</c:v>
                </c:pt>
                <c:pt idx="185" c:formatCode="yyyy/m/d">
                  <c:v>43677</c:v>
                </c:pt>
                <c:pt idx="186" c:formatCode="yyyy/m/d">
                  <c:v>43708</c:v>
                </c:pt>
                <c:pt idx="187" c:formatCode="yyyy/m/d">
                  <c:v>43738</c:v>
                </c:pt>
                <c:pt idx="188" c:formatCode="yyyy/m/d">
                  <c:v>43769</c:v>
                </c:pt>
                <c:pt idx="189" c:formatCode="yyyy/m/d">
                  <c:v>43799</c:v>
                </c:pt>
                <c:pt idx="190" c:formatCode="yyyy/m/d">
                  <c:v>43830</c:v>
                </c:pt>
                <c:pt idx="191" c:formatCode="yyyy/m/d">
                  <c:v>43861</c:v>
                </c:pt>
                <c:pt idx="192" c:formatCode="yyyy/m/d">
                  <c:v>43890</c:v>
                </c:pt>
                <c:pt idx="193" c:formatCode="yyyy/m/d">
                  <c:v>43921</c:v>
                </c:pt>
                <c:pt idx="194" c:formatCode="yyyy/m/d">
                  <c:v>43951</c:v>
                </c:pt>
                <c:pt idx="195" c:formatCode="yyyy/m/d">
                  <c:v>43982</c:v>
                </c:pt>
                <c:pt idx="196" c:formatCode="yyyy/m/d">
                  <c:v>44012</c:v>
                </c:pt>
                <c:pt idx="197" c:formatCode="yyyy/m/d">
                  <c:v>44043</c:v>
                </c:pt>
                <c:pt idx="198" c:formatCode="yyyy/m/d">
                  <c:v>44074</c:v>
                </c:pt>
                <c:pt idx="199" c:formatCode="yyyy/m/d">
                  <c:v>44104</c:v>
                </c:pt>
                <c:pt idx="200" c:formatCode="yyyy/m/d">
                  <c:v>44135</c:v>
                </c:pt>
                <c:pt idx="201" c:formatCode="yyyy/m/d">
                  <c:v>44165</c:v>
                </c:pt>
                <c:pt idx="202" c:formatCode="yyyy/m/d">
                  <c:v>44196</c:v>
                </c:pt>
                <c:pt idx="203" c:formatCode="yyyy/m/d">
                  <c:v>44227</c:v>
                </c:pt>
                <c:pt idx="204" c:formatCode="yyyy/m/d">
                  <c:v>44255</c:v>
                </c:pt>
                <c:pt idx="205" c:formatCode="yyyy/m/d">
                  <c:v>44286</c:v>
                </c:pt>
                <c:pt idx="206" c:formatCode="yyyy/m/d">
                  <c:v>44316</c:v>
                </c:pt>
                <c:pt idx="207" c:formatCode="yyyy/m/d">
                  <c:v>44347</c:v>
                </c:pt>
                <c:pt idx="208" c:formatCode="yyyy/m/d">
                  <c:v>44377</c:v>
                </c:pt>
                <c:pt idx="209" c:formatCode="yyyy/m/d">
                  <c:v>44408</c:v>
                </c:pt>
                <c:pt idx="210" c:formatCode="yyyy/m/d">
                  <c:v>44439</c:v>
                </c:pt>
                <c:pt idx="211" c:formatCode="yyyy/m/d">
                  <c:v>44469</c:v>
                </c:pt>
                <c:pt idx="212" c:formatCode="yyyy/m/d">
                  <c:v>44500</c:v>
                </c:pt>
                <c:pt idx="213" c:formatCode="yyyy/m/d">
                  <c:v>44530</c:v>
                </c:pt>
                <c:pt idx="214" c:formatCode="yyyy/m/d">
                  <c:v>44561</c:v>
                </c:pt>
                <c:pt idx="215" c:formatCode="yyyy/m/d">
                  <c:v>44592</c:v>
                </c:pt>
                <c:pt idx="216" c:formatCode="yyyy/m/d">
                  <c:v>44620</c:v>
                </c:pt>
                <c:pt idx="217" c:formatCode="yyyy/m/d">
                  <c:v>44651</c:v>
                </c:pt>
                <c:pt idx="218" c:formatCode="yyyy/m/d">
                  <c:v>44681</c:v>
                </c:pt>
                <c:pt idx="219" c:formatCode="yyyy/m/d">
                  <c:v>44712</c:v>
                </c:pt>
                <c:pt idx="220" c:formatCode="yyyy/m/d">
                  <c:v>44742</c:v>
                </c:pt>
                <c:pt idx="221" c:formatCode="yyyy/m/d">
                  <c:v>44773</c:v>
                </c:pt>
                <c:pt idx="222" c:formatCode="yyyy/m/d">
                  <c:v>44804</c:v>
                </c:pt>
                <c:pt idx="223" c:formatCode="yyyy/m/d">
                  <c:v>44834</c:v>
                </c:pt>
                <c:pt idx="224" c:formatCode="yyyy/m/d">
                  <c:v>44865</c:v>
                </c:pt>
                <c:pt idx="225" c:formatCode="yyyy/m/d">
                  <c:v>44895</c:v>
                </c:pt>
                <c:pt idx="226" c:formatCode="yyyy/m/d">
                  <c:v>44926</c:v>
                </c:pt>
                <c:pt idx="227" c:formatCode="yyyy/m/d">
                  <c:v>44957</c:v>
                </c:pt>
                <c:pt idx="228" c:formatCode="yyyy/m/d">
                  <c:v>44985</c:v>
                </c:pt>
                <c:pt idx="229" c:formatCode="yyyy/m/d">
                  <c:v>45016</c:v>
                </c:pt>
                <c:pt idx="230" c:formatCode="yyyy/m/d">
                  <c:v>45046</c:v>
                </c:pt>
                <c:pt idx="231" c:formatCode="yyyy/m/d">
                  <c:v>45077</c:v>
                </c:pt>
                <c:pt idx="232" c:formatCode="yyyy/m/d">
                  <c:v>45107</c:v>
                </c:pt>
                <c:pt idx="233" c:formatCode="yyyy/m/d">
                  <c:v>45138</c:v>
                </c:pt>
                <c:pt idx="234" c:formatCode="yyyy/m/d">
                  <c:v>45169</c:v>
                </c:pt>
                <c:pt idx="235" c:formatCode="yyyy/m/d">
                  <c:v>45199</c:v>
                </c:pt>
                <c:pt idx="236" c:formatCode="yyyy/m/d">
                  <c:v>45230</c:v>
                </c:pt>
                <c:pt idx="237" c:formatCode="yyyy/m/d">
                  <c:v>45260</c:v>
                </c:pt>
                <c:pt idx="238" c:formatCode="yyyy/m/d">
                  <c:v>45291</c:v>
                </c:pt>
                <c:pt idx="239" c:formatCode="yyyy/m/d">
                  <c:v>45322</c:v>
                </c:pt>
                <c:pt idx="240" c:formatCode="yyyy/m/d">
                  <c:v>45351</c:v>
                </c:pt>
                <c:pt idx="241" c:formatCode="yyyy/m/d">
                  <c:v>45382</c:v>
                </c:pt>
                <c:pt idx="242" c:formatCode="yyyy/m/d">
                  <c:v>45412</c:v>
                </c:pt>
                <c:pt idx="243" c:formatCode="yyyy/m/d">
                  <c:v>45443</c:v>
                </c:pt>
                <c:pt idx="244" c:formatCode="yyyy/m/d">
                  <c:v>45473</c:v>
                </c:pt>
                <c:pt idx="245" c:formatCode="yyyy/m/d">
                  <c:v>45504</c:v>
                </c:pt>
                <c:pt idx="246" c:formatCode="yyyy/m/d">
                  <c:v>45534</c:v>
                </c:pt>
                <c:pt idx="247" c:formatCode="yyyy/m/d">
                  <c:v>45564</c:v>
                </c:pt>
                <c:pt idx="248" c:formatCode="yyyy/m/d">
                  <c:v>45596</c:v>
                </c:pt>
                <c:pt idx="249" c:formatCode="yyyy/m/d">
                  <c:v>45625</c:v>
                </c:pt>
                <c:pt idx="250" c:formatCode="yyyy/m/d">
                  <c:v>45657</c:v>
                </c:pt>
              </c:numCache>
            </c:numRef>
          </c:cat>
          <c:val>
            <c:numRef>
              <c:f>'[1、景林金色中国存续-working paper 20241129.xlsx]景林金色中国业绩（第4批）'!$C$2:$C$252</c:f>
              <c:numCache>
                <c:formatCode>0.0000</c:formatCode>
                <c:ptCount val="251"/>
                <c:pt idx="0">
                  <c:v>1</c:v>
                </c:pt>
                <c:pt idx="1">
                  <c:v>0.996115825244694</c:v>
                </c:pt>
                <c:pt idx="2">
                  <c:v>1.04594998270354</c:v>
                </c:pt>
                <c:pt idx="3">
                  <c:v>1.06790631422583</c:v>
                </c:pt>
                <c:pt idx="4">
                  <c:v>1.06258551573978</c:v>
                </c:pt>
                <c:pt idx="5">
                  <c:v>1.14441934761818</c:v>
                </c:pt>
                <c:pt idx="6">
                  <c:v>1.15826384225627</c:v>
                </c:pt>
                <c:pt idx="7">
                  <c:v>1.11687849744623</c:v>
                </c:pt>
                <c:pt idx="8">
                  <c:v>1.15543210630202</c:v>
                </c:pt>
                <c:pt idx="9">
                  <c:v>1.10020796451173</c:v>
                </c:pt>
                <c:pt idx="10">
                  <c:v>1.13212217406345</c:v>
                </c:pt>
                <c:pt idx="11">
                  <c:v>1.12871171886128</c:v>
                </c:pt>
                <c:pt idx="12">
                  <c:v>1.15589687239281</c:v>
                </c:pt>
                <c:pt idx="13">
                  <c:v>1.21123903709582</c:v>
                </c:pt>
                <c:pt idx="14">
                  <c:v>1.21307612477871</c:v>
                </c:pt>
                <c:pt idx="15">
                  <c:v>1.25580611684268</c:v>
                </c:pt>
                <c:pt idx="16">
                  <c:v>1.17098020063895</c:v>
                </c:pt>
                <c:pt idx="17">
                  <c:v>1.21581018659829</c:v>
                </c:pt>
                <c:pt idx="18">
                  <c:v>1.21086868933521</c:v>
                </c:pt>
                <c:pt idx="19">
                  <c:v>1.28222859817268</c:v>
                </c:pt>
                <c:pt idx="20">
                  <c:v>1.29568646602771</c:v>
                </c:pt>
                <c:pt idx="21">
                  <c:v>1.28645300449708</c:v>
                </c:pt>
                <c:pt idx="22">
                  <c:v>1.35614838328958</c:v>
                </c:pt>
                <c:pt idx="23">
                  <c:v>1.29075473617809</c:v>
                </c:pt>
                <c:pt idx="24">
                  <c:v>1.32410475550943</c:v>
                </c:pt>
                <c:pt idx="25">
                  <c:v>1.38138412388336</c:v>
                </c:pt>
                <c:pt idx="26">
                  <c:v>1.4156457684716</c:v>
                </c:pt>
                <c:pt idx="27">
                  <c:v>1.42791852349266</c:v>
                </c:pt>
                <c:pt idx="28">
                  <c:v>1.49151252467289</c:v>
                </c:pt>
                <c:pt idx="29">
                  <c:v>1.54329039741164</c:v>
                </c:pt>
                <c:pt idx="30">
                  <c:v>1.62503062491097</c:v>
                </c:pt>
                <c:pt idx="31">
                  <c:v>1.63656431231305</c:v>
                </c:pt>
                <c:pt idx="32">
                  <c:v>1.59953686181145</c:v>
                </c:pt>
                <c:pt idx="33">
                  <c:v>1.61169891947989</c:v>
                </c:pt>
                <c:pt idx="34">
                  <c:v>1.65386565736727</c:v>
                </c:pt>
                <c:pt idx="35">
                  <c:v>1.67954500132267</c:v>
                </c:pt>
                <c:pt idx="36">
                  <c:v>1.7721938017622</c:v>
                </c:pt>
                <c:pt idx="37">
                  <c:v>1.88714079319537</c:v>
                </c:pt>
                <c:pt idx="38">
                  <c:v>1.9521917668844</c:v>
                </c:pt>
                <c:pt idx="39">
                  <c:v>2.20926439167328</c:v>
                </c:pt>
                <c:pt idx="40">
                  <c:v>2.55194676759661</c:v>
                </c:pt>
                <c:pt idx="41">
                  <c:v>2.33144985043648</c:v>
                </c:pt>
                <c:pt idx="42">
                  <c:v>2.26381376798323</c:v>
                </c:pt>
                <c:pt idx="43">
                  <c:v>1.9091825895855</c:v>
                </c:pt>
                <c:pt idx="44">
                  <c:v>1.98047900209592</c:v>
                </c:pt>
                <c:pt idx="45">
                  <c:v>1.85981313310136</c:v>
                </c:pt>
                <c:pt idx="46">
                  <c:v>2.09635957104776</c:v>
                </c:pt>
                <c:pt idx="47">
                  <c:v>1.99687598233726</c:v>
                </c:pt>
                <c:pt idx="48">
                  <c:v>1.79899556803614</c:v>
                </c:pt>
                <c:pt idx="49">
                  <c:v>1.85020040290581</c:v>
                </c:pt>
                <c:pt idx="50">
                  <c:v>1.73061397147101</c:v>
                </c:pt>
                <c:pt idx="51">
                  <c:v>1.46643150804794</c:v>
                </c:pt>
                <c:pt idx="52">
                  <c:v>1.13698145412368</c:v>
                </c:pt>
                <c:pt idx="53">
                  <c:v>1.13043486966608</c:v>
                </c:pt>
                <c:pt idx="54">
                  <c:v>1.17107058991108</c:v>
                </c:pt>
                <c:pt idx="55">
                  <c:v>1.08078139307735</c:v>
                </c:pt>
                <c:pt idx="56">
                  <c:v>1.0427992023279</c:v>
                </c:pt>
                <c:pt idx="57">
                  <c:v>1.10502163075107</c:v>
                </c:pt>
                <c:pt idx="58">
                  <c:v>1.26333273914901</c:v>
                </c:pt>
                <c:pt idx="59">
                  <c:v>1.47903058421342</c:v>
                </c:pt>
                <c:pt idx="60">
                  <c:v>1.49593883157316</c:v>
                </c:pt>
                <c:pt idx="61">
                  <c:v>1.67456851230084</c:v>
                </c:pt>
                <c:pt idx="62">
                  <c:v>1.6054526178703</c:v>
                </c:pt>
                <c:pt idx="63">
                  <c:v>1.70565492542173</c:v>
                </c:pt>
                <c:pt idx="64">
                  <c:v>1.77057722157784</c:v>
                </c:pt>
                <c:pt idx="65">
                  <c:v>1.77616344138534</c:v>
                </c:pt>
                <c:pt idx="66">
                  <c:v>1.78031459210874</c:v>
                </c:pt>
                <c:pt idx="67">
                  <c:v>1.63783165048939</c:v>
                </c:pt>
                <c:pt idx="68">
                  <c:v>1.67744738416458</c:v>
                </c:pt>
                <c:pt idx="69">
                  <c:v>1.72877924424638</c:v>
                </c:pt>
                <c:pt idx="70">
                  <c:v>1.71813603565106</c:v>
                </c:pt>
                <c:pt idx="71">
                  <c:v>1.60878981747146</c:v>
                </c:pt>
                <c:pt idx="72">
                  <c:v>1.63840141627495</c:v>
                </c:pt>
                <c:pt idx="73">
                  <c:v>1.71172378568667</c:v>
                </c:pt>
                <c:pt idx="74">
                  <c:v>1.67156992450603</c:v>
                </c:pt>
                <c:pt idx="75">
                  <c:v>1.81984574812283</c:v>
                </c:pt>
                <c:pt idx="76">
                  <c:v>1.87992755835012</c:v>
                </c:pt>
                <c:pt idx="77">
                  <c:v>1.87273792808742</c:v>
                </c:pt>
                <c:pt idx="78">
                  <c:v>1.87497303786908</c:v>
                </c:pt>
                <c:pt idx="79">
                  <c:v>1.90849887064282</c:v>
                </c:pt>
                <c:pt idx="80">
                  <c:v>1.89960075697454</c:v>
                </c:pt>
                <c:pt idx="81">
                  <c:v>1.9150251307409</c:v>
                </c:pt>
                <c:pt idx="82">
                  <c:v>1.93075799198258</c:v>
                </c:pt>
                <c:pt idx="83">
                  <c:v>1.92777241926622</c:v>
                </c:pt>
                <c:pt idx="84">
                  <c:v>1.82309586309342</c:v>
                </c:pt>
                <c:pt idx="85">
                  <c:v>1.82652666707364</c:v>
                </c:pt>
                <c:pt idx="86">
                  <c:v>1.67143642024296</c:v>
                </c:pt>
                <c:pt idx="87">
                  <c:v>1.43193618623202</c:v>
                </c:pt>
                <c:pt idx="88">
                  <c:v>1.61690332295546</c:v>
                </c:pt>
                <c:pt idx="89">
                  <c:v>1.46424516207802</c:v>
                </c:pt>
                <c:pt idx="90">
                  <c:v>1.50046924282197</c:v>
                </c:pt>
                <c:pt idx="91">
                  <c:v>1.65968622184238</c:v>
                </c:pt>
                <c:pt idx="92">
                  <c:v>1.7646525446147</c:v>
                </c:pt>
                <c:pt idx="93">
                  <c:v>1.67312374091936</c:v>
                </c:pt>
                <c:pt idx="94">
                  <c:v>1.71696559021631</c:v>
                </c:pt>
                <c:pt idx="95">
                  <c:v>1.51635187107014</c:v>
                </c:pt>
                <c:pt idx="96">
                  <c:v>1.5824398184889</c:v>
                </c:pt>
                <c:pt idx="97">
                  <c:v>1.61136357161752</c:v>
                </c:pt>
                <c:pt idx="98">
                  <c:v>1.58578597155241</c:v>
                </c:pt>
                <c:pt idx="99">
                  <c:v>1.69630506888061</c:v>
                </c:pt>
                <c:pt idx="100">
                  <c:v>1.76153836762102</c:v>
                </c:pt>
                <c:pt idx="101">
                  <c:v>1.79316606637771</c:v>
                </c:pt>
                <c:pt idx="102">
                  <c:v>1.84416254603911</c:v>
                </c:pt>
                <c:pt idx="103">
                  <c:v>1.93146775736117</c:v>
                </c:pt>
                <c:pt idx="104">
                  <c:v>1.87373746006552</c:v>
                </c:pt>
                <c:pt idx="105">
                  <c:v>1.81508088639277</c:v>
                </c:pt>
                <c:pt idx="106">
                  <c:v>1.85068148057709</c:v>
                </c:pt>
                <c:pt idx="107">
                  <c:v>1.82261237612681</c:v>
                </c:pt>
                <c:pt idx="108">
                  <c:v>1.69328612416824</c:v>
                </c:pt>
                <c:pt idx="109">
                  <c:v>1.78122296156116</c:v>
                </c:pt>
                <c:pt idx="110">
                  <c:v>1.76882729992064</c:v>
                </c:pt>
                <c:pt idx="111">
                  <c:v>1.76882729992064</c:v>
                </c:pt>
                <c:pt idx="112">
                  <c:v>1.86068087011375</c:v>
                </c:pt>
                <c:pt idx="113">
                  <c:v>1.88888509045032</c:v>
                </c:pt>
                <c:pt idx="114">
                  <c:v>1.94382027959221</c:v>
                </c:pt>
                <c:pt idx="115">
                  <c:v>1.89702622957491</c:v>
                </c:pt>
                <c:pt idx="116">
                  <c:v>1.7935754837922</c:v>
                </c:pt>
                <c:pt idx="117">
                  <c:v>1.85881692204383</c:v>
                </c:pt>
                <c:pt idx="118">
                  <c:v>1.80298801456973</c:v>
                </c:pt>
                <c:pt idx="119">
                  <c:v>1.80159697210183</c:v>
                </c:pt>
                <c:pt idx="120">
                  <c:v>1.8787334920538</c:v>
                </c:pt>
                <c:pt idx="121">
                  <c:v>1.88761125694402</c:v>
                </c:pt>
                <c:pt idx="122">
                  <c:v>2.01508658405063</c:v>
                </c:pt>
                <c:pt idx="123">
                  <c:v>2.01388275034084</c:v>
                </c:pt>
                <c:pt idx="124">
                  <c:v>2.01388275034084</c:v>
                </c:pt>
                <c:pt idx="125">
                  <c:v>1.86663248071953</c:v>
                </c:pt>
                <c:pt idx="126">
                  <c:v>1.95332478684655</c:v>
                </c:pt>
                <c:pt idx="127">
                  <c:v>1.95246118470586</c:v>
                </c:pt>
                <c:pt idx="128">
                  <c:v>1.92133487984047</c:v>
                </c:pt>
                <c:pt idx="129">
                  <c:v>1.99475408501719</c:v>
                </c:pt>
                <c:pt idx="130">
                  <c:v>2.02049447530676</c:v>
                </c:pt>
                <c:pt idx="131">
                  <c:v>2.0268107360153</c:v>
                </c:pt>
                <c:pt idx="132">
                  <c:v>2.28988869218403</c:v>
                </c:pt>
                <c:pt idx="133">
                  <c:v>2.23219502268889</c:v>
                </c:pt>
                <c:pt idx="134">
                  <c:v>2.13662413772053</c:v>
                </c:pt>
                <c:pt idx="135">
                  <c:v>2.00527277536984</c:v>
                </c:pt>
                <c:pt idx="136">
                  <c:v>1.75914290946829</c:v>
                </c:pt>
                <c:pt idx="137">
                  <c:v>1.76387929104857</c:v>
                </c:pt>
                <c:pt idx="138">
                  <c:v>1.69678692794498</c:v>
                </c:pt>
                <c:pt idx="139">
                  <c:v>1.84278859654478</c:v>
                </c:pt>
                <c:pt idx="140">
                  <c:v>1.84278859654478</c:v>
                </c:pt>
                <c:pt idx="141">
                  <c:v>1.79040107441548</c:v>
                </c:pt>
                <c:pt idx="142">
                  <c:v>1.78372504731091</c:v>
                </c:pt>
                <c:pt idx="143">
                  <c:v>1.60210894735771</c:v>
                </c:pt>
                <c:pt idx="144">
                  <c:v>1.55561768715789</c:v>
                </c:pt>
                <c:pt idx="145">
                  <c:v>1.69112182813422</c:v>
                </c:pt>
                <c:pt idx="146">
                  <c:v>1.71475489896832</c:v>
                </c:pt>
                <c:pt idx="147">
                  <c:v>1.69424658649248</c:v>
                </c:pt>
                <c:pt idx="148">
                  <c:v>1.69256007976721</c:v>
                </c:pt>
                <c:pt idx="149">
                  <c:v>1.7818505178764</c:v>
                </c:pt>
                <c:pt idx="150">
                  <c:v>1.87020572614615</c:v>
                </c:pt>
                <c:pt idx="151">
                  <c:v>1.89627413873797</c:v>
                </c:pt>
                <c:pt idx="152">
                  <c:v>1.8667594570946</c:v>
                </c:pt>
                <c:pt idx="153">
                  <c:v>1.854975886698</c:v>
                </c:pt>
                <c:pt idx="154">
                  <c:v>1.79073805018009</c:v>
                </c:pt>
                <c:pt idx="155">
                  <c:v>1.90145330972875</c:v>
                </c:pt>
                <c:pt idx="156">
                  <c:v>1.93237938261807</c:v>
                </c:pt>
                <c:pt idx="157">
                  <c:v>1.96256557393729</c:v>
                </c:pt>
                <c:pt idx="158">
                  <c:v>2.00355126874631</c:v>
                </c:pt>
                <c:pt idx="159">
                  <c:v>2.08865148647824</c:v>
                </c:pt>
                <c:pt idx="160">
                  <c:v>2.09711088049163</c:v>
                </c:pt>
                <c:pt idx="161">
                  <c:v>2.22403923244409</c:v>
                </c:pt>
                <c:pt idx="162">
                  <c:v>2.27664570742527</c:v>
                </c:pt>
                <c:pt idx="163">
                  <c:v>2.24278534074029</c:v>
                </c:pt>
                <c:pt idx="164">
                  <c:v>2.29904889811367</c:v>
                </c:pt>
                <c:pt idx="165">
                  <c:v>2.37489367763466</c:v>
                </c:pt>
                <c:pt idx="166">
                  <c:v>2.43527257188206</c:v>
                </c:pt>
                <c:pt idx="167">
                  <c:v>2.67686303237491</c:v>
                </c:pt>
                <c:pt idx="168">
                  <c:v>2.51060944590277</c:v>
                </c:pt>
                <c:pt idx="169">
                  <c:v>2.44945404228476</c:v>
                </c:pt>
                <c:pt idx="170">
                  <c:v>2.50765724518243</c:v>
                </c:pt>
                <c:pt idx="171">
                  <c:v>2.47999186048878</c:v>
                </c:pt>
                <c:pt idx="172">
                  <c:v>2.3568044278941</c:v>
                </c:pt>
                <c:pt idx="173">
                  <c:v>2.32651730663574</c:v>
                </c:pt>
                <c:pt idx="174">
                  <c:v>2.269991657001</c:v>
                </c:pt>
                <c:pt idx="175">
                  <c:v>2.26184970392528</c:v>
                </c:pt>
                <c:pt idx="176">
                  <c:v>2.03322467085851</c:v>
                </c:pt>
                <c:pt idx="177">
                  <c:v>2.15751989093055</c:v>
                </c:pt>
                <c:pt idx="178">
                  <c:v>2.1037136519952</c:v>
                </c:pt>
                <c:pt idx="179">
                  <c:v>2.27438048145209</c:v>
                </c:pt>
                <c:pt idx="180">
                  <c:v>2.33060089941599</c:v>
                </c:pt>
                <c:pt idx="181">
                  <c:v>2.36463870744562</c:v>
                </c:pt>
                <c:pt idx="182">
                  <c:v>2.4173623913884</c:v>
                </c:pt>
                <c:pt idx="183">
                  <c:v>2.18961723948477</c:v>
                </c:pt>
                <c:pt idx="184">
                  <c:v>2.32322975805303</c:v>
                </c:pt>
                <c:pt idx="185">
                  <c:v>2.26097307856663</c:v>
                </c:pt>
                <c:pt idx="186">
                  <c:v>2.09386728526952</c:v>
                </c:pt>
                <c:pt idx="187">
                  <c:v>2.12378324481615</c:v>
                </c:pt>
                <c:pt idx="188">
                  <c:v>2.19007549396659</c:v>
                </c:pt>
                <c:pt idx="189">
                  <c:v>2.14447551024561</c:v>
                </c:pt>
                <c:pt idx="190">
                  <c:v>2.29450786480272</c:v>
                </c:pt>
                <c:pt idx="191">
                  <c:v>2.14171947174572</c:v>
                </c:pt>
                <c:pt idx="192">
                  <c:v>2.12684858474249</c:v>
                </c:pt>
                <c:pt idx="193">
                  <c:v>1.9212079034654</c:v>
                </c:pt>
                <c:pt idx="194">
                  <c:v>2.00586777364019</c:v>
                </c:pt>
                <c:pt idx="195">
                  <c:v>1.86895142746678</c:v>
                </c:pt>
                <c:pt idx="196">
                  <c:v>1.98825387135503</c:v>
                </c:pt>
                <c:pt idx="197">
                  <c:v>2.00194127342653</c:v>
                </c:pt>
                <c:pt idx="198">
                  <c:v>2.04928881020695</c:v>
                </c:pt>
                <c:pt idx="199">
                  <c:v>1.90945200740696</c:v>
                </c:pt>
                <c:pt idx="200">
                  <c:v>1.96222615631931</c:v>
                </c:pt>
                <c:pt idx="201">
                  <c:v>2.14406853468449</c:v>
                </c:pt>
                <c:pt idx="202">
                  <c:v>2.21648088232302</c:v>
                </c:pt>
                <c:pt idx="203">
                  <c:v>2.30215574954724</c:v>
                </c:pt>
                <c:pt idx="204">
                  <c:v>2.35884744521092</c:v>
                </c:pt>
                <c:pt idx="205">
                  <c:v>2.30985898296807</c:v>
                </c:pt>
                <c:pt idx="206">
                  <c:v>2.33806483120689</c:v>
                </c:pt>
                <c:pt idx="207">
                  <c:v>2.37281403251735</c:v>
                </c:pt>
                <c:pt idx="208">
                  <c:v>2.34645422542376</c:v>
                </c:pt>
                <c:pt idx="209">
                  <c:v>2.11310095028794</c:v>
                </c:pt>
                <c:pt idx="210">
                  <c:v>2.10642329528112</c:v>
                </c:pt>
                <c:pt idx="211">
                  <c:v>2.00033697576461</c:v>
                </c:pt>
                <c:pt idx="212">
                  <c:v>2.06558329772297</c:v>
                </c:pt>
                <c:pt idx="213">
                  <c:v>1.9107714221761</c:v>
                </c:pt>
                <c:pt idx="214">
                  <c:v>1.90445597541868</c:v>
                </c:pt>
                <c:pt idx="215">
                  <c:v>1.93738762387319</c:v>
                </c:pt>
                <c:pt idx="216">
                  <c:v>1.84872881183485</c:v>
                </c:pt>
                <c:pt idx="217">
                  <c:v>1.79043607431374</c:v>
                </c:pt>
                <c:pt idx="218">
                  <c:v>1.71657326577539</c:v>
                </c:pt>
                <c:pt idx="219">
                  <c:v>1.74309260728893</c:v>
                </c:pt>
                <c:pt idx="220">
                  <c:v>1.77928006023238</c:v>
                </c:pt>
                <c:pt idx="221">
                  <c:v>1.64064139348432</c:v>
                </c:pt>
                <c:pt idx="222">
                  <c:v>1.62418981340171</c:v>
                </c:pt>
                <c:pt idx="223">
                  <c:v>1.40185418065645</c:v>
                </c:pt>
                <c:pt idx="224">
                  <c:v>1.19545164112895</c:v>
                </c:pt>
                <c:pt idx="225">
                  <c:v>1.51372362289645</c:v>
                </c:pt>
                <c:pt idx="226">
                  <c:v>1.61011008688928</c:v>
                </c:pt>
                <c:pt idx="227">
                  <c:v>1.77785890157296</c:v>
                </c:pt>
                <c:pt idx="228">
                  <c:v>1.61047880674765</c:v>
                </c:pt>
                <c:pt idx="229">
                  <c:v>1.66046924282197</c:v>
                </c:pt>
                <c:pt idx="230">
                  <c:v>1.61932075778849</c:v>
                </c:pt>
                <c:pt idx="231">
                  <c:v>1.4841804529638</c:v>
                </c:pt>
                <c:pt idx="232">
                  <c:v>1.53970494271819</c:v>
                </c:pt>
                <c:pt idx="233">
                  <c:v>1.63432757462914</c:v>
                </c:pt>
                <c:pt idx="234">
                  <c:v>1.49620983659931</c:v>
                </c:pt>
                <c:pt idx="235">
                  <c:v>1.44961927436257</c:v>
                </c:pt>
                <c:pt idx="236">
                  <c:v>1.39287223002259</c:v>
                </c:pt>
                <c:pt idx="237">
                  <c:v>1.38720713021183</c:v>
                </c:pt>
                <c:pt idx="238">
                  <c:v>1.38757422216796</c:v>
                </c:pt>
                <c:pt idx="239">
                  <c:v>1.26040901043892</c:v>
                </c:pt>
                <c:pt idx="240">
                  <c:v>1.34395051177177</c:v>
                </c:pt>
                <c:pt idx="241">
                  <c:v>1.34639073723623</c:v>
                </c:pt>
                <c:pt idx="242">
                  <c:v>1.44582382027959</c:v>
                </c:pt>
                <c:pt idx="243">
                  <c:v>1.47159188490731</c:v>
                </c:pt>
                <c:pt idx="244">
                  <c:v>1.44220824939462</c:v>
                </c:pt>
                <c:pt idx="245">
                  <c:v>1.41176566347191</c:v>
                </c:pt>
                <c:pt idx="246">
                  <c:v>1.46422237144659</c:v>
                </c:pt>
                <c:pt idx="247">
                  <c:v>1.67936837392915</c:v>
                </c:pt>
                <c:pt idx="248">
                  <c:v>1.65373135543211</c:v>
                </c:pt>
                <c:pt idx="249">
                  <c:v>1.58098691573571</c:v>
                </c:pt>
                <c:pt idx="250">
                  <c:v>1.63278188144802</c:v>
                </c:pt>
              </c:numCache>
            </c:numRef>
          </c:val>
          <c:smooth val="0"/>
        </c:ser>
        <c:ser>
          <c:idx val="3"/>
          <c:order val="2"/>
          <c:tx>
            <c:strRef>
              <c:f>'[1、景林金色中国存续-working paper 20241129.xlsx]景林金色中国业绩（第4批）'!$D$1</c:f>
              <c:strCache>
                <c:ptCount val="1"/>
                <c:pt idx="0">
                  <c:v>沪深300</c:v>
                </c:pt>
              </c:strCache>
            </c:strRef>
          </c:tx>
          <c:spPr>
            <a:ln w="28575" cap="rnd">
              <a:solidFill>
                <a:schemeClr val="accent4"/>
              </a:solidFill>
              <a:round/>
            </a:ln>
            <a:effectLst/>
          </c:spPr>
          <c:marker>
            <c:symbol val="none"/>
          </c:marker>
          <c:dLbls>
            <c:delete val="1"/>
          </c:dLbls>
          <c:cat>
            <c:numRef>
              <c:f>'[1、景林金色中国存续-working paper 20241129.xlsx]景林金色中国业绩（第4批）'!$A$2:$A$252</c:f>
              <c:numCache>
                <c:formatCode>yyyy/m/d</c:formatCode>
                <c:ptCount val="251"/>
                <c:pt idx="0" c:formatCode="yyyy/m/d">
                  <c:v>38169</c:v>
                </c:pt>
                <c:pt idx="1" c:formatCode="yyyy/m/d">
                  <c:v>38199</c:v>
                </c:pt>
                <c:pt idx="2" c:formatCode="yyyy/m/d">
                  <c:v>38230</c:v>
                </c:pt>
                <c:pt idx="3" c:formatCode="yyyy/m/d">
                  <c:v>38260</c:v>
                </c:pt>
                <c:pt idx="4" c:formatCode="yyyy/m/d">
                  <c:v>38291</c:v>
                </c:pt>
                <c:pt idx="5" c:formatCode="yyyy/m/d">
                  <c:v>38321</c:v>
                </c:pt>
                <c:pt idx="6" c:formatCode="yyyy/m/d">
                  <c:v>38352</c:v>
                </c:pt>
                <c:pt idx="7" c:formatCode="yyyy/m/d">
                  <c:v>38383</c:v>
                </c:pt>
                <c:pt idx="8" c:formatCode="yyyy/m/d">
                  <c:v>38411</c:v>
                </c:pt>
                <c:pt idx="9" c:formatCode="yyyy/m/d">
                  <c:v>38442</c:v>
                </c:pt>
                <c:pt idx="10" c:formatCode="yyyy/m/d">
                  <c:v>38472</c:v>
                </c:pt>
                <c:pt idx="11" c:formatCode="yyyy/m/d">
                  <c:v>38503</c:v>
                </c:pt>
                <c:pt idx="12" c:formatCode="yyyy/m/d">
                  <c:v>38533</c:v>
                </c:pt>
                <c:pt idx="13" c:formatCode="yyyy/m/d">
                  <c:v>38564</c:v>
                </c:pt>
                <c:pt idx="14" c:formatCode="yyyy/m/d">
                  <c:v>38595</c:v>
                </c:pt>
                <c:pt idx="15" c:formatCode="yyyy/m/d">
                  <c:v>38625</c:v>
                </c:pt>
                <c:pt idx="16" c:formatCode="yyyy/m/d">
                  <c:v>38656</c:v>
                </c:pt>
                <c:pt idx="17" c:formatCode="yyyy/m/d">
                  <c:v>38686</c:v>
                </c:pt>
                <c:pt idx="18" c:formatCode="yyyy/m/d">
                  <c:v>38717</c:v>
                </c:pt>
                <c:pt idx="19" c:formatCode="yyyy/m/d">
                  <c:v>38748</c:v>
                </c:pt>
                <c:pt idx="20" c:formatCode="yyyy/m/d">
                  <c:v>38776</c:v>
                </c:pt>
                <c:pt idx="21" c:formatCode="yyyy/m/d">
                  <c:v>38807</c:v>
                </c:pt>
                <c:pt idx="22" c:formatCode="yyyy/m/d">
                  <c:v>38837</c:v>
                </c:pt>
                <c:pt idx="23" c:formatCode="yyyy/m/d">
                  <c:v>38868</c:v>
                </c:pt>
                <c:pt idx="24" c:formatCode="yyyy/m/d">
                  <c:v>38898</c:v>
                </c:pt>
                <c:pt idx="25" c:formatCode="yyyy/m/d">
                  <c:v>38929</c:v>
                </c:pt>
                <c:pt idx="26" c:formatCode="yyyy/m/d">
                  <c:v>38960</c:v>
                </c:pt>
                <c:pt idx="27" c:formatCode="yyyy/m/d">
                  <c:v>38990</c:v>
                </c:pt>
                <c:pt idx="28" c:formatCode="yyyy/m/d">
                  <c:v>39021</c:v>
                </c:pt>
                <c:pt idx="29" c:formatCode="yyyy/m/d">
                  <c:v>39051</c:v>
                </c:pt>
                <c:pt idx="30" c:formatCode="yyyy/m/d">
                  <c:v>39082</c:v>
                </c:pt>
                <c:pt idx="31" c:formatCode="yyyy/m/d">
                  <c:v>39113</c:v>
                </c:pt>
                <c:pt idx="32" c:formatCode="yyyy/m/d">
                  <c:v>39141</c:v>
                </c:pt>
                <c:pt idx="33" c:formatCode="yyyy/m/d">
                  <c:v>39172</c:v>
                </c:pt>
                <c:pt idx="34" c:formatCode="yyyy/m/d">
                  <c:v>39202</c:v>
                </c:pt>
                <c:pt idx="35" c:formatCode="yyyy/m/d">
                  <c:v>39233</c:v>
                </c:pt>
                <c:pt idx="36" c:formatCode="yyyy/m/d">
                  <c:v>39263</c:v>
                </c:pt>
                <c:pt idx="37" c:formatCode="yyyy/m/d">
                  <c:v>39294</c:v>
                </c:pt>
                <c:pt idx="38" c:formatCode="yyyy/m/d">
                  <c:v>39325</c:v>
                </c:pt>
                <c:pt idx="39" c:formatCode="yyyy/m/d">
                  <c:v>39355</c:v>
                </c:pt>
                <c:pt idx="40" c:formatCode="yyyy/m/d">
                  <c:v>39386</c:v>
                </c:pt>
                <c:pt idx="41" c:formatCode="yyyy/m/d">
                  <c:v>39416</c:v>
                </c:pt>
                <c:pt idx="42" c:formatCode="yyyy/m/d">
                  <c:v>39447</c:v>
                </c:pt>
                <c:pt idx="43" c:formatCode="yyyy/m/d">
                  <c:v>39478</c:v>
                </c:pt>
                <c:pt idx="44" c:formatCode="yyyy/m/d">
                  <c:v>39507</c:v>
                </c:pt>
                <c:pt idx="45" c:formatCode="yyyy/m/d">
                  <c:v>39538</c:v>
                </c:pt>
                <c:pt idx="46" c:formatCode="yyyy/m/d">
                  <c:v>39568</c:v>
                </c:pt>
                <c:pt idx="47" c:formatCode="yyyy/m/d">
                  <c:v>39599</c:v>
                </c:pt>
                <c:pt idx="48" c:formatCode="yyyy/m/d">
                  <c:v>39629</c:v>
                </c:pt>
                <c:pt idx="49" c:formatCode="yyyy/m/d">
                  <c:v>39660</c:v>
                </c:pt>
                <c:pt idx="50" c:formatCode="yyyy/m/d">
                  <c:v>39691</c:v>
                </c:pt>
                <c:pt idx="51" c:formatCode="yyyy/m/d">
                  <c:v>39721</c:v>
                </c:pt>
                <c:pt idx="52" c:formatCode="yyyy/m/d">
                  <c:v>39752</c:v>
                </c:pt>
                <c:pt idx="53" c:formatCode="yyyy/m/d">
                  <c:v>39782</c:v>
                </c:pt>
                <c:pt idx="54" c:formatCode="yyyy/m/d">
                  <c:v>39813</c:v>
                </c:pt>
                <c:pt idx="55" c:formatCode="yyyy/m/d">
                  <c:v>39844</c:v>
                </c:pt>
                <c:pt idx="56" c:formatCode="yyyy/m/d">
                  <c:v>39872</c:v>
                </c:pt>
                <c:pt idx="57" c:formatCode="yyyy/m/d">
                  <c:v>39903</c:v>
                </c:pt>
                <c:pt idx="58" c:formatCode="yyyy/m/d">
                  <c:v>39933</c:v>
                </c:pt>
                <c:pt idx="59" c:formatCode="yyyy/m/d">
                  <c:v>39964</c:v>
                </c:pt>
                <c:pt idx="60" c:formatCode="yyyy/m/d">
                  <c:v>39994</c:v>
                </c:pt>
                <c:pt idx="61" c:formatCode="yyyy/m/d">
                  <c:v>40025</c:v>
                </c:pt>
                <c:pt idx="62" c:formatCode="yyyy/m/d">
                  <c:v>40056</c:v>
                </c:pt>
                <c:pt idx="63" c:formatCode="yyyy/m/d">
                  <c:v>40086</c:v>
                </c:pt>
                <c:pt idx="64" c:formatCode="yyyy/m/d">
                  <c:v>40117</c:v>
                </c:pt>
                <c:pt idx="65" c:formatCode="yyyy/m/d">
                  <c:v>40147</c:v>
                </c:pt>
                <c:pt idx="66" c:formatCode="yyyy/m/d">
                  <c:v>40178</c:v>
                </c:pt>
                <c:pt idx="67" c:formatCode="yyyy/m/d">
                  <c:v>40209</c:v>
                </c:pt>
                <c:pt idx="68" c:formatCode="yyyy/m/d">
                  <c:v>40237</c:v>
                </c:pt>
                <c:pt idx="69" c:formatCode="yyyy/m/d">
                  <c:v>40268</c:v>
                </c:pt>
                <c:pt idx="70" c:formatCode="yyyy/m/d">
                  <c:v>40298</c:v>
                </c:pt>
                <c:pt idx="71" c:formatCode="yyyy/m/d">
                  <c:v>40329</c:v>
                </c:pt>
                <c:pt idx="72" c:formatCode="yyyy/m/d">
                  <c:v>40359</c:v>
                </c:pt>
                <c:pt idx="73" c:formatCode="yyyy/m/d">
                  <c:v>40390</c:v>
                </c:pt>
                <c:pt idx="74" c:formatCode="yyyy/m/d">
                  <c:v>40421</c:v>
                </c:pt>
                <c:pt idx="75" c:formatCode="yyyy/m/d">
                  <c:v>40451</c:v>
                </c:pt>
                <c:pt idx="76" c:formatCode="yyyy/m/d">
                  <c:v>40482</c:v>
                </c:pt>
                <c:pt idx="77" c:formatCode="yyyy/m/d">
                  <c:v>40512</c:v>
                </c:pt>
                <c:pt idx="78" c:formatCode="yyyy/m/d">
                  <c:v>40543</c:v>
                </c:pt>
                <c:pt idx="79" c:formatCode="yyyy/m/d">
                  <c:v>40574</c:v>
                </c:pt>
                <c:pt idx="80" c:formatCode="yyyy/m/d">
                  <c:v>40602</c:v>
                </c:pt>
                <c:pt idx="81" c:formatCode="yyyy/m/d">
                  <c:v>40633</c:v>
                </c:pt>
                <c:pt idx="82" c:formatCode="yyyy/m/d">
                  <c:v>40663</c:v>
                </c:pt>
                <c:pt idx="83" c:formatCode="yyyy/m/d">
                  <c:v>40694</c:v>
                </c:pt>
                <c:pt idx="84" c:formatCode="yyyy/m/d">
                  <c:v>40724</c:v>
                </c:pt>
                <c:pt idx="85" c:formatCode="yyyy/m/d">
                  <c:v>40755</c:v>
                </c:pt>
                <c:pt idx="86" c:formatCode="yyyy/m/d">
                  <c:v>40786</c:v>
                </c:pt>
                <c:pt idx="87" c:formatCode="yyyy/m/d">
                  <c:v>40816</c:v>
                </c:pt>
                <c:pt idx="88" c:formatCode="yyyy/m/d">
                  <c:v>40847</c:v>
                </c:pt>
                <c:pt idx="89" c:formatCode="yyyy/m/d">
                  <c:v>40877</c:v>
                </c:pt>
                <c:pt idx="90" c:formatCode="yyyy/m/d">
                  <c:v>40908</c:v>
                </c:pt>
                <c:pt idx="91" c:formatCode="yyyy/m/d">
                  <c:v>40939</c:v>
                </c:pt>
                <c:pt idx="92" c:formatCode="yyyy/m/d">
                  <c:v>40968</c:v>
                </c:pt>
                <c:pt idx="93" c:formatCode="yyyy/m/d">
                  <c:v>40999</c:v>
                </c:pt>
                <c:pt idx="94" c:formatCode="yyyy/m/d">
                  <c:v>41029</c:v>
                </c:pt>
                <c:pt idx="95" c:formatCode="yyyy/m/d">
                  <c:v>41060</c:v>
                </c:pt>
                <c:pt idx="96" c:formatCode="yyyy/m/d">
                  <c:v>41090</c:v>
                </c:pt>
                <c:pt idx="97" c:formatCode="yyyy/m/d">
                  <c:v>41121</c:v>
                </c:pt>
                <c:pt idx="98" c:formatCode="yyyy/m/d">
                  <c:v>41152</c:v>
                </c:pt>
                <c:pt idx="99" c:formatCode="yyyy/m/d">
                  <c:v>41182</c:v>
                </c:pt>
                <c:pt idx="100" c:formatCode="yyyy/m/d">
                  <c:v>41213</c:v>
                </c:pt>
                <c:pt idx="101" c:formatCode="yyyy/m/d">
                  <c:v>41243</c:v>
                </c:pt>
                <c:pt idx="102" c:formatCode="yyyy/m/d">
                  <c:v>41274</c:v>
                </c:pt>
                <c:pt idx="103" c:formatCode="yyyy/m/d">
                  <c:v>41305</c:v>
                </c:pt>
                <c:pt idx="104" c:formatCode="yyyy/m/d">
                  <c:v>41333</c:v>
                </c:pt>
                <c:pt idx="105" c:formatCode="yyyy/m/d">
                  <c:v>41364</c:v>
                </c:pt>
                <c:pt idx="106" c:formatCode="yyyy/m/d">
                  <c:v>41394</c:v>
                </c:pt>
                <c:pt idx="107" c:formatCode="yyyy/m/d">
                  <c:v>41425</c:v>
                </c:pt>
                <c:pt idx="108" c:formatCode="yyyy/m/d">
                  <c:v>41455</c:v>
                </c:pt>
                <c:pt idx="109" c:formatCode="yyyy/m/d">
                  <c:v>41486</c:v>
                </c:pt>
                <c:pt idx="110" c:formatCode="yyyy/m/d">
                  <c:v>41516</c:v>
                </c:pt>
                <c:pt idx="111" c:formatCode="yyyy/m/d">
                  <c:v>41517</c:v>
                </c:pt>
                <c:pt idx="112" c:formatCode="yyyy/m/d">
                  <c:v>41547</c:v>
                </c:pt>
                <c:pt idx="113" c:formatCode="yyyy/m/d">
                  <c:v>41578</c:v>
                </c:pt>
                <c:pt idx="114" c:formatCode="yyyy/m/d">
                  <c:v>41608</c:v>
                </c:pt>
                <c:pt idx="115" c:formatCode="yyyy/m/d">
                  <c:v>41639</c:v>
                </c:pt>
                <c:pt idx="116" c:formatCode="yyyy/m/d">
                  <c:v>41670</c:v>
                </c:pt>
                <c:pt idx="117" c:formatCode="yyyy/m/d">
                  <c:v>41698</c:v>
                </c:pt>
                <c:pt idx="118" c:formatCode="yyyy/m/d">
                  <c:v>41729</c:v>
                </c:pt>
                <c:pt idx="119" c:formatCode="yyyy/m/d">
                  <c:v>41759</c:v>
                </c:pt>
                <c:pt idx="120" c:formatCode="yyyy/m/d">
                  <c:v>41790</c:v>
                </c:pt>
                <c:pt idx="121" c:formatCode="yyyy/m/d">
                  <c:v>41820</c:v>
                </c:pt>
                <c:pt idx="122" c:formatCode="yyyy/m/d">
                  <c:v>41851</c:v>
                </c:pt>
                <c:pt idx="123" c:formatCode="yyyy/m/d">
                  <c:v>41881</c:v>
                </c:pt>
                <c:pt idx="124" c:formatCode="yyyy/m/d">
                  <c:v>41882</c:v>
                </c:pt>
                <c:pt idx="125" c:formatCode="yyyy/m/d">
                  <c:v>41912</c:v>
                </c:pt>
                <c:pt idx="126" c:formatCode="yyyy/m/d">
                  <c:v>41943</c:v>
                </c:pt>
                <c:pt idx="127" c:formatCode="yyyy/m/d">
                  <c:v>41973</c:v>
                </c:pt>
                <c:pt idx="128" c:formatCode="yyyy/m/d">
                  <c:v>42004</c:v>
                </c:pt>
                <c:pt idx="129" c:formatCode="yyyy/m/d">
                  <c:v>42035</c:v>
                </c:pt>
                <c:pt idx="130" c:formatCode="yyyy/m/d">
                  <c:v>42063</c:v>
                </c:pt>
                <c:pt idx="131" c:formatCode="yyyy/m/d">
                  <c:v>42094</c:v>
                </c:pt>
                <c:pt idx="132" c:formatCode="yyyy/m/d">
                  <c:v>42124</c:v>
                </c:pt>
                <c:pt idx="133" c:formatCode="yyyy/m/d">
                  <c:v>42155</c:v>
                </c:pt>
                <c:pt idx="134" c:formatCode="yyyy/m/d">
                  <c:v>42185</c:v>
                </c:pt>
                <c:pt idx="135" c:formatCode="yyyy/m/d">
                  <c:v>42216</c:v>
                </c:pt>
                <c:pt idx="136" c:formatCode="yyyy/m/d">
                  <c:v>42246</c:v>
                </c:pt>
                <c:pt idx="137" c:formatCode="yyyy/m/d">
                  <c:v>42247</c:v>
                </c:pt>
                <c:pt idx="138" c:formatCode="yyyy/m/d">
                  <c:v>42277</c:v>
                </c:pt>
                <c:pt idx="139" c:formatCode="yyyy/m/d">
                  <c:v>42307</c:v>
                </c:pt>
                <c:pt idx="140" c:formatCode="yyyy/m/d">
                  <c:v>42308</c:v>
                </c:pt>
                <c:pt idx="141" c:formatCode="yyyy/m/d">
                  <c:v>42338</c:v>
                </c:pt>
                <c:pt idx="142" c:formatCode="yyyy/m/d">
                  <c:v>42369</c:v>
                </c:pt>
                <c:pt idx="143" c:formatCode="yyyy/m/d">
                  <c:v>42400</c:v>
                </c:pt>
                <c:pt idx="144" c:formatCode="yyyy/m/d">
                  <c:v>42429</c:v>
                </c:pt>
                <c:pt idx="145" c:formatCode="yyyy/m/d">
                  <c:v>42460</c:v>
                </c:pt>
                <c:pt idx="146" c:formatCode="yyyy/m/d">
                  <c:v>42490</c:v>
                </c:pt>
                <c:pt idx="147" c:formatCode="yyyy/m/d">
                  <c:v>42521</c:v>
                </c:pt>
                <c:pt idx="148" c:formatCode="yyyy/m/d">
                  <c:v>42551</c:v>
                </c:pt>
                <c:pt idx="149" c:formatCode="yyyy/m/d">
                  <c:v>42582</c:v>
                </c:pt>
                <c:pt idx="150" c:formatCode="yyyy/m/d">
                  <c:v>42613</c:v>
                </c:pt>
                <c:pt idx="151" c:formatCode="yyyy/m/d">
                  <c:v>42643</c:v>
                </c:pt>
                <c:pt idx="152" c:formatCode="yyyy/m/d">
                  <c:v>42674</c:v>
                </c:pt>
                <c:pt idx="153" c:formatCode="yyyy/m/d">
                  <c:v>42704</c:v>
                </c:pt>
                <c:pt idx="154" c:formatCode="yyyy/m/d">
                  <c:v>42735</c:v>
                </c:pt>
                <c:pt idx="155" c:formatCode="yyyy/m/d">
                  <c:v>42766</c:v>
                </c:pt>
                <c:pt idx="156" c:formatCode="yyyy/m/d">
                  <c:v>42794</c:v>
                </c:pt>
                <c:pt idx="157" c:formatCode="yyyy/m/d">
                  <c:v>42825</c:v>
                </c:pt>
                <c:pt idx="158" c:formatCode="yyyy/m/d">
                  <c:v>42855</c:v>
                </c:pt>
                <c:pt idx="159" c:formatCode="yyyy/m/d">
                  <c:v>42886</c:v>
                </c:pt>
                <c:pt idx="160" c:formatCode="yyyy/m/d">
                  <c:v>42916</c:v>
                </c:pt>
                <c:pt idx="161" c:formatCode="yyyy/m/d">
                  <c:v>42947</c:v>
                </c:pt>
                <c:pt idx="162" c:formatCode="yyyy/m/d">
                  <c:v>42978</c:v>
                </c:pt>
                <c:pt idx="163" c:formatCode="yyyy/m/d">
                  <c:v>43008</c:v>
                </c:pt>
                <c:pt idx="164" c:formatCode="yyyy/m/d">
                  <c:v>43039</c:v>
                </c:pt>
                <c:pt idx="165" c:formatCode="yyyy/m/d">
                  <c:v>43069</c:v>
                </c:pt>
                <c:pt idx="166" c:formatCode="yyyy/m/d">
                  <c:v>43100</c:v>
                </c:pt>
                <c:pt idx="167" c:formatCode="yyyy/m/d">
                  <c:v>43131</c:v>
                </c:pt>
                <c:pt idx="168" c:formatCode="yyyy/m/d">
                  <c:v>43159</c:v>
                </c:pt>
                <c:pt idx="169" c:formatCode="yyyy/m/d">
                  <c:v>43190</c:v>
                </c:pt>
                <c:pt idx="170" c:formatCode="yyyy/m/d">
                  <c:v>43220</c:v>
                </c:pt>
                <c:pt idx="171" c:formatCode="yyyy/m/d">
                  <c:v>43251</c:v>
                </c:pt>
                <c:pt idx="172" c:formatCode="yyyy/m/d">
                  <c:v>43281</c:v>
                </c:pt>
                <c:pt idx="173" c:formatCode="yyyy/m/d">
                  <c:v>43312</c:v>
                </c:pt>
                <c:pt idx="174" c:formatCode="yyyy/m/d">
                  <c:v>43343</c:v>
                </c:pt>
                <c:pt idx="175" c:formatCode="yyyy/m/d">
                  <c:v>43373</c:v>
                </c:pt>
                <c:pt idx="176" c:formatCode="yyyy/m/d">
                  <c:v>43404</c:v>
                </c:pt>
                <c:pt idx="177" c:formatCode="yyyy/m/d">
                  <c:v>43434</c:v>
                </c:pt>
                <c:pt idx="178" c:formatCode="yyyy/m/d">
                  <c:v>43465</c:v>
                </c:pt>
                <c:pt idx="179" c:formatCode="yyyy/m/d">
                  <c:v>43496</c:v>
                </c:pt>
                <c:pt idx="180" c:formatCode="yyyy/m/d">
                  <c:v>43524</c:v>
                </c:pt>
                <c:pt idx="181" c:formatCode="yyyy/m/d">
                  <c:v>43555</c:v>
                </c:pt>
                <c:pt idx="182" c:formatCode="yyyy/m/d">
                  <c:v>43585</c:v>
                </c:pt>
                <c:pt idx="183" c:formatCode="yyyy/m/d">
                  <c:v>43616</c:v>
                </c:pt>
                <c:pt idx="184" c:formatCode="yyyy/m/d">
                  <c:v>43646</c:v>
                </c:pt>
                <c:pt idx="185" c:formatCode="yyyy/m/d">
                  <c:v>43677</c:v>
                </c:pt>
                <c:pt idx="186" c:formatCode="yyyy/m/d">
                  <c:v>43708</c:v>
                </c:pt>
                <c:pt idx="187" c:formatCode="yyyy/m/d">
                  <c:v>43738</c:v>
                </c:pt>
                <c:pt idx="188" c:formatCode="yyyy/m/d">
                  <c:v>43769</c:v>
                </c:pt>
                <c:pt idx="189" c:formatCode="yyyy/m/d">
                  <c:v>43799</c:v>
                </c:pt>
                <c:pt idx="190" c:formatCode="yyyy/m/d">
                  <c:v>43830</c:v>
                </c:pt>
                <c:pt idx="191" c:formatCode="yyyy/m/d">
                  <c:v>43861</c:v>
                </c:pt>
                <c:pt idx="192" c:formatCode="yyyy/m/d">
                  <c:v>43890</c:v>
                </c:pt>
                <c:pt idx="193" c:formatCode="yyyy/m/d">
                  <c:v>43921</c:v>
                </c:pt>
                <c:pt idx="194" c:formatCode="yyyy/m/d">
                  <c:v>43951</c:v>
                </c:pt>
                <c:pt idx="195" c:formatCode="yyyy/m/d">
                  <c:v>43982</c:v>
                </c:pt>
                <c:pt idx="196" c:formatCode="yyyy/m/d">
                  <c:v>44012</c:v>
                </c:pt>
                <c:pt idx="197" c:formatCode="yyyy/m/d">
                  <c:v>44043</c:v>
                </c:pt>
                <c:pt idx="198" c:formatCode="yyyy/m/d">
                  <c:v>44074</c:v>
                </c:pt>
                <c:pt idx="199" c:formatCode="yyyy/m/d">
                  <c:v>44104</c:v>
                </c:pt>
                <c:pt idx="200" c:formatCode="yyyy/m/d">
                  <c:v>44135</c:v>
                </c:pt>
                <c:pt idx="201" c:formatCode="yyyy/m/d">
                  <c:v>44165</c:v>
                </c:pt>
                <c:pt idx="202" c:formatCode="yyyy/m/d">
                  <c:v>44196</c:v>
                </c:pt>
                <c:pt idx="203" c:formatCode="yyyy/m/d">
                  <c:v>44227</c:v>
                </c:pt>
                <c:pt idx="204" c:formatCode="yyyy/m/d">
                  <c:v>44255</c:v>
                </c:pt>
                <c:pt idx="205" c:formatCode="yyyy/m/d">
                  <c:v>44286</c:v>
                </c:pt>
                <c:pt idx="206" c:formatCode="yyyy/m/d">
                  <c:v>44316</c:v>
                </c:pt>
                <c:pt idx="207" c:formatCode="yyyy/m/d">
                  <c:v>44347</c:v>
                </c:pt>
                <c:pt idx="208" c:formatCode="yyyy/m/d">
                  <c:v>44377</c:v>
                </c:pt>
                <c:pt idx="209" c:formatCode="yyyy/m/d">
                  <c:v>44408</c:v>
                </c:pt>
                <c:pt idx="210" c:formatCode="yyyy/m/d">
                  <c:v>44439</c:v>
                </c:pt>
                <c:pt idx="211" c:formatCode="yyyy/m/d">
                  <c:v>44469</c:v>
                </c:pt>
                <c:pt idx="212" c:formatCode="yyyy/m/d">
                  <c:v>44500</c:v>
                </c:pt>
                <c:pt idx="213" c:formatCode="yyyy/m/d">
                  <c:v>44530</c:v>
                </c:pt>
                <c:pt idx="214" c:formatCode="yyyy/m/d">
                  <c:v>44561</c:v>
                </c:pt>
                <c:pt idx="215" c:formatCode="yyyy/m/d">
                  <c:v>44592</c:v>
                </c:pt>
                <c:pt idx="216" c:formatCode="yyyy/m/d">
                  <c:v>44620</c:v>
                </c:pt>
                <c:pt idx="217" c:formatCode="yyyy/m/d">
                  <c:v>44651</c:v>
                </c:pt>
                <c:pt idx="218" c:formatCode="yyyy/m/d">
                  <c:v>44681</c:v>
                </c:pt>
                <c:pt idx="219" c:formatCode="yyyy/m/d">
                  <c:v>44712</c:v>
                </c:pt>
                <c:pt idx="220" c:formatCode="yyyy/m/d">
                  <c:v>44742</c:v>
                </c:pt>
                <c:pt idx="221" c:formatCode="yyyy/m/d">
                  <c:v>44773</c:v>
                </c:pt>
                <c:pt idx="222" c:formatCode="yyyy/m/d">
                  <c:v>44804</c:v>
                </c:pt>
                <c:pt idx="223" c:formatCode="yyyy/m/d">
                  <c:v>44834</c:v>
                </c:pt>
                <c:pt idx="224" c:formatCode="yyyy/m/d">
                  <c:v>44865</c:v>
                </c:pt>
                <c:pt idx="225" c:formatCode="yyyy/m/d">
                  <c:v>44895</c:v>
                </c:pt>
                <c:pt idx="226" c:formatCode="yyyy/m/d">
                  <c:v>44926</c:v>
                </c:pt>
                <c:pt idx="227" c:formatCode="yyyy/m/d">
                  <c:v>44957</c:v>
                </c:pt>
                <c:pt idx="228" c:formatCode="yyyy/m/d">
                  <c:v>44985</c:v>
                </c:pt>
                <c:pt idx="229" c:formatCode="yyyy/m/d">
                  <c:v>45016</c:v>
                </c:pt>
                <c:pt idx="230" c:formatCode="yyyy/m/d">
                  <c:v>45046</c:v>
                </c:pt>
                <c:pt idx="231" c:formatCode="yyyy/m/d">
                  <c:v>45077</c:v>
                </c:pt>
                <c:pt idx="232" c:formatCode="yyyy/m/d">
                  <c:v>45107</c:v>
                </c:pt>
                <c:pt idx="233" c:formatCode="yyyy/m/d">
                  <c:v>45138</c:v>
                </c:pt>
                <c:pt idx="234" c:formatCode="yyyy/m/d">
                  <c:v>45169</c:v>
                </c:pt>
                <c:pt idx="235" c:formatCode="yyyy/m/d">
                  <c:v>45199</c:v>
                </c:pt>
                <c:pt idx="236" c:formatCode="yyyy/m/d">
                  <c:v>45230</c:v>
                </c:pt>
                <c:pt idx="237" c:formatCode="yyyy/m/d">
                  <c:v>45260</c:v>
                </c:pt>
                <c:pt idx="238" c:formatCode="yyyy/m/d">
                  <c:v>45291</c:v>
                </c:pt>
                <c:pt idx="239" c:formatCode="yyyy/m/d">
                  <c:v>45322</c:v>
                </c:pt>
                <c:pt idx="240" c:formatCode="yyyy/m/d">
                  <c:v>45351</c:v>
                </c:pt>
                <c:pt idx="241" c:formatCode="yyyy/m/d">
                  <c:v>45382</c:v>
                </c:pt>
                <c:pt idx="242" c:formatCode="yyyy/m/d">
                  <c:v>45412</c:v>
                </c:pt>
                <c:pt idx="243" c:formatCode="yyyy/m/d">
                  <c:v>45443</c:v>
                </c:pt>
                <c:pt idx="244" c:formatCode="yyyy/m/d">
                  <c:v>45473</c:v>
                </c:pt>
                <c:pt idx="245" c:formatCode="yyyy/m/d">
                  <c:v>45504</c:v>
                </c:pt>
                <c:pt idx="246" c:formatCode="yyyy/m/d">
                  <c:v>45534</c:v>
                </c:pt>
                <c:pt idx="247" c:formatCode="yyyy/m/d">
                  <c:v>45564</c:v>
                </c:pt>
                <c:pt idx="248" c:formatCode="yyyy/m/d">
                  <c:v>45596</c:v>
                </c:pt>
                <c:pt idx="249" c:formatCode="yyyy/m/d">
                  <c:v>45625</c:v>
                </c:pt>
                <c:pt idx="250" c:formatCode="yyyy/m/d">
                  <c:v>45657</c:v>
                </c:pt>
              </c:numCache>
            </c:numRef>
          </c:cat>
          <c:val>
            <c:numRef>
              <c:f>'[1、景林金色中国存续-working paper 20241129.xlsx]景林金色中国业绩（第4批）'!$D$2:$D$252</c:f>
              <c:numCache>
                <c:formatCode>0.0000</c:formatCode>
                <c:ptCount val="251"/>
                <c:pt idx="0">
                  <c:v>1</c:v>
                </c:pt>
                <c:pt idx="1">
                  <c:v>0.978683715858391</c:v>
                </c:pt>
                <c:pt idx="2">
                  <c:v>0.949281231655473</c:v>
                </c:pt>
                <c:pt idx="3">
                  <c:v>0.997244668906291</c:v>
                </c:pt>
                <c:pt idx="4">
                  <c:v>0.944183194907537</c:v>
                </c:pt>
                <c:pt idx="5">
                  <c:v>0.955433755637641</c:v>
                </c:pt>
                <c:pt idx="6">
                  <c:v>0.898966099089437</c:v>
                </c:pt>
                <c:pt idx="7">
                  <c:v>0.858403849732423</c:v>
                </c:pt>
                <c:pt idx="8">
                  <c:v>0.934914854425925</c:v>
                </c:pt>
                <c:pt idx="9">
                  <c:v>0.847008555460365</c:v>
                </c:pt>
                <c:pt idx="10">
                  <c:v>0.838191495960496</c:v>
                </c:pt>
                <c:pt idx="11">
                  <c:v>0.769466436651208</c:v>
                </c:pt>
                <c:pt idx="12">
                  <c:v>0.789908925744501</c:v>
                </c:pt>
                <c:pt idx="13">
                  <c:v>0.798429326431671</c:v>
                </c:pt>
                <c:pt idx="14">
                  <c:v>0.834165026802674</c:v>
                </c:pt>
                <c:pt idx="15">
                  <c:v>0.824704307575857</c:v>
                </c:pt>
                <c:pt idx="16">
                  <c:v>0.78774781124229</c:v>
                </c:pt>
                <c:pt idx="17">
                  <c:v>0.785539051536828</c:v>
                </c:pt>
                <c:pt idx="18">
                  <c:v>0.83015114317024</c:v>
                </c:pt>
                <c:pt idx="19">
                  <c:v>0.907593476742399</c:v>
                </c:pt>
                <c:pt idx="20">
                  <c:v>0.946620292002168</c:v>
                </c:pt>
                <c:pt idx="21">
                  <c:v>0.953882140150613</c:v>
                </c:pt>
                <c:pt idx="22">
                  <c:v>1.0539002093692</c:v>
                </c:pt>
                <c:pt idx="23">
                  <c:v>1.22749415896777</c:v>
                </c:pt>
                <c:pt idx="24">
                  <c:v>1.25312548038501</c:v>
                </c:pt>
                <c:pt idx="25">
                  <c:v>1.16355699310223</c:v>
                </c:pt>
                <c:pt idx="26">
                  <c:v>1.20344052305444</c:v>
                </c:pt>
                <c:pt idx="27">
                  <c:v>1.26148766303874</c:v>
                </c:pt>
                <c:pt idx="28">
                  <c:v>1.31651158003181</c:v>
                </c:pt>
                <c:pt idx="29">
                  <c:v>1.54114972370277</c:v>
                </c:pt>
                <c:pt idx="30">
                  <c:v>1.8348320596482</c:v>
                </c:pt>
                <c:pt idx="31">
                  <c:v>2.1443352999715</c:v>
                </c:pt>
                <c:pt idx="32">
                  <c:v>2.28748306572611</c:v>
                </c:pt>
                <c:pt idx="33">
                  <c:v>2.50072951098941</c:v>
                </c:pt>
                <c:pt idx="34">
                  <c:v>3.19915874752447</c:v>
                </c:pt>
                <c:pt idx="35">
                  <c:v>3.53109568685055</c:v>
                </c:pt>
                <c:pt idx="36">
                  <c:v>3.38377851632837</c:v>
                </c:pt>
                <c:pt idx="37">
                  <c:v>4.00989581881878</c:v>
                </c:pt>
                <c:pt idx="38">
                  <c:v>4.76165532021622</c:v>
                </c:pt>
                <c:pt idx="39">
                  <c:v>5.01696169235762</c:v>
                </c:pt>
                <c:pt idx="40">
                  <c:v>5.11380731021252</c:v>
                </c:pt>
                <c:pt idx="41">
                  <c:v>4.25876918955509</c:v>
                </c:pt>
                <c:pt idx="42">
                  <c:v>4.79892825261667</c:v>
                </c:pt>
                <c:pt idx="43">
                  <c:v>4.15358386319893</c:v>
                </c:pt>
                <c:pt idx="44">
                  <c:v>4.20226197849853</c:v>
                </c:pt>
                <c:pt idx="45">
                  <c:v>3.40755796758148</c:v>
                </c:pt>
                <c:pt idx="46">
                  <c:v>3.55911376326087</c:v>
                </c:pt>
                <c:pt idx="47">
                  <c:v>3.24646324262466</c:v>
                </c:pt>
                <c:pt idx="48">
                  <c:v>2.50975063579377</c:v>
                </c:pt>
                <c:pt idx="49">
                  <c:v>2.52178869082668</c:v>
                </c:pt>
                <c:pt idx="50">
                  <c:v>2.15000328122626</c:v>
                </c:pt>
                <c:pt idx="51">
                  <c:v>2.01697158098471</c:v>
                </c:pt>
                <c:pt idx="52">
                  <c:v>1.49557394041113</c:v>
                </c:pt>
                <c:pt idx="53">
                  <c:v>1.64503963991014</c:v>
                </c:pt>
                <c:pt idx="54">
                  <c:v>1.63407045556905</c:v>
                </c:pt>
                <c:pt idx="55">
                  <c:v>1.82731220822932</c:v>
                </c:pt>
                <c:pt idx="56">
                  <c:v>1.92422704647385</c:v>
                </c:pt>
                <c:pt idx="57">
                  <c:v>2.2544172946694</c:v>
                </c:pt>
                <c:pt idx="58">
                  <c:v>2.35792155442026</c:v>
                </c:pt>
                <c:pt idx="59">
                  <c:v>2.48088753125031</c:v>
                </c:pt>
                <c:pt idx="60">
                  <c:v>2.84655277964813</c:v>
                </c:pt>
                <c:pt idx="61">
                  <c:v>3.35729857091359</c:v>
                </c:pt>
                <c:pt idx="62">
                  <c:v>2.54431768023596</c:v>
                </c:pt>
                <c:pt idx="63">
                  <c:v>2.70121782937444</c:v>
                </c:pt>
                <c:pt idx="64">
                  <c:v>2.94894322040222</c:v>
                </c:pt>
                <c:pt idx="65">
                  <c:v>3.15687138222331</c:v>
                </c:pt>
                <c:pt idx="66">
                  <c:v>3.21441869705652</c:v>
                </c:pt>
                <c:pt idx="67">
                  <c:v>2.88042672122792</c:v>
                </c:pt>
                <c:pt idx="68">
                  <c:v>2.95010648253444</c:v>
                </c:pt>
                <c:pt idx="69">
                  <c:v>3.00758727387631</c:v>
                </c:pt>
                <c:pt idx="70">
                  <c:v>2.75745714853347</c:v>
                </c:pt>
                <c:pt idx="71">
                  <c:v>2.49307031982517</c:v>
                </c:pt>
                <c:pt idx="72">
                  <c:v>2.30411303959316</c:v>
                </c:pt>
                <c:pt idx="73">
                  <c:v>2.57899529750834</c:v>
                </c:pt>
                <c:pt idx="74">
                  <c:v>2.60986759128327</c:v>
                </c:pt>
                <c:pt idx="75">
                  <c:v>2.63898150736838</c:v>
                </c:pt>
                <c:pt idx="76">
                  <c:v>3.03849013249861</c:v>
                </c:pt>
                <c:pt idx="77">
                  <c:v>2.82004316835208</c:v>
                </c:pt>
                <c:pt idx="78">
                  <c:v>2.81220058810362</c:v>
                </c:pt>
                <c:pt idx="79">
                  <c:v>2.76567639557745</c:v>
                </c:pt>
                <c:pt idx="80">
                  <c:v>2.91225371700008</c:v>
                </c:pt>
                <c:pt idx="81">
                  <c:v>2.89762663960179</c:v>
                </c:pt>
                <c:pt idx="82">
                  <c:v>2.87014974078313</c:v>
                </c:pt>
                <c:pt idx="83">
                  <c:v>2.6982970885185</c:v>
                </c:pt>
                <c:pt idx="84">
                  <c:v>2.73653281361107</c:v>
                </c:pt>
                <c:pt idx="85">
                  <c:v>2.67179826481564</c:v>
                </c:pt>
                <c:pt idx="86">
                  <c:v>2.55915511570143</c:v>
                </c:pt>
                <c:pt idx="87">
                  <c:v>2.32054703885062</c:v>
                </c:pt>
                <c:pt idx="88">
                  <c:v>2.42298961963845</c:v>
                </c:pt>
                <c:pt idx="89">
                  <c:v>2.266760998176</c:v>
                </c:pt>
                <c:pt idx="90">
                  <c:v>2.10874253521026</c:v>
                </c:pt>
                <c:pt idx="91">
                  <c:v>2.21528619934214</c:v>
                </c:pt>
                <c:pt idx="92">
                  <c:v>2.36800525715375</c:v>
                </c:pt>
                <c:pt idx="93">
                  <c:v>2.20687097768856</c:v>
                </c:pt>
                <c:pt idx="94">
                  <c:v>2.36082611388642</c:v>
                </c:pt>
                <c:pt idx="95">
                  <c:v>2.36611652937956</c:v>
                </c:pt>
                <c:pt idx="96">
                  <c:v>2.21290573711175</c:v>
                </c:pt>
                <c:pt idx="97">
                  <c:v>2.09721778981993</c:v>
                </c:pt>
                <c:pt idx="98">
                  <c:v>1.98210158496713</c:v>
                </c:pt>
                <c:pt idx="99">
                  <c:v>2.06142455561858</c:v>
                </c:pt>
                <c:pt idx="100">
                  <c:v>2.02700673954885</c:v>
                </c:pt>
                <c:pt idx="101">
                  <c:v>1.9234827025438</c:v>
                </c:pt>
                <c:pt idx="102">
                  <c:v>2.26804831762989</c:v>
                </c:pt>
                <c:pt idx="103">
                  <c:v>2.41541583025363</c:v>
                </c:pt>
                <c:pt idx="104">
                  <c:v>2.40323034478047</c:v>
                </c:pt>
                <c:pt idx="105">
                  <c:v>2.24299503141437</c:v>
                </c:pt>
                <c:pt idx="106">
                  <c:v>2.20004512809817</c:v>
                </c:pt>
                <c:pt idx="107">
                  <c:v>2.34308861378529</c:v>
                </c:pt>
                <c:pt idx="108">
                  <c:v>1.97829985733408</c:v>
                </c:pt>
                <c:pt idx="109">
                  <c:v>1.97145153359122</c:v>
                </c:pt>
                <c:pt idx="110">
                  <c:v>2.08012664634404</c:v>
                </c:pt>
                <c:pt idx="111">
                  <c:v>2.08012664634404</c:v>
                </c:pt>
                <c:pt idx="112">
                  <c:v>2.16564259445212</c:v>
                </c:pt>
                <c:pt idx="113">
                  <c:v>2.13389201079838</c:v>
                </c:pt>
                <c:pt idx="114">
                  <c:v>2.19252797357759</c:v>
                </c:pt>
                <c:pt idx="115">
                  <c:v>2.09461438399697</c:v>
                </c:pt>
                <c:pt idx="116">
                  <c:v>1.97992788493953</c:v>
                </c:pt>
                <c:pt idx="117">
                  <c:v>1.95882105989901</c:v>
                </c:pt>
                <c:pt idx="118">
                  <c:v>1.92945543330615</c:v>
                </c:pt>
                <c:pt idx="119">
                  <c:v>1.94056126049431</c:v>
                </c:pt>
                <c:pt idx="120">
                  <c:v>1.9385880299068</c:v>
                </c:pt>
                <c:pt idx="121">
                  <c:v>1.94636768252832</c:v>
                </c:pt>
                <c:pt idx="122">
                  <c:v>2.11279597335105</c:v>
                </c:pt>
                <c:pt idx="123">
                  <c:v>2.10204074294154</c:v>
                </c:pt>
                <c:pt idx="124">
                  <c:v>2.10204074294154</c:v>
                </c:pt>
                <c:pt idx="125">
                  <c:v>2.20335512127502</c:v>
                </c:pt>
                <c:pt idx="126">
                  <c:v>2.25489914049851</c:v>
                </c:pt>
                <c:pt idx="127">
                  <c:v>2.52503305947829</c:v>
                </c:pt>
                <c:pt idx="128">
                  <c:v>3.17668099918284</c:v>
                </c:pt>
                <c:pt idx="129">
                  <c:v>3.08740018105177</c:v>
                </c:pt>
                <c:pt idx="130">
                  <c:v>3.211864734369</c:v>
                </c:pt>
                <c:pt idx="131">
                  <c:v>3.64189505649552</c:v>
                </c:pt>
                <c:pt idx="132">
                  <c:v>4.26998648853953</c:v>
                </c:pt>
                <c:pt idx="133">
                  <c:v>4.35174116248902</c:v>
                </c:pt>
                <c:pt idx="134">
                  <c:v>4.02107320370841</c:v>
                </c:pt>
                <c:pt idx="135">
                  <c:v>3.43108328111839</c:v>
                </c:pt>
                <c:pt idx="136">
                  <c:v>3.00460207715107</c:v>
                </c:pt>
                <c:pt idx="137">
                  <c:v>3.02640164546755</c:v>
                </c:pt>
                <c:pt idx="138">
                  <c:v>2.87934121966327</c:v>
                </c:pt>
                <c:pt idx="139">
                  <c:v>3.17701703271068</c:v>
                </c:pt>
                <c:pt idx="140">
                  <c:v>3.17701703271068</c:v>
                </c:pt>
                <c:pt idx="141">
                  <c:v>3.20608366317898</c:v>
                </c:pt>
                <c:pt idx="142">
                  <c:v>3.35404674084336</c:v>
                </c:pt>
                <c:pt idx="143">
                  <c:v>2.64843521465962</c:v>
                </c:pt>
                <c:pt idx="144">
                  <c:v>2.58674492466215</c:v>
                </c:pt>
                <c:pt idx="145">
                  <c:v>2.89295192598992</c:v>
                </c:pt>
                <c:pt idx="146">
                  <c:v>2.8378068283667</c:v>
                </c:pt>
                <c:pt idx="147">
                  <c:v>2.8493268092367</c:v>
                </c:pt>
                <c:pt idx="148">
                  <c:v>2.83526805820626</c:v>
                </c:pt>
                <c:pt idx="149">
                  <c:v>2.88022481344206</c:v>
                </c:pt>
                <c:pt idx="150">
                  <c:v>2.99157381096001</c:v>
                </c:pt>
                <c:pt idx="151">
                  <c:v>2.92459274588296</c:v>
                </c:pt>
                <c:pt idx="152">
                  <c:v>2.99920063934469</c:v>
                </c:pt>
                <c:pt idx="153">
                  <c:v>3.18054295754453</c:v>
                </c:pt>
                <c:pt idx="154">
                  <c:v>2.97565042444684</c:v>
                </c:pt>
                <c:pt idx="155">
                  <c:v>3.04566172445071</c:v>
                </c:pt>
                <c:pt idx="156">
                  <c:v>3.10395940628683</c:v>
                </c:pt>
                <c:pt idx="157">
                  <c:v>3.1068677414106</c:v>
                </c:pt>
                <c:pt idx="158">
                  <c:v>3.09222133624119</c:v>
                </c:pt>
                <c:pt idx="159">
                  <c:v>3.13998475353496</c:v>
                </c:pt>
                <c:pt idx="160">
                  <c:v>3.29632682451912</c:v>
                </c:pt>
                <c:pt idx="161">
                  <c:v>3.36022128949495</c:v>
                </c:pt>
                <c:pt idx="162">
                  <c:v>3.43593185477382</c:v>
                </c:pt>
                <c:pt idx="163">
                  <c:v>3.44888460781255</c:v>
                </c:pt>
                <c:pt idx="164">
                  <c:v>3.60190356071482</c:v>
                </c:pt>
                <c:pt idx="165">
                  <c:v>3.60134746028593</c:v>
                </c:pt>
                <c:pt idx="166">
                  <c:v>3.62360190544854</c:v>
                </c:pt>
                <c:pt idx="167">
                  <c:v>3.84388788454399</c:v>
                </c:pt>
                <c:pt idx="168">
                  <c:v>3.61711730338937</c:v>
                </c:pt>
                <c:pt idx="169">
                  <c:v>3.50461726967814</c:v>
                </c:pt>
                <c:pt idx="170">
                  <c:v>3.37730461196578</c:v>
                </c:pt>
                <c:pt idx="171">
                  <c:v>3.41820703009469</c:v>
                </c:pt>
                <c:pt idx="172">
                  <c:v>3.15625603992848</c:v>
                </c:pt>
                <c:pt idx="173">
                  <c:v>3.16225421143143</c:v>
                </c:pt>
                <c:pt idx="174">
                  <c:v>2.99760569369169</c:v>
                </c:pt>
                <c:pt idx="175">
                  <c:v>3.09142296444859</c:v>
                </c:pt>
                <c:pt idx="176">
                  <c:v>2.83518031911499</c:v>
                </c:pt>
                <c:pt idx="177">
                  <c:v>2.85214075292007</c:v>
                </c:pt>
                <c:pt idx="178">
                  <c:v>2.70647552250157</c:v>
                </c:pt>
                <c:pt idx="179">
                  <c:v>2.87815961862262</c:v>
                </c:pt>
                <c:pt idx="180">
                  <c:v>3.29863950470564</c:v>
                </c:pt>
                <c:pt idx="181">
                  <c:v>3.48110346290731</c:v>
                </c:pt>
                <c:pt idx="182">
                  <c:v>3.51784402758388</c:v>
                </c:pt>
                <c:pt idx="183">
                  <c:v>3.26305752753758</c:v>
                </c:pt>
                <c:pt idx="184">
                  <c:v>3.43907329180709</c:v>
                </c:pt>
                <c:pt idx="185">
                  <c:v>3.44785762894096</c:v>
                </c:pt>
                <c:pt idx="186">
                  <c:v>3.41569927426467</c:v>
                </c:pt>
                <c:pt idx="187">
                  <c:v>3.42913153582065</c:v>
                </c:pt>
                <c:pt idx="188">
                  <c:v>3.49405819367146</c:v>
                </c:pt>
                <c:pt idx="189">
                  <c:v>3.44184507398042</c:v>
                </c:pt>
                <c:pt idx="190">
                  <c:v>3.68268843003661</c:v>
                </c:pt>
                <c:pt idx="191">
                  <c:v>3.59937153280013</c:v>
                </c:pt>
                <c:pt idx="192">
                  <c:v>3.54197029995802</c:v>
                </c:pt>
                <c:pt idx="193">
                  <c:v>3.31372847088563</c:v>
                </c:pt>
                <c:pt idx="194">
                  <c:v>3.51727426287027</c:v>
                </c:pt>
                <c:pt idx="195">
                  <c:v>3.47632276119235</c:v>
                </c:pt>
                <c:pt idx="196">
                  <c:v>3.74326220413902</c:v>
                </c:pt>
                <c:pt idx="197">
                  <c:v>4.22068736745869</c:v>
                </c:pt>
                <c:pt idx="198">
                  <c:v>4.32961428061586</c:v>
                </c:pt>
                <c:pt idx="199">
                  <c:v>4.12391285782222</c:v>
                </c:pt>
                <c:pt idx="200">
                  <c:v>4.22094591010878</c:v>
                </c:pt>
                <c:pt idx="201">
                  <c:v>4.45909830104397</c:v>
                </c:pt>
                <c:pt idx="202">
                  <c:v>4.68477169407464</c:v>
                </c:pt>
                <c:pt idx="203">
                  <c:v>4.81123473892676</c:v>
                </c:pt>
                <c:pt idx="204">
                  <c:v>4.79756712804604</c:v>
                </c:pt>
                <c:pt idx="205">
                  <c:v>4.53830512527542</c:v>
                </c:pt>
                <c:pt idx="206">
                  <c:v>4.60584292005764</c:v>
                </c:pt>
                <c:pt idx="207">
                  <c:v>4.79290032533583</c:v>
                </c:pt>
                <c:pt idx="208">
                  <c:v>4.69623575925328</c:v>
                </c:pt>
                <c:pt idx="209">
                  <c:v>4.32507827747308</c:v>
                </c:pt>
                <c:pt idx="210">
                  <c:v>4.32008038554858</c:v>
                </c:pt>
                <c:pt idx="211">
                  <c:v>4.37471298259871</c:v>
                </c:pt>
                <c:pt idx="212">
                  <c:v>4.41281790812387</c:v>
                </c:pt>
                <c:pt idx="213">
                  <c:v>4.34382756391874</c:v>
                </c:pt>
                <c:pt idx="214">
                  <c:v>4.44122811354661</c:v>
                </c:pt>
                <c:pt idx="215">
                  <c:v>4.1026763119736</c:v>
                </c:pt>
                <c:pt idx="216">
                  <c:v>4.11874434213212</c:v>
                </c:pt>
                <c:pt idx="217">
                  <c:v>3.79597137332354</c:v>
                </c:pt>
                <c:pt idx="218">
                  <c:v>3.61046450477306</c:v>
                </c:pt>
                <c:pt idx="219">
                  <c:v>3.67813561622778</c:v>
                </c:pt>
                <c:pt idx="220">
                  <c:v>4.03187266325</c:v>
                </c:pt>
                <c:pt idx="221">
                  <c:v>3.74878023784845</c:v>
                </c:pt>
                <c:pt idx="222">
                  <c:v>3.66673906340318</c:v>
                </c:pt>
                <c:pt idx="223">
                  <c:v>3.42046289562374</c:v>
                </c:pt>
                <c:pt idx="224">
                  <c:v>3.15420540835985</c:v>
                </c:pt>
                <c:pt idx="225">
                  <c:v>3.46374919205422</c:v>
                </c:pt>
                <c:pt idx="226">
                  <c:v>3.48046753428881</c:v>
                </c:pt>
                <c:pt idx="227">
                  <c:v>3.7368742409355</c:v>
                </c:pt>
                <c:pt idx="228">
                  <c:v>3.65830541294457</c:v>
                </c:pt>
                <c:pt idx="229">
                  <c:v>3.64164487423015</c:v>
                </c:pt>
                <c:pt idx="230">
                  <c:v>3.62201154452264</c:v>
                </c:pt>
                <c:pt idx="231">
                  <c:v>3.41476174251993</c:v>
                </c:pt>
                <c:pt idx="232">
                  <c:v>3.45423372579197</c:v>
                </c:pt>
                <c:pt idx="233">
                  <c:v>3.60901636028404</c:v>
                </c:pt>
                <c:pt idx="234">
                  <c:v>3.38484810619307</c:v>
                </c:pt>
                <c:pt idx="235">
                  <c:v>3.31675088480738</c:v>
                </c:pt>
                <c:pt idx="236">
                  <c:v>3.21156142320717</c:v>
                </c:pt>
                <c:pt idx="237">
                  <c:v>3.14296779274157</c:v>
                </c:pt>
                <c:pt idx="238">
                  <c:v>3.08445148235015</c:v>
                </c:pt>
                <c:pt idx="239">
                  <c:v>2.8904922648462</c:v>
                </c:pt>
                <c:pt idx="240">
                  <c:v>3.16083905899825</c:v>
                </c:pt>
                <c:pt idx="241">
                  <c:v>3.18007846176113</c:v>
                </c:pt>
                <c:pt idx="242">
                  <c:v>3.2402282834512</c:v>
                </c:pt>
                <c:pt idx="243">
                  <c:v>3.21823094259292</c:v>
                </c:pt>
                <c:pt idx="244">
                  <c:v>3.11191228967564</c:v>
                </c:pt>
                <c:pt idx="245">
                  <c:v>3.09431718580461</c:v>
                </c:pt>
                <c:pt idx="246">
                  <c:v>2.98585503812066</c:v>
                </c:pt>
                <c:pt idx="247">
                  <c:v>3.32948716680945</c:v>
                </c:pt>
                <c:pt idx="248">
                  <c:v>3.49791269061452</c:v>
                </c:pt>
                <c:pt idx="249">
                  <c:v>3.52087552106323</c:v>
                </c:pt>
                <c:pt idx="250">
                  <c:v>3.53735150203751</c:v>
                </c:pt>
              </c:numCache>
            </c:numRef>
          </c:val>
          <c:smooth val="0"/>
        </c:ser>
        <c:ser>
          <c:idx val="4"/>
          <c:order val="3"/>
          <c:tx>
            <c:strRef>
              <c:f>'[1、景林金色中国存续-working paper 20241129.xlsx]景林金色中国业绩（第4批）'!$E$1</c:f>
              <c:strCache>
                <c:ptCount val="1"/>
                <c:pt idx="0">
                  <c:v>标普500</c:v>
                </c:pt>
              </c:strCache>
            </c:strRef>
          </c:tx>
          <c:spPr>
            <a:ln w="28575" cap="rnd">
              <a:solidFill>
                <a:schemeClr val="accent5"/>
              </a:solidFill>
              <a:round/>
            </a:ln>
            <a:effectLst/>
          </c:spPr>
          <c:marker>
            <c:symbol val="none"/>
          </c:marker>
          <c:dLbls>
            <c:delete val="1"/>
          </c:dLbls>
          <c:cat>
            <c:numRef>
              <c:f>'[1、景林金色中国存续-working paper 20241129.xlsx]景林金色中国业绩（第4批）'!$A$2:$A$252</c:f>
              <c:numCache>
                <c:formatCode>yyyy/m/d</c:formatCode>
                <c:ptCount val="251"/>
                <c:pt idx="0" c:formatCode="yyyy/m/d">
                  <c:v>38169</c:v>
                </c:pt>
                <c:pt idx="1" c:formatCode="yyyy/m/d">
                  <c:v>38199</c:v>
                </c:pt>
                <c:pt idx="2" c:formatCode="yyyy/m/d">
                  <c:v>38230</c:v>
                </c:pt>
                <c:pt idx="3" c:formatCode="yyyy/m/d">
                  <c:v>38260</c:v>
                </c:pt>
                <c:pt idx="4" c:formatCode="yyyy/m/d">
                  <c:v>38291</c:v>
                </c:pt>
                <c:pt idx="5" c:formatCode="yyyy/m/d">
                  <c:v>38321</c:v>
                </c:pt>
                <c:pt idx="6" c:formatCode="yyyy/m/d">
                  <c:v>38352</c:v>
                </c:pt>
                <c:pt idx="7" c:formatCode="yyyy/m/d">
                  <c:v>38383</c:v>
                </c:pt>
                <c:pt idx="8" c:formatCode="yyyy/m/d">
                  <c:v>38411</c:v>
                </c:pt>
                <c:pt idx="9" c:formatCode="yyyy/m/d">
                  <c:v>38442</c:v>
                </c:pt>
                <c:pt idx="10" c:formatCode="yyyy/m/d">
                  <c:v>38472</c:v>
                </c:pt>
                <c:pt idx="11" c:formatCode="yyyy/m/d">
                  <c:v>38503</c:v>
                </c:pt>
                <c:pt idx="12" c:formatCode="yyyy/m/d">
                  <c:v>38533</c:v>
                </c:pt>
                <c:pt idx="13" c:formatCode="yyyy/m/d">
                  <c:v>38564</c:v>
                </c:pt>
                <c:pt idx="14" c:formatCode="yyyy/m/d">
                  <c:v>38595</c:v>
                </c:pt>
                <c:pt idx="15" c:formatCode="yyyy/m/d">
                  <c:v>38625</c:v>
                </c:pt>
                <c:pt idx="16" c:formatCode="yyyy/m/d">
                  <c:v>38656</c:v>
                </c:pt>
                <c:pt idx="17" c:formatCode="yyyy/m/d">
                  <c:v>38686</c:v>
                </c:pt>
                <c:pt idx="18" c:formatCode="yyyy/m/d">
                  <c:v>38717</c:v>
                </c:pt>
                <c:pt idx="19" c:formatCode="yyyy/m/d">
                  <c:v>38748</c:v>
                </c:pt>
                <c:pt idx="20" c:formatCode="yyyy/m/d">
                  <c:v>38776</c:v>
                </c:pt>
                <c:pt idx="21" c:formatCode="yyyy/m/d">
                  <c:v>38807</c:v>
                </c:pt>
                <c:pt idx="22" c:formatCode="yyyy/m/d">
                  <c:v>38837</c:v>
                </c:pt>
                <c:pt idx="23" c:formatCode="yyyy/m/d">
                  <c:v>38868</c:v>
                </c:pt>
                <c:pt idx="24" c:formatCode="yyyy/m/d">
                  <c:v>38898</c:v>
                </c:pt>
                <c:pt idx="25" c:formatCode="yyyy/m/d">
                  <c:v>38929</c:v>
                </c:pt>
                <c:pt idx="26" c:formatCode="yyyy/m/d">
                  <c:v>38960</c:v>
                </c:pt>
                <c:pt idx="27" c:formatCode="yyyy/m/d">
                  <c:v>38990</c:v>
                </c:pt>
                <c:pt idx="28" c:formatCode="yyyy/m/d">
                  <c:v>39021</c:v>
                </c:pt>
                <c:pt idx="29" c:formatCode="yyyy/m/d">
                  <c:v>39051</c:v>
                </c:pt>
                <c:pt idx="30" c:formatCode="yyyy/m/d">
                  <c:v>39082</c:v>
                </c:pt>
                <c:pt idx="31" c:formatCode="yyyy/m/d">
                  <c:v>39113</c:v>
                </c:pt>
                <c:pt idx="32" c:formatCode="yyyy/m/d">
                  <c:v>39141</c:v>
                </c:pt>
                <c:pt idx="33" c:formatCode="yyyy/m/d">
                  <c:v>39172</c:v>
                </c:pt>
                <c:pt idx="34" c:formatCode="yyyy/m/d">
                  <c:v>39202</c:v>
                </c:pt>
                <c:pt idx="35" c:formatCode="yyyy/m/d">
                  <c:v>39233</c:v>
                </c:pt>
                <c:pt idx="36" c:formatCode="yyyy/m/d">
                  <c:v>39263</c:v>
                </c:pt>
                <c:pt idx="37" c:formatCode="yyyy/m/d">
                  <c:v>39294</c:v>
                </c:pt>
                <c:pt idx="38" c:formatCode="yyyy/m/d">
                  <c:v>39325</c:v>
                </c:pt>
                <c:pt idx="39" c:formatCode="yyyy/m/d">
                  <c:v>39355</c:v>
                </c:pt>
                <c:pt idx="40" c:formatCode="yyyy/m/d">
                  <c:v>39386</c:v>
                </c:pt>
                <c:pt idx="41" c:formatCode="yyyy/m/d">
                  <c:v>39416</c:v>
                </c:pt>
                <c:pt idx="42" c:formatCode="yyyy/m/d">
                  <c:v>39447</c:v>
                </c:pt>
                <c:pt idx="43" c:formatCode="yyyy/m/d">
                  <c:v>39478</c:v>
                </c:pt>
                <c:pt idx="44" c:formatCode="yyyy/m/d">
                  <c:v>39507</c:v>
                </c:pt>
                <c:pt idx="45" c:formatCode="yyyy/m/d">
                  <c:v>39538</c:v>
                </c:pt>
                <c:pt idx="46" c:formatCode="yyyy/m/d">
                  <c:v>39568</c:v>
                </c:pt>
                <c:pt idx="47" c:formatCode="yyyy/m/d">
                  <c:v>39599</c:v>
                </c:pt>
                <c:pt idx="48" c:formatCode="yyyy/m/d">
                  <c:v>39629</c:v>
                </c:pt>
                <c:pt idx="49" c:formatCode="yyyy/m/d">
                  <c:v>39660</c:v>
                </c:pt>
                <c:pt idx="50" c:formatCode="yyyy/m/d">
                  <c:v>39691</c:v>
                </c:pt>
                <c:pt idx="51" c:formatCode="yyyy/m/d">
                  <c:v>39721</c:v>
                </c:pt>
                <c:pt idx="52" c:formatCode="yyyy/m/d">
                  <c:v>39752</c:v>
                </c:pt>
                <c:pt idx="53" c:formatCode="yyyy/m/d">
                  <c:v>39782</c:v>
                </c:pt>
                <c:pt idx="54" c:formatCode="yyyy/m/d">
                  <c:v>39813</c:v>
                </c:pt>
                <c:pt idx="55" c:formatCode="yyyy/m/d">
                  <c:v>39844</c:v>
                </c:pt>
                <c:pt idx="56" c:formatCode="yyyy/m/d">
                  <c:v>39872</c:v>
                </c:pt>
                <c:pt idx="57" c:formatCode="yyyy/m/d">
                  <c:v>39903</c:v>
                </c:pt>
                <c:pt idx="58" c:formatCode="yyyy/m/d">
                  <c:v>39933</c:v>
                </c:pt>
                <c:pt idx="59" c:formatCode="yyyy/m/d">
                  <c:v>39964</c:v>
                </c:pt>
                <c:pt idx="60" c:formatCode="yyyy/m/d">
                  <c:v>39994</c:v>
                </c:pt>
                <c:pt idx="61" c:formatCode="yyyy/m/d">
                  <c:v>40025</c:v>
                </c:pt>
                <c:pt idx="62" c:formatCode="yyyy/m/d">
                  <c:v>40056</c:v>
                </c:pt>
                <c:pt idx="63" c:formatCode="yyyy/m/d">
                  <c:v>40086</c:v>
                </c:pt>
                <c:pt idx="64" c:formatCode="yyyy/m/d">
                  <c:v>40117</c:v>
                </c:pt>
                <c:pt idx="65" c:formatCode="yyyy/m/d">
                  <c:v>40147</c:v>
                </c:pt>
                <c:pt idx="66" c:formatCode="yyyy/m/d">
                  <c:v>40178</c:v>
                </c:pt>
                <c:pt idx="67" c:formatCode="yyyy/m/d">
                  <c:v>40209</c:v>
                </c:pt>
                <c:pt idx="68" c:formatCode="yyyy/m/d">
                  <c:v>40237</c:v>
                </c:pt>
                <c:pt idx="69" c:formatCode="yyyy/m/d">
                  <c:v>40268</c:v>
                </c:pt>
                <c:pt idx="70" c:formatCode="yyyy/m/d">
                  <c:v>40298</c:v>
                </c:pt>
                <c:pt idx="71" c:formatCode="yyyy/m/d">
                  <c:v>40329</c:v>
                </c:pt>
                <c:pt idx="72" c:formatCode="yyyy/m/d">
                  <c:v>40359</c:v>
                </c:pt>
                <c:pt idx="73" c:formatCode="yyyy/m/d">
                  <c:v>40390</c:v>
                </c:pt>
                <c:pt idx="74" c:formatCode="yyyy/m/d">
                  <c:v>40421</c:v>
                </c:pt>
                <c:pt idx="75" c:formatCode="yyyy/m/d">
                  <c:v>40451</c:v>
                </c:pt>
                <c:pt idx="76" c:formatCode="yyyy/m/d">
                  <c:v>40482</c:v>
                </c:pt>
                <c:pt idx="77" c:formatCode="yyyy/m/d">
                  <c:v>40512</c:v>
                </c:pt>
                <c:pt idx="78" c:formatCode="yyyy/m/d">
                  <c:v>40543</c:v>
                </c:pt>
                <c:pt idx="79" c:formatCode="yyyy/m/d">
                  <c:v>40574</c:v>
                </c:pt>
                <c:pt idx="80" c:formatCode="yyyy/m/d">
                  <c:v>40602</c:v>
                </c:pt>
                <c:pt idx="81" c:formatCode="yyyy/m/d">
                  <c:v>40633</c:v>
                </c:pt>
                <c:pt idx="82" c:formatCode="yyyy/m/d">
                  <c:v>40663</c:v>
                </c:pt>
                <c:pt idx="83" c:formatCode="yyyy/m/d">
                  <c:v>40694</c:v>
                </c:pt>
                <c:pt idx="84" c:formatCode="yyyy/m/d">
                  <c:v>40724</c:v>
                </c:pt>
                <c:pt idx="85" c:formatCode="yyyy/m/d">
                  <c:v>40755</c:v>
                </c:pt>
                <c:pt idx="86" c:formatCode="yyyy/m/d">
                  <c:v>40786</c:v>
                </c:pt>
                <c:pt idx="87" c:formatCode="yyyy/m/d">
                  <c:v>40816</c:v>
                </c:pt>
                <c:pt idx="88" c:formatCode="yyyy/m/d">
                  <c:v>40847</c:v>
                </c:pt>
                <c:pt idx="89" c:formatCode="yyyy/m/d">
                  <c:v>40877</c:v>
                </c:pt>
                <c:pt idx="90" c:formatCode="yyyy/m/d">
                  <c:v>40908</c:v>
                </c:pt>
                <c:pt idx="91" c:formatCode="yyyy/m/d">
                  <c:v>40939</c:v>
                </c:pt>
                <c:pt idx="92" c:formatCode="yyyy/m/d">
                  <c:v>40968</c:v>
                </c:pt>
                <c:pt idx="93" c:formatCode="yyyy/m/d">
                  <c:v>40999</c:v>
                </c:pt>
                <c:pt idx="94" c:formatCode="yyyy/m/d">
                  <c:v>41029</c:v>
                </c:pt>
                <c:pt idx="95" c:formatCode="yyyy/m/d">
                  <c:v>41060</c:v>
                </c:pt>
                <c:pt idx="96" c:formatCode="yyyy/m/d">
                  <c:v>41090</c:v>
                </c:pt>
                <c:pt idx="97" c:formatCode="yyyy/m/d">
                  <c:v>41121</c:v>
                </c:pt>
                <c:pt idx="98" c:formatCode="yyyy/m/d">
                  <c:v>41152</c:v>
                </c:pt>
                <c:pt idx="99" c:formatCode="yyyy/m/d">
                  <c:v>41182</c:v>
                </c:pt>
                <c:pt idx="100" c:formatCode="yyyy/m/d">
                  <c:v>41213</c:v>
                </c:pt>
                <c:pt idx="101" c:formatCode="yyyy/m/d">
                  <c:v>41243</c:v>
                </c:pt>
                <c:pt idx="102" c:formatCode="yyyy/m/d">
                  <c:v>41274</c:v>
                </c:pt>
                <c:pt idx="103" c:formatCode="yyyy/m/d">
                  <c:v>41305</c:v>
                </c:pt>
                <c:pt idx="104" c:formatCode="yyyy/m/d">
                  <c:v>41333</c:v>
                </c:pt>
                <c:pt idx="105" c:formatCode="yyyy/m/d">
                  <c:v>41364</c:v>
                </c:pt>
                <c:pt idx="106" c:formatCode="yyyy/m/d">
                  <c:v>41394</c:v>
                </c:pt>
                <c:pt idx="107" c:formatCode="yyyy/m/d">
                  <c:v>41425</c:v>
                </c:pt>
                <c:pt idx="108" c:formatCode="yyyy/m/d">
                  <c:v>41455</c:v>
                </c:pt>
                <c:pt idx="109" c:formatCode="yyyy/m/d">
                  <c:v>41486</c:v>
                </c:pt>
                <c:pt idx="110" c:formatCode="yyyy/m/d">
                  <c:v>41516</c:v>
                </c:pt>
                <c:pt idx="111" c:formatCode="yyyy/m/d">
                  <c:v>41517</c:v>
                </c:pt>
                <c:pt idx="112" c:formatCode="yyyy/m/d">
                  <c:v>41547</c:v>
                </c:pt>
                <c:pt idx="113" c:formatCode="yyyy/m/d">
                  <c:v>41578</c:v>
                </c:pt>
                <c:pt idx="114" c:formatCode="yyyy/m/d">
                  <c:v>41608</c:v>
                </c:pt>
                <c:pt idx="115" c:formatCode="yyyy/m/d">
                  <c:v>41639</c:v>
                </c:pt>
                <c:pt idx="116" c:formatCode="yyyy/m/d">
                  <c:v>41670</c:v>
                </c:pt>
                <c:pt idx="117" c:formatCode="yyyy/m/d">
                  <c:v>41698</c:v>
                </c:pt>
                <c:pt idx="118" c:formatCode="yyyy/m/d">
                  <c:v>41729</c:v>
                </c:pt>
                <c:pt idx="119" c:formatCode="yyyy/m/d">
                  <c:v>41759</c:v>
                </c:pt>
                <c:pt idx="120" c:formatCode="yyyy/m/d">
                  <c:v>41790</c:v>
                </c:pt>
                <c:pt idx="121" c:formatCode="yyyy/m/d">
                  <c:v>41820</c:v>
                </c:pt>
                <c:pt idx="122" c:formatCode="yyyy/m/d">
                  <c:v>41851</c:v>
                </c:pt>
                <c:pt idx="123" c:formatCode="yyyy/m/d">
                  <c:v>41881</c:v>
                </c:pt>
                <c:pt idx="124" c:formatCode="yyyy/m/d">
                  <c:v>41882</c:v>
                </c:pt>
                <c:pt idx="125" c:formatCode="yyyy/m/d">
                  <c:v>41912</c:v>
                </c:pt>
                <c:pt idx="126" c:formatCode="yyyy/m/d">
                  <c:v>41943</c:v>
                </c:pt>
                <c:pt idx="127" c:formatCode="yyyy/m/d">
                  <c:v>41973</c:v>
                </c:pt>
                <c:pt idx="128" c:formatCode="yyyy/m/d">
                  <c:v>42004</c:v>
                </c:pt>
                <c:pt idx="129" c:formatCode="yyyy/m/d">
                  <c:v>42035</c:v>
                </c:pt>
                <c:pt idx="130" c:formatCode="yyyy/m/d">
                  <c:v>42063</c:v>
                </c:pt>
                <c:pt idx="131" c:formatCode="yyyy/m/d">
                  <c:v>42094</c:v>
                </c:pt>
                <c:pt idx="132" c:formatCode="yyyy/m/d">
                  <c:v>42124</c:v>
                </c:pt>
                <c:pt idx="133" c:formatCode="yyyy/m/d">
                  <c:v>42155</c:v>
                </c:pt>
                <c:pt idx="134" c:formatCode="yyyy/m/d">
                  <c:v>42185</c:v>
                </c:pt>
                <c:pt idx="135" c:formatCode="yyyy/m/d">
                  <c:v>42216</c:v>
                </c:pt>
                <c:pt idx="136" c:formatCode="yyyy/m/d">
                  <c:v>42246</c:v>
                </c:pt>
                <c:pt idx="137" c:formatCode="yyyy/m/d">
                  <c:v>42247</c:v>
                </c:pt>
                <c:pt idx="138" c:formatCode="yyyy/m/d">
                  <c:v>42277</c:v>
                </c:pt>
                <c:pt idx="139" c:formatCode="yyyy/m/d">
                  <c:v>42307</c:v>
                </c:pt>
                <c:pt idx="140" c:formatCode="yyyy/m/d">
                  <c:v>42308</c:v>
                </c:pt>
                <c:pt idx="141" c:formatCode="yyyy/m/d">
                  <c:v>42338</c:v>
                </c:pt>
                <c:pt idx="142" c:formatCode="yyyy/m/d">
                  <c:v>42369</c:v>
                </c:pt>
                <c:pt idx="143" c:formatCode="yyyy/m/d">
                  <c:v>42400</c:v>
                </c:pt>
                <c:pt idx="144" c:formatCode="yyyy/m/d">
                  <c:v>42429</c:v>
                </c:pt>
                <c:pt idx="145" c:formatCode="yyyy/m/d">
                  <c:v>42460</c:v>
                </c:pt>
                <c:pt idx="146" c:formatCode="yyyy/m/d">
                  <c:v>42490</c:v>
                </c:pt>
                <c:pt idx="147" c:formatCode="yyyy/m/d">
                  <c:v>42521</c:v>
                </c:pt>
                <c:pt idx="148" c:formatCode="yyyy/m/d">
                  <c:v>42551</c:v>
                </c:pt>
                <c:pt idx="149" c:formatCode="yyyy/m/d">
                  <c:v>42582</c:v>
                </c:pt>
                <c:pt idx="150" c:formatCode="yyyy/m/d">
                  <c:v>42613</c:v>
                </c:pt>
                <c:pt idx="151" c:formatCode="yyyy/m/d">
                  <c:v>42643</c:v>
                </c:pt>
                <c:pt idx="152" c:formatCode="yyyy/m/d">
                  <c:v>42674</c:v>
                </c:pt>
                <c:pt idx="153" c:formatCode="yyyy/m/d">
                  <c:v>42704</c:v>
                </c:pt>
                <c:pt idx="154" c:formatCode="yyyy/m/d">
                  <c:v>42735</c:v>
                </c:pt>
                <c:pt idx="155" c:formatCode="yyyy/m/d">
                  <c:v>42766</c:v>
                </c:pt>
                <c:pt idx="156" c:formatCode="yyyy/m/d">
                  <c:v>42794</c:v>
                </c:pt>
                <c:pt idx="157" c:formatCode="yyyy/m/d">
                  <c:v>42825</c:v>
                </c:pt>
                <c:pt idx="158" c:formatCode="yyyy/m/d">
                  <c:v>42855</c:v>
                </c:pt>
                <c:pt idx="159" c:formatCode="yyyy/m/d">
                  <c:v>42886</c:v>
                </c:pt>
                <c:pt idx="160" c:formatCode="yyyy/m/d">
                  <c:v>42916</c:v>
                </c:pt>
                <c:pt idx="161" c:formatCode="yyyy/m/d">
                  <c:v>42947</c:v>
                </c:pt>
                <c:pt idx="162" c:formatCode="yyyy/m/d">
                  <c:v>42978</c:v>
                </c:pt>
                <c:pt idx="163" c:formatCode="yyyy/m/d">
                  <c:v>43008</c:v>
                </c:pt>
                <c:pt idx="164" c:formatCode="yyyy/m/d">
                  <c:v>43039</c:v>
                </c:pt>
                <c:pt idx="165" c:formatCode="yyyy/m/d">
                  <c:v>43069</c:v>
                </c:pt>
                <c:pt idx="166" c:formatCode="yyyy/m/d">
                  <c:v>43100</c:v>
                </c:pt>
                <c:pt idx="167" c:formatCode="yyyy/m/d">
                  <c:v>43131</c:v>
                </c:pt>
                <c:pt idx="168" c:formatCode="yyyy/m/d">
                  <c:v>43159</c:v>
                </c:pt>
                <c:pt idx="169" c:formatCode="yyyy/m/d">
                  <c:v>43190</c:v>
                </c:pt>
                <c:pt idx="170" c:formatCode="yyyy/m/d">
                  <c:v>43220</c:v>
                </c:pt>
                <c:pt idx="171" c:formatCode="yyyy/m/d">
                  <c:v>43251</c:v>
                </c:pt>
                <c:pt idx="172" c:formatCode="yyyy/m/d">
                  <c:v>43281</c:v>
                </c:pt>
                <c:pt idx="173" c:formatCode="yyyy/m/d">
                  <c:v>43312</c:v>
                </c:pt>
                <c:pt idx="174" c:formatCode="yyyy/m/d">
                  <c:v>43343</c:v>
                </c:pt>
                <c:pt idx="175" c:formatCode="yyyy/m/d">
                  <c:v>43373</c:v>
                </c:pt>
                <c:pt idx="176" c:formatCode="yyyy/m/d">
                  <c:v>43404</c:v>
                </c:pt>
                <c:pt idx="177" c:formatCode="yyyy/m/d">
                  <c:v>43434</c:v>
                </c:pt>
                <c:pt idx="178" c:formatCode="yyyy/m/d">
                  <c:v>43465</c:v>
                </c:pt>
                <c:pt idx="179" c:formatCode="yyyy/m/d">
                  <c:v>43496</c:v>
                </c:pt>
                <c:pt idx="180" c:formatCode="yyyy/m/d">
                  <c:v>43524</c:v>
                </c:pt>
                <c:pt idx="181" c:formatCode="yyyy/m/d">
                  <c:v>43555</c:v>
                </c:pt>
                <c:pt idx="182" c:formatCode="yyyy/m/d">
                  <c:v>43585</c:v>
                </c:pt>
                <c:pt idx="183" c:formatCode="yyyy/m/d">
                  <c:v>43616</c:v>
                </c:pt>
                <c:pt idx="184" c:formatCode="yyyy/m/d">
                  <c:v>43646</c:v>
                </c:pt>
                <c:pt idx="185" c:formatCode="yyyy/m/d">
                  <c:v>43677</c:v>
                </c:pt>
                <c:pt idx="186" c:formatCode="yyyy/m/d">
                  <c:v>43708</c:v>
                </c:pt>
                <c:pt idx="187" c:formatCode="yyyy/m/d">
                  <c:v>43738</c:v>
                </c:pt>
                <c:pt idx="188" c:formatCode="yyyy/m/d">
                  <c:v>43769</c:v>
                </c:pt>
                <c:pt idx="189" c:formatCode="yyyy/m/d">
                  <c:v>43799</c:v>
                </c:pt>
                <c:pt idx="190" c:formatCode="yyyy/m/d">
                  <c:v>43830</c:v>
                </c:pt>
                <c:pt idx="191" c:formatCode="yyyy/m/d">
                  <c:v>43861</c:v>
                </c:pt>
                <c:pt idx="192" c:formatCode="yyyy/m/d">
                  <c:v>43890</c:v>
                </c:pt>
                <c:pt idx="193" c:formatCode="yyyy/m/d">
                  <c:v>43921</c:v>
                </c:pt>
                <c:pt idx="194" c:formatCode="yyyy/m/d">
                  <c:v>43951</c:v>
                </c:pt>
                <c:pt idx="195" c:formatCode="yyyy/m/d">
                  <c:v>43982</c:v>
                </c:pt>
                <c:pt idx="196" c:formatCode="yyyy/m/d">
                  <c:v>44012</c:v>
                </c:pt>
                <c:pt idx="197" c:formatCode="yyyy/m/d">
                  <c:v>44043</c:v>
                </c:pt>
                <c:pt idx="198" c:formatCode="yyyy/m/d">
                  <c:v>44074</c:v>
                </c:pt>
                <c:pt idx="199" c:formatCode="yyyy/m/d">
                  <c:v>44104</c:v>
                </c:pt>
                <c:pt idx="200" c:formatCode="yyyy/m/d">
                  <c:v>44135</c:v>
                </c:pt>
                <c:pt idx="201" c:formatCode="yyyy/m/d">
                  <c:v>44165</c:v>
                </c:pt>
                <c:pt idx="202" c:formatCode="yyyy/m/d">
                  <c:v>44196</c:v>
                </c:pt>
                <c:pt idx="203" c:formatCode="yyyy/m/d">
                  <c:v>44227</c:v>
                </c:pt>
                <c:pt idx="204" c:formatCode="yyyy/m/d">
                  <c:v>44255</c:v>
                </c:pt>
                <c:pt idx="205" c:formatCode="yyyy/m/d">
                  <c:v>44286</c:v>
                </c:pt>
                <c:pt idx="206" c:formatCode="yyyy/m/d">
                  <c:v>44316</c:v>
                </c:pt>
                <c:pt idx="207" c:formatCode="yyyy/m/d">
                  <c:v>44347</c:v>
                </c:pt>
                <c:pt idx="208" c:formatCode="yyyy/m/d">
                  <c:v>44377</c:v>
                </c:pt>
                <c:pt idx="209" c:formatCode="yyyy/m/d">
                  <c:v>44408</c:v>
                </c:pt>
                <c:pt idx="210" c:formatCode="yyyy/m/d">
                  <c:v>44439</c:v>
                </c:pt>
                <c:pt idx="211" c:formatCode="yyyy/m/d">
                  <c:v>44469</c:v>
                </c:pt>
                <c:pt idx="212" c:formatCode="yyyy/m/d">
                  <c:v>44500</c:v>
                </c:pt>
                <c:pt idx="213" c:formatCode="yyyy/m/d">
                  <c:v>44530</c:v>
                </c:pt>
                <c:pt idx="214" c:formatCode="yyyy/m/d">
                  <c:v>44561</c:v>
                </c:pt>
                <c:pt idx="215" c:formatCode="yyyy/m/d">
                  <c:v>44592</c:v>
                </c:pt>
                <c:pt idx="216" c:formatCode="yyyy/m/d">
                  <c:v>44620</c:v>
                </c:pt>
                <c:pt idx="217" c:formatCode="yyyy/m/d">
                  <c:v>44651</c:v>
                </c:pt>
                <c:pt idx="218" c:formatCode="yyyy/m/d">
                  <c:v>44681</c:v>
                </c:pt>
                <c:pt idx="219" c:formatCode="yyyy/m/d">
                  <c:v>44712</c:v>
                </c:pt>
                <c:pt idx="220" c:formatCode="yyyy/m/d">
                  <c:v>44742</c:v>
                </c:pt>
                <c:pt idx="221" c:formatCode="yyyy/m/d">
                  <c:v>44773</c:v>
                </c:pt>
                <c:pt idx="222" c:formatCode="yyyy/m/d">
                  <c:v>44804</c:v>
                </c:pt>
                <c:pt idx="223" c:formatCode="yyyy/m/d">
                  <c:v>44834</c:v>
                </c:pt>
                <c:pt idx="224" c:formatCode="yyyy/m/d">
                  <c:v>44865</c:v>
                </c:pt>
                <c:pt idx="225" c:formatCode="yyyy/m/d">
                  <c:v>44895</c:v>
                </c:pt>
                <c:pt idx="226" c:formatCode="yyyy/m/d">
                  <c:v>44926</c:v>
                </c:pt>
                <c:pt idx="227" c:formatCode="yyyy/m/d">
                  <c:v>44957</c:v>
                </c:pt>
                <c:pt idx="228" c:formatCode="yyyy/m/d">
                  <c:v>44985</c:v>
                </c:pt>
                <c:pt idx="229" c:formatCode="yyyy/m/d">
                  <c:v>45016</c:v>
                </c:pt>
                <c:pt idx="230" c:formatCode="yyyy/m/d">
                  <c:v>45046</c:v>
                </c:pt>
                <c:pt idx="231" c:formatCode="yyyy/m/d">
                  <c:v>45077</c:v>
                </c:pt>
                <c:pt idx="232" c:formatCode="yyyy/m/d">
                  <c:v>45107</c:v>
                </c:pt>
                <c:pt idx="233" c:formatCode="yyyy/m/d">
                  <c:v>45138</c:v>
                </c:pt>
                <c:pt idx="234" c:formatCode="yyyy/m/d">
                  <c:v>45169</c:v>
                </c:pt>
                <c:pt idx="235" c:formatCode="yyyy/m/d">
                  <c:v>45199</c:v>
                </c:pt>
                <c:pt idx="236" c:formatCode="yyyy/m/d">
                  <c:v>45230</c:v>
                </c:pt>
                <c:pt idx="237" c:formatCode="yyyy/m/d">
                  <c:v>45260</c:v>
                </c:pt>
                <c:pt idx="238" c:formatCode="yyyy/m/d">
                  <c:v>45291</c:v>
                </c:pt>
                <c:pt idx="239" c:formatCode="yyyy/m/d">
                  <c:v>45322</c:v>
                </c:pt>
                <c:pt idx="240" c:formatCode="yyyy/m/d">
                  <c:v>45351</c:v>
                </c:pt>
                <c:pt idx="241" c:formatCode="yyyy/m/d">
                  <c:v>45382</c:v>
                </c:pt>
                <c:pt idx="242" c:formatCode="yyyy/m/d">
                  <c:v>45412</c:v>
                </c:pt>
                <c:pt idx="243" c:formatCode="yyyy/m/d">
                  <c:v>45443</c:v>
                </c:pt>
                <c:pt idx="244" c:formatCode="yyyy/m/d">
                  <c:v>45473</c:v>
                </c:pt>
                <c:pt idx="245" c:formatCode="yyyy/m/d">
                  <c:v>45504</c:v>
                </c:pt>
                <c:pt idx="246" c:formatCode="yyyy/m/d">
                  <c:v>45534</c:v>
                </c:pt>
                <c:pt idx="247" c:formatCode="yyyy/m/d">
                  <c:v>45564</c:v>
                </c:pt>
                <c:pt idx="248" c:formatCode="yyyy/m/d">
                  <c:v>45596</c:v>
                </c:pt>
                <c:pt idx="249" c:formatCode="yyyy/m/d">
                  <c:v>45625</c:v>
                </c:pt>
                <c:pt idx="250" c:formatCode="yyyy/m/d">
                  <c:v>45657</c:v>
                </c:pt>
              </c:numCache>
            </c:numRef>
          </c:cat>
          <c:val>
            <c:numRef>
              <c:f>'[1、景林金色中国存续-working paper 20241129.xlsx]景林金色中国业绩（第4批）'!$E$2:$E$252</c:f>
              <c:numCache>
                <c:formatCode>0.0000</c:formatCode>
                <c:ptCount val="251"/>
                <c:pt idx="0">
                  <c:v>1</c:v>
                </c:pt>
                <c:pt idx="1">
                  <c:v>0.975888886920474</c:v>
                </c:pt>
                <c:pt idx="2">
                  <c:v>0.978121069321665</c:v>
                </c:pt>
                <c:pt idx="3">
                  <c:v>0.987280103459883</c:v>
                </c:pt>
                <c:pt idx="4">
                  <c:v>1.0011160912006</c:v>
                </c:pt>
                <c:pt idx="5">
                  <c:v>1.0397541056212</c:v>
                </c:pt>
                <c:pt idx="6">
                  <c:v>1.0735025776392</c:v>
                </c:pt>
                <c:pt idx="7">
                  <c:v>1.04635321629139</c:v>
                </c:pt>
                <c:pt idx="8">
                  <c:v>1.0661328325686</c:v>
                </c:pt>
                <c:pt idx="9">
                  <c:v>1.04575088135773</c:v>
                </c:pt>
                <c:pt idx="10">
                  <c:v>1.02472230587985</c:v>
                </c:pt>
                <c:pt idx="11">
                  <c:v>1.05541481389622</c:v>
                </c:pt>
                <c:pt idx="12">
                  <c:v>1.05526423016281</c:v>
                </c:pt>
                <c:pt idx="13">
                  <c:v>1.09322018884972</c:v>
                </c:pt>
                <c:pt idx="14">
                  <c:v>1.08095204350984</c:v>
                </c:pt>
                <c:pt idx="15">
                  <c:v>1.08846351444718</c:v>
                </c:pt>
                <c:pt idx="16">
                  <c:v>1.06915336510355</c:v>
                </c:pt>
                <c:pt idx="17">
                  <c:v>1.10677272485695</c:v>
                </c:pt>
                <c:pt idx="18">
                  <c:v>1.10571863872305</c:v>
                </c:pt>
                <c:pt idx="19">
                  <c:v>1.1338777968714</c:v>
                </c:pt>
                <c:pt idx="20">
                  <c:v>1.13439155313834</c:v>
                </c:pt>
                <c:pt idx="21">
                  <c:v>1.1469431502117</c:v>
                </c:pt>
                <c:pt idx="22">
                  <c:v>1.16092086381916</c:v>
                </c:pt>
                <c:pt idx="23">
                  <c:v>1.12502878806668</c:v>
                </c:pt>
                <c:pt idx="24">
                  <c:v>1.12512622460007</c:v>
                </c:pt>
                <c:pt idx="25">
                  <c:v>1.13084840646979</c:v>
                </c:pt>
                <c:pt idx="26">
                  <c:v>1.15490637234928</c:v>
                </c:pt>
                <c:pt idx="27">
                  <c:v>1.18327811929775</c:v>
                </c:pt>
                <c:pt idx="28">
                  <c:v>1.22056088011763</c:v>
                </c:pt>
                <c:pt idx="29">
                  <c:v>1.24065937959502</c:v>
                </c:pt>
                <c:pt idx="30">
                  <c:v>1.25631123000337</c:v>
                </c:pt>
                <c:pt idx="31">
                  <c:v>1.27397381614612</c:v>
                </c:pt>
                <c:pt idx="32">
                  <c:v>1.24614239906461</c:v>
                </c:pt>
                <c:pt idx="33">
                  <c:v>1.25857884387124</c:v>
                </c:pt>
                <c:pt idx="34">
                  <c:v>1.31306358176697</c:v>
                </c:pt>
                <c:pt idx="35">
                  <c:v>1.35580278845643</c:v>
                </c:pt>
                <c:pt idx="36">
                  <c:v>1.33164738604355</c:v>
                </c:pt>
                <c:pt idx="37">
                  <c:v>1.2890587630875</c:v>
                </c:pt>
                <c:pt idx="38">
                  <c:v>1.30564068949634</c:v>
                </c:pt>
                <c:pt idx="39">
                  <c:v>1.3523747940546</c:v>
                </c:pt>
                <c:pt idx="40">
                  <c:v>1.37242014633196</c:v>
                </c:pt>
                <c:pt idx="41">
                  <c:v>1.31197406416639</c:v>
                </c:pt>
                <c:pt idx="42">
                  <c:v>1.30065371056035</c:v>
                </c:pt>
                <c:pt idx="43">
                  <c:v>1.22110120998459</c:v>
                </c:pt>
                <c:pt idx="44">
                  <c:v>1.17865431289528</c:v>
                </c:pt>
                <c:pt idx="45">
                  <c:v>1.17163002462487</c:v>
                </c:pt>
                <c:pt idx="46">
                  <c:v>1.22733714812125</c:v>
                </c:pt>
                <c:pt idx="47">
                  <c:v>1.24043793292823</c:v>
                </c:pt>
                <c:pt idx="48">
                  <c:v>1.13380693393803</c:v>
                </c:pt>
                <c:pt idx="49">
                  <c:v>1.12262830619874</c:v>
                </c:pt>
                <c:pt idx="50">
                  <c:v>1.13631371020603</c:v>
                </c:pt>
                <c:pt idx="51">
                  <c:v>1.03314613708434</c:v>
                </c:pt>
                <c:pt idx="52">
                  <c:v>0.85810583379099</c:v>
                </c:pt>
                <c:pt idx="53">
                  <c:v>0.793877442556735</c:v>
                </c:pt>
                <c:pt idx="54">
                  <c:v>0.80008680709338</c:v>
                </c:pt>
                <c:pt idx="55">
                  <c:v>0.731553492656828</c:v>
                </c:pt>
                <c:pt idx="56">
                  <c:v>0.651132921147271</c:v>
                </c:pt>
                <c:pt idx="57">
                  <c:v>0.706742608110263</c:v>
                </c:pt>
                <c:pt idx="58">
                  <c:v>0.773123460945666</c:v>
                </c:pt>
                <c:pt idx="59">
                  <c:v>0.81416195723422</c:v>
                </c:pt>
                <c:pt idx="60">
                  <c:v>0.814321398834305</c:v>
                </c:pt>
                <c:pt idx="61">
                  <c:v>0.874696618066505</c:v>
                </c:pt>
                <c:pt idx="62">
                  <c:v>0.904051588215494</c:v>
                </c:pt>
                <c:pt idx="63">
                  <c:v>0.936347370099385</c:v>
                </c:pt>
                <c:pt idx="64">
                  <c:v>0.91784328662285</c:v>
                </c:pt>
                <c:pt idx="65">
                  <c:v>0.970494446117597</c:v>
                </c:pt>
                <c:pt idx="66">
                  <c:v>0.987740712526795</c:v>
                </c:pt>
                <c:pt idx="67">
                  <c:v>0.95121972824065</c:v>
                </c:pt>
                <c:pt idx="68">
                  <c:v>0.978342515988449</c:v>
                </c:pt>
                <c:pt idx="69">
                  <c:v>1.03586550215246</c:v>
                </c:pt>
                <c:pt idx="70">
                  <c:v>1.05115418002728</c:v>
                </c:pt>
                <c:pt idx="71">
                  <c:v>0.964984853047992</c:v>
                </c:pt>
                <c:pt idx="72">
                  <c:v>0.912989175686928</c:v>
                </c:pt>
                <c:pt idx="73">
                  <c:v>0.975782592520417</c:v>
                </c:pt>
                <c:pt idx="74">
                  <c:v>0.929482523429057</c:v>
                </c:pt>
                <c:pt idx="75">
                  <c:v>1.01085974453913</c:v>
                </c:pt>
                <c:pt idx="76">
                  <c:v>1.048115931759</c:v>
                </c:pt>
                <c:pt idx="77">
                  <c:v>1.04571544989105</c:v>
                </c:pt>
                <c:pt idx="78">
                  <c:v>1.1140007440608</c:v>
                </c:pt>
                <c:pt idx="79">
                  <c:v>1.13922794834092</c:v>
                </c:pt>
                <c:pt idx="80">
                  <c:v>1.17563378036034</c:v>
                </c:pt>
                <c:pt idx="81">
                  <c:v>1.17440253689301</c:v>
                </c:pt>
                <c:pt idx="82">
                  <c:v>1.20786755717753</c:v>
                </c:pt>
                <c:pt idx="83">
                  <c:v>1.1915602246355</c:v>
                </c:pt>
                <c:pt idx="84">
                  <c:v>1.16980530409056</c:v>
                </c:pt>
                <c:pt idx="85">
                  <c:v>1.1446843942105</c:v>
                </c:pt>
                <c:pt idx="86">
                  <c:v>1.07967651070916</c:v>
                </c:pt>
                <c:pt idx="87">
                  <c:v>1.0021967509345</c:v>
                </c:pt>
                <c:pt idx="88">
                  <c:v>1.11015642992542</c:v>
                </c:pt>
                <c:pt idx="89">
                  <c:v>1.10454054245575</c:v>
                </c:pt>
                <c:pt idx="90">
                  <c:v>1.11396531259411</c:v>
                </c:pt>
                <c:pt idx="91">
                  <c:v>1.16251527982001</c:v>
                </c:pt>
                <c:pt idx="92">
                  <c:v>1.20970113557851</c:v>
                </c:pt>
                <c:pt idx="93">
                  <c:v>1.24760394706539</c:v>
                </c:pt>
                <c:pt idx="94">
                  <c:v>1.2382500398604</c:v>
                </c:pt>
                <c:pt idx="95">
                  <c:v>1.16067284355236</c:v>
                </c:pt>
                <c:pt idx="96">
                  <c:v>1.20658316651018</c:v>
                </c:pt>
                <c:pt idx="97">
                  <c:v>1.22178326571828</c:v>
                </c:pt>
                <c:pt idx="98">
                  <c:v>1.2459298102645</c:v>
                </c:pt>
                <c:pt idx="99">
                  <c:v>1.27612627774727</c:v>
                </c:pt>
                <c:pt idx="100">
                  <c:v>1.25087249986713</c:v>
                </c:pt>
                <c:pt idx="101">
                  <c:v>1.25443336226903</c:v>
                </c:pt>
                <c:pt idx="102">
                  <c:v>1.26330008680709</c:v>
                </c:pt>
                <c:pt idx="103">
                  <c:v>1.32700586390774</c:v>
                </c:pt>
                <c:pt idx="104">
                  <c:v>1.34168334898223</c:v>
                </c:pt>
                <c:pt idx="105">
                  <c:v>1.38996758020798</c:v>
                </c:pt>
                <c:pt idx="106">
                  <c:v>1.41510620582139</c:v>
                </c:pt>
                <c:pt idx="107">
                  <c:v>1.44448774957039</c:v>
                </c:pt>
                <c:pt idx="108">
                  <c:v>1.42282140769217</c:v>
                </c:pt>
                <c:pt idx="109">
                  <c:v>1.49319715839637</c:v>
                </c:pt>
                <c:pt idx="110">
                  <c:v>1.44646305383811</c:v>
                </c:pt>
                <c:pt idx="111">
                  <c:v>1.44646305383811</c:v>
                </c:pt>
                <c:pt idx="112">
                  <c:v>1.48949457012773</c:v>
                </c:pt>
                <c:pt idx="113">
                  <c:v>1.55591971229649</c:v>
                </c:pt>
                <c:pt idx="114">
                  <c:v>1.59956242138643</c:v>
                </c:pt>
                <c:pt idx="115">
                  <c:v>1.6372526440732</c:v>
                </c:pt>
                <c:pt idx="116">
                  <c:v>1.57899445497546</c:v>
                </c:pt>
                <c:pt idx="117">
                  <c:v>1.64707601821177</c:v>
                </c:pt>
                <c:pt idx="118">
                  <c:v>1.6584938083512</c:v>
                </c:pt>
                <c:pt idx="119">
                  <c:v>1.66877779155668</c:v>
                </c:pt>
                <c:pt idx="120">
                  <c:v>1.70387265930873</c:v>
                </c:pt>
                <c:pt idx="121">
                  <c:v>1.73634559852605</c:v>
                </c:pt>
                <c:pt idx="122">
                  <c:v>1.71016174464542</c:v>
                </c:pt>
                <c:pt idx="123">
                  <c:v>1.77455843534643</c:v>
                </c:pt>
                <c:pt idx="124">
                  <c:v>1.77455843534643</c:v>
                </c:pt>
                <c:pt idx="125">
                  <c:v>1.74702818573175</c:v>
                </c:pt>
                <c:pt idx="126">
                  <c:v>1.78756178362003</c:v>
                </c:pt>
                <c:pt idx="127">
                  <c:v>1.83141708151009</c:v>
                </c:pt>
                <c:pt idx="128">
                  <c:v>1.82374616897266</c:v>
                </c:pt>
                <c:pt idx="129">
                  <c:v>1.76713554307581</c:v>
                </c:pt>
                <c:pt idx="130">
                  <c:v>1.86413804099421</c:v>
                </c:pt>
                <c:pt idx="131">
                  <c:v>1.83170939111024</c:v>
                </c:pt>
                <c:pt idx="132">
                  <c:v>1.84731695218524</c:v>
                </c:pt>
                <c:pt idx="133">
                  <c:v>1.86669796446224</c:v>
                </c:pt>
                <c:pt idx="134">
                  <c:v>1.82747533084132</c:v>
                </c:pt>
                <c:pt idx="135">
                  <c:v>1.8635534217939</c:v>
                </c:pt>
                <c:pt idx="136">
                  <c:v>1.76171452867291</c:v>
                </c:pt>
                <c:pt idx="137">
                  <c:v>1.74693074919836</c:v>
                </c:pt>
                <c:pt idx="138">
                  <c:v>1.70073697450706</c:v>
                </c:pt>
                <c:pt idx="139">
                  <c:v>1.84186936418233</c:v>
                </c:pt>
                <c:pt idx="140">
                  <c:v>1.84186936418233</c:v>
                </c:pt>
                <c:pt idx="141">
                  <c:v>1.84279944018283</c:v>
                </c:pt>
                <c:pt idx="142">
                  <c:v>1.81049480043226</c:v>
                </c:pt>
                <c:pt idx="143">
                  <c:v>1.71863872304994</c:v>
                </c:pt>
                <c:pt idx="144">
                  <c:v>1.71154357184616</c:v>
                </c:pt>
                <c:pt idx="145">
                  <c:v>1.82449022977306</c:v>
                </c:pt>
                <c:pt idx="146">
                  <c:v>1.82941520364235</c:v>
                </c:pt>
                <c:pt idx="147">
                  <c:v>1.85745920952398</c:v>
                </c:pt>
                <c:pt idx="148">
                  <c:v>1.85914220419154</c:v>
                </c:pt>
                <c:pt idx="149">
                  <c:v>1.92534589969352</c:v>
                </c:pt>
                <c:pt idx="150">
                  <c:v>1.9229985650256</c:v>
                </c:pt>
                <c:pt idx="151">
                  <c:v>1.92062465675767</c:v>
                </c:pt>
                <c:pt idx="152">
                  <c:v>1.88331532233777</c:v>
                </c:pt>
                <c:pt idx="153">
                  <c:v>1.94767658157209</c:v>
                </c:pt>
                <c:pt idx="154">
                  <c:v>1.983125763991</c:v>
                </c:pt>
                <c:pt idx="155">
                  <c:v>2.01859266214325</c:v>
                </c:pt>
                <c:pt idx="156">
                  <c:v>2.09368079791663</c:v>
                </c:pt>
                <c:pt idx="157">
                  <c:v>2.09286587418286</c:v>
                </c:pt>
                <c:pt idx="158">
                  <c:v>2.11189257179301</c:v>
                </c:pt>
                <c:pt idx="159">
                  <c:v>2.13634028380605</c:v>
                </c:pt>
                <c:pt idx="160">
                  <c:v>2.14662426701153</c:v>
                </c:pt>
                <c:pt idx="161">
                  <c:v>2.18815880383368</c:v>
                </c:pt>
                <c:pt idx="162">
                  <c:v>2.18935461583432</c:v>
                </c:pt>
                <c:pt idx="163">
                  <c:v>2.23161549772353</c:v>
                </c:pt>
                <c:pt idx="164">
                  <c:v>2.2811309724166</c:v>
                </c:pt>
                <c:pt idx="165">
                  <c:v>2.3451910641841</c:v>
                </c:pt>
                <c:pt idx="166">
                  <c:v>2.36824809112973</c:v>
                </c:pt>
                <c:pt idx="167">
                  <c:v>2.50129324853402</c:v>
                </c:pt>
                <c:pt idx="168">
                  <c:v>2.40387443088207</c:v>
                </c:pt>
                <c:pt idx="169">
                  <c:v>2.3392474356476</c:v>
                </c:pt>
                <c:pt idx="170">
                  <c:v>2.34560738391766</c:v>
                </c:pt>
                <c:pt idx="171">
                  <c:v>2.39629209701136</c:v>
                </c:pt>
                <c:pt idx="172">
                  <c:v>2.40789590235088</c:v>
                </c:pt>
                <c:pt idx="173">
                  <c:v>2.49463213279714</c:v>
                </c:pt>
                <c:pt idx="174">
                  <c:v>2.5701277304374</c:v>
                </c:pt>
                <c:pt idx="175">
                  <c:v>2.58116463230995</c:v>
                </c:pt>
                <c:pt idx="176">
                  <c:v>2.40202313674775</c:v>
                </c:pt>
                <c:pt idx="177">
                  <c:v>2.44492178503729</c:v>
                </c:pt>
                <c:pt idx="178">
                  <c:v>2.22053430651762</c:v>
                </c:pt>
                <c:pt idx="179">
                  <c:v>2.3952557266108</c:v>
                </c:pt>
                <c:pt idx="180">
                  <c:v>2.46646411678211</c:v>
                </c:pt>
                <c:pt idx="181">
                  <c:v>2.51067372933903</c:v>
                </c:pt>
                <c:pt idx="182">
                  <c:v>2.60937693765833</c:v>
                </c:pt>
                <c:pt idx="183">
                  <c:v>2.43773805516679</c:v>
                </c:pt>
                <c:pt idx="184">
                  <c:v>2.60577178592308</c:v>
                </c:pt>
                <c:pt idx="185">
                  <c:v>2.63998086700799</c:v>
                </c:pt>
                <c:pt idx="186">
                  <c:v>2.59221924991585</c:v>
                </c:pt>
                <c:pt idx="187">
                  <c:v>2.6367566035396</c:v>
                </c:pt>
                <c:pt idx="188">
                  <c:v>2.690630148635</c:v>
                </c:pt>
                <c:pt idx="189">
                  <c:v>2.78223820575053</c:v>
                </c:pt>
                <c:pt idx="190">
                  <c:v>2.86178184845962</c:v>
                </c:pt>
                <c:pt idx="191">
                  <c:v>2.85712261059047</c:v>
                </c:pt>
                <c:pt idx="192">
                  <c:v>2.61680868779563</c:v>
                </c:pt>
                <c:pt idx="193">
                  <c:v>2.28939536202101</c:v>
                </c:pt>
                <c:pt idx="194">
                  <c:v>2.57979166297589</c:v>
                </c:pt>
                <c:pt idx="195">
                  <c:v>2.69660920863819</c:v>
                </c:pt>
                <c:pt idx="196">
                  <c:v>2.74619554626464</c:v>
                </c:pt>
                <c:pt idx="197">
                  <c:v>2.89751448261201</c:v>
                </c:pt>
                <c:pt idx="198">
                  <c:v>3.10052792885361</c:v>
                </c:pt>
                <c:pt idx="199">
                  <c:v>2.97890056158875</c:v>
                </c:pt>
                <c:pt idx="200">
                  <c:v>2.89648697007813</c:v>
                </c:pt>
                <c:pt idx="201">
                  <c:v>3.20799156731093</c:v>
                </c:pt>
                <c:pt idx="202">
                  <c:v>3.32707672684111</c:v>
                </c:pt>
                <c:pt idx="203">
                  <c:v>3.29002427055468</c:v>
                </c:pt>
                <c:pt idx="204">
                  <c:v>3.37586585646713</c:v>
                </c:pt>
                <c:pt idx="205">
                  <c:v>3.5191329920102</c:v>
                </c:pt>
                <c:pt idx="206">
                  <c:v>3.70362463904193</c:v>
                </c:pt>
                <c:pt idx="207">
                  <c:v>3.7239445851861</c:v>
                </c:pt>
                <c:pt idx="208">
                  <c:v>3.80666820203022</c:v>
                </c:pt>
                <c:pt idx="209">
                  <c:v>3.89326270660974</c:v>
                </c:pt>
                <c:pt idx="210">
                  <c:v>4.0061296437366</c:v>
                </c:pt>
                <c:pt idx="211">
                  <c:v>3.8155615001683</c:v>
                </c:pt>
                <c:pt idx="212">
                  <c:v>4.07938420110901</c:v>
                </c:pt>
                <c:pt idx="213">
                  <c:v>4.04538770882421</c:v>
                </c:pt>
                <c:pt idx="214">
                  <c:v>4.22181869718497</c:v>
                </c:pt>
                <c:pt idx="215">
                  <c:v>3.9998139847999</c:v>
                </c:pt>
                <c:pt idx="216">
                  <c:v>3.87437773486633</c:v>
                </c:pt>
                <c:pt idx="217">
                  <c:v>4.01297677467359</c:v>
                </c:pt>
                <c:pt idx="218">
                  <c:v>3.660008503552</c:v>
                </c:pt>
                <c:pt idx="219">
                  <c:v>3.66020337661877</c:v>
                </c:pt>
                <c:pt idx="220">
                  <c:v>3.35303913405495</c:v>
                </c:pt>
                <c:pt idx="221">
                  <c:v>3.6585558134179</c:v>
                </c:pt>
                <c:pt idx="222">
                  <c:v>3.50328626853509</c:v>
                </c:pt>
                <c:pt idx="223">
                  <c:v>3.17609438942725</c:v>
                </c:pt>
                <c:pt idx="224">
                  <c:v>3.4297482594292</c:v>
                </c:pt>
                <c:pt idx="225">
                  <c:v>3.61410703846086</c:v>
                </c:pt>
                <c:pt idx="226">
                  <c:v>3.40097790848052</c:v>
                </c:pt>
                <c:pt idx="227">
                  <c:v>3.6109979272592</c:v>
                </c:pt>
                <c:pt idx="228">
                  <c:v>3.51670593654224</c:v>
                </c:pt>
                <c:pt idx="229">
                  <c:v>3.63997200914132</c:v>
                </c:pt>
                <c:pt idx="230">
                  <c:v>3.69326979290308</c:v>
                </c:pt>
                <c:pt idx="231">
                  <c:v>3.70243768490797</c:v>
                </c:pt>
                <c:pt idx="232">
                  <c:v>3.94208726770245</c:v>
                </c:pt>
                <c:pt idx="233">
                  <c:v>4.06483958403458</c:v>
                </c:pt>
                <c:pt idx="234">
                  <c:v>3.99282512799617</c:v>
                </c:pt>
                <c:pt idx="235">
                  <c:v>3.79829751802576</c:v>
                </c:pt>
                <c:pt idx="236">
                  <c:v>3.7148121246479</c:v>
                </c:pt>
                <c:pt idx="237">
                  <c:v>4.04609633815792</c:v>
                </c:pt>
                <c:pt idx="238">
                  <c:v>4.22505181852003</c:v>
                </c:pt>
                <c:pt idx="239">
                  <c:v>4.29221216362251</c:v>
                </c:pt>
                <c:pt idx="240">
                  <c:v>4.51420801814091</c:v>
                </c:pt>
                <c:pt idx="241">
                  <c:v>4.65423317448226</c:v>
                </c:pt>
                <c:pt idx="242">
                  <c:v>4.46054706184562</c:v>
                </c:pt>
                <c:pt idx="243">
                  <c:v>4.6747479936932</c:v>
                </c:pt>
                <c:pt idx="244">
                  <c:v>4.83682038017964</c:v>
                </c:pt>
                <c:pt idx="245">
                  <c:v>4.89157971194218</c:v>
                </c:pt>
                <c:pt idx="246">
                  <c:v>5.00327741066841</c:v>
                </c:pt>
                <c:pt idx="247">
                  <c:v>5.08279447977749</c:v>
                </c:pt>
                <c:pt idx="248">
                  <c:v>5.0538115400287</c:v>
                </c:pt>
                <c:pt idx="249">
                  <c:v>5.34340177511648</c:v>
                </c:pt>
                <c:pt idx="250">
                  <c:v>5.20986943504526</c:v>
                </c:pt>
              </c:numCache>
            </c:numRef>
          </c:val>
          <c:smooth val="0"/>
        </c:ser>
        <c:dLbls>
          <c:showLegendKey val="0"/>
          <c:showVal val="0"/>
          <c:showCatName val="0"/>
          <c:showSerName val="0"/>
          <c:showPercent val="0"/>
          <c:showBubbleSize val="0"/>
        </c:dLbls>
        <c:marker val="0"/>
        <c:smooth val="0"/>
        <c:axId val="1851657151"/>
        <c:axId val="1851657567"/>
      </c:lineChart>
      <c:dateAx>
        <c:axId val="1851657151"/>
        <c:scaling>
          <c:orientation val="minMax"/>
        </c:scaling>
        <c:delete val="0"/>
        <c:axPos val="b"/>
        <c:numFmt formatCode="yy/mm"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851657567"/>
        <c:crosses val="autoZero"/>
        <c:auto val="1"/>
        <c:lblOffset val="100"/>
        <c:baseTimeUnit val="days"/>
        <c:majorUnit val="2"/>
        <c:majorTimeUnit val="years"/>
      </c:dateAx>
      <c:valAx>
        <c:axId val="1851657567"/>
        <c:scaling>
          <c:orientation val="minMax"/>
          <c:max val="38"/>
          <c:min val="0"/>
        </c:scaling>
        <c:delete val="0"/>
        <c:axPos val="l"/>
        <c:majorGridlines>
          <c:spPr>
            <a:ln w="9525" cap="flat" cmpd="sng" algn="ctr">
              <a:solidFill>
                <a:schemeClr val="tx1">
                  <a:lumMod val="15000"/>
                  <a:lumOff val="85000"/>
                </a:schemeClr>
              </a:solidFill>
              <a:round/>
            </a:ln>
            <a:effectLst/>
          </c:spPr>
        </c:majorGridlines>
        <c:numFmt formatCode="0.0000"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1851657151"/>
        <c:crosses val="autoZero"/>
        <c:crossBetween val="between"/>
      </c:valAx>
      <c:spPr>
        <a:noFill/>
        <a:ln>
          <a:noFill/>
        </a:ln>
        <a:effectLst/>
      </c:spPr>
    </c:plotArea>
    <c:legend>
      <c:legendPos val="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88090bfd-1422-4f26-b408-778495f999ff}"/>
      </c:ext>
    </c:extLst>
  </c:chart>
  <c:spPr>
    <a:noFill/>
    <a:ln w="9525" cap="flat" cmpd="sng" algn="ctr">
      <a:noFill/>
      <a:round/>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0"/>
          <c:tx>
            <c:strRef>
              <c:f>'[金色中国交易数据-20240708.xlsx]合并梳理'!$M$1</c:f>
              <c:strCache>
                <c:ptCount val="1"/>
                <c:pt idx="0">
                  <c:v>申购金额（万$）</c:v>
                </c:pt>
              </c:strCache>
            </c:strRef>
          </c:tx>
          <c:spPr>
            <a:solidFill>
              <a:srgbClr val="002060"/>
            </a:solidFill>
            <a:ln>
              <a:solidFill>
                <a:schemeClr val="accent5">
                  <a:lumMod val="50000"/>
                </a:schemeClr>
              </a:solidFill>
            </a:ln>
            <a:effectLst/>
          </c:spPr>
          <c:invertIfNegative val="0"/>
          <c:dLbls>
            <c:delete val="1"/>
          </c:dLbls>
          <c:cat>
            <c:numRef>
              <c:f>'[金色中国交易数据-20240708.xlsx]合并梳理'!$L$2:$L$140</c:f>
              <c:numCache>
                <c:formatCode>yyyy/m/d</c:formatCode>
                <c:ptCount val="139"/>
                <c:pt idx="0" c:formatCode="yyyy/m/d">
                  <c:v>41744</c:v>
                </c:pt>
                <c:pt idx="1" c:formatCode="yyyy/m/d">
                  <c:v>41754</c:v>
                </c:pt>
                <c:pt idx="2" c:formatCode="yyyy/m/d">
                  <c:v>41835</c:v>
                </c:pt>
                <c:pt idx="3" c:formatCode="yyyy/m/d">
                  <c:v>41866</c:v>
                </c:pt>
                <c:pt idx="4" c:formatCode="yyyy/m/d">
                  <c:v>41915</c:v>
                </c:pt>
                <c:pt idx="5" c:formatCode="yyyy/m/d">
                  <c:v>41940</c:v>
                </c:pt>
                <c:pt idx="6" c:formatCode="yyyy/m/d">
                  <c:v>41946</c:v>
                </c:pt>
                <c:pt idx="7" c:formatCode="yyyy/m/d">
                  <c:v>41970</c:v>
                </c:pt>
                <c:pt idx="8" c:formatCode="yyyy/m/d">
                  <c:v>42006</c:v>
                </c:pt>
                <c:pt idx="9" c:formatCode="yyyy/m/d">
                  <c:v>42037</c:v>
                </c:pt>
                <c:pt idx="10" c:formatCode="yyyy/m/d">
                  <c:v>42065</c:v>
                </c:pt>
                <c:pt idx="11" c:formatCode="yyyy/m/d">
                  <c:v>42081</c:v>
                </c:pt>
                <c:pt idx="12" c:formatCode="yyyy/m/d">
                  <c:v>42082</c:v>
                </c:pt>
                <c:pt idx="13" c:formatCode="yyyy/m/d">
                  <c:v>42095</c:v>
                </c:pt>
                <c:pt idx="14" c:formatCode="yyyy/m/d">
                  <c:v>42108</c:v>
                </c:pt>
                <c:pt idx="15" c:formatCode="yyyy/m/d">
                  <c:v>42118</c:v>
                </c:pt>
                <c:pt idx="16" c:formatCode="yyyy/m/d">
                  <c:v>42128</c:v>
                </c:pt>
                <c:pt idx="17" c:formatCode="yyyy/m/d">
                  <c:v>42156</c:v>
                </c:pt>
                <c:pt idx="18" c:formatCode="yyyy/m/d">
                  <c:v>42187</c:v>
                </c:pt>
                <c:pt idx="19" c:formatCode="yyyy/m/d">
                  <c:v>42219</c:v>
                </c:pt>
                <c:pt idx="20" c:formatCode="yyyy/m/d">
                  <c:v>42240</c:v>
                </c:pt>
                <c:pt idx="21" c:formatCode="yyyy/m/d">
                  <c:v>42248</c:v>
                </c:pt>
                <c:pt idx="22" c:formatCode="yyyy/m/d">
                  <c:v>42279</c:v>
                </c:pt>
                <c:pt idx="23" c:formatCode="yyyy/m/d">
                  <c:v>42284</c:v>
                </c:pt>
                <c:pt idx="24" c:formatCode="yyyy/m/d">
                  <c:v>42307</c:v>
                </c:pt>
                <c:pt idx="25" c:formatCode="yyyy/m/d">
                  <c:v>42310</c:v>
                </c:pt>
                <c:pt idx="26" c:formatCode="yyyy/m/d">
                  <c:v>42331</c:v>
                </c:pt>
                <c:pt idx="27" c:formatCode="yyyy/m/d">
                  <c:v>42339</c:v>
                </c:pt>
                <c:pt idx="28" c:formatCode="yyyy/m/d">
                  <c:v>42353</c:v>
                </c:pt>
                <c:pt idx="29" c:formatCode="yyyy/m/d">
                  <c:v>42356</c:v>
                </c:pt>
                <c:pt idx="30" c:formatCode="yyyy/m/d">
                  <c:v>42359</c:v>
                </c:pt>
                <c:pt idx="31" c:formatCode="yyyy/m/d">
                  <c:v>42360</c:v>
                </c:pt>
                <c:pt idx="32" c:formatCode="yyyy/m/d">
                  <c:v>42361</c:v>
                </c:pt>
                <c:pt idx="33" c:formatCode="yyyy/m/d">
                  <c:v>42362</c:v>
                </c:pt>
                <c:pt idx="34" c:formatCode="yyyy/m/d">
                  <c:v>42363</c:v>
                </c:pt>
                <c:pt idx="35" c:formatCode="yyyy/m/d">
                  <c:v>42367</c:v>
                </c:pt>
                <c:pt idx="36" c:formatCode="yyyy/m/d">
                  <c:v>42369</c:v>
                </c:pt>
                <c:pt idx="37" c:formatCode="yyyy/m/d">
                  <c:v>42370</c:v>
                </c:pt>
                <c:pt idx="38" c:formatCode="yyyy/m/d">
                  <c:v>42373</c:v>
                </c:pt>
                <c:pt idx="39" c:formatCode="yyyy/m/d">
                  <c:v>42401</c:v>
                </c:pt>
                <c:pt idx="40" c:formatCode="yyyy/m/d">
                  <c:v>42430</c:v>
                </c:pt>
                <c:pt idx="41" c:formatCode="yyyy/m/d">
                  <c:v>42461</c:v>
                </c:pt>
                <c:pt idx="42" c:formatCode="yyyy/m/d">
                  <c:v>42482</c:v>
                </c:pt>
                <c:pt idx="43" c:formatCode="yyyy/m/d">
                  <c:v>42493</c:v>
                </c:pt>
                <c:pt idx="44" c:formatCode="yyyy/m/d">
                  <c:v>42522</c:v>
                </c:pt>
                <c:pt idx="45" c:formatCode="yyyy/m/d">
                  <c:v>42555</c:v>
                </c:pt>
                <c:pt idx="46" c:formatCode="yyyy/m/d">
                  <c:v>42583</c:v>
                </c:pt>
                <c:pt idx="47" c:formatCode="yyyy/m/d">
                  <c:v>42614</c:v>
                </c:pt>
                <c:pt idx="48" c:formatCode="yyyy/m/d">
                  <c:v>42646</c:v>
                </c:pt>
                <c:pt idx="49" c:formatCode="yyyy/m/d">
                  <c:v>42675</c:v>
                </c:pt>
                <c:pt idx="50" c:formatCode="yyyy/m/d">
                  <c:v>42738</c:v>
                </c:pt>
                <c:pt idx="51" c:formatCode="yyyy/m/d">
                  <c:v>42767</c:v>
                </c:pt>
                <c:pt idx="52" c:formatCode="yyyy/m/d">
                  <c:v>42795</c:v>
                </c:pt>
                <c:pt idx="53" c:formatCode="yyyy/m/d">
                  <c:v>42828</c:v>
                </c:pt>
                <c:pt idx="54" c:formatCode="yyyy/m/d">
                  <c:v>42857</c:v>
                </c:pt>
                <c:pt idx="55" c:formatCode="yyyy/m/d">
                  <c:v>42887</c:v>
                </c:pt>
                <c:pt idx="56" c:formatCode="yyyy/m/d">
                  <c:v>42919</c:v>
                </c:pt>
                <c:pt idx="57" c:formatCode="yyyy/m/d">
                  <c:v>42948</c:v>
                </c:pt>
                <c:pt idx="58" c:formatCode="yyyy/m/d">
                  <c:v>42979</c:v>
                </c:pt>
                <c:pt idx="59" c:formatCode="yyyy/m/d">
                  <c:v>43011</c:v>
                </c:pt>
                <c:pt idx="60" c:formatCode="yyyy/m/d">
                  <c:v>43040</c:v>
                </c:pt>
                <c:pt idx="61" c:formatCode="yyyy/m/d">
                  <c:v>43070</c:v>
                </c:pt>
                <c:pt idx="62" c:formatCode="yyyy/m/d">
                  <c:v>43102</c:v>
                </c:pt>
                <c:pt idx="63" c:formatCode="yyyy/m/d">
                  <c:v>43132</c:v>
                </c:pt>
                <c:pt idx="64" c:formatCode="yyyy/m/d">
                  <c:v>43160</c:v>
                </c:pt>
                <c:pt idx="65" c:formatCode="yyyy/m/d">
                  <c:v>43193</c:v>
                </c:pt>
                <c:pt idx="66" c:formatCode="yyyy/m/d">
                  <c:v>43222</c:v>
                </c:pt>
                <c:pt idx="67" c:formatCode="yyyy/m/d">
                  <c:v>43252</c:v>
                </c:pt>
                <c:pt idx="68" c:formatCode="yyyy/m/d">
                  <c:v>43284</c:v>
                </c:pt>
                <c:pt idx="69" c:formatCode="yyyy/m/d">
                  <c:v>43313</c:v>
                </c:pt>
                <c:pt idx="70" c:formatCode="yyyy/m/d">
                  <c:v>43346</c:v>
                </c:pt>
                <c:pt idx="71" c:formatCode="yyyy/m/d">
                  <c:v>43375</c:v>
                </c:pt>
                <c:pt idx="72" c:formatCode="yyyy/m/d">
                  <c:v>43405</c:v>
                </c:pt>
                <c:pt idx="73" c:formatCode="yyyy/m/d">
                  <c:v>43437</c:v>
                </c:pt>
                <c:pt idx="74" c:formatCode="yyyy/m/d">
                  <c:v>43467</c:v>
                </c:pt>
                <c:pt idx="75" c:formatCode="yyyy/m/d">
                  <c:v>43497</c:v>
                </c:pt>
                <c:pt idx="76" c:formatCode="yyyy/m/d">
                  <c:v>43525</c:v>
                </c:pt>
                <c:pt idx="77" c:formatCode="yyyy/m/d">
                  <c:v>43556</c:v>
                </c:pt>
                <c:pt idx="78" c:formatCode="yyyy/m/d">
                  <c:v>43587</c:v>
                </c:pt>
                <c:pt idx="79" c:formatCode="yyyy/m/d">
                  <c:v>43619</c:v>
                </c:pt>
                <c:pt idx="80" c:formatCode="yyyy/m/d">
                  <c:v>43648</c:v>
                </c:pt>
                <c:pt idx="81" c:formatCode="yyyy/m/d">
                  <c:v>43678</c:v>
                </c:pt>
                <c:pt idx="82" c:formatCode="yyyy/m/d">
                  <c:v>43710</c:v>
                </c:pt>
                <c:pt idx="83" c:formatCode="yyyy/m/d">
                  <c:v>43740</c:v>
                </c:pt>
                <c:pt idx="84" c:formatCode="yyyy/m/d">
                  <c:v>43770</c:v>
                </c:pt>
                <c:pt idx="85" c:formatCode="yyyy/m/d">
                  <c:v>43801</c:v>
                </c:pt>
                <c:pt idx="86" c:formatCode="yyyy/m/d">
                  <c:v>43832</c:v>
                </c:pt>
                <c:pt idx="87" c:formatCode="yyyy/m/d">
                  <c:v>43864</c:v>
                </c:pt>
                <c:pt idx="88" c:formatCode="yyyy/m/d">
                  <c:v>43892</c:v>
                </c:pt>
                <c:pt idx="89" c:formatCode="yyyy/m/d">
                  <c:v>43922</c:v>
                </c:pt>
                <c:pt idx="90" c:formatCode="yyyy/m/d">
                  <c:v>43955</c:v>
                </c:pt>
                <c:pt idx="91" c:formatCode="yyyy/m/d">
                  <c:v>43983</c:v>
                </c:pt>
                <c:pt idx="92" c:formatCode="yyyy/m/d">
                  <c:v>44014</c:v>
                </c:pt>
                <c:pt idx="93" c:formatCode="yyyy/m/d">
                  <c:v>44046</c:v>
                </c:pt>
                <c:pt idx="94" c:formatCode="yyyy/m/d">
                  <c:v>44075</c:v>
                </c:pt>
                <c:pt idx="95" c:formatCode="yyyy/m/d">
                  <c:v>44109</c:v>
                </c:pt>
                <c:pt idx="96" c:formatCode="yyyy/m/d">
                  <c:v>44137</c:v>
                </c:pt>
                <c:pt idx="97" c:formatCode="yyyy/m/d">
                  <c:v>44166</c:v>
                </c:pt>
                <c:pt idx="98" c:formatCode="yyyy/m/d">
                  <c:v>44200</c:v>
                </c:pt>
                <c:pt idx="99" c:formatCode="yyyy/m/d">
                  <c:v>44228</c:v>
                </c:pt>
                <c:pt idx="100" c:formatCode="yyyy/m/d">
                  <c:v>44256</c:v>
                </c:pt>
                <c:pt idx="101" c:formatCode="yyyy/m/d">
                  <c:v>44287</c:v>
                </c:pt>
                <c:pt idx="102" c:formatCode="yyyy/m/d">
                  <c:v>44319</c:v>
                </c:pt>
                <c:pt idx="103" c:formatCode="yyyy/m/d">
                  <c:v>44348</c:v>
                </c:pt>
                <c:pt idx="104" c:formatCode="yyyy/m/d">
                  <c:v>44379</c:v>
                </c:pt>
                <c:pt idx="105" c:formatCode="yyyy/m/d">
                  <c:v>44410</c:v>
                </c:pt>
                <c:pt idx="106" c:formatCode="yyyy/m/d">
                  <c:v>44440</c:v>
                </c:pt>
                <c:pt idx="107" c:formatCode="yyyy/m/d">
                  <c:v>44473</c:v>
                </c:pt>
                <c:pt idx="108" c:formatCode="yyyy/m/d">
                  <c:v>44501</c:v>
                </c:pt>
                <c:pt idx="109" c:formatCode="yyyy/m/d">
                  <c:v>44531</c:v>
                </c:pt>
                <c:pt idx="110" c:formatCode="yyyy/m/d">
                  <c:v>44564</c:v>
                </c:pt>
                <c:pt idx="111" c:formatCode="yyyy/m/d">
                  <c:v>44596</c:v>
                </c:pt>
                <c:pt idx="112" c:formatCode="yyyy/m/d">
                  <c:v>44621</c:v>
                </c:pt>
                <c:pt idx="113" c:formatCode="yyyy/m/d">
                  <c:v>44652</c:v>
                </c:pt>
                <c:pt idx="114" c:formatCode="yyyy/m/d">
                  <c:v>44684</c:v>
                </c:pt>
                <c:pt idx="115" c:formatCode="yyyy/m/d">
                  <c:v>44713</c:v>
                </c:pt>
                <c:pt idx="116" c:formatCode="yyyy/m/d">
                  <c:v>44774</c:v>
                </c:pt>
                <c:pt idx="117" c:formatCode="yyyy/m/d">
                  <c:v>44805</c:v>
                </c:pt>
                <c:pt idx="118" c:formatCode="yyyy/m/d">
                  <c:v>44896</c:v>
                </c:pt>
                <c:pt idx="119" c:formatCode="yyyy/m/d">
                  <c:v>44958</c:v>
                </c:pt>
                <c:pt idx="120" c:formatCode="yyyy/m/d">
                  <c:v>44986</c:v>
                </c:pt>
                <c:pt idx="121" c:formatCode="yyyy/m/d">
                  <c:v>45019</c:v>
                </c:pt>
                <c:pt idx="122" c:formatCode="yyyy/m/d">
                  <c:v>45078</c:v>
                </c:pt>
                <c:pt idx="123" c:formatCode="yyyy/m/d">
                  <c:v>45170</c:v>
                </c:pt>
                <c:pt idx="124" c:formatCode="yyyy/m/d">
                  <c:v>45231</c:v>
                </c:pt>
                <c:pt idx="125" c:formatCode="yyyy/m/d">
                  <c:v>45261</c:v>
                </c:pt>
                <c:pt idx="126" c:formatCode="yyyy/m/d">
                  <c:v>45293</c:v>
                </c:pt>
                <c:pt idx="127" c:formatCode="yyyy/m/d">
                  <c:v>45323</c:v>
                </c:pt>
                <c:pt idx="128" c:formatCode="yyyy/m/d">
                  <c:v>45352</c:v>
                </c:pt>
                <c:pt idx="129" c:formatCode="yyyy/m/d">
                  <c:v>45384</c:v>
                </c:pt>
                <c:pt idx="130" c:formatCode="yyyy/m/d">
                  <c:v>45414</c:v>
                </c:pt>
                <c:pt idx="131" c:formatCode="yyyy/m/d">
                  <c:v>45446</c:v>
                </c:pt>
                <c:pt idx="132" c:formatCode="yyyy/m/d">
                  <c:v>45476</c:v>
                </c:pt>
                <c:pt idx="133" c:formatCode="yyyy/m/d">
                  <c:v>45507</c:v>
                </c:pt>
                <c:pt idx="134" c:formatCode="yyyy/m/d">
                  <c:v>45538</c:v>
                </c:pt>
                <c:pt idx="135" c:formatCode="yyyy/m/d">
                  <c:v>45568</c:v>
                </c:pt>
                <c:pt idx="136" c:formatCode="yyyy/m/d">
                  <c:v>45599</c:v>
                </c:pt>
                <c:pt idx="137" c:formatCode="yyyy/m/d">
                  <c:v>45626</c:v>
                </c:pt>
                <c:pt idx="138" c:formatCode="yyyy/m/d">
                  <c:v>45657</c:v>
                </c:pt>
              </c:numCache>
            </c:numRef>
          </c:cat>
          <c:val>
            <c:numRef>
              <c:f>'[金色中国交易数据-20240708.xlsx]合并梳理'!$M$2:$M$140</c:f>
              <c:numCache>
                <c:formatCode>_ * #,##0_ ;_ * \-#,##0_ ;_ * "-"??_ ;_ @_ </c:formatCode>
                <c:ptCount val="139"/>
                <c:pt idx="0">
                  <c:v>100</c:v>
                </c:pt>
                <c:pt idx="1">
                  <c:v>50</c:v>
                </c:pt>
                <c:pt idx="2">
                  <c:v>50</c:v>
                </c:pt>
                <c:pt idx="3">
                  <c:v>50</c:v>
                </c:pt>
                <c:pt idx="4">
                  <c:v>150.5</c:v>
                </c:pt>
                <c:pt idx="5">
                  <c:v>200</c:v>
                </c:pt>
                <c:pt idx="6">
                  <c:v>324.999</c:v>
                </c:pt>
                <c:pt idx="7">
                  <c:v>475.75</c:v>
                </c:pt>
                <c:pt idx="8">
                  <c:v>530.705</c:v>
                </c:pt>
                <c:pt idx="9">
                  <c:v>1774.998</c:v>
                </c:pt>
                <c:pt idx="10">
                  <c:v>1050</c:v>
                </c:pt>
                <c:pt idx="11">
                  <c:v>30</c:v>
                </c:pt>
                <c:pt idx="12">
                  <c:v>30</c:v>
                </c:pt>
                <c:pt idx="13">
                  <c:v>1309.9975</c:v>
                </c:pt>
                <c:pt idx="14">
                  <c:v>100</c:v>
                </c:pt>
                <c:pt idx="15">
                  <c:v>50</c:v>
                </c:pt>
                <c:pt idx="16">
                  <c:v>3624.0924</c:v>
                </c:pt>
                <c:pt idx="17">
                  <c:v>999.999</c:v>
                </c:pt>
                <c:pt idx="18">
                  <c:v>764.9971</c:v>
                </c:pt>
                <c:pt idx="19">
                  <c:v>485.999476</c:v>
                </c:pt>
                <c:pt idx="20">
                  <c:v>30</c:v>
                </c:pt>
                <c:pt idx="21">
                  <c:v>49.2981</c:v>
                </c:pt>
                <c:pt idx="22">
                  <c:v>345.4</c:v>
                </c:pt>
                <c:pt idx="23">
                  <c:v>30</c:v>
                </c:pt>
                <c:pt idx="24">
                  <c:v>150</c:v>
                </c:pt>
                <c:pt idx="25">
                  <c:v>363.6</c:v>
                </c:pt>
                <c:pt idx="26">
                  <c:v>200</c:v>
                </c:pt>
                <c:pt idx="27">
                  <c:v>95.95</c:v>
                </c:pt>
                <c:pt idx="28">
                  <c:v>0</c:v>
                </c:pt>
                <c:pt idx="29">
                  <c:v>0</c:v>
                </c:pt>
                <c:pt idx="30">
                  <c:v>50.5</c:v>
                </c:pt>
                <c:pt idx="31">
                  <c:v>0</c:v>
                </c:pt>
                <c:pt idx="32">
                  <c:v>0</c:v>
                </c:pt>
                <c:pt idx="33">
                  <c:v>0</c:v>
                </c:pt>
                <c:pt idx="34">
                  <c:v>0</c:v>
                </c:pt>
                <c:pt idx="35">
                  <c:v>50.5</c:v>
                </c:pt>
                <c:pt idx="36">
                  <c:v>0</c:v>
                </c:pt>
                <c:pt idx="37">
                  <c:v>0</c:v>
                </c:pt>
                <c:pt idx="38">
                  <c:v>1020.000146</c:v>
                </c:pt>
                <c:pt idx="39">
                  <c:v>858.298154</c:v>
                </c:pt>
                <c:pt idx="40">
                  <c:v>40.4</c:v>
                </c:pt>
                <c:pt idx="41">
                  <c:v>212.1</c:v>
                </c:pt>
                <c:pt idx="42">
                  <c:v>70</c:v>
                </c:pt>
                <c:pt idx="43">
                  <c:v>229.999999</c:v>
                </c:pt>
                <c:pt idx="44">
                  <c:v>19.999995</c:v>
                </c:pt>
                <c:pt idx="45">
                  <c:v>34.99999</c:v>
                </c:pt>
                <c:pt idx="46">
                  <c:v>24.999987</c:v>
                </c:pt>
                <c:pt idx="47">
                  <c:v>64.999993</c:v>
                </c:pt>
                <c:pt idx="48">
                  <c:v>49.999983</c:v>
                </c:pt>
                <c:pt idx="49">
                  <c:v>14.999984</c:v>
                </c:pt>
                <c:pt idx="50">
                  <c:v>449.999867</c:v>
                </c:pt>
                <c:pt idx="51">
                  <c:v>169.999982</c:v>
                </c:pt>
                <c:pt idx="52">
                  <c:v>15</c:v>
                </c:pt>
                <c:pt idx="53">
                  <c:v>140</c:v>
                </c:pt>
                <c:pt idx="54">
                  <c:v>90</c:v>
                </c:pt>
                <c:pt idx="55">
                  <c:v>60</c:v>
                </c:pt>
                <c:pt idx="56">
                  <c:v>138</c:v>
                </c:pt>
                <c:pt idx="57">
                  <c:v>110</c:v>
                </c:pt>
                <c:pt idx="58">
                  <c:v>210</c:v>
                </c:pt>
                <c:pt idx="59">
                  <c:v>380</c:v>
                </c:pt>
                <c:pt idx="60">
                  <c:v>825</c:v>
                </c:pt>
                <c:pt idx="61">
                  <c:v>1190</c:v>
                </c:pt>
                <c:pt idx="62">
                  <c:v>1640</c:v>
                </c:pt>
                <c:pt idx="63">
                  <c:v>1730</c:v>
                </c:pt>
                <c:pt idx="64">
                  <c:v>1020</c:v>
                </c:pt>
                <c:pt idx="65">
                  <c:v>1310</c:v>
                </c:pt>
                <c:pt idx="66">
                  <c:v>810</c:v>
                </c:pt>
                <c:pt idx="67">
                  <c:v>570</c:v>
                </c:pt>
                <c:pt idx="68">
                  <c:v>705</c:v>
                </c:pt>
                <c:pt idx="69">
                  <c:v>730</c:v>
                </c:pt>
                <c:pt idx="70">
                  <c:v>235</c:v>
                </c:pt>
                <c:pt idx="71">
                  <c:v>150</c:v>
                </c:pt>
                <c:pt idx="72">
                  <c:v>355</c:v>
                </c:pt>
                <c:pt idx="73">
                  <c:v>95</c:v>
                </c:pt>
                <c:pt idx="74">
                  <c:v>50</c:v>
                </c:pt>
                <c:pt idx="75">
                  <c:v>75</c:v>
                </c:pt>
                <c:pt idx="76">
                  <c:v>320</c:v>
                </c:pt>
                <c:pt idx="77">
                  <c:v>450</c:v>
                </c:pt>
                <c:pt idx="78">
                  <c:v>375</c:v>
                </c:pt>
                <c:pt idx="79">
                  <c:v>190</c:v>
                </c:pt>
                <c:pt idx="80">
                  <c:v>245</c:v>
                </c:pt>
                <c:pt idx="81">
                  <c:v>50</c:v>
                </c:pt>
                <c:pt idx="82">
                  <c:v>10</c:v>
                </c:pt>
                <c:pt idx="83">
                  <c:v>295</c:v>
                </c:pt>
                <c:pt idx="84">
                  <c:v>55</c:v>
                </c:pt>
                <c:pt idx="85">
                  <c:v>610</c:v>
                </c:pt>
                <c:pt idx="86">
                  <c:v>970</c:v>
                </c:pt>
                <c:pt idx="87">
                  <c:v>1800</c:v>
                </c:pt>
                <c:pt idx="88">
                  <c:v>900</c:v>
                </c:pt>
                <c:pt idx="89">
                  <c:v>1690</c:v>
                </c:pt>
                <c:pt idx="90">
                  <c:v>445</c:v>
                </c:pt>
                <c:pt idx="91">
                  <c:v>505</c:v>
                </c:pt>
                <c:pt idx="92">
                  <c:v>960</c:v>
                </c:pt>
                <c:pt idx="93">
                  <c:v>750</c:v>
                </c:pt>
                <c:pt idx="94">
                  <c:v>1444.872773</c:v>
                </c:pt>
                <c:pt idx="95">
                  <c:v>655</c:v>
                </c:pt>
                <c:pt idx="96">
                  <c:v>660</c:v>
                </c:pt>
                <c:pt idx="97">
                  <c:v>985</c:v>
                </c:pt>
                <c:pt idx="98">
                  <c:v>2290</c:v>
                </c:pt>
                <c:pt idx="99">
                  <c:v>6122.005894</c:v>
                </c:pt>
                <c:pt idx="100">
                  <c:v>2016.715795</c:v>
                </c:pt>
                <c:pt idx="101">
                  <c:v>4019.81854</c:v>
                </c:pt>
                <c:pt idx="102">
                  <c:v>1290.73205</c:v>
                </c:pt>
                <c:pt idx="103">
                  <c:v>1480.844918</c:v>
                </c:pt>
                <c:pt idx="104">
                  <c:v>1050</c:v>
                </c:pt>
                <c:pt idx="105">
                  <c:v>1290</c:v>
                </c:pt>
                <c:pt idx="106">
                  <c:v>455</c:v>
                </c:pt>
                <c:pt idx="107">
                  <c:v>508.948177</c:v>
                </c:pt>
                <c:pt idx="108">
                  <c:v>270</c:v>
                </c:pt>
                <c:pt idx="109">
                  <c:v>450</c:v>
                </c:pt>
                <c:pt idx="110">
                  <c:v>405</c:v>
                </c:pt>
                <c:pt idx="111">
                  <c:v>450.374207</c:v>
                </c:pt>
                <c:pt idx="112">
                  <c:v>195</c:v>
                </c:pt>
                <c:pt idx="113">
                  <c:v>455</c:v>
                </c:pt>
                <c:pt idx="114">
                  <c:v>20</c:v>
                </c:pt>
                <c:pt idx="115">
                  <c:v>60</c:v>
                </c:pt>
                <c:pt idx="116">
                  <c:v>265</c:v>
                </c:pt>
                <c:pt idx="117">
                  <c:v>10</c:v>
                </c:pt>
                <c:pt idx="118">
                  <c:v>10</c:v>
                </c:pt>
                <c:pt idx="119">
                  <c:v>80</c:v>
                </c:pt>
                <c:pt idx="120">
                  <c:v>60</c:v>
                </c:pt>
                <c:pt idx="121">
                  <c:v>60</c:v>
                </c:pt>
                <c:pt idx="122">
                  <c:v>10</c:v>
                </c:pt>
                <c:pt idx="123">
                  <c:v>10</c:v>
                </c:pt>
                <c:pt idx="124">
                  <c:v>10</c:v>
                </c:pt>
                <c:pt idx="125">
                  <c:v>0</c:v>
                </c:pt>
                <c:pt idx="129">
                  <c:v>15</c:v>
                </c:pt>
                <c:pt idx="132" c:formatCode="General">
                  <c:v>60</c:v>
                </c:pt>
              </c:numCache>
            </c:numRef>
          </c:val>
        </c:ser>
        <c:ser>
          <c:idx val="2"/>
          <c:order val="1"/>
          <c:tx>
            <c:strRef>
              <c:f>'[金色中国交易数据-20240708.xlsx]合并梳理'!$N$1</c:f>
              <c:strCache>
                <c:ptCount val="1"/>
                <c:pt idx="0">
                  <c:v>赎回金额（万$）</c:v>
                </c:pt>
              </c:strCache>
            </c:strRef>
          </c:tx>
          <c:spPr>
            <a:solidFill>
              <a:srgbClr val="FF0000"/>
            </a:solidFill>
            <a:ln>
              <a:solidFill>
                <a:srgbClr val="FF0000"/>
              </a:solidFill>
            </a:ln>
            <a:effectLst/>
          </c:spPr>
          <c:invertIfNegative val="0"/>
          <c:dLbls>
            <c:delete val="1"/>
          </c:dLbls>
          <c:cat>
            <c:numRef>
              <c:f>'[金色中国交易数据-20240708.xlsx]合并梳理'!$L$2:$L$140</c:f>
              <c:numCache>
                <c:formatCode>yyyy/m/d</c:formatCode>
                <c:ptCount val="139"/>
                <c:pt idx="0" c:formatCode="yyyy/m/d">
                  <c:v>41744</c:v>
                </c:pt>
                <c:pt idx="1" c:formatCode="yyyy/m/d">
                  <c:v>41754</c:v>
                </c:pt>
                <c:pt idx="2" c:formatCode="yyyy/m/d">
                  <c:v>41835</c:v>
                </c:pt>
                <c:pt idx="3" c:formatCode="yyyy/m/d">
                  <c:v>41866</c:v>
                </c:pt>
                <c:pt idx="4" c:formatCode="yyyy/m/d">
                  <c:v>41915</c:v>
                </c:pt>
                <c:pt idx="5" c:formatCode="yyyy/m/d">
                  <c:v>41940</c:v>
                </c:pt>
                <c:pt idx="6" c:formatCode="yyyy/m/d">
                  <c:v>41946</c:v>
                </c:pt>
                <c:pt idx="7" c:formatCode="yyyy/m/d">
                  <c:v>41970</c:v>
                </c:pt>
                <c:pt idx="8" c:formatCode="yyyy/m/d">
                  <c:v>42006</c:v>
                </c:pt>
                <c:pt idx="9" c:formatCode="yyyy/m/d">
                  <c:v>42037</c:v>
                </c:pt>
                <c:pt idx="10" c:formatCode="yyyy/m/d">
                  <c:v>42065</c:v>
                </c:pt>
                <c:pt idx="11" c:formatCode="yyyy/m/d">
                  <c:v>42081</c:v>
                </c:pt>
                <c:pt idx="12" c:formatCode="yyyy/m/d">
                  <c:v>42082</c:v>
                </c:pt>
                <c:pt idx="13" c:formatCode="yyyy/m/d">
                  <c:v>42095</c:v>
                </c:pt>
                <c:pt idx="14" c:formatCode="yyyy/m/d">
                  <c:v>42108</c:v>
                </c:pt>
                <c:pt idx="15" c:formatCode="yyyy/m/d">
                  <c:v>42118</c:v>
                </c:pt>
                <c:pt idx="16" c:formatCode="yyyy/m/d">
                  <c:v>42128</c:v>
                </c:pt>
                <c:pt idx="17" c:formatCode="yyyy/m/d">
                  <c:v>42156</c:v>
                </c:pt>
                <c:pt idx="18" c:formatCode="yyyy/m/d">
                  <c:v>42187</c:v>
                </c:pt>
                <c:pt idx="19" c:formatCode="yyyy/m/d">
                  <c:v>42219</c:v>
                </c:pt>
                <c:pt idx="20" c:formatCode="yyyy/m/d">
                  <c:v>42240</c:v>
                </c:pt>
                <c:pt idx="21" c:formatCode="yyyy/m/d">
                  <c:v>42248</c:v>
                </c:pt>
                <c:pt idx="22" c:formatCode="yyyy/m/d">
                  <c:v>42279</c:v>
                </c:pt>
                <c:pt idx="23" c:formatCode="yyyy/m/d">
                  <c:v>42284</c:v>
                </c:pt>
                <c:pt idx="24" c:formatCode="yyyy/m/d">
                  <c:v>42307</c:v>
                </c:pt>
                <c:pt idx="25" c:formatCode="yyyy/m/d">
                  <c:v>42310</c:v>
                </c:pt>
                <c:pt idx="26" c:formatCode="yyyy/m/d">
                  <c:v>42331</c:v>
                </c:pt>
                <c:pt idx="27" c:formatCode="yyyy/m/d">
                  <c:v>42339</c:v>
                </c:pt>
                <c:pt idx="28" c:formatCode="yyyy/m/d">
                  <c:v>42353</c:v>
                </c:pt>
                <c:pt idx="29" c:formatCode="yyyy/m/d">
                  <c:v>42356</c:v>
                </c:pt>
                <c:pt idx="30" c:formatCode="yyyy/m/d">
                  <c:v>42359</c:v>
                </c:pt>
                <c:pt idx="31" c:formatCode="yyyy/m/d">
                  <c:v>42360</c:v>
                </c:pt>
                <c:pt idx="32" c:formatCode="yyyy/m/d">
                  <c:v>42361</c:v>
                </c:pt>
                <c:pt idx="33" c:formatCode="yyyy/m/d">
                  <c:v>42362</c:v>
                </c:pt>
                <c:pt idx="34" c:formatCode="yyyy/m/d">
                  <c:v>42363</c:v>
                </c:pt>
                <c:pt idx="35" c:formatCode="yyyy/m/d">
                  <c:v>42367</c:v>
                </c:pt>
                <c:pt idx="36" c:formatCode="yyyy/m/d">
                  <c:v>42369</c:v>
                </c:pt>
                <c:pt idx="37" c:formatCode="yyyy/m/d">
                  <c:v>42370</c:v>
                </c:pt>
                <c:pt idx="38" c:formatCode="yyyy/m/d">
                  <c:v>42373</c:v>
                </c:pt>
                <c:pt idx="39" c:formatCode="yyyy/m/d">
                  <c:v>42401</c:v>
                </c:pt>
                <c:pt idx="40" c:formatCode="yyyy/m/d">
                  <c:v>42430</c:v>
                </c:pt>
                <c:pt idx="41" c:formatCode="yyyy/m/d">
                  <c:v>42461</c:v>
                </c:pt>
                <c:pt idx="42" c:formatCode="yyyy/m/d">
                  <c:v>42482</c:v>
                </c:pt>
                <c:pt idx="43" c:formatCode="yyyy/m/d">
                  <c:v>42493</c:v>
                </c:pt>
                <c:pt idx="44" c:formatCode="yyyy/m/d">
                  <c:v>42522</c:v>
                </c:pt>
                <c:pt idx="45" c:formatCode="yyyy/m/d">
                  <c:v>42555</c:v>
                </c:pt>
                <c:pt idx="46" c:formatCode="yyyy/m/d">
                  <c:v>42583</c:v>
                </c:pt>
                <c:pt idx="47" c:formatCode="yyyy/m/d">
                  <c:v>42614</c:v>
                </c:pt>
                <c:pt idx="48" c:formatCode="yyyy/m/d">
                  <c:v>42646</c:v>
                </c:pt>
                <c:pt idx="49" c:formatCode="yyyy/m/d">
                  <c:v>42675</c:v>
                </c:pt>
                <c:pt idx="50" c:formatCode="yyyy/m/d">
                  <c:v>42738</c:v>
                </c:pt>
                <c:pt idx="51" c:formatCode="yyyy/m/d">
                  <c:v>42767</c:v>
                </c:pt>
                <c:pt idx="52" c:formatCode="yyyy/m/d">
                  <c:v>42795</c:v>
                </c:pt>
                <c:pt idx="53" c:formatCode="yyyy/m/d">
                  <c:v>42828</c:v>
                </c:pt>
                <c:pt idx="54" c:formatCode="yyyy/m/d">
                  <c:v>42857</c:v>
                </c:pt>
                <c:pt idx="55" c:formatCode="yyyy/m/d">
                  <c:v>42887</c:v>
                </c:pt>
                <c:pt idx="56" c:formatCode="yyyy/m/d">
                  <c:v>42919</c:v>
                </c:pt>
                <c:pt idx="57" c:formatCode="yyyy/m/d">
                  <c:v>42948</c:v>
                </c:pt>
                <c:pt idx="58" c:formatCode="yyyy/m/d">
                  <c:v>42979</c:v>
                </c:pt>
                <c:pt idx="59" c:formatCode="yyyy/m/d">
                  <c:v>43011</c:v>
                </c:pt>
                <c:pt idx="60" c:formatCode="yyyy/m/d">
                  <c:v>43040</c:v>
                </c:pt>
                <c:pt idx="61" c:formatCode="yyyy/m/d">
                  <c:v>43070</c:v>
                </c:pt>
                <c:pt idx="62" c:formatCode="yyyy/m/d">
                  <c:v>43102</c:v>
                </c:pt>
                <c:pt idx="63" c:formatCode="yyyy/m/d">
                  <c:v>43132</c:v>
                </c:pt>
                <c:pt idx="64" c:formatCode="yyyy/m/d">
                  <c:v>43160</c:v>
                </c:pt>
                <c:pt idx="65" c:formatCode="yyyy/m/d">
                  <c:v>43193</c:v>
                </c:pt>
                <c:pt idx="66" c:formatCode="yyyy/m/d">
                  <c:v>43222</c:v>
                </c:pt>
                <c:pt idx="67" c:formatCode="yyyy/m/d">
                  <c:v>43252</c:v>
                </c:pt>
                <c:pt idx="68" c:formatCode="yyyy/m/d">
                  <c:v>43284</c:v>
                </c:pt>
                <c:pt idx="69" c:formatCode="yyyy/m/d">
                  <c:v>43313</c:v>
                </c:pt>
                <c:pt idx="70" c:formatCode="yyyy/m/d">
                  <c:v>43346</c:v>
                </c:pt>
                <c:pt idx="71" c:formatCode="yyyy/m/d">
                  <c:v>43375</c:v>
                </c:pt>
                <c:pt idx="72" c:formatCode="yyyy/m/d">
                  <c:v>43405</c:v>
                </c:pt>
                <c:pt idx="73" c:formatCode="yyyy/m/d">
                  <c:v>43437</c:v>
                </c:pt>
                <c:pt idx="74" c:formatCode="yyyy/m/d">
                  <c:v>43467</c:v>
                </c:pt>
                <c:pt idx="75" c:formatCode="yyyy/m/d">
                  <c:v>43497</c:v>
                </c:pt>
                <c:pt idx="76" c:formatCode="yyyy/m/d">
                  <c:v>43525</c:v>
                </c:pt>
                <c:pt idx="77" c:formatCode="yyyy/m/d">
                  <c:v>43556</c:v>
                </c:pt>
                <c:pt idx="78" c:formatCode="yyyy/m/d">
                  <c:v>43587</c:v>
                </c:pt>
                <c:pt idx="79" c:formatCode="yyyy/m/d">
                  <c:v>43619</c:v>
                </c:pt>
                <c:pt idx="80" c:formatCode="yyyy/m/d">
                  <c:v>43648</c:v>
                </c:pt>
                <c:pt idx="81" c:formatCode="yyyy/m/d">
                  <c:v>43678</c:v>
                </c:pt>
                <c:pt idx="82" c:formatCode="yyyy/m/d">
                  <c:v>43710</c:v>
                </c:pt>
                <c:pt idx="83" c:formatCode="yyyy/m/d">
                  <c:v>43740</c:v>
                </c:pt>
                <c:pt idx="84" c:formatCode="yyyy/m/d">
                  <c:v>43770</c:v>
                </c:pt>
                <c:pt idx="85" c:formatCode="yyyy/m/d">
                  <c:v>43801</c:v>
                </c:pt>
                <c:pt idx="86" c:formatCode="yyyy/m/d">
                  <c:v>43832</c:v>
                </c:pt>
                <c:pt idx="87" c:formatCode="yyyy/m/d">
                  <c:v>43864</c:v>
                </c:pt>
                <c:pt idx="88" c:formatCode="yyyy/m/d">
                  <c:v>43892</c:v>
                </c:pt>
                <c:pt idx="89" c:formatCode="yyyy/m/d">
                  <c:v>43922</c:v>
                </c:pt>
                <c:pt idx="90" c:formatCode="yyyy/m/d">
                  <c:v>43955</c:v>
                </c:pt>
                <c:pt idx="91" c:formatCode="yyyy/m/d">
                  <c:v>43983</c:v>
                </c:pt>
                <c:pt idx="92" c:formatCode="yyyy/m/d">
                  <c:v>44014</c:v>
                </c:pt>
                <c:pt idx="93" c:formatCode="yyyy/m/d">
                  <c:v>44046</c:v>
                </c:pt>
                <c:pt idx="94" c:formatCode="yyyy/m/d">
                  <c:v>44075</c:v>
                </c:pt>
                <c:pt idx="95" c:formatCode="yyyy/m/d">
                  <c:v>44109</c:v>
                </c:pt>
                <c:pt idx="96" c:formatCode="yyyy/m/d">
                  <c:v>44137</c:v>
                </c:pt>
                <c:pt idx="97" c:formatCode="yyyy/m/d">
                  <c:v>44166</c:v>
                </c:pt>
                <c:pt idx="98" c:formatCode="yyyy/m/d">
                  <c:v>44200</c:v>
                </c:pt>
                <c:pt idx="99" c:formatCode="yyyy/m/d">
                  <c:v>44228</c:v>
                </c:pt>
                <c:pt idx="100" c:formatCode="yyyy/m/d">
                  <c:v>44256</c:v>
                </c:pt>
                <c:pt idx="101" c:formatCode="yyyy/m/d">
                  <c:v>44287</c:v>
                </c:pt>
                <c:pt idx="102" c:formatCode="yyyy/m/d">
                  <c:v>44319</c:v>
                </c:pt>
                <c:pt idx="103" c:formatCode="yyyy/m/d">
                  <c:v>44348</c:v>
                </c:pt>
                <c:pt idx="104" c:formatCode="yyyy/m/d">
                  <c:v>44379</c:v>
                </c:pt>
                <c:pt idx="105" c:formatCode="yyyy/m/d">
                  <c:v>44410</c:v>
                </c:pt>
                <c:pt idx="106" c:formatCode="yyyy/m/d">
                  <c:v>44440</c:v>
                </c:pt>
                <c:pt idx="107" c:formatCode="yyyy/m/d">
                  <c:v>44473</c:v>
                </c:pt>
                <c:pt idx="108" c:formatCode="yyyy/m/d">
                  <c:v>44501</c:v>
                </c:pt>
                <c:pt idx="109" c:formatCode="yyyy/m/d">
                  <c:v>44531</c:v>
                </c:pt>
                <c:pt idx="110" c:formatCode="yyyy/m/d">
                  <c:v>44564</c:v>
                </c:pt>
                <c:pt idx="111" c:formatCode="yyyy/m/d">
                  <c:v>44596</c:v>
                </c:pt>
                <c:pt idx="112" c:formatCode="yyyy/m/d">
                  <c:v>44621</c:v>
                </c:pt>
                <c:pt idx="113" c:formatCode="yyyy/m/d">
                  <c:v>44652</c:v>
                </c:pt>
                <c:pt idx="114" c:formatCode="yyyy/m/d">
                  <c:v>44684</c:v>
                </c:pt>
                <c:pt idx="115" c:formatCode="yyyy/m/d">
                  <c:v>44713</c:v>
                </c:pt>
                <c:pt idx="116" c:formatCode="yyyy/m/d">
                  <c:v>44774</c:v>
                </c:pt>
                <c:pt idx="117" c:formatCode="yyyy/m/d">
                  <c:v>44805</c:v>
                </c:pt>
                <c:pt idx="118" c:formatCode="yyyy/m/d">
                  <c:v>44896</c:v>
                </c:pt>
                <c:pt idx="119" c:formatCode="yyyy/m/d">
                  <c:v>44958</c:v>
                </c:pt>
                <c:pt idx="120" c:formatCode="yyyy/m/d">
                  <c:v>44986</c:v>
                </c:pt>
                <c:pt idx="121" c:formatCode="yyyy/m/d">
                  <c:v>45019</c:v>
                </c:pt>
                <c:pt idx="122" c:formatCode="yyyy/m/d">
                  <c:v>45078</c:v>
                </c:pt>
                <c:pt idx="123" c:formatCode="yyyy/m/d">
                  <c:v>45170</c:v>
                </c:pt>
                <c:pt idx="124" c:formatCode="yyyy/m/d">
                  <c:v>45231</c:v>
                </c:pt>
                <c:pt idx="125" c:formatCode="yyyy/m/d">
                  <c:v>45261</c:v>
                </c:pt>
                <c:pt idx="126" c:formatCode="yyyy/m/d">
                  <c:v>45293</c:v>
                </c:pt>
                <c:pt idx="127" c:formatCode="yyyy/m/d">
                  <c:v>45323</c:v>
                </c:pt>
                <c:pt idx="128" c:formatCode="yyyy/m/d">
                  <c:v>45352</c:v>
                </c:pt>
                <c:pt idx="129" c:formatCode="yyyy/m/d">
                  <c:v>45384</c:v>
                </c:pt>
                <c:pt idx="130" c:formatCode="yyyy/m/d">
                  <c:v>45414</c:v>
                </c:pt>
                <c:pt idx="131" c:formatCode="yyyy/m/d">
                  <c:v>45446</c:v>
                </c:pt>
                <c:pt idx="132" c:formatCode="yyyy/m/d">
                  <c:v>45476</c:v>
                </c:pt>
                <c:pt idx="133" c:formatCode="yyyy/m/d">
                  <c:v>45507</c:v>
                </c:pt>
                <c:pt idx="134" c:formatCode="yyyy/m/d">
                  <c:v>45538</c:v>
                </c:pt>
                <c:pt idx="135" c:formatCode="yyyy/m/d">
                  <c:v>45568</c:v>
                </c:pt>
                <c:pt idx="136" c:formatCode="yyyy/m/d">
                  <c:v>45599</c:v>
                </c:pt>
                <c:pt idx="137" c:formatCode="yyyy/m/d">
                  <c:v>45626</c:v>
                </c:pt>
                <c:pt idx="138" c:formatCode="yyyy/m/d">
                  <c:v>45657</c:v>
                </c:pt>
              </c:numCache>
            </c:numRef>
          </c:cat>
          <c:val>
            <c:numRef>
              <c:f>'[金色中国交易数据-20240708.xlsx]合并梳理'!$N$2:$N$140</c:f>
              <c:numCache>
                <c:formatCode>_ * #,##0_ ;_ * \-#,##0_ ;_ * "-"??_ ;_ @_ </c:formatCode>
                <c:ptCount val="139"/>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-150.720397</c:v>
                </c:pt>
                <c:pt idx="39">
                  <c:v>-150.720397</c:v>
                </c:pt>
                <c:pt idx="40">
                  <c:v>-300.964503</c:v>
                </c:pt>
                <c:pt idx="41">
                  <c:v>-300.964503</c:v>
                </c:pt>
                <c:pt idx="42">
                  <c:v>0</c:v>
                </c:pt>
                <c:pt idx="43">
                  <c:v>0</c:v>
                </c:pt>
                <c:pt idx="44">
                  <c:v>-179.859921</c:v>
                </c:pt>
                <c:pt idx="45">
                  <c:v>-24.74067</c:v>
                </c:pt>
                <c:pt idx="46">
                  <c:v>-172.106141</c:v>
                </c:pt>
                <c:pt idx="47">
                  <c:v>-17.556503</c:v>
                </c:pt>
                <c:pt idx="48">
                  <c:v>-69.086216</c:v>
                </c:pt>
                <c:pt idx="49">
                  <c:v>-597.638195</c:v>
                </c:pt>
                <c:pt idx="50">
                  <c:v>-191.348292</c:v>
                </c:pt>
                <c:pt idx="51">
                  <c:v>-164.271151</c:v>
                </c:pt>
                <c:pt idx="52">
                  <c:v>-164.271151</c:v>
                </c:pt>
                <c:pt idx="53">
                  <c:v>-673.680775</c:v>
                </c:pt>
                <c:pt idx="54">
                  <c:v>-70.798587</c:v>
                </c:pt>
                <c:pt idx="55">
                  <c:v>-198.366436</c:v>
                </c:pt>
                <c:pt idx="56">
                  <c:v>-530.405366</c:v>
                </c:pt>
                <c:pt idx="57">
                  <c:v>-738.296939</c:v>
                </c:pt>
                <c:pt idx="58">
                  <c:v>-243.029275</c:v>
                </c:pt>
                <c:pt idx="59">
                  <c:v>-746.43433</c:v>
                </c:pt>
                <c:pt idx="60">
                  <c:v>-297.239225</c:v>
                </c:pt>
                <c:pt idx="61">
                  <c:v>-228.691452</c:v>
                </c:pt>
                <c:pt idx="62">
                  <c:v>-146.207381</c:v>
                </c:pt>
                <c:pt idx="63">
                  <c:v>-203.341953</c:v>
                </c:pt>
                <c:pt idx="64">
                  <c:v>-300.291316</c:v>
                </c:pt>
                <c:pt idx="65">
                  <c:v>-171.212033</c:v>
                </c:pt>
                <c:pt idx="66">
                  <c:v>-118.13885</c:v>
                </c:pt>
                <c:pt idx="67">
                  <c:v>-254.783338</c:v>
                </c:pt>
                <c:pt idx="68">
                  <c:v>-35.343223</c:v>
                </c:pt>
                <c:pt idx="69">
                  <c:v>-77.217924</c:v>
                </c:pt>
                <c:pt idx="70">
                  <c:v>-77.217924</c:v>
                </c:pt>
                <c:pt idx="71">
                  <c:v>-125.198736</c:v>
                </c:pt>
                <c:pt idx="72">
                  <c:v>-289.368239</c:v>
                </c:pt>
                <c:pt idx="73">
                  <c:v>-315.78424</c:v>
                </c:pt>
                <c:pt idx="74">
                  <c:v>-191.397175</c:v>
                </c:pt>
                <c:pt idx="75">
                  <c:v>-31.785606</c:v>
                </c:pt>
                <c:pt idx="76">
                  <c:v>-206.103006</c:v>
                </c:pt>
                <c:pt idx="77">
                  <c:v>-206.103006</c:v>
                </c:pt>
                <c:pt idx="78">
                  <c:v>-37.23236</c:v>
                </c:pt>
                <c:pt idx="79">
                  <c:v>-26.523032</c:v>
                </c:pt>
                <c:pt idx="80">
                  <c:v>-266.129565</c:v>
                </c:pt>
                <c:pt idx="81">
                  <c:v>-78.139945</c:v>
                </c:pt>
                <c:pt idx="82">
                  <c:v>-1634.207906</c:v>
                </c:pt>
                <c:pt idx="83">
                  <c:v>-635.217854</c:v>
                </c:pt>
                <c:pt idx="84">
                  <c:v>-190.050493</c:v>
                </c:pt>
                <c:pt idx="85">
                  <c:v>-372.178947</c:v>
                </c:pt>
                <c:pt idx="86">
                  <c:v>-215.350649</c:v>
                </c:pt>
                <c:pt idx="87">
                  <c:v>-164.220141</c:v>
                </c:pt>
                <c:pt idx="88">
                  <c:v>-154.886907</c:v>
                </c:pt>
                <c:pt idx="89">
                  <c:v>-104.119602</c:v>
                </c:pt>
                <c:pt idx="90">
                  <c:v>-165.484895</c:v>
                </c:pt>
                <c:pt idx="91">
                  <c:v>-198.848963</c:v>
                </c:pt>
                <c:pt idx="92">
                  <c:v>-163.860907</c:v>
                </c:pt>
                <c:pt idx="93">
                  <c:v>-62.16896</c:v>
                </c:pt>
                <c:pt idx="94">
                  <c:v>-596.147526</c:v>
                </c:pt>
                <c:pt idx="95">
                  <c:v>-523.163492</c:v>
                </c:pt>
                <c:pt idx="96">
                  <c:v>-652.47759</c:v>
                </c:pt>
                <c:pt idx="97">
                  <c:v>-139.587123</c:v>
                </c:pt>
                <c:pt idx="98">
                  <c:v>-111.794747</c:v>
                </c:pt>
                <c:pt idx="99">
                  <c:v>-2433.507361</c:v>
                </c:pt>
                <c:pt idx="100">
                  <c:v>-926.559666</c:v>
                </c:pt>
                <c:pt idx="101">
                  <c:v>-1461.166793</c:v>
                </c:pt>
                <c:pt idx="102">
                  <c:v>-502.327724</c:v>
                </c:pt>
                <c:pt idx="103">
                  <c:v>-514.03442</c:v>
                </c:pt>
                <c:pt idx="104">
                  <c:v>-131.613201</c:v>
                </c:pt>
                <c:pt idx="105">
                  <c:v>-382.119602</c:v>
                </c:pt>
                <c:pt idx="106">
                  <c:v>-588.46202</c:v>
                </c:pt>
                <c:pt idx="107">
                  <c:v>-774.84749</c:v>
                </c:pt>
                <c:pt idx="108">
                  <c:v>-422.091784</c:v>
                </c:pt>
                <c:pt idx="109">
                  <c:v>-519.566524</c:v>
                </c:pt>
                <c:pt idx="110">
                  <c:v>-364.645569</c:v>
                </c:pt>
                <c:pt idx="111">
                  <c:v>-355.654709</c:v>
                </c:pt>
                <c:pt idx="112">
                  <c:v>-33.25855</c:v>
                </c:pt>
                <c:pt idx="113">
                  <c:v>-241.145569</c:v>
                </c:pt>
                <c:pt idx="114">
                  <c:v>-294.152547</c:v>
                </c:pt>
                <c:pt idx="115">
                  <c:v>-100.02313</c:v>
                </c:pt>
                <c:pt idx="116">
                  <c:v>-160.844131</c:v>
                </c:pt>
                <c:pt idx="117">
                  <c:v>-75.471757</c:v>
                </c:pt>
                <c:pt idx="118">
                  <c:v>-429.314157</c:v>
                </c:pt>
                <c:pt idx="119">
                  <c:v>-96.560498</c:v>
                </c:pt>
                <c:pt idx="120">
                  <c:v>-96.560498</c:v>
                </c:pt>
                <c:pt idx="121">
                  <c:v>-192.009648</c:v>
                </c:pt>
                <c:pt idx="122">
                  <c:v>-164.014389</c:v>
                </c:pt>
                <c:pt idx="123">
                  <c:v>-464.805864</c:v>
                </c:pt>
                <c:pt idx="124">
                  <c:v>-1597.996152</c:v>
                </c:pt>
                <c:pt idx="125">
                  <c:v>-998.972892</c:v>
                </c:pt>
                <c:pt idx="126">
                  <c:v>-1092.995858</c:v>
                </c:pt>
                <c:pt idx="127">
                  <c:v>-586.7573</c:v>
                </c:pt>
                <c:pt idx="128">
                  <c:v>-909.851617</c:v>
                </c:pt>
                <c:pt idx="129">
                  <c:v>-512.08751</c:v>
                </c:pt>
                <c:pt idx="130">
                  <c:v>-766.936858</c:v>
                </c:pt>
                <c:pt idx="131" c:formatCode="General">
                  <c:v>-3166</c:v>
                </c:pt>
                <c:pt idx="132" c:formatCode="General">
                  <c:v>-2651</c:v>
                </c:pt>
                <c:pt idx="133" c:formatCode="General">
                  <c:v>-666</c:v>
                </c:pt>
                <c:pt idx="134" c:formatCode="General">
                  <c:v>-692</c:v>
                </c:pt>
                <c:pt idx="135" c:formatCode="General">
                  <c:v>-1829</c:v>
                </c:pt>
              </c:numCache>
            </c:numRef>
          </c:val>
        </c:ser>
        <c:dLbls>
          <c:showLegendKey val="0"/>
          <c:showVal val="0"/>
          <c:showCatName val="0"/>
          <c:showSerName val="0"/>
          <c:showPercent val="0"/>
          <c:showBubbleSize val="0"/>
        </c:dLbls>
        <c:gapWidth val="219"/>
        <c:axId val="476365727"/>
        <c:axId val="476381951"/>
      </c:barChart>
      <c:lineChart>
        <c:grouping val="standard"/>
        <c:varyColors val="0"/>
        <c:ser>
          <c:idx val="0"/>
          <c:order val="2"/>
          <c:tx>
            <c:strRef>
              <c:f>'[金色中国交易数据-20240708.xlsx]合并梳理'!$O$1</c:f>
              <c:strCache>
                <c:ptCount val="1"/>
                <c:pt idx="0">
                  <c:v>净值（归1）</c:v>
                </c:pt>
              </c:strCache>
            </c:strRef>
          </c:tx>
          <c:spPr>
            <a:ln w="28575" cap="rnd">
              <a:solidFill>
                <a:schemeClr val="accent6"/>
              </a:solidFill>
              <a:round/>
            </a:ln>
            <a:effectLst/>
          </c:spPr>
          <c:marker>
            <c:symbol val="none"/>
          </c:marker>
          <c:dLbls>
            <c:delete val="1"/>
          </c:dLbls>
          <c:cat>
            <c:numRef>
              <c:f>'[金色中国交易数据-20240708.xlsx]合并梳理'!$L$2:$L$140</c:f>
              <c:numCache>
                <c:formatCode>yyyy/m/d</c:formatCode>
                <c:ptCount val="139"/>
                <c:pt idx="0" c:formatCode="yyyy/m/d">
                  <c:v>41744</c:v>
                </c:pt>
                <c:pt idx="1" c:formatCode="yyyy/m/d">
                  <c:v>41754</c:v>
                </c:pt>
                <c:pt idx="2" c:formatCode="yyyy/m/d">
                  <c:v>41835</c:v>
                </c:pt>
                <c:pt idx="3" c:formatCode="yyyy/m/d">
                  <c:v>41866</c:v>
                </c:pt>
                <c:pt idx="4" c:formatCode="yyyy/m/d">
                  <c:v>41915</c:v>
                </c:pt>
                <c:pt idx="5" c:formatCode="yyyy/m/d">
                  <c:v>41940</c:v>
                </c:pt>
                <c:pt idx="6" c:formatCode="yyyy/m/d">
                  <c:v>41946</c:v>
                </c:pt>
                <c:pt idx="7" c:formatCode="yyyy/m/d">
                  <c:v>41970</c:v>
                </c:pt>
                <c:pt idx="8" c:formatCode="yyyy/m/d">
                  <c:v>42006</c:v>
                </c:pt>
                <c:pt idx="9" c:formatCode="yyyy/m/d">
                  <c:v>42037</c:v>
                </c:pt>
                <c:pt idx="10" c:formatCode="yyyy/m/d">
                  <c:v>42065</c:v>
                </c:pt>
                <c:pt idx="11" c:formatCode="yyyy/m/d">
                  <c:v>42081</c:v>
                </c:pt>
                <c:pt idx="12" c:formatCode="yyyy/m/d">
                  <c:v>42082</c:v>
                </c:pt>
                <c:pt idx="13" c:formatCode="yyyy/m/d">
                  <c:v>42095</c:v>
                </c:pt>
                <c:pt idx="14" c:formatCode="yyyy/m/d">
                  <c:v>42108</c:v>
                </c:pt>
                <c:pt idx="15" c:formatCode="yyyy/m/d">
                  <c:v>42118</c:v>
                </c:pt>
                <c:pt idx="16" c:formatCode="yyyy/m/d">
                  <c:v>42128</c:v>
                </c:pt>
                <c:pt idx="17" c:formatCode="yyyy/m/d">
                  <c:v>42156</c:v>
                </c:pt>
                <c:pt idx="18" c:formatCode="yyyy/m/d">
                  <c:v>42187</c:v>
                </c:pt>
                <c:pt idx="19" c:formatCode="yyyy/m/d">
                  <c:v>42219</c:v>
                </c:pt>
                <c:pt idx="20" c:formatCode="yyyy/m/d">
                  <c:v>42240</c:v>
                </c:pt>
                <c:pt idx="21" c:formatCode="yyyy/m/d">
                  <c:v>42248</c:v>
                </c:pt>
                <c:pt idx="22" c:formatCode="yyyy/m/d">
                  <c:v>42279</c:v>
                </c:pt>
                <c:pt idx="23" c:formatCode="yyyy/m/d">
                  <c:v>42284</c:v>
                </c:pt>
                <c:pt idx="24" c:formatCode="yyyy/m/d">
                  <c:v>42307</c:v>
                </c:pt>
                <c:pt idx="25" c:formatCode="yyyy/m/d">
                  <c:v>42310</c:v>
                </c:pt>
                <c:pt idx="26" c:formatCode="yyyy/m/d">
                  <c:v>42331</c:v>
                </c:pt>
                <c:pt idx="27" c:formatCode="yyyy/m/d">
                  <c:v>42339</c:v>
                </c:pt>
                <c:pt idx="28" c:formatCode="yyyy/m/d">
                  <c:v>42353</c:v>
                </c:pt>
                <c:pt idx="29" c:formatCode="yyyy/m/d">
                  <c:v>42356</c:v>
                </c:pt>
                <c:pt idx="30" c:formatCode="yyyy/m/d">
                  <c:v>42359</c:v>
                </c:pt>
                <c:pt idx="31" c:formatCode="yyyy/m/d">
                  <c:v>42360</c:v>
                </c:pt>
                <c:pt idx="32" c:formatCode="yyyy/m/d">
                  <c:v>42361</c:v>
                </c:pt>
                <c:pt idx="33" c:formatCode="yyyy/m/d">
                  <c:v>42362</c:v>
                </c:pt>
                <c:pt idx="34" c:formatCode="yyyy/m/d">
                  <c:v>42363</c:v>
                </c:pt>
                <c:pt idx="35" c:formatCode="yyyy/m/d">
                  <c:v>42367</c:v>
                </c:pt>
                <c:pt idx="36" c:formatCode="yyyy/m/d">
                  <c:v>42369</c:v>
                </c:pt>
                <c:pt idx="37" c:formatCode="yyyy/m/d">
                  <c:v>42370</c:v>
                </c:pt>
                <c:pt idx="38" c:formatCode="yyyy/m/d">
                  <c:v>42373</c:v>
                </c:pt>
                <c:pt idx="39" c:formatCode="yyyy/m/d">
                  <c:v>42401</c:v>
                </c:pt>
                <c:pt idx="40" c:formatCode="yyyy/m/d">
                  <c:v>42430</c:v>
                </c:pt>
                <c:pt idx="41" c:formatCode="yyyy/m/d">
                  <c:v>42461</c:v>
                </c:pt>
                <c:pt idx="42" c:formatCode="yyyy/m/d">
                  <c:v>42482</c:v>
                </c:pt>
                <c:pt idx="43" c:formatCode="yyyy/m/d">
                  <c:v>42493</c:v>
                </c:pt>
                <c:pt idx="44" c:formatCode="yyyy/m/d">
                  <c:v>42522</c:v>
                </c:pt>
                <c:pt idx="45" c:formatCode="yyyy/m/d">
                  <c:v>42555</c:v>
                </c:pt>
                <c:pt idx="46" c:formatCode="yyyy/m/d">
                  <c:v>42583</c:v>
                </c:pt>
                <c:pt idx="47" c:formatCode="yyyy/m/d">
                  <c:v>42614</c:v>
                </c:pt>
                <c:pt idx="48" c:formatCode="yyyy/m/d">
                  <c:v>42646</c:v>
                </c:pt>
                <c:pt idx="49" c:formatCode="yyyy/m/d">
                  <c:v>42675</c:v>
                </c:pt>
                <c:pt idx="50" c:formatCode="yyyy/m/d">
                  <c:v>42738</c:v>
                </c:pt>
                <c:pt idx="51" c:formatCode="yyyy/m/d">
                  <c:v>42767</c:v>
                </c:pt>
                <c:pt idx="52" c:formatCode="yyyy/m/d">
                  <c:v>42795</c:v>
                </c:pt>
                <c:pt idx="53" c:formatCode="yyyy/m/d">
                  <c:v>42828</c:v>
                </c:pt>
                <c:pt idx="54" c:formatCode="yyyy/m/d">
                  <c:v>42857</c:v>
                </c:pt>
                <c:pt idx="55" c:formatCode="yyyy/m/d">
                  <c:v>42887</c:v>
                </c:pt>
                <c:pt idx="56" c:formatCode="yyyy/m/d">
                  <c:v>42919</c:v>
                </c:pt>
                <c:pt idx="57" c:formatCode="yyyy/m/d">
                  <c:v>42948</c:v>
                </c:pt>
                <c:pt idx="58" c:formatCode="yyyy/m/d">
                  <c:v>42979</c:v>
                </c:pt>
                <c:pt idx="59" c:formatCode="yyyy/m/d">
                  <c:v>43011</c:v>
                </c:pt>
                <c:pt idx="60" c:formatCode="yyyy/m/d">
                  <c:v>43040</c:v>
                </c:pt>
                <c:pt idx="61" c:formatCode="yyyy/m/d">
                  <c:v>43070</c:v>
                </c:pt>
                <c:pt idx="62" c:formatCode="yyyy/m/d">
                  <c:v>43102</c:v>
                </c:pt>
                <c:pt idx="63" c:formatCode="yyyy/m/d">
                  <c:v>43132</c:v>
                </c:pt>
                <c:pt idx="64" c:formatCode="yyyy/m/d">
                  <c:v>43160</c:v>
                </c:pt>
                <c:pt idx="65" c:formatCode="yyyy/m/d">
                  <c:v>43193</c:v>
                </c:pt>
                <c:pt idx="66" c:formatCode="yyyy/m/d">
                  <c:v>43222</c:v>
                </c:pt>
                <c:pt idx="67" c:formatCode="yyyy/m/d">
                  <c:v>43252</c:v>
                </c:pt>
                <c:pt idx="68" c:formatCode="yyyy/m/d">
                  <c:v>43284</c:v>
                </c:pt>
                <c:pt idx="69" c:formatCode="yyyy/m/d">
                  <c:v>43313</c:v>
                </c:pt>
                <c:pt idx="70" c:formatCode="yyyy/m/d">
                  <c:v>43346</c:v>
                </c:pt>
                <c:pt idx="71" c:formatCode="yyyy/m/d">
                  <c:v>43375</c:v>
                </c:pt>
                <c:pt idx="72" c:formatCode="yyyy/m/d">
                  <c:v>43405</c:v>
                </c:pt>
                <c:pt idx="73" c:formatCode="yyyy/m/d">
                  <c:v>43437</c:v>
                </c:pt>
                <c:pt idx="74" c:formatCode="yyyy/m/d">
                  <c:v>43467</c:v>
                </c:pt>
                <c:pt idx="75" c:formatCode="yyyy/m/d">
                  <c:v>43497</c:v>
                </c:pt>
                <c:pt idx="76" c:formatCode="yyyy/m/d">
                  <c:v>43525</c:v>
                </c:pt>
                <c:pt idx="77" c:formatCode="yyyy/m/d">
                  <c:v>43556</c:v>
                </c:pt>
                <c:pt idx="78" c:formatCode="yyyy/m/d">
                  <c:v>43587</c:v>
                </c:pt>
                <c:pt idx="79" c:formatCode="yyyy/m/d">
                  <c:v>43619</c:v>
                </c:pt>
                <c:pt idx="80" c:formatCode="yyyy/m/d">
                  <c:v>43648</c:v>
                </c:pt>
                <c:pt idx="81" c:formatCode="yyyy/m/d">
                  <c:v>43678</c:v>
                </c:pt>
                <c:pt idx="82" c:formatCode="yyyy/m/d">
                  <c:v>43710</c:v>
                </c:pt>
                <c:pt idx="83" c:formatCode="yyyy/m/d">
                  <c:v>43740</c:v>
                </c:pt>
                <c:pt idx="84" c:formatCode="yyyy/m/d">
                  <c:v>43770</c:v>
                </c:pt>
                <c:pt idx="85" c:formatCode="yyyy/m/d">
                  <c:v>43801</c:v>
                </c:pt>
                <c:pt idx="86" c:formatCode="yyyy/m/d">
                  <c:v>43832</c:v>
                </c:pt>
                <c:pt idx="87" c:formatCode="yyyy/m/d">
                  <c:v>43864</c:v>
                </c:pt>
                <c:pt idx="88" c:formatCode="yyyy/m/d">
                  <c:v>43892</c:v>
                </c:pt>
                <c:pt idx="89" c:formatCode="yyyy/m/d">
                  <c:v>43922</c:v>
                </c:pt>
                <c:pt idx="90" c:formatCode="yyyy/m/d">
                  <c:v>43955</c:v>
                </c:pt>
                <c:pt idx="91" c:formatCode="yyyy/m/d">
                  <c:v>43983</c:v>
                </c:pt>
                <c:pt idx="92" c:formatCode="yyyy/m/d">
                  <c:v>44014</c:v>
                </c:pt>
                <c:pt idx="93" c:formatCode="yyyy/m/d">
                  <c:v>44046</c:v>
                </c:pt>
                <c:pt idx="94" c:formatCode="yyyy/m/d">
                  <c:v>44075</c:v>
                </c:pt>
                <c:pt idx="95" c:formatCode="yyyy/m/d">
                  <c:v>44109</c:v>
                </c:pt>
                <c:pt idx="96" c:formatCode="yyyy/m/d">
                  <c:v>44137</c:v>
                </c:pt>
                <c:pt idx="97" c:formatCode="yyyy/m/d">
                  <c:v>44166</c:v>
                </c:pt>
                <c:pt idx="98" c:formatCode="yyyy/m/d">
                  <c:v>44200</c:v>
                </c:pt>
                <c:pt idx="99" c:formatCode="yyyy/m/d">
                  <c:v>44228</c:v>
                </c:pt>
                <c:pt idx="100" c:formatCode="yyyy/m/d">
                  <c:v>44256</c:v>
                </c:pt>
                <c:pt idx="101" c:formatCode="yyyy/m/d">
                  <c:v>44287</c:v>
                </c:pt>
                <c:pt idx="102" c:formatCode="yyyy/m/d">
                  <c:v>44319</c:v>
                </c:pt>
                <c:pt idx="103" c:formatCode="yyyy/m/d">
                  <c:v>44348</c:v>
                </c:pt>
                <c:pt idx="104" c:formatCode="yyyy/m/d">
                  <c:v>44379</c:v>
                </c:pt>
                <c:pt idx="105" c:formatCode="yyyy/m/d">
                  <c:v>44410</c:v>
                </c:pt>
                <c:pt idx="106" c:formatCode="yyyy/m/d">
                  <c:v>44440</c:v>
                </c:pt>
                <c:pt idx="107" c:formatCode="yyyy/m/d">
                  <c:v>44473</c:v>
                </c:pt>
                <c:pt idx="108" c:formatCode="yyyy/m/d">
                  <c:v>44501</c:v>
                </c:pt>
                <c:pt idx="109" c:formatCode="yyyy/m/d">
                  <c:v>44531</c:v>
                </c:pt>
                <c:pt idx="110" c:formatCode="yyyy/m/d">
                  <c:v>44564</c:v>
                </c:pt>
                <c:pt idx="111" c:formatCode="yyyy/m/d">
                  <c:v>44596</c:v>
                </c:pt>
                <c:pt idx="112" c:formatCode="yyyy/m/d">
                  <c:v>44621</c:v>
                </c:pt>
                <c:pt idx="113" c:formatCode="yyyy/m/d">
                  <c:v>44652</c:v>
                </c:pt>
                <c:pt idx="114" c:formatCode="yyyy/m/d">
                  <c:v>44684</c:v>
                </c:pt>
                <c:pt idx="115" c:formatCode="yyyy/m/d">
                  <c:v>44713</c:v>
                </c:pt>
                <c:pt idx="116" c:formatCode="yyyy/m/d">
                  <c:v>44774</c:v>
                </c:pt>
                <c:pt idx="117" c:formatCode="yyyy/m/d">
                  <c:v>44805</c:v>
                </c:pt>
                <c:pt idx="118" c:formatCode="yyyy/m/d">
                  <c:v>44896</c:v>
                </c:pt>
                <c:pt idx="119" c:formatCode="yyyy/m/d">
                  <c:v>44958</c:v>
                </c:pt>
                <c:pt idx="120" c:formatCode="yyyy/m/d">
                  <c:v>44986</c:v>
                </c:pt>
                <c:pt idx="121" c:formatCode="yyyy/m/d">
                  <c:v>45019</c:v>
                </c:pt>
                <c:pt idx="122" c:formatCode="yyyy/m/d">
                  <c:v>45078</c:v>
                </c:pt>
                <c:pt idx="123" c:formatCode="yyyy/m/d">
                  <c:v>45170</c:v>
                </c:pt>
                <c:pt idx="124" c:formatCode="yyyy/m/d">
                  <c:v>45231</c:v>
                </c:pt>
                <c:pt idx="125" c:formatCode="yyyy/m/d">
                  <c:v>45261</c:v>
                </c:pt>
                <c:pt idx="126" c:formatCode="yyyy/m/d">
                  <c:v>45293</c:v>
                </c:pt>
                <c:pt idx="127" c:formatCode="yyyy/m/d">
                  <c:v>45323</c:v>
                </c:pt>
                <c:pt idx="128" c:formatCode="yyyy/m/d">
                  <c:v>45352</c:v>
                </c:pt>
                <c:pt idx="129" c:formatCode="yyyy/m/d">
                  <c:v>45384</c:v>
                </c:pt>
                <c:pt idx="130" c:formatCode="yyyy/m/d">
                  <c:v>45414</c:v>
                </c:pt>
                <c:pt idx="131" c:formatCode="yyyy/m/d">
                  <c:v>45446</c:v>
                </c:pt>
                <c:pt idx="132" c:formatCode="yyyy/m/d">
                  <c:v>45476</c:v>
                </c:pt>
                <c:pt idx="133" c:formatCode="yyyy/m/d">
                  <c:v>45507</c:v>
                </c:pt>
                <c:pt idx="134" c:formatCode="yyyy/m/d">
                  <c:v>45538</c:v>
                </c:pt>
                <c:pt idx="135" c:formatCode="yyyy/m/d">
                  <c:v>45568</c:v>
                </c:pt>
                <c:pt idx="136" c:formatCode="yyyy/m/d">
                  <c:v>45599</c:v>
                </c:pt>
                <c:pt idx="137" c:formatCode="yyyy/m/d">
                  <c:v>45626</c:v>
                </c:pt>
                <c:pt idx="138" c:formatCode="yyyy/m/d">
                  <c:v>45657</c:v>
                </c:pt>
              </c:numCache>
            </c:numRef>
          </c:cat>
          <c:val>
            <c:numRef>
              <c:f>'[金色中国交易数据-20240708.xlsx]合并梳理'!$O$2:$O$140</c:f>
              <c:numCache>
                <c:formatCode>_ * #,##0_ ;_ * \-#,##0_ ;_ * "-"??_ ;_ @_ </c:formatCode>
                <c:ptCount val="139"/>
                <c:pt idx="0">
                  <c:v>#N/A</c:v>
                </c:pt>
                <c:pt idx="1">
                  <c:v>#N/A</c:v>
                </c:pt>
                <c:pt idx="2">
                  <c:v>#N/A</c:v>
                </c:pt>
                <c:pt idx="3">
                  <c:v>#N/A</c:v>
                </c:pt>
                <c:pt idx="4">
                  <c:v>#N/A</c:v>
                </c:pt>
                <c:pt idx="5">
                  <c:v>#N/A</c:v>
                </c:pt>
                <c:pt idx="6">
                  <c:v>#N/A</c:v>
                </c:pt>
                <c:pt idx="7">
                  <c:v>#N/A</c:v>
                </c:pt>
                <c:pt idx="8">
                  <c:v>#N/A</c:v>
                </c:pt>
                <c:pt idx="9" c:formatCode="_ * #,##0.0000_ ;_ * \-#,##0.0000_ ;_ * &quot;-&quot;??_ ;_ @_ ">
                  <c:v>1</c:v>
                </c:pt>
                <c:pt idx="10" c:formatCode="_ * #,##0.0000_ ;_ * \-#,##0.0000_ ;_ * &quot;-&quot;??_ ;_ @_ ">
                  <c:v>1.01034796452126</c:v>
                </c:pt>
                <c:pt idx="11" c:formatCode="_ * #,##0.0000_ ;_ * \-#,##0.0000_ ;_ * &quot;-&quot;??_ ;_ @_ ">
                  <c:v>1.01034796452126</c:v>
                </c:pt>
                <c:pt idx="12" c:formatCode="_ * #,##0.0000_ ;_ * \-#,##0.0000_ ;_ * &quot;-&quot;??_ ;_ @_ ">
                  <c:v>1.01034796452126</c:v>
                </c:pt>
                <c:pt idx="13" c:formatCode="_ * #,##0.0000_ ;_ * \-#,##0.0000_ ;_ * &quot;-&quot;??_ ;_ @_ ">
                  <c:v>1.0448032749602</c:v>
                </c:pt>
                <c:pt idx="14" c:formatCode="_ * #,##0.0000_ ;_ * \-#,##0.0000_ ;_ * &quot;-&quot;??_ ;_ @_ ">
                  <c:v>1.0448032749602</c:v>
                </c:pt>
                <c:pt idx="15" c:formatCode="_ * #,##0.0000_ ;_ * \-#,##0.0000_ ;_ * &quot;-&quot;??_ ;_ @_ ">
                  <c:v>1.0448032749602</c:v>
                </c:pt>
                <c:pt idx="16" c:formatCode="_ * #,##0.0000_ ;_ * \-#,##0.0000_ ;_ * &quot;-&quot;??_ ;_ @_ ">
                  <c:v>1.23254491698886</c:v>
                </c:pt>
                <c:pt idx="17" c:formatCode="_ * #,##0.0000_ ;_ * \-#,##0.0000_ ;_ * &quot;-&quot;??_ ;_ @_ ">
                  <c:v>1.24863543324994</c:v>
                </c:pt>
                <c:pt idx="18" c:formatCode="_ * #,##0.0000_ ;_ * \-#,##0.0000_ ;_ * &quot;-&quot;??_ ;_ @_ ">
                  <c:v>1.27922447123038</c:v>
                </c:pt>
                <c:pt idx="19" c:formatCode="_ * #,##0.0000_ ;_ * \-#,##0.0000_ ;_ * &quot;-&quot;??_ ;_ @_ ">
                  <c:v>1.1711394132363</c:v>
                </c:pt>
                <c:pt idx="20" c:formatCode="_ * #,##0.0000_ ;_ * \-#,##0.0000_ ;_ * &quot;-&quot;??_ ;_ @_ ">
                  <c:v>1.1711394132363</c:v>
                </c:pt>
                <c:pt idx="21" c:formatCode="_ * #,##0.0000_ ;_ * \-#,##0.0000_ ;_ * &quot;-&quot;??_ ;_ @_ ">
                  <c:v>1.0683989083466</c:v>
                </c:pt>
                <c:pt idx="22" c:formatCode="_ * #,##0.0000_ ;_ * \-#,##0.0000_ ;_ * &quot;-&quot;??_ ;_ @_ ">
                  <c:v>1.06834205139868</c:v>
                </c:pt>
                <c:pt idx="23" c:formatCode="_ * #,##0.0000_ ;_ * \-#,##0.0000_ ;_ * &quot;-&quot;??_ ;_ @_ ">
                  <c:v>1.06834205139868</c:v>
                </c:pt>
                <c:pt idx="24" c:formatCode="_ * #,##0.0000_ ;_ * \-#,##0.0000_ ;_ * &quot;-&quot;??_ ;_ @_ ">
                  <c:v>1.18796906982033</c:v>
                </c:pt>
                <c:pt idx="25" c:formatCode="_ * #,##0.0000_ ;_ * \-#,##0.0000_ ;_ * &quot;-&quot;??_ ;_ @_ ">
                  <c:v>1.18796906982033</c:v>
                </c:pt>
                <c:pt idx="26" c:formatCode="_ * #,##0.0000_ ;_ * \-#,##0.0000_ ;_ * &quot;-&quot;??_ ;_ @_ ">
                  <c:v>1.18796906982033</c:v>
                </c:pt>
                <c:pt idx="27" c:formatCode="_ * #,##0.0000_ ;_ * \-#,##0.0000_ ;_ * &quot;-&quot;??_ ;_ @_ ">
                  <c:v>1.21980896065499</c:v>
                </c:pt>
                <c:pt idx="28" c:formatCode="_ * #,##0.0000_ ;_ * \-#,##0.0000_ ;_ * &quot;-&quot;??_ ;_ @_ ">
                  <c:v>1.21980896065499</c:v>
                </c:pt>
                <c:pt idx="29" c:formatCode="_ * #,##0.0000_ ;_ * \-#,##0.0000_ ;_ * &quot;-&quot;??_ ;_ @_ ">
                  <c:v>1.21980896065499</c:v>
                </c:pt>
                <c:pt idx="30" c:formatCode="_ * #,##0.0000_ ;_ * \-#,##0.0000_ ;_ * &quot;-&quot;??_ ;_ @_ ">
                  <c:v>1.21980896065499</c:v>
                </c:pt>
                <c:pt idx="31" c:formatCode="_ * #,##0.0000_ ;_ * \-#,##0.0000_ ;_ * &quot;-&quot;??_ ;_ @_ ">
                  <c:v>1.21980896065499</c:v>
                </c:pt>
                <c:pt idx="32" c:formatCode="_ * #,##0.0000_ ;_ * \-#,##0.0000_ ;_ * &quot;-&quot;??_ ;_ @_ ">
                  <c:v>1.21980896065499</c:v>
                </c:pt>
                <c:pt idx="33" c:formatCode="_ * #,##0.0000_ ;_ * \-#,##0.0000_ ;_ * &quot;-&quot;??_ ;_ @_ ">
                  <c:v>1.21980896065499</c:v>
                </c:pt>
                <c:pt idx="34" c:formatCode="_ * #,##0.0000_ ;_ * \-#,##0.0000_ ;_ * &quot;-&quot;??_ ;_ @_ ">
                  <c:v>1.21980896065499</c:v>
                </c:pt>
                <c:pt idx="35" c:formatCode="_ * #,##0.0000_ ;_ * \-#,##0.0000_ ;_ * &quot;-&quot;??_ ;_ @_ ">
                  <c:v>1.21980896065499</c:v>
                </c:pt>
                <c:pt idx="36" c:formatCode="_ * #,##0.0000_ ;_ * \-#,##0.0000_ ;_ * &quot;-&quot;??_ ;_ @_ ">
                  <c:v>1.21997953149875</c:v>
                </c:pt>
                <c:pt idx="37" c:formatCode="_ * #,##0.0000_ ;_ * \-#,##0.0000_ ;_ * &quot;-&quot;??_ ;_ @_ ">
                  <c:v>1.21997953149875</c:v>
                </c:pt>
                <c:pt idx="38" c:formatCode="_ * #,##0.0000_ ;_ * \-#,##0.0000_ ;_ * &quot;-&quot;??_ ;_ @_ ">
                  <c:v>1.21997953149875</c:v>
                </c:pt>
                <c:pt idx="39" c:formatCode="_ * #,##0.0000_ ;_ * \-#,##0.0000_ ;_ * &quot;-&quot;??_ ;_ @_ ">
                  <c:v>1.08397771207642</c:v>
                </c:pt>
                <c:pt idx="40" c:formatCode="_ * #,##0.0000_ ;_ * \-#,##0.0000_ ;_ * &quot;-&quot;??_ ;_ @_ ">
                  <c:v>1.04377984989766</c:v>
                </c:pt>
                <c:pt idx="41" c:formatCode="_ * #,##0.0000_ ;_ * \-#,##0.0000_ ;_ * &quot;-&quot;??_ ;_ @_ ">
                  <c:v>1.11570388901524</c:v>
                </c:pt>
                <c:pt idx="42" c:formatCode="_ * #,##0.0000_ ;_ * \-#,##0.0000_ ;_ * &quot;-&quot;??_ ;_ @_ ">
                  <c:v>1.11570388901524</c:v>
                </c:pt>
                <c:pt idx="43" c:formatCode="_ * #,##0.0000_ ;_ * \-#,##0.0000_ ;_ * &quot;-&quot;??_ ;_ @_ ">
                  <c:v>1.10302478962929</c:v>
                </c:pt>
                <c:pt idx="44" c:formatCode="_ * #,##0.0000_ ;_ * \-#,##0.0000_ ;_ * &quot;-&quot;??_ ;_ @_ ">
                  <c:v>1.05122811007505</c:v>
                </c:pt>
                <c:pt idx="45" c:formatCode="_ * #,##0.0000_ ;_ * \-#,##0.0000_ ;_ * &quot;-&quot;??_ ;_ @_ ">
                  <c:v>1.05549238116898</c:v>
                </c:pt>
                <c:pt idx="46" c:formatCode="_ * #,##0.0000_ ;_ * \-#,##0.0000_ ;_ * &quot;-&quot;??_ ;_ @_ ">
                  <c:v>1.10620877871276</c:v>
                </c:pt>
                <c:pt idx="47" c:formatCode="_ * #,##0.0000_ ;_ * \-#,##0.0000_ ;_ * &quot;-&quot;??_ ;_ @_ ">
                  <c:v>1.19501933136229</c:v>
                </c:pt>
                <c:pt idx="48" c:formatCode="_ * #,##0.0000_ ;_ * \-#,##0.0000_ ;_ * &quot;-&quot;??_ ;_ @_ ">
                  <c:v>1.2344780532181</c:v>
                </c:pt>
                <c:pt idx="49" c:formatCode="_ * #,##0.0000_ ;_ * \-#,##0.0000_ ;_ * &quot;-&quot;??_ ;_ @_ ">
                  <c:v>1.19570161473732</c:v>
                </c:pt>
                <c:pt idx="50" c:formatCode="_ * #,##0.0000_ ;_ * \-#,##0.0000_ ;_ * &quot;-&quot;??_ ;_ @_ ">
                  <c:v>1.1227541505572</c:v>
                </c:pt>
                <c:pt idx="51" c:formatCode="_ * #,##0.0000_ ;_ * \-#,##0.0000_ ;_ * &quot;-&quot;??_ ;_ @_ ">
                  <c:v>1.129918125995</c:v>
                </c:pt>
                <c:pt idx="52" c:formatCode="_ * #,##0.0000_ ;_ * \-#,##0.0000_ ;_ * &quot;-&quot;??_ ;_ @_ ">
                  <c:v>1.18523993632022</c:v>
                </c:pt>
                <c:pt idx="53" c:formatCode="_ * #,##0.0000_ ;_ * \-#,##0.0000_ ;_ * &quot;-&quot;??_ ;_ @_ ">
                  <c:v>1.25983625198999</c:v>
                </c:pt>
                <c:pt idx="54" c:formatCode="_ * #,##0.0000_ ;_ * \-#,##0.0000_ ;_ * &quot;-&quot;??_ ;_ @_ ">
                  <c:v>1.29258585399136</c:v>
                </c:pt>
                <c:pt idx="55" c:formatCode="_ * #,##0.0000_ ;_ * \-#,##0.0000_ ;_ * &quot;-&quot;??_ ;_ @_ ">
                  <c:v>1.37747327723448</c:v>
                </c:pt>
                <c:pt idx="56" c:formatCode="_ * #,##0.0000_ ;_ * \-#,##0.0000_ ;_ * &quot;-&quot;??_ ;_ @_ ">
                  <c:v>1.42108255628838</c:v>
                </c:pt>
                <c:pt idx="57" c:formatCode="_ * #,##0.0000_ ;_ * \-#,##0.0000_ ;_ * &quot;-&quot;??_ ;_ @_ ">
                  <c:v>1.48419376847851</c:v>
                </c:pt>
                <c:pt idx="58" c:formatCode="_ * #,##0.0000_ ;_ * \-#,##0.0000_ ;_ * &quot;-&quot;??_ ;_ @_ ">
                  <c:v>1.47782579031158</c:v>
                </c:pt>
                <c:pt idx="59" c:formatCode="_ * #,##0.0000_ ;_ * \-#,##0.0000_ ;_ * &quot;-&quot;??_ ;_ @_ ">
                  <c:v>1.49221059813509</c:v>
                </c:pt>
                <c:pt idx="60" c:formatCode="_ * #,##0.0000_ ;_ * \-#,##0.0000_ ;_ * &quot;-&quot;??_ ;_ @_ ">
                  <c:v>1.57328860586764</c:v>
                </c:pt>
                <c:pt idx="61" c:formatCode="_ * #,##0.0000_ ;_ * \-#,##0.0000_ ;_ * &quot;-&quot;??_ ;_ @_ ">
                  <c:v>1.63156697748465</c:v>
                </c:pt>
                <c:pt idx="62" c:formatCode="_ * #,##0.0000_ ;_ * \-#,##0.0000_ ;_ * &quot;-&quot;??_ ;_ @_ ">
                  <c:v>1.70786900159199</c:v>
                </c:pt>
                <c:pt idx="63" c:formatCode="_ * #,##0.0000_ ;_ * \-#,##0.0000_ ;_ * &quot;-&quot;??_ ;_ @_ ">
                  <c:v>1.84967022970207</c:v>
                </c:pt>
                <c:pt idx="64" c:formatCode="_ * #,##0.0000_ ;_ * \-#,##0.0000_ ;_ * &quot;-&quot;??_ ;_ @_ ">
                  <c:v>1.76091653400045</c:v>
                </c:pt>
                <c:pt idx="65" c:formatCode="_ * #,##0.0000_ ;_ * \-#,##0.0000_ ;_ * &quot;-&quot;??_ ;_ @_ ">
                  <c:v>1.71668182851945</c:v>
                </c:pt>
                <c:pt idx="66" c:formatCode="_ * #,##0.0000_ ;_ * \-#,##0.0000_ ;_ * &quot;-&quot;??_ ;_ @_ ">
                  <c:v>1.70121673868547</c:v>
                </c:pt>
                <c:pt idx="67" c:formatCode="_ * #,##0.0000_ ;_ * \-#,##0.0000_ ;_ * &quot;-&quot;??_ ;_ @_ ">
                  <c:v>1.83619513304526</c:v>
                </c:pt>
                <c:pt idx="68" c:formatCode="_ * #,##0.0000_ ;_ * \-#,##0.0000_ ;_ * &quot;-&quot;??_ ;_ @_ ">
                  <c:v>1.73845803957244</c:v>
                </c:pt>
                <c:pt idx="69" c:formatCode="_ * #,##0.0000_ ;_ * \-#,##0.0000_ ;_ * &quot;-&quot;??_ ;_ @_ ">
                  <c:v>1.67159426881965</c:v>
                </c:pt>
                <c:pt idx="70" c:formatCode="_ * #,##0.0000_ ;_ * \-#,##0.0000_ ;_ * &quot;-&quot;??_ ;_ @_ ">
                  <c:v>1.51057539231294</c:v>
                </c:pt>
                <c:pt idx="71" c:formatCode="_ * #,##0.0000_ ;_ * \-#,##0.0000_ ;_ * &quot;-&quot;??_ ;_ @_ ">
                  <c:v>1.49420059131226</c:v>
                </c:pt>
                <c:pt idx="72" c:formatCode="_ * #,##0.0000_ ;_ * \-#,##0.0000_ ;_ * &quot;-&quot;??_ ;_ @_ ">
                  <c:v>1.33647941778485</c:v>
                </c:pt>
                <c:pt idx="73" c:formatCode="_ * #,##0.0000_ ;_ * \-#,##0.0000_ ;_ * &quot;-&quot;??_ ;_ @_ ">
                  <c:v>1.36456675005686</c:v>
                </c:pt>
                <c:pt idx="74" c:formatCode="_ * #,##0.0000_ ;_ * \-#,##0.0000_ ;_ * &quot;-&quot;??_ ;_ @_ ">
                  <c:v>1.31697748464862</c:v>
                </c:pt>
                <c:pt idx="75" c:formatCode="_ * #,##0.0000_ ;_ * \-#,##0.0000_ ;_ * &quot;-&quot;??_ ;_ @_ ">
                  <c:v>1.45616329315442</c:v>
                </c:pt>
                <c:pt idx="76" c:formatCode="_ * #,##0.0000_ ;_ * \-#,##0.0000_ ;_ * &quot;-&quot;??_ ;_ @_ ">
                  <c:v>1.57402774619058</c:v>
                </c:pt>
                <c:pt idx="77" c:formatCode="_ * #,##0.0000_ ;_ * \-#,##0.0000_ ;_ * &quot;-&quot;??_ ;_ @_ ">
                  <c:v>1.69428019103935</c:v>
                </c:pt>
                <c:pt idx="78" c:formatCode="_ * #,##0.0000_ ;_ * \-#,##0.0000_ ;_ * &quot;-&quot;??_ ;_ @_ ">
                  <c:v>1.77183306800091</c:v>
                </c:pt>
                <c:pt idx="79" c:formatCode="_ * #,##0.0000_ ;_ * \-#,##0.0000_ ;_ * &quot;-&quot;??_ ;_ @_ ">
                  <c:v>1.67551739822606</c:v>
                </c:pt>
                <c:pt idx="80" c:formatCode="_ * #,##0.0000_ ;_ * \-#,##0.0000_ ;_ * &quot;-&quot;??_ ;_ @_ ">
                  <c:v>1.77160564020923</c:v>
                </c:pt>
                <c:pt idx="81" c:formatCode="_ * #,##0.0000_ ;_ * \-#,##0.0000_ ;_ * &quot;-&quot;??_ ;_ @_ ">
                  <c:v>1.77183306800091</c:v>
                </c:pt>
                <c:pt idx="82" c:formatCode="_ * #,##0.0000_ ;_ * \-#,##0.0000_ ;_ * &quot;-&quot;??_ ;_ @_ ">
                  <c:v>1.85103479645213</c:v>
                </c:pt>
                <c:pt idx="83" c:formatCode="_ * #,##0.0000_ ;_ * \-#,##0.0000_ ;_ * &quot;-&quot;??_ ;_ @_ ">
                  <c:v>1.82345917671139</c:v>
                </c:pt>
                <c:pt idx="84" c:formatCode="_ * #,##0.0000_ ;_ * \-#,##0.0000_ ;_ * &quot;-&quot;??_ ;_ @_ ">
                  <c:v>1.88964066408915</c:v>
                </c:pt>
                <c:pt idx="85" c:formatCode="_ * #,##0.0000_ ;_ * \-#,##0.0000_ ;_ * &quot;-&quot;??_ ;_ @_ ">
                  <c:v>1.87855355924494</c:v>
                </c:pt>
                <c:pt idx="86" c:formatCode="_ * #,##0.0000_ ;_ * \-#,##0.0000_ ;_ * &quot;-&quot;??_ ;_ @_ ">
                  <c:v>1.94041391858085</c:v>
                </c:pt>
                <c:pt idx="87" c:formatCode="_ * #,##0.0000_ ;_ * \-#,##0.0000_ ;_ * &quot;-&quot;??_ ;_ @_ ">
                  <c:v>1.84392767796225</c:v>
                </c:pt>
                <c:pt idx="88" c:formatCode="_ * #,##0.0000_ ;_ * \-#,##0.0000_ ;_ * &quot;-&quot;??_ ;_ @_ ">
                  <c:v>1.88014555378667</c:v>
                </c:pt>
                <c:pt idx="89" c:formatCode="_ * #,##0.0000_ ;_ * \-#,##0.0000_ ;_ * &quot;-&quot;??_ ;_ @_ ">
                  <c:v>1.73544462133273</c:v>
                </c:pt>
                <c:pt idx="90" c:formatCode="_ * #,##0.0000_ ;_ * \-#,##0.0000_ ;_ * &quot;-&quot;??_ ;_ @_ ">
                  <c:v>1.93029338185126</c:v>
                </c:pt>
                <c:pt idx="91" c:formatCode="_ * #,##0.0000_ ;_ * \-#,##0.0000_ ;_ * &quot;-&quot;??_ ;_ @_ ">
                  <c:v>1.98032749602001</c:v>
                </c:pt>
                <c:pt idx="92" c:formatCode="_ * #,##0.0000_ ;_ * \-#,##0.0000_ ;_ * &quot;-&quot;??_ ;_ @_ ">
                  <c:v>2.13406868319309</c:v>
                </c:pt>
                <c:pt idx="93" c:formatCode="_ * #,##0.0000_ ;_ * \-#,##0.0000_ ;_ * &quot;-&quot;??_ ;_ @_ ">
                  <c:v>2.30515123948146</c:v>
                </c:pt>
                <c:pt idx="94" c:formatCode="_ * #,##0.0000_ ;_ * \-#,##0.0000_ ;_ * &quot;-&quot;??_ ;_ @_ ">
                  <c:v>2.37775756197407</c:v>
                </c:pt>
                <c:pt idx="95" c:formatCode="_ * #,##0.0000_ ;_ * \-#,##0.0000_ ;_ * &quot;-&quot;??_ ;_ @_ ">
                  <c:v>2.25625426427109</c:v>
                </c:pt>
                <c:pt idx="96" c:formatCode="_ * #,##0.0000_ ;_ * \-#,##0.0000_ ;_ * &quot;-&quot;??_ ;_ @_ ">
                  <c:v>2.30225153513759</c:v>
                </c:pt>
                <c:pt idx="97" c:formatCode="_ * #,##0.0000_ ;_ * \-#,##0.0000_ ;_ * &quot;-&quot;??_ ;_ @_ ">
                  <c:v>2.38406868319309</c:v>
                </c:pt>
                <c:pt idx="98" c:formatCode="_ * #,##0.0000_ ;_ * \-#,##0.0000_ ;_ * &quot;-&quot;??_ ;_ @_ ">
                  <c:v>2.48152149192631</c:v>
                </c:pt>
                <c:pt idx="99" c:formatCode="_ * #,##0.0000_ ;_ * \-#,##0.0000_ ;_ * &quot;-&quot;??_ ;_ @_ ">
                  <c:v>2.60711848987946</c:v>
                </c:pt>
                <c:pt idx="100" c:formatCode="_ * #,##0.0000_ ;_ * \-#,##0.0000_ ;_ * &quot;-&quot;??_ ;_ @_ ">
                  <c:v>2.68415965430976</c:v>
                </c:pt>
                <c:pt idx="101" c:formatCode="_ * #,##0.0000_ ;_ * \-#,##0.0000_ ;_ * &quot;-&quot;??_ ;_ @_ ">
                  <c:v>2.5481009779395</c:v>
                </c:pt>
                <c:pt idx="102" c:formatCode="_ * #,##0.0000_ ;_ * \-#,##0.0000_ ;_ * &quot;-&quot;??_ ;_ @_ ">
                  <c:v>2.62502842847396</c:v>
                </c:pt>
                <c:pt idx="103" c:formatCode="_ * #,##0.0000_ ;_ * \-#,##0.0000_ ;_ * &quot;-&quot;??_ ;_ @_ ">
                  <c:v>2.67671139413236</c:v>
                </c:pt>
                <c:pt idx="104" c:formatCode="_ * #,##0.0000_ ;_ * \-#,##0.0000_ ;_ * &quot;-&quot;??_ ;_ @_ ">
                  <c:v>2.63537639299522</c:v>
                </c:pt>
                <c:pt idx="105" c:formatCode="_ * #,##0.0000_ ;_ * \-#,##0.0000_ ;_ * &quot;-&quot;??_ ;_ @_ ">
                  <c:v>2.37610871048442</c:v>
                </c:pt>
                <c:pt idx="106" c:formatCode="_ * #,##0.0000_ ;_ * \-#,##0.0000_ ;_ * &quot;-&quot;??_ ;_ @_ ">
                  <c:v>2.44678189674778</c:v>
                </c:pt>
                <c:pt idx="107" c:formatCode="_ * #,##0.0000_ ;_ * \-#,##0.0000_ ;_ * &quot;-&quot;??_ ;_ @_ ">
                  <c:v>2.39862406186036</c:v>
                </c:pt>
                <c:pt idx="108" c:formatCode="_ * #,##0.0000_ ;_ * \-#,##0.0000_ ;_ * &quot;-&quot;??_ ;_ @_ ">
                  <c:v>2.46042756424835</c:v>
                </c:pt>
                <c:pt idx="109" c:formatCode="_ * #,##0.0000_ ;_ * \-#,##0.0000_ ;_ * &quot;-&quot;??_ ;_ @_ ">
                  <c:v>2.38162383443257</c:v>
                </c:pt>
                <c:pt idx="110" c:formatCode="_ * #,##0.0000_ ;_ * \-#,##0.0000_ ;_ * &quot;-&quot;??_ ;_ @_ ">
                  <c:v>2.29775983625199</c:v>
                </c:pt>
                <c:pt idx="111" c:formatCode="_ * #,##0.0000_ ;_ * \-#,##0.0000_ ;_ * &quot;-&quot;??_ ;_ @_ ">
                  <c:v>2.14794177848533</c:v>
                </c:pt>
                <c:pt idx="112" c:formatCode="_ * #,##0.0000_ ;_ * \-#,##0.0000_ ;_ * &quot;-&quot;??_ ;_ @_ ">
                  <c:v>1.99050488969752</c:v>
                </c:pt>
                <c:pt idx="113" c:formatCode="_ * #,##0.0000_ ;_ * \-#,##0.0000_ ;_ * &quot;-&quot;??_ ;_ @_ ">
                  <c:v>1.73794632704116</c:v>
                </c:pt>
                <c:pt idx="114" c:formatCode="_ * #,##0.0000_ ;_ * \-#,##0.0000_ ;_ * &quot;-&quot;??_ ;_ @_ ">
                  <c:v>1.72839435979077</c:v>
                </c:pt>
                <c:pt idx="115" c:formatCode="_ * #,##0.0000_ ;_ * \-#,##0.0000_ ;_ * &quot;-&quot;??_ ;_ @_ ">
                  <c:v>1.71133727541506</c:v>
                </c:pt>
                <c:pt idx="116" c:formatCode="_ * #,##0.0000_ ;_ * \-#,##0.0000_ ;_ * &quot;-&quot;??_ ;_ @_ ">
                  <c:v>1.66027973618376</c:v>
                </c:pt>
                <c:pt idx="117" c:formatCode="_ * #,##0.0000_ ;_ * \-#,##0.0000_ ;_ * &quot;-&quot;??_ ;_ @_ ">
                  <c:v>1.68194223334091</c:v>
                </c:pt>
                <c:pt idx="118" c:formatCode="_ * #,##0.0000_ ;_ * \-#,##0.0000_ ;_ * &quot;-&quot;??_ ;_ @_ ">
                  <c:v>1.6141118944735</c:v>
                </c:pt>
                <c:pt idx="119" c:formatCode="_ * #,##0.0000_ ;_ * \-#,##0.0000_ ;_ * &quot;-&quot;??_ ;_ @_ ">
                  <c:v>2.00648169206277</c:v>
                </c:pt>
                <c:pt idx="120" c:formatCode="_ * #,##0.0000_ ;_ * \-#,##0.0000_ ;_ * &quot;-&quot;??_ ;_ @_ ">
                  <c:v>1.86092790539004</c:v>
                </c:pt>
                <c:pt idx="121" c:formatCode="_ * #,##0.0000_ ;_ * \-#,##0.0000_ ;_ * &quot;-&quot;??_ ;_ @_ ">
                  <c:v>1.90436661360018</c:v>
                </c:pt>
                <c:pt idx="122" c:formatCode="_ * #,##0.0000_ ;_ * \-#,##0.0000_ ;_ * &quot;-&quot;??_ ;_ @_ ">
                  <c:v>1.70303616101888</c:v>
                </c:pt>
                <c:pt idx="123" c:formatCode="_ * #,##0.0000_ ;_ * \-#,##0.0000_ ;_ * &quot;-&quot;??_ ;_ @_ ">
                  <c:v>1.86274732772345</c:v>
                </c:pt>
                <c:pt idx="124" c:formatCode="_ * #,##0.0000_ ;_ * \-#,##0.0000_ ;_ * &quot;-&quot;??_ ;_ @_ ">
                  <c:v>1.85694791903571</c:v>
                </c:pt>
                <c:pt idx="125" c:formatCode="_ * #,##0.0000_ ;_ * \-#,##0.0000_ ;_ * &quot;-&quot;??_ ;_ @_ ">
                  <c:v>2.04685012508529</c:v>
                </c:pt>
                <c:pt idx="126" c:formatCode="_ * #,##0.0000_ ;_ * \-#,##0.0000_ ;_ * &quot;-&quot;??_ ;_ @_ ">
                  <c:v>1.95087559699795</c:v>
                </c:pt>
                <c:pt idx="127" c:formatCode="_ * #,##0.0000_ ;_ * \-#,##0.0000_ ;_ * &quot;-&quot;??_ ;_ @_ ">
                  <c:v>1.89231294064135</c:v>
                </c:pt>
                <c:pt idx="128" c:formatCode="_ * #,##0.0000_ ;_ * \-#,##0.0000_ ;_ * &quot;-&quot;??_ ;_ @_ ">
                  <c:v>2.04156242892881</c:v>
                </c:pt>
                <c:pt idx="129" c:formatCode="_ * #,##0.0000_ ;_ * \-#,##0.0000_ ;_ * &quot;-&quot;??_ ;_ @_ ">
                  <c:v>2.11445303616102</c:v>
                </c:pt>
                <c:pt idx="130" c:formatCode="_ * #,##0.0000_ ;_ * \-#,##0.0000_ ;_ * &quot;-&quot;??_ ;_ @_ ">
                  <c:v>2.15556060950648</c:v>
                </c:pt>
                <c:pt idx="131" c:formatCode="_ * #,##0.0000_ ;_ * \-#,##0.0000_ ;_ * &quot;-&quot;??_ ;_ @_ ">
                  <c:v>2.30691380486695</c:v>
                </c:pt>
                <c:pt idx="132" c:formatCode="_ * #,##0.0000_ ;_ * \-#,##0.0000_ ;_ * &quot;-&quot;??_ ;_ @_ ">
                  <c:v>2.30532181032522</c:v>
                </c:pt>
                <c:pt idx="133" c:formatCode="_ * #,##0.0000_ ;_ * \-#,##0.0000_ ;_ * &quot;-&quot;??_ ;_ @_ ">
                  <c:v>2.17637025244485</c:v>
                </c:pt>
                <c:pt idx="134" c:formatCode="_ * #,##0.0000_ ;_ * \-#,##0.0000_ ;_ * &quot;-&quot;??_ ;_ @_ ">
                  <c:v>2.14879463270412</c:v>
                </c:pt>
                <c:pt idx="135" c:formatCode="_ * #,##0.0000_ ;_ * \-#,##0.0000_ ;_ * &quot;-&quot;??_ ;_ @_ ">
                  <c:v>2.40794860131908</c:v>
                </c:pt>
                <c:pt idx="136" c:formatCode="_ * #,##0.0000_ ;_ * \-#,##0.0000_ ;_ * &quot;-&quot;??_ ;_ @_ ">
                  <c:v>2.31049579258585</c:v>
                </c:pt>
                <c:pt idx="137" c:formatCode="_ * #,##0.0000_ ;_ * \-#,##0.0000_ ;_ * &quot;-&quot;??_ ;_ @_ ">
                  <c:v>2.21429383670685</c:v>
                </c:pt>
                <c:pt idx="138" c:formatCode="_ * #,##0.0000_ ;_ * \-#,##0.0000_ ;_ * &quot;-&quot;??_ ;_ @_ ">
                  <c:v>2.34813509210826</c:v>
                </c:pt>
              </c:numCache>
            </c:numRef>
          </c:val>
          <c:smooth val="0"/>
        </c:ser>
        <c:dLbls>
          <c:showLegendKey val="0"/>
          <c:showVal val="0"/>
          <c:showCatName val="0"/>
          <c:showSerName val="0"/>
          <c:showPercent val="0"/>
          <c:showBubbleSize val="0"/>
        </c:dLbls>
        <c:marker val="0"/>
        <c:smooth val="0"/>
        <c:axId val="476383615"/>
        <c:axId val="476387359"/>
      </c:lineChart>
      <c:dateAx>
        <c:axId val="476365727"/>
        <c:scaling>
          <c:orientation val="minMax"/>
        </c:scaling>
        <c:delete val="0"/>
        <c:axPos val="b"/>
        <c:numFmt formatCode="yyyy/m"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4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crossAx val="476381951"/>
        <c:crosses val="autoZero"/>
        <c:auto val="1"/>
        <c:lblOffset val="100"/>
        <c:baseTimeUnit val="days"/>
        <c:majorUnit val="8"/>
        <c:majorTimeUnit val="months"/>
      </c:dateAx>
      <c:valAx>
        <c:axId val="476381951"/>
        <c:scaling>
          <c:orientation val="minMax"/>
        </c:scaling>
        <c:delete val="0"/>
        <c:axPos val="l"/>
        <c:majorGridlines>
          <c:spPr>
            <a:ln w="9525" cap="flat" cmpd="sng" algn="ctr">
              <a:solidFill>
                <a:schemeClr val="tx1">
                  <a:lumMod val="15000"/>
                  <a:lumOff val="85000"/>
                </a:schemeClr>
              </a:solidFill>
              <a:round/>
            </a:ln>
            <a:effectLst/>
          </c:spPr>
        </c:majorGridlines>
        <c:numFmt formatCode="_ * #,##0_ ;_ * \-#,##0_ ;_ * &quot;-&quot;??_ ;_ @_ " sourceLinked="1"/>
        <c:majorTickMark val="none"/>
        <c:minorTickMark val="none"/>
        <c:tickLblPos val="nextTo"/>
        <c:spPr>
          <a:noFill/>
          <a:ln>
            <a:noFill/>
          </a:ln>
          <a:effectLst/>
        </c:spPr>
        <c:txPr>
          <a:bodyPr rot="-60000000" spcFirstLastPara="1" vertOverflow="ellipsis" vert="horz" wrap="square" anchor="ctr" anchorCtr="1"/>
          <a:lstStyle/>
          <a:p>
            <a:pPr>
              <a:defRPr lang="zh-CN" sz="14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crossAx val="476365727"/>
        <c:crosses val="autoZero"/>
        <c:crossBetween val="between"/>
      </c:valAx>
      <c:dateAx>
        <c:axId val="476383615"/>
        <c:scaling>
          <c:orientation val="minMax"/>
        </c:scaling>
        <c:delete val="1"/>
        <c:axPos val="b"/>
        <c:numFmt formatCode="m/d/yyyy" sourceLinked="1"/>
        <c:majorTickMark val="out"/>
        <c:minorTickMark val="none"/>
        <c:tickLblPos val="nextTo"/>
        <c:txPr>
          <a:bodyPr rot="-60000000" spcFirstLastPara="0" vertOverflow="ellipsis" vert="horz" wrap="square" anchor="ctr" anchorCtr="1"/>
          <a:lstStyle/>
          <a:p>
            <a:pPr>
              <a:defRPr lang="zh-CN" sz="14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crossAx val="476387359"/>
        <c:crosses val="autoZero"/>
        <c:auto val="1"/>
        <c:lblOffset val="100"/>
        <c:baseTimeUnit val="days"/>
        <c:majorUnit val="1"/>
        <c:majorTimeUnit val="days"/>
        <c:minorUnit val="1"/>
        <c:minorTimeUnit val="days"/>
      </c:dateAx>
      <c:valAx>
        <c:axId val="476387359"/>
        <c:scaling>
          <c:orientation val="minMax"/>
        </c:scaling>
        <c:delete val="0"/>
        <c:axPos val="r"/>
        <c:numFmt formatCode="_ * #,##0_ ;_ * \-#,##0_ ;_ * &quot;-&quot;??_ ;_ @_ " sourceLinked="1"/>
        <c:majorTickMark val="out"/>
        <c:minorTickMark val="none"/>
        <c:tickLblPos val="nextTo"/>
        <c:spPr>
          <a:noFill/>
          <a:ln>
            <a:noFill/>
          </a:ln>
          <a:effectLst/>
        </c:spPr>
        <c:txPr>
          <a:bodyPr rot="-60000000" spcFirstLastPara="1" vertOverflow="ellipsis" vert="horz" wrap="square" anchor="ctr" anchorCtr="1"/>
          <a:lstStyle/>
          <a:p>
            <a:pPr>
              <a:defRPr lang="zh-CN" sz="14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crossAx val="476383615"/>
        <c:crosses val="max"/>
        <c:crossBetween val="between"/>
      </c:valAx>
      <c:spPr>
        <a:noFill/>
        <a:ln>
          <a:noFill/>
        </a:ln>
        <a:effectLst/>
      </c:spPr>
    </c:plotArea>
    <c:legend>
      <c:legendPos val="t"/>
      <c:legendEntry>
        <c:idx val="0"/>
        <c:txPr>
          <a:bodyPr rot="0" spcFirstLastPara="1" vertOverflow="ellipsis" vert="horz" wrap="square" anchor="ctr" anchorCtr="1"/>
          <a:lstStyle/>
          <a:p>
            <a:pPr>
              <a:defRPr lang="zh-CN" sz="14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1"/>
        <c:txPr>
          <a:bodyPr rot="0" spcFirstLastPara="1" vertOverflow="ellipsis" vert="horz" wrap="square" anchor="ctr" anchorCtr="1"/>
          <a:lstStyle/>
          <a:p>
            <a:pPr>
              <a:defRPr lang="zh-CN" sz="14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2"/>
        <c:txPr>
          <a:bodyPr rot="0" spcFirstLastPara="1" vertOverflow="ellipsis" vert="horz" wrap="square" anchor="ctr" anchorCtr="1"/>
          <a:lstStyle/>
          <a:p>
            <a:pPr>
              <a:defRPr lang="zh-CN" sz="14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ayout/>
      <c:overlay val="0"/>
      <c:spPr>
        <a:noFill/>
        <a:ln>
          <a:noFill/>
        </a:ln>
        <a:effectLst/>
      </c:spPr>
      <c:txPr>
        <a:bodyPr rot="0" spcFirstLastPara="1" vertOverflow="ellipsis" vert="horz" wrap="square" anchor="ctr" anchorCtr="1"/>
        <a:lstStyle/>
        <a:p>
          <a:pPr>
            <a:defRPr lang="zh-CN" sz="14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
    <c:plotVisOnly val="1"/>
    <c:dispBlanksAs val="gap"/>
    <c:showDLblsOverMax val="0"/>
    <c:extLst>
      <c:ext uri="{0b15fc19-7d7d-44ad-8c2d-2c3a37ce22c3}">
        <chartProps xmlns="https://web.wps.cn/et/2018/main" chartId="{9534a3cd-b85f-466c-a6b8-50a67d84d4ef}"/>
      </c:ext>
    </c:extLst>
  </c:chart>
  <c:spPr>
    <a:noFill/>
    <a:ln w="9525" cap="flat" cmpd="sng" algn="ctr">
      <a:solidFill>
        <a:schemeClr val="tx1">
          <a:lumMod val="15000"/>
          <a:lumOff val="85000"/>
        </a:schemeClr>
      </a:solidFill>
      <a:round/>
    </a:ln>
    <a:effectLst/>
  </c:spPr>
  <c:txPr>
    <a:bodyPr/>
    <a:lstStyle/>
    <a:p>
      <a:pPr>
        <a:defRPr lang="zh-CN" sz="1400">
          <a:latin typeface="等线" panose="02010600030101010101" charset="-122"/>
          <a:ea typeface="等线" panose="02010600030101010101" charset="-122"/>
          <a:cs typeface="等线" panose="02010600030101010101" charset="-122"/>
          <a:sym typeface="等线" panose="02010600030101010101" charset="-122"/>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'[1、景林金色中国存续-working paper 20241129.xlsx]景林金色中国+价值仓位变化（时间序列）'!$A$16</c:f>
              <c:strCache>
                <c:ptCount val="1"/>
                <c:pt idx="0">
                  <c:v>港股空头</c:v>
                </c:pt>
              </c:strCache>
            </c:strRef>
          </c:tx>
          <c:spPr>
            <a:solidFill>
              <a:schemeClr val="accent1"/>
            </a:solidFill>
            <a:ln>
              <a:noFill/>
            </a:ln>
            <a:effectLst/>
          </c:spPr>
          <c:dLbls>
            <c:delete val="1"/>
          </c:dLbls>
          <c:cat>
            <c:numRef>
              <c:f>'[1、景林金色中国存续-working paper 20241129.xlsx]景林金色中国+价值仓位变化（时间序列）'!$B$9:$T$9</c:f>
              <c:numCache>
                <c:formatCode>yyyy"年"m"月"</c:formatCode>
                <c:ptCount val="19"/>
                <c:pt idx="0" c:formatCode="yyyy&quot;年&quot;m&quot;月&quot;">
                  <c:v>44256</c:v>
                </c:pt>
                <c:pt idx="1" c:formatCode="yyyy&quot;年&quot;m&quot;月&quot;">
                  <c:v>44348</c:v>
                </c:pt>
                <c:pt idx="2" c:formatCode="yyyy&quot;年&quot;m&quot;月&quot;">
                  <c:v>44440</c:v>
                </c:pt>
                <c:pt idx="3" c:formatCode="yyyy&quot;年&quot;m&quot;月&quot;">
                  <c:v>44531</c:v>
                </c:pt>
                <c:pt idx="4" c:formatCode="yyyy&quot;年&quot;m&quot;月&quot;">
                  <c:v>44621</c:v>
                </c:pt>
                <c:pt idx="5" c:formatCode="yyyy&quot;年&quot;m&quot;月&quot;">
                  <c:v>44713</c:v>
                </c:pt>
                <c:pt idx="6" c:formatCode="yyyy&quot;年&quot;m&quot;月&quot;">
                  <c:v>44805</c:v>
                </c:pt>
                <c:pt idx="7" c:formatCode="yyyy&quot;年&quot;m&quot;月&quot;">
                  <c:v>44896</c:v>
                </c:pt>
                <c:pt idx="8" c:formatCode="yyyy&quot;年&quot;m&quot;月&quot;">
                  <c:v>44986</c:v>
                </c:pt>
                <c:pt idx="9" c:formatCode="yyyy&quot;年&quot;m&quot;月&quot;">
                  <c:v>45078</c:v>
                </c:pt>
                <c:pt idx="10" c:formatCode="yyyy&quot;年&quot;m&quot;月&quot;">
                  <c:v>45170</c:v>
                </c:pt>
                <c:pt idx="11" c:formatCode="yyyy&quot;年&quot;m&quot;月&quot;">
                  <c:v>45261</c:v>
                </c:pt>
                <c:pt idx="12" c:formatCode="yyyy&quot;年&quot;m&quot;月&quot;">
                  <c:v>45352</c:v>
                </c:pt>
                <c:pt idx="13" c:formatCode="yyyy&quot;年&quot;m&quot;月&quot;">
                  <c:v>45383</c:v>
                </c:pt>
                <c:pt idx="14" c:formatCode="yyyy&quot;年&quot;m&quot;月&quot;">
                  <c:v>45413</c:v>
                </c:pt>
                <c:pt idx="15" c:formatCode="yyyy&quot;年&quot;m&quot;月&quot;">
                  <c:v>45444</c:v>
                </c:pt>
                <c:pt idx="16" c:formatCode="yyyy&quot;年&quot;m&quot;月&quot;">
                  <c:v>45474</c:v>
                </c:pt>
                <c:pt idx="17" c:formatCode="yyyy&quot;年&quot;m&quot;月&quot;">
                  <c:v>45505</c:v>
                </c:pt>
                <c:pt idx="18" c:formatCode="yyyy&quot;年&quot;m&quot;月&quot;">
                  <c:v>45536</c:v>
                </c:pt>
              </c:numCache>
            </c:numRef>
          </c:cat>
          <c:val>
            <c:numRef>
              <c:f>'[1、景林金色中国存续-working paper 20241129.xlsx]景林金色中国+价值仓位变化（时间序列）'!$B$16:$W$16</c:f>
              <c:numCache>
                <c:formatCode>0%</c:formatCode>
                <c:ptCount val="22"/>
                <c:pt idx="0">
                  <c:v>-0.03</c:v>
                </c:pt>
                <c:pt idx="1">
                  <c:v>-0.05</c:v>
                </c:pt>
                <c:pt idx="2">
                  <c:v>-0.05</c:v>
                </c:pt>
                <c:pt idx="3">
                  <c:v>-0.06</c:v>
                </c:pt>
                <c:pt idx="4">
                  <c:v>-0.09</c:v>
                </c:pt>
                <c:pt idx="5">
                  <c:v>-0.08</c:v>
                </c:pt>
                <c:pt idx="6">
                  <c:v>-0.14</c:v>
                </c:pt>
                <c:pt idx="7">
                  <c:v>-0.24</c:v>
                </c:pt>
                <c:pt idx="8">
                  <c:v>-0.15</c:v>
                </c:pt>
                <c:pt idx="9">
                  <c:v>-0.13</c:v>
                </c:pt>
                <c:pt idx="10">
                  <c:v>-0.09</c:v>
                </c:pt>
                <c:pt idx="11">
                  <c:v>-0.07</c:v>
                </c:pt>
                <c:pt idx="12">
                  <c:v>-0.01</c:v>
                </c:pt>
                <c:pt idx="13">
                  <c:v>-0.04</c:v>
                </c:pt>
                <c:pt idx="14">
                  <c:v>-0.04</c:v>
                </c:pt>
                <c:pt idx="15">
                  <c:v>-0.02</c:v>
                </c:pt>
                <c:pt idx="16">
                  <c:v>-0.02</c:v>
                </c:pt>
                <c:pt idx="17">
                  <c:v>-0.02</c:v>
                </c:pt>
                <c:pt idx="18">
                  <c:v>-0.02</c:v>
                </c:pt>
                <c:pt idx="19">
                  <c:v>-0.02</c:v>
                </c:pt>
              </c:numCache>
            </c:numRef>
          </c:val>
        </c:ser>
        <c:ser>
          <c:idx val="1"/>
          <c:order val="1"/>
          <c:tx>
            <c:strRef>
              <c:f>'[1、景林金色中国存续-working paper 20241129.xlsx]景林金色中国+价值仓位变化（时间序列）'!$A$17</c:f>
              <c:strCache>
                <c:ptCount val="1"/>
                <c:pt idx="0">
                  <c:v>美国预托证券空头</c:v>
                </c:pt>
              </c:strCache>
            </c:strRef>
          </c:tx>
          <c:spPr>
            <a:solidFill>
              <a:srgbClr val="F2BA02"/>
            </a:solidFill>
            <a:ln>
              <a:noFill/>
            </a:ln>
            <a:effectLst/>
          </c:spPr>
          <c:dLbls>
            <c:delete val="1"/>
          </c:dLbls>
          <c:cat>
            <c:numRef>
              <c:f>'[1、景林金色中国存续-working paper 20241129.xlsx]景林金色中国+价值仓位变化（时间序列）'!$B$9:$T$9</c:f>
              <c:numCache>
                <c:formatCode>yyyy"年"m"月"</c:formatCode>
                <c:ptCount val="19"/>
                <c:pt idx="0" c:formatCode="yyyy&quot;年&quot;m&quot;月&quot;">
                  <c:v>44256</c:v>
                </c:pt>
                <c:pt idx="1" c:formatCode="yyyy&quot;年&quot;m&quot;月&quot;">
                  <c:v>44348</c:v>
                </c:pt>
                <c:pt idx="2" c:formatCode="yyyy&quot;年&quot;m&quot;月&quot;">
                  <c:v>44440</c:v>
                </c:pt>
                <c:pt idx="3" c:formatCode="yyyy&quot;年&quot;m&quot;月&quot;">
                  <c:v>44531</c:v>
                </c:pt>
                <c:pt idx="4" c:formatCode="yyyy&quot;年&quot;m&quot;月&quot;">
                  <c:v>44621</c:v>
                </c:pt>
                <c:pt idx="5" c:formatCode="yyyy&quot;年&quot;m&quot;月&quot;">
                  <c:v>44713</c:v>
                </c:pt>
                <c:pt idx="6" c:formatCode="yyyy&quot;年&quot;m&quot;月&quot;">
                  <c:v>44805</c:v>
                </c:pt>
                <c:pt idx="7" c:formatCode="yyyy&quot;年&quot;m&quot;月&quot;">
                  <c:v>44896</c:v>
                </c:pt>
                <c:pt idx="8" c:formatCode="yyyy&quot;年&quot;m&quot;月&quot;">
                  <c:v>44986</c:v>
                </c:pt>
                <c:pt idx="9" c:formatCode="yyyy&quot;年&quot;m&quot;月&quot;">
                  <c:v>45078</c:v>
                </c:pt>
                <c:pt idx="10" c:formatCode="yyyy&quot;年&quot;m&quot;月&quot;">
                  <c:v>45170</c:v>
                </c:pt>
                <c:pt idx="11" c:formatCode="yyyy&quot;年&quot;m&quot;月&quot;">
                  <c:v>45261</c:v>
                </c:pt>
                <c:pt idx="12" c:formatCode="yyyy&quot;年&quot;m&quot;月&quot;">
                  <c:v>45352</c:v>
                </c:pt>
                <c:pt idx="13" c:formatCode="yyyy&quot;年&quot;m&quot;月&quot;">
                  <c:v>45383</c:v>
                </c:pt>
                <c:pt idx="14" c:formatCode="yyyy&quot;年&quot;m&quot;月&quot;">
                  <c:v>45413</c:v>
                </c:pt>
                <c:pt idx="15" c:formatCode="yyyy&quot;年&quot;m&quot;月&quot;">
                  <c:v>45444</c:v>
                </c:pt>
                <c:pt idx="16" c:formatCode="yyyy&quot;年&quot;m&quot;月&quot;">
                  <c:v>45474</c:v>
                </c:pt>
                <c:pt idx="17" c:formatCode="yyyy&quot;年&quot;m&quot;月&quot;">
                  <c:v>45505</c:v>
                </c:pt>
                <c:pt idx="18" c:formatCode="yyyy&quot;年&quot;m&quot;月&quot;">
                  <c:v>45536</c:v>
                </c:pt>
              </c:numCache>
            </c:numRef>
          </c:cat>
          <c:val>
            <c:numRef>
              <c:f>'[1、景林金色中国存续-working paper 20241129.xlsx]景林金色中国+价值仓位变化（时间序列）'!$B$17:$W$17</c:f>
              <c:numCache>
                <c:formatCode>0%</c:formatCode>
                <c:ptCount val="22"/>
                <c:pt idx="0">
                  <c:v>-0.05</c:v>
                </c:pt>
                <c:pt idx="1">
                  <c:v>-0.05</c:v>
                </c:pt>
                <c:pt idx="2">
                  <c:v>-0.05</c:v>
                </c:pt>
                <c:pt idx="3">
                  <c:v>-0.05</c:v>
                </c:pt>
                <c:pt idx="4">
                  <c:v>-0.04</c:v>
                </c:pt>
                <c:pt idx="5">
                  <c:v>-0.06</c:v>
                </c:pt>
                <c:pt idx="6">
                  <c:v>-0.05</c:v>
                </c:pt>
                <c:pt idx="7">
                  <c:v>-0.04</c:v>
                </c:pt>
                <c:pt idx="8">
                  <c:v>-0.05</c:v>
                </c:pt>
                <c:pt idx="9">
                  <c:v>-0.04</c:v>
                </c:pt>
                <c:pt idx="10">
                  <c:v>-0.02</c:v>
                </c:pt>
                <c:pt idx="11">
                  <c:v>-0.02</c:v>
                </c:pt>
                <c:pt idx="12">
                  <c:v>0</c:v>
                </c:pt>
                <c:pt idx="14">
                  <c:v>-0.01</c:v>
                </c:pt>
                <c:pt idx="15">
                  <c:v>-0.01</c:v>
                </c:pt>
                <c:pt idx="16">
                  <c:v>-0.01</c:v>
                </c:pt>
                <c:pt idx="17">
                  <c:v>-0.01</c:v>
                </c:pt>
                <c:pt idx="18">
                  <c:v>-0.04</c:v>
                </c:pt>
                <c:pt idx="19">
                  <c:v>-0.04</c:v>
                </c:pt>
                <c:pt idx="20">
                  <c:v>-0.03</c:v>
                </c:pt>
                <c:pt idx="21">
                  <c:v>-0.01</c:v>
                </c:pt>
              </c:numCache>
            </c:numRef>
          </c:val>
        </c:ser>
        <c:ser>
          <c:idx val="3"/>
          <c:order val="2"/>
          <c:tx>
            <c:strRef>
              <c:f>'[1、景林金色中国存续-working paper 20241129.xlsx]景林金色中国+价值仓位变化（时间序列）'!$A$19</c:f>
              <c:strCache>
                <c:ptCount val="1"/>
                <c:pt idx="0">
                  <c:v>其他空头</c:v>
                </c:pt>
              </c:strCache>
            </c:strRef>
          </c:tx>
          <c:spPr>
            <a:solidFill>
              <a:srgbClr val="002060"/>
            </a:solidFill>
            <a:ln>
              <a:noFill/>
            </a:ln>
            <a:effectLst/>
          </c:spPr>
          <c:dLbls>
            <c:delete val="1"/>
          </c:dLbls>
          <c:cat>
            <c:numRef>
              <c:f>'[1、景林金色中国存续-working paper 20241129.xlsx]景林金色中国+价值仓位变化（时间序列）'!$B$9:$T$9</c:f>
              <c:numCache>
                <c:formatCode>yyyy"年"m"月"</c:formatCode>
                <c:ptCount val="19"/>
                <c:pt idx="0" c:formatCode="yyyy&quot;年&quot;m&quot;月&quot;">
                  <c:v>44256</c:v>
                </c:pt>
                <c:pt idx="1" c:formatCode="yyyy&quot;年&quot;m&quot;月&quot;">
                  <c:v>44348</c:v>
                </c:pt>
                <c:pt idx="2" c:formatCode="yyyy&quot;年&quot;m&quot;月&quot;">
                  <c:v>44440</c:v>
                </c:pt>
                <c:pt idx="3" c:formatCode="yyyy&quot;年&quot;m&quot;月&quot;">
                  <c:v>44531</c:v>
                </c:pt>
                <c:pt idx="4" c:formatCode="yyyy&quot;年&quot;m&quot;月&quot;">
                  <c:v>44621</c:v>
                </c:pt>
                <c:pt idx="5" c:formatCode="yyyy&quot;年&quot;m&quot;月&quot;">
                  <c:v>44713</c:v>
                </c:pt>
                <c:pt idx="6" c:formatCode="yyyy&quot;年&quot;m&quot;月&quot;">
                  <c:v>44805</c:v>
                </c:pt>
                <c:pt idx="7" c:formatCode="yyyy&quot;年&quot;m&quot;月&quot;">
                  <c:v>44896</c:v>
                </c:pt>
                <c:pt idx="8" c:formatCode="yyyy&quot;年&quot;m&quot;月&quot;">
                  <c:v>44986</c:v>
                </c:pt>
                <c:pt idx="9" c:formatCode="yyyy&quot;年&quot;m&quot;月&quot;">
                  <c:v>45078</c:v>
                </c:pt>
                <c:pt idx="10" c:formatCode="yyyy&quot;年&quot;m&quot;月&quot;">
                  <c:v>45170</c:v>
                </c:pt>
                <c:pt idx="11" c:formatCode="yyyy&quot;年&quot;m&quot;月&quot;">
                  <c:v>45261</c:v>
                </c:pt>
                <c:pt idx="12" c:formatCode="yyyy&quot;年&quot;m&quot;月&quot;">
                  <c:v>45352</c:v>
                </c:pt>
                <c:pt idx="13" c:formatCode="yyyy&quot;年&quot;m&quot;月&quot;">
                  <c:v>45383</c:v>
                </c:pt>
                <c:pt idx="14" c:formatCode="yyyy&quot;年&quot;m&quot;月&quot;">
                  <c:v>45413</c:v>
                </c:pt>
                <c:pt idx="15" c:formatCode="yyyy&quot;年&quot;m&quot;月&quot;">
                  <c:v>45444</c:v>
                </c:pt>
                <c:pt idx="16" c:formatCode="yyyy&quot;年&quot;m&quot;月&quot;">
                  <c:v>45474</c:v>
                </c:pt>
                <c:pt idx="17" c:formatCode="yyyy&quot;年&quot;m&quot;月&quot;">
                  <c:v>45505</c:v>
                </c:pt>
                <c:pt idx="18" c:formatCode="yyyy&quot;年&quot;m&quot;月&quot;">
                  <c:v>45536</c:v>
                </c:pt>
              </c:numCache>
            </c:numRef>
          </c:cat>
          <c:val>
            <c:numRef>
              <c:f>'[1、景林金色中国存续-working paper 20241129.xlsx]景林金色中国+价值仓位变化（时间序列）'!$B$19:$W$19</c:f>
              <c:numCache>
                <c:formatCode>0%</c:formatCode>
                <c:ptCount val="22"/>
                <c:pt idx="0">
                  <c:v>-0.03</c:v>
                </c:pt>
                <c:pt idx="1">
                  <c:v>-0.04</c:v>
                </c:pt>
                <c:pt idx="2">
                  <c:v>-0.01</c:v>
                </c:pt>
                <c:pt idx="3">
                  <c:v>-0.02</c:v>
                </c:pt>
                <c:pt idx="4">
                  <c:v>-0.02</c:v>
                </c:pt>
                <c:pt idx="5">
                  <c:v>-0.02</c:v>
                </c:pt>
                <c:pt idx="6">
                  <c:v>-0.02</c:v>
                </c:pt>
                <c:pt idx="7">
                  <c:v>-0.03</c:v>
                </c:pt>
                <c:pt idx="8">
                  <c:v>-0.06</c:v>
                </c:pt>
                <c:pt idx="9">
                  <c:v>-0.08</c:v>
                </c:pt>
                <c:pt idx="10">
                  <c:v>-0.05</c:v>
                </c:pt>
                <c:pt idx="11">
                  <c:v>-0.01</c:v>
                </c:pt>
                <c:pt idx="12">
                  <c:v>-0.1</c:v>
                </c:pt>
                <c:pt idx="13">
                  <c:v>-0.1</c:v>
                </c:pt>
                <c:pt idx="14">
                  <c:v>-0.1</c:v>
                </c:pt>
                <c:pt idx="15">
                  <c:v>-0.11</c:v>
                </c:pt>
                <c:pt idx="16">
                  <c:v>-0.15</c:v>
                </c:pt>
                <c:pt idx="17">
                  <c:v>-0.17</c:v>
                </c:pt>
                <c:pt idx="18">
                  <c:v>-0.15</c:v>
                </c:pt>
                <c:pt idx="19">
                  <c:v>-0.14</c:v>
                </c:pt>
                <c:pt idx="20">
                  <c:v>-0.11</c:v>
                </c:pt>
                <c:pt idx="21">
                  <c:v>-0.1</c:v>
                </c:pt>
              </c:numCache>
            </c:numRef>
          </c:val>
        </c:ser>
        <c:ser>
          <c:idx val="2"/>
          <c:order val="3"/>
          <c:tx>
            <c:strRef>
              <c:f>'[1、景林金色中国存续-working paper 20241129.xlsx]景林金色中国+价值仓位变化（时间序列）'!$A$18</c:f>
              <c:strCache>
                <c:ptCount val="1"/>
                <c:pt idx="0">
                  <c:v>中国内地股空头</c:v>
                </c:pt>
              </c:strCache>
            </c:strRef>
          </c:tx>
          <c:spPr>
            <a:solidFill>
              <a:schemeClr val="accent2">
                <a:lumMod val="20000"/>
                <a:lumOff val="80000"/>
              </a:schemeClr>
            </a:solidFill>
            <a:ln>
              <a:noFill/>
            </a:ln>
            <a:effectLst/>
          </c:spPr>
          <c:dLbls>
            <c:delete val="1"/>
          </c:dLbls>
          <c:cat>
            <c:numRef>
              <c:f>'[1、景林金色中国存续-working paper 20241129.xlsx]景林金色中国+价值仓位变化（时间序列）'!$B$9:$T$9</c:f>
              <c:numCache>
                <c:formatCode>yyyy"年"m"月"</c:formatCode>
                <c:ptCount val="19"/>
                <c:pt idx="0" c:formatCode="yyyy&quot;年&quot;m&quot;月&quot;">
                  <c:v>44256</c:v>
                </c:pt>
                <c:pt idx="1" c:formatCode="yyyy&quot;年&quot;m&quot;月&quot;">
                  <c:v>44348</c:v>
                </c:pt>
                <c:pt idx="2" c:formatCode="yyyy&quot;年&quot;m&quot;月&quot;">
                  <c:v>44440</c:v>
                </c:pt>
                <c:pt idx="3" c:formatCode="yyyy&quot;年&quot;m&quot;月&quot;">
                  <c:v>44531</c:v>
                </c:pt>
                <c:pt idx="4" c:formatCode="yyyy&quot;年&quot;m&quot;月&quot;">
                  <c:v>44621</c:v>
                </c:pt>
                <c:pt idx="5" c:formatCode="yyyy&quot;年&quot;m&quot;月&quot;">
                  <c:v>44713</c:v>
                </c:pt>
                <c:pt idx="6" c:formatCode="yyyy&quot;年&quot;m&quot;月&quot;">
                  <c:v>44805</c:v>
                </c:pt>
                <c:pt idx="7" c:formatCode="yyyy&quot;年&quot;m&quot;月&quot;">
                  <c:v>44896</c:v>
                </c:pt>
                <c:pt idx="8" c:formatCode="yyyy&quot;年&quot;m&quot;月&quot;">
                  <c:v>44986</c:v>
                </c:pt>
                <c:pt idx="9" c:formatCode="yyyy&quot;年&quot;m&quot;月&quot;">
                  <c:v>45078</c:v>
                </c:pt>
                <c:pt idx="10" c:formatCode="yyyy&quot;年&quot;m&quot;月&quot;">
                  <c:v>45170</c:v>
                </c:pt>
                <c:pt idx="11" c:formatCode="yyyy&quot;年&quot;m&quot;月&quot;">
                  <c:v>45261</c:v>
                </c:pt>
                <c:pt idx="12" c:formatCode="yyyy&quot;年&quot;m&quot;月&quot;">
                  <c:v>45352</c:v>
                </c:pt>
                <c:pt idx="13" c:formatCode="yyyy&quot;年&quot;m&quot;月&quot;">
                  <c:v>45383</c:v>
                </c:pt>
                <c:pt idx="14" c:formatCode="yyyy&quot;年&quot;m&quot;月&quot;">
                  <c:v>45413</c:v>
                </c:pt>
                <c:pt idx="15" c:formatCode="yyyy&quot;年&quot;m&quot;月&quot;">
                  <c:v>45444</c:v>
                </c:pt>
                <c:pt idx="16" c:formatCode="yyyy&quot;年&quot;m&quot;月&quot;">
                  <c:v>45474</c:v>
                </c:pt>
                <c:pt idx="17" c:formatCode="yyyy&quot;年&quot;m&quot;月&quot;">
                  <c:v>45505</c:v>
                </c:pt>
                <c:pt idx="18" c:formatCode="yyyy&quot;年&quot;m&quot;月&quot;">
                  <c:v>45536</c:v>
                </c:pt>
              </c:numCache>
            </c:numRef>
          </c:cat>
          <c:val>
            <c:numRef>
              <c:f>'[1、景林金色中国存续-working paper 20241129.xlsx]景林金色中国+价值仓位变化（时间序列）'!$B$18:$W$18</c:f>
              <c:numCache>
                <c:formatCode>0%</c:formatCode>
                <c:ptCount val="22"/>
                <c:pt idx="0">
                  <c:v>0</c:v>
                </c:pt>
                <c:pt idx="1">
                  <c:v>0</c:v>
                </c:pt>
                <c:pt idx="2">
                  <c:v>0</c:v>
                </c:pt>
                <c:pt idx="3">
                  <c:v>0</c:v>
                </c:pt>
                <c:pt idx="4">
                  <c:v>0</c:v>
                </c:pt>
                <c:pt idx="5">
                  <c:v>0</c:v>
                </c:pt>
                <c:pt idx="6">
                  <c:v>-0.1</c:v>
                </c:pt>
                <c:pt idx="7">
                  <c:v>-0.05</c:v>
                </c:pt>
                <c:pt idx="8">
                  <c:v>-0.06</c:v>
                </c:pt>
                <c:pt idx="9">
                  <c:v>-0.07</c:v>
                </c:pt>
                <c:pt idx="10">
                  <c:v>-0.01</c:v>
                </c:pt>
                <c:pt idx="11">
                  <c:v>-0.1</c:v>
                </c:pt>
                <c:pt idx="12">
                  <c:v>0</c:v>
                </c:pt>
                <c:pt idx="13">
                  <c:v>-0.02</c:v>
                </c:pt>
                <c:pt idx="14">
                  <c:v>-0.01</c:v>
                </c:pt>
                <c:pt idx="15">
                  <c:v>-0.01</c:v>
                </c:pt>
                <c:pt idx="16">
                  <c:v>-0.01</c:v>
                </c:pt>
                <c:pt idx="17">
                  <c:v>-0.02</c:v>
                </c:pt>
                <c:pt idx="20">
                  <c:v>-0.04</c:v>
                </c:pt>
                <c:pt idx="21">
                  <c:v>-0.04</c:v>
                </c:pt>
              </c:numCache>
            </c:numRef>
          </c:val>
        </c:ser>
        <c:dLbls>
          <c:showLegendKey val="0"/>
          <c:showVal val="0"/>
          <c:showCatName val="0"/>
          <c:showSerName val="0"/>
          <c:showPercent val="0"/>
          <c:showBubbleSize val="0"/>
        </c:dLbls>
        <c:axId val="1813650112"/>
        <c:axId val="1813665504"/>
      </c:areaChart>
      <c:catAx>
        <c:axId val="1813650112"/>
        <c:scaling>
          <c:orientation val="minMax"/>
        </c:scaling>
        <c:delete val="1"/>
        <c:axPos val="b"/>
        <c:numFmt formatCode="yyyy&quot;年&quot;m&quot;月&quot;" sourceLinked="1"/>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j-ea"/>
                <a:ea typeface="+mj-ea"/>
                <a:cs typeface="+mn-cs"/>
              </a:defRPr>
            </a:pPr>
          </a:p>
        </c:txPr>
        <c:crossAx val="1813665504"/>
        <c:crosses val="autoZero"/>
        <c:auto val="0"/>
        <c:lblAlgn val="ctr"/>
        <c:lblOffset val="100"/>
        <c:noMultiLvlLbl val="0"/>
      </c:catAx>
      <c:valAx>
        <c:axId val="181366550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j-ea"/>
                <a:ea typeface="+mj-ea"/>
                <a:cs typeface="+mn-cs"/>
              </a:defRPr>
            </a:pPr>
          </a:p>
        </c:txPr>
        <c:crossAx val="1813650112"/>
        <c:crosses val="autoZero"/>
        <c:crossBetween val="midCat"/>
      </c:valAx>
      <c:spPr>
        <a:noFill/>
        <a:ln>
          <a:noFill/>
        </a:ln>
        <a:effectLst/>
      </c:spPr>
    </c:plotArea>
    <c:plotVisOnly val="1"/>
    <c:dispBlanksAs val="zero"/>
    <c:showDLblsOverMax val="0"/>
    <c:extLst>
      <c:ext uri="{0b15fc19-7d7d-44ad-8c2d-2c3a37ce22c3}">
        <chartProps xmlns="https://web.wps.cn/et/2018/main" chartId="{c528bce6-9746-4e2c-b0d9-ddcd2c8128d3}"/>
      </c:ext>
    </c:extLst>
  </c:chart>
  <c:spPr>
    <a:noFill/>
    <a:ln w="9525" cap="flat" cmpd="sng" algn="ctr">
      <a:noFill/>
      <a:round/>
    </a:ln>
    <a:effectLst/>
  </c:spPr>
  <c:txPr>
    <a:bodyPr/>
    <a:lstStyle/>
    <a:p>
      <a:pPr>
        <a:defRPr lang="zh-CN">
          <a:latin typeface="+mj-ea"/>
          <a:ea typeface="+mj-ea"/>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zh-CN" sz="1400" b="1" i="0" u="none" strike="noStrike" kern="1200" spc="0" baseline="0">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r>
              <a:rPr lang="zh-CN" b="1">
                <a:latin typeface="等线" panose="02010600030101010101" charset="-122"/>
                <a:ea typeface="等线" panose="02010600030101010101" charset="-122"/>
                <a:cs typeface="等线" panose="02010600030101010101" charset="-122"/>
                <a:sym typeface="等线" panose="02010600030101010101" charset="-122"/>
              </a:rPr>
              <a:t>景林金色中国</a:t>
            </a:r>
            <a:r>
              <a:rPr lang="en-US" b="1">
                <a:latin typeface="等线" panose="02010600030101010101" charset="-122"/>
                <a:ea typeface="等线" panose="02010600030101010101" charset="-122"/>
                <a:cs typeface="等线" panose="02010600030101010101" charset="-122"/>
                <a:sym typeface="等线" panose="02010600030101010101" charset="-122"/>
              </a:rPr>
              <a:t>-</a:t>
            </a:r>
            <a:r>
              <a:rPr lang="zh-CN" b="1">
                <a:latin typeface="等线" panose="02010600030101010101" charset="-122"/>
                <a:ea typeface="等线" panose="02010600030101010101" charset="-122"/>
                <a:cs typeface="等线" panose="02010600030101010101" charset="-122"/>
                <a:sym typeface="等线" panose="02010600030101010101" charset="-122"/>
              </a:rPr>
              <a:t>市场配置</a:t>
            </a:r>
            <a:endParaRPr lang="zh-CN" b="1">
              <a:latin typeface="等线" panose="02010600030101010101" charset="-122"/>
              <a:ea typeface="等线" panose="02010600030101010101" charset="-122"/>
              <a:cs typeface="等线" panose="02010600030101010101" charset="-122"/>
              <a:sym typeface="等线" panose="02010600030101010101" charset="-122"/>
            </a:endParaRPr>
          </a:p>
        </c:rich>
      </c:tx>
      <c:layout/>
      <c:overlay val="0"/>
      <c:spPr>
        <a:noFill/>
        <a:ln>
          <a:noFill/>
        </a:ln>
        <a:effectLst/>
      </c:spPr>
    </c:title>
    <c:autoTitleDeleted val="0"/>
    <c:plotArea>
      <c:layout/>
      <c:areaChart>
        <c:grouping val="stacked"/>
        <c:varyColors val="0"/>
        <c:ser>
          <c:idx val="0"/>
          <c:order val="0"/>
          <c:tx>
            <c:strRef>
              <c:f>'[1、景林金色中国存续-working paper 20241129.xlsx]景林金色中国+价值仓位变化（时间序列）'!$A$11</c:f>
              <c:strCache>
                <c:ptCount val="1"/>
                <c:pt idx="0">
                  <c:v>港股多头</c:v>
                </c:pt>
              </c:strCache>
            </c:strRef>
          </c:tx>
          <c:spPr>
            <a:solidFill>
              <a:schemeClr val="accent1"/>
            </a:solidFill>
            <a:ln>
              <a:noFill/>
            </a:ln>
            <a:effectLst/>
          </c:spPr>
          <c:dLbls>
            <c:delete val="1"/>
          </c:dLbls>
          <c:cat>
            <c:numRef>
              <c:f>'[1、景林金色中国存续-working paper 20241129.xlsx]景林金色中国+价值仓位变化（时间序列）'!$B$9:$W$9</c:f>
              <c:numCache>
                <c:formatCode>yyyy"年"m"月"</c:formatCode>
                <c:ptCount val="22"/>
                <c:pt idx="0" c:formatCode="yyyy&quot;年&quot;m&quot;月&quot;">
                  <c:v>44256</c:v>
                </c:pt>
                <c:pt idx="1" c:formatCode="yyyy&quot;年&quot;m&quot;月&quot;">
                  <c:v>44348</c:v>
                </c:pt>
                <c:pt idx="2" c:formatCode="yyyy&quot;年&quot;m&quot;月&quot;">
                  <c:v>44440</c:v>
                </c:pt>
                <c:pt idx="3" c:formatCode="yyyy&quot;年&quot;m&quot;月&quot;">
                  <c:v>44531</c:v>
                </c:pt>
                <c:pt idx="4" c:formatCode="yyyy&quot;年&quot;m&quot;月&quot;">
                  <c:v>44621</c:v>
                </c:pt>
                <c:pt idx="5" c:formatCode="yyyy&quot;年&quot;m&quot;月&quot;">
                  <c:v>44713</c:v>
                </c:pt>
                <c:pt idx="6" c:formatCode="yyyy&quot;年&quot;m&quot;月&quot;">
                  <c:v>44805</c:v>
                </c:pt>
                <c:pt idx="7" c:formatCode="yyyy&quot;年&quot;m&quot;月&quot;">
                  <c:v>44896</c:v>
                </c:pt>
                <c:pt idx="8" c:formatCode="yyyy&quot;年&quot;m&quot;月&quot;">
                  <c:v>44986</c:v>
                </c:pt>
                <c:pt idx="9" c:formatCode="yyyy&quot;年&quot;m&quot;月&quot;">
                  <c:v>45078</c:v>
                </c:pt>
                <c:pt idx="10" c:formatCode="yyyy&quot;年&quot;m&quot;月&quot;">
                  <c:v>45170</c:v>
                </c:pt>
                <c:pt idx="11" c:formatCode="yyyy&quot;年&quot;m&quot;月&quot;">
                  <c:v>45261</c:v>
                </c:pt>
                <c:pt idx="12" c:formatCode="yyyy&quot;年&quot;m&quot;月&quot;">
                  <c:v>45352</c:v>
                </c:pt>
                <c:pt idx="13" c:formatCode="yyyy&quot;年&quot;m&quot;月&quot;">
                  <c:v>45383</c:v>
                </c:pt>
                <c:pt idx="14" c:formatCode="yyyy&quot;年&quot;m&quot;月&quot;">
                  <c:v>45413</c:v>
                </c:pt>
                <c:pt idx="15" c:formatCode="yyyy&quot;年&quot;m&quot;月&quot;">
                  <c:v>45444</c:v>
                </c:pt>
                <c:pt idx="16" c:formatCode="yyyy&quot;年&quot;m&quot;月&quot;">
                  <c:v>45474</c:v>
                </c:pt>
                <c:pt idx="17" c:formatCode="yyyy&quot;年&quot;m&quot;月&quot;">
                  <c:v>45505</c:v>
                </c:pt>
                <c:pt idx="18" c:formatCode="yyyy&quot;年&quot;m&quot;月&quot;">
                  <c:v>45536</c:v>
                </c:pt>
                <c:pt idx="19" c:formatCode="yyyy&quot;年&quot;m&quot;月&quot;">
                  <c:v>45566</c:v>
                </c:pt>
                <c:pt idx="20" c:formatCode="yyyy&quot;年&quot;m&quot;月&quot;">
                  <c:v>45597</c:v>
                </c:pt>
                <c:pt idx="21" c:formatCode="yyyy&quot;年&quot;m&quot;月&quot;">
                  <c:v>45627</c:v>
                </c:pt>
              </c:numCache>
            </c:numRef>
          </c:cat>
          <c:val>
            <c:numRef>
              <c:f>'[1、景林金色中国存续-working paper 20241129.xlsx]景林金色中国+价值仓位变化（时间序列）'!$B$11:$W$11</c:f>
              <c:numCache>
                <c:formatCode>0%</c:formatCode>
                <c:ptCount val="22"/>
                <c:pt idx="0">
                  <c:v>0.55</c:v>
                </c:pt>
                <c:pt idx="1">
                  <c:v>0.58</c:v>
                </c:pt>
                <c:pt idx="2">
                  <c:v>0.51</c:v>
                </c:pt>
                <c:pt idx="3">
                  <c:v>0.57</c:v>
                </c:pt>
                <c:pt idx="4">
                  <c:v>0.67</c:v>
                </c:pt>
                <c:pt idx="5">
                  <c:v>0.78</c:v>
                </c:pt>
                <c:pt idx="6">
                  <c:v>0.66</c:v>
                </c:pt>
                <c:pt idx="7">
                  <c:v>0.77</c:v>
                </c:pt>
                <c:pt idx="8">
                  <c:v>0.46</c:v>
                </c:pt>
                <c:pt idx="9">
                  <c:v>0.53</c:v>
                </c:pt>
                <c:pt idx="10">
                  <c:v>0.51</c:v>
                </c:pt>
                <c:pt idx="11">
                  <c:v>0.52</c:v>
                </c:pt>
                <c:pt idx="12">
                  <c:v>0.49</c:v>
                </c:pt>
                <c:pt idx="13">
                  <c:v>0.52</c:v>
                </c:pt>
                <c:pt idx="14">
                  <c:v>0.52</c:v>
                </c:pt>
                <c:pt idx="15">
                  <c:v>0.55</c:v>
                </c:pt>
                <c:pt idx="16">
                  <c:v>0.57</c:v>
                </c:pt>
                <c:pt idx="17">
                  <c:v>0.63</c:v>
                </c:pt>
                <c:pt idx="18">
                  <c:v>0.66</c:v>
                </c:pt>
                <c:pt idx="19">
                  <c:v>0.71</c:v>
                </c:pt>
                <c:pt idx="20">
                  <c:v>0.74</c:v>
                </c:pt>
                <c:pt idx="21">
                  <c:v>0.71</c:v>
                </c:pt>
              </c:numCache>
            </c:numRef>
          </c:val>
        </c:ser>
        <c:ser>
          <c:idx val="2"/>
          <c:order val="1"/>
          <c:tx>
            <c:strRef>
              <c:f>'[1、景林金色中国存续-working paper 20241129.xlsx]景林金色中国+价值仓位变化（时间序列）'!$A$12</c:f>
              <c:strCache>
                <c:ptCount val="1"/>
                <c:pt idx="0">
                  <c:v>美国预托证券多头</c:v>
                </c:pt>
              </c:strCache>
            </c:strRef>
          </c:tx>
          <c:spPr>
            <a:solidFill>
              <a:schemeClr val="accent3"/>
            </a:solidFill>
            <a:ln w="25400">
              <a:noFill/>
            </a:ln>
            <a:effectLst/>
          </c:spPr>
          <c:dLbls>
            <c:delete val="1"/>
          </c:dLbls>
          <c:cat>
            <c:numRef>
              <c:f>'[1、景林金色中国存续-working paper 20241129.xlsx]景林金色中国+价值仓位变化（时间序列）'!$B$9:$W$9</c:f>
              <c:numCache>
                <c:formatCode>yyyy"年"m"月"</c:formatCode>
                <c:ptCount val="22"/>
                <c:pt idx="0" c:formatCode="yyyy&quot;年&quot;m&quot;月&quot;">
                  <c:v>44256</c:v>
                </c:pt>
                <c:pt idx="1" c:formatCode="yyyy&quot;年&quot;m&quot;月&quot;">
                  <c:v>44348</c:v>
                </c:pt>
                <c:pt idx="2" c:formatCode="yyyy&quot;年&quot;m&quot;月&quot;">
                  <c:v>44440</c:v>
                </c:pt>
                <c:pt idx="3" c:formatCode="yyyy&quot;年&quot;m&quot;月&quot;">
                  <c:v>44531</c:v>
                </c:pt>
                <c:pt idx="4" c:formatCode="yyyy&quot;年&quot;m&quot;月&quot;">
                  <c:v>44621</c:v>
                </c:pt>
                <c:pt idx="5" c:formatCode="yyyy&quot;年&quot;m&quot;月&quot;">
                  <c:v>44713</c:v>
                </c:pt>
                <c:pt idx="6" c:formatCode="yyyy&quot;年&quot;m&quot;月&quot;">
                  <c:v>44805</c:v>
                </c:pt>
                <c:pt idx="7" c:formatCode="yyyy&quot;年&quot;m&quot;月&quot;">
                  <c:v>44896</c:v>
                </c:pt>
                <c:pt idx="8" c:formatCode="yyyy&quot;年&quot;m&quot;月&quot;">
                  <c:v>44986</c:v>
                </c:pt>
                <c:pt idx="9" c:formatCode="yyyy&quot;年&quot;m&quot;月&quot;">
                  <c:v>45078</c:v>
                </c:pt>
                <c:pt idx="10" c:formatCode="yyyy&quot;年&quot;m&quot;月&quot;">
                  <c:v>45170</c:v>
                </c:pt>
                <c:pt idx="11" c:formatCode="yyyy&quot;年&quot;m&quot;月&quot;">
                  <c:v>45261</c:v>
                </c:pt>
                <c:pt idx="12" c:formatCode="yyyy&quot;年&quot;m&quot;月&quot;">
                  <c:v>45352</c:v>
                </c:pt>
                <c:pt idx="13" c:formatCode="yyyy&quot;年&quot;m&quot;月&quot;">
                  <c:v>45383</c:v>
                </c:pt>
                <c:pt idx="14" c:formatCode="yyyy&quot;年&quot;m&quot;月&quot;">
                  <c:v>45413</c:v>
                </c:pt>
                <c:pt idx="15" c:formatCode="yyyy&quot;年&quot;m&quot;月&quot;">
                  <c:v>45444</c:v>
                </c:pt>
                <c:pt idx="16" c:formatCode="yyyy&quot;年&quot;m&quot;月&quot;">
                  <c:v>45474</c:v>
                </c:pt>
                <c:pt idx="17" c:formatCode="yyyy&quot;年&quot;m&quot;月&quot;">
                  <c:v>45505</c:v>
                </c:pt>
                <c:pt idx="18" c:formatCode="yyyy&quot;年&quot;m&quot;月&quot;">
                  <c:v>45536</c:v>
                </c:pt>
                <c:pt idx="19" c:formatCode="yyyy&quot;年&quot;m&quot;月&quot;">
                  <c:v>45566</c:v>
                </c:pt>
                <c:pt idx="20" c:formatCode="yyyy&quot;年&quot;m&quot;月&quot;">
                  <c:v>45597</c:v>
                </c:pt>
                <c:pt idx="21" c:formatCode="yyyy&quot;年&quot;m&quot;月&quot;">
                  <c:v>45627</c:v>
                </c:pt>
              </c:numCache>
            </c:numRef>
          </c:cat>
          <c:val>
            <c:numRef>
              <c:f>'[1、景林金色中国存续-working paper 20241129.xlsx]景林金色中国+价值仓位变化（时间序列）'!$B$12:$W$12</c:f>
              <c:numCache>
                <c:formatCode>0%</c:formatCode>
                <c:ptCount val="22"/>
                <c:pt idx="0">
                  <c:v>0.18</c:v>
                </c:pt>
                <c:pt idx="1">
                  <c:v>0.21</c:v>
                </c:pt>
                <c:pt idx="2">
                  <c:v>0.23</c:v>
                </c:pt>
                <c:pt idx="3">
                  <c:v>0.27</c:v>
                </c:pt>
                <c:pt idx="4">
                  <c:v>0.29</c:v>
                </c:pt>
                <c:pt idx="5">
                  <c:v>0.23</c:v>
                </c:pt>
                <c:pt idx="6">
                  <c:v>0.2</c:v>
                </c:pt>
                <c:pt idx="7">
                  <c:v>0.17</c:v>
                </c:pt>
                <c:pt idx="8">
                  <c:v>0.25</c:v>
                </c:pt>
                <c:pt idx="9">
                  <c:v>0.29</c:v>
                </c:pt>
                <c:pt idx="10">
                  <c:v>0.33</c:v>
                </c:pt>
                <c:pt idx="11">
                  <c:v>0.34</c:v>
                </c:pt>
                <c:pt idx="12">
                  <c:v>0.29</c:v>
                </c:pt>
                <c:pt idx="13">
                  <c:v>0.32</c:v>
                </c:pt>
                <c:pt idx="14">
                  <c:v>0.42</c:v>
                </c:pt>
                <c:pt idx="15">
                  <c:v>0.45</c:v>
                </c:pt>
                <c:pt idx="16">
                  <c:v>0.39</c:v>
                </c:pt>
                <c:pt idx="17">
                  <c:v>0.27</c:v>
                </c:pt>
                <c:pt idx="18">
                  <c:v>0.32</c:v>
                </c:pt>
                <c:pt idx="19">
                  <c:v>0.32</c:v>
                </c:pt>
                <c:pt idx="20">
                  <c:v>0.33</c:v>
                </c:pt>
                <c:pt idx="21">
                  <c:v>0.33</c:v>
                </c:pt>
              </c:numCache>
            </c:numRef>
          </c:val>
        </c:ser>
        <c:ser>
          <c:idx val="3"/>
          <c:order val="2"/>
          <c:tx>
            <c:strRef>
              <c:f>'[1、景林金色中国存续-working paper 20241129.xlsx]景林金色中国+价值仓位变化（时间序列）'!$A$14</c:f>
              <c:strCache>
                <c:ptCount val="1"/>
                <c:pt idx="0">
                  <c:v>其他多头</c:v>
                </c:pt>
              </c:strCache>
            </c:strRef>
          </c:tx>
          <c:spPr>
            <a:solidFill>
              <a:srgbClr val="002060"/>
            </a:solidFill>
            <a:ln>
              <a:noFill/>
            </a:ln>
            <a:effectLst/>
          </c:spPr>
          <c:dLbls>
            <c:delete val="1"/>
          </c:dLbls>
          <c:cat>
            <c:numRef>
              <c:f>'[1、景林金色中国存续-working paper 20241129.xlsx]景林金色中国+价值仓位变化（时间序列）'!$B$9:$W$9</c:f>
              <c:numCache>
                <c:formatCode>yyyy"年"m"月"</c:formatCode>
                <c:ptCount val="22"/>
                <c:pt idx="0" c:formatCode="yyyy&quot;年&quot;m&quot;月&quot;">
                  <c:v>44256</c:v>
                </c:pt>
                <c:pt idx="1" c:formatCode="yyyy&quot;年&quot;m&quot;月&quot;">
                  <c:v>44348</c:v>
                </c:pt>
                <c:pt idx="2" c:formatCode="yyyy&quot;年&quot;m&quot;月&quot;">
                  <c:v>44440</c:v>
                </c:pt>
                <c:pt idx="3" c:formatCode="yyyy&quot;年&quot;m&quot;月&quot;">
                  <c:v>44531</c:v>
                </c:pt>
                <c:pt idx="4" c:formatCode="yyyy&quot;年&quot;m&quot;月&quot;">
                  <c:v>44621</c:v>
                </c:pt>
                <c:pt idx="5" c:formatCode="yyyy&quot;年&quot;m&quot;月&quot;">
                  <c:v>44713</c:v>
                </c:pt>
                <c:pt idx="6" c:formatCode="yyyy&quot;年&quot;m&quot;月&quot;">
                  <c:v>44805</c:v>
                </c:pt>
                <c:pt idx="7" c:formatCode="yyyy&quot;年&quot;m&quot;月&quot;">
                  <c:v>44896</c:v>
                </c:pt>
                <c:pt idx="8" c:formatCode="yyyy&quot;年&quot;m&quot;月&quot;">
                  <c:v>44986</c:v>
                </c:pt>
                <c:pt idx="9" c:formatCode="yyyy&quot;年&quot;m&quot;月&quot;">
                  <c:v>45078</c:v>
                </c:pt>
                <c:pt idx="10" c:formatCode="yyyy&quot;年&quot;m&quot;月&quot;">
                  <c:v>45170</c:v>
                </c:pt>
                <c:pt idx="11" c:formatCode="yyyy&quot;年&quot;m&quot;月&quot;">
                  <c:v>45261</c:v>
                </c:pt>
                <c:pt idx="12" c:formatCode="yyyy&quot;年&quot;m&quot;月&quot;">
                  <c:v>45352</c:v>
                </c:pt>
                <c:pt idx="13" c:formatCode="yyyy&quot;年&quot;m&quot;月&quot;">
                  <c:v>45383</c:v>
                </c:pt>
                <c:pt idx="14" c:formatCode="yyyy&quot;年&quot;m&quot;月&quot;">
                  <c:v>45413</c:v>
                </c:pt>
                <c:pt idx="15" c:formatCode="yyyy&quot;年&quot;m&quot;月&quot;">
                  <c:v>45444</c:v>
                </c:pt>
                <c:pt idx="16" c:formatCode="yyyy&quot;年&quot;m&quot;月&quot;">
                  <c:v>45474</c:v>
                </c:pt>
                <c:pt idx="17" c:formatCode="yyyy&quot;年&quot;m&quot;月&quot;">
                  <c:v>45505</c:v>
                </c:pt>
                <c:pt idx="18" c:formatCode="yyyy&quot;年&quot;m&quot;月&quot;">
                  <c:v>45536</c:v>
                </c:pt>
                <c:pt idx="19" c:formatCode="yyyy&quot;年&quot;m&quot;月&quot;">
                  <c:v>45566</c:v>
                </c:pt>
                <c:pt idx="20" c:formatCode="yyyy&quot;年&quot;m&quot;月&quot;">
                  <c:v>45597</c:v>
                </c:pt>
                <c:pt idx="21" c:formatCode="yyyy&quot;年&quot;m&quot;月&quot;">
                  <c:v>45627</c:v>
                </c:pt>
              </c:numCache>
            </c:numRef>
          </c:cat>
          <c:val>
            <c:numRef>
              <c:f>'[1、景林金色中国存续-working paper 20241129.xlsx]景林金色中国+价值仓位变化（时间序列）'!$B$14:$W$14</c:f>
              <c:numCache>
                <c:formatCode>0%</c:formatCode>
                <c:ptCount val="22"/>
                <c:pt idx="0">
                  <c:v>0.02</c:v>
                </c:pt>
                <c:pt idx="1">
                  <c:v>0.02</c:v>
                </c:pt>
                <c:pt idx="2">
                  <c:v>0.02</c:v>
                </c:pt>
                <c:pt idx="3">
                  <c:v>0.02</c:v>
                </c:pt>
                <c:pt idx="4">
                  <c:v>0</c:v>
                </c:pt>
                <c:pt idx="5">
                  <c:v>0</c:v>
                </c:pt>
                <c:pt idx="6">
                  <c:v>0</c:v>
                </c:pt>
                <c:pt idx="7">
                  <c:v>0</c:v>
                </c:pt>
                <c:pt idx="8">
                  <c:v>0.06</c:v>
                </c:pt>
                <c:pt idx="9">
                  <c:v>0.13</c:v>
                </c:pt>
                <c:pt idx="10">
                  <c:v>0.18</c:v>
                </c:pt>
                <c:pt idx="11">
                  <c:v>0.14</c:v>
                </c:pt>
                <c:pt idx="12">
                  <c:v>0.26</c:v>
                </c:pt>
                <c:pt idx="13">
                  <c:v>0.24</c:v>
                </c:pt>
                <c:pt idx="14">
                  <c:v>0.15</c:v>
                </c:pt>
                <c:pt idx="15">
                  <c:v>0.16</c:v>
                </c:pt>
                <c:pt idx="16">
                  <c:v>0.12</c:v>
                </c:pt>
                <c:pt idx="17">
                  <c:v>0.1</c:v>
                </c:pt>
                <c:pt idx="18">
                  <c:v>0.1</c:v>
                </c:pt>
                <c:pt idx="19">
                  <c:v>0.12</c:v>
                </c:pt>
                <c:pt idx="20">
                  <c:v>0.14</c:v>
                </c:pt>
                <c:pt idx="21">
                  <c:v>0.13</c:v>
                </c:pt>
              </c:numCache>
            </c:numRef>
          </c:val>
        </c:ser>
        <c:ser>
          <c:idx val="1"/>
          <c:order val="3"/>
          <c:tx>
            <c:strRef>
              <c:f>'[1、景林金色中国存续-working paper 20241129.xlsx]景林金色中国+价值仓位变化（时间序列）'!$A$13</c:f>
              <c:strCache>
                <c:ptCount val="1"/>
                <c:pt idx="0">
                  <c:v>中国内地股多头</c:v>
                </c:pt>
              </c:strCache>
            </c:strRef>
          </c:tx>
          <c:spPr>
            <a:solidFill>
              <a:schemeClr val="accent2">
                <a:lumMod val="20000"/>
                <a:lumOff val="80000"/>
              </a:schemeClr>
            </a:solidFill>
            <a:ln>
              <a:noFill/>
            </a:ln>
            <a:effectLst/>
          </c:spPr>
          <c:dLbls>
            <c:delete val="1"/>
          </c:dLbls>
          <c:cat>
            <c:numRef>
              <c:f>'[1、景林金色中国存续-working paper 20241129.xlsx]景林金色中国+价值仓位变化（时间序列）'!$B$9:$W$9</c:f>
              <c:numCache>
                <c:formatCode>yyyy"年"m"月"</c:formatCode>
                <c:ptCount val="22"/>
                <c:pt idx="0" c:formatCode="yyyy&quot;年&quot;m&quot;月&quot;">
                  <c:v>44256</c:v>
                </c:pt>
                <c:pt idx="1" c:formatCode="yyyy&quot;年&quot;m&quot;月&quot;">
                  <c:v>44348</c:v>
                </c:pt>
                <c:pt idx="2" c:formatCode="yyyy&quot;年&quot;m&quot;月&quot;">
                  <c:v>44440</c:v>
                </c:pt>
                <c:pt idx="3" c:formatCode="yyyy&quot;年&quot;m&quot;月&quot;">
                  <c:v>44531</c:v>
                </c:pt>
                <c:pt idx="4" c:formatCode="yyyy&quot;年&quot;m&quot;月&quot;">
                  <c:v>44621</c:v>
                </c:pt>
                <c:pt idx="5" c:formatCode="yyyy&quot;年&quot;m&quot;月&quot;">
                  <c:v>44713</c:v>
                </c:pt>
                <c:pt idx="6" c:formatCode="yyyy&quot;年&quot;m&quot;月&quot;">
                  <c:v>44805</c:v>
                </c:pt>
                <c:pt idx="7" c:formatCode="yyyy&quot;年&quot;m&quot;月&quot;">
                  <c:v>44896</c:v>
                </c:pt>
                <c:pt idx="8" c:formatCode="yyyy&quot;年&quot;m&quot;月&quot;">
                  <c:v>44986</c:v>
                </c:pt>
                <c:pt idx="9" c:formatCode="yyyy&quot;年&quot;m&quot;月&quot;">
                  <c:v>45078</c:v>
                </c:pt>
                <c:pt idx="10" c:formatCode="yyyy&quot;年&quot;m&quot;月&quot;">
                  <c:v>45170</c:v>
                </c:pt>
                <c:pt idx="11" c:formatCode="yyyy&quot;年&quot;m&quot;月&quot;">
                  <c:v>45261</c:v>
                </c:pt>
                <c:pt idx="12" c:formatCode="yyyy&quot;年&quot;m&quot;月&quot;">
                  <c:v>45352</c:v>
                </c:pt>
                <c:pt idx="13" c:formatCode="yyyy&quot;年&quot;m&quot;月&quot;">
                  <c:v>45383</c:v>
                </c:pt>
                <c:pt idx="14" c:formatCode="yyyy&quot;年&quot;m&quot;月&quot;">
                  <c:v>45413</c:v>
                </c:pt>
                <c:pt idx="15" c:formatCode="yyyy&quot;年&quot;m&quot;月&quot;">
                  <c:v>45444</c:v>
                </c:pt>
                <c:pt idx="16" c:formatCode="yyyy&quot;年&quot;m&quot;月&quot;">
                  <c:v>45474</c:v>
                </c:pt>
                <c:pt idx="17" c:formatCode="yyyy&quot;年&quot;m&quot;月&quot;">
                  <c:v>45505</c:v>
                </c:pt>
                <c:pt idx="18" c:formatCode="yyyy&quot;年&quot;m&quot;月&quot;">
                  <c:v>45536</c:v>
                </c:pt>
                <c:pt idx="19" c:formatCode="yyyy&quot;年&quot;m&quot;月&quot;">
                  <c:v>45566</c:v>
                </c:pt>
                <c:pt idx="20" c:formatCode="yyyy&quot;年&quot;m&quot;月&quot;">
                  <c:v>45597</c:v>
                </c:pt>
                <c:pt idx="21" c:formatCode="yyyy&quot;年&quot;m&quot;月&quot;">
                  <c:v>45627</c:v>
                </c:pt>
              </c:numCache>
            </c:numRef>
          </c:cat>
          <c:val>
            <c:numRef>
              <c:f>'[1、景林金色中国存续-working paper 20241129.xlsx]景林金色中国+价值仓位变化（时间序列）'!$B$13:$W$13</c:f>
              <c:numCache>
                <c:formatCode>0%</c:formatCode>
                <c:ptCount val="22"/>
                <c:pt idx="0">
                  <c:v>0.15</c:v>
                </c:pt>
                <c:pt idx="1">
                  <c:v>0.15</c:v>
                </c:pt>
                <c:pt idx="2">
                  <c:v>0.2</c:v>
                </c:pt>
                <c:pt idx="3">
                  <c:v>0.19</c:v>
                </c:pt>
                <c:pt idx="4">
                  <c:v>0.2</c:v>
                </c:pt>
                <c:pt idx="5">
                  <c:v>0.12</c:v>
                </c:pt>
                <c:pt idx="6">
                  <c:v>0.13</c:v>
                </c:pt>
                <c:pt idx="7">
                  <c:v>0.21</c:v>
                </c:pt>
                <c:pt idx="8">
                  <c:v>0.24</c:v>
                </c:pt>
                <c:pt idx="9">
                  <c:v>0.23</c:v>
                </c:pt>
                <c:pt idx="10">
                  <c:v>0.19</c:v>
                </c:pt>
                <c:pt idx="11">
                  <c:v>0.18</c:v>
                </c:pt>
                <c:pt idx="12">
                  <c:v>0.1</c:v>
                </c:pt>
                <c:pt idx="13">
                  <c:v>0.1</c:v>
                </c:pt>
                <c:pt idx="14">
                  <c:v>0.09</c:v>
                </c:pt>
                <c:pt idx="15">
                  <c:v>0.05</c:v>
                </c:pt>
                <c:pt idx="16">
                  <c:v>0.05</c:v>
                </c:pt>
                <c:pt idx="17">
                  <c:v>0.05</c:v>
                </c:pt>
                <c:pt idx="18">
                  <c:v>0.03</c:v>
                </c:pt>
                <c:pt idx="19">
                  <c:v>0.03</c:v>
                </c:pt>
                <c:pt idx="20">
                  <c:v>0.02</c:v>
                </c:pt>
                <c:pt idx="21">
                  <c:v>0.02</c:v>
                </c:pt>
              </c:numCache>
            </c:numRef>
          </c:val>
        </c:ser>
        <c:dLbls>
          <c:showLegendKey val="0"/>
          <c:showVal val="0"/>
          <c:showCatName val="0"/>
          <c:showSerName val="0"/>
          <c:showPercent val="0"/>
          <c:showBubbleSize val="0"/>
        </c:dLbls>
        <c:axId val="1817738576"/>
        <c:axId val="1817729424"/>
      </c:areaChart>
      <c:catAx>
        <c:axId val="1817738576"/>
        <c:scaling>
          <c:orientation val="minMax"/>
        </c:scaling>
        <c:delete val="0"/>
        <c:axPos val="b"/>
        <c:numFmt formatCode="yyyy&quot;年&quot;m&quot;月&quot;"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p>
        </c:txPr>
        <c:crossAx val="1817729424"/>
        <c:crosses val="autoZero"/>
        <c:auto val="0"/>
        <c:lblAlgn val="ctr"/>
        <c:lblOffset val="100"/>
        <c:noMultiLvlLbl val="0"/>
      </c:catAx>
      <c:valAx>
        <c:axId val="1817729424"/>
        <c:scaling>
          <c:orientation val="minMax"/>
          <c:max val="1.2"/>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p>
        </c:txPr>
        <c:crossAx val="1817738576"/>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lang="zh-CN" sz="1000" b="0" i="0" u="none" strike="noStrike" kern="1200" baseline="0">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1"/>
        <c:txPr>
          <a:bodyPr rot="0" spcFirstLastPara="1" vertOverflow="ellipsis" vert="horz" wrap="square" anchor="ctr" anchorCtr="1"/>
          <a:lstStyle/>
          <a:p>
            <a:pPr>
              <a:defRPr lang="zh-CN" sz="1000" b="0" i="0" u="none" strike="noStrike" kern="1200" baseline="0">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2"/>
        <c:txPr>
          <a:bodyPr rot="0" spcFirstLastPara="1" vertOverflow="ellipsis" vert="horz" wrap="square" anchor="ctr" anchorCtr="1"/>
          <a:lstStyle/>
          <a:p>
            <a:pPr>
              <a:defRPr lang="zh-CN" sz="1000" b="0" i="0" u="none" strike="noStrike" kern="1200" baseline="0">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3"/>
        <c:txPr>
          <a:bodyPr rot="0" spcFirstLastPara="1" vertOverflow="ellipsis" vert="horz" wrap="square" anchor="ctr" anchorCtr="1"/>
          <a:lstStyle/>
          <a:p>
            <a:pPr>
              <a:defRPr lang="zh-CN" sz="1000" b="0" i="0" u="none" strike="noStrike" kern="1200" baseline="0">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p>
      </c:txPr>
    </c:legend>
    <c:plotVisOnly val="1"/>
    <c:dispBlanksAs val="zero"/>
    <c:showDLblsOverMax val="0"/>
    <c:extLst>
      <c:ext uri="{0b15fc19-7d7d-44ad-8c2d-2c3a37ce22c3}">
        <chartProps xmlns="https://web.wps.cn/et/2018/main" chartId="{e366405c-4156-4c2e-a549-3ce1e44ea0b9}"/>
      </c:ext>
    </c:extLst>
  </c:chart>
  <c:spPr>
    <a:noFill/>
    <a:ln w="9525" cap="flat" cmpd="sng" algn="ctr">
      <a:noFill/>
      <a:round/>
    </a:ln>
    <a:effectLst/>
  </c:spPr>
  <c:txPr>
    <a:bodyPr/>
    <a:lstStyle/>
    <a:p>
      <a:pPr>
        <a:defRPr lang="zh-CN">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00" b="1" i="0" u="none" strike="noStrike" kern="1200" spc="0" baseline="0">
                <a:solidFill>
                  <a:sysClr val="windowText" lastClr="000000"/>
                </a:solidFill>
                <a:latin typeface="等线" panose="02010600030101010101" charset="-122"/>
                <a:ea typeface="等线" panose="02010600030101010101" charset="-122"/>
                <a:cs typeface="等线" panose="02010600030101010101" charset="-122"/>
                <a:sym typeface="等线" panose="02010600030101010101" charset="-122"/>
              </a:defRPr>
            </a:pPr>
            <a:r>
              <a:rPr lang="zh-CN" b="1">
                <a:latin typeface="等线" panose="02010600030101010101" charset="-122"/>
                <a:ea typeface="等线" panose="02010600030101010101" charset="-122"/>
                <a:cs typeface="等线" panose="02010600030101010101" charset="-122"/>
                <a:sym typeface="等线" panose="02010600030101010101" charset="-122"/>
              </a:rPr>
              <a:t>景林金色中国</a:t>
            </a:r>
            <a:r>
              <a:rPr lang="en-US" altLang="zh-CN" b="1">
                <a:latin typeface="等线" panose="02010600030101010101" charset="-122"/>
                <a:ea typeface="等线" panose="02010600030101010101" charset="-122"/>
                <a:cs typeface="等线" panose="02010600030101010101" charset="-122"/>
                <a:sym typeface="等线" panose="02010600030101010101" charset="-122"/>
              </a:rPr>
              <a:t>-</a:t>
            </a:r>
            <a:r>
              <a:rPr lang="zh-CN" b="1">
                <a:latin typeface="等线" panose="02010600030101010101" charset="-122"/>
                <a:ea typeface="等线" panose="02010600030101010101" charset="-122"/>
                <a:cs typeface="等线" panose="02010600030101010101" charset="-122"/>
                <a:sym typeface="等线" panose="02010600030101010101" charset="-122"/>
              </a:rPr>
              <a:t>行业配置</a:t>
            </a:r>
            <a:endParaRPr lang="zh-CN" b="1">
              <a:latin typeface="等线" panose="02010600030101010101" charset="-122"/>
              <a:ea typeface="等线" panose="02010600030101010101" charset="-122"/>
              <a:cs typeface="等线" panose="02010600030101010101" charset="-122"/>
              <a:sym typeface="等线" panose="02010600030101010101" charset="-122"/>
            </a:endParaRPr>
          </a:p>
        </c:rich>
      </c:tx>
      <c:layout>
        <c:manualLayout>
          <c:xMode val="edge"/>
          <c:yMode val="edge"/>
          <c:x val="0.343415616061023"/>
          <c:y val="0.0219418540866703"/>
        </c:manualLayout>
      </c:layout>
      <c:overlay val="0"/>
      <c:spPr>
        <a:noFill/>
        <a:ln>
          <a:noFill/>
        </a:ln>
        <a:effectLst/>
      </c:spPr>
    </c:title>
    <c:autoTitleDeleted val="0"/>
    <c:plotArea>
      <c:layout/>
      <c:areaChart>
        <c:grouping val="stacked"/>
        <c:varyColors val="0"/>
        <c:ser>
          <c:idx val="0"/>
          <c:order val="0"/>
          <c:tx>
            <c:strRef>
              <c:f>'[1、景林金色中国存续-working paper 20241129.xlsx]景林金色中国行业配置（时间序列）'!$A$2</c:f>
              <c:strCache>
                <c:ptCount val="1"/>
                <c:pt idx="0">
                  <c:v>通讯服务（多）</c:v>
                </c:pt>
              </c:strCache>
            </c:strRef>
          </c:tx>
          <c:spPr>
            <a:solidFill>
              <a:schemeClr val="accent1"/>
            </a:solidFill>
            <a:ln>
              <a:noFill/>
            </a:ln>
            <a:effectLst/>
          </c:spPr>
          <c:dLbls>
            <c:delete val="1"/>
          </c:dLbls>
          <c:cat>
            <c:numRef>
              <c:f>'[1、景林金色中国存续-working paper 20241129.xlsx]景林金色中国行业配置（时间序列）'!$B$1:$W$1</c:f>
              <c:numCache>
                <c:formatCode>yyyy/m/d</c:formatCode>
                <c:ptCount val="22"/>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pt idx="20" c:formatCode="yyyy/m/d">
                  <c:v>45626</c:v>
                </c:pt>
                <c:pt idx="21" c:formatCode="yyyy/m/d">
                  <c:v>45657</c:v>
                </c:pt>
              </c:numCache>
            </c:numRef>
          </c:cat>
          <c:val>
            <c:numRef>
              <c:f>'[1、景林金色中国存续-working paper 20241129.xlsx]景林金色中国行业配置（时间序列）'!$B$2:$W$2</c:f>
              <c:numCache>
                <c:formatCode>0%</c:formatCode>
                <c:ptCount val="22"/>
                <c:pt idx="0">
                  <c:v>0.32</c:v>
                </c:pt>
                <c:pt idx="1">
                  <c:v>0.35</c:v>
                </c:pt>
                <c:pt idx="2">
                  <c:v>0.35</c:v>
                </c:pt>
                <c:pt idx="3">
                  <c:v>0.4</c:v>
                </c:pt>
                <c:pt idx="4">
                  <c:v>0.32</c:v>
                </c:pt>
                <c:pt idx="5">
                  <c:v>0.3</c:v>
                </c:pt>
                <c:pt idx="6">
                  <c:v>0.3</c:v>
                </c:pt>
                <c:pt idx="7">
                  <c:v>0.23</c:v>
                </c:pt>
                <c:pt idx="8">
                  <c:v>0.24</c:v>
                </c:pt>
                <c:pt idx="9">
                  <c:v>0.26</c:v>
                </c:pt>
                <c:pt idx="10">
                  <c:v>0.3</c:v>
                </c:pt>
                <c:pt idx="11">
                  <c:v>0.34</c:v>
                </c:pt>
                <c:pt idx="12">
                  <c:v>0.33</c:v>
                </c:pt>
                <c:pt idx="13">
                  <c:v>0.34</c:v>
                </c:pt>
                <c:pt idx="14">
                  <c:v>0.36</c:v>
                </c:pt>
                <c:pt idx="15">
                  <c:v>0.37</c:v>
                </c:pt>
                <c:pt idx="16">
                  <c:v>0.36</c:v>
                </c:pt>
                <c:pt idx="17">
                  <c:v>0.35</c:v>
                </c:pt>
                <c:pt idx="18">
                  <c:v>0.34</c:v>
                </c:pt>
                <c:pt idx="19">
                  <c:v>0.4</c:v>
                </c:pt>
                <c:pt idx="20">
                  <c:v>0.43</c:v>
                </c:pt>
                <c:pt idx="21">
                  <c:v>0.41</c:v>
                </c:pt>
              </c:numCache>
            </c:numRef>
          </c:val>
        </c:ser>
        <c:ser>
          <c:idx val="1"/>
          <c:order val="1"/>
          <c:tx>
            <c:strRef>
              <c:f>'[1、景林金色中国存续-working paper 20241129.xlsx]景林金色中国行业配置（时间序列）'!$A$3</c:f>
              <c:strCache>
                <c:ptCount val="1"/>
                <c:pt idx="0">
                  <c:v>可选消费品（多）</c:v>
                </c:pt>
              </c:strCache>
            </c:strRef>
          </c:tx>
          <c:spPr>
            <a:solidFill>
              <a:schemeClr val="accent2"/>
            </a:solidFill>
            <a:ln>
              <a:noFill/>
            </a:ln>
            <a:effectLst/>
          </c:spPr>
          <c:dLbls>
            <c:delete val="1"/>
          </c:dLbls>
          <c:cat>
            <c:numRef>
              <c:f>'[1、景林金色中国存续-working paper 20241129.xlsx]景林金色中国行业配置（时间序列）'!$B$1:$W$1</c:f>
              <c:numCache>
                <c:formatCode>yyyy/m/d</c:formatCode>
                <c:ptCount val="22"/>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pt idx="20" c:formatCode="yyyy/m/d">
                  <c:v>45626</c:v>
                </c:pt>
                <c:pt idx="21" c:formatCode="yyyy/m/d">
                  <c:v>45657</c:v>
                </c:pt>
              </c:numCache>
            </c:numRef>
          </c:cat>
          <c:val>
            <c:numRef>
              <c:f>'[1、景林金色中国存续-working paper 20241129.xlsx]景林金色中国行业配置（时间序列）'!$B$3:$W$3</c:f>
              <c:numCache>
                <c:formatCode>0%</c:formatCode>
                <c:ptCount val="22"/>
                <c:pt idx="0">
                  <c:v>0.18</c:v>
                </c:pt>
                <c:pt idx="1">
                  <c:v>0.17</c:v>
                </c:pt>
                <c:pt idx="2">
                  <c:v>0.14</c:v>
                </c:pt>
                <c:pt idx="3">
                  <c:v>0.17</c:v>
                </c:pt>
                <c:pt idx="4">
                  <c:v>0.26</c:v>
                </c:pt>
                <c:pt idx="5">
                  <c:v>0.29</c:v>
                </c:pt>
                <c:pt idx="6">
                  <c:v>0.27</c:v>
                </c:pt>
                <c:pt idx="7">
                  <c:v>0.35</c:v>
                </c:pt>
                <c:pt idx="8">
                  <c:v>0.2</c:v>
                </c:pt>
                <c:pt idx="9">
                  <c:v>0.21</c:v>
                </c:pt>
                <c:pt idx="10">
                  <c:v>0.26</c:v>
                </c:pt>
                <c:pt idx="11">
                  <c:v>0.24</c:v>
                </c:pt>
                <c:pt idx="12">
                  <c:v>0.19</c:v>
                </c:pt>
                <c:pt idx="13">
                  <c:v>0.21</c:v>
                </c:pt>
                <c:pt idx="14">
                  <c:v>0.23</c:v>
                </c:pt>
                <c:pt idx="15">
                  <c:v>0.22</c:v>
                </c:pt>
                <c:pt idx="16">
                  <c:v>0.22</c:v>
                </c:pt>
                <c:pt idx="17">
                  <c:v>0.16</c:v>
                </c:pt>
                <c:pt idx="18">
                  <c:v>0.25</c:v>
                </c:pt>
                <c:pt idx="19">
                  <c:v>0.24</c:v>
                </c:pt>
                <c:pt idx="20">
                  <c:v>0.23</c:v>
                </c:pt>
                <c:pt idx="21">
                  <c:v>0.23</c:v>
                </c:pt>
              </c:numCache>
            </c:numRef>
          </c:val>
        </c:ser>
        <c:ser>
          <c:idx val="2"/>
          <c:order val="2"/>
          <c:tx>
            <c:strRef>
              <c:f>'[1、景林金色中国存续-working paper 20241129.xlsx]景林金色中国行业配置（时间序列）'!$A$4</c:f>
              <c:strCache>
                <c:ptCount val="1"/>
                <c:pt idx="0">
                  <c:v>必需消费品（多）</c:v>
                </c:pt>
              </c:strCache>
            </c:strRef>
          </c:tx>
          <c:spPr>
            <a:solidFill>
              <a:schemeClr val="accent3"/>
            </a:solidFill>
            <a:ln>
              <a:noFill/>
            </a:ln>
            <a:effectLst/>
          </c:spPr>
          <c:dLbls>
            <c:delete val="1"/>
          </c:dLbls>
          <c:cat>
            <c:numRef>
              <c:f>'[1、景林金色中国存续-working paper 20241129.xlsx]景林金色中国行业配置（时间序列）'!$B$1:$W$1</c:f>
              <c:numCache>
                <c:formatCode>yyyy/m/d</c:formatCode>
                <c:ptCount val="22"/>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pt idx="20" c:formatCode="yyyy/m/d">
                  <c:v>45626</c:v>
                </c:pt>
                <c:pt idx="21" c:formatCode="yyyy/m/d">
                  <c:v>45657</c:v>
                </c:pt>
              </c:numCache>
            </c:numRef>
          </c:cat>
          <c:val>
            <c:numRef>
              <c:f>'[1、景林金色中国存续-working paper 20241129.xlsx]景林金色中国行业配置（时间序列）'!$B$4:$W$4</c:f>
              <c:numCache>
                <c:formatCode>0%</c:formatCode>
                <c:ptCount val="22"/>
                <c:pt idx="0">
                  <c:v>0.11</c:v>
                </c:pt>
                <c:pt idx="1">
                  <c:v>0.1</c:v>
                </c:pt>
                <c:pt idx="2">
                  <c:v>0.15</c:v>
                </c:pt>
                <c:pt idx="3">
                  <c:v>0.14</c:v>
                </c:pt>
                <c:pt idx="4">
                  <c:v>0.18</c:v>
                </c:pt>
                <c:pt idx="5">
                  <c:v>0.11</c:v>
                </c:pt>
                <c:pt idx="6">
                  <c:v>0.12</c:v>
                </c:pt>
                <c:pt idx="7">
                  <c:v>0.2</c:v>
                </c:pt>
                <c:pt idx="8">
                  <c:v>0.23</c:v>
                </c:pt>
                <c:pt idx="9">
                  <c:v>0.19</c:v>
                </c:pt>
                <c:pt idx="10">
                  <c:v>0.16</c:v>
                </c:pt>
                <c:pt idx="11">
                  <c:v>0.13</c:v>
                </c:pt>
                <c:pt idx="12">
                  <c:v>0.1</c:v>
                </c:pt>
                <c:pt idx="13">
                  <c:v>0.1</c:v>
                </c:pt>
                <c:pt idx="14">
                  <c:v>0.1</c:v>
                </c:pt>
                <c:pt idx="15">
                  <c:v>0.06</c:v>
                </c:pt>
                <c:pt idx="16">
                  <c:v>0.06</c:v>
                </c:pt>
                <c:pt idx="17">
                  <c:v>0.05</c:v>
                </c:pt>
                <c:pt idx="19">
                  <c:v>0.02</c:v>
                </c:pt>
                <c:pt idx="20">
                  <c:v>0.02</c:v>
                </c:pt>
                <c:pt idx="21">
                  <c:v>0.02</c:v>
                </c:pt>
              </c:numCache>
            </c:numRef>
          </c:val>
        </c:ser>
        <c:ser>
          <c:idx val="3"/>
          <c:order val="3"/>
          <c:tx>
            <c:strRef>
              <c:f>'[1、景林金色中国存续-working paper 20241129.xlsx]景林金色中国行业配置（时间序列）'!$A$5</c:f>
              <c:strCache>
                <c:ptCount val="1"/>
                <c:pt idx="0">
                  <c:v>工业（多）</c:v>
                </c:pt>
              </c:strCache>
            </c:strRef>
          </c:tx>
          <c:spPr>
            <a:solidFill>
              <a:schemeClr val="accent6"/>
            </a:solidFill>
            <a:ln>
              <a:noFill/>
            </a:ln>
            <a:effectLst/>
          </c:spPr>
          <c:dLbls>
            <c:delete val="1"/>
          </c:dLbls>
          <c:cat>
            <c:numRef>
              <c:f>'[1、景林金色中国存续-working paper 20241129.xlsx]景林金色中国行业配置（时间序列）'!$B$1:$W$1</c:f>
              <c:numCache>
                <c:formatCode>yyyy/m/d</c:formatCode>
                <c:ptCount val="22"/>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pt idx="20" c:formatCode="yyyy/m/d">
                  <c:v>45626</c:v>
                </c:pt>
                <c:pt idx="21" c:formatCode="yyyy/m/d">
                  <c:v>45657</c:v>
                </c:pt>
              </c:numCache>
            </c:numRef>
          </c:cat>
          <c:val>
            <c:numRef>
              <c:f>'[1、景林金色中国存续-working paper 20241129.xlsx]景林金色中国行业配置（时间序列）'!$B$5:$W$5</c:f>
              <c:numCache>
                <c:formatCode>0%</c:formatCode>
                <c:ptCount val="22"/>
                <c:pt idx="0">
                  <c:v>0.09</c:v>
                </c:pt>
                <c:pt idx="1">
                  <c:v>0.09</c:v>
                </c:pt>
                <c:pt idx="2">
                  <c:v>0.1</c:v>
                </c:pt>
                <c:pt idx="3">
                  <c:v>0.1</c:v>
                </c:pt>
                <c:pt idx="4">
                  <c:v>0.09</c:v>
                </c:pt>
                <c:pt idx="5">
                  <c:v>0.1</c:v>
                </c:pt>
                <c:pt idx="6">
                  <c:v>0.08</c:v>
                </c:pt>
                <c:pt idx="7">
                  <c:v>0.07</c:v>
                </c:pt>
                <c:pt idx="8">
                  <c:v>0.08</c:v>
                </c:pt>
                <c:pt idx="9">
                  <c:v>0.11</c:v>
                </c:pt>
                <c:pt idx="10">
                  <c:v>0.13</c:v>
                </c:pt>
                <c:pt idx="11">
                  <c:v>0.11</c:v>
                </c:pt>
                <c:pt idx="12">
                  <c:v>0.09</c:v>
                </c:pt>
                <c:pt idx="13">
                  <c:v>0.12</c:v>
                </c:pt>
                <c:pt idx="14">
                  <c:v>0.1</c:v>
                </c:pt>
                <c:pt idx="15">
                  <c:v>0.1</c:v>
                </c:pt>
                <c:pt idx="16">
                  <c:v>0.09</c:v>
                </c:pt>
                <c:pt idx="17">
                  <c:v>0.08</c:v>
                </c:pt>
                <c:pt idx="18">
                  <c:v>0.11</c:v>
                </c:pt>
                <c:pt idx="19">
                  <c:v>0.13</c:v>
                </c:pt>
                <c:pt idx="20">
                  <c:v>0.13</c:v>
                </c:pt>
                <c:pt idx="21">
                  <c:v>0.12</c:v>
                </c:pt>
              </c:numCache>
            </c:numRef>
          </c:val>
        </c:ser>
        <c:ser>
          <c:idx val="4"/>
          <c:order val="4"/>
          <c:tx>
            <c:strRef>
              <c:f>'[1、景林金色中国存续-working paper 20241129.xlsx]景林金色中国行业配置（时间序列）'!$A$6</c:f>
              <c:strCache>
                <c:ptCount val="1"/>
                <c:pt idx="0">
                  <c:v>卫生保健（多）</c:v>
                </c:pt>
              </c:strCache>
            </c:strRef>
          </c:tx>
          <c:spPr>
            <a:solidFill>
              <a:schemeClr val="accent5"/>
            </a:solidFill>
            <a:ln>
              <a:noFill/>
            </a:ln>
            <a:effectLst/>
          </c:spPr>
          <c:dLbls>
            <c:delete val="1"/>
          </c:dLbls>
          <c:cat>
            <c:numRef>
              <c:f>'[1、景林金色中国存续-working paper 20241129.xlsx]景林金色中国行业配置（时间序列）'!$B$1:$W$1</c:f>
              <c:numCache>
                <c:formatCode>yyyy/m/d</c:formatCode>
                <c:ptCount val="22"/>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pt idx="20" c:formatCode="yyyy/m/d">
                  <c:v>45626</c:v>
                </c:pt>
                <c:pt idx="21" c:formatCode="yyyy/m/d">
                  <c:v>45657</c:v>
                </c:pt>
              </c:numCache>
            </c:numRef>
          </c:cat>
          <c:val>
            <c:numRef>
              <c:f>'[1、景林金色中国存续-working paper 20241129.xlsx]景林金色中国行业配置（时间序列）'!$B$6:$T$6</c:f>
              <c:numCache>
                <c:formatCode>0%</c:formatCode>
                <c:ptCount val="19"/>
                <c:pt idx="0">
                  <c:v>0.06</c:v>
                </c:pt>
                <c:pt idx="1">
                  <c:v>0.04</c:v>
                </c:pt>
                <c:pt idx="2">
                  <c:v>0.03</c:v>
                </c:pt>
                <c:pt idx="3">
                  <c:v>0.02</c:v>
                </c:pt>
                <c:pt idx="4">
                  <c:v>0.03</c:v>
                </c:pt>
                <c:pt idx="5">
                  <c:v>0.03</c:v>
                </c:pt>
                <c:pt idx="6">
                  <c:v>0.03</c:v>
                </c:pt>
                <c:pt idx="7">
                  <c:v>0.07</c:v>
                </c:pt>
                <c:pt idx="8">
                  <c:v>0.06</c:v>
                </c:pt>
                <c:pt idx="9">
                  <c:v>0.06</c:v>
                </c:pt>
                <c:pt idx="10">
                  <c:v>0.05</c:v>
                </c:pt>
                <c:pt idx="11">
                  <c:v>0.04</c:v>
                </c:pt>
              </c:numCache>
            </c:numRef>
          </c:val>
        </c:ser>
        <c:ser>
          <c:idx val="5"/>
          <c:order val="5"/>
          <c:tx>
            <c:strRef>
              <c:f>'[1、景林金色中国存续-working paper 20241129.xlsx]景林金色中国行业配置（时间序列）'!$A$7</c:f>
              <c:strCache>
                <c:ptCount val="1"/>
                <c:pt idx="0">
                  <c:v>信息技术（多）</c:v>
                </c:pt>
              </c:strCache>
            </c:strRef>
          </c:tx>
          <c:spPr>
            <a:solidFill>
              <a:srgbClr val="FFC000"/>
            </a:solidFill>
            <a:ln>
              <a:noFill/>
            </a:ln>
            <a:effectLst/>
          </c:spPr>
          <c:dLbls>
            <c:delete val="1"/>
          </c:dLbls>
          <c:cat>
            <c:numRef>
              <c:f>'[1、景林金色中国存续-working paper 20241129.xlsx]景林金色中国行业配置（时间序列）'!$B$1:$W$1</c:f>
              <c:numCache>
                <c:formatCode>yyyy/m/d</c:formatCode>
                <c:ptCount val="22"/>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pt idx="20" c:formatCode="yyyy/m/d">
                  <c:v>45626</c:v>
                </c:pt>
                <c:pt idx="21" c:formatCode="yyyy/m/d">
                  <c:v>45657</c:v>
                </c:pt>
              </c:numCache>
            </c:numRef>
          </c:cat>
          <c:val>
            <c:numRef>
              <c:f>'[1、景林金色中国存续-working paper 20241129.xlsx]景林金色中国行业配置（时间序列）'!$B$7:$W$7</c:f>
              <c:numCache>
                <c:formatCode>0%</c:formatCode>
                <c:ptCount val="22"/>
                <c:pt idx="0">
                  <c:v>0.05</c:v>
                </c:pt>
                <c:pt idx="1">
                  <c:v>0.1</c:v>
                </c:pt>
                <c:pt idx="2">
                  <c:v>0.07</c:v>
                </c:pt>
                <c:pt idx="3">
                  <c:v>0.07</c:v>
                </c:pt>
                <c:pt idx="4">
                  <c:v>0.12</c:v>
                </c:pt>
                <c:pt idx="5">
                  <c:v>0.09</c:v>
                </c:pt>
                <c:pt idx="6">
                  <c:v>0.03</c:v>
                </c:pt>
                <c:pt idx="7">
                  <c:v>0.02</c:v>
                </c:pt>
                <c:pt idx="8">
                  <c:v>0.05</c:v>
                </c:pt>
                <c:pt idx="9">
                  <c:v>0.07</c:v>
                </c:pt>
                <c:pt idx="10">
                  <c:v>0.08</c:v>
                </c:pt>
                <c:pt idx="11">
                  <c:v>0.09</c:v>
                </c:pt>
                <c:pt idx="12">
                  <c:v>0.16</c:v>
                </c:pt>
                <c:pt idx="13">
                  <c:v>0.15</c:v>
                </c:pt>
                <c:pt idx="14">
                  <c:v>0.13</c:v>
                </c:pt>
                <c:pt idx="15">
                  <c:v>0.19</c:v>
                </c:pt>
                <c:pt idx="16">
                  <c:v>0.11</c:v>
                </c:pt>
                <c:pt idx="17">
                  <c:v>0.1</c:v>
                </c:pt>
                <c:pt idx="18">
                  <c:v>0.1</c:v>
                </c:pt>
                <c:pt idx="19">
                  <c:v>0.09</c:v>
                </c:pt>
                <c:pt idx="20">
                  <c:v>0.1</c:v>
                </c:pt>
                <c:pt idx="21">
                  <c:v>0.12</c:v>
                </c:pt>
              </c:numCache>
            </c:numRef>
          </c:val>
        </c:ser>
        <c:ser>
          <c:idx val="6"/>
          <c:order val="6"/>
          <c:tx>
            <c:strRef>
              <c:f>'[1、景林金色中国存续-working paper 20241129.xlsx]景林金色中国行业配置（时间序列）'!$A$8</c:f>
              <c:strCache>
                <c:ptCount val="1"/>
                <c:pt idx="0">
                  <c:v>材料（多）</c:v>
                </c:pt>
              </c:strCache>
            </c:strRef>
          </c:tx>
          <c:spPr>
            <a:solidFill>
              <a:schemeClr val="accent1">
                <a:lumMod val="60000"/>
              </a:schemeClr>
            </a:solidFill>
            <a:ln>
              <a:noFill/>
            </a:ln>
            <a:effectLst/>
          </c:spPr>
          <c:dLbls>
            <c:delete val="1"/>
          </c:dLbls>
          <c:cat>
            <c:numRef>
              <c:f>'[1、景林金色中国存续-working paper 20241129.xlsx]景林金色中国行业配置（时间序列）'!$B$1:$W$1</c:f>
              <c:numCache>
                <c:formatCode>yyyy/m/d</c:formatCode>
                <c:ptCount val="22"/>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pt idx="20" c:formatCode="yyyy/m/d">
                  <c:v>45626</c:v>
                </c:pt>
                <c:pt idx="21" c:formatCode="yyyy/m/d">
                  <c:v>45657</c:v>
                </c:pt>
              </c:numCache>
            </c:numRef>
          </c:cat>
          <c:val>
            <c:numRef>
              <c:f>'[1、景林金色中国存续-working paper 20241129.xlsx]景林金色中国行业配置（时间序列）'!$B$8:$W$8</c:f>
              <c:numCache>
                <c:formatCode>0%</c:formatCode>
                <c:ptCount val="22"/>
                <c:pt idx="0">
                  <c:v>0.05</c:v>
                </c:pt>
                <c:pt idx="1">
                  <c:v>0.07</c:v>
                </c:pt>
                <c:pt idx="2">
                  <c:v>0.06</c:v>
                </c:pt>
                <c:pt idx="3">
                  <c:v>0.06</c:v>
                </c:pt>
                <c:pt idx="4">
                  <c:v>0.03</c:v>
                </c:pt>
                <c:pt idx="5">
                  <c:v>0.03</c:v>
                </c:pt>
                <c:pt idx="6">
                  <c:v>0.02</c:v>
                </c:pt>
                <c:pt idx="7">
                  <c:v>0.02</c:v>
                </c:pt>
                <c:pt idx="8">
                  <c:v>0.03</c:v>
                </c:pt>
                <c:pt idx="9">
                  <c:v>0.06</c:v>
                </c:pt>
                <c:pt idx="10">
                  <c:v>0.06</c:v>
                </c:pt>
                <c:pt idx="11">
                  <c:v>0.07</c:v>
                </c:pt>
                <c:pt idx="12">
                  <c:v>0.08</c:v>
                </c:pt>
                <c:pt idx="13">
                  <c:v>0.08</c:v>
                </c:pt>
                <c:pt idx="14">
                  <c:v>0.06</c:v>
                </c:pt>
                <c:pt idx="15">
                  <c:v>0.1</c:v>
                </c:pt>
                <c:pt idx="16">
                  <c:v>0.1</c:v>
                </c:pt>
                <c:pt idx="17">
                  <c:v>0.11</c:v>
                </c:pt>
                <c:pt idx="18">
                  <c:v>0.12</c:v>
                </c:pt>
                <c:pt idx="19">
                  <c:v>0.11</c:v>
                </c:pt>
                <c:pt idx="20">
                  <c:v>0.11</c:v>
                </c:pt>
                <c:pt idx="21">
                  <c:v>0.1</c:v>
                </c:pt>
              </c:numCache>
            </c:numRef>
          </c:val>
        </c:ser>
        <c:ser>
          <c:idx val="7"/>
          <c:order val="7"/>
          <c:tx>
            <c:strRef>
              <c:f>'[1、景林金色中国存续-working paper 20241129.xlsx]景林金色中国行业配置（时间序列）'!$A$9</c:f>
              <c:strCache>
                <c:ptCount val="1"/>
                <c:pt idx="0">
                  <c:v>房地产（多）</c:v>
                </c:pt>
              </c:strCache>
            </c:strRef>
          </c:tx>
          <c:spPr>
            <a:solidFill>
              <a:schemeClr val="accent2">
                <a:lumMod val="60000"/>
              </a:schemeClr>
            </a:solidFill>
            <a:ln>
              <a:noFill/>
            </a:ln>
            <a:effectLst/>
          </c:spPr>
          <c:dLbls>
            <c:delete val="1"/>
          </c:dLbls>
          <c:cat>
            <c:numRef>
              <c:f>'[1、景林金色中国存续-working paper 20241129.xlsx]景林金色中国行业配置（时间序列）'!$B$1:$W$1</c:f>
              <c:numCache>
                <c:formatCode>yyyy/m/d</c:formatCode>
                <c:ptCount val="22"/>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pt idx="20" c:formatCode="yyyy/m/d">
                  <c:v>45626</c:v>
                </c:pt>
                <c:pt idx="21" c:formatCode="yyyy/m/d">
                  <c:v>45657</c:v>
                </c:pt>
              </c:numCache>
            </c:numRef>
          </c:cat>
          <c:val>
            <c:numRef>
              <c:f>'[1、景林金色中国存续-working paper 20241129.xlsx]景林金色中国行业配置（时间序列）'!$B$9:$P$9</c:f>
              <c:numCache>
                <c:formatCode>0%</c:formatCode>
                <c:ptCount val="15"/>
                <c:pt idx="0">
                  <c:v>0.04</c:v>
                </c:pt>
                <c:pt idx="1">
                  <c:v>0.03</c:v>
                </c:pt>
                <c:pt idx="2">
                  <c:v>0.05</c:v>
                </c:pt>
                <c:pt idx="3">
                  <c:v>0.06</c:v>
                </c:pt>
                <c:pt idx="4">
                  <c:v>0.08</c:v>
                </c:pt>
                <c:pt idx="5">
                  <c:v>0.09</c:v>
                </c:pt>
                <c:pt idx="6">
                  <c:v>0.1</c:v>
                </c:pt>
                <c:pt idx="7">
                  <c:v>0.05</c:v>
                </c:pt>
                <c:pt idx="8">
                  <c:v>0.04</c:v>
                </c:pt>
                <c:pt idx="9">
                  <c:v>0.03</c:v>
                </c:pt>
                <c:pt idx="10">
                  <c:v>0.01</c:v>
                </c:pt>
                <c:pt idx="11">
                  <c:v>0.01</c:v>
                </c:pt>
              </c:numCache>
            </c:numRef>
          </c:val>
        </c:ser>
        <c:ser>
          <c:idx val="8"/>
          <c:order val="8"/>
          <c:tx>
            <c:strRef>
              <c:f>'[1、景林金色中国存续-working paper 20241129.xlsx]景林金色中国行业配置（时间序列）'!$A$10</c:f>
              <c:strCache>
                <c:ptCount val="1"/>
                <c:pt idx="0">
                  <c:v>公用事业（多）</c:v>
                </c:pt>
              </c:strCache>
            </c:strRef>
          </c:tx>
          <c:spPr>
            <a:solidFill>
              <a:schemeClr val="accent3">
                <a:lumMod val="60000"/>
              </a:schemeClr>
            </a:solidFill>
            <a:ln>
              <a:noFill/>
            </a:ln>
            <a:effectLst/>
          </c:spPr>
          <c:dLbls>
            <c:delete val="1"/>
          </c:dLbls>
          <c:cat>
            <c:numRef>
              <c:f>'[1、景林金色中国存续-working paper 20241129.xlsx]景林金色中国行业配置（时间序列）'!$B$1:$W$1</c:f>
              <c:numCache>
                <c:formatCode>yyyy/m/d</c:formatCode>
                <c:ptCount val="22"/>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pt idx="20" c:formatCode="yyyy/m/d">
                  <c:v>45626</c:v>
                </c:pt>
                <c:pt idx="21" c:formatCode="yyyy/m/d">
                  <c:v>45657</c:v>
                </c:pt>
              </c:numCache>
            </c:numRef>
          </c:cat>
          <c:val>
            <c:numRef>
              <c:f>'[1、景林金色中国存续-working paper 20241129.xlsx]景林金色中国行业配置（时间序列）'!$B$10:$P$10</c:f>
              <c:numCache>
                <c:formatCode>General</c:formatCode>
                <c:ptCount val="15"/>
                <c:pt idx="3" c:formatCode="0%">
                  <c:v>0.02</c:v>
                </c:pt>
                <c:pt idx="4" c:formatCode="0%">
                  <c:v>0.01</c:v>
                </c:pt>
                <c:pt idx="5" c:formatCode="0%">
                  <c:v>0.02</c:v>
                </c:pt>
                <c:pt idx="6" c:formatCode="0%">
                  <c:v>0.02</c:v>
                </c:pt>
                <c:pt idx="7" c:formatCode="0%">
                  <c:v>0.02</c:v>
                </c:pt>
                <c:pt idx="8" c:formatCode="0%">
                  <c:v>0.02</c:v>
                </c:pt>
                <c:pt idx="9" c:formatCode="0%">
                  <c:v>0.03</c:v>
                </c:pt>
                <c:pt idx="10" c:formatCode="0%">
                  <c:v>0.02</c:v>
                </c:pt>
                <c:pt idx="11" c:formatCode="0%">
                  <c:v>0.02</c:v>
                </c:pt>
              </c:numCache>
            </c:numRef>
          </c:val>
        </c:ser>
        <c:ser>
          <c:idx val="9"/>
          <c:order val="9"/>
          <c:tx>
            <c:strRef>
              <c:f>'[1、景林金色中国存续-working paper 20241129.xlsx]景林金色中国行业配置（时间序列）'!$A$11</c:f>
              <c:strCache>
                <c:ptCount val="1"/>
                <c:pt idx="0">
                  <c:v>能源（多）</c:v>
                </c:pt>
              </c:strCache>
            </c:strRef>
          </c:tx>
          <c:spPr>
            <a:solidFill>
              <a:schemeClr val="accent4">
                <a:lumMod val="60000"/>
              </a:schemeClr>
            </a:solidFill>
            <a:ln>
              <a:noFill/>
            </a:ln>
            <a:effectLst/>
          </c:spPr>
          <c:dLbls>
            <c:delete val="1"/>
          </c:dLbls>
          <c:cat>
            <c:numRef>
              <c:f>'[1、景林金色中国存续-working paper 20241129.xlsx]景林金色中国行业配置（时间序列）'!$B$1:$W$1</c:f>
              <c:numCache>
                <c:formatCode>yyyy/m/d</c:formatCode>
                <c:ptCount val="22"/>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pt idx="20" c:formatCode="yyyy/m/d">
                  <c:v>45626</c:v>
                </c:pt>
                <c:pt idx="21" c:formatCode="yyyy/m/d">
                  <c:v>45657</c:v>
                </c:pt>
              </c:numCache>
            </c:numRef>
          </c:cat>
          <c:val>
            <c:numRef>
              <c:f>'[1、景林金色中国存续-working paper 20241129.xlsx]景林金色中国行业配置（时间序列）'!$B$11:$W$11</c:f>
              <c:numCache>
                <c:formatCode>General</c:formatCode>
                <c:ptCount val="22"/>
                <c:pt idx="4" c:formatCode="0%">
                  <c:v>0.01</c:v>
                </c:pt>
                <c:pt idx="5" c:formatCode="0%">
                  <c:v>0.01</c:v>
                </c:pt>
                <c:pt idx="6" c:formatCode="0%">
                  <c:v>0.02</c:v>
                </c:pt>
                <c:pt idx="7" c:formatCode="0%">
                  <c:v>0.04</c:v>
                </c:pt>
                <c:pt idx="8" c:formatCode="0%">
                  <c:v>0.06</c:v>
                </c:pt>
                <c:pt idx="9" c:formatCode="0%">
                  <c:v>0.11</c:v>
                </c:pt>
                <c:pt idx="10" c:formatCode="0%">
                  <c:v>0.1</c:v>
                </c:pt>
                <c:pt idx="11" c:formatCode="0%">
                  <c:v>0.09</c:v>
                </c:pt>
                <c:pt idx="12" c:formatCode="0%">
                  <c:v>0.11</c:v>
                </c:pt>
                <c:pt idx="13" c:formatCode="0%">
                  <c:v>0.12</c:v>
                </c:pt>
                <c:pt idx="14" c:formatCode="0%">
                  <c:v>0.14</c:v>
                </c:pt>
                <c:pt idx="15" c:formatCode="0%">
                  <c:v>0.13</c:v>
                </c:pt>
                <c:pt idx="16" c:formatCode="0%">
                  <c:v>0.14</c:v>
                </c:pt>
                <c:pt idx="17" c:formatCode="0%">
                  <c:v>0.16</c:v>
                </c:pt>
                <c:pt idx="18" c:formatCode="0%">
                  <c:v>0.14</c:v>
                </c:pt>
                <c:pt idx="19" c:formatCode="0%">
                  <c:v>0.14</c:v>
                </c:pt>
                <c:pt idx="20" c:formatCode="0%">
                  <c:v>0.16</c:v>
                </c:pt>
                <c:pt idx="21" c:formatCode="0%">
                  <c:v>0.15</c:v>
                </c:pt>
              </c:numCache>
            </c:numRef>
          </c:val>
        </c:ser>
        <c:ser>
          <c:idx val="10"/>
          <c:order val="10"/>
          <c:tx>
            <c:strRef>
              <c:f>'[1、景林金色中国存续-working paper 20241129.xlsx]景林金色中国行业配置（时间序列）'!$A$12</c:f>
              <c:strCache>
                <c:ptCount val="1"/>
                <c:pt idx="0">
                  <c:v>金融（多）</c:v>
                </c:pt>
              </c:strCache>
            </c:strRef>
          </c:tx>
          <c:spPr>
            <a:solidFill>
              <a:schemeClr val="accent5">
                <a:lumMod val="60000"/>
              </a:schemeClr>
            </a:solidFill>
            <a:ln>
              <a:noFill/>
            </a:ln>
            <a:effectLst/>
          </c:spPr>
          <c:dLbls>
            <c:delete val="1"/>
          </c:dLbls>
          <c:cat>
            <c:numRef>
              <c:f>'[1、景林金色中国存续-working paper 20241129.xlsx]景林金色中国行业配置（时间序列）'!$B$1:$W$1</c:f>
              <c:numCache>
                <c:formatCode>yyyy/m/d</c:formatCode>
                <c:ptCount val="22"/>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pt idx="20" c:formatCode="yyyy/m/d">
                  <c:v>45626</c:v>
                </c:pt>
                <c:pt idx="21" c:formatCode="yyyy/m/d">
                  <c:v>45657</c:v>
                </c:pt>
              </c:numCache>
            </c:numRef>
          </c:cat>
          <c:val>
            <c:numRef>
              <c:f>'[1、景林金色中国存续-working paper 20241129.xlsx]景林金色中国行业配置（时间序列）'!$B$12:$W$12</c:f>
              <c:numCache>
                <c:formatCode>General</c:formatCode>
                <c:ptCount val="22"/>
                <c:pt idx="5" c:formatCode="0%">
                  <c:v>0.03</c:v>
                </c:pt>
                <c:pt idx="7" c:formatCode="0%">
                  <c:v>0.02</c:v>
                </c:pt>
                <c:pt idx="9" c:formatCode="0%">
                  <c:v>0.05</c:v>
                </c:pt>
                <c:pt idx="10" c:formatCode="0%">
                  <c:v>0.04</c:v>
                </c:pt>
                <c:pt idx="11" c:formatCode="0%">
                  <c:v>0.04</c:v>
                </c:pt>
                <c:pt idx="12" c:formatCode="0%">
                  <c:v>0.08</c:v>
                </c:pt>
                <c:pt idx="18" c:formatCode="0%">
                  <c:v>0.03</c:v>
                </c:pt>
              </c:numCache>
            </c:numRef>
          </c:val>
        </c:ser>
        <c:ser>
          <c:idx val="11"/>
          <c:order val="11"/>
          <c:tx>
            <c:strRef>
              <c:f>'[1、景林金色中国存续-working paper 20241129.xlsx]景林金色中国行业配置（时间序列）'!$A$13</c:f>
              <c:strCache>
                <c:ptCount val="1"/>
                <c:pt idx="0">
                  <c:v>指数/交易基金(多)</c:v>
                </c:pt>
              </c:strCache>
            </c:strRef>
          </c:tx>
          <c:spPr>
            <a:solidFill>
              <a:schemeClr val="accent6">
                <a:lumMod val="60000"/>
              </a:schemeClr>
            </a:solidFill>
            <a:ln>
              <a:noFill/>
            </a:ln>
            <a:effectLst/>
          </c:spPr>
          <c:dLbls>
            <c:delete val="1"/>
          </c:dLbls>
          <c:cat>
            <c:numRef>
              <c:f>'[1、景林金色中国存续-working paper 20241129.xlsx]景林金色中国行业配置（时间序列）'!$B$1:$W$1</c:f>
              <c:numCache>
                <c:formatCode>yyyy/m/d</c:formatCode>
                <c:ptCount val="22"/>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pt idx="20" c:formatCode="yyyy/m/d">
                  <c:v>45626</c:v>
                </c:pt>
                <c:pt idx="21" c:formatCode="yyyy/m/d">
                  <c:v>45657</c:v>
                </c:pt>
              </c:numCache>
            </c:numRef>
          </c:cat>
          <c:val>
            <c:numRef>
              <c:f>'[1、景林金色中国存续-working paper 20241129.xlsx]景林金色中国行业配置（时间序列）'!$B$13:$N$13</c:f>
              <c:numCache>
                <c:formatCode>General</c:formatCode>
                <c:ptCount val="13"/>
                <c:pt idx="7" c:formatCode="0%">
                  <c:v>0.06</c:v>
                </c:pt>
              </c:numCache>
            </c:numRef>
          </c:val>
        </c:ser>
        <c:ser>
          <c:idx val="12"/>
          <c:order val="12"/>
          <c:tx>
            <c:strRef>
              <c:f>'[1、景林金色中国存续-working paper 20241129.xlsx]景林金色中国行业配置（时间序列）'!$A$14</c:f>
              <c:strCache>
                <c:ptCount val="1"/>
                <c:pt idx="0">
                  <c:v>其他（多）</c:v>
                </c:pt>
              </c:strCache>
            </c:strRef>
          </c:tx>
          <c:spPr>
            <a:solidFill>
              <a:schemeClr val="accent1">
                <a:lumMod val="80000"/>
                <a:lumOff val="20000"/>
              </a:schemeClr>
            </a:solidFill>
            <a:ln w="25400">
              <a:noFill/>
            </a:ln>
            <a:effectLst/>
          </c:spPr>
          <c:dLbls>
            <c:delete val="1"/>
          </c:dLbls>
          <c:cat>
            <c:numRef>
              <c:f>'[1、景林金色中国存续-working paper 20241129.xlsx]景林金色中国行业配置（时间序列）'!$B$1:$W$1</c:f>
              <c:numCache>
                <c:formatCode>yyyy/m/d</c:formatCode>
                <c:ptCount val="22"/>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pt idx="20" c:formatCode="yyyy/m/d">
                  <c:v>45626</c:v>
                </c:pt>
                <c:pt idx="21" c:formatCode="yyyy/m/d">
                  <c:v>45657</c:v>
                </c:pt>
              </c:numCache>
            </c:numRef>
          </c:cat>
          <c:val>
            <c:numRef>
              <c:f>'[1、景林金色中国存续-working paper 20241129.xlsx]景林金色中国行业配置（时间序列）'!$B$14:$W$14</c:f>
              <c:numCache>
                <c:formatCode>General</c:formatCode>
                <c:ptCount val="22"/>
                <c:pt idx="13" c:formatCode="0%">
                  <c:v>0.06</c:v>
                </c:pt>
                <c:pt idx="14" c:formatCode="0%">
                  <c:v>0.06</c:v>
                </c:pt>
                <c:pt idx="15" c:formatCode="0%">
                  <c:v>0.05</c:v>
                </c:pt>
                <c:pt idx="16" c:formatCode="0%">
                  <c:v>0.04</c:v>
                </c:pt>
                <c:pt idx="17" c:formatCode="0%">
                  <c:v>0.04</c:v>
                </c:pt>
                <c:pt idx="18" c:formatCode="0%">
                  <c:v>0.05</c:v>
                </c:pt>
                <c:pt idx="19" c:formatCode="0%">
                  <c:v>0.05</c:v>
                </c:pt>
                <c:pt idx="20" c:formatCode="0%">
                  <c:v>0.05</c:v>
                </c:pt>
                <c:pt idx="21" c:formatCode="0%">
                  <c:v>0.04</c:v>
                </c:pt>
              </c:numCache>
            </c:numRef>
          </c:val>
        </c:ser>
        <c:dLbls>
          <c:showLegendKey val="0"/>
          <c:showVal val="0"/>
          <c:showCatName val="0"/>
          <c:showSerName val="0"/>
          <c:showPercent val="0"/>
          <c:showBubbleSize val="0"/>
        </c:dLbls>
        <c:axId val="1777169600"/>
        <c:axId val="1777173760"/>
      </c:areaChart>
      <c:catAx>
        <c:axId val="1777169600"/>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1" i="0" u="none" strike="noStrike" kern="1200" baseline="0">
                <a:solidFill>
                  <a:sysClr val="windowText" lastClr="000000"/>
                </a:solidFill>
                <a:latin typeface="等线" panose="02010600030101010101" charset="-122"/>
                <a:ea typeface="等线" panose="02010600030101010101" charset="-122"/>
                <a:cs typeface="等线" panose="02010600030101010101" charset="-122"/>
                <a:sym typeface="等线" panose="02010600030101010101" charset="-122"/>
              </a:defRPr>
            </a:pPr>
          </a:p>
        </c:txPr>
        <c:crossAx val="1777173760"/>
        <c:crosses val="autoZero"/>
        <c:auto val="0"/>
        <c:lblAlgn val="ctr"/>
        <c:lblOffset val="100"/>
        <c:noMultiLvlLbl val="0"/>
      </c:catAx>
      <c:valAx>
        <c:axId val="1777173760"/>
        <c:scaling>
          <c:orientation val="minMax"/>
          <c:max val="1.2"/>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900" b="1" i="0" u="none" strike="noStrike" kern="1200" baseline="0">
                <a:solidFill>
                  <a:sysClr val="windowText" lastClr="000000"/>
                </a:solidFill>
                <a:latin typeface="等线" panose="02010600030101010101" charset="-122"/>
                <a:ea typeface="等线" panose="02010600030101010101" charset="-122"/>
                <a:cs typeface="等线" panose="02010600030101010101" charset="-122"/>
                <a:sym typeface="等线" panose="02010600030101010101" charset="-122"/>
              </a:defRPr>
            </a:pPr>
          </a:p>
        </c:txPr>
        <c:crossAx val="1777169600"/>
        <c:crosses val="autoZero"/>
        <c:crossBetween val="midCat"/>
      </c:valAx>
      <c:spPr>
        <a:noFill/>
        <a:ln>
          <a:noFill/>
        </a:ln>
        <a:effectLst/>
      </c:spPr>
    </c:plotArea>
    <c:legend>
      <c:legendPos val="t"/>
      <c:legendEntry>
        <c:idx val="0"/>
        <c:txPr>
          <a:bodyPr rot="0" spcFirstLastPara="1" vertOverflow="ellipsis" vert="horz" wrap="square" anchor="ctr" anchorCtr="1"/>
          <a:lstStyle/>
          <a:p>
            <a:pPr>
              <a:defRPr lang="zh-CN" sz="900" b="1" i="0" u="none" strike="noStrike" kern="1200" baseline="0">
                <a:solidFill>
                  <a:sysClr val="windowText" lastClr="000000"/>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1"/>
        <c:txPr>
          <a:bodyPr rot="0" spcFirstLastPara="1" vertOverflow="ellipsis" vert="horz" wrap="square" anchor="ctr" anchorCtr="1"/>
          <a:lstStyle/>
          <a:p>
            <a:pPr>
              <a:defRPr lang="zh-CN" sz="900" b="1" i="0" u="none" strike="noStrike" kern="1200" baseline="0">
                <a:solidFill>
                  <a:sysClr val="windowText" lastClr="000000"/>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2"/>
        <c:txPr>
          <a:bodyPr rot="0" spcFirstLastPara="1" vertOverflow="ellipsis" vert="horz" wrap="square" anchor="ctr" anchorCtr="1"/>
          <a:lstStyle/>
          <a:p>
            <a:pPr>
              <a:defRPr lang="zh-CN" sz="900" b="1" i="0" u="none" strike="noStrike" kern="1200" baseline="0">
                <a:solidFill>
                  <a:sysClr val="windowText" lastClr="000000"/>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3"/>
        <c:txPr>
          <a:bodyPr rot="0" spcFirstLastPara="1" vertOverflow="ellipsis" vert="horz" wrap="square" anchor="ctr" anchorCtr="1"/>
          <a:lstStyle/>
          <a:p>
            <a:pPr>
              <a:defRPr lang="zh-CN" sz="900" b="1" i="0" u="none" strike="noStrike" kern="1200" baseline="0">
                <a:solidFill>
                  <a:sysClr val="windowText" lastClr="000000"/>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4"/>
        <c:txPr>
          <a:bodyPr rot="0" spcFirstLastPara="1" vertOverflow="ellipsis" vert="horz" wrap="square" anchor="ctr" anchorCtr="1"/>
          <a:lstStyle/>
          <a:p>
            <a:pPr>
              <a:defRPr lang="zh-CN" sz="900" b="1" i="0" u="none" strike="noStrike" kern="1200" baseline="0">
                <a:solidFill>
                  <a:sysClr val="windowText" lastClr="000000"/>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5"/>
        <c:txPr>
          <a:bodyPr rot="0" spcFirstLastPara="1" vertOverflow="ellipsis" vert="horz" wrap="square" anchor="ctr" anchorCtr="1"/>
          <a:lstStyle/>
          <a:p>
            <a:pPr>
              <a:defRPr lang="zh-CN" sz="900" b="1" i="0" u="none" strike="noStrike" kern="1200" baseline="0">
                <a:solidFill>
                  <a:sysClr val="windowText" lastClr="000000"/>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6"/>
        <c:txPr>
          <a:bodyPr rot="0" spcFirstLastPara="1" vertOverflow="ellipsis" vert="horz" wrap="square" anchor="ctr" anchorCtr="1"/>
          <a:lstStyle/>
          <a:p>
            <a:pPr>
              <a:defRPr lang="zh-CN" sz="900" b="1" i="0" u="none" strike="noStrike" kern="1200" baseline="0">
                <a:solidFill>
                  <a:sysClr val="windowText" lastClr="000000"/>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7"/>
        <c:txPr>
          <a:bodyPr rot="0" spcFirstLastPara="1" vertOverflow="ellipsis" vert="horz" wrap="square" anchor="ctr" anchorCtr="1"/>
          <a:lstStyle/>
          <a:p>
            <a:pPr>
              <a:defRPr lang="zh-CN" sz="900" b="1" i="0" u="none" strike="noStrike" kern="1200" baseline="0">
                <a:solidFill>
                  <a:sysClr val="windowText" lastClr="000000"/>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8"/>
        <c:txPr>
          <a:bodyPr rot="0" spcFirstLastPara="1" vertOverflow="ellipsis" vert="horz" wrap="square" anchor="ctr" anchorCtr="1"/>
          <a:lstStyle/>
          <a:p>
            <a:pPr>
              <a:defRPr lang="zh-CN" sz="900" b="1" i="0" u="none" strike="noStrike" kern="1200" baseline="0">
                <a:solidFill>
                  <a:sysClr val="windowText" lastClr="000000"/>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9"/>
        <c:txPr>
          <a:bodyPr rot="0" spcFirstLastPara="1" vertOverflow="ellipsis" vert="horz" wrap="square" anchor="ctr" anchorCtr="1"/>
          <a:lstStyle/>
          <a:p>
            <a:pPr>
              <a:defRPr lang="zh-CN" sz="900" b="1" i="0" u="none" strike="noStrike" kern="1200" baseline="0">
                <a:solidFill>
                  <a:sysClr val="windowText" lastClr="000000"/>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10"/>
        <c:txPr>
          <a:bodyPr rot="0" spcFirstLastPara="1" vertOverflow="ellipsis" vert="horz" wrap="square" anchor="ctr" anchorCtr="1"/>
          <a:lstStyle/>
          <a:p>
            <a:pPr>
              <a:defRPr lang="zh-CN" sz="900" b="1" i="0" u="none" strike="noStrike" kern="1200" baseline="0">
                <a:solidFill>
                  <a:sysClr val="windowText" lastClr="000000"/>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11"/>
        <c:txPr>
          <a:bodyPr rot="0" spcFirstLastPara="1" vertOverflow="ellipsis" vert="horz" wrap="square" anchor="ctr" anchorCtr="1"/>
          <a:lstStyle/>
          <a:p>
            <a:pPr>
              <a:defRPr lang="zh-CN" sz="900" b="1" i="0" u="none" strike="noStrike" kern="1200" baseline="0">
                <a:solidFill>
                  <a:sysClr val="windowText" lastClr="000000"/>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12"/>
        <c:txPr>
          <a:bodyPr rot="0" spcFirstLastPara="1" vertOverflow="ellipsis" vert="horz" wrap="square" anchor="ctr" anchorCtr="1"/>
          <a:lstStyle/>
          <a:p>
            <a:pPr>
              <a:defRPr lang="zh-CN" sz="900" b="1" i="0" u="none" strike="noStrike" kern="1200" baseline="0">
                <a:solidFill>
                  <a:sysClr val="windowText" lastClr="000000"/>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ayout/>
      <c:overlay val="0"/>
      <c:spPr>
        <a:noFill/>
        <a:ln>
          <a:noFill/>
        </a:ln>
        <a:effectLst/>
      </c:spPr>
      <c:txPr>
        <a:bodyPr rot="0" spcFirstLastPara="1" vertOverflow="ellipsis" vert="horz" wrap="square" anchor="ctr" anchorCtr="1"/>
        <a:lstStyle/>
        <a:p>
          <a:pPr>
            <a:defRPr lang="zh-CN" sz="900" b="1" i="0" u="none" strike="noStrike" kern="1200" baseline="0">
              <a:solidFill>
                <a:sysClr val="windowText" lastClr="000000"/>
              </a:solidFill>
              <a:latin typeface="等线" panose="02010600030101010101" charset="-122"/>
              <a:ea typeface="等线" panose="02010600030101010101" charset="-122"/>
              <a:cs typeface="等线" panose="02010600030101010101" charset="-122"/>
              <a:sym typeface="等线" panose="02010600030101010101" charset="-122"/>
            </a:defRPr>
          </a:pPr>
        </a:p>
      </c:txPr>
    </c:legend>
    <c:plotVisOnly val="1"/>
    <c:dispBlanksAs val="zero"/>
    <c:showDLblsOverMax val="0"/>
    <c:extLst>
      <c:ext uri="{0b15fc19-7d7d-44ad-8c2d-2c3a37ce22c3}">
        <chartProps xmlns="https://web.wps.cn/et/2018/main" chartId="{35fb63b4-1021-4c05-b6a0-943ecd2f030e}"/>
      </c:ext>
    </c:extLst>
  </c:chart>
  <c:spPr>
    <a:noFill/>
    <a:ln>
      <a:noFill/>
    </a:ln>
    <a:effectLst/>
  </c:spPr>
  <c:txPr>
    <a:bodyPr/>
    <a:lstStyle/>
    <a:p>
      <a:pPr>
        <a:defRPr lang="zh-CN" b="1">
          <a:solidFill>
            <a:sysClr val="windowText" lastClr="000000"/>
          </a:solidFill>
          <a:latin typeface="等线" panose="02010600030101010101" charset="-122"/>
          <a:ea typeface="等线" panose="02010600030101010101" charset="-122"/>
          <a:cs typeface="等线" panose="02010600030101010101" charset="-122"/>
          <a:sym typeface="等线" panose="02010600030101010101" charset="-122"/>
        </a:defRPr>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'[1、景林金色中国存续-working paper 20241129.xlsx]景林金色中国行业配置（时间序列）'!$A$15</c:f>
              <c:strCache>
                <c:ptCount val="1"/>
                <c:pt idx="0">
                  <c:v>可选消费品（空）</c:v>
                </c:pt>
              </c:strCache>
            </c:strRef>
          </c:tx>
          <c:spPr>
            <a:solidFill>
              <a:schemeClr val="accent2"/>
            </a:solidFill>
            <a:ln>
              <a:noFill/>
            </a:ln>
            <a:effectLst/>
          </c:spPr>
          <c:dLbls>
            <c:delete val="1"/>
          </c:dLbls>
          <c:cat>
            <c:numRef>
              <c:f>'[1、景林金色中国存续-working paper 20241129.xlsx]景林金色中国行业配置（时间序列）'!$B$1:$U$1</c:f>
              <c:numCache>
                <c:formatCode>yyyy/m/d</c:formatCode>
                <c:ptCount val="20"/>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numCache>
            </c:numRef>
          </c:cat>
          <c:val>
            <c:numRef>
              <c:f>'[1、景林金色中国存续-working paper 20241129.xlsx]景林金色中国行业配置（时间序列）'!$B$15:$W$15</c:f>
              <c:numCache>
                <c:formatCode>0%</c:formatCode>
                <c:ptCount val="22"/>
                <c:pt idx="0">
                  <c:v>-0.04</c:v>
                </c:pt>
                <c:pt idx="1">
                  <c:v>-0.05</c:v>
                </c:pt>
                <c:pt idx="2">
                  <c:v>-0.04</c:v>
                </c:pt>
                <c:pt idx="4">
                  <c:v>-0.03</c:v>
                </c:pt>
                <c:pt idx="5">
                  <c:v>-0.08</c:v>
                </c:pt>
                <c:pt idx="6">
                  <c:v>-0.11</c:v>
                </c:pt>
                <c:pt idx="7">
                  <c:v>-0.17</c:v>
                </c:pt>
                <c:pt idx="8">
                  <c:v>-0.11</c:v>
                </c:pt>
                <c:pt idx="9">
                  <c:v>-0.12</c:v>
                </c:pt>
                <c:pt idx="10">
                  <c:v>-0.05</c:v>
                </c:pt>
                <c:pt idx="11">
                  <c:v>-0.04</c:v>
                </c:pt>
                <c:pt idx="12">
                  <c:v>-0.03</c:v>
                </c:pt>
                <c:pt idx="13">
                  <c:v>-0.03</c:v>
                </c:pt>
                <c:pt idx="14">
                  <c:v>-0.04</c:v>
                </c:pt>
                <c:pt idx="15">
                  <c:v>-0.05</c:v>
                </c:pt>
                <c:pt idx="16">
                  <c:v>-0.04</c:v>
                </c:pt>
                <c:pt idx="17">
                  <c:v>-0.05</c:v>
                </c:pt>
                <c:pt idx="18">
                  <c:v>-0.06</c:v>
                </c:pt>
                <c:pt idx="19">
                  <c:v>-0.04</c:v>
                </c:pt>
                <c:pt idx="20">
                  <c:v>-0.03</c:v>
                </c:pt>
                <c:pt idx="21">
                  <c:v>-0.03</c:v>
                </c:pt>
              </c:numCache>
            </c:numRef>
          </c:val>
        </c:ser>
        <c:ser>
          <c:idx val="1"/>
          <c:order val="1"/>
          <c:tx>
            <c:strRef>
              <c:f>'[1、景林金色中国存续-working paper 20241129.xlsx]景林金色中国行业配置（时间序列）'!$A$16</c:f>
              <c:strCache>
                <c:ptCount val="1"/>
                <c:pt idx="0">
                  <c:v>必需消费品（空）</c:v>
                </c:pt>
              </c:strCache>
            </c:strRef>
          </c:tx>
          <c:spPr>
            <a:solidFill>
              <a:schemeClr val="accent1"/>
            </a:solidFill>
            <a:ln>
              <a:noFill/>
            </a:ln>
            <a:effectLst/>
          </c:spPr>
          <c:dLbls>
            <c:delete val="1"/>
          </c:dLbls>
          <c:cat>
            <c:numRef>
              <c:f>'[1、景林金色中国存续-working paper 20241129.xlsx]景林金色中国行业配置（时间序列）'!$B$1:$U$1</c:f>
              <c:numCache>
                <c:formatCode>yyyy/m/d</c:formatCode>
                <c:ptCount val="20"/>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numCache>
            </c:numRef>
          </c:cat>
          <c:val>
            <c:numRef>
              <c:f>'[1、景林金色中国存续-working paper 20241129.xlsx]景林金色中国行业配置（时间序列）'!$B$16:$W$16</c:f>
              <c:numCache>
                <c:formatCode>General</c:formatCode>
                <c:ptCount val="22"/>
                <c:pt idx="7" c:formatCode="0%">
                  <c:v>-0.04</c:v>
                </c:pt>
                <c:pt idx="8" c:formatCode="0%">
                  <c:v>-0.05</c:v>
                </c:pt>
                <c:pt idx="9" c:formatCode="0%">
                  <c:v>-0.06</c:v>
                </c:pt>
                <c:pt idx="10" c:formatCode="0%">
                  <c:v>-0.06</c:v>
                </c:pt>
                <c:pt idx="11" c:formatCode="0%">
                  <c:v>-0.06</c:v>
                </c:pt>
                <c:pt idx="12" c:formatCode="0%">
                  <c:v>-0.01</c:v>
                </c:pt>
                <c:pt idx="13" c:formatCode="0%">
                  <c:v>-0.02</c:v>
                </c:pt>
                <c:pt idx="14" c:formatCode="0%">
                  <c:v>-0.02</c:v>
                </c:pt>
                <c:pt idx="15" c:formatCode="0%">
                  <c:v>-0.01</c:v>
                </c:pt>
                <c:pt idx="16" c:formatCode="0%">
                  <c:v>-0.01</c:v>
                </c:pt>
                <c:pt idx="17" c:formatCode="0%">
                  <c:v>-0.01</c:v>
                </c:pt>
                <c:pt idx="19" c:formatCode="0%">
                  <c:v>-0.02</c:v>
                </c:pt>
                <c:pt idx="20" c:formatCode="0%">
                  <c:v>-0.01</c:v>
                </c:pt>
              </c:numCache>
            </c:numRef>
          </c:val>
        </c:ser>
        <c:ser>
          <c:idx val="2"/>
          <c:order val="2"/>
          <c:tx>
            <c:strRef>
              <c:f>'[1、景林金色中国存续-working paper 20241129.xlsx]景林金色中国行业配置（时间序列）'!$A$17</c:f>
              <c:strCache>
                <c:ptCount val="1"/>
                <c:pt idx="0">
                  <c:v>卫生保健（空）</c:v>
                </c:pt>
              </c:strCache>
            </c:strRef>
          </c:tx>
          <c:spPr>
            <a:solidFill>
              <a:schemeClr val="accent3"/>
            </a:solidFill>
            <a:ln>
              <a:noFill/>
            </a:ln>
            <a:effectLst/>
          </c:spPr>
          <c:dLbls>
            <c:delete val="1"/>
          </c:dLbls>
          <c:cat>
            <c:numRef>
              <c:f>'[1、景林金色中国存续-working paper 20241129.xlsx]景林金色中国行业配置（时间序列）'!$B$1:$U$1</c:f>
              <c:numCache>
                <c:formatCode>yyyy/m/d</c:formatCode>
                <c:ptCount val="20"/>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numCache>
            </c:numRef>
          </c:cat>
          <c:val>
            <c:numRef>
              <c:f>'[1、景林金色中国存续-working paper 20241129.xlsx]景林金色中国行业配置（时间序列）'!$B$17:$N$17</c:f>
              <c:numCache>
                <c:formatCode>0%</c:formatCode>
                <c:ptCount val="13"/>
                <c:pt idx="0">
                  <c:v>-0.01</c:v>
                </c:pt>
                <c:pt idx="1">
                  <c:v>-0.01</c:v>
                </c:pt>
                <c:pt idx="3">
                  <c:v>-0.01</c:v>
                </c:pt>
                <c:pt idx="6">
                  <c:v>0</c:v>
                </c:pt>
              </c:numCache>
            </c:numRef>
          </c:val>
        </c:ser>
        <c:ser>
          <c:idx val="3"/>
          <c:order val="3"/>
          <c:tx>
            <c:strRef>
              <c:f>'[1、景林金色中国存续-working paper 20241129.xlsx]景林金色中国行业配置（时间序列）'!$A$18</c:f>
              <c:strCache>
                <c:ptCount val="1"/>
                <c:pt idx="0">
                  <c:v>信息技术（空）</c:v>
                </c:pt>
              </c:strCache>
            </c:strRef>
          </c:tx>
          <c:spPr>
            <a:solidFill>
              <a:schemeClr val="accent4"/>
            </a:solidFill>
            <a:ln>
              <a:noFill/>
            </a:ln>
            <a:effectLst/>
          </c:spPr>
          <c:dLbls>
            <c:delete val="1"/>
          </c:dLbls>
          <c:cat>
            <c:numRef>
              <c:f>'[1、景林金色中国存续-working paper 20241129.xlsx]景林金色中国行业配置（时间序列）'!$B$1:$U$1</c:f>
              <c:numCache>
                <c:formatCode>yyyy/m/d</c:formatCode>
                <c:ptCount val="20"/>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numCache>
            </c:numRef>
          </c:cat>
          <c:val>
            <c:numRef>
              <c:f>'[1、景林金色中国存续-working paper 20241129.xlsx]景林金色中国行业配置（时间序列）'!$B$18:$W$18</c:f>
              <c:numCache>
                <c:formatCode>0%</c:formatCode>
                <c:ptCount val="22"/>
                <c:pt idx="0">
                  <c:v>-0.01</c:v>
                </c:pt>
                <c:pt idx="1">
                  <c:v>-0.01</c:v>
                </c:pt>
                <c:pt idx="2">
                  <c:v>-0.01</c:v>
                </c:pt>
                <c:pt idx="3">
                  <c:v>-0.01</c:v>
                </c:pt>
                <c:pt idx="10">
                  <c:v>-0.01</c:v>
                </c:pt>
                <c:pt idx="11">
                  <c:v>-0.01</c:v>
                </c:pt>
                <c:pt idx="13">
                  <c:v>-0.02</c:v>
                </c:pt>
                <c:pt idx="14">
                  <c:v>-0.03</c:v>
                </c:pt>
                <c:pt idx="15">
                  <c:v>-0.03</c:v>
                </c:pt>
                <c:pt idx="16">
                  <c:v>-0.03</c:v>
                </c:pt>
                <c:pt idx="17">
                  <c:v>-0.02</c:v>
                </c:pt>
                <c:pt idx="18">
                  <c:v>-0.01</c:v>
                </c:pt>
                <c:pt idx="19">
                  <c:v>0</c:v>
                </c:pt>
              </c:numCache>
            </c:numRef>
          </c:val>
        </c:ser>
        <c:ser>
          <c:idx val="4"/>
          <c:order val="4"/>
          <c:tx>
            <c:strRef>
              <c:f>'[1、景林金色中国存续-working paper 20241129.xlsx]景林金色中国行业配置（时间序列）'!$A$19</c:f>
              <c:strCache>
                <c:ptCount val="1"/>
                <c:pt idx="0">
                  <c:v>材料（空）</c:v>
                </c:pt>
              </c:strCache>
            </c:strRef>
          </c:tx>
          <c:spPr>
            <a:solidFill>
              <a:schemeClr val="accent5">
                <a:lumMod val="75000"/>
              </a:schemeClr>
            </a:solidFill>
            <a:ln>
              <a:noFill/>
            </a:ln>
            <a:effectLst/>
          </c:spPr>
          <c:dLbls>
            <c:delete val="1"/>
          </c:dLbls>
          <c:cat>
            <c:numRef>
              <c:f>'[1、景林金色中国存续-working paper 20241129.xlsx]景林金色中国行业配置（时间序列）'!$B$1:$U$1</c:f>
              <c:numCache>
                <c:formatCode>yyyy/m/d</c:formatCode>
                <c:ptCount val="20"/>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numCache>
            </c:numRef>
          </c:cat>
          <c:val>
            <c:numRef>
              <c:f>'[1、景林金色中国存续-working paper 20241129.xlsx]景林金色中国行业配置（时间序列）'!$B$19:$W$19</c:f>
              <c:numCache>
                <c:formatCode>0%</c:formatCode>
                <c:ptCount val="22"/>
                <c:pt idx="0">
                  <c:v>-0.04</c:v>
                </c:pt>
                <c:pt idx="1">
                  <c:v>-0.04</c:v>
                </c:pt>
                <c:pt idx="2">
                  <c:v>-0.03</c:v>
                </c:pt>
                <c:pt idx="3">
                  <c:v>-0.04</c:v>
                </c:pt>
                <c:pt idx="4">
                  <c:v>-0.07</c:v>
                </c:pt>
                <c:pt idx="5">
                  <c:v>-0.04</c:v>
                </c:pt>
                <c:pt idx="6">
                  <c:v>-0.03</c:v>
                </c:pt>
                <c:pt idx="7">
                  <c:v>-0.05</c:v>
                </c:pt>
                <c:pt idx="8">
                  <c:v>-0.06</c:v>
                </c:pt>
                <c:pt idx="9">
                  <c:v>-0.07</c:v>
                </c:pt>
                <c:pt idx="10">
                  <c:v>-0.01</c:v>
                </c:pt>
                <c:pt idx="11">
                  <c:v>-0.04</c:v>
                </c:pt>
                <c:pt idx="12">
                  <c:v>-0.04</c:v>
                </c:pt>
                <c:pt idx="13">
                  <c:v>-0.05</c:v>
                </c:pt>
                <c:pt idx="14">
                  <c:v>-0.05</c:v>
                </c:pt>
                <c:pt idx="15">
                  <c:v>-0.04</c:v>
                </c:pt>
                <c:pt idx="16">
                  <c:v>-0.05</c:v>
                </c:pt>
                <c:pt idx="17">
                  <c:v>-0.06</c:v>
                </c:pt>
                <c:pt idx="18">
                  <c:v>-0.07</c:v>
                </c:pt>
                <c:pt idx="19">
                  <c:v>-0.06</c:v>
                </c:pt>
                <c:pt idx="20">
                  <c:v>-0.04</c:v>
                </c:pt>
                <c:pt idx="21">
                  <c:v>-0.04</c:v>
                </c:pt>
              </c:numCache>
            </c:numRef>
          </c:val>
        </c:ser>
        <c:ser>
          <c:idx val="5"/>
          <c:order val="5"/>
          <c:tx>
            <c:strRef>
              <c:f>'[1、景林金色中国存续-working paper 20241129.xlsx]景林金色中国行业配置（时间序列）'!$A$20</c:f>
              <c:strCache>
                <c:ptCount val="1"/>
                <c:pt idx="0">
                  <c:v>工业（空）</c:v>
                </c:pt>
              </c:strCache>
            </c:strRef>
          </c:tx>
          <c:spPr>
            <a:solidFill>
              <a:schemeClr val="accent6"/>
            </a:solidFill>
            <a:ln>
              <a:noFill/>
            </a:ln>
            <a:effectLst/>
          </c:spPr>
          <c:dLbls>
            <c:delete val="1"/>
          </c:dLbls>
          <c:cat>
            <c:numRef>
              <c:f>'[1、景林金色中国存续-working paper 20241129.xlsx]景林金色中国行业配置（时间序列）'!$B$1:$U$1</c:f>
              <c:numCache>
                <c:formatCode>yyyy/m/d</c:formatCode>
                <c:ptCount val="20"/>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numCache>
            </c:numRef>
          </c:cat>
          <c:val>
            <c:numRef>
              <c:f>'[1、景林金色中国存续-working paper 20241129.xlsx]景林金色中国行业配置（时间序列）'!$B$20:$W$20</c:f>
              <c:numCache>
                <c:formatCode>General</c:formatCode>
                <c:ptCount val="22"/>
                <c:pt idx="1" c:formatCode="0%">
                  <c:v>-0.02</c:v>
                </c:pt>
                <c:pt idx="2" c:formatCode="0%">
                  <c:v>-0.01</c:v>
                </c:pt>
                <c:pt idx="3" c:formatCode="0%">
                  <c:v>-0.02</c:v>
                </c:pt>
                <c:pt idx="4" c:formatCode="0%">
                  <c:v>-0.03</c:v>
                </c:pt>
                <c:pt idx="8" c:formatCode="0%">
                  <c:v>-0.01</c:v>
                </c:pt>
                <c:pt idx="9" c:formatCode="0%">
                  <c:v>-0.01</c:v>
                </c:pt>
                <c:pt idx="10" c:formatCode="0%">
                  <c:v>-0.04</c:v>
                </c:pt>
                <c:pt idx="11" c:formatCode="0%">
                  <c:v>-0.05</c:v>
                </c:pt>
                <c:pt idx="12" c:formatCode="0%">
                  <c:v>-0.03</c:v>
                </c:pt>
                <c:pt idx="13" c:formatCode="0%">
                  <c:v>-0.03</c:v>
                </c:pt>
                <c:pt idx="14" c:formatCode="0%">
                  <c:v>-0.03</c:v>
                </c:pt>
                <c:pt idx="15" c:formatCode="0%">
                  <c:v>-0.03</c:v>
                </c:pt>
                <c:pt idx="16" c:formatCode="0%">
                  <c:v>-0.02</c:v>
                </c:pt>
                <c:pt idx="17" c:formatCode="0%">
                  <c:v>-0.03</c:v>
                </c:pt>
                <c:pt idx="18" c:formatCode="0%">
                  <c:v>-0.04</c:v>
                </c:pt>
                <c:pt idx="19" c:formatCode="0%">
                  <c:v>-0.02</c:v>
                </c:pt>
                <c:pt idx="20" c:formatCode="0%">
                  <c:v>-0.02</c:v>
                </c:pt>
                <c:pt idx="21" c:formatCode="0%">
                  <c:v>-0.02</c:v>
                </c:pt>
              </c:numCache>
            </c:numRef>
          </c:val>
        </c:ser>
        <c:ser>
          <c:idx val="6"/>
          <c:order val="6"/>
          <c:tx>
            <c:strRef>
              <c:f>'[1、景林金色中国存续-working paper 20241129.xlsx]景林金色中国行业配置（时间序列）'!$A$21</c:f>
              <c:strCache>
                <c:ptCount val="1"/>
                <c:pt idx="0">
                  <c:v>能源（空）</c:v>
                </c:pt>
              </c:strCache>
            </c:strRef>
          </c:tx>
          <c:spPr>
            <a:solidFill>
              <a:schemeClr val="accent1">
                <a:lumMod val="60000"/>
              </a:schemeClr>
            </a:solidFill>
            <a:ln>
              <a:noFill/>
            </a:ln>
            <a:effectLst/>
          </c:spPr>
          <c:dLbls>
            <c:delete val="1"/>
          </c:dLbls>
          <c:cat>
            <c:numRef>
              <c:f>'[1、景林金色中国存续-working paper 20241129.xlsx]景林金色中国行业配置（时间序列）'!$B$1:$U$1</c:f>
              <c:numCache>
                <c:formatCode>yyyy/m/d</c:formatCode>
                <c:ptCount val="20"/>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numCache>
            </c:numRef>
          </c:cat>
          <c:val>
            <c:numRef>
              <c:f>'[1、景林金色中国存续-working paper 20241129.xlsx]景林金色中国行业配置（时间序列）'!$B$21:$N$21</c:f>
              <c:numCache>
                <c:formatCode>General</c:formatCode>
                <c:ptCount val="13"/>
                <c:pt idx="4" c:formatCode="0%">
                  <c:v>-0.02</c:v>
                </c:pt>
                <c:pt idx="5" c:formatCode="0%">
                  <c:v>-0.04</c:v>
                </c:pt>
                <c:pt idx="6" c:formatCode="0%">
                  <c:v>-0.06</c:v>
                </c:pt>
                <c:pt idx="7" c:formatCode="0%">
                  <c:v>-0.04</c:v>
                </c:pt>
                <c:pt idx="8" c:formatCode="0%">
                  <c:v>-0.03</c:v>
                </c:pt>
              </c:numCache>
            </c:numRef>
          </c:val>
        </c:ser>
        <c:ser>
          <c:idx val="7"/>
          <c:order val="7"/>
          <c:tx>
            <c:strRef>
              <c:f>'[1、景林金色中国存续-working paper 20241129.xlsx]景林金色中国行业配置（时间序列）'!$A$22</c:f>
              <c:strCache>
                <c:ptCount val="1"/>
                <c:pt idx="0">
                  <c:v>指数/交易基金(空)</c:v>
                </c:pt>
              </c:strCache>
            </c:strRef>
          </c:tx>
          <c:spPr>
            <a:solidFill>
              <a:schemeClr val="accent2">
                <a:lumMod val="60000"/>
              </a:schemeClr>
            </a:solidFill>
            <a:ln>
              <a:noFill/>
            </a:ln>
            <a:effectLst/>
          </c:spPr>
          <c:dLbls>
            <c:delete val="1"/>
          </c:dLbls>
          <c:cat>
            <c:numRef>
              <c:f>'[1、景林金色中国存续-working paper 20241129.xlsx]景林金色中国行业配置（时间序列）'!$B$1:$U$1</c:f>
              <c:numCache>
                <c:formatCode>yyyy/m/d</c:formatCode>
                <c:ptCount val="20"/>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numCache>
            </c:numRef>
          </c:cat>
          <c:val>
            <c:numRef>
              <c:f>'[1、景林金色中国存续-working paper 20241129.xlsx]景林金色中国行业配置（时间序列）'!$B$22:$W$22</c:f>
              <c:numCache>
                <c:formatCode>General</c:formatCode>
                <c:ptCount val="22"/>
                <c:pt idx="6" c:formatCode="0%">
                  <c:v>-0.1</c:v>
                </c:pt>
                <c:pt idx="7" c:formatCode="0%">
                  <c:v>-0.05</c:v>
                </c:pt>
                <c:pt idx="8" c:formatCode="0%">
                  <c:v>-0.06</c:v>
                </c:pt>
                <c:pt idx="9" c:formatCode="0%">
                  <c:v>-0.05</c:v>
                </c:pt>
              </c:numCache>
            </c:numRef>
          </c:val>
        </c:ser>
        <c:ser>
          <c:idx val="8"/>
          <c:order val="8"/>
          <c:tx>
            <c:strRef>
              <c:f>'[1、景林金色中国存续-working paper 20241129.xlsx]景林金色中国行业配置（时间序列）'!$A$23</c:f>
              <c:strCache>
                <c:ptCount val="1"/>
                <c:pt idx="0">
                  <c:v>通讯服务（空）</c:v>
                </c:pt>
              </c:strCache>
            </c:strRef>
          </c:tx>
          <c:spPr>
            <a:solidFill>
              <a:schemeClr val="accent3">
                <a:lumMod val="60000"/>
              </a:schemeClr>
            </a:solidFill>
            <a:ln>
              <a:noFill/>
            </a:ln>
            <a:effectLst/>
          </c:spPr>
          <c:dLbls>
            <c:delete val="1"/>
          </c:dLbls>
          <c:cat>
            <c:numRef>
              <c:f>'[1、景林金色中国存续-working paper 20241129.xlsx]景林金色中国行业配置（时间序列）'!$B$1:$U$1</c:f>
              <c:numCache>
                <c:formatCode>yyyy/m/d</c:formatCode>
                <c:ptCount val="20"/>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numCache>
            </c:numRef>
          </c:cat>
          <c:val>
            <c:numRef>
              <c:f>'[1、景林金色中国存续-working paper 20241129.xlsx]景林金色中国行业配置（时间序列）'!$B$23:$W$23</c:f>
              <c:numCache>
                <c:formatCode>General</c:formatCode>
                <c:ptCount val="22"/>
                <c:pt idx="6" c:formatCode="0%">
                  <c:v>-0.01</c:v>
                </c:pt>
                <c:pt idx="15" c:formatCode="0%">
                  <c:v>-0.01</c:v>
                </c:pt>
                <c:pt idx="16" c:formatCode="0%">
                  <c:v>-0.01</c:v>
                </c:pt>
                <c:pt idx="17" c:formatCode="0%">
                  <c:v>-0.01</c:v>
                </c:pt>
                <c:pt idx="18" c:formatCode="0%">
                  <c:v>-0.02</c:v>
                </c:pt>
                <c:pt idx="19" c:formatCode="0%">
                  <c:v>-0.02</c:v>
                </c:pt>
                <c:pt idx="20" c:formatCode="0%">
                  <c:v>-0.02</c:v>
                </c:pt>
              </c:numCache>
            </c:numRef>
          </c:val>
        </c:ser>
        <c:ser>
          <c:idx val="9"/>
          <c:order val="9"/>
          <c:tx>
            <c:strRef>
              <c:f>'[1、景林金色中国存续-working paper 20241129.xlsx]景林金色中国行业配置（时间序列）'!$A$24</c:f>
              <c:strCache>
                <c:ptCount val="1"/>
                <c:pt idx="0">
                  <c:v>其他（空）</c:v>
                </c:pt>
              </c:strCache>
            </c:strRef>
          </c:tx>
          <c:spPr>
            <a:solidFill>
              <a:schemeClr val="accent4">
                <a:lumMod val="60000"/>
              </a:schemeClr>
            </a:solidFill>
            <a:ln w="25400">
              <a:noFill/>
            </a:ln>
            <a:effectLst/>
          </c:spPr>
          <c:dLbls>
            <c:delete val="1"/>
          </c:dLbls>
          <c:cat>
            <c:numRef>
              <c:f>'[1、景林金色中国存续-working paper 20241129.xlsx]景林金色中国行业配置（时间序列）'!$B$1:$U$1</c:f>
              <c:numCache>
                <c:formatCode>yyyy/m/d</c:formatCode>
                <c:ptCount val="20"/>
                <c:pt idx="0" c:formatCode="yyyy/m/d">
                  <c:v>44286</c:v>
                </c:pt>
                <c:pt idx="1" c:formatCode="yyyy/m/d">
                  <c:v>44377</c:v>
                </c:pt>
                <c:pt idx="2" c:formatCode="yyyy/m/d">
                  <c:v>44469</c:v>
                </c:pt>
                <c:pt idx="3" c:formatCode="yyyy/m/d">
                  <c:v>44561</c:v>
                </c:pt>
                <c:pt idx="4" c:formatCode="yyyy/m/d">
                  <c:v>44651</c:v>
                </c:pt>
                <c:pt idx="5" c:formatCode="yyyy/m/d">
                  <c:v>44742</c:v>
                </c:pt>
                <c:pt idx="6" c:formatCode="yyyy/m/d">
                  <c:v>44834</c:v>
                </c:pt>
                <c:pt idx="7" c:formatCode="yyyy/m/d">
                  <c:v>44926</c:v>
                </c:pt>
                <c:pt idx="8" c:formatCode="yyyy/m/d">
                  <c:v>45016</c:v>
                </c:pt>
                <c:pt idx="9" c:formatCode="yyyy/m/d">
                  <c:v>45107</c:v>
                </c:pt>
                <c:pt idx="10" c:formatCode="yyyy/m/d">
                  <c:v>45199</c:v>
                </c:pt>
                <c:pt idx="11" c:formatCode="yyyy/m/d">
                  <c:v>45291</c:v>
                </c:pt>
                <c:pt idx="12" c:formatCode="yyyy/m/d">
                  <c:v>45382</c:v>
                </c:pt>
                <c:pt idx="13" c:formatCode="yyyy/m/d">
                  <c:v>45412</c:v>
                </c:pt>
                <c:pt idx="14" c:formatCode="yyyy/m/d">
                  <c:v>45443</c:v>
                </c:pt>
                <c:pt idx="15" c:formatCode="yyyy/m/d">
                  <c:v>45473</c:v>
                </c:pt>
                <c:pt idx="16" c:formatCode="yyyy/m/d">
                  <c:v>45504</c:v>
                </c:pt>
                <c:pt idx="17" c:formatCode="yyyy/m/d">
                  <c:v>45534</c:v>
                </c:pt>
                <c:pt idx="18" c:formatCode="yyyy/m/d">
                  <c:v>45565</c:v>
                </c:pt>
                <c:pt idx="19" c:formatCode="yyyy/m/d">
                  <c:v>45595</c:v>
                </c:pt>
              </c:numCache>
            </c:numRef>
          </c:cat>
          <c:val>
            <c:numRef>
              <c:f>'[1、景林金色中国存续-working paper 20241129.xlsx]景林金色中国行业配置（时间序列）'!$B$24:$W$24</c:f>
              <c:numCache>
                <c:formatCode>General</c:formatCode>
                <c:ptCount val="22"/>
                <c:pt idx="13" c:formatCode="0%">
                  <c:v>-0.01</c:v>
                </c:pt>
                <c:pt idx="14" c:formatCode="0%">
                  <c:v>-0.01</c:v>
                </c:pt>
                <c:pt idx="15" c:formatCode="0%">
                  <c:v>-0.01</c:v>
                </c:pt>
                <c:pt idx="16" c:formatCode="0%">
                  <c:v>-0.04</c:v>
                </c:pt>
                <c:pt idx="17" c:formatCode="0%">
                  <c:v>-0.05</c:v>
                </c:pt>
                <c:pt idx="18" c:formatCode="0%">
                  <c:v>-0.05</c:v>
                </c:pt>
                <c:pt idx="19" c:formatCode="0%">
                  <c:v>-0.03</c:v>
                </c:pt>
                <c:pt idx="20" c:formatCode="0%">
                  <c:v>-0.07</c:v>
                </c:pt>
                <c:pt idx="21" c:formatCode="0%">
                  <c:v>-0.06</c:v>
                </c:pt>
              </c:numCache>
            </c:numRef>
          </c:val>
        </c:ser>
        <c:dLbls>
          <c:showLegendKey val="0"/>
          <c:showVal val="0"/>
          <c:showCatName val="0"/>
          <c:showSerName val="0"/>
          <c:showPercent val="0"/>
          <c:showBubbleSize val="0"/>
        </c:dLbls>
        <c:axId val="1813663840"/>
        <c:axId val="1813665920"/>
      </c:areaChart>
      <c:catAx>
        <c:axId val="1813663840"/>
        <c:scaling>
          <c:orientation val="minMax"/>
        </c:scaling>
        <c:delete val="1"/>
        <c:axPos val="b"/>
        <c:numFmt formatCode="m/d/yyyy" sourceLinked="1"/>
        <c:majorTickMark val="out"/>
        <c:minorTickMark val="none"/>
        <c:tickLblPos val="nextTo"/>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crossAx val="1813665920"/>
        <c:crosses val="autoZero"/>
        <c:auto val="0"/>
        <c:lblAlgn val="ctr"/>
        <c:lblOffset val="100"/>
        <c:noMultiLvlLbl val="0"/>
      </c:catAx>
      <c:valAx>
        <c:axId val="181366592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crossAx val="1813663840"/>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1"/>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2"/>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3"/>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4"/>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5"/>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6"/>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7"/>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8"/>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9"/>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
    <c:plotVisOnly val="1"/>
    <c:dispBlanksAs val="zero"/>
    <c:showDLblsOverMax val="0"/>
    <c:extLst>
      <c:ext uri="{0b15fc19-7d7d-44ad-8c2d-2c3a37ce22c3}">
        <chartProps xmlns="https://web.wps.cn/et/2018/main" chartId="{6f998b80-c6d9-42d8-8a8d-3bd5a966b4eb}"/>
      </c:ext>
    </c:extLst>
  </c:chart>
  <c:spPr>
    <a:noFill/>
    <a:ln>
      <a:noFill/>
    </a:ln>
    <a:effectLst/>
  </c:spPr>
  <c:txPr>
    <a:bodyPr/>
    <a:lstStyle/>
    <a:p>
      <a:pPr>
        <a:defRPr lang="zh-CN">
          <a:latin typeface="等线" panose="02010600030101010101" charset="-122"/>
          <a:ea typeface="等线" panose="02010600030101010101" charset="-122"/>
          <a:cs typeface="等线" panose="02010600030101010101" charset="-122"/>
          <a:sym typeface="等线" panose="02010600030101010101" charset="-122"/>
        </a:defRPr>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582195082757512"/>
          <c:y val="0.0655882352941176"/>
          <c:w val="0.914462477904548"/>
          <c:h val="0.830352941176471"/>
        </c:manualLayout>
      </c:layout>
      <c:lineChart>
        <c:grouping val="standard"/>
        <c:varyColors val="0"/>
        <c:ser>
          <c:idx val="1"/>
          <c:order val="0"/>
          <c:tx>
            <c:strRef>
              <c:f>'[景林医药存续情况-20241129.xlsx]景林医药健康基金（2015年起）'!$B$1</c:f>
              <c:strCache>
                <c:ptCount val="1"/>
                <c:pt idx="0">
                  <c:v>景林医药健康基金</c:v>
                </c:pt>
              </c:strCache>
            </c:strRef>
          </c:tx>
          <c:spPr>
            <a:ln w="38100" cap="rnd">
              <a:solidFill>
                <a:srgbClr val="C00000"/>
              </a:solidFill>
              <a:round/>
            </a:ln>
            <a:effectLst/>
          </c:spPr>
          <c:marker>
            <c:symbol val="none"/>
          </c:marker>
          <c:dLbls>
            <c:delete val="1"/>
          </c:dLbls>
          <c:cat>
            <c:numRef>
              <c:f>'[景林医药存续情况-20241129.xlsx]景林医药健康基金（2015年起）'!$A$2:$A$242</c:f>
              <c:numCache>
                <c:formatCode>yyyy/m/d</c:formatCode>
                <c:ptCount val="241"/>
                <c:pt idx="0" c:formatCode="yyyy/m/d">
                  <c:v>42156</c:v>
                </c:pt>
                <c:pt idx="1" c:formatCode="yyyy/m/d">
                  <c:v>42185</c:v>
                </c:pt>
                <c:pt idx="2" c:formatCode="yyyy/m/d">
                  <c:v>42216</c:v>
                </c:pt>
                <c:pt idx="3" c:formatCode="yyyy/m/d">
                  <c:v>42247</c:v>
                </c:pt>
                <c:pt idx="4" c:formatCode="yyyy/m/d">
                  <c:v>42277</c:v>
                </c:pt>
                <c:pt idx="5" c:formatCode="yyyy/m/d">
                  <c:v>42308</c:v>
                </c:pt>
                <c:pt idx="6" c:formatCode="yyyy/m/d">
                  <c:v>42338</c:v>
                </c:pt>
                <c:pt idx="7" c:formatCode="yyyy/m/d">
                  <c:v>42369</c:v>
                </c:pt>
                <c:pt idx="8" c:formatCode="yyyy/m/d">
                  <c:v>42400</c:v>
                </c:pt>
                <c:pt idx="9" c:formatCode="yyyy/m/d">
                  <c:v>42429</c:v>
                </c:pt>
                <c:pt idx="10" c:formatCode="yyyy/m/d">
                  <c:v>42460</c:v>
                </c:pt>
                <c:pt idx="11" c:formatCode="yyyy/m/d">
                  <c:v>42490</c:v>
                </c:pt>
                <c:pt idx="12" c:formatCode="yyyy/m/d">
                  <c:v>42521</c:v>
                </c:pt>
                <c:pt idx="13" c:formatCode="yyyy/m/d">
                  <c:v>42551</c:v>
                </c:pt>
                <c:pt idx="14" c:formatCode="yyyy/m/d">
                  <c:v>42582</c:v>
                </c:pt>
                <c:pt idx="15" c:formatCode="yyyy/m/d">
                  <c:v>42613</c:v>
                </c:pt>
                <c:pt idx="16" c:formatCode="yyyy/m/d">
                  <c:v>42643</c:v>
                </c:pt>
                <c:pt idx="17" c:formatCode="yyyy/m/d">
                  <c:v>42674</c:v>
                </c:pt>
                <c:pt idx="18" c:formatCode="yyyy/m/d">
                  <c:v>42704</c:v>
                </c:pt>
                <c:pt idx="19" c:formatCode="yyyy/m/d">
                  <c:v>42735</c:v>
                </c:pt>
                <c:pt idx="20" c:formatCode="yyyy/m/d">
                  <c:v>42766</c:v>
                </c:pt>
                <c:pt idx="21" c:formatCode="yyyy/m/d">
                  <c:v>42794</c:v>
                </c:pt>
                <c:pt idx="22" c:formatCode="yyyy/m/d">
                  <c:v>42825</c:v>
                </c:pt>
                <c:pt idx="23" c:formatCode="yyyy/m/d">
                  <c:v>42855</c:v>
                </c:pt>
                <c:pt idx="24" c:formatCode="yyyy/m/d">
                  <c:v>42886</c:v>
                </c:pt>
                <c:pt idx="25" c:formatCode="yyyy/m/d">
                  <c:v>42916</c:v>
                </c:pt>
                <c:pt idx="26" c:formatCode="yyyy/m/d">
                  <c:v>42947</c:v>
                </c:pt>
                <c:pt idx="27" c:formatCode="yyyy/m/d">
                  <c:v>42978</c:v>
                </c:pt>
                <c:pt idx="28" c:formatCode="yyyy/m/d">
                  <c:v>43008</c:v>
                </c:pt>
                <c:pt idx="29" c:formatCode="yyyy/m/d">
                  <c:v>43039</c:v>
                </c:pt>
                <c:pt idx="30" c:formatCode="yyyy/m/d">
                  <c:v>43069</c:v>
                </c:pt>
                <c:pt idx="31" c:formatCode="yyyy/m/d">
                  <c:v>43100</c:v>
                </c:pt>
                <c:pt idx="32" c:formatCode="yyyy/m/d">
                  <c:v>43131</c:v>
                </c:pt>
                <c:pt idx="33" c:formatCode="yyyy/m/d">
                  <c:v>43159</c:v>
                </c:pt>
                <c:pt idx="34" c:formatCode="yyyy/m/d">
                  <c:v>43190</c:v>
                </c:pt>
                <c:pt idx="35" c:formatCode="yyyy/m/d">
                  <c:v>43220</c:v>
                </c:pt>
                <c:pt idx="36" c:formatCode="yyyy/m/d">
                  <c:v>43251</c:v>
                </c:pt>
                <c:pt idx="37" c:formatCode="yyyy/m/d">
                  <c:v>43281</c:v>
                </c:pt>
                <c:pt idx="38" c:formatCode="yyyy/m/d">
                  <c:v>43312</c:v>
                </c:pt>
                <c:pt idx="39" c:formatCode="yyyy/m/d">
                  <c:v>43343</c:v>
                </c:pt>
                <c:pt idx="40" c:formatCode="yyyy/m/d">
                  <c:v>43373</c:v>
                </c:pt>
                <c:pt idx="41" c:formatCode="yyyy/m/d">
                  <c:v>43404</c:v>
                </c:pt>
                <c:pt idx="42" c:formatCode="yyyy/m/d">
                  <c:v>43434</c:v>
                </c:pt>
                <c:pt idx="43" c:formatCode="yyyy/m/d">
                  <c:v>43465</c:v>
                </c:pt>
                <c:pt idx="44" c:formatCode="yyyy/m/d">
                  <c:v>43496</c:v>
                </c:pt>
                <c:pt idx="45" c:formatCode="yyyy/m/d">
                  <c:v>43524</c:v>
                </c:pt>
                <c:pt idx="46" c:formatCode="yyyy/m/d">
                  <c:v>43555</c:v>
                </c:pt>
                <c:pt idx="47" c:formatCode="yyyy/m/d">
                  <c:v>43585</c:v>
                </c:pt>
                <c:pt idx="48" c:formatCode="yyyy/m/d">
                  <c:v>43616</c:v>
                </c:pt>
                <c:pt idx="49" c:formatCode="yyyy/m/d">
                  <c:v>43646</c:v>
                </c:pt>
                <c:pt idx="50" c:formatCode="yyyy/m/d">
                  <c:v>43677</c:v>
                </c:pt>
                <c:pt idx="51" c:formatCode="yyyy/m/d">
                  <c:v>43708</c:v>
                </c:pt>
                <c:pt idx="52" c:formatCode="yyyy/m/d">
                  <c:v>43738</c:v>
                </c:pt>
                <c:pt idx="53" c:formatCode="yyyy/m/d">
                  <c:v>43769</c:v>
                </c:pt>
                <c:pt idx="54" c:formatCode="yyyy/m/d">
                  <c:v>43799</c:v>
                </c:pt>
                <c:pt idx="55" c:formatCode="yyyy/m/d">
                  <c:v>43830</c:v>
                </c:pt>
                <c:pt idx="56" c:formatCode="yyyy/m/d">
                  <c:v>43861</c:v>
                </c:pt>
                <c:pt idx="57" c:formatCode="yyyy/m/d">
                  <c:v>43890</c:v>
                </c:pt>
                <c:pt idx="58" c:formatCode="yyyy/m/d">
                  <c:v>43921</c:v>
                </c:pt>
                <c:pt idx="59" c:formatCode="yyyy/m/d">
                  <c:v>43951</c:v>
                </c:pt>
                <c:pt idx="60" c:formatCode="yyyy/m/d">
                  <c:v>43982</c:v>
                </c:pt>
                <c:pt idx="61" c:formatCode="yyyy/m/d">
                  <c:v>44012</c:v>
                </c:pt>
                <c:pt idx="62" c:formatCode="yyyy/m/d">
                  <c:v>44043</c:v>
                </c:pt>
                <c:pt idx="63" c:formatCode="yyyy/m/d">
                  <c:v>44074</c:v>
                </c:pt>
                <c:pt idx="64" c:formatCode="yyyy/m/d">
                  <c:v>44104</c:v>
                </c:pt>
                <c:pt idx="65" c:formatCode="yyyy/m/d">
                  <c:v>44135</c:v>
                </c:pt>
                <c:pt idx="66" c:formatCode="yyyy/m/d">
                  <c:v>44165</c:v>
                </c:pt>
                <c:pt idx="67" c:formatCode="yyyy/m/d">
                  <c:v>44196</c:v>
                </c:pt>
                <c:pt idx="68" c:formatCode="yyyy/m/d">
                  <c:v>44227</c:v>
                </c:pt>
                <c:pt idx="69" c:formatCode="yyyy/m/d">
                  <c:v>44255</c:v>
                </c:pt>
                <c:pt idx="70" c:formatCode="yyyy/m/d">
                  <c:v>44286</c:v>
                </c:pt>
                <c:pt idx="71" c:formatCode="yyyy/m/d">
                  <c:v>44316</c:v>
                </c:pt>
                <c:pt idx="72" c:formatCode="yyyy/m/d">
                  <c:v>44347</c:v>
                </c:pt>
                <c:pt idx="73" c:formatCode="yyyy/m/d">
                  <c:v>44377</c:v>
                </c:pt>
                <c:pt idx="74" c:formatCode="yyyy/m/d">
                  <c:v>44408</c:v>
                </c:pt>
                <c:pt idx="75" c:formatCode="yyyy/m/d">
                  <c:v>44439</c:v>
                </c:pt>
                <c:pt idx="76" c:formatCode="yyyy/m/d">
                  <c:v>44469</c:v>
                </c:pt>
                <c:pt idx="77" c:formatCode="yyyy/m/d">
                  <c:v>44500</c:v>
                </c:pt>
                <c:pt idx="78" c:formatCode="yyyy/m/d">
                  <c:v>44530</c:v>
                </c:pt>
                <c:pt idx="79" c:formatCode="yyyy/m/d">
                  <c:v>44561</c:v>
                </c:pt>
                <c:pt idx="80" c:formatCode="yyyy/m/d">
                  <c:v>44592</c:v>
                </c:pt>
                <c:pt idx="81" c:formatCode="yyyy/m/d">
                  <c:v>44620</c:v>
                </c:pt>
                <c:pt idx="82" c:formatCode="yyyy/m/d">
                  <c:v>44651</c:v>
                </c:pt>
                <c:pt idx="83" c:formatCode="yyyy/m/d">
                  <c:v>44681</c:v>
                </c:pt>
                <c:pt idx="84" c:formatCode="yyyy/m/d">
                  <c:v>44712</c:v>
                </c:pt>
                <c:pt idx="85" c:formatCode="yyyy/m/d">
                  <c:v>44742</c:v>
                </c:pt>
                <c:pt idx="86" c:formatCode="yyyy/m/d">
                  <c:v>44773</c:v>
                </c:pt>
                <c:pt idx="87" c:formatCode="yyyy/m/d">
                  <c:v>44804</c:v>
                </c:pt>
                <c:pt idx="88" c:formatCode="yyyy/m/d">
                  <c:v>44834</c:v>
                </c:pt>
                <c:pt idx="89" c:formatCode="yyyy/m/d">
                  <c:v>44865</c:v>
                </c:pt>
                <c:pt idx="90" c:formatCode="yyyy/m/d">
                  <c:v>44895</c:v>
                </c:pt>
                <c:pt idx="91" c:formatCode="yyyy/m/d">
                  <c:v>44926</c:v>
                </c:pt>
                <c:pt idx="92" c:formatCode="yyyy/m/d">
                  <c:v>44957</c:v>
                </c:pt>
                <c:pt idx="93" c:formatCode="yyyy/m/d">
                  <c:v>44985</c:v>
                </c:pt>
                <c:pt idx="94" c:formatCode="yyyy/m/d">
                  <c:v>45016</c:v>
                </c:pt>
                <c:pt idx="95" c:formatCode="yyyy/m/d">
                  <c:v>45046</c:v>
                </c:pt>
                <c:pt idx="96" c:formatCode="yyyy/m/d">
                  <c:v>45077</c:v>
                </c:pt>
                <c:pt idx="97" c:formatCode="yyyy/m/d">
                  <c:v>45107</c:v>
                </c:pt>
                <c:pt idx="98" c:formatCode="yyyy/m/d">
                  <c:v>45138</c:v>
                </c:pt>
                <c:pt idx="99" c:formatCode="yyyy/m/d">
                  <c:v>45169</c:v>
                </c:pt>
                <c:pt idx="100" c:formatCode="yyyy/m/d">
                  <c:v>45199</c:v>
                </c:pt>
                <c:pt idx="101" c:formatCode="yyyy/m/d">
                  <c:v>45230</c:v>
                </c:pt>
                <c:pt idx="102" c:formatCode="yyyy/m/d">
                  <c:v>45260</c:v>
                </c:pt>
                <c:pt idx="103" c:formatCode="yyyy/m/d">
                  <c:v>45291</c:v>
                </c:pt>
                <c:pt idx="104" c:formatCode="yyyy/m/d">
                  <c:v>45322</c:v>
                </c:pt>
                <c:pt idx="105" c:formatCode="yyyy/m/d">
                  <c:v>45351</c:v>
                </c:pt>
                <c:pt idx="106" c:formatCode="yyyy/m/d">
                  <c:v>45382</c:v>
                </c:pt>
                <c:pt idx="107" c:formatCode="yyyy/m/d">
                  <c:v>45412</c:v>
                </c:pt>
                <c:pt idx="108" c:formatCode="yyyy/m/d">
                  <c:v>45443</c:v>
                </c:pt>
                <c:pt idx="109" c:formatCode="yyyy/m/d">
                  <c:v>45473</c:v>
                </c:pt>
                <c:pt idx="110" c:formatCode="yyyy/m/d">
                  <c:v>45504</c:v>
                </c:pt>
                <c:pt idx="111" c:formatCode="yyyy/m/d">
                  <c:v>45534</c:v>
                </c:pt>
                <c:pt idx="112" c:formatCode="yyyy/m/d">
                  <c:v>45565</c:v>
                </c:pt>
                <c:pt idx="113" c:formatCode="yyyy/m/d">
                  <c:v>45596</c:v>
                </c:pt>
                <c:pt idx="114" c:formatCode="yyyy/m/d">
                  <c:v>45625</c:v>
                </c:pt>
                <c:pt idx="115" c:formatCode="yyyy/m/d">
                  <c:v>45657</c:v>
                </c:pt>
              </c:numCache>
            </c:numRef>
          </c:cat>
          <c:val>
            <c:numRef>
              <c:f>'[景林医药存续情况-20241129.xlsx]景林医药健康基金（2015年起）'!$B$2:$B$2513</c:f>
              <c:numCache>
                <c:formatCode>0.0000</c:formatCode>
                <c:ptCount val="2512"/>
                <c:pt idx="0">
                  <c:v>1</c:v>
                </c:pt>
                <c:pt idx="1">
                  <c:v>1.0053</c:v>
                </c:pt>
                <c:pt idx="2">
                  <c:v>0.99414117</c:v>
                </c:pt>
                <c:pt idx="3">
                  <c:v>0.949504231467</c:v>
                </c:pt>
                <c:pt idx="4">
                  <c:v>0.943427404385611</c:v>
                </c:pt>
                <c:pt idx="5">
                  <c:v>1.01144852024181</c:v>
                </c:pt>
                <c:pt idx="6">
                  <c:v>0.993647026285558</c:v>
                </c:pt>
                <c:pt idx="7">
                  <c:v>1.01481170794544</c:v>
                </c:pt>
                <c:pt idx="8">
                  <c:v>0.861676621216473</c:v>
                </c:pt>
                <c:pt idx="9">
                  <c:v>0.833585963364816</c:v>
                </c:pt>
                <c:pt idx="10">
                  <c:v>0.885101575900762</c:v>
                </c:pt>
                <c:pt idx="11">
                  <c:v>0.902715097261187</c:v>
                </c:pt>
                <c:pt idx="12">
                  <c:v>0.891611701564875</c:v>
                </c:pt>
                <c:pt idx="13">
                  <c:v>0.903380976025531</c:v>
                </c:pt>
                <c:pt idx="14">
                  <c:v>0.932831195843963</c:v>
                </c:pt>
                <c:pt idx="15">
                  <c:v>0.959510168045101</c:v>
                </c:pt>
                <c:pt idx="16">
                  <c:v>0.973135212431341</c:v>
                </c:pt>
                <c:pt idx="17">
                  <c:v>0.963890427913244</c:v>
                </c:pt>
                <c:pt idx="18">
                  <c:v>0.977963228160777</c:v>
                </c:pt>
                <c:pt idx="19">
                  <c:v>0.941387403427564</c:v>
                </c:pt>
                <c:pt idx="20">
                  <c:v>0.925666233790323</c:v>
                </c:pt>
                <c:pt idx="21">
                  <c:v>0.928165532621557</c:v>
                </c:pt>
                <c:pt idx="22">
                  <c:v>0.942552098377191</c:v>
                </c:pt>
                <c:pt idx="23">
                  <c:v>0.969603343600617</c:v>
                </c:pt>
                <c:pt idx="24">
                  <c:v>1.01866527278681</c:v>
                </c:pt>
                <c:pt idx="25">
                  <c:v>1.01683167529579</c:v>
                </c:pt>
                <c:pt idx="26">
                  <c:v>1.01012058623884</c:v>
                </c:pt>
                <c:pt idx="27">
                  <c:v>1.04628290322619</c:v>
                </c:pt>
                <c:pt idx="28">
                  <c:v>1.14411035467784</c:v>
                </c:pt>
                <c:pt idx="29">
                  <c:v>1.25508905908159</c:v>
                </c:pt>
                <c:pt idx="30">
                  <c:v>1.35449211256085</c:v>
                </c:pt>
                <c:pt idx="31">
                  <c:v>1.48506515221172</c:v>
                </c:pt>
                <c:pt idx="32">
                  <c:v>1.59555399953627</c:v>
                </c:pt>
                <c:pt idx="33">
                  <c:v>1.60050021693483</c:v>
                </c:pt>
                <c:pt idx="34">
                  <c:v>1.7682326396696</c:v>
                </c:pt>
                <c:pt idx="35">
                  <c:v>1.7494893736891</c:v>
                </c:pt>
                <c:pt idx="36">
                  <c:v>1.96275212834181</c:v>
                </c:pt>
                <c:pt idx="37">
                  <c:v>1.89601855597818</c:v>
                </c:pt>
                <c:pt idx="38">
                  <c:v>1.81259373951514</c:v>
                </c:pt>
                <c:pt idx="39">
                  <c:v>1.78612987091822</c:v>
                </c:pt>
                <c:pt idx="40">
                  <c:v>1.74308414102909</c:v>
                </c:pt>
                <c:pt idx="41">
                  <c:v>1.58463779260955</c:v>
                </c:pt>
                <c:pt idx="42">
                  <c:v>1.67813142237351</c:v>
                </c:pt>
                <c:pt idx="43">
                  <c:v>1.67410390695982</c:v>
                </c:pt>
                <c:pt idx="44">
                  <c:v>1.64430485741593</c:v>
                </c:pt>
                <c:pt idx="45">
                  <c:v>1.85954436325168</c:v>
                </c:pt>
                <c:pt idx="46">
                  <c:v>2.08808236549531</c:v>
                </c:pt>
                <c:pt idx="47">
                  <c:v>2.08766474902221</c:v>
                </c:pt>
                <c:pt idx="48">
                  <c:v>1.97513961904991</c:v>
                </c:pt>
                <c:pt idx="49">
                  <c:v>2.10214109655482</c:v>
                </c:pt>
                <c:pt idx="50">
                  <c:v>2.08154011380858</c:v>
                </c:pt>
                <c:pt idx="51">
                  <c:v>2.1302481524717</c:v>
                </c:pt>
                <c:pt idx="52">
                  <c:v>2.12790487950399</c:v>
                </c:pt>
                <c:pt idx="53">
                  <c:v>2.15386531903393</c:v>
                </c:pt>
                <c:pt idx="54">
                  <c:v>2.21223506917975</c:v>
                </c:pt>
                <c:pt idx="55">
                  <c:v>2.25493120601492</c:v>
                </c:pt>
                <c:pt idx="56">
                  <c:v>2.25290176792951</c:v>
                </c:pt>
                <c:pt idx="57">
                  <c:v>2.46760330641319</c:v>
                </c:pt>
                <c:pt idx="58">
                  <c:v>2.11819067822508</c:v>
                </c:pt>
                <c:pt idx="59">
                  <c:v>2.20779014391401</c:v>
                </c:pt>
                <c:pt idx="60">
                  <c:v>2.37514063682269</c:v>
                </c:pt>
                <c:pt idx="61">
                  <c:v>2.67939615239967</c:v>
                </c:pt>
                <c:pt idx="62">
                  <c:v>2.52961790748053</c:v>
                </c:pt>
                <c:pt idx="63">
                  <c:v>2.50558653735947</c:v>
                </c:pt>
                <c:pt idx="64">
                  <c:v>2.48403849313818</c:v>
                </c:pt>
                <c:pt idx="65">
                  <c:v>2.5096240896175</c:v>
                </c:pt>
                <c:pt idx="66">
                  <c:v>2.59520227107346</c:v>
                </c:pt>
                <c:pt idx="67">
                  <c:v>2.76259281755769</c:v>
                </c:pt>
                <c:pt idx="68">
                  <c:v>2.73911077860845</c:v>
                </c:pt>
                <c:pt idx="69">
                  <c:v>2.6457071010579</c:v>
                </c:pt>
                <c:pt idx="70">
                  <c:v>2.50998232677363</c:v>
                </c:pt>
                <c:pt idx="71">
                  <c:v>2.77880143397109</c:v>
                </c:pt>
                <c:pt idx="72">
                  <c:v>2.83437746265051</c:v>
                </c:pt>
                <c:pt idx="73">
                  <c:v>2.81708776012834</c:v>
                </c:pt>
                <c:pt idx="74">
                  <c:v>2.64665395064058</c:v>
                </c:pt>
                <c:pt idx="75">
                  <c:v>2.53470048852848</c:v>
                </c:pt>
                <c:pt idx="76">
                  <c:v>2.44218392069719</c:v>
                </c:pt>
                <c:pt idx="77">
                  <c:v>2.46514044955175</c:v>
                </c:pt>
                <c:pt idx="78">
                  <c:v>2.53958769112821</c:v>
                </c:pt>
                <c:pt idx="79">
                  <c:v>2.56396773296304</c:v>
                </c:pt>
                <c:pt idx="80">
                  <c:v>2.3098785306264</c:v>
                </c:pt>
                <c:pt idx="81">
                  <c:v>2.43022320207204</c:v>
                </c:pt>
                <c:pt idx="82">
                  <c:v>2.49146482676425</c:v>
                </c:pt>
                <c:pt idx="83">
                  <c:v>2.24804871318939</c:v>
                </c:pt>
                <c:pt idx="84">
                  <c:v>2.20039008046977</c:v>
                </c:pt>
                <c:pt idx="85">
                  <c:v>2.53220890460461</c:v>
                </c:pt>
                <c:pt idx="86">
                  <c:v>2.45472331212371</c:v>
                </c:pt>
                <c:pt idx="87">
                  <c:v>2.36438949423756</c:v>
                </c:pt>
                <c:pt idx="88">
                  <c:v>2.01989794492715</c:v>
                </c:pt>
                <c:pt idx="89">
                  <c:v>2.06817350581091</c:v>
                </c:pt>
                <c:pt idx="90">
                  <c:v>2.30787481513439</c:v>
                </c:pt>
                <c:pt idx="91">
                  <c:v>2.5587408075395</c:v>
                </c:pt>
                <c:pt idx="92">
                  <c:v>2.72019735249524</c:v>
                </c:pt>
                <c:pt idx="93">
                  <c:v>2.47483555130017</c:v>
                </c:pt>
                <c:pt idx="94">
                  <c:v>2.31149640491436</c:v>
                </c:pt>
                <c:pt idx="95">
                  <c:v>2.36119357762002</c:v>
                </c:pt>
                <c:pt idx="96">
                  <c:v>2.1356995909573</c:v>
                </c:pt>
                <c:pt idx="97">
                  <c:v>2.12139040369789</c:v>
                </c:pt>
                <c:pt idx="98">
                  <c:v>2.21430730337986</c:v>
                </c:pt>
                <c:pt idx="99">
                  <c:v>2.11045629085134</c:v>
                </c:pt>
                <c:pt idx="100">
                  <c:v>2.10834583456049</c:v>
                </c:pt>
                <c:pt idx="101">
                  <c:v>2.15304276625317</c:v>
                </c:pt>
                <c:pt idx="102">
                  <c:v>2.17780275806509</c:v>
                </c:pt>
                <c:pt idx="103">
                  <c:v>1.93563109136825</c:v>
                </c:pt>
                <c:pt idx="104">
                  <c:v>1.71864684602587</c:v>
                </c:pt>
                <c:pt idx="105">
                  <c:v>1.76126928780731</c:v>
                </c:pt>
                <c:pt idx="106">
                  <c:v>1.80635778157518</c:v>
                </c:pt>
                <c:pt idx="107">
                  <c:v>1.75162514079345</c:v>
                </c:pt>
                <c:pt idx="108">
                  <c:v>1.70520707456242</c:v>
                </c:pt>
                <c:pt idx="109">
                  <c:v>1.67042085024135</c:v>
                </c:pt>
                <c:pt idx="110">
                  <c:v>1.7475942935225</c:v>
                </c:pt>
                <c:pt idx="111">
                  <c:v>1.76891494390347</c:v>
                </c:pt>
                <c:pt idx="112">
                  <c:v>1.97747001578969</c:v>
                </c:pt>
                <c:pt idx="113">
                  <c:v>1.76271677207493</c:v>
                </c:pt>
                <c:pt idx="114">
                  <c:v>1.72816752334226</c:v>
                </c:pt>
                <c:pt idx="115">
                  <c:v>1.64158633042282</c:v>
                </c:pt>
              </c:numCache>
            </c:numRef>
          </c:val>
          <c:smooth val="1"/>
        </c:ser>
        <c:ser>
          <c:idx val="3"/>
          <c:order val="1"/>
          <c:tx>
            <c:strRef>
              <c:f>'[景林医药存续情况-20241129.xlsx]景林医药健康基金（2015年起）'!$C$1</c:f>
              <c:strCache>
                <c:ptCount val="1"/>
                <c:pt idx="0">
                  <c:v>恒生医疗保健指数</c:v>
                </c:pt>
              </c:strCache>
            </c:strRef>
          </c:tx>
          <c:spPr>
            <a:ln w="28575" cap="rnd">
              <a:solidFill>
                <a:schemeClr val="accent1">
                  <a:lumMod val="60000"/>
                  <a:lumOff val="40000"/>
                </a:schemeClr>
              </a:solidFill>
              <a:round/>
            </a:ln>
            <a:effectLst/>
          </c:spPr>
          <c:marker>
            <c:symbol val="none"/>
          </c:marker>
          <c:dLbls>
            <c:delete val="1"/>
          </c:dLbls>
          <c:cat>
            <c:numRef>
              <c:f>'[景林医药存续情况-20241129.xlsx]景林医药健康基金（2015年起）'!$A$2:$A$242</c:f>
              <c:numCache>
                <c:formatCode>yyyy/m/d</c:formatCode>
                <c:ptCount val="241"/>
                <c:pt idx="0" c:formatCode="yyyy/m/d">
                  <c:v>42156</c:v>
                </c:pt>
                <c:pt idx="1" c:formatCode="yyyy/m/d">
                  <c:v>42185</c:v>
                </c:pt>
                <c:pt idx="2" c:formatCode="yyyy/m/d">
                  <c:v>42216</c:v>
                </c:pt>
                <c:pt idx="3" c:formatCode="yyyy/m/d">
                  <c:v>42247</c:v>
                </c:pt>
                <c:pt idx="4" c:formatCode="yyyy/m/d">
                  <c:v>42277</c:v>
                </c:pt>
                <c:pt idx="5" c:formatCode="yyyy/m/d">
                  <c:v>42308</c:v>
                </c:pt>
                <c:pt idx="6" c:formatCode="yyyy/m/d">
                  <c:v>42338</c:v>
                </c:pt>
                <c:pt idx="7" c:formatCode="yyyy/m/d">
                  <c:v>42369</c:v>
                </c:pt>
                <c:pt idx="8" c:formatCode="yyyy/m/d">
                  <c:v>42400</c:v>
                </c:pt>
                <c:pt idx="9" c:formatCode="yyyy/m/d">
                  <c:v>42429</c:v>
                </c:pt>
                <c:pt idx="10" c:formatCode="yyyy/m/d">
                  <c:v>42460</c:v>
                </c:pt>
                <c:pt idx="11" c:formatCode="yyyy/m/d">
                  <c:v>42490</c:v>
                </c:pt>
                <c:pt idx="12" c:formatCode="yyyy/m/d">
                  <c:v>42521</c:v>
                </c:pt>
                <c:pt idx="13" c:formatCode="yyyy/m/d">
                  <c:v>42551</c:v>
                </c:pt>
                <c:pt idx="14" c:formatCode="yyyy/m/d">
                  <c:v>42582</c:v>
                </c:pt>
                <c:pt idx="15" c:formatCode="yyyy/m/d">
                  <c:v>42613</c:v>
                </c:pt>
                <c:pt idx="16" c:formatCode="yyyy/m/d">
                  <c:v>42643</c:v>
                </c:pt>
                <c:pt idx="17" c:formatCode="yyyy/m/d">
                  <c:v>42674</c:v>
                </c:pt>
                <c:pt idx="18" c:formatCode="yyyy/m/d">
                  <c:v>42704</c:v>
                </c:pt>
                <c:pt idx="19" c:formatCode="yyyy/m/d">
                  <c:v>42735</c:v>
                </c:pt>
                <c:pt idx="20" c:formatCode="yyyy/m/d">
                  <c:v>42766</c:v>
                </c:pt>
                <c:pt idx="21" c:formatCode="yyyy/m/d">
                  <c:v>42794</c:v>
                </c:pt>
                <c:pt idx="22" c:formatCode="yyyy/m/d">
                  <c:v>42825</c:v>
                </c:pt>
                <c:pt idx="23" c:formatCode="yyyy/m/d">
                  <c:v>42855</c:v>
                </c:pt>
                <c:pt idx="24" c:formatCode="yyyy/m/d">
                  <c:v>42886</c:v>
                </c:pt>
                <c:pt idx="25" c:formatCode="yyyy/m/d">
                  <c:v>42916</c:v>
                </c:pt>
                <c:pt idx="26" c:formatCode="yyyy/m/d">
                  <c:v>42947</c:v>
                </c:pt>
                <c:pt idx="27" c:formatCode="yyyy/m/d">
                  <c:v>42978</c:v>
                </c:pt>
                <c:pt idx="28" c:formatCode="yyyy/m/d">
                  <c:v>43008</c:v>
                </c:pt>
                <c:pt idx="29" c:formatCode="yyyy/m/d">
                  <c:v>43039</c:v>
                </c:pt>
                <c:pt idx="30" c:formatCode="yyyy/m/d">
                  <c:v>43069</c:v>
                </c:pt>
                <c:pt idx="31" c:formatCode="yyyy/m/d">
                  <c:v>43100</c:v>
                </c:pt>
                <c:pt idx="32" c:formatCode="yyyy/m/d">
                  <c:v>43131</c:v>
                </c:pt>
                <c:pt idx="33" c:formatCode="yyyy/m/d">
                  <c:v>43159</c:v>
                </c:pt>
                <c:pt idx="34" c:formatCode="yyyy/m/d">
                  <c:v>43190</c:v>
                </c:pt>
                <c:pt idx="35" c:formatCode="yyyy/m/d">
                  <c:v>43220</c:v>
                </c:pt>
                <c:pt idx="36" c:formatCode="yyyy/m/d">
                  <c:v>43251</c:v>
                </c:pt>
                <c:pt idx="37" c:formatCode="yyyy/m/d">
                  <c:v>43281</c:v>
                </c:pt>
                <c:pt idx="38" c:formatCode="yyyy/m/d">
                  <c:v>43312</c:v>
                </c:pt>
                <c:pt idx="39" c:formatCode="yyyy/m/d">
                  <c:v>43343</c:v>
                </c:pt>
                <c:pt idx="40" c:formatCode="yyyy/m/d">
                  <c:v>43373</c:v>
                </c:pt>
                <c:pt idx="41" c:formatCode="yyyy/m/d">
                  <c:v>43404</c:v>
                </c:pt>
                <c:pt idx="42" c:formatCode="yyyy/m/d">
                  <c:v>43434</c:v>
                </c:pt>
                <c:pt idx="43" c:formatCode="yyyy/m/d">
                  <c:v>43465</c:v>
                </c:pt>
                <c:pt idx="44" c:formatCode="yyyy/m/d">
                  <c:v>43496</c:v>
                </c:pt>
                <c:pt idx="45" c:formatCode="yyyy/m/d">
                  <c:v>43524</c:v>
                </c:pt>
                <c:pt idx="46" c:formatCode="yyyy/m/d">
                  <c:v>43555</c:v>
                </c:pt>
                <c:pt idx="47" c:formatCode="yyyy/m/d">
                  <c:v>43585</c:v>
                </c:pt>
                <c:pt idx="48" c:formatCode="yyyy/m/d">
                  <c:v>43616</c:v>
                </c:pt>
                <c:pt idx="49" c:formatCode="yyyy/m/d">
                  <c:v>43646</c:v>
                </c:pt>
                <c:pt idx="50" c:formatCode="yyyy/m/d">
                  <c:v>43677</c:v>
                </c:pt>
                <c:pt idx="51" c:formatCode="yyyy/m/d">
                  <c:v>43708</c:v>
                </c:pt>
                <c:pt idx="52" c:formatCode="yyyy/m/d">
                  <c:v>43738</c:v>
                </c:pt>
                <c:pt idx="53" c:formatCode="yyyy/m/d">
                  <c:v>43769</c:v>
                </c:pt>
                <c:pt idx="54" c:formatCode="yyyy/m/d">
                  <c:v>43799</c:v>
                </c:pt>
                <c:pt idx="55" c:formatCode="yyyy/m/d">
                  <c:v>43830</c:v>
                </c:pt>
                <c:pt idx="56" c:formatCode="yyyy/m/d">
                  <c:v>43861</c:v>
                </c:pt>
                <c:pt idx="57" c:formatCode="yyyy/m/d">
                  <c:v>43890</c:v>
                </c:pt>
                <c:pt idx="58" c:formatCode="yyyy/m/d">
                  <c:v>43921</c:v>
                </c:pt>
                <c:pt idx="59" c:formatCode="yyyy/m/d">
                  <c:v>43951</c:v>
                </c:pt>
                <c:pt idx="60" c:formatCode="yyyy/m/d">
                  <c:v>43982</c:v>
                </c:pt>
                <c:pt idx="61" c:formatCode="yyyy/m/d">
                  <c:v>44012</c:v>
                </c:pt>
                <c:pt idx="62" c:formatCode="yyyy/m/d">
                  <c:v>44043</c:v>
                </c:pt>
                <c:pt idx="63" c:formatCode="yyyy/m/d">
                  <c:v>44074</c:v>
                </c:pt>
                <c:pt idx="64" c:formatCode="yyyy/m/d">
                  <c:v>44104</c:v>
                </c:pt>
                <c:pt idx="65" c:formatCode="yyyy/m/d">
                  <c:v>44135</c:v>
                </c:pt>
                <c:pt idx="66" c:formatCode="yyyy/m/d">
                  <c:v>44165</c:v>
                </c:pt>
                <c:pt idx="67" c:formatCode="yyyy/m/d">
                  <c:v>44196</c:v>
                </c:pt>
                <c:pt idx="68" c:formatCode="yyyy/m/d">
                  <c:v>44227</c:v>
                </c:pt>
                <c:pt idx="69" c:formatCode="yyyy/m/d">
                  <c:v>44255</c:v>
                </c:pt>
                <c:pt idx="70" c:formatCode="yyyy/m/d">
                  <c:v>44286</c:v>
                </c:pt>
                <c:pt idx="71" c:formatCode="yyyy/m/d">
                  <c:v>44316</c:v>
                </c:pt>
                <c:pt idx="72" c:formatCode="yyyy/m/d">
                  <c:v>44347</c:v>
                </c:pt>
                <c:pt idx="73" c:formatCode="yyyy/m/d">
                  <c:v>44377</c:v>
                </c:pt>
                <c:pt idx="74" c:formatCode="yyyy/m/d">
                  <c:v>44408</c:v>
                </c:pt>
                <c:pt idx="75" c:formatCode="yyyy/m/d">
                  <c:v>44439</c:v>
                </c:pt>
                <c:pt idx="76" c:formatCode="yyyy/m/d">
                  <c:v>44469</c:v>
                </c:pt>
                <c:pt idx="77" c:formatCode="yyyy/m/d">
                  <c:v>44500</c:v>
                </c:pt>
                <c:pt idx="78" c:formatCode="yyyy/m/d">
                  <c:v>44530</c:v>
                </c:pt>
                <c:pt idx="79" c:formatCode="yyyy/m/d">
                  <c:v>44561</c:v>
                </c:pt>
                <c:pt idx="80" c:formatCode="yyyy/m/d">
                  <c:v>44592</c:v>
                </c:pt>
                <c:pt idx="81" c:formatCode="yyyy/m/d">
                  <c:v>44620</c:v>
                </c:pt>
                <c:pt idx="82" c:formatCode="yyyy/m/d">
                  <c:v>44651</c:v>
                </c:pt>
                <c:pt idx="83" c:formatCode="yyyy/m/d">
                  <c:v>44681</c:v>
                </c:pt>
                <c:pt idx="84" c:formatCode="yyyy/m/d">
                  <c:v>44712</c:v>
                </c:pt>
                <c:pt idx="85" c:formatCode="yyyy/m/d">
                  <c:v>44742</c:v>
                </c:pt>
                <c:pt idx="86" c:formatCode="yyyy/m/d">
                  <c:v>44773</c:v>
                </c:pt>
                <c:pt idx="87" c:formatCode="yyyy/m/d">
                  <c:v>44804</c:v>
                </c:pt>
                <c:pt idx="88" c:formatCode="yyyy/m/d">
                  <c:v>44834</c:v>
                </c:pt>
                <c:pt idx="89" c:formatCode="yyyy/m/d">
                  <c:v>44865</c:v>
                </c:pt>
                <c:pt idx="90" c:formatCode="yyyy/m/d">
                  <c:v>44895</c:v>
                </c:pt>
                <c:pt idx="91" c:formatCode="yyyy/m/d">
                  <c:v>44926</c:v>
                </c:pt>
                <c:pt idx="92" c:formatCode="yyyy/m/d">
                  <c:v>44957</c:v>
                </c:pt>
                <c:pt idx="93" c:formatCode="yyyy/m/d">
                  <c:v>44985</c:v>
                </c:pt>
                <c:pt idx="94" c:formatCode="yyyy/m/d">
                  <c:v>45016</c:v>
                </c:pt>
                <c:pt idx="95" c:formatCode="yyyy/m/d">
                  <c:v>45046</c:v>
                </c:pt>
                <c:pt idx="96" c:formatCode="yyyy/m/d">
                  <c:v>45077</c:v>
                </c:pt>
                <c:pt idx="97" c:formatCode="yyyy/m/d">
                  <c:v>45107</c:v>
                </c:pt>
                <c:pt idx="98" c:formatCode="yyyy/m/d">
                  <c:v>45138</c:v>
                </c:pt>
                <c:pt idx="99" c:formatCode="yyyy/m/d">
                  <c:v>45169</c:v>
                </c:pt>
                <c:pt idx="100" c:formatCode="yyyy/m/d">
                  <c:v>45199</c:v>
                </c:pt>
                <c:pt idx="101" c:formatCode="yyyy/m/d">
                  <c:v>45230</c:v>
                </c:pt>
                <c:pt idx="102" c:formatCode="yyyy/m/d">
                  <c:v>45260</c:v>
                </c:pt>
                <c:pt idx="103" c:formatCode="yyyy/m/d">
                  <c:v>45291</c:v>
                </c:pt>
                <c:pt idx="104" c:formatCode="yyyy/m/d">
                  <c:v>45322</c:v>
                </c:pt>
                <c:pt idx="105" c:formatCode="yyyy/m/d">
                  <c:v>45351</c:v>
                </c:pt>
                <c:pt idx="106" c:formatCode="yyyy/m/d">
                  <c:v>45382</c:v>
                </c:pt>
                <c:pt idx="107" c:formatCode="yyyy/m/d">
                  <c:v>45412</c:v>
                </c:pt>
                <c:pt idx="108" c:formatCode="yyyy/m/d">
                  <c:v>45443</c:v>
                </c:pt>
                <c:pt idx="109" c:formatCode="yyyy/m/d">
                  <c:v>45473</c:v>
                </c:pt>
                <c:pt idx="110" c:formatCode="yyyy/m/d">
                  <c:v>45504</c:v>
                </c:pt>
                <c:pt idx="111" c:formatCode="yyyy/m/d">
                  <c:v>45534</c:v>
                </c:pt>
                <c:pt idx="112" c:formatCode="yyyy/m/d">
                  <c:v>45565</c:v>
                </c:pt>
                <c:pt idx="113" c:formatCode="yyyy/m/d">
                  <c:v>45596</c:v>
                </c:pt>
                <c:pt idx="114" c:formatCode="yyyy/m/d">
                  <c:v>45625</c:v>
                </c:pt>
                <c:pt idx="115" c:formatCode="yyyy/m/d">
                  <c:v>45657</c:v>
                </c:pt>
              </c:numCache>
            </c:numRef>
          </c:cat>
          <c:val>
            <c:numRef>
              <c:f>'[景林医药存续情况-20241129.xlsx]景林医药健康基金（2015年起）'!$C$2:$C$2513</c:f>
              <c:numCache>
                <c:formatCode>0.0000</c:formatCode>
                <c:ptCount val="2512"/>
                <c:pt idx="0">
                  <c:v>1</c:v>
                </c:pt>
                <c:pt idx="1">
                  <c:v>1</c:v>
                </c:pt>
                <c:pt idx="2">
                  <c:v>1</c:v>
                </c:pt>
                <c:pt idx="3">
                  <c:v>1</c:v>
                </c:pt>
                <c:pt idx="4">
                  <c:v>0.982574773977141</c:v>
                </c:pt>
                <c:pt idx="5">
                  <c:v>1.06968604882629</c:v>
                </c:pt>
                <c:pt idx="6">
                  <c:v>1.07909537377333</c:v>
                </c:pt>
                <c:pt idx="7">
                  <c:v>1.10498215882655</c:v>
                </c:pt>
                <c:pt idx="8">
                  <c:v>0.899964644468939</c:v>
                </c:pt>
                <c:pt idx="9">
                  <c:v>0.908244969264456</c:v>
                </c:pt>
                <c:pt idx="10">
                  <c:v>0.974674743969505</c:v>
                </c:pt>
                <c:pt idx="11">
                  <c:v>0.956120517795122</c:v>
                </c:pt>
                <c:pt idx="12">
                  <c:v>0.941615836901073</c:v>
                </c:pt>
                <c:pt idx="13">
                  <c:v>0.922078192173652</c:v>
                </c:pt>
                <c:pt idx="14">
                  <c:v>0.924734313582763</c:v>
                </c:pt>
                <c:pt idx="15">
                  <c:v>0.995492912552996</c:v>
                </c:pt>
                <c:pt idx="16">
                  <c:v>1.01777581028044</c:v>
                </c:pt>
                <c:pt idx="17">
                  <c:v>1.00634616927278</c:v>
                </c:pt>
                <c:pt idx="18">
                  <c:v>1.02627302194717</c:v>
                </c:pt>
                <c:pt idx="19">
                  <c:v>0.982821371378658</c:v>
                </c:pt>
                <c:pt idx="20">
                  <c:v>1.0173509496971</c:v>
                </c:pt>
                <c:pt idx="21">
                  <c:v>1.05590927592467</c:v>
                </c:pt>
                <c:pt idx="22">
                  <c:v>1.09489840484163</c:v>
                </c:pt>
                <c:pt idx="23">
                  <c:v>1.11724369468271</c:v>
                </c:pt>
                <c:pt idx="24">
                  <c:v>1.13266048885707</c:v>
                </c:pt>
                <c:pt idx="25">
                  <c:v>1.1262756958949</c:v>
                </c:pt>
                <c:pt idx="26">
                  <c:v>1.10395714553109</c:v>
                </c:pt>
                <c:pt idx="27">
                  <c:v>1.12293623228881</c:v>
                </c:pt>
                <c:pt idx="28">
                  <c:v>1.152248641486</c:v>
                </c:pt>
                <c:pt idx="29">
                  <c:v>1.24320445895639</c:v>
                </c:pt>
                <c:pt idx="30">
                  <c:v>1.27762410831271</c:v>
                </c:pt>
                <c:pt idx="31">
                  <c:v>1.40771166524551</c:v>
                </c:pt>
                <c:pt idx="32">
                  <c:v>1.51310977149631</c:v>
                </c:pt>
                <c:pt idx="33">
                  <c:v>1.47478318740511</c:v>
                </c:pt>
                <c:pt idx="34">
                  <c:v>1.61757199604256</c:v>
                </c:pt>
                <c:pt idx="35">
                  <c:v>1.62366859686079</c:v>
                </c:pt>
                <c:pt idx="36">
                  <c:v>1.8464292399155</c:v>
                </c:pt>
                <c:pt idx="37">
                  <c:v>1.6507497452322</c:v>
                </c:pt>
                <c:pt idx="38">
                  <c:v>1.51934898286</c:v>
                </c:pt>
                <c:pt idx="39">
                  <c:v>1.50383711498867</c:v>
                </c:pt>
                <c:pt idx="40">
                  <c:v>1.40496641224549</c:v>
                </c:pt>
                <c:pt idx="41">
                  <c:v>1.23311773391843</c:v>
                </c:pt>
                <c:pt idx="42">
                  <c:v>1.28312649852487</c:v>
                </c:pt>
                <c:pt idx="43">
                  <c:v>1.04840439597006</c:v>
                </c:pt>
                <c:pt idx="44">
                  <c:v>1.21687201594861</c:v>
                </c:pt>
                <c:pt idx="45">
                  <c:v>1.25954227957015</c:v>
                </c:pt>
                <c:pt idx="46">
                  <c:v>1.31041264955538</c:v>
                </c:pt>
                <c:pt idx="47">
                  <c:v>1.32309904599487</c:v>
                </c:pt>
                <c:pt idx="48">
                  <c:v>1.2106595440622</c:v>
                </c:pt>
                <c:pt idx="49">
                  <c:v>1.19978251891818</c:v>
                </c:pt>
                <c:pt idx="50">
                  <c:v>1.27079959950205</c:v>
                </c:pt>
                <c:pt idx="51">
                  <c:v>1.33784438218438</c:v>
                </c:pt>
                <c:pt idx="52">
                  <c:v>1.25980967434288</c:v>
                </c:pt>
                <c:pt idx="53">
                  <c:v>1.42422477798806</c:v>
                </c:pt>
                <c:pt idx="54">
                  <c:v>1.3389050481162</c:v>
                </c:pt>
                <c:pt idx="55">
                  <c:v>1.40692433619248</c:v>
                </c:pt>
                <c:pt idx="56">
                  <c:v>1.40021866950303</c:v>
                </c:pt>
                <c:pt idx="57">
                  <c:v>1.48428461499609</c:v>
                </c:pt>
                <c:pt idx="58">
                  <c:v>1.33619544775255</c:v>
                </c:pt>
                <c:pt idx="59">
                  <c:v>1.53101630811008</c:v>
                </c:pt>
                <c:pt idx="60">
                  <c:v>1.56047132785273</c:v>
                </c:pt>
                <c:pt idx="61">
                  <c:v>1.7994420362409</c:v>
                </c:pt>
                <c:pt idx="62">
                  <c:v>1.89915057593863</c:v>
                </c:pt>
                <c:pt idx="63">
                  <c:v>1.87887908111272</c:v>
                </c:pt>
                <c:pt idx="64">
                  <c:v>1.76850743208916</c:v>
                </c:pt>
                <c:pt idx="65">
                  <c:v>1.73684491994498</c:v>
                </c:pt>
                <c:pt idx="66">
                  <c:v>1.78754296885445</c:v>
                </c:pt>
                <c:pt idx="67">
                  <c:v>1.99566523362876</c:v>
                </c:pt>
                <c:pt idx="68">
                  <c:v>2.11027063322053</c:v>
                </c:pt>
                <c:pt idx="69">
                  <c:v>2.08961290150068</c:v>
                </c:pt>
                <c:pt idx="70">
                  <c:v>1.99215939105297</c:v>
                </c:pt>
                <c:pt idx="71">
                  <c:v>2.20887097013795</c:v>
                </c:pt>
                <c:pt idx="72">
                  <c:v>2.37961738779075</c:v>
                </c:pt>
                <c:pt idx="73">
                  <c:v>2.42394847005624</c:v>
                </c:pt>
                <c:pt idx="74">
                  <c:v>2.01965945790166</c:v>
                </c:pt>
                <c:pt idx="75">
                  <c:v>1.83904023102908</c:v>
                </c:pt>
                <c:pt idx="76">
                  <c:v>1.79902311776363</c:v>
                </c:pt>
                <c:pt idx="77">
                  <c:v>1.64402625222458</c:v>
                </c:pt>
                <c:pt idx="78">
                  <c:v>1.60030423583031</c:v>
                </c:pt>
                <c:pt idx="79">
                  <c:v>1.4042711858364</c:v>
                </c:pt>
                <c:pt idx="80">
                  <c:v>1.20048071638031</c:v>
                </c:pt>
                <c:pt idx="81">
                  <c:v>1.20119079805455</c:v>
                </c:pt>
                <c:pt idx="82">
                  <c:v>1.09206996235676</c:v>
                </c:pt>
                <c:pt idx="83">
                  <c:v>1.00393367421215</c:v>
                </c:pt>
                <c:pt idx="84">
                  <c:v>0.996607057439368</c:v>
                </c:pt>
                <c:pt idx="85">
                  <c:v>1.14234909278896</c:v>
                </c:pt>
                <c:pt idx="86">
                  <c:v>1.07553011013694</c:v>
                </c:pt>
                <c:pt idx="87">
                  <c:v>1.02843297750022</c:v>
                </c:pt>
                <c:pt idx="88">
                  <c:v>0.836826796521491</c:v>
                </c:pt>
                <c:pt idx="89">
                  <c:v>0.829179306021433</c:v>
                </c:pt>
                <c:pt idx="90">
                  <c:v>1.06110861872774</c:v>
                </c:pt>
                <c:pt idx="91">
                  <c:v>1.13274962044798</c:v>
                </c:pt>
                <c:pt idx="92">
                  <c:v>1.22254078513047</c:v>
                </c:pt>
                <c:pt idx="93">
                  <c:v>1.09432499160678</c:v>
                </c:pt>
                <c:pt idx="94">
                  <c:v>1.03740258659877</c:v>
                </c:pt>
                <c:pt idx="95">
                  <c:v>1.07014061993993</c:v>
                </c:pt>
                <c:pt idx="96">
                  <c:v>0.928890816772189</c:v>
                </c:pt>
                <c:pt idx="97">
                  <c:v>0.885801634673377</c:v>
                </c:pt>
                <c:pt idx="98">
                  <c:v>0.962330018628503</c:v>
                </c:pt>
                <c:pt idx="99">
                  <c:v>0.869047866635372</c:v>
                </c:pt>
                <c:pt idx="100">
                  <c:v>0.860904210279249</c:v>
                </c:pt>
                <c:pt idx="101">
                  <c:v>0.904338034529578</c:v>
                </c:pt>
                <c:pt idx="102">
                  <c:v>0.917235375734221</c:v>
                </c:pt>
                <c:pt idx="103">
                  <c:v>0.85498290158981</c:v>
                </c:pt>
                <c:pt idx="104">
                  <c:v>0.649564295073103</c:v>
                </c:pt>
                <c:pt idx="105">
                  <c:v>0.72976490057371</c:v>
                </c:pt>
                <c:pt idx="106">
                  <c:v>0.673971495717227</c:v>
                </c:pt>
                <c:pt idx="107">
                  <c:v>0.679191635891509</c:v>
                </c:pt>
                <c:pt idx="108">
                  <c:v>0.654879508944355</c:v>
                </c:pt>
                <c:pt idx="109">
                  <c:v>0.619021869921356</c:v>
                </c:pt>
                <c:pt idx="110">
                  <c:v>0.623445767883511</c:v>
                </c:pt>
                <c:pt idx="111">
                  <c:v>0.64662295257308</c:v>
                </c:pt>
                <c:pt idx="112">
                  <c:v>0.812886051203128</c:v>
                </c:pt>
                <c:pt idx="113">
                  <c:v>0.719639551846361</c:v>
                </c:pt>
                <c:pt idx="114">
                  <c:v>0.716377335619063</c:v>
                </c:pt>
                <c:pt idx="115">
                  <c:v>0.693119932497675</c:v>
                </c:pt>
              </c:numCache>
            </c:numRef>
          </c:val>
          <c:smooth val="1"/>
        </c:ser>
        <c:ser>
          <c:idx val="4"/>
          <c:order val="2"/>
          <c:tx>
            <c:strRef>
              <c:f>'[景林医药存续情况-20241129.xlsx]景林医药健康基金（2015年起）'!$D$1</c:f>
              <c:strCache>
                <c:ptCount val="1"/>
                <c:pt idx="0">
                  <c:v>申万医药生物指数</c:v>
                </c:pt>
              </c:strCache>
            </c:strRef>
          </c:tx>
          <c:spPr>
            <a:ln w="28575" cap="rnd">
              <a:solidFill>
                <a:schemeClr val="bg1">
                  <a:lumMod val="65000"/>
                </a:schemeClr>
              </a:solidFill>
              <a:round/>
            </a:ln>
            <a:effectLst/>
          </c:spPr>
          <c:marker>
            <c:symbol val="none"/>
          </c:marker>
          <c:dLbls>
            <c:delete val="1"/>
          </c:dLbls>
          <c:cat>
            <c:numRef>
              <c:f>'[景林医药存续情况-20241129.xlsx]景林医药健康基金（2015年起）'!$A$2:$A$242</c:f>
              <c:numCache>
                <c:formatCode>yyyy/m/d</c:formatCode>
                <c:ptCount val="241"/>
                <c:pt idx="0" c:formatCode="yyyy/m/d">
                  <c:v>42156</c:v>
                </c:pt>
                <c:pt idx="1" c:formatCode="yyyy/m/d">
                  <c:v>42185</c:v>
                </c:pt>
                <c:pt idx="2" c:formatCode="yyyy/m/d">
                  <c:v>42216</c:v>
                </c:pt>
                <c:pt idx="3" c:formatCode="yyyy/m/d">
                  <c:v>42247</c:v>
                </c:pt>
                <c:pt idx="4" c:formatCode="yyyy/m/d">
                  <c:v>42277</c:v>
                </c:pt>
                <c:pt idx="5" c:formatCode="yyyy/m/d">
                  <c:v>42308</c:v>
                </c:pt>
                <c:pt idx="6" c:formatCode="yyyy/m/d">
                  <c:v>42338</c:v>
                </c:pt>
                <c:pt idx="7" c:formatCode="yyyy/m/d">
                  <c:v>42369</c:v>
                </c:pt>
                <c:pt idx="8" c:formatCode="yyyy/m/d">
                  <c:v>42400</c:v>
                </c:pt>
                <c:pt idx="9" c:formatCode="yyyy/m/d">
                  <c:v>42429</c:v>
                </c:pt>
                <c:pt idx="10" c:formatCode="yyyy/m/d">
                  <c:v>42460</c:v>
                </c:pt>
                <c:pt idx="11" c:formatCode="yyyy/m/d">
                  <c:v>42490</c:v>
                </c:pt>
                <c:pt idx="12" c:formatCode="yyyy/m/d">
                  <c:v>42521</c:v>
                </c:pt>
                <c:pt idx="13" c:formatCode="yyyy/m/d">
                  <c:v>42551</c:v>
                </c:pt>
                <c:pt idx="14" c:formatCode="yyyy/m/d">
                  <c:v>42582</c:v>
                </c:pt>
                <c:pt idx="15" c:formatCode="yyyy/m/d">
                  <c:v>42613</c:v>
                </c:pt>
                <c:pt idx="16" c:formatCode="yyyy/m/d">
                  <c:v>42643</c:v>
                </c:pt>
                <c:pt idx="17" c:formatCode="yyyy/m/d">
                  <c:v>42674</c:v>
                </c:pt>
                <c:pt idx="18" c:formatCode="yyyy/m/d">
                  <c:v>42704</c:v>
                </c:pt>
                <c:pt idx="19" c:formatCode="yyyy/m/d">
                  <c:v>42735</c:v>
                </c:pt>
                <c:pt idx="20" c:formatCode="yyyy/m/d">
                  <c:v>42766</c:v>
                </c:pt>
                <c:pt idx="21" c:formatCode="yyyy/m/d">
                  <c:v>42794</c:v>
                </c:pt>
                <c:pt idx="22" c:formatCode="yyyy/m/d">
                  <c:v>42825</c:v>
                </c:pt>
                <c:pt idx="23" c:formatCode="yyyy/m/d">
                  <c:v>42855</c:v>
                </c:pt>
                <c:pt idx="24" c:formatCode="yyyy/m/d">
                  <c:v>42886</c:v>
                </c:pt>
                <c:pt idx="25" c:formatCode="yyyy/m/d">
                  <c:v>42916</c:v>
                </c:pt>
                <c:pt idx="26" c:formatCode="yyyy/m/d">
                  <c:v>42947</c:v>
                </c:pt>
                <c:pt idx="27" c:formatCode="yyyy/m/d">
                  <c:v>42978</c:v>
                </c:pt>
                <c:pt idx="28" c:formatCode="yyyy/m/d">
                  <c:v>43008</c:v>
                </c:pt>
                <c:pt idx="29" c:formatCode="yyyy/m/d">
                  <c:v>43039</c:v>
                </c:pt>
                <c:pt idx="30" c:formatCode="yyyy/m/d">
                  <c:v>43069</c:v>
                </c:pt>
                <c:pt idx="31" c:formatCode="yyyy/m/d">
                  <c:v>43100</c:v>
                </c:pt>
                <c:pt idx="32" c:formatCode="yyyy/m/d">
                  <c:v>43131</c:v>
                </c:pt>
                <c:pt idx="33" c:formatCode="yyyy/m/d">
                  <c:v>43159</c:v>
                </c:pt>
                <c:pt idx="34" c:formatCode="yyyy/m/d">
                  <c:v>43190</c:v>
                </c:pt>
                <c:pt idx="35" c:formatCode="yyyy/m/d">
                  <c:v>43220</c:v>
                </c:pt>
                <c:pt idx="36" c:formatCode="yyyy/m/d">
                  <c:v>43251</c:v>
                </c:pt>
                <c:pt idx="37" c:formatCode="yyyy/m/d">
                  <c:v>43281</c:v>
                </c:pt>
                <c:pt idx="38" c:formatCode="yyyy/m/d">
                  <c:v>43312</c:v>
                </c:pt>
                <c:pt idx="39" c:formatCode="yyyy/m/d">
                  <c:v>43343</c:v>
                </c:pt>
                <c:pt idx="40" c:formatCode="yyyy/m/d">
                  <c:v>43373</c:v>
                </c:pt>
                <c:pt idx="41" c:formatCode="yyyy/m/d">
                  <c:v>43404</c:v>
                </c:pt>
                <c:pt idx="42" c:formatCode="yyyy/m/d">
                  <c:v>43434</c:v>
                </c:pt>
                <c:pt idx="43" c:formatCode="yyyy/m/d">
                  <c:v>43465</c:v>
                </c:pt>
                <c:pt idx="44" c:formatCode="yyyy/m/d">
                  <c:v>43496</c:v>
                </c:pt>
                <c:pt idx="45" c:formatCode="yyyy/m/d">
                  <c:v>43524</c:v>
                </c:pt>
                <c:pt idx="46" c:formatCode="yyyy/m/d">
                  <c:v>43555</c:v>
                </c:pt>
                <c:pt idx="47" c:formatCode="yyyy/m/d">
                  <c:v>43585</c:v>
                </c:pt>
                <c:pt idx="48" c:formatCode="yyyy/m/d">
                  <c:v>43616</c:v>
                </c:pt>
                <c:pt idx="49" c:formatCode="yyyy/m/d">
                  <c:v>43646</c:v>
                </c:pt>
                <c:pt idx="50" c:formatCode="yyyy/m/d">
                  <c:v>43677</c:v>
                </c:pt>
                <c:pt idx="51" c:formatCode="yyyy/m/d">
                  <c:v>43708</c:v>
                </c:pt>
                <c:pt idx="52" c:formatCode="yyyy/m/d">
                  <c:v>43738</c:v>
                </c:pt>
                <c:pt idx="53" c:formatCode="yyyy/m/d">
                  <c:v>43769</c:v>
                </c:pt>
                <c:pt idx="54" c:formatCode="yyyy/m/d">
                  <c:v>43799</c:v>
                </c:pt>
                <c:pt idx="55" c:formatCode="yyyy/m/d">
                  <c:v>43830</c:v>
                </c:pt>
                <c:pt idx="56" c:formatCode="yyyy/m/d">
                  <c:v>43861</c:v>
                </c:pt>
                <c:pt idx="57" c:formatCode="yyyy/m/d">
                  <c:v>43890</c:v>
                </c:pt>
                <c:pt idx="58" c:formatCode="yyyy/m/d">
                  <c:v>43921</c:v>
                </c:pt>
                <c:pt idx="59" c:formatCode="yyyy/m/d">
                  <c:v>43951</c:v>
                </c:pt>
                <c:pt idx="60" c:formatCode="yyyy/m/d">
                  <c:v>43982</c:v>
                </c:pt>
                <c:pt idx="61" c:formatCode="yyyy/m/d">
                  <c:v>44012</c:v>
                </c:pt>
                <c:pt idx="62" c:formatCode="yyyy/m/d">
                  <c:v>44043</c:v>
                </c:pt>
                <c:pt idx="63" c:formatCode="yyyy/m/d">
                  <c:v>44074</c:v>
                </c:pt>
                <c:pt idx="64" c:formatCode="yyyy/m/d">
                  <c:v>44104</c:v>
                </c:pt>
                <c:pt idx="65" c:formatCode="yyyy/m/d">
                  <c:v>44135</c:v>
                </c:pt>
                <c:pt idx="66" c:formatCode="yyyy/m/d">
                  <c:v>44165</c:v>
                </c:pt>
                <c:pt idx="67" c:formatCode="yyyy/m/d">
                  <c:v>44196</c:v>
                </c:pt>
                <c:pt idx="68" c:formatCode="yyyy/m/d">
                  <c:v>44227</c:v>
                </c:pt>
                <c:pt idx="69" c:formatCode="yyyy/m/d">
                  <c:v>44255</c:v>
                </c:pt>
                <c:pt idx="70" c:formatCode="yyyy/m/d">
                  <c:v>44286</c:v>
                </c:pt>
                <c:pt idx="71" c:formatCode="yyyy/m/d">
                  <c:v>44316</c:v>
                </c:pt>
                <c:pt idx="72" c:formatCode="yyyy/m/d">
                  <c:v>44347</c:v>
                </c:pt>
                <c:pt idx="73" c:formatCode="yyyy/m/d">
                  <c:v>44377</c:v>
                </c:pt>
                <c:pt idx="74" c:formatCode="yyyy/m/d">
                  <c:v>44408</c:v>
                </c:pt>
                <c:pt idx="75" c:formatCode="yyyy/m/d">
                  <c:v>44439</c:v>
                </c:pt>
                <c:pt idx="76" c:formatCode="yyyy/m/d">
                  <c:v>44469</c:v>
                </c:pt>
                <c:pt idx="77" c:formatCode="yyyy/m/d">
                  <c:v>44500</c:v>
                </c:pt>
                <c:pt idx="78" c:formatCode="yyyy/m/d">
                  <c:v>44530</c:v>
                </c:pt>
                <c:pt idx="79" c:formatCode="yyyy/m/d">
                  <c:v>44561</c:v>
                </c:pt>
                <c:pt idx="80" c:formatCode="yyyy/m/d">
                  <c:v>44592</c:v>
                </c:pt>
                <c:pt idx="81" c:formatCode="yyyy/m/d">
                  <c:v>44620</c:v>
                </c:pt>
                <c:pt idx="82" c:formatCode="yyyy/m/d">
                  <c:v>44651</c:v>
                </c:pt>
                <c:pt idx="83" c:formatCode="yyyy/m/d">
                  <c:v>44681</c:v>
                </c:pt>
                <c:pt idx="84" c:formatCode="yyyy/m/d">
                  <c:v>44712</c:v>
                </c:pt>
                <c:pt idx="85" c:formatCode="yyyy/m/d">
                  <c:v>44742</c:v>
                </c:pt>
                <c:pt idx="86" c:formatCode="yyyy/m/d">
                  <c:v>44773</c:v>
                </c:pt>
                <c:pt idx="87" c:formatCode="yyyy/m/d">
                  <c:v>44804</c:v>
                </c:pt>
                <c:pt idx="88" c:formatCode="yyyy/m/d">
                  <c:v>44834</c:v>
                </c:pt>
                <c:pt idx="89" c:formatCode="yyyy/m/d">
                  <c:v>44865</c:v>
                </c:pt>
                <c:pt idx="90" c:formatCode="yyyy/m/d">
                  <c:v>44895</c:v>
                </c:pt>
                <c:pt idx="91" c:formatCode="yyyy/m/d">
                  <c:v>44926</c:v>
                </c:pt>
                <c:pt idx="92" c:formatCode="yyyy/m/d">
                  <c:v>44957</c:v>
                </c:pt>
                <c:pt idx="93" c:formatCode="yyyy/m/d">
                  <c:v>44985</c:v>
                </c:pt>
                <c:pt idx="94" c:formatCode="yyyy/m/d">
                  <c:v>45016</c:v>
                </c:pt>
                <c:pt idx="95" c:formatCode="yyyy/m/d">
                  <c:v>45046</c:v>
                </c:pt>
                <c:pt idx="96" c:formatCode="yyyy/m/d">
                  <c:v>45077</c:v>
                </c:pt>
                <c:pt idx="97" c:formatCode="yyyy/m/d">
                  <c:v>45107</c:v>
                </c:pt>
                <c:pt idx="98" c:formatCode="yyyy/m/d">
                  <c:v>45138</c:v>
                </c:pt>
                <c:pt idx="99" c:formatCode="yyyy/m/d">
                  <c:v>45169</c:v>
                </c:pt>
                <c:pt idx="100" c:formatCode="yyyy/m/d">
                  <c:v>45199</c:v>
                </c:pt>
                <c:pt idx="101" c:formatCode="yyyy/m/d">
                  <c:v>45230</c:v>
                </c:pt>
                <c:pt idx="102" c:formatCode="yyyy/m/d">
                  <c:v>45260</c:v>
                </c:pt>
                <c:pt idx="103" c:formatCode="yyyy/m/d">
                  <c:v>45291</c:v>
                </c:pt>
                <c:pt idx="104" c:formatCode="yyyy/m/d">
                  <c:v>45322</c:v>
                </c:pt>
                <c:pt idx="105" c:formatCode="yyyy/m/d">
                  <c:v>45351</c:v>
                </c:pt>
                <c:pt idx="106" c:formatCode="yyyy/m/d">
                  <c:v>45382</c:v>
                </c:pt>
                <c:pt idx="107" c:formatCode="yyyy/m/d">
                  <c:v>45412</c:v>
                </c:pt>
                <c:pt idx="108" c:formatCode="yyyy/m/d">
                  <c:v>45443</c:v>
                </c:pt>
                <c:pt idx="109" c:formatCode="yyyy/m/d">
                  <c:v>45473</c:v>
                </c:pt>
                <c:pt idx="110" c:formatCode="yyyy/m/d">
                  <c:v>45504</c:v>
                </c:pt>
                <c:pt idx="111" c:formatCode="yyyy/m/d">
                  <c:v>45534</c:v>
                </c:pt>
                <c:pt idx="112" c:formatCode="yyyy/m/d">
                  <c:v>45565</c:v>
                </c:pt>
                <c:pt idx="113" c:formatCode="yyyy/m/d">
                  <c:v>45596</c:v>
                </c:pt>
                <c:pt idx="114" c:formatCode="yyyy/m/d">
                  <c:v>45625</c:v>
                </c:pt>
                <c:pt idx="115" c:formatCode="yyyy/m/d">
                  <c:v>45657</c:v>
                </c:pt>
              </c:numCache>
            </c:numRef>
          </c:cat>
          <c:val>
            <c:numRef>
              <c:f>'[景林医药存续情况-20241129.xlsx]景林医药健康基金（2015年起）'!$D$2:$D$2513</c:f>
              <c:numCache>
                <c:formatCode>0.0000</c:formatCode>
                <c:ptCount val="2512"/>
                <c:pt idx="0">
                  <c:v>1</c:v>
                </c:pt>
                <c:pt idx="1">
                  <c:v>0.835298096518233</c:v>
                </c:pt>
                <c:pt idx="2">
                  <c:v>0.736085504921303</c:v>
                </c:pt>
                <c:pt idx="3">
                  <c:v>0.642594632094697</c:v>
                </c:pt>
                <c:pt idx="4">
                  <c:v>0.623617048952868</c:v>
                </c:pt>
                <c:pt idx="5">
                  <c:v>0.715245197936088</c:v>
                </c:pt>
                <c:pt idx="6">
                  <c:v>0.734873173481334</c:v>
                </c:pt>
                <c:pt idx="7">
                  <c:v>0.781405714781251</c:v>
                </c:pt>
                <c:pt idx="8">
                  <c:v>0.580346875948489</c:v>
                </c:pt>
                <c:pt idx="9">
                  <c:v>0.56344100940901</c:v>
                </c:pt>
                <c:pt idx="10">
                  <c:v>0.636092442440272</c:v>
                </c:pt>
                <c:pt idx="11">
                  <c:v>0.625152842214803</c:v>
                </c:pt>
                <c:pt idx="12">
                  <c:v>0.622310193816936</c:v>
                </c:pt>
                <c:pt idx="13">
                  <c:v>0.648037115726488</c:v>
                </c:pt>
                <c:pt idx="14">
                  <c:v>0.678011533625287</c:v>
                </c:pt>
                <c:pt idx="15">
                  <c:v>0.701672809261588</c:v>
                </c:pt>
                <c:pt idx="16">
                  <c:v>0.691950743615315</c:v>
                </c:pt>
                <c:pt idx="17">
                  <c:v>0.704371504140832</c:v>
                </c:pt>
                <c:pt idx="18">
                  <c:v>0.717094046741534</c:v>
                </c:pt>
                <c:pt idx="19">
                  <c:v>0.676205177123531</c:v>
                </c:pt>
                <c:pt idx="20">
                  <c:v>0.663329141915622</c:v>
                </c:pt>
                <c:pt idx="21">
                  <c:v>0.679684342886875</c:v>
                </c:pt>
                <c:pt idx="22">
                  <c:v>0.681005940250618</c:v>
                </c:pt>
                <c:pt idx="23">
                  <c:v>0.666841260894073</c:v>
                </c:pt>
                <c:pt idx="24">
                  <c:v>0.648671898712223</c:v>
                </c:pt>
                <c:pt idx="25">
                  <c:v>0.676856436716819</c:v>
                </c:pt>
                <c:pt idx="26">
                  <c:v>0.644693231583055</c:v>
                </c:pt>
                <c:pt idx="27">
                  <c:v>0.661748254780384</c:v>
                </c:pt>
                <c:pt idx="28">
                  <c:v>0.67628929454104</c:v>
                </c:pt>
                <c:pt idx="29">
                  <c:v>0.711492867363309</c:v>
                </c:pt>
                <c:pt idx="30">
                  <c:v>0.68148289467979</c:v>
                </c:pt>
                <c:pt idx="31">
                  <c:v>0.700308719594155</c:v>
                </c:pt>
                <c:pt idx="32">
                  <c:v>0.69115986645276</c:v>
                </c:pt>
                <c:pt idx="33">
                  <c:v>0.668254780384165</c:v>
                </c:pt>
                <c:pt idx="34">
                  <c:v>0.742040497766986</c:v>
                </c:pt>
                <c:pt idx="35">
                  <c:v>0.74285912500542</c:v>
                </c:pt>
                <c:pt idx="36">
                  <c:v>0.79192646229892</c:v>
                </c:pt>
                <c:pt idx="37">
                  <c:v>0.722088193209903</c:v>
                </c:pt>
                <c:pt idx="38">
                  <c:v>0.678014135194901</c:v>
                </c:pt>
                <c:pt idx="39">
                  <c:v>0.623289251181546</c:v>
                </c:pt>
                <c:pt idx="40">
                  <c:v>0.617610024714911</c:v>
                </c:pt>
                <c:pt idx="41">
                  <c:v>0.539904609114165</c:v>
                </c:pt>
                <c:pt idx="42">
                  <c:v>0.568535749902441</c:v>
                </c:pt>
                <c:pt idx="43">
                  <c:v>0.506518666261978</c:v>
                </c:pt>
                <c:pt idx="44">
                  <c:v>0.493659974851494</c:v>
                </c:pt>
                <c:pt idx="45">
                  <c:v>0.599786671291679</c:v>
                </c:pt>
                <c:pt idx="46">
                  <c:v>0.665922039630577</c:v>
                </c:pt>
                <c:pt idx="47">
                  <c:v>0.653220309586784</c:v>
                </c:pt>
                <c:pt idx="48">
                  <c:v>0.603645666218618</c:v>
                </c:pt>
                <c:pt idx="49">
                  <c:v>0.614788188873954</c:v>
                </c:pt>
                <c:pt idx="50">
                  <c:v>0.613917530243247</c:v>
                </c:pt>
                <c:pt idx="51">
                  <c:v>0.654715344924771</c:v>
                </c:pt>
                <c:pt idx="52">
                  <c:v>0.653890647357239</c:v>
                </c:pt>
                <c:pt idx="53">
                  <c:v>0.684402722976196</c:v>
                </c:pt>
                <c:pt idx="54">
                  <c:v>0.666290595325847</c:v>
                </c:pt>
                <c:pt idx="55">
                  <c:v>0.693157871916056</c:v>
                </c:pt>
                <c:pt idx="56">
                  <c:v>0.72554828079608</c:v>
                </c:pt>
                <c:pt idx="57">
                  <c:v>0.742531327234098</c:v>
                </c:pt>
                <c:pt idx="58">
                  <c:v>0.751323765338421</c:v>
                </c:pt>
                <c:pt idx="59">
                  <c:v>0.792143259766726</c:v>
                </c:pt>
                <c:pt idx="60">
                  <c:v>0.831942938906474</c:v>
                </c:pt>
                <c:pt idx="61">
                  <c:v>0.972368729133244</c:v>
                </c:pt>
                <c:pt idx="62">
                  <c:v>1.12425356631835</c:v>
                </c:pt>
                <c:pt idx="63">
                  <c:v>1.09313272340979</c:v>
                </c:pt>
                <c:pt idx="64">
                  <c:v>1.00083597103586</c:v>
                </c:pt>
                <c:pt idx="65">
                  <c:v>1.02423101938169</c:v>
                </c:pt>
                <c:pt idx="66">
                  <c:v>0.956318778996661</c:v>
                </c:pt>
                <c:pt idx="67">
                  <c:v>1.04734249663964</c:v>
                </c:pt>
                <c:pt idx="68">
                  <c:v>1.05293153535967</c:v>
                </c:pt>
                <c:pt idx="69">
                  <c:v>1.03601526254173</c:v>
                </c:pt>
                <c:pt idx="70">
                  <c:v>1.00480509907644</c:v>
                </c:pt>
                <c:pt idx="71">
                  <c:v>1.11507956467068</c:v>
                </c:pt>
                <c:pt idx="72">
                  <c:v>1.14804145167584</c:v>
                </c:pt>
                <c:pt idx="73">
                  <c:v>1.14502449811386</c:v>
                </c:pt>
                <c:pt idx="74">
                  <c:v>1.03064128690977</c:v>
                </c:pt>
                <c:pt idx="75">
                  <c:v>0.941741317261414</c:v>
                </c:pt>
                <c:pt idx="76">
                  <c:v>0.988422148029311</c:v>
                </c:pt>
                <c:pt idx="77">
                  <c:v>0.947947795169752</c:v>
                </c:pt>
                <c:pt idx="78">
                  <c:v>0.982687421410918</c:v>
                </c:pt>
                <c:pt idx="79">
                  <c:v>0.987334691930798</c:v>
                </c:pt>
                <c:pt idx="80">
                  <c:v>0.839836101114339</c:v>
                </c:pt>
                <c:pt idx="81">
                  <c:v>0.873222911156398</c:v>
                </c:pt>
                <c:pt idx="82">
                  <c:v>0.880824697567532</c:v>
                </c:pt>
                <c:pt idx="83">
                  <c:v>0.757747040714564</c:v>
                </c:pt>
                <c:pt idx="84">
                  <c:v>0.766451025452023</c:v>
                </c:pt>
                <c:pt idx="85">
                  <c:v>0.846703377704548</c:v>
                </c:pt>
                <c:pt idx="86">
                  <c:v>0.783166977409704</c:v>
                </c:pt>
                <c:pt idx="87">
                  <c:v>0.763505181459481</c:v>
                </c:pt>
                <c:pt idx="88">
                  <c:v>0.711396609287604</c:v>
                </c:pt>
                <c:pt idx="89">
                  <c:v>0.751927329488792</c:v>
                </c:pt>
                <c:pt idx="90">
                  <c:v>0.807313012184018</c:v>
                </c:pt>
                <c:pt idx="91">
                  <c:v>0.786536010059403</c:v>
                </c:pt>
                <c:pt idx="92">
                  <c:v>0.829572041798552</c:v>
                </c:pt>
                <c:pt idx="93">
                  <c:v>0.830540692884707</c:v>
                </c:pt>
                <c:pt idx="94">
                  <c:v>0.801188917313446</c:v>
                </c:pt>
                <c:pt idx="95">
                  <c:v>0.797659454537571</c:v>
                </c:pt>
                <c:pt idx="96">
                  <c:v>0.77773663443611</c:v>
                </c:pt>
                <c:pt idx="97">
                  <c:v>0.742769804448684</c:v>
                </c:pt>
                <c:pt idx="98">
                  <c:v>0.736015262541734</c:v>
                </c:pt>
                <c:pt idx="99">
                  <c:v>0.701004205870875</c:v>
                </c:pt>
                <c:pt idx="100">
                  <c:v>0.731126046047782</c:v>
                </c:pt>
                <c:pt idx="101">
                  <c:v>0.744829380392837</c:v>
                </c:pt>
                <c:pt idx="102">
                  <c:v>0.766383384642067</c:v>
                </c:pt>
                <c:pt idx="103">
                  <c:v>0.731100030351646</c:v>
                </c:pt>
                <c:pt idx="104">
                  <c:v>0.595168018037549</c:v>
                </c:pt>
                <c:pt idx="105">
                  <c:v>0.657669860816026</c:v>
                </c:pt>
                <c:pt idx="106">
                  <c:v>0.642769804448684</c:v>
                </c:pt>
                <c:pt idx="107">
                  <c:v>0.659595022330139</c:v>
                </c:pt>
                <c:pt idx="108">
                  <c:v>0.631681914755236</c:v>
                </c:pt>
                <c:pt idx="109">
                  <c:v>0.576918007197676</c:v>
                </c:pt>
                <c:pt idx="110">
                  <c:v>0.578204049776699</c:v>
                </c:pt>
                <c:pt idx="111">
                  <c:v>0.559235138533582</c:v>
                </c:pt>
                <c:pt idx="112">
                  <c:v>0.678592550839006</c:v>
                </c:pt>
                <c:pt idx="113">
                  <c:v>0.649271126913238</c:v>
                </c:pt>
                <c:pt idx="114">
                  <c:v>0.663214672852621</c:v>
                </c:pt>
                <c:pt idx="115">
                  <c:v>0.626311407882756</c:v>
                </c:pt>
              </c:numCache>
            </c:numRef>
          </c:val>
          <c:smooth val="1"/>
        </c:ser>
        <c:dLbls>
          <c:showLegendKey val="0"/>
          <c:showVal val="0"/>
          <c:showCatName val="0"/>
          <c:showSerName val="0"/>
          <c:showPercent val="0"/>
          <c:showBubbleSize val="0"/>
        </c:dLbls>
        <c:marker val="0"/>
        <c:smooth val="1"/>
        <c:axId val="1851657151"/>
        <c:axId val="1851657567"/>
      </c:lineChart>
      <c:dateAx>
        <c:axId val="1851657151"/>
        <c:scaling>
          <c:orientation val="minMax"/>
        </c:scaling>
        <c:delete val="0"/>
        <c:axPos val="b"/>
        <c:numFmt formatCode="yyyy/m;@"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等线" panose="02010600030101010101" charset="-122"/>
                <a:ea typeface="等线" panose="02010600030101010101" charset="-122"/>
                <a:cs typeface="+mn-cs"/>
              </a:defRPr>
            </a:pPr>
          </a:p>
        </c:txPr>
        <c:crossAx val="1851657567"/>
        <c:crosses val="autoZero"/>
        <c:auto val="1"/>
        <c:lblOffset val="100"/>
        <c:baseTimeUnit val="days"/>
        <c:majorUnit val="19"/>
        <c:majorTimeUnit val="months"/>
      </c:dateAx>
      <c:valAx>
        <c:axId val="1851657567"/>
        <c:scaling>
          <c:orientation val="minMax"/>
          <c:max val="3.3"/>
          <c:min val="0.4"/>
        </c:scaling>
        <c:delete val="0"/>
        <c:axPos val="l"/>
        <c:majorGridlines>
          <c:spPr>
            <a:ln w="9525" cap="flat" cmpd="sng" algn="ctr">
              <a:solidFill>
                <a:schemeClr val="tx1">
                  <a:lumMod val="15000"/>
                  <a:lumOff val="85000"/>
                </a:schemeClr>
              </a:solidFill>
              <a:round/>
            </a:ln>
            <a:effectLst/>
          </c:spPr>
        </c:majorGridlines>
        <c:numFmt formatCode="0.0000"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等线" panose="02010600030101010101" charset="-122"/>
                <a:ea typeface="等线" panose="02010600030101010101" charset="-122"/>
                <a:cs typeface="+mn-cs"/>
              </a:defRPr>
            </a:pPr>
          </a:p>
        </c:txPr>
        <c:crossAx val="1851657151"/>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等线" panose="02010600030101010101" charset="-122"/>
                <a:ea typeface="等线" panose="02010600030101010101" charset="-122"/>
                <a:cs typeface="+mn-cs"/>
              </a:defRPr>
            </a:pPr>
          </a:p>
        </c:txPr>
      </c:legendEntry>
      <c:legendEntry>
        <c:idx val="1"/>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等线" panose="02010600030101010101" charset="-122"/>
                <a:ea typeface="等线" panose="02010600030101010101" charset="-122"/>
                <a:cs typeface="+mn-cs"/>
              </a:defRPr>
            </a:pPr>
          </a:p>
        </c:txPr>
      </c:legendEntry>
      <c:legendEntry>
        <c:idx val="2"/>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等线" panose="02010600030101010101" charset="-122"/>
                <a:ea typeface="等线" panose="02010600030101010101" charset="-122"/>
                <a:cs typeface="+mn-cs"/>
              </a:defRPr>
            </a:pPr>
          </a:p>
        </c:txPr>
      </c:legendEntry>
      <c:layout/>
      <c:overlay val="0"/>
      <c:spPr>
        <a:noFill/>
        <a:ln>
          <a:noFill/>
        </a:ln>
        <a:effectLst/>
      </c:spPr>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等线" panose="02010600030101010101" charset="-122"/>
              <a:ea typeface="等线" panose="02010600030101010101" charset="-122"/>
              <a:cs typeface="+mn-cs"/>
            </a:defRPr>
          </a:pPr>
        </a:p>
      </c:txPr>
    </c:legend>
    <c:plotVisOnly val="1"/>
    <c:dispBlanksAs val="gap"/>
    <c:showDLblsOverMax val="0"/>
    <c:extLst>
      <c:ext uri="{0b15fc19-7d7d-44ad-8c2d-2c3a37ce22c3}">
        <chartProps xmlns="https://web.wps.cn/et/2018/main" chartId="{4bc8ccbb-5bd9-4183-b59f-fd777d4d847d}"/>
      </c:ext>
    </c:extLst>
  </c:chart>
  <c:spPr>
    <a:noFill/>
    <a:ln>
      <a:noFill/>
    </a:ln>
    <a:effectLst/>
  </c:spPr>
  <c:txPr>
    <a:bodyPr/>
    <a:lstStyle/>
    <a:p>
      <a:pPr>
        <a:defRPr lang="zh-CN">
          <a:latin typeface="等线" panose="02010600030101010101" charset="-122"/>
          <a:ea typeface="等线" panose="02010600030101010101" charset="-122"/>
        </a:defRPr>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'[1、景林金色中国存续-working paper 20241129.xlsx]景林金色中国+价值仓位变化（时间序列）'!$A$16</c:f>
              <c:strCache>
                <c:ptCount val="1"/>
                <c:pt idx="0">
                  <c:v>港股空头</c:v>
                </c:pt>
              </c:strCache>
            </c:strRef>
          </c:tx>
          <c:spPr>
            <a:solidFill>
              <a:schemeClr val="accent1"/>
            </a:solidFill>
            <a:ln>
              <a:noFill/>
            </a:ln>
            <a:effectLst/>
          </c:spPr>
          <c:dLbls>
            <c:delete val="1"/>
          </c:dLbls>
          <c:cat>
            <c:numRef>
              <c:f>'[1、景林金色中国存续-working paper 20241129.xlsx]景林金色中国+价值仓位变化（时间序列）'!$B$9:$T$9</c:f>
              <c:numCache>
                <c:formatCode>yyyy"年"m"月"</c:formatCode>
                <c:ptCount val="19"/>
                <c:pt idx="0" c:formatCode="yyyy&quot;年&quot;m&quot;月&quot;">
                  <c:v>44256</c:v>
                </c:pt>
                <c:pt idx="1" c:formatCode="yyyy&quot;年&quot;m&quot;月&quot;">
                  <c:v>44348</c:v>
                </c:pt>
                <c:pt idx="2" c:formatCode="yyyy&quot;年&quot;m&quot;月&quot;">
                  <c:v>44440</c:v>
                </c:pt>
                <c:pt idx="3" c:formatCode="yyyy&quot;年&quot;m&quot;月&quot;">
                  <c:v>44531</c:v>
                </c:pt>
                <c:pt idx="4" c:formatCode="yyyy&quot;年&quot;m&quot;月&quot;">
                  <c:v>44621</c:v>
                </c:pt>
                <c:pt idx="5" c:formatCode="yyyy&quot;年&quot;m&quot;月&quot;">
                  <c:v>44713</c:v>
                </c:pt>
                <c:pt idx="6" c:formatCode="yyyy&quot;年&quot;m&quot;月&quot;">
                  <c:v>44805</c:v>
                </c:pt>
                <c:pt idx="7" c:formatCode="yyyy&quot;年&quot;m&quot;月&quot;">
                  <c:v>44896</c:v>
                </c:pt>
                <c:pt idx="8" c:formatCode="yyyy&quot;年&quot;m&quot;月&quot;">
                  <c:v>44986</c:v>
                </c:pt>
                <c:pt idx="9" c:formatCode="yyyy&quot;年&quot;m&quot;月&quot;">
                  <c:v>45078</c:v>
                </c:pt>
                <c:pt idx="10" c:formatCode="yyyy&quot;年&quot;m&quot;月&quot;">
                  <c:v>45170</c:v>
                </c:pt>
                <c:pt idx="11" c:formatCode="yyyy&quot;年&quot;m&quot;月&quot;">
                  <c:v>45261</c:v>
                </c:pt>
                <c:pt idx="12" c:formatCode="yyyy&quot;年&quot;m&quot;月&quot;">
                  <c:v>45352</c:v>
                </c:pt>
                <c:pt idx="13" c:formatCode="yyyy&quot;年&quot;m&quot;月&quot;">
                  <c:v>45383</c:v>
                </c:pt>
                <c:pt idx="14" c:formatCode="yyyy&quot;年&quot;m&quot;月&quot;">
                  <c:v>45413</c:v>
                </c:pt>
                <c:pt idx="15" c:formatCode="yyyy&quot;年&quot;m&quot;月&quot;">
                  <c:v>45444</c:v>
                </c:pt>
                <c:pt idx="16" c:formatCode="yyyy&quot;年&quot;m&quot;月&quot;">
                  <c:v>45474</c:v>
                </c:pt>
                <c:pt idx="17" c:formatCode="yyyy&quot;年&quot;m&quot;月&quot;">
                  <c:v>45505</c:v>
                </c:pt>
                <c:pt idx="18" c:formatCode="yyyy&quot;年&quot;m&quot;月&quot;">
                  <c:v>45536</c:v>
                </c:pt>
              </c:numCache>
            </c:numRef>
          </c:cat>
          <c:val>
            <c:numRef>
              <c:f>'[1、景林金色中国存续-working paper 20241129.xlsx]景林金色中国+价值仓位变化（时间序列）'!$B$16:$W$16</c:f>
              <c:numCache>
                <c:formatCode>0%</c:formatCode>
                <c:ptCount val="22"/>
                <c:pt idx="0">
                  <c:v>-0.03</c:v>
                </c:pt>
                <c:pt idx="1">
                  <c:v>-0.05</c:v>
                </c:pt>
                <c:pt idx="2">
                  <c:v>-0.05</c:v>
                </c:pt>
                <c:pt idx="3">
                  <c:v>-0.06</c:v>
                </c:pt>
                <c:pt idx="4">
                  <c:v>-0.09</c:v>
                </c:pt>
                <c:pt idx="5">
                  <c:v>-0.08</c:v>
                </c:pt>
                <c:pt idx="6">
                  <c:v>-0.14</c:v>
                </c:pt>
                <c:pt idx="7">
                  <c:v>-0.24</c:v>
                </c:pt>
                <c:pt idx="8">
                  <c:v>-0.15</c:v>
                </c:pt>
                <c:pt idx="9">
                  <c:v>-0.13</c:v>
                </c:pt>
                <c:pt idx="10">
                  <c:v>-0.09</c:v>
                </c:pt>
                <c:pt idx="11">
                  <c:v>-0.07</c:v>
                </c:pt>
                <c:pt idx="12">
                  <c:v>-0.01</c:v>
                </c:pt>
                <c:pt idx="13">
                  <c:v>-0.04</c:v>
                </c:pt>
                <c:pt idx="14">
                  <c:v>-0.04</c:v>
                </c:pt>
                <c:pt idx="15">
                  <c:v>-0.02</c:v>
                </c:pt>
                <c:pt idx="16">
                  <c:v>-0.02</c:v>
                </c:pt>
                <c:pt idx="17">
                  <c:v>-0.02</c:v>
                </c:pt>
                <c:pt idx="18">
                  <c:v>-0.02</c:v>
                </c:pt>
                <c:pt idx="19">
                  <c:v>-0.02</c:v>
                </c:pt>
              </c:numCache>
            </c:numRef>
          </c:val>
        </c:ser>
        <c:ser>
          <c:idx val="1"/>
          <c:order val="1"/>
          <c:tx>
            <c:strRef>
              <c:f>'[1、景林金色中国存续-working paper 20241129.xlsx]景林金色中国+价值仓位变化（时间序列）'!$A$17</c:f>
              <c:strCache>
                <c:ptCount val="1"/>
                <c:pt idx="0">
                  <c:v>美国预托证券空头</c:v>
                </c:pt>
              </c:strCache>
            </c:strRef>
          </c:tx>
          <c:spPr>
            <a:solidFill>
              <a:srgbClr val="F2BA02"/>
            </a:solidFill>
            <a:ln>
              <a:noFill/>
            </a:ln>
            <a:effectLst/>
          </c:spPr>
          <c:dLbls>
            <c:delete val="1"/>
          </c:dLbls>
          <c:cat>
            <c:numRef>
              <c:f>'[1、景林金色中国存续-working paper 20241129.xlsx]景林金色中国+价值仓位变化（时间序列）'!$B$9:$T$9</c:f>
              <c:numCache>
                <c:formatCode>yyyy"年"m"月"</c:formatCode>
                <c:ptCount val="19"/>
                <c:pt idx="0" c:formatCode="yyyy&quot;年&quot;m&quot;月&quot;">
                  <c:v>44256</c:v>
                </c:pt>
                <c:pt idx="1" c:formatCode="yyyy&quot;年&quot;m&quot;月&quot;">
                  <c:v>44348</c:v>
                </c:pt>
                <c:pt idx="2" c:formatCode="yyyy&quot;年&quot;m&quot;月&quot;">
                  <c:v>44440</c:v>
                </c:pt>
                <c:pt idx="3" c:formatCode="yyyy&quot;年&quot;m&quot;月&quot;">
                  <c:v>44531</c:v>
                </c:pt>
                <c:pt idx="4" c:formatCode="yyyy&quot;年&quot;m&quot;月&quot;">
                  <c:v>44621</c:v>
                </c:pt>
                <c:pt idx="5" c:formatCode="yyyy&quot;年&quot;m&quot;月&quot;">
                  <c:v>44713</c:v>
                </c:pt>
                <c:pt idx="6" c:formatCode="yyyy&quot;年&quot;m&quot;月&quot;">
                  <c:v>44805</c:v>
                </c:pt>
                <c:pt idx="7" c:formatCode="yyyy&quot;年&quot;m&quot;月&quot;">
                  <c:v>44896</c:v>
                </c:pt>
                <c:pt idx="8" c:formatCode="yyyy&quot;年&quot;m&quot;月&quot;">
                  <c:v>44986</c:v>
                </c:pt>
                <c:pt idx="9" c:formatCode="yyyy&quot;年&quot;m&quot;月&quot;">
                  <c:v>45078</c:v>
                </c:pt>
                <c:pt idx="10" c:formatCode="yyyy&quot;年&quot;m&quot;月&quot;">
                  <c:v>45170</c:v>
                </c:pt>
                <c:pt idx="11" c:formatCode="yyyy&quot;年&quot;m&quot;月&quot;">
                  <c:v>45261</c:v>
                </c:pt>
                <c:pt idx="12" c:formatCode="yyyy&quot;年&quot;m&quot;月&quot;">
                  <c:v>45352</c:v>
                </c:pt>
                <c:pt idx="13" c:formatCode="yyyy&quot;年&quot;m&quot;月&quot;">
                  <c:v>45383</c:v>
                </c:pt>
                <c:pt idx="14" c:formatCode="yyyy&quot;年&quot;m&quot;月&quot;">
                  <c:v>45413</c:v>
                </c:pt>
                <c:pt idx="15" c:formatCode="yyyy&quot;年&quot;m&quot;月&quot;">
                  <c:v>45444</c:v>
                </c:pt>
                <c:pt idx="16" c:formatCode="yyyy&quot;年&quot;m&quot;月&quot;">
                  <c:v>45474</c:v>
                </c:pt>
                <c:pt idx="17" c:formatCode="yyyy&quot;年&quot;m&quot;月&quot;">
                  <c:v>45505</c:v>
                </c:pt>
                <c:pt idx="18" c:formatCode="yyyy&quot;年&quot;m&quot;月&quot;">
                  <c:v>45536</c:v>
                </c:pt>
              </c:numCache>
            </c:numRef>
          </c:cat>
          <c:val>
            <c:numRef>
              <c:f>'[1、景林金色中国存续-working paper 20241129.xlsx]景林金色中国+价值仓位变化（时间序列）'!$B$17:$W$17</c:f>
              <c:numCache>
                <c:formatCode>0%</c:formatCode>
                <c:ptCount val="22"/>
                <c:pt idx="0">
                  <c:v>-0.05</c:v>
                </c:pt>
                <c:pt idx="1">
                  <c:v>-0.05</c:v>
                </c:pt>
                <c:pt idx="2">
                  <c:v>-0.05</c:v>
                </c:pt>
                <c:pt idx="3">
                  <c:v>-0.05</c:v>
                </c:pt>
                <c:pt idx="4">
                  <c:v>-0.04</c:v>
                </c:pt>
                <c:pt idx="5">
                  <c:v>-0.06</c:v>
                </c:pt>
                <c:pt idx="6">
                  <c:v>-0.05</c:v>
                </c:pt>
                <c:pt idx="7">
                  <c:v>-0.04</c:v>
                </c:pt>
                <c:pt idx="8">
                  <c:v>-0.05</c:v>
                </c:pt>
                <c:pt idx="9">
                  <c:v>-0.04</c:v>
                </c:pt>
                <c:pt idx="10">
                  <c:v>-0.02</c:v>
                </c:pt>
                <c:pt idx="11">
                  <c:v>-0.02</c:v>
                </c:pt>
                <c:pt idx="12">
                  <c:v>0</c:v>
                </c:pt>
                <c:pt idx="14">
                  <c:v>-0.01</c:v>
                </c:pt>
                <c:pt idx="15">
                  <c:v>-0.01</c:v>
                </c:pt>
                <c:pt idx="16">
                  <c:v>-0.01</c:v>
                </c:pt>
                <c:pt idx="17">
                  <c:v>-0.01</c:v>
                </c:pt>
                <c:pt idx="18">
                  <c:v>-0.04</c:v>
                </c:pt>
                <c:pt idx="19">
                  <c:v>-0.04</c:v>
                </c:pt>
                <c:pt idx="20">
                  <c:v>-0.03</c:v>
                </c:pt>
                <c:pt idx="21">
                  <c:v>-0.01</c:v>
                </c:pt>
              </c:numCache>
            </c:numRef>
          </c:val>
        </c:ser>
        <c:ser>
          <c:idx val="3"/>
          <c:order val="2"/>
          <c:tx>
            <c:strRef>
              <c:f>'[1、景林金色中国存续-working paper 20241129.xlsx]景林金色中国+价值仓位变化（时间序列）'!$A$19</c:f>
              <c:strCache>
                <c:ptCount val="1"/>
                <c:pt idx="0">
                  <c:v>其他空头</c:v>
                </c:pt>
              </c:strCache>
            </c:strRef>
          </c:tx>
          <c:spPr>
            <a:solidFill>
              <a:srgbClr val="002060"/>
            </a:solidFill>
            <a:ln>
              <a:noFill/>
            </a:ln>
            <a:effectLst/>
          </c:spPr>
          <c:dLbls>
            <c:delete val="1"/>
          </c:dLbls>
          <c:cat>
            <c:numRef>
              <c:f>'[1、景林金色中国存续-working paper 20241129.xlsx]景林金色中国+价值仓位变化（时间序列）'!$B$9:$T$9</c:f>
              <c:numCache>
                <c:formatCode>yyyy"年"m"月"</c:formatCode>
                <c:ptCount val="19"/>
                <c:pt idx="0" c:formatCode="yyyy&quot;年&quot;m&quot;月&quot;">
                  <c:v>44256</c:v>
                </c:pt>
                <c:pt idx="1" c:formatCode="yyyy&quot;年&quot;m&quot;月&quot;">
                  <c:v>44348</c:v>
                </c:pt>
                <c:pt idx="2" c:formatCode="yyyy&quot;年&quot;m&quot;月&quot;">
                  <c:v>44440</c:v>
                </c:pt>
                <c:pt idx="3" c:formatCode="yyyy&quot;年&quot;m&quot;月&quot;">
                  <c:v>44531</c:v>
                </c:pt>
                <c:pt idx="4" c:formatCode="yyyy&quot;年&quot;m&quot;月&quot;">
                  <c:v>44621</c:v>
                </c:pt>
                <c:pt idx="5" c:formatCode="yyyy&quot;年&quot;m&quot;月&quot;">
                  <c:v>44713</c:v>
                </c:pt>
                <c:pt idx="6" c:formatCode="yyyy&quot;年&quot;m&quot;月&quot;">
                  <c:v>44805</c:v>
                </c:pt>
                <c:pt idx="7" c:formatCode="yyyy&quot;年&quot;m&quot;月&quot;">
                  <c:v>44896</c:v>
                </c:pt>
                <c:pt idx="8" c:formatCode="yyyy&quot;年&quot;m&quot;月&quot;">
                  <c:v>44986</c:v>
                </c:pt>
                <c:pt idx="9" c:formatCode="yyyy&quot;年&quot;m&quot;月&quot;">
                  <c:v>45078</c:v>
                </c:pt>
                <c:pt idx="10" c:formatCode="yyyy&quot;年&quot;m&quot;月&quot;">
                  <c:v>45170</c:v>
                </c:pt>
                <c:pt idx="11" c:formatCode="yyyy&quot;年&quot;m&quot;月&quot;">
                  <c:v>45261</c:v>
                </c:pt>
                <c:pt idx="12" c:formatCode="yyyy&quot;年&quot;m&quot;月&quot;">
                  <c:v>45352</c:v>
                </c:pt>
                <c:pt idx="13" c:formatCode="yyyy&quot;年&quot;m&quot;月&quot;">
                  <c:v>45383</c:v>
                </c:pt>
                <c:pt idx="14" c:formatCode="yyyy&quot;年&quot;m&quot;月&quot;">
                  <c:v>45413</c:v>
                </c:pt>
                <c:pt idx="15" c:formatCode="yyyy&quot;年&quot;m&quot;月&quot;">
                  <c:v>45444</c:v>
                </c:pt>
                <c:pt idx="16" c:formatCode="yyyy&quot;年&quot;m&quot;月&quot;">
                  <c:v>45474</c:v>
                </c:pt>
                <c:pt idx="17" c:formatCode="yyyy&quot;年&quot;m&quot;月&quot;">
                  <c:v>45505</c:v>
                </c:pt>
                <c:pt idx="18" c:formatCode="yyyy&quot;年&quot;m&quot;月&quot;">
                  <c:v>45536</c:v>
                </c:pt>
              </c:numCache>
            </c:numRef>
          </c:cat>
          <c:val>
            <c:numRef>
              <c:f>'[1、景林金色中国存续-working paper 20241129.xlsx]景林金色中国+价值仓位变化（时间序列）'!$B$19:$W$19</c:f>
              <c:numCache>
                <c:formatCode>0%</c:formatCode>
                <c:ptCount val="22"/>
                <c:pt idx="0">
                  <c:v>-0.03</c:v>
                </c:pt>
                <c:pt idx="1">
                  <c:v>-0.04</c:v>
                </c:pt>
                <c:pt idx="2">
                  <c:v>-0.01</c:v>
                </c:pt>
                <c:pt idx="3">
                  <c:v>-0.02</c:v>
                </c:pt>
                <c:pt idx="4">
                  <c:v>-0.02</c:v>
                </c:pt>
                <c:pt idx="5">
                  <c:v>-0.02</c:v>
                </c:pt>
                <c:pt idx="6">
                  <c:v>-0.02</c:v>
                </c:pt>
                <c:pt idx="7">
                  <c:v>-0.03</c:v>
                </c:pt>
                <c:pt idx="8">
                  <c:v>-0.06</c:v>
                </c:pt>
                <c:pt idx="9">
                  <c:v>-0.08</c:v>
                </c:pt>
                <c:pt idx="10">
                  <c:v>-0.05</c:v>
                </c:pt>
                <c:pt idx="11">
                  <c:v>-0.01</c:v>
                </c:pt>
                <c:pt idx="12">
                  <c:v>-0.1</c:v>
                </c:pt>
                <c:pt idx="13">
                  <c:v>-0.1</c:v>
                </c:pt>
                <c:pt idx="14">
                  <c:v>-0.1</c:v>
                </c:pt>
                <c:pt idx="15">
                  <c:v>-0.11</c:v>
                </c:pt>
                <c:pt idx="16">
                  <c:v>-0.15</c:v>
                </c:pt>
                <c:pt idx="17">
                  <c:v>-0.17</c:v>
                </c:pt>
                <c:pt idx="18">
                  <c:v>-0.15</c:v>
                </c:pt>
                <c:pt idx="19">
                  <c:v>-0.14</c:v>
                </c:pt>
                <c:pt idx="20">
                  <c:v>-0.11</c:v>
                </c:pt>
                <c:pt idx="21">
                  <c:v>-0.1</c:v>
                </c:pt>
              </c:numCache>
            </c:numRef>
          </c:val>
        </c:ser>
        <c:ser>
          <c:idx val="2"/>
          <c:order val="3"/>
          <c:tx>
            <c:strRef>
              <c:f>'[1、景林金色中国存续-working paper 20241129.xlsx]景林金色中国+价值仓位变化（时间序列）'!$A$18</c:f>
              <c:strCache>
                <c:ptCount val="1"/>
                <c:pt idx="0">
                  <c:v>中国内地股空头</c:v>
                </c:pt>
              </c:strCache>
            </c:strRef>
          </c:tx>
          <c:spPr>
            <a:solidFill>
              <a:schemeClr val="accent2">
                <a:lumMod val="20000"/>
                <a:lumOff val="80000"/>
              </a:schemeClr>
            </a:solidFill>
            <a:ln>
              <a:noFill/>
            </a:ln>
            <a:effectLst/>
          </c:spPr>
          <c:dLbls>
            <c:delete val="1"/>
          </c:dLbls>
          <c:cat>
            <c:numRef>
              <c:f>'[1、景林金色中国存续-working paper 20241129.xlsx]景林金色中国+价值仓位变化（时间序列）'!$B$9:$T$9</c:f>
              <c:numCache>
                <c:formatCode>yyyy"年"m"月"</c:formatCode>
                <c:ptCount val="19"/>
                <c:pt idx="0" c:formatCode="yyyy&quot;年&quot;m&quot;月&quot;">
                  <c:v>44256</c:v>
                </c:pt>
                <c:pt idx="1" c:formatCode="yyyy&quot;年&quot;m&quot;月&quot;">
                  <c:v>44348</c:v>
                </c:pt>
                <c:pt idx="2" c:formatCode="yyyy&quot;年&quot;m&quot;月&quot;">
                  <c:v>44440</c:v>
                </c:pt>
                <c:pt idx="3" c:formatCode="yyyy&quot;年&quot;m&quot;月&quot;">
                  <c:v>44531</c:v>
                </c:pt>
                <c:pt idx="4" c:formatCode="yyyy&quot;年&quot;m&quot;月&quot;">
                  <c:v>44621</c:v>
                </c:pt>
                <c:pt idx="5" c:formatCode="yyyy&quot;年&quot;m&quot;月&quot;">
                  <c:v>44713</c:v>
                </c:pt>
                <c:pt idx="6" c:formatCode="yyyy&quot;年&quot;m&quot;月&quot;">
                  <c:v>44805</c:v>
                </c:pt>
                <c:pt idx="7" c:formatCode="yyyy&quot;年&quot;m&quot;月&quot;">
                  <c:v>44896</c:v>
                </c:pt>
                <c:pt idx="8" c:formatCode="yyyy&quot;年&quot;m&quot;月&quot;">
                  <c:v>44986</c:v>
                </c:pt>
                <c:pt idx="9" c:formatCode="yyyy&quot;年&quot;m&quot;月&quot;">
                  <c:v>45078</c:v>
                </c:pt>
                <c:pt idx="10" c:formatCode="yyyy&quot;年&quot;m&quot;月&quot;">
                  <c:v>45170</c:v>
                </c:pt>
                <c:pt idx="11" c:formatCode="yyyy&quot;年&quot;m&quot;月&quot;">
                  <c:v>45261</c:v>
                </c:pt>
                <c:pt idx="12" c:formatCode="yyyy&quot;年&quot;m&quot;月&quot;">
                  <c:v>45352</c:v>
                </c:pt>
                <c:pt idx="13" c:formatCode="yyyy&quot;年&quot;m&quot;月&quot;">
                  <c:v>45383</c:v>
                </c:pt>
                <c:pt idx="14" c:formatCode="yyyy&quot;年&quot;m&quot;月&quot;">
                  <c:v>45413</c:v>
                </c:pt>
                <c:pt idx="15" c:formatCode="yyyy&quot;年&quot;m&quot;月&quot;">
                  <c:v>45444</c:v>
                </c:pt>
                <c:pt idx="16" c:formatCode="yyyy&quot;年&quot;m&quot;月&quot;">
                  <c:v>45474</c:v>
                </c:pt>
                <c:pt idx="17" c:formatCode="yyyy&quot;年&quot;m&quot;月&quot;">
                  <c:v>45505</c:v>
                </c:pt>
                <c:pt idx="18" c:formatCode="yyyy&quot;年&quot;m&quot;月&quot;">
                  <c:v>45536</c:v>
                </c:pt>
              </c:numCache>
            </c:numRef>
          </c:cat>
          <c:val>
            <c:numRef>
              <c:f>'[1、景林金色中国存续-working paper 20241129.xlsx]景林金色中国+价值仓位变化（时间序列）'!$B$18:$W$18</c:f>
              <c:numCache>
                <c:formatCode>0%</c:formatCode>
                <c:ptCount val="22"/>
                <c:pt idx="0">
                  <c:v>0</c:v>
                </c:pt>
                <c:pt idx="1">
                  <c:v>0</c:v>
                </c:pt>
                <c:pt idx="2">
                  <c:v>0</c:v>
                </c:pt>
                <c:pt idx="3">
                  <c:v>0</c:v>
                </c:pt>
                <c:pt idx="4">
                  <c:v>0</c:v>
                </c:pt>
                <c:pt idx="5">
                  <c:v>0</c:v>
                </c:pt>
                <c:pt idx="6">
                  <c:v>-0.1</c:v>
                </c:pt>
                <c:pt idx="7">
                  <c:v>-0.05</c:v>
                </c:pt>
                <c:pt idx="8">
                  <c:v>-0.06</c:v>
                </c:pt>
                <c:pt idx="9">
                  <c:v>-0.07</c:v>
                </c:pt>
                <c:pt idx="10">
                  <c:v>-0.01</c:v>
                </c:pt>
                <c:pt idx="11">
                  <c:v>-0.1</c:v>
                </c:pt>
                <c:pt idx="12">
                  <c:v>0</c:v>
                </c:pt>
                <c:pt idx="13">
                  <c:v>-0.02</c:v>
                </c:pt>
                <c:pt idx="14">
                  <c:v>-0.01</c:v>
                </c:pt>
                <c:pt idx="15">
                  <c:v>-0.01</c:v>
                </c:pt>
                <c:pt idx="16">
                  <c:v>-0.01</c:v>
                </c:pt>
                <c:pt idx="17">
                  <c:v>-0.02</c:v>
                </c:pt>
                <c:pt idx="20">
                  <c:v>-0.04</c:v>
                </c:pt>
                <c:pt idx="21">
                  <c:v>-0.04</c:v>
                </c:pt>
              </c:numCache>
            </c:numRef>
          </c:val>
        </c:ser>
        <c:dLbls>
          <c:showLegendKey val="0"/>
          <c:showVal val="0"/>
          <c:showCatName val="0"/>
          <c:showSerName val="0"/>
          <c:showPercent val="0"/>
          <c:showBubbleSize val="0"/>
        </c:dLbls>
        <c:axId val="1813650112"/>
        <c:axId val="1813665504"/>
      </c:areaChart>
      <c:catAx>
        <c:axId val="1813650112"/>
        <c:scaling>
          <c:orientation val="minMax"/>
        </c:scaling>
        <c:delete val="1"/>
        <c:axPos val="b"/>
        <c:numFmt formatCode="yyyy&quot;年&quot;m&quot;月&quot;" sourceLinked="1"/>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j-ea"/>
                <a:ea typeface="+mj-ea"/>
                <a:cs typeface="+mn-cs"/>
              </a:defRPr>
            </a:pPr>
          </a:p>
        </c:txPr>
        <c:crossAx val="1813665504"/>
        <c:crosses val="autoZero"/>
        <c:auto val="0"/>
        <c:lblAlgn val="ctr"/>
        <c:lblOffset val="100"/>
        <c:noMultiLvlLbl val="0"/>
      </c:catAx>
      <c:valAx>
        <c:axId val="1813665504"/>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j-ea"/>
                <a:ea typeface="+mj-ea"/>
                <a:cs typeface="+mn-cs"/>
              </a:defRPr>
            </a:pPr>
          </a:p>
        </c:txPr>
        <c:crossAx val="1813650112"/>
        <c:crosses val="autoZero"/>
        <c:crossBetween val="midCat"/>
      </c:valAx>
      <c:spPr>
        <a:noFill/>
        <a:ln>
          <a:noFill/>
        </a:ln>
        <a:effectLst/>
      </c:spPr>
    </c:plotArea>
    <c:plotVisOnly val="1"/>
    <c:dispBlanksAs val="zero"/>
    <c:showDLblsOverMax val="0"/>
    <c:extLst>
      <c:ext uri="{0b15fc19-7d7d-44ad-8c2d-2c3a37ce22c3}">
        <chartProps xmlns="https://web.wps.cn/et/2018/main" chartId="{c528bce6-9746-4e2c-b0d9-ddcd2c8128d3}"/>
      </c:ext>
    </c:extLst>
  </c:chart>
  <c:spPr>
    <a:noFill/>
    <a:ln w="9525" cap="flat" cmpd="sng" algn="ctr">
      <a:noFill/>
      <a:round/>
    </a:ln>
    <a:effectLst/>
  </c:spPr>
  <c:txPr>
    <a:bodyPr/>
    <a:lstStyle/>
    <a:p>
      <a:pPr>
        <a:defRPr lang="zh-CN">
          <a:latin typeface="+mj-ea"/>
          <a:ea typeface="+mj-ea"/>
        </a:defRPr>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zh-CN" sz="1400" b="1" i="0" u="none" strike="noStrike" kern="1200" spc="0" baseline="0">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r>
              <a:rPr lang="zh-CN" b="1">
                <a:latin typeface="等线" panose="02010600030101010101" charset="-122"/>
                <a:ea typeface="等线" panose="02010600030101010101" charset="-122"/>
                <a:cs typeface="等线" panose="02010600030101010101" charset="-122"/>
                <a:sym typeface="等线" panose="02010600030101010101" charset="-122"/>
              </a:rPr>
              <a:t>景林金色中国</a:t>
            </a:r>
            <a:r>
              <a:rPr lang="en-US" b="1">
                <a:latin typeface="等线" panose="02010600030101010101" charset="-122"/>
                <a:ea typeface="等线" panose="02010600030101010101" charset="-122"/>
                <a:cs typeface="等线" panose="02010600030101010101" charset="-122"/>
                <a:sym typeface="等线" panose="02010600030101010101" charset="-122"/>
              </a:rPr>
              <a:t>-</a:t>
            </a:r>
            <a:r>
              <a:rPr lang="zh-CN" b="1">
                <a:latin typeface="等线" panose="02010600030101010101" charset="-122"/>
                <a:ea typeface="等线" panose="02010600030101010101" charset="-122"/>
                <a:cs typeface="等线" panose="02010600030101010101" charset="-122"/>
                <a:sym typeface="等线" panose="02010600030101010101" charset="-122"/>
              </a:rPr>
              <a:t>市场配置</a:t>
            </a:r>
            <a:endParaRPr lang="zh-CN" b="1">
              <a:latin typeface="等线" panose="02010600030101010101" charset="-122"/>
              <a:ea typeface="等线" panose="02010600030101010101" charset="-122"/>
              <a:cs typeface="等线" panose="02010600030101010101" charset="-122"/>
              <a:sym typeface="等线" panose="02010600030101010101" charset="-122"/>
            </a:endParaRPr>
          </a:p>
        </c:rich>
      </c:tx>
      <c:layout/>
      <c:overlay val="0"/>
      <c:spPr>
        <a:noFill/>
        <a:ln>
          <a:noFill/>
        </a:ln>
        <a:effectLst/>
      </c:spPr>
    </c:title>
    <c:autoTitleDeleted val="0"/>
    <c:plotArea>
      <c:layout/>
      <c:areaChart>
        <c:grouping val="stacked"/>
        <c:varyColors val="0"/>
        <c:ser>
          <c:idx val="0"/>
          <c:order val="0"/>
          <c:tx>
            <c:strRef>
              <c:f>'[1、景林金色中国存续-working paper 20241129.xlsx]景林金色中国+价值仓位变化（时间序列）'!$A$11</c:f>
              <c:strCache>
                <c:ptCount val="1"/>
                <c:pt idx="0">
                  <c:v>港股多头</c:v>
                </c:pt>
              </c:strCache>
            </c:strRef>
          </c:tx>
          <c:spPr>
            <a:solidFill>
              <a:schemeClr val="accent1"/>
            </a:solidFill>
            <a:ln>
              <a:noFill/>
            </a:ln>
            <a:effectLst/>
          </c:spPr>
          <c:dLbls>
            <c:delete val="1"/>
          </c:dLbls>
          <c:cat>
            <c:numRef>
              <c:f>'[1、景林金色中国存续-working paper 20241129.xlsx]景林金色中国+价值仓位变化（时间序列）'!$B$9:$W$9</c:f>
              <c:numCache>
                <c:formatCode>yyyy"年"m"月"</c:formatCode>
                <c:ptCount val="22"/>
                <c:pt idx="0" c:formatCode="yyyy&quot;年&quot;m&quot;月&quot;">
                  <c:v>44256</c:v>
                </c:pt>
                <c:pt idx="1" c:formatCode="yyyy&quot;年&quot;m&quot;月&quot;">
                  <c:v>44348</c:v>
                </c:pt>
                <c:pt idx="2" c:formatCode="yyyy&quot;年&quot;m&quot;月&quot;">
                  <c:v>44440</c:v>
                </c:pt>
                <c:pt idx="3" c:formatCode="yyyy&quot;年&quot;m&quot;月&quot;">
                  <c:v>44531</c:v>
                </c:pt>
                <c:pt idx="4" c:formatCode="yyyy&quot;年&quot;m&quot;月&quot;">
                  <c:v>44621</c:v>
                </c:pt>
                <c:pt idx="5" c:formatCode="yyyy&quot;年&quot;m&quot;月&quot;">
                  <c:v>44713</c:v>
                </c:pt>
                <c:pt idx="6" c:formatCode="yyyy&quot;年&quot;m&quot;月&quot;">
                  <c:v>44805</c:v>
                </c:pt>
                <c:pt idx="7" c:formatCode="yyyy&quot;年&quot;m&quot;月&quot;">
                  <c:v>44896</c:v>
                </c:pt>
                <c:pt idx="8" c:formatCode="yyyy&quot;年&quot;m&quot;月&quot;">
                  <c:v>44986</c:v>
                </c:pt>
                <c:pt idx="9" c:formatCode="yyyy&quot;年&quot;m&quot;月&quot;">
                  <c:v>45078</c:v>
                </c:pt>
                <c:pt idx="10" c:formatCode="yyyy&quot;年&quot;m&quot;月&quot;">
                  <c:v>45170</c:v>
                </c:pt>
                <c:pt idx="11" c:formatCode="yyyy&quot;年&quot;m&quot;月&quot;">
                  <c:v>45261</c:v>
                </c:pt>
                <c:pt idx="12" c:formatCode="yyyy&quot;年&quot;m&quot;月&quot;">
                  <c:v>45352</c:v>
                </c:pt>
                <c:pt idx="13" c:formatCode="yyyy&quot;年&quot;m&quot;月&quot;">
                  <c:v>45383</c:v>
                </c:pt>
                <c:pt idx="14" c:formatCode="yyyy&quot;年&quot;m&quot;月&quot;">
                  <c:v>45413</c:v>
                </c:pt>
                <c:pt idx="15" c:formatCode="yyyy&quot;年&quot;m&quot;月&quot;">
                  <c:v>45444</c:v>
                </c:pt>
                <c:pt idx="16" c:formatCode="yyyy&quot;年&quot;m&quot;月&quot;">
                  <c:v>45474</c:v>
                </c:pt>
                <c:pt idx="17" c:formatCode="yyyy&quot;年&quot;m&quot;月&quot;">
                  <c:v>45505</c:v>
                </c:pt>
                <c:pt idx="18" c:formatCode="yyyy&quot;年&quot;m&quot;月&quot;">
                  <c:v>45536</c:v>
                </c:pt>
                <c:pt idx="19" c:formatCode="yyyy&quot;年&quot;m&quot;月&quot;">
                  <c:v>45566</c:v>
                </c:pt>
                <c:pt idx="20" c:formatCode="yyyy&quot;年&quot;m&quot;月&quot;">
                  <c:v>45597</c:v>
                </c:pt>
                <c:pt idx="21" c:formatCode="yyyy&quot;年&quot;m&quot;月&quot;">
                  <c:v>45627</c:v>
                </c:pt>
              </c:numCache>
            </c:numRef>
          </c:cat>
          <c:val>
            <c:numRef>
              <c:f>'[1、景林金色中国存续-working paper 20241129.xlsx]景林金色中国+价值仓位变化（时间序列）'!$B$11:$W$11</c:f>
              <c:numCache>
                <c:formatCode>0%</c:formatCode>
                <c:ptCount val="22"/>
                <c:pt idx="0">
                  <c:v>0.55</c:v>
                </c:pt>
                <c:pt idx="1">
                  <c:v>0.58</c:v>
                </c:pt>
                <c:pt idx="2">
                  <c:v>0.51</c:v>
                </c:pt>
                <c:pt idx="3">
                  <c:v>0.57</c:v>
                </c:pt>
                <c:pt idx="4">
                  <c:v>0.67</c:v>
                </c:pt>
                <c:pt idx="5">
                  <c:v>0.78</c:v>
                </c:pt>
                <c:pt idx="6">
                  <c:v>0.66</c:v>
                </c:pt>
                <c:pt idx="7">
                  <c:v>0.77</c:v>
                </c:pt>
                <c:pt idx="8">
                  <c:v>0.46</c:v>
                </c:pt>
                <c:pt idx="9">
                  <c:v>0.53</c:v>
                </c:pt>
                <c:pt idx="10">
                  <c:v>0.51</c:v>
                </c:pt>
                <c:pt idx="11">
                  <c:v>0.52</c:v>
                </c:pt>
                <c:pt idx="12">
                  <c:v>0.49</c:v>
                </c:pt>
                <c:pt idx="13">
                  <c:v>0.52</c:v>
                </c:pt>
                <c:pt idx="14">
                  <c:v>0.52</c:v>
                </c:pt>
                <c:pt idx="15">
                  <c:v>0.55</c:v>
                </c:pt>
                <c:pt idx="16">
                  <c:v>0.57</c:v>
                </c:pt>
                <c:pt idx="17">
                  <c:v>0.63</c:v>
                </c:pt>
                <c:pt idx="18">
                  <c:v>0.66</c:v>
                </c:pt>
                <c:pt idx="19">
                  <c:v>0.71</c:v>
                </c:pt>
                <c:pt idx="20">
                  <c:v>0.74</c:v>
                </c:pt>
                <c:pt idx="21">
                  <c:v>0.71</c:v>
                </c:pt>
              </c:numCache>
            </c:numRef>
          </c:val>
        </c:ser>
        <c:ser>
          <c:idx val="2"/>
          <c:order val="1"/>
          <c:tx>
            <c:strRef>
              <c:f>'[1、景林金色中国存续-working paper 20241129.xlsx]景林金色中国+价值仓位变化（时间序列）'!$A$12</c:f>
              <c:strCache>
                <c:ptCount val="1"/>
                <c:pt idx="0">
                  <c:v>美国预托证券多头</c:v>
                </c:pt>
              </c:strCache>
            </c:strRef>
          </c:tx>
          <c:spPr>
            <a:solidFill>
              <a:schemeClr val="accent3"/>
            </a:solidFill>
            <a:ln w="25400">
              <a:noFill/>
            </a:ln>
            <a:effectLst/>
          </c:spPr>
          <c:dLbls>
            <c:delete val="1"/>
          </c:dLbls>
          <c:cat>
            <c:numRef>
              <c:f>'[1、景林金色中国存续-working paper 20241129.xlsx]景林金色中国+价值仓位变化（时间序列）'!$B$9:$W$9</c:f>
              <c:numCache>
                <c:formatCode>yyyy"年"m"月"</c:formatCode>
                <c:ptCount val="22"/>
                <c:pt idx="0" c:formatCode="yyyy&quot;年&quot;m&quot;月&quot;">
                  <c:v>44256</c:v>
                </c:pt>
                <c:pt idx="1" c:formatCode="yyyy&quot;年&quot;m&quot;月&quot;">
                  <c:v>44348</c:v>
                </c:pt>
                <c:pt idx="2" c:formatCode="yyyy&quot;年&quot;m&quot;月&quot;">
                  <c:v>44440</c:v>
                </c:pt>
                <c:pt idx="3" c:formatCode="yyyy&quot;年&quot;m&quot;月&quot;">
                  <c:v>44531</c:v>
                </c:pt>
                <c:pt idx="4" c:formatCode="yyyy&quot;年&quot;m&quot;月&quot;">
                  <c:v>44621</c:v>
                </c:pt>
                <c:pt idx="5" c:formatCode="yyyy&quot;年&quot;m&quot;月&quot;">
                  <c:v>44713</c:v>
                </c:pt>
                <c:pt idx="6" c:formatCode="yyyy&quot;年&quot;m&quot;月&quot;">
                  <c:v>44805</c:v>
                </c:pt>
                <c:pt idx="7" c:formatCode="yyyy&quot;年&quot;m&quot;月&quot;">
                  <c:v>44896</c:v>
                </c:pt>
                <c:pt idx="8" c:formatCode="yyyy&quot;年&quot;m&quot;月&quot;">
                  <c:v>44986</c:v>
                </c:pt>
                <c:pt idx="9" c:formatCode="yyyy&quot;年&quot;m&quot;月&quot;">
                  <c:v>45078</c:v>
                </c:pt>
                <c:pt idx="10" c:formatCode="yyyy&quot;年&quot;m&quot;月&quot;">
                  <c:v>45170</c:v>
                </c:pt>
                <c:pt idx="11" c:formatCode="yyyy&quot;年&quot;m&quot;月&quot;">
                  <c:v>45261</c:v>
                </c:pt>
                <c:pt idx="12" c:formatCode="yyyy&quot;年&quot;m&quot;月&quot;">
                  <c:v>45352</c:v>
                </c:pt>
                <c:pt idx="13" c:formatCode="yyyy&quot;年&quot;m&quot;月&quot;">
                  <c:v>45383</c:v>
                </c:pt>
                <c:pt idx="14" c:formatCode="yyyy&quot;年&quot;m&quot;月&quot;">
                  <c:v>45413</c:v>
                </c:pt>
                <c:pt idx="15" c:formatCode="yyyy&quot;年&quot;m&quot;月&quot;">
                  <c:v>45444</c:v>
                </c:pt>
                <c:pt idx="16" c:formatCode="yyyy&quot;年&quot;m&quot;月&quot;">
                  <c:v>45474</c:v>
                </c:pt>
                <c:pt idx="17" c:formatCode="yyyy&quot;年&quot;m&quot;月&quot;">
                  <c:v>45505</c:v>
                </c:pt>
                <c:pt idx="18" c:formatCode="yyyy&quot;年&quot;m&quot;月&quot;">
                  <c:v>45536</c:v>
                </c:pt>
                <c:pt idx="19" c:formatCode="yyyy&quot;年&quot;m&quot;月&quot;">
                  <c:v>45566</c:v>
                </c:pt>
                <c:pt idx="20" c:formatCode="yyyy&quot;年&quot;m&quot;月&quot;">
                  <c:v>45597</c:v>
                </c:pt>
                <c:pt idx="21" c:formatCode="yyyy&quot;年&quot;m&quot;月&quot;">
                  <c:v>45627</c:v>
                </c:pt>
              </c:numCache>
            </c:numRef>
          </c:cat>
          <c:val>
            <c:numRef>
              <c:f>'[1、景林金色中国存续-working paper 20241129.xlsx]景林金色中国+价值仓位变化（时间序列）'!$B$12:$W$12</c:f>
              <c:numCache>
                <c:formatCode>0%</c:formatCode>
                <c:ptCount val="22"/>
                <c:pt idx="0">
                  <c:v>0.18</c:v>
                </c:pt>
                <c:pt idx="1">
                  <c:v>0.21</c:v>
                </c:pt>
                <c:pt idx="2">
                  <c:v>0.23</c:v>
                </c:pt>
                <c:pt idx="3">
                  <c:v>0.27</c:v>
                </c:pt>
                <c:pt idx="4">
                  <c:v>0.29</c:v>
                </c:pt>
                <c:pt idx="5">
                  <c:v>0.23</c:v>
                </c:pt>
                <c:pt idx="6">
                  <c:v>0.2</c:v>
                </c:pt>
                <c:pt idx="7">
                  <c:v>0.17</c:v>
                </c:pt>
                <c:pt idx="8">
                  <c:v>0.25</c:v>
                </c:pt>
                <c:pt idx="9">
                  <c:v>0.29</c:v>
                </c:pt>
                <c:pt idx="10">
                  <c:v>0.33</c:v>
                </c:pt>
                <c:pt idx="11">
                  <c:v>0.34</c:v>
                </c:pt>
                <c:pt idx="12">
                  <c:v>0.29</c:v>
                </c:pt>
                <c:pt idx="13">
                  <c:v>0.32</c:v>
                </c:pt>
                <c:pt idx="14">
                  <c:v>0.42</c:v>
                </c:pt>
                <c:pt idx="15">
                  <c:v>0.45</c:v>
                </c:pt>
                <c:pt idx="16">
                  <c:v>0.39</c:v>
                </c:pt>
                <c:pt idx="17">
                  <c:v>0.27</c:v>
                </c:pt>
                <c:pt idx="18">
                  <c:v>0.32</c:v>
                </c:pt>
                <c:pt idx="19">
                  <c:v>0.32</c:v>
                </c:pt>
                <c:pt idx="20">
                  <c:v>0.33</c:v>
                </c:pt>
                <c:pt idx="21">
                  <c:v>0.33</c:v>
                </c:pt>
              </c:numCache>
            </c:numRef>
          </c:val>
        </c:ser>
        <c:ser>
          <c:idx val="3"/>
          <c:order val="2"/>
          <c:tx>
            <c:strRef>
              <c:f>'[1、景林金色中国存续-working paper 20241129.xlsx]景林金色中国+价值仓位变化（时间序列）'!$A$14</c:f>
              <c:strCache>
                <c:ptCount val="1"/>
                <c:pt idx="0">
                  <c:v>其他多头</c:v>
                </c:pt>
              </c:strCache>
            </c:strRef>
          </c:tx>
          <c:spPr>
            <a:solidFill>
              <a:srgbClr val="002060"/>
            </a:solidFill>
            <a:ln>
              <a:noFill/>
            </a:ln>
            <a:effectLst/>
          </c:spPr>
          <c:dLbls>
            <c:delete val="1"/>
          </c:dLbls>
          <c:cat>
            <c:numRef>
              <c:f>'[1、景林金色中国存续-working paper 20241129.xlsx]景林金色中国+价值仓位变化（时间序列）'!$B$9:$W$9</c:f>
              <c:numCache>
                <c:formatCode>yyyy"年"m"月"</c:formatCode>
                <c:ptCount val="22"/>
                <c:pt idx="0" c:formatCode="yyyy&quot;年&quot;m&quot;月&quot;">
                  <c:v>44256</c:v>
                </c:pt>
                <c:pt idx="1" c:formatCode="yyyy&quot;年&quot;m&quot;月&quot;">
                  <c:v>44348</c:v>
                </c:pt>
                <c:pt idx="2" c:formatCode="yyyy&quot;年&quot;m&quot;月&quot;">
                  <c:v>44440</c:v>
                </c:pt>
                <c:pt idx="3" c:formatCode="yyyy&quot;年&quot;m&quot;月&quot;">
                  <c:v>44531</c:v>
                </c:pt>
                <c:pt idx="4" c:formatCode="yyyy&quot;年&quot;m&quot;月&quot;">
                  <c:v>44621</c:v>
                </c:pt>
                <c:pt idx="5" c:formatCode="yyyy&quot;年&quot;m&quot;月&quot;">
                  <c:v>44713</c:v>
                </c:pt>
                <c:pt idx="6" c:formatCode="yyyy&quot;年&quot;m&quot;月&quot;">
                  <c:v>44805</c:v>
                </c:pt>
                <c:pt idx="7" c:formatCode="yyyy&quot;年&quot;m&quot;月&quot;">
                  <c:v>44896</c:v>
                </c:pt>
                <c:pt idx="8" c:formatCode="yyyy&quot;年&quot;m&quot;月&quot;">
                  <c:v>44986</c:v>
                </c:pt>
                <c:pt idx="9" c:formatCode="yyyy&quot;年&quot;m&quot;月&quot;">
                  <c:v>45078</c:v>
                </c:pt>
                <c:pt idx="10" c:formatCode="yyyy&quot;年&quot;m&quot;月&quot;">
                  <c:v>45170</c:v>
                </c:pt>
                <c:pt idx="11" c:formatCode="yyyy&quot;年&quot;m&quot;月&quot;">
                  <c:v>45261</c:v>
                </c:pt>
                <c:pt idx="12" c:formatCode="yyyy&quot;年&quot;m&quot;月&quot;">
                  <c:v>45352</c:v>
                </c:pt>
                <c:pt idx="13" c:formatCode="yyyy&quot;年&quot;m&quot;月&quot;">
                  <c:v>45383</c:v>
                </c:pt>
                <c:pt idx="14" c:formatCode="yyyy&quot;年&quot;m&quot;月&quot;">
                  <c:v>45413</c:v>
                </c:pt>
                <c:pt idx="15" c:formatCode="yyyy&quot;年&quot;m&quot;月&quot;">
                  <c:v>45444</c:v>
                </c:pt>
                <c:pt idx="16" c:formatCode="yyyy&quot;年&quot;m&quot;月&quot;">
                  <c:v>45474</c:v>
                </c:pt>
                <c:pt idx="17" c:formatCode="yyyy&quot;年&quot;m&quot;月&quot;">
                  <c:v>45505</c:v>
                </c:pt>
                <c:pt idx="18" c:formatCode="yyyy&quot;年&quot;m&quot;月&quot;">
                  <c:v>45536</c:v>
                </c:pt>
                <c:pt idx="19" c:formatCode="yyyy&quot;年&quot;m&quot;月&quot;">
                  <c:v>45566</c:v>
                </c:pt>
                <c:pt idx="20" c:formatCode="yyyy&quot;年&quot;m&quot;月&quot;">
                  <c:v>45597</c:v>
                </c:pt>
                <c:pt idx="21" c:formatCode="yyyy&quot;年&quot;m&quot;月&quot;">
                  <c:v>45627</c:v>
                </c:pt>
              </c:numCache>
            </c:numRef>
          </c:cat>
          <c:val>
            <c:numRef>
              <c:f>'[1、景林金色中国存续-working paper 20241129.xlsx]景林金色中国+价值仓位变化（时间序列）'!$B$14:$W$14</c:f>
              <c:numCache>
                <c:formatCode>0%</c:formatCode>
                <c:ptCount val="22"/>
                <c:pt idx="0">
                  <c:v>0.02</c:v>
                </c:pt>
                <c:pt idx="1">
                  <c:v>0.02</c:v>
                </c:pt>
                <c:pt idx="2">
                  <c:v>0.02</c:v>
                </c:pt>
                <c:pt idx="3">
                  <c:v>0.02</c:v>
                </c:pt>
                <c:pt idx="4">
                  <c:v>0</c:v>
                </c:pt>
                <c:pt idx="5">
                  <c:v>0</c:v>
                </c:pt>
                <c:pt idx="6">
                  <c:v>0</c:v>
                </c:pt>
                <c:pt idx="7">
                  <c:v>0</c:v>
                </c:pt>
                <c:pt idx="8">
                  <c:v>0.06</c:v>
                </c:pt>
                <c:pt idx="9">
                  <c:v>0.13</c:v>
                </c:pt>
                <c:pt idx="10">
                  <c:v>0.18</c:v>
                </c:pt>
                <c:pt idx="11">
                  <c:v>0.14</c:v>
                </c:pt>
                <c:pt idx="12">
                  <c:v>0.26</c:v>
                </c:pt>
                <c:pt idx="13">
                  <c:v>0.24</c:v>
                </c:pt>
                <c:pt idx="14">
                  <c:v>0.15</c:v>
                </c:pt>
                <c:pt idx="15">
                  <c:v>0.16</c:v>
                </c:pt>
                <c:pt idx="16">
                  <c:v>0.12</c:v>
                </c:pt>
                <c:pt idx="17">
                  <c:v>0.1</c:v>
                </c:pt>
                <c:pt idx="18">
                  <c:v>0.1</c:v>
                </c:pt>
                <c:pt idx="19">
                  <c:v>0.12</c:v>
                </c:pt>
                <c:pt idx="20">
                  <c:v>0.14</c:v>
                </c:pt>
                <c:pt idx="21">
                  <c:v>0.13</c:v>
                </c:pt>
              </c:numCache>
            </c:numRef>
          </c:val>
        </c:ser>
        <c:ser>
          <c:idx val="1"/>
          <c:order val="3"/>
          <c:tx>
            <c:strRef>
              <c:f>'[1、景林金色中国存续-working paper 20241129.xlsx]景林金色中国+价值仓位变化（时间序列）'!$A$13</c:f>
              <c:strCache>
                <c:ptCount val="1"/>
                <c:pt idx="0">
                  <c:v>中国内地股多头</c:v>
                </c:pt>
              </c:strCache>
            </c:strRef>
          </c:tx>
          <c:spPr>
            <a:solidFill>
              <a:schemeClr val="accent2">
                <a:lumMod val="20000"/>
                <a:lumOff val="80000"/>
              </a:schemeClr>
            </a:solidFill>
            <a:ln>
              <a:noFill/>
            </a:ln>
            <a:effectLst/>
          </c:spPr>
          <c:dLbls>
            <c:delete val="1"/>
          </c:dLbls>
          <c:cat>
            <c:numRef>
              <c:f>'[1、景林金色中国存续-working paper 20241129.xlsx]景林金色中国+价值仓位变化（时间序列）'!$B$9:$W$9</c:f>
              <c:numCache>
                <c:formatCode>yyyy"年"m"月"</c:formatCode>
                <c:ptCount val="22"/>
                <c:pt idx="0" c:formatCode="yyyy&quot;年&quot;m&quot;月&quot;">
                  <c:v>44256</c:v>
                </c:pt>
                <c:pt idx="1" c:formatCode="yyyy&quot;年&quot;m&quot;月&quot;">
                  <c:v>44348</c:v>
                </c:pt>
                <c:pt idx="2" c:formatCode="yyyy&quot;年&quot;m&quot;月&quot;">
                  <c:v>44440</c:v>
                </c:pt>
                <c:pt idx="3" c:formatCode="yyyy&quot;年&quot;m&quot;月&quot;">
                  <c:v>44531</c:v>
                </c:pt>
                <c:pt idx="4" c:formatCode="yyyy&quot;年&quot;m&quot;月&quot;">
                  <c:v>44621</c:v>
                </c:pt>
                <c:pt idx="5" c:formatCode="yyyy&quot;年&quot;m&quot;月&quot;">
                  <c:v>44713</c:v>
                </c:pt>
                <c:pt idx="6" c:formatCode="yyyy&quot;年&quot;m&quot;月&quot;">
                  <c:v>44805</c:v>
                </c:pt>
                <c:pt idx="7" c:formatCode="yyyy&quot;年&quot;m&quot;月&quot;">
                  <c:v>44896</c:v>
                </c:pt>
                <c:pt idx="8" c:formatCode="yyyy&quot;年&quot;m&quot;月&quot;">
                  <c:v>44986</c:v>
                </c:pt>
                <c:pt idx="9" c:formatCode="yyyy&quot;年&quot;m&quot;月&quot;">
                  <c:v>45078</c:v>
                </c:pt>
                <c:pt idx="10" c:formatCode="yyyy&quot;年&quot;m&quot;月&quot;">
                  <c:v>45170</c:v>
                </c:pt>
                <c:pt idx="11" c:formatCode="yyyy&quot;年&quot;m&quot;月&quot;">
                  <c:v>45261</c:v>
                </c:pt>
                <c:pt idx="12" c:formatCode="yyyy&quot;年&quot;m&quot;月&quot;">
                  <c:v>45352</c:v>
                </c:pt>
                <c:pt idx="13" c:formatCode="yyyy&quot;年&quot;m&quot;月&quot;">
                  <c:v>45383</c:v>
                </c:pt>
                <c:pt idx="14" c:formatCode="yyyy&quot;年&quot;m&quot;月&quot;">
                  <c:v>45413</c:v>
                </c:pt>
                <c:pt idx="15" c:formatCode="yyyy&quot;年&quot;m&quot;月&quot;">
                  <c:v>45444</c:v>
                </c:pt>
                <c:pt idx="16" c:formatCode="yyyy&quot;年&quot;m&quot;月&quot;">
                  <c:v>45474</c:v>
                </c:pt>
                <c:pt idx="17" c:formatCode="yyyy&quot;年&quot;m&quot;月&quot;">
                  <c:v>45505</c:v>
                </c:pt>
                <c:pt idx="18" c:formatCode="yyyy&quot;年&quot;m&quot;月&quot;">
                  <c:v>45536</c:v>
                </c:pt>
                <c:pt idx="19" c:formatCode="yyyy&quot;年&quot;m&quot;月&quot;">
                  <c:v>45566</c:v>
                </c:pt>
                <c:pt idx="20" c:formatCode="yyyy&quot;年&quot;m&quot;月&quot;">
                  <c:v>45597</c:v>
                </c:pt>
                <c:pt idx="21" c:formatCode="yyyy&quot;年&quot;m&quot;月&quot;">
                  <c:v>45627</c:v>
                </c:pt>
              </c:numCache>
            </c:numRef>
          </c:cat>
          <c:val>
            <c:numRef>
              <c:f>'[1、景林金色中国存续-working paper 20241129.xlsx]景林金色中国+价值仓位变化（时间序列）'!$B$13:$W$13</c:f>
              <c:numCache>
                <c:formatCode>0%</c:formatCode>
                <c:ptCount val="22"/>
                <c:pt idx="0">
                  <c:v>0.15</c:v>
                </c:pt>
                <c:pt idx="1">
                  <c:v>0.15</c:v>
                </c:pt>
                <c:pt idx="2">
                  <c:v>0.2</c:v>
                </c:pt>
                <c:pt idx="3">
                  <c:v>0.19</c:v>
                </c:pt>
                <c:pt idx="4">
                  <c:v>0.2</c:v>
                </c:pt>
                <c:pt idx="5">
                  <c:v>0.12</c:v>
                </c:pt>
                <c:pt idx="6">
                  <c:v>0.13</c:v>
                </c:pt>
                <c:pt idx="7">
                  <c:v>0.21</c:v>
                </c:pt>
                <c:pt idx="8">
                  <c:v>0.24</c:v>
                </c:pt>
                <c:pt idx="9">
                  <c:v>0.23</c:v>
                </c:pt>
                <c:pt idx="10">
                  <c:v>0.19</c:v>
                </c:pt>
                <c:pt idx="11">
                  <c:v>0.18</c:v>
                </c:pt>
                <c:pt idx="12">
                  <c:v>0.1</c:v>
                </c:pt>
                <c:pt idx="13">
                  <c:v>0.1</c:v>
                </c:pt>
                <c:pt idx="14">
                  <c:v>0.09</c:v>
                </c:pt>
                <c:pt idx="15">
                  <c:v>0.05</c:v>
                </c:pt>
                <c:pt idx="16">
                  <c:v>0.05</c:v>
                </c:pt>
                <c:pt idx="17">
                  <c:v>0.05</c:v>
                </c:pt>
                <c:pt idx="18">
                  <c:v>0.03</c:v>
                </c:pt>
                <c:pt idx="19">
                  <c:v>0.03</c:v>
                </c:pt>
                <c:pt idx="20">
                  <c:v>0.02</c:v>
                </c:pt>
                <c:pt idx="21">
                  <c:v>0.02</c:v>
                </c:pt>
              </c:numCache>
            </c:numRef>
          </c:val>
        </c:ser>
        <c:dLbls>
          <c:showLegendKey val="0"/>
          <c:showVal val="0"/>
          <c:showCatName val="0"/>
          <c:showSerName val="0"/>
          <c:showPercent val="0"/>
          <c:showBubbleSize val="0"/>
        </c:dLbls>
        <c:axId val="1817738576"/>
        <c:axId val="1817729424"/>
      </c:areaChart>
      <c:catAx>
        <c:axId val="1817738576"/>
        <c:scaling>
          <c:orientation val="minMax"/>
        </c:scaling>
        <c:delete val="0"/>
        <c:axPos val="b"/>
        <c:numFmt formatCode="yyyy&quot;年&quot;m&quot;月&quot;"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900" b="0" i="0" u="none" strike="noStrike" kern="1200" baseline="0">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p>
        </c:txPr>
        <c:crossAx val="1817729424"/>
        <c:crosses val="autoZero"/>
        <c:auto val="0"/>
        <c:lblAlgn val="ctr"/>
        <c:lblOffset val="100"/>
        <c:tickMarkSkip val="5"/>
        <c:noMultiLvlLbl val="0"/>
      </c:catAx>
      <c:valAx>
        <c:axId val="1817729424"/>
        <c:scaling>
          <c:orientation val="minMax"/>
          <c:max val="1.2"/>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900" b="0" i="0" u="none" strike="noStrike" kern="1200" baseline="0">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p>
        </c:txPr>
        <c:crossAx val="1817738576"/>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lang="zh-CN" sz="1000" b="0" i="0" u="none" strike="noStrike" kern="1200" baseline="0">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1"/>
        <c:txPr>
          <a:bodyPr rot="0" spcFirstLastPara="1" vertOverflow="ellipsis" vert="horz" wrap="square" anchor="ctr" anchorCtr="1"/>
          <a:lstStyle/>
          <a:p>
            <a:pPr>
              <a:defRPr lang="zh-CN" sz="1000" b="0" i="0" u="none" strike="noStrike" kern="1200" baseline="0">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2"/>
        <c:txPr>
          <a:bodyPr rot="0" spcFirstLastPara="1" vertOverflow="ellipsis" vert="horz" wrap="square" anchor="ctr" anchorCtr="1"/>
          <a:lstStyle/>
          <a:p>
            <a:pPr>
              <a:defRPr lang="zh-CN" sz="1000" b="0" i="0" u="none" strike="noStrike" kern="1200" baseline="0">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3"/>
        <c:txPr>
          <a:bodyPr rot="0" spcFirstLastPara="1" vertOverflow="ellipsis" vert="horz" wrap="square" anchor="ctr" anchorCtr="1"/>
          <a:lstStyle/>
          <a:p>
            <a:pPr>
              <a:defRPr lang="zh-CN" sz="1000" b="0" i="0" u="none" strike="noStrike" kern="1200" baseline="0">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p>
      </c:txPr>
    </c:legend>
    <c:plotVisOnly val="1"/>
    <c:dispBlanksAs val="zero"/>
    <c:showDLblsOverMax val="0"/>
    <c:extLst>
      <c:ext uri="{0b15fc19-7d7d-44ad-8c2d-2c3a37ce22c3}">
        <chartProps xmlns="https://web.wps.cn/et/2018/main" chartId="{e366405c-4156-4c2e-a549-3ce1e44ea0b9}"/>
      </c:ext>
    </c:extLst>
  </c:chart>
  <c:spPr>
    <a:noFill/>
    <a:ln w="9525" cap="flat" cmpd="sng" algn="ctr">
      <a:noFill/>
      <a:round/>
    </a:ln>
    <a:effectLst/>
  </c:spPr>
  <c:txPr>
    <a:bodyPr/>
    <a:lstStyle/>
    <a:p>
      <a:pPr>
        <a:defRPr lang="zh-CN">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zh-CN" sz="1400" b="1" i="0" u="none" strike="noStrike" kern="1200" spc="0" baseline="0">
                <a:solidFill>
                  <a:schemeClr val="tx1"/>
                </a:solidFill>
                <a:latin typeface="等线" panose="02010600030101010101" charset="-122"/>
                <a:ea typeface="等线" panose="02010600030101010101" charset="-122"/>
                <a:cs typeface="等线" panose="02010600030101010101" charset="-122"/>
                <a:sym typeface="等线" panose="02010600030101010101" charset="-122"/>
              </a:defRPr>
            </a:pPr>
            <a:r>
              <a:rPr lang="zh-CN" b="1">
                <a:solidFill>
                  <a:schemeClr val="tx1"/>
                </a:solidFill>
                <a:latin typeface="等线" panose="02010600030101010101" charset="-122"/>
                <a:ea typeface="等线" panose="02010600030101010101" charset="-122"/>
                <a:cs typeface="等线" panose="02010600030101010101" charset="-122"/>
                <a:sym typeface="等线" panose="02010600030101010101" charset="-122"/>
              </a:rPr>
              <a:t>景林</a:t>
            </a:r>
            <a:r>
              <a:rPr lang="zh-CN" altLang="en-US" b="1">
                <a:solidFill>
                  <a:schemeClr val="tx1"/>
                </a:solidFill>
                <a:latin typeface="等线" panose="02010600030101010101" charset="-122"/>
                <a:ea typeface="等线" panose="02010600030101010101" charset="-122"/>
                <a:cs typeface="等线" panose="02010600030101010101" charset="-122"/>
                <a:sym typeface="等线" panose="02010600030101010101" charset="-122"/>
              </a:rPr>
              <a:t>环球</a:t>
            </a:r>
            <a:r>
              <a:rPr lang="en-US" b="1">
                <a:solidFill>
                  <a:schemeClr val="tx1"/>
                </a:solidFill>
                <a:latin typeface="等线" panose="02010600030101010101" charset="-122"/>
                <a:ea typeface="等线" panose="02010600030101010101" charset="-122"/>
                <a:cs typeface="等线" panose="02010600030101010101" charset="-122"/>
                <a:sym typeface="等线" panose="02010600030101010101" charset="-122"/>
              </a:rPr>
              <a:t>-</a:t>
            </a:r>
            <a:r>
              <a:rPr lang="zh-CN" b="1">
                <a:solidFill>
                  <a:schemeClr val="tx1"/>
                </a:solidFill>
                <a:latin typeface="等线" panose="02010600030101010101" charset="-122"/>
                <a:ea typeface="等线" panose="02010600030101010101" charset="-122"/>
                <a:cs typeface="等线" panose="02010600030101010101" charset="-122"/>
                <a:sym typeface="等线" panose="02010600030101010101" charset="-122"/>
              </a:rPr>
              <a:t>市场配置</a:t>
            </a:r>
            <a:endParaRPr lang="zh-CN" b="1">
              <a:solidFill>
                <a:schemeClr val="tx1"/>
              </a:solidFill>
              <a:latin typeface="等线" panose="02010600030101010101" charset="-122"/>
              <a:ea typeface="等线" panose="02010600030101010101" charset="-122"/>
              <a:cs typeface="等线" panose="02010600030101010101" charset="-122"/>
              <a:sym typeface="等线" panose="02010600030101010101" charset="-122"/>
            </a:endParaRPr>
          </a:p>
        </c:rich>
      </c:tx>
      <c:layout/>
      <c:overlay val="0"/>
      <c:spPr>
        <a:noFill/>
        <a:ln>
          <a:noFill/>
        </a:ln>
        <a:effectLst/>
      </c:spPr>
    </c:title>
    <c:autoTitleDeleted val="0"/>
    <c:plotArea>
      <c:layout/>
      <c:areaChart>
        <c:grouping val="stacked"/>
        <c:varyColors val="0"/>
        <c:ser>
          <c:idx val="0"/>
          <c:order val="0"/>
          <c:tx>
            <c:strRef>
              <c:f>'[Greenwoods Focused opportunities Fund data pack 2024Q3.xlsx]Share Type'!$A$14</c:f>
              <c:strCache>
                <c:ptCount val="1"/>
                <c:pt idx="0">
                  <c:v>中国股票</c:v>
                </c:pt>
              </c:strCache>
            </c:strRef>
          </c:tx>
          <c:spPr>
            <a:solidFill>
              <a:srgbClr val="FCE6D5"/>
            </a:solidFill>
            <a:ln w="25400">
              <a:noFill/>
            </a:ln>
            <a:effectLst/>
          </c:spPr>
          <c:dLbls>
            <c:delete val="1"/>
          </c:dLbls>
          <c:cat>
            <c:strRef>
              <c:f>'[Greenwoods Focused opportunities Fund data pack 2024Q3.xlsx]Share Type'!$B$13:$G$13</c:f>
              <c:strCache>
                <c:ptCount val="6"/>
                <c:pt idx="0">
                  <c:v>2020 Dec</c:v>
                </c:pt>
                <c:pt idx="1">
                  <c:v>2021 Dec</c:v>
                </c:pt>
                <c:pt idx="2">
                  <c:v>2022 Dec</c:v>
                </c:pt>
                <c:pt idx="3">
                  <c:v>2023 Dec</c:v>
                </c:pt>
                <c:pt idx="4">
                  <c:v>2024 Jun</c:v>
                </c:pt>
                <c:pt idx="5">
                  <c:v>2024 Sep</c:v>
                </c:pt>
              </c:strCache>
            </c:strRef>
          </c:cat>
          <c:val>
            <c:numRef>
              <c:f>'[Greenwoods Focused opportunities Fund data pack 2024Q3.xlsx]Share Type'!$B$14:$G$14</c:f>
              <c:numCache>
                <c:formatCode>0.00%</c:formatCode>
                <c:ptCount val="6"/>
                <c:pt idx="0">
                  <c:v>0.0441454260363067</c:v>
                </c:pt>
                <c:pt idx="1">
                  <c:v>0.0357270892371262</c:v>
                </c:pt>
                <c:pt idx="2">
                  <c:v>0</c:v>
                </c:pt>
                <c:pt idx="3">
                  <c:v>0.0227566290476101</c:v>
                </c:pt>
                <c:pt idx="4">
                  <c:v>0.0128721277831231</c:v>
                </c:pt>
                <c:pt idx="5">
                  <c:v>0.0115828267562807</c:v>
                </c:pt>
              </c:numCache>
            </c:numRef>
          </c:val>
        </c:ser>
        <c:ser>
          <c:idx val="1"/>
          <c:order val="1"/>
          <c:tx>
            <c:strRef>
              <c:f>'[Greenwoods Focused opportunities Fund data pack 2024Q3.xlsx]Share Type'!$A$15</c:f>
              <c:strCache>
                <c:ptCount val="1"/>
                <c:pt idx="0">
                  <c:v>港股</c:v>
                </c:pt>
              </c:strCache>
            </c:strRef>
          </c:tx>
          <c:spPr>
            <a:solidFill>
              <a:srgbClr val="4874CB"/>
            </a:solidFill>
            <a:ln w="25400">
              <a:noFill/>
            </a:ln>
            <a:effectLst/>
          </c:spPr>
          <c:dLbls>
            <c:delete val="1"/>
          </c:dLbls>
          <c:cat>
            <c:strRef>
              <c:f>'[Greenwoods Focused opportunities Fund data pack 2024Q3.xlsx]Share Type'!$B$13:$G$13</c:f>
              <c:strCache>
                <c:ptCount val="6"/>
                <c:pt idx="0">
                  <c:v>2020 Dec</c:v>
                </c:pt>
                <c:pt idx="1">
                  <c:v>2021 Dec</c:v>
                </c:pt>
                <c:pt idx="2">
                  <c:v>2022 Dec</c:v>
                </c:pt>
                <c:pt idx="3">
                  <c:v>2023 Dec</c:v>
                </c:pt>
                <c:pt idx="4">
                  <c:v>2024 Jun</c:v>
                </c:pt>
                <c:pt idx="5">
                  <c:v>2024 Sep</c:v>
                </c:pt>
              </c:strCache>
            </c:strRef>
          </c:cat>
          <c:val>
            <c:numRef>
              <c:f>'[Greenwoods Focused opportunities Fund data pack 2024Q3.xlsx]Share Type'!$B$15:$G$15</c:f>
              <c:numCache>
                <c:formatCode>0.00%</c:formatCode>
                <c:ptCount val="6"/>
                <c:pt idx="0">
                  <c:v>0.163184150845607</c:v>
                </c:pt>
                <c:pt idx="1">
                  <c:v>0.18310581506554</c:v>
                </c:pt>
                <c:pt idx="2">
                  <c:v>0.329953971513591</c:v>
                </c:pt>
                <c:pt idx="3">
                  <c:v>0.22831750159426</c:v>
                </c:pt>
                <c:pt idx="4">
                  <c:v>0.184197180125004</c:v>
                </c:pt>
                <c:pt idx="5">
                  <c:v>0.184681557591915</c:v>
                </c:pt>
              </c:numCache>
            </c:numRef>
          </c:val>
        </c:ser>
        <c:ser>
          <c:idx val="2"/>
          <c:order val="2"/>
          <c:tx>
            <c:strRef>
              <c:f>'[Greenwoods Focused opportunities Fund data pack 2024Q3.xlsx]Share Type'!$A$16</c:f>
              <c:strCache>
                <c:ptCount val="1"/>
                <c:pt idx="0">
                  <c:v>中概股ADR</c:v>
                </c:pt>
              </c:strCache>
            </c:strRef>
          </c:tx>
          <c:spPr>
            <a:solidFill>
              <a:srgbClr val="F2BA02"/>
            </a:solidFill>
            <a:ln w="25400">
              <a:noFill/>
            </a:ln>
            <a:effectLst/>
          </c:spPr>
          <c:dLbls>
            <c:delete val="1"/>
          </c:dLbls>
          <c:cat>
            <c:strRef>
              <c:f>'[Greenwoods Focused opportunities Fund data pack 2024Q3.xlsx]Share Type'!$B$13:$G$13</c:f>
              <c:strCache>
                <c:ptCount val="6"/>
                <c:pt idx="0">
                  <c:v>2020 Dec</c:v>
                </c:pt>
                <c:pt idx="1">
                  <c:v>2021 Dec</c:v>
                </c:pt>
                <c:pt idx="2">
                  <c:v>2022 Dec</c:v>
                </c:pt>
                <c:pt idx="3">
                  <c:v>2023 Dec</c:v>
                </c:pt>
                <c:pt idx="4">
                  <c:v>2024 Jun</c:v>
                </c:pt>
                <c:pt idx="5">
                  <c:v>2024 Sep</c:v>
                </c:pt>
              </c:strCache>
            </c:strRef>
          </c:cat>
          <c:val>
            <c:numRef>
              <c:f>'[Greenwoods Focused opportunities Fund data pack 2024Q3.xlsx]Share Type'!$B$16:$G$16</c:f>
              <c:numCache>
                <c:formatCode>0.00%</c:formatCode>
                <c:ptCount val="6"/>
                <c:pt idx="0">
                  <c:v>0.154003014502863</c:v>
                </c:pt>
                <c:pt idx="1">
                  <c:v>0.164900012862988</c:v>
                </c:pt>
                <c:pt idx="2">
                  <c:v>0.315025896890908</c:v>
                </c:pt>
                <c:pt idx="3">
                  <c:v>0.368666043806307</c:v>
                </c:pt>
                <c:pt idx="4">
                  <c:v>0.477624089517555</c:v>
                </c:pt>
                <c:pt idx="5">
                  <c:v>0.406712252141192</c:v>
                </c:pt>
              </c:numCache>
            </c:numRef>
          </c:val>
        </c:ser>
        <c:ser>
          <c:idx val="3"/>
          <c:order val="3"/>
          <c:tx>
            <c:strRef>
              <c:f>'[Greenwoods Focused opportunities Fund data pack 2024Q3.xlsx]Share Type'!$A$17</c:f>
              <c:strCache>
                <c:ptCount val="1"/>
                <c:pt idx="0">
                  <c:v>其他国家</c:v>
                </c:pt>
              </c:strCache>
            </c:strRef>
          </c:tx>
          <c:spPr>
            <a:solidFill>
              <a:srgbClr val="0C2963"/>
            </a:solidFill>
            <a:ln w="25400">
              <a:noFill/>
            </a:ln>
            <a:effectLst/>
          </c:spPr>
          <c:dLbls>
            <c:delete val="1"/>
          </c:dLbls>
          <c:cat>
            <c:strRef>
              <c:f>'[Greenwoods Focused opportunities Fund data pack 2024Q3.xlsx]Share Type'!$B$13:$G$13</c:f>
              <c:strCache>
                <c:ptCount val="6"/>
                <c:pt idx="0">
                  <c:v>2020 Dec</c:v>
                </c:pt>
                <c:pt idx="1">
                  <c:v>2021 Dec</c:v>
                </c:pt>
                <c:pt idx="2">
                  <c:v>2022 Dec</c:v>
                </c:pt>
                <c:pt idx="3">
                  <c:v>2023 Dec</c:v>
                </c:pt>
                <c:pt idx="4">
                  <c:v>2024 Jun</c:v>
                </c:pt>
                <c:pt idx="5">
                  <c:v>2024 Sep</c:v>
                </c:pt>
              </c:strCache>
            </c:strRef>
          </c:cat>
          <c:val>
            <c:numRef>
              <c:f>'[Greenwoods Focused opportunities Fund data pack 2024Q3.xlsx]Share Type'!$B$17:$G$17</c:f>
              <c:numCache>
                <c:formatCode>0.00%</c:formatCode>
                <c:ptCount val="6"/>
                <c:pt idx="0">
                  <c:v>0.49791071427299</c:v>
                </c:pt>
                <c:pt idx="1">
                  <c:v>0.479899528514272</c:v>
                </c:pt>
                <c:pt idx="2">
                  <c:v>0.551779446163374</c:v>
                </c:pt>
                <c:pt idx="3">
                  <c:v>0.640207627103056</c:v>
                </c:pt>
                <c:pt idx="4">
                  <c:v>0.3631426950861</c:v>
                </c:pt>
                <c:pt idx="5">
                  <c:v>0.195995970093909</c:v>
                </c:pt>
              </c:numCache>
            </c:numRef>
          </c:val>
        </c:ser>
        <c:dLbls>
          <c:showLegendKey val="0"/>
          <c:showVal val="0"/>
          <c:showCatName val="0"/>
          <c:showSerName val="0"/>
          <c:showPercent val="0"/>
          <c:showBubbleSize val="0"/>
        </c:dLbls>
        <c:axId val="1817738576"/>
        <c:axId val="1817729424"/>
      </c:areaChart>
      <c:catAx>
        <c:axId val="181773857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crossAx val="1817729424"/>
        <c:crosses val="autoZero"/>
        <c:auto val="0"/>
        <c:lblAlgn val="ctr"/>
        <c:lblOffset val="100"/>
        <c:noMultiLvlLbl val="0"/>
      </c:catAx>
      <c:valAx>
        <c:axId val="1817729424"/>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crossAx val="1817738576"/>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1"/>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2"/>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egendEntry>
        <c:idx val="3"/>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Entry>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等线" panose="02010600030101010101" charset="-122"/>
              <a:ea typeface="等线" panose="02010600030101010101" charset="-122"/>
              <a:cs typeface="等线" panose="02010600030101010101" charset="-122"/>
              <a:sym typeface="等线" panose="02010600030101010101" charset="-122"/>
            </a:defRPr>
          </a:pPr>
        </a:p>
      </c:txPr>
    </c:legend>
    <c:plotVisOnly val="1"/>
    <c:dispBlanksAs val="zero"/>
    <c:showDLblsOverMax val="0"/>
    <c:extLst>
      <c:ext uri="{0b15fc19-7d7d-44ad-8c2d-2c3a37ce22c3}">
        <chartProps xmlns="https://web.wps.cn/et/2018/main" chartId="{39ce4f5a-0fe1-4913-918c-67ef7991bfd0}"/>
      </c:ext>
    </c:extLst>
  </c:chart>
  <c:spPr>
    <a:noFill/>
    <a:ln w="9525" cap="flat" cmpd="sng" algn="ctr">
      <a:noFill/>
      <a:round/>
    </a:ln>
    <a:effectLst/>
  </c:spPr>
  <c:txPr>
    <a:bodyPr/>
    <a:lstStyle/>
    <a:p>
      <a:pPr>
        <a:defRPr lang="zh-CN">
          <a:latin typeface="等线" panose="02010600030101010101" charset="-122"/>
          <a:ea typeface="等线" panose="02010600030101010101" charset="-122"/>
          <a:cs typeface="等线" panose="02010600030101010101" charset="-122"/>
          <a:sym typeface="等线" panose="02010600030101010101" charset="-122"/>
        </a:defRPr>
      </a:pP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4510108864697"/>
          <c:y val="0.0634664948453608"/>
          <c:w val="0.862001036806636"/>
          <c:h val="0.700064432989691"/>
        </c:manualLayout>
      </c:layout>
      <c:areaChart>
        <c:grouping val="stacked"/>
        <c:varyColors val="0"/>
        <c:ser>
          <c:idx val="0"/>
          <c:order val="0"/>
          <c:tx>
            <c:strRef>
              <c:f>'[Greenwoods Focused opportunities Fund data pack 2024Q3.xlsx]Share Type'!$A$20</c:f>
              <c:strCache>
                <c:ptCount val="1"/>
                <c:pt idx="0">
                  <c:v>中国股票</c:v>
                </c:pt>
              </c:strCache>
            </c:strRef>
          </c:tx>
          <c:spPr>
            <a:solidFill>
              <a:schemeClr val="accent1"/>
            </a:solidFill>
            <a:ln w="25400">
              <a:noFill/>
            </a:ln>
            <a:effectLst/>
          </c:spPr>
          <c:dLbls>
            <c:delete val="1"/>
          </c:dLbls>
          <c:cat>
            <c:strRef>
              <c:f>'[Greenwoods Focused opportunities Fund data pack 2024Q3.xlsx]Share Type'!$B$13:$G$13</c:f>
              <c:strCache>
                <c:ptCount val="6"/>
                <c:pt idx="0">
                  <c:v>2020 Dec</c:v>
                </c:pt>
                <c:pt idx="1">
                  <c:v>2021 Dec</c:v>
                </c:pt>
                <c:pt idx="2">
                  <c:v>2022 Dec</c:v>
                </c:pt>
                <c:pt idx="3">
                  <c:v>2023 Dec</c:v>
                </c:pt>
                <c:pt idx="4">
                  <c:v>2024 Jun</c:v>
                </c:pt>
                <c:pt idx="5">
                  <c:v>2024 Sep</c:v>
                </c:pt>
              </c:strCache>
            </c:strRef>
          </c:cat>
          <c:val>
            <c:numRef>
              <c:f>'[Greenwoods Focused opportunities Fund data pack 2024Q3.xlsx]Share Type'!$B$20:$G$20</c:f>
              <c:numCache>
                <c:formatCode>0.00%</c:formatCode>
                <c:ptCount val="6"/>
                <c:pt idx="0">
                  <c:v>0</c:v>
                </c:pt>
                <c:pt idx="1">
                  <c:v>0</c:v>
                </c:pt>
                <c:pt idx="2">
                  <c:v>0</c:v>
                </c:pt>
                <c:pt idx="3">
                  <c:v>0</c:v>
                </c:pt>
                <c:pt idx="4">
                  <c:v>0</c:v>
                </c:pt>
                <c:pt idx="5">
                  <c:v>0</c:v>
                </c:pt>
              </c:numCache>
            </c:numRef>
          </c:val>
        </c:ser>
        <c:ser>
          <c:idx val="1"/>
          <c:order val="1"/>
          <c:tx>
            <c:strRef>
              <c:f>'[Greenwoods Focused opportunities Fund data pack 2024Q3.xlsx]Share Type'!$A$21</c:f>
              <c:strCache>
                <c:ptCount val="1"/>
                <c:pt idx="0">
                  <c:v>港股</c:v>
                </c:pt>
              </c:strCache>
            </c:strRef>
          </c:tx>
          <c:spPr>
            <a:solidFill>
              <a:srgbClr val="4874CB"/>
            </a:solidFill>
            <a:ln w="25400">
              <a:noFill/>
            </a:ln>
            <a:effectLst/>
          </c:spPr>
          <c:dLbls>
            <c:delete val="1"/>
          </c:dLbls>
          <c:cat>
            <c:strRef>
              <c:f>'[Greenwoods Focused opportunities Fund data pack 2024Q3.xlsx]Share Type'!$B$13:$G$13</c:f>
              <c:strCache>
                <c:ptCount val="6"/>
                <c:pt idx="0">
                  <c:v>2020 Dec</c:v>
                </c:pt>
                <c:pt idx="1">
                  <c:v>2021 Dec</c:v>
                </c:pt>
                <c:pt idx="2">
                  <c:v>2022 Dec</c:v>
                </c:pt>
                <c:pt idx="3">
                  <c:v>2023 Dec</c:v>
                </c:pt>
                <c:pt idx="4">
                  <c:v>2024 Jun</c:v>
                </c:pt>
                <c:pt idx="5">
                  <c:v>2024 Sep</c:v>
                </c:pt>
              </c:strCache>
            </c:strRef>
          </c:cat>
          <c:val>
            <c:numRef>
              <c:f>'[Greenwoods Focused opportunities Fund data pack 2024Q3.xlsx]Share Type'!$B$21:$G$21</c:f>
              <c:numCache>
                <c:formatCode>0.00%</c:formatCode>
                <c:ptCount val="6"/>
                <c:pt idx="0">
                  <c:v>0</c:v>
                </c:pt>
                <c:pt idx="1">
                  <c:v>-0.0563645658630964</c:v>
                </c:pt>
                <c:pt idx="2">
                  <c:v>-0.14262545985579</c:v>
                </c:pt>
                <c:pt idx="3">
                  <c:v>-0.0424366142880055</c:v>
                </c:pt>
                <c:pt idx="4">
                  <c:v>-0.00385452257339538</c:v>
                </c:pt>
                <c:pt idx="5">
                  <c:v>0</c:v>
                </c:pt>
              </c:numCache>
            </c:numRef>
          </c:val>
        </c:ser>
        <c:ser>
          <c:idx val="2"/>
          <c:order val="2"/>
          <c:tx>
            <c:strRef>
              <c:f>'[Greenwoods Focused opportunities Fund data pack 2024Q3.xlsx]Share Type'!$A$22</c:f>
              <c:strCache>
                <c:ptCount val="1"/>
                <c:pt idx="0">
                  <c:v>中概股ADR</c:v>
                </c:pt>
              </c:strCache>
            </c:strRef>
          </c:tx>
          <c:spPr>
            <a:solidFill>
              <a:srgbClr val="F2BA02"/>
            </a:solidFill>
            <a:ln w="25400">
              <a:noFill/>
            </a:ln>
            <a:effectLst/>
          </c:spPr>
          <c:dLbls>
            <c:delete val="1"/>
          </c:dLbls>
          <c:cat>
            <c:strRef>
              <c:f>'[Greenwoods Focused opportunities Fund data pack 2024Q3.xlsx]Share Type'!$B$13:$G$13</c:f>
              <c:strCache>
                <c:ptCount val="6"/>
                <c:pt idx="0">
                  <c:v>2020 Dec</c:v>
                </c:pt>
                <c:pt idx="1">
                  <c:v>2021 Dec</c:v>
                </c:pt>
                <c:pt idx="2">
                  <c:v>2022 Dec</c:v>
                </c:pt>
                <c:pt idx="3">
                  <c:v>2023 Dec</c:v>
                </c:pt>
                <c:pt idx="4">
                  <c:v>2024 Jun</c:v>
                </c:pt>
                <c:pt idx="5">
                  <c:v>2024 Sep</c:v>
                </c:pt>
              </c:strCache>
            </c:strRef>
          </c:cat>
          <c:val>
            <c:numRef>
              <c:f>'[Greenwoods Focused opportunities Fund data pack 2024Q3.xlsx]Share Type'!$B$22:$G$22</c:f>
              <c:numCache>
                <c:formatCode>0.00%</c:formatCode>
                <c:ptCount val="6"/>
                <c:pt idx="0">
                  <c:v>0</c:v>
                </c:pt>
                <c:pt idx="1">
                  <c:v>-0.0176947496461767</c:v>
                </c:pt>
                <c:pt idx="2">
                  <c:v>-0.071587731769466</c:v>
                </c:pt>
                <c:pt idx="3">
                  <c:v>-0.0528176256248258</c:v>
                </c:pt>
                <c:pt idx="4">
                  <c:v>-0.0178236729560407</c:v>
                </c:pt>
                <c:pt idx="5">
                  <c:v>-0.0863576332908134</c:v>
                </c:pt>
              </c:numCache>
            </c:numRef>
          </c:val>
        </c:ser>
        <c:ser>
          <c:idx val="3"/>
          <c:order val="3"/>
          <c:tx>
            <c:strRef>
              <c:f>'[Greenwoods Focused opportunities Fund data pack 2024Q3.xlsx]Share Type'!$A$23</c:f>
              <c:strCache>
                <c:ptCount val="1"/>
                <c:pt idx="0">
                  <c:v>其他国家</c:v>
                </c:pt>
              </c:strCache>
            </c:strRef>
          </c:tx>
          <c:spPr>
            <a:solidFill>
              <a:srgbClr val="002060"/>
            </a:solidFill>
            <a:ln w="25400">
              <a:noFill/>
            </a:ln>
            <a:effectLst/>
          </c:spPr>
          <c:dLbls>
            <c:delete val="1"/>
          </c:dLbls>
          <c:cat>
            <c:strRef>
              <c:f>'[Greenwoods Focused opportunities Fund data pack 2024Q3.xlsx]Share Type'!$B$13:$G$13</c:f>
              <c:strCache>
                <c:ptCount val="6"/>
                <c:pt idx="0">
                  <c:v>2020 Dec</c:v>
                </c:pt>
                <c:pt idx="1">
                  <c:v>2021 Dec</c:v>
                </c:pt>
                <c:pt idx="2">
                  <c:v>2022 Dec</c:v>
                </c:pt>
                <c:pt idx="3">
                  <c:v>2023 Dec</c:v>
                </c:pt>
                <c:pt idx="4">
                  <c:v>2024 Jun</c:v>
                </c:pt>
                <c:pt idx="5">
                  <c:v>2024 Sep</c:v>
                </c:pt>
              </c:strCache>
            </c:strRef>
          </c:cat>
          <c:val>
            <c:numRef>
              <c:f>'[Greenwoods Focused opportunities Fund data pack 2024Q3.xlsx]Share Type'!$B$23:$G$23</c:f>
              <c:numCache>
                <c:formatCode>0.00%</c:formatCode>
                <c:ptCount val="6"/>
                <c:pt idx="0">
                  <c:v>-0.0197477538544195</c:v>
                </c:pt>
                <c:pt idx="1">
                  <c:v>-0.0693429036069949</c:v>
                </c:pt>
                <c:pt idx="2">
                  <c:v>-0.20239128997051</c:v>
                </c:pt>
                <c:pt idx="3">
                  <c:v>-0.14933928801785</c:v>
                </c:pt>
                <c:pt idx="4">
                  <c:v>-0.0828183871847064</c:v>
                </c:pt>
                <c:pt idx="5">
                  <c:v>-0.132016228841898</c:v>
                </c:pt>
              </c:numCache>
            </c:numRef>
          </c:val>
        </c:ser>
        <c:dLbls>
          <c:showLegendKey val="0"/>
          <c:showVal val="0"/>
          <c:showCatName val="0"/>
          <c:showSerName val="0"/>
          <c:showPercent val="0"/>
          <c:showBubbleSize val="0"/>
        </c:dLbls>
        <c:axId val="1813650112"/>
        <c:axId val="1813665504"/>
      </c:areaChart>
      <c:catAx>
        <c:axId val="1813650112"/>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j-ea"/>
                <a:ea typeface="+mj-ea"/>
                <a:cs typeface="+mn-cs"/>
              </a:defRPr>
            </a:pPr>
          </a:p>
        </c:txPr>
        <c:crossAx val="1813665504"/>
        <c:crosses val="autoZero"/>
        <c:auto val="0"/>
        <c:lblAlgn val="ctr"/>
        <c:lblOffset val="100"/>
        <c:noMultiLvlLbl val="0"/>
      </c:catAx>
      <c:valAx>
        <c:axId val="1813665504"/>
        <c:scaling>
          <c:orientation val="minMax"/>
        </c:scaling>
        <c:delete val="0"/>
        <c:axPos val="l"/>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crossAx val="1813650112"/>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legendEntry>
      <c:legendEntry>
        <c:idx val="1"/>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legendEntry>
      <c:legendEntry>
        <c:idx val="2"/>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legendEntry>
      <c:legendEntry>
        <c:idx val="3"/>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legendEntry>
      <c:layout>
        <c:manualLayout>
          <c:xMode val="edge"/>
          <c:yMode val="edge"/>
          <c:x val="0.29061689994816"/>
          <c:y val="0.809922680412371"/>
        </c:manualLayout>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legend>
    <c:plotVisOnly val="1"/>
    <c:dispBlanksAs val="zero"/>
    <c:showDLblsOverMax val="0"/>
    <c:extLst>
      <c:ext uri="{0b15fc19-7d7d-44ad-8c2d-2c3a37ce22c3}">
        <chartProps xmlns="https://web.wps.cn/et/2018/main" chartId="{031db1e3-8d5a-46d5-a6e4-98e49fe39eab}"/>
      </c:ext>
    </c:extLst>
  </c:chart>
  <c:spPr>
    <a:noFill/>
    <a:ln w="9525" cap="flat" cmpd="sng" algn="ctr">
      <a:noFill/>
      <a:round/>
    </a:ln>
    <a:effectLst/>
  </c:spPr>
  <c:txPr>
    <a:bodyPr/>
    <a:lstStyle/>
    <a:p>
      <a:pPr>
        <a:defRPr lang="zh-CN">
          <a:latin typeface="+mj-ea"/>
          <a:ea typeface="+mj-ea"/>
        </a:defRPr>
      </a:p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lang="zh-CN" sz="1440" b="1" i="0" u="none" strike="noStrike" kern="1200" spc="0" baseline="0">
                <a:solidFill>
                  <a:schemeClr val="tx1"/>
                </a:solidFill>
                <a:latin typeface="+mj-ea"/>
                <a:ea typeface="+mj-ea"/>
                <a:cs typeface="+mn-cs"/>
              </a:defRPr>
            </a:pPr>
            <a:r>
              <a:rPr lang="zh-CN" sz="1440" b="1" dirty="0">
                <a:solidFill>
                  <a:schemeClr val="tx1"/>
                </a:solidFill>
              </a:rPr>
              <a:t>景林環球V.S景林金色中國</a:t>
            </a:r>
            <a:endParaRPr lang="zh-CN" sz="1440" b="1" dirty="0">
              <a:solidFill>
                <a:schemeClr val="tx1"/>
              </a:solidFill>
            </a:endParaRPr>
          </a:p>
        </c:rich>
      </c:tx>
      <c:layout>
        <c:manualLayout>
          <c:xMode val="edge"/>
          <c:yMode val="edge"/>
          <c:x val="0.301475383110532"/>
          <c:y val="0.0131390895554414"/>
        </c:manualLayout>
      </c:layout>
      <c:overlay val="0"/>
      <c:spPr>
        <a:noFill/>
        <a:ln>
          <a:noFill/>
        </a:ln>
        <a:effectLst/>
      </c:spPr>
    </c:title>
    <c:autoTitleDeleted val="0"/>
    <c:plotArea>
      <c:layout>
        <c:manualLayout>
          <c:layoutTarget val="inner"/>
          <c:xMode val="edge"/>
          <c:yMode val="edge"/>
          <c:x val="0.0703790348875122"/>
          <c:y val="0.125963470379016"/>
          <c:w val="0.90684626671014"/>
          <c:h val="0.670212233326614"/>
        </c:manualLayout>
      </c:layout>
      <c:lineChart>
        <c:grouping val="standard"/>
        <c:varyColors val="0"/>
        <c:ser>
          <c:idx val="1"/>
          <c:order val="0"/>
          <c:tx>
            <c:strRef>
              <c:f>'[Greenwoods Focused opportunities Fund data pack 2024Q3.xlsx]比较'!$B$1</c:f>
              <c:strCache>
                <c:ptCount val="1"/>
                <c:pt idx="0">
                  <c:v>景林环球</c:v>
                </c:pt>
              </c:strCache>
            </c:strRef>
          </c:tx>
          <c:spPr>
            <a:ln w="38100" cap="rnd">
              <a:solidFill>
                <a:srgbClr val="002060"/>
              </a:solidFill>
              <a:round/>
            </a:ln>
            <a:effectLst/>
          </c:spPr>
          <c:marker>
            <c:symbol val="none"/>
          </c:marker>
          <c:dLbls>
            <c:delete val="1"/>
          </c:dLbls>
          <c:cat>
            <c:numRef>
              <c:f>'[Greenwoods Focused opportunities Fund data pack 2024Q3.xlsx]比较'!$A$2:$A$54</c:f>
              <c:numCache>
                <c:formatCode>yyyy/m/d</c:formatCode>
                <c:ptCount val="53"/>
                <c:pt idx="0" c:formatCode="yyyy/m/d">
                  <c:v>44044</c:v>
                </c:pt>
                <c:pt idx="1" c:formatCode="yyyy/m/d">
                  <c:v>44074</c:v>
                </c:pt>
                <c:pt idx="2" c:formatCode="yyyy/m/d">
                  <c:v>44104</c:v>
                </c:pt>
                <c:pt idx="3" c:formatCode="yyyy/m/d">
                  <c:v>44135</c:v>
                </c:pt>
                <c:pt idx="4" c:formatCode="yyyy/m/d">
                  <c:v>44165</c:v>
                </c:pt>
                <c:pt idx="5" c:formatCode="yyyy/m/d">
                  <c:v>44196</c:v>
                </c:pt>
                <c:pt idx="6" c:formatCode="yyyy/m/d">
                  <c:v>44227</c:v>
                </c:pt>
                <c:pt idx="7" c:formatCode="yyyy/m/d">
                  <c:v>44255</c:v>
                </c:pt>
                <c:pt idx="8" c:formatCode="yyyy/m/d">
                  <c:v>44286</c:v>
                </c:pt>
                <c:pt idx="9" c:formatCode="yyyy/m/d">
                  <c:v>44316</c:v>
                </c:pt>
                <c:pt idx="10" c:formatCode="yyyy/m/d">
                  <c:v>44347</c:v>
                </c:pt>
                <c:pt idx="11" c:formatCode="yyyy/m/d">
                  <c:v>44377</c:v>
                </c:pt>
                <c:pt idx="12" c:formatCode="yyyy/m/d">
                  <c:v>44408</c:v>
                </c:pt>
                <c:pt idx="13" c:formatCode="yyyy/m/d">
                  <c:v>44439</c:v>
                </c:pt>
                <c:pt idx="14" c:formatCode="yyyy/m/d">
                  <c:v>44469</c:v>
                </c:pt>
                <c:pt idx="15" c:formatCode="yyyy/m/d">
                  <c:v>44500</c:v>
                </c:pt>
                <c:pt idx="16" c:formatCode="yyyy/m/d">
                  <c:v>44530</c:v>
                </c:pt>
                <c:pt idx="17" c:formatCode="yyyy/m/d">
                  <c:v>44561</c:v>
                </c:pt>
                <c:pt idx="18" c:formatCode="yyyy/m/d">
                  <c:v>44592</c:v>
                </c:pt>
                <c:pt idx="19" c:formatCode="yyyy/m/d">
                  <c:v>44620</c:v>
                </c:pt>
                <c:pt idx="20" c:formatCode="yyyy/m/d">
                  <c:v>44651</c:v>
                </c:pt>
                <c:pt idx="21" c:formatCode="yyyy/m/d">
                  <c:v>44681</c:v>
                </c:pt>
                <c:pt idx="22" c:formatCode="yyyy/m/d">
                  <c:v>44712</c:v>
                </c:pt>
                <c:pt idx="23" c:formatCode="yyyy/m/d">
                  <c:v>44742</c:v>
                </c:pt>
                <c:pt idx="24" c:formatCode="yyyy/m/d">
                  <c:v>44773</c:v>
                </c:pt>
                <c:pt idx="25" c:formatCode="yyyy/m/d">
                  <c:v>44804</c:v>
                </c:pt>
                <c:pt idx="26" c:formatCode="yyyy/m/d">
                  <c:v>44834</c:v>
                </c:pt>
                <c:pt idx="27" c:formatCode="yyyy/m/d">
                  <c:v>44865</c:v>
                </c:pt>
                <c:pt idx="28" c:formatCode="yyyy/m/d">
                  <c:v>44895</c:v>
                </c:pt>
                <c:pt idx="29" c:formatCode="yyyy/m/d">
                  <c:v>44926</c:v>
                </c:pt>
                <c:pt idx="30" c:formatCode="yyyy/m/d">
                  <c:v>44957</c:v>
                </c:pt>
                <c:pt idx="31" c:formatCode="yyyy/m/d">
                  <c:v>44985</c:v>
                </c:pt>
                <c:pt idx="32" c:formatCode="yyyy/m/d">
                  <c:v>45016</c:v>
                </c:pt>
                <c:pt idx="33" c:formatCode="yyyy/m/d">
                  <c:v>45046</c:v>
                </c:pt>
                <c:pt idx="34" c:formatCode="yyyy/m/d">
                  <c:v>45077</c:v>
                </c:pt>
                <c:pt idx="35" c:formatCode="yyyy/m/d">
                  <c:v>45107</c:v>
                </c:pt>
                <c:pt idx="36" c:formatCode="yyyy/m/d">
                  <c:v>45138</c:v>
                </c:pt>
                <c:pt idx="37" c:formatCode="yyyy/m/d">
                  <c:v>45169</c:v>
                </c:pt>
                <c:pt idx="38" c:formatCode="yyyy/m/d">
                  <c:v>45199</c:v>
                </c:pt>
                <c:pt idx="39" c:formatCode="yyyy/m/d">
                  <c:v>45230</c:v>
                </c:pt>
                <c:pt idx="40" c:formatCode="yyyy/m/d">
                  <c:v>45260</c:v>
                </c:pt>
                <c:pt idx="41" c:formatCode="yyyy/m/d">
                  <c:v>45291</c:v>
                </c:pt>
                <c:pt idx="42" c:formatCode="yyyy/m/d">
                  <c:v>45322</c:v>
                </c:pt>
                <c:pt idx="43" c:formatCode="yyyy/m/d">
                  <c:v>45351</c:v>
                </c:pt>
                <c:pt idx="44" c:formatCode="yyyy/m/d">
                  <c:v>45382</c:v>
                </c:pt>
                <c:pt idx="45" c:formatCode="yyyy/m/d">
                  <c:v>45412</c:v>
                </c:pt>
                <c:pt idx="46" c:formatCode="yyyy/m/d">
                  <c:v>45443</c:v>
                </c:pt>
                <c:pt idx="47" c:formatCode="yyyy/m/d">
                  <c:v>45473</c:v>
                </c:pt>
                <c:pt idx="48" c:formatCode="yyyy/m/d">
                  <c:v>45504</c:v>
                </c:pt>
                <c:pt idx="49" c:formatCode="yyyy/m/d">
                  <c:v>45535</c:v>
                </c:pt>
                <c:pt idx="50" c:formatCode="yyyy/m/d">
                  <c:v>45565</c:v>
                </c:pt>
                <c:pt idx="51" c:formatCode="yyyy/m/d">
                  <c:v>45596</c:v>
                </c:pt>
                <c:pt idx="52" c:formatCode="yyyy/m/d">
                  <c:v>45626</c:v>
                </c:pt>
              </c:numCache>
            </c:numRef>
          </c:cat>
          <c:val>
            <c:numRef>
              <c:f>'[Greenwoods Focused opportunities Fund data pack 2024Q3.xlsx]比较'!$B$2:$B$54</c:f>
              <c:numCache>
                <c:formatCode>General</c:formatCode>
                <c:ptCount val="53"/>
                <c:pt idx="0">
                  <c:v>1</c:v>
                </c:pt>
                <c:pt idx="1" c:formatCode="0.0000">
                  <c:v>1.0572696</c:v>
                </c:pt>
                <c:pt idx="2" c:formatCode="0.0000">
                  <c:v>1.0490151</c:v>
                </c:pt>
                <c:pt idx="3" c:formatCode="0.0000">
                  <c:v>1.0595724</c:v>
                </c:pt>
                <c:pt idx="4" c:formatCode="0.0000">
                  <c:v>1.1409834</c:v>
                </c:pt>
                <c:pt idx="5" c:formatCode="0.0000">
                  <c:v>1.2014826</c:v>
                </c:pt>
                <c:pt idx="6" c:formatCode="0.0000">
                  <c:v>1.2451003</c:v>
                </c:pt>
                <c:pt idx="7" c:formatCode="0.0000">
                  <c:v>1.2975893</c:v>
                </c:pt>
                <c:pt idx="8" c:formatCode="0.0000">
                  <c:v>1.2668092</c:v>
                </c:pt>
                <c:pt idx="9" c:formatCode="0.0000">
                  <c:v>1.313345</c:v>
                </c:pt>
                <c:pt idx="10" c:formatCode="0.0000">
                  <c:v>1.3162032</c:v>
                </c:pt>
                <c:pt idx="11" c:formatCode="0.0000">
                  <c:v>1.3504848</c:v>
                </c:pt>
                <c:pt idx="12" c:formatCode="0.0000">
                  <c:v>1.3404349</c:v>
                </c:pt>
                <c:pt idx="13" c:formatCode="0.0000">
                  <c:v>1.3955841</c:v>
                </c:pt>
                <c:pt idx="14" c:formatCode="0.0000">
                  <c:v>1.3393187</c:v>
                </c:pt>
                <c:pt idx="15" c:formatCode="0.0000">
                  <c:v>1.3964274</c:v>
                </c:pt>
                <c:pt idx="16" c:formatCode="0.0000">
                  <c:v>1.3317609</c:v>
                </c:pt>
                <c:pt idx="17" c:formatCode="0.0000">
                  <c:v>1.2772744</c:v>
                </c:pt>
                <c:pt idx="18" c:formatCode="0.0000">
                  <c:v>1.18131034750664</c:v>
                </c:pt>
                <c:pt idx="19" c:formatCode="0.0000">
                  <c:v>1.11247432599488</c:v>
                </c:pt>
                <c:pt idx="20" c:formatCode="0.0000">
                  <c:v>1.07110430227096</c:v>
                </c:pt>
                <c:pt idx="21" c:formatCode="0.0000">
                  <c:v>0.954241869227119</c:v>
                </c:pt>
                <c:pt idx="22" c:formatCode="0.0000">
                  <c:v>0.922399673889999</c:v>
                </c:pt>
                <c:pt idx="23" c:formatCode="0.0000">
                  <c:v>0.918079037777119</c:v>
                </c:pt>
                <c:pt idx="24" c:formatCode="0.0000">
                  <c:v>0.919840910084479</c:v>
                </c:pt>
                <c:pt idx="25" c:formatCode="0.0000">
                  <c:v>0.914081296632559</c:v>
                </c:pt>
                <c:pt idx="26" c:formatCode="0.0000">
                  <c:v>0.864489840778159</c:v>
                </c:pt>
                <c:pt idx="27" c:formatCode="0.0000">
                  <c:v>0.827299314345919</c:v>
                </c:pt>
                <c:pt idx="28" c:formatCode="0.0000">
                  <c:v>1.00230366126008</c:v>
                </c:pt>
                <c:pt idx="29" c:formatCode="0.0000">
                  <c:v>1.06070716092752</c:v>
                </c:pt>
                <c:pt idx="30" c:formatCode="0.0000">
                  <c:v>1.1852250658152</c:v>
                </c:pt>
                <c:pt idx="31" c:formatCode="0.0000">
                  <c:v>1.14520856977296</c:v>
                </c:pt>
                <c:pt idx="32" c:formatCode="0.0000">
                  <c:v>1.22152890835896</c:v>
                </c:pt>
                <c:pt idx="33" c:formatCode="0.0000">
                  <c:v>1.243752333372</c:v>
                </c:pt>
                <c:pt idx="34" c:formatCode="0.0000">
                  <c:v>1.21634151383824</c:v>
                </c:pt>
                <c:pt idx="35" c:formatCode="0.0000">
                  <c:v>1.3032650181284</c:v>
                </c:pt>
                <c:pt idx="36" c:formatCode="0.0000">
                  <c:v>1.34164902976</c:v>
                </c:pt>
                <c:pt idx="37" c:formatCode="0.0000">
                  <c:v>1.3471809051864</c:v>
                </c:pt>
                <c:pt idx="38" c:formatCode="0.0000">
                  <c:v>1.37098623454384</c:v>
                </c:pt>
                <c:pt idx="39" c:formatCode="0.0000">
                  <c:v>1.38953953929592</c:v>
                </c:pt>
                <c:pt idx="40" c:formatCode="0.0000">
                  <c:v>1.49391125052728</c:v>
                </c:pt>
                <c:pt idx="41" c:formatCode="0.0000">
                  <c:v>1.50795360528088</c:v>
                </c:pt>
                <c:pt idx="42" c:formatCode="0.0000">
                  <c:v>1.55386451790436</c:v>
                </c:pt>
                <c:pt idx="43" c:formatCode="0.0000">
                  <c:v>1.68341566835479</c:v>
                </c:pt>
                <c:pt idx="44" c:formatCode="0.0000">
                  <c:v>1.75493548951139</c:v>
                </c:pt>
                <c:pt idx="45" c:formatCode="0.0000">
                  <c:v>1.75524521256969</c:v>
                </c:pt>
                <c:pt idx="46" c:formatCode="0.0000">
                  <c:v>1.81670772553994</c:v>
                </c:pt>
                <c:pt idx="47" c:formatCode="0.0000">
                  <c:v>1.84099938928048</c:v>
                </c:pt>
                <c:pt idx="48" c:formatCode="0.0000">
                  <c:v>1.76225440866829</c:v>
                </c:pt>
                <c:pt idx="49" c:formatCode="0.0000">
                  <c:v>1.76836195775153</c:v>
                </c:pt>
                <c:pt idx="50" c:formatCode="0.0000">
                  <c:v>1.91258544797889</c:v>
                </c:pt>
                <c:pt idx="51" c:formatCode="0.0000">
                  <c:v>1.9108641210757</c:v>
                </c:pt>
                <c:pt idx="52" c:formatCode="0.0000">
                  <c:v>1.93838056441919</c:v>
                </c:pt>
              </c:numCache>
            </c:numRef>
          </c:val>
          <c:smooth val="0"/>
        </c:ser>
        <c:ser>
          <c:idx val="3"/>
          <c:order val="1"/>
          <c:tx>
            <c:strRef>
              <c:f>'[Greenwoods Focused opportunities Fund data pack 2024Q3.xlsx]比较'!$D$1</c:f>
              <c:strCache>
                <c:ptCount val="1"/>
                <c:pt idx="0">
                  <c:v>景林金色中国</c:v>
                </c:pt>
              </c:strCache>
            </c:strRef>
          </c:tx>
          <c:spPr>
            <a:ln w="28575" cap="rnd">
              <a:solidFill>
                <a:srgbClr val="FF0000"/>
              </a:solidFill>
              <a:round/>
            </a:ln>
            <a:effectLst/>
          </c:spPr>
          <c:marker>
            <c:symbol val="none"/>
          </c:marker>
          <c:dLbls>
            <c:delete val="1"/>
          </c:dLbls>
          <c:cat>
            <c:numRef>
              <c:f>'[Greenwoods Focused opportunities Fund data pack 2024Q3.xlsx]比较'!$A$2:$A$54</c:f>
              <c:numCache>
                <c:formatCode>yyyy/m/d</c:formatCode>
                <c:ptCount val="53"/>
                <c:pt idx="0" c:formatCode="yyyy/m/d">
                  <c:v>44044</c:v>
                </c:pt>
                <c:pt idx="1" c:formatCode="yyyy/m/d">
                  <c:v>44074</c:v>
                </c:pt>
                <c:pt idx="2" c:formatCode="yyyy/m/d">
                  <c:v>44104</c:v>
                </c:pt>
                <c:pt idx="3" c:formatCode="yyyy/m/d">
                  <c:v>44135</c:v>
                </c:pt>
                <c:pt idx="4" c:formatCode="yyyy/m/d">
                  <c:v>44165</c:v>
                </c:pt>
                <c:pt idx="5" c:formatCode="yyyy/m/d">
                  <c:v>44196</c:v>
                </c:pt>
                <c:pt idx="6" c:formatCode="yyyy/m/d">
                  <c:v>44227</c:v>
                </c:pt>
                <c:pt idx="7" c:formatCode="yyyy/m/d">
                  <c:v>44255</c:v>
                </c:pt>
                <c:pt idx="8" c:formatCode="yyyy/m/d">
                  <c:v>44286</c:v>
                </c:pt>
                <c:pt idx="9" c:formatCode="yyyy/m/d">
                  <c:v>44316</c:v>
                </c:pt>
                <c:pt idx="10" c:formatCode="yyyy/m/d">
                  <c:v>44347</c:v>
                </c:pt>
                <c:pt idx="11" c:formatCode="yyyy/m/d">
                  <c:v>44377</c:v>
                </c:pt>
                <c:pt idx="12" c:formatCode="yyyy/m/d">
                  <c:v>44408</c:v>
                </c:pt>
                <c:pt idx="13" c:formatCode="yyyy/m/d">
                  <c:v>44439</c:v>
                </c:pt>
                <c:pt idx="14" c:formatCode="yyyy/m/d">
                  <c:v>44469</c:v>
                </c:pt>
                <c:pt idx="15" c:formatCode="yyyy/m/d">
                  <c:v>44500</c:v>
                </c:pt>
                <c:pt idx="16" c:formatCode="yyyy/m/d">
                  <c:v>44530</c:v>
                </c:pt>
                <c:pt idx="17" c:formatCode="yyyy/m/d">
                  <c:v>44561</c:v>
                </c:pt>
                <c:pt idx="18" c:formatCode="yyyy/m/d">
                  <c:v>44592</c:v>
                </c:pt>
                <c:pt idx="19" c:formatCode="yyyy/m/d">
                  <c:v>44620</c:v>
                </c:pt>
                <c:pt idx="20" c:formatCode="yyyy/m/d">
                  <c:v>44651</c:v>
                </c:pt>
                <c:pt idx="21" c:formatCode="yyyy/m/d">
                  <c:v>44681</c:v>
                </c:pt>
                <c:pt idx="22" c:formatCode="yyyy/m/d">
                  <c:v>44712</c:v>
                </c:pt>
                <c:pt idx="23" c:formatCode="yyyy/m/d">
                  <c:v>44742</c:v>
                </c:pt>
                <c:pt idx="24" c:formatCode="yyyy/m/d">
                  <c:v>44773</c:v>
                </c:pt>
                <c:pt idx="25" c:formatCode="yyyy/m/d">
                  <c:v>44804</c:v>
                </c:pt>
                <c:pt idx="26" c:formatCode="yyyy/m/d">
                  <c:v>44834</c:v>
                </c:pt>
                <c:pt idx="27" c:formatCode="yyyy/m/d">
                  <c:v>44865</c:v>
                </c:pt>
                <c:pt idx="28" c:formatCode="yyyy/m/d">
                  <c:v>44895</c:v>
                </c:pt>
                <c:pt idx="29" c:formatCode="yyyy/m/d">
                  <c:v>44926</c:v>
                </c:pt>
                <c:pt idx="30" c:formatCode="yyyy/m/d">
                  <c:v>44957</c:v>
                </c:pt>
                <c:pt idx="31" c:formatCode="yyyy/m/d">
                  <c:v>44985</c:v>
                </c:pt>
                <c:pt idx="32" c:formatCode="yyyy/m/d">
                  <c:v>45016</c:v>
                </c:pt>
                <c:pt idx="33" c:formatCode="yyyy/m/d">
                  <c:v>45046</c:v>
                </c:pt>
                <c:pt idx="34" c:formatCode="yyyy/m/d">
                  <c:v>45077</c:v>
                </c:pt>
                <c:pt idx="35" c:formatCode="yyyy/m/d">
                  <c:v>45107</c:v>
                </c:pt>
                <c:pt idx="36" c:formatCode="yyyy/m/d">
                  <c:v>45138</c:v>
                </c:pt>
                <c:pt idx="37" c:formatCode="yyyy/m/d">
                  <c:v>45169</c:v>
                </c:pt>
                <c:pt idx="38" c:formatCode="yyyy/m/d">
                  <c:v>45199</c:v>
                </c:pt>
                <c:pt idx="39" c:formatCode="yyyy/m/d">
                  <c:v>45230</c:v>
                </c:pt>
                <c:pt idx="40" c:formatCode="yyyy/m/d">
                  <c:v>45260</c:v>
                </c:pt>
                <c:pt idx="41" c:formatCode="yyyy/m/d">
                  <c:v>45291</c:v>
                </c:pt>
                <c:pt idx="42" c:formatCode="yyyy/m/d">
                  <c:v>45322</c:v>
                </c:pt>
                <c:pt idx="43" c:formatCode="yyyy/m/d">
                  <c:v>45351</c:v>
                </c:pt>
                <c:pt idx="44" c:formatCode="yyyy/m/d">
                  <c:v>45382</c:v>
                </c:pt>
                <c:pt idx="45" c:formatCode="yyyy/m/d">
                  <c:v>45412</c:v>
                </c:pt>
                <c:pt idx="46" c:formatCode="yyyy/m/d">
                  <c:v>45443</c:v>
                </c:pt>
                <c:pt idx="47" c:formatCode="yyyy/m/d">
                  <c:v>45473</c:v>
                </c:pt>
                <c:pt idx="48" c:formatCode="yyyy/m/d">
                  <c:v>45504</c:v>
                </c:pt>
                <c:pt idx="49" c:formatCode="yyyy/m/d">
                  <c:v>45535</c:v>
                </c:pt>
                <c:pt idx="50" c:formatCode="yyyy/m/d">
                  <c:v>45565</c:v>
                </c:pt>
                <c:pt idx="51" c:formatCode="yyyy/m/d">
                  <c:v>45596</c:v>
                </c:pt>
                <c:pt idx="52" c:formatCode="yyyy/m/d">
                  <c:v>45626</c:v>
                </c:pt>
              </c:numCache>
            </c:numRef>
          </c:cat>
          <c:val>
            <c:numRef>
              <c:f>'[Greenwoods Focused opportunities Fund data pack 2024Q3.xlsx]比较'!$D$2:$D$54</c:f>
              <c:numCache>
                <c:formatCode>General</c:formatCode>
                <c:ptCount val="53"/>
                <c:pt idx="0">
                  <c:v>1</c:v>
                </c:pt>
                <c:pt idx="1" c:formatCode="0.0000">
                  <c:v>1.0314974224897</c:v>
                </c:pt>
                <c:pt idx="2" c:formatCode="0.0000">
                  <c:v>0.978787953530819</c:v>
                </c:pt>
                <c:pt idx="3" c:formatCode="0.0000">
                  <c:v>0.998742076314037</c:v>
                </c:pt>
                <c:pt idx="4" c:formatCode="0.0000">
                  <c:v>1.03423525639445</c:v>
                </c:pt>
                <c:pt idx="5" c:formatCode="0.0000">
                  <c:v>1.07651135831093</c:v>
                </c:pt>
                <c:pt idx="6" c:formatCode="0.0000">
                  <c:v>1.13099671953235</c:v>
                </c:pt>
                <c:pt idx="7" c:formatCode="0.0000">
                  <c:v>1.16441802530646</c:v>
                </c:pt>
                <c:pt idx="8" c:formatCode="0.0000">
                  <c:v>1.10539427274745</c:v>
                </c:pt>
                <c:pt idx="9" c:formatCode="0.0000">
                  <c:v>1.13876624818094</c:v>
                </c:pt>
                <c:pt idx="10" c:formatCode="0.0000">
                  <c:v>1.16118688799546</c:v>
                </c:pt>
                <c:pt idx="11" c:formatCode="0.0000">
                  <c:v>1.14325530917791</c:v>
                </c:pt>
                <c:pt idx="12" c:formatCode="0.0000">
                  <c:v>1.03078213255063</c:v>
                </c:pt>
                <c:pt idx="13" c:formatCode="0.0000">
                  <c:v>1.06144093924969</c:v>
                </c:pt>
                <c:pt idx="14" c:formatCode="0.0000">
                  <c:v>1.04054953999457</c:v>
                </c:pt>
                <c:pt idx="15" c:formatCode="0.0000">
                  <c:v>1.06736058012481</c:v>
                </c:pt>
                <c:pt idx="16" c:formatCode="0.0000">
                  <c:v>1.03317465407099</c:v>
                </c:pt>
                <c:pt idx="17" c:formatCode="0.0000">
                  <c:v>0.99679352785931</c:v>
                </c:pt>
                <c:pt idx="18" c:formatCode="0.0000">
                  <c:v>0.931800804084552</c:v>
                </c:pt>
                <c:pt idx="19" c:formatCode="0.0000">
                  <c:v>0.863502947487853</c:v>
                </c:pt>
                <c:pt idx="20" c:formatCode="0.0000">
                  <c:v>0.753940260957502</c:v>
                </c:pt>
                <c:pt idx="21" c:formatCode="0.0000">
                  <c:v>0.749796512344918</c:v>
                </c:pt>
                <c:pt idx="22" c:formatCode="0.0000">
                  <c:v>0.742396961251018</c:v>
                </c:pt>
                <c:pt idx="23" c:formatCode="0.0000">
                  <c:v>0.7907406950645</c:v>
                </c:pt>
                <c:pt idx="24" c:formatCode="0.0000">
                  <c:v>0.720247638309943</c:v>
                </c:pt>
                <c:pt idx="25" c:formatCode="0.0000">
                  <c:v>0.729645068199196</c:v>
                </c:pt>
                <c:pt idx="26" c:formatCode="0.0000">
                  <c:v>0.647633376908468</c:v>
                </c:pt>
                <c:pt idx="27" c:formatCode="0.0000">
                  <c:v>0.544557630170436</c:v>
                </c:pt>
                <c:pt idx="28" c:formatCode="0.0000">
                  <c:v>0.700219520015786</c:v>
                </c:pt>
                <c:pt idx="29" c:formatCode="0.0000">
                  <c:v>0.791061342278569</c:v>
                </c:pt>
                <c:pt idx="30" c:formatCode="0.0000">
                  <c:v>0.870433860345806</c:v>
                </c:pt>
                <c:pt idx="31" c:formatCode="0.0000">
                  <c:v>0.807291024344523</c:v>
                </c:pt>
                <c:pt idx="32" c:formatCode="0.0000">
                  <c:v>0.826135214463656</c:v>
                </c:pt>
                <c:pt idx="33" c:formatCode="0.0000">
                  <c:v>0.807192363663271</c:v>
                </c:pt>
                <c:pt idx="34" c:formatCode="0.0000">
                  <c:v>0.738795846385319</c:v>
                </c:pt>
                <c:pt idx="35" c:formatCode="0.0000">
                  <c:v>0.761167155859211</c:v>
                </c:pt>
                <c:pt idx="36" c:formatCode="0.0000">
                  <c:v>0.829193695582468</c:v>
                </c:pt>
                <c:pt idx="37" c:formatCode="0.0000">
                  <c:v>0.808080309794539</c:v>
                </c:pt>
                <c:pt idx="38" c:formatCode="0.0000">
                  <c:v>0.81473990577905</c:v>
                </c:pt>
                <c:pt idx="39" c:formatCode="0.0000">
                  <c:v>0.805564462422613</c:v>
                </c:pt>
                <c:pt idx="40" c:formatCode="0.0000">
                  <c:v>0.887946131268037</c:v>
                </c:pt>
                <c:pt idx="41" c:formatCode="0.0000">
                  <c:v>0.846311323779691</c:v>
                </c:pt>
                <c:pt idx="42" c:formatCode="0.0000">
                  <c:v>0.8209061983573</c:v>
                </c:pt>
                <c:pt idx="43" c:formatCode="0.0000">
                  <c:v>0.885652270428928</c:v>
                </c:pt>
                <c:pt idx="44" c:formatCode="0.0000">
                  <c:v>0.917273018770195</c:v>
                </c:pt>
                <c:pt idx="45" c:formatCode="0.0000">
                  <c:v>0.935105936906495</c:v>
                </c:pt>
                <c:pt idx="46" c:formatCode="0.0000">
                  <c:v>1.0007646202797</c:v>
                </c:pt>
                <c:pt idx="47" c:formatCode="0.0000">
                  <c:v>1.00007399551094</c:v>
                </c:pt>
                <c:pt idx="48" c:formatCode="0.0000">
                  <c:v>0.944133389241053</c:v>
                </c:pt>
                <c:pt idx="49" c:formatCode="0.0000">
                  <c:v>0.932170781639247</c:v>
                </c:pt>
                <c:pt idx="50" c:formatCode="0.0000">
                  <c:v>1.04459462792591</c:v>
                </c:pt>
                <c:pt idx="51" c:formatCode="0.0000">
                  <c:v>1.00231852600942</c:v>
                </c:pt>
                <c:pt idx="52" c:formatCode="0.0000">
                  <c:v>0.960585057839825</c:v>
                </c:pt>
              </c:numCache>
            </c:numRef>
          </c:val>
          <c:smooth val="0"/>
        </c:ser>
        <c:ser>
          <c:idx val="4"/>
          <c:order val="2"/>
          <c:tx>
            <c:strRef>
              <c:f>'[Greenwoods Focused opportunities Fund data pack 2024Q3.xlsx]比较'!$E$1</c:f>
              <c:strCache>
                <c:ptCount val="1"/>
                <c:pt idx="0">
                  <c:v>MSCI全球</c:v>
                </c:pt>
              </c:strCache>
            </c:strRef>
          </c:tx>
          <c:spPr>
            <a:ln w="28575" cap="rnd">
              <a:solidFill>
                <a:sysClr val="window" lastClr="FFFFFF">
                  <a:lumMod val="75000"/>
                </a:sysClr>
              </a:solidFill>
              <a:prstDash val="sysDot"/>
              <a:round/>
            </a:ln>
            <a:effectLst/>
          </c:spPr>
          <c:marker>
            <c:symbol val="none"/>
          </c:marker>
          <c:dLbls>
            <c:delete val="1"/>
          </c:dLbls>
          <c:cat>
            <c:numRef>
              <c:f>'[Greenwoods Focused opportunities Fund data pack 2024Q3.xlsx]比较'!$A$2:$A$54</c:f>
              <c:numCache>
                <c:formatCode>yyyy/m/d</c:formatCode>
                <c:ptCount val="53"/>
                <c:pt idx="0" c:formatCode="yyyy/m/d">
                  <c:v>44044</c:v>
                </c:pt>
                <c:pt idx="1" c:formatCode="yyyy/m/d">
                  <c:v>44074</c:v>
                </c:pt>
                <c:pt idx="2" c:formatCode="yyyy/m/d">
                  <c:v>44104</c:v>
                </c:pt>
                <c:pt idx="3" c:formatCode="yyyy/m/d">
                  <c:v>44135</c:v>
                </c:pt>
                <c:pt idx="4" c:formatCode="yyyy/m/d">
                  <c:v>44165</c:v>
                </c:pt>
                <c:pt idx="5" c:formatCode="yyyy/m/d">
                  <c:v>44196</c:v>
                </c:pt>
                <c:pt idx="6" c:formatCode="yyyy/m/d">
                  <c:v>44227</c:v>
                </c:pt>
                <c:pt idx="7" c:formatCode="yyyy/m/d">
                  <c:v>44255</c:v>
                </c:pt>
                <c:pt idx="8" c:formatCode="yyyy/m/d">
                  <c:v>44286</c:v>
                </c:pt>
                <c:pt idx="9" c:formatCode="yyyy/m/d">
                  <c:v>44316</c:v>
                </c:pt>
                <c:pt idx="10" c:formatCode="yyyy/m/d">
                  <c:v>44347</c:v>
                </c:pt>
                <c:pt idx="11" c:formatCode="yyyy/m/d">
                  <c:v>44377</c:v>
                </c:pt>
                <c:pt idx="12" c:formatCode="yyyy/m/d">
                  <c:v>44408</c:v>
                </c:pt>
                <c:pt idx="13" c:formatCode="yyyy/m/d">
                  <c:v>44439</c:v>
                </c:pt>
                <c:pt idx="14" c:formatCode="yyyy/m/d">
                  <c:v>44469</c:v>
                </c:pt>
                <c:pt idx="15" c:formatCode="yyyy/m/d">
                  <c:v>44500</c:v>
                </c:pt>
                <c:pt idx="16" c:formatCode="yyyy/m/d">
                  <c:v>44530</c:v>
                </c:pt>
                <c:pt idx="17" c:formatCode="yyyy/m/d">
                  <c:v>44561</c:v>
                </c:pt>
                <c:pt idx="18" c:formatCode="yyyy/m/d">
                  <c:v>44592</c:v>
                </c:pt>
                <c:pt idx="19" c:formatCode="yyyy/m/d">
                  <c:v>44620</c:v>
                </c:pt>
                <c:pt idx="20" c:formatCode="yyyy/m/d">
                  <c:v>44651</c:v>
                </c:pt>
                <c:pt idx="21" c:formatCode="yyyy/m/d">
                  <c:v>44681</c:v>
                </c:pt>
                <c:pt idx="22" c:formatCode="yyyy/m/d">
                  <c:v>44712</c:v>
                </c:pt>
                <c:pt idx="23" c:formatCode="yyyy/m/d">
                  <c:v>44742</c:v>
                </c:pt>
                <c:pt idx="24" c:formatCode="yyyy/m/d">
                  <c:v>44773</c:v>
                </c:pt>
                <c:pt idx="25" c:formatCode="yyyy/m/d">
                  <c:v>44804</c:v>
                </c:pt>
                <c:pt idx="26" c:formatCode="yyyy/m/d">
                  <c:v>44834</c:v>
                </c:pt>
                <c:pt idx="27" c:formatCode="yyyy/m/d">
                  <c:v>44865</c:v>
                </c:pt>
                <c:pt idx="28" c:formatCode="yyyy/m/d">
                  <c:v>44895</c:v>
                </c:pt>
                <c:pt idx="29" c:formatCode="yyyy/m/d">
                  <c:v>44926</c:v>
                </c:pt>
                <c:pt idx="30" c:formatCode="yyyy/m/d">
                  <c:v>44957</c:v>
                </c:pt>
                <c:pt idx="31" c:formatCode="yyyy/m/d">
                  <c:v>44985</c:v>
                </c:pt>
                <c:pt idx="32" c:formatCode="yyyy/m/d">
                  <c:v>45016</c:v>
                </c:pt>
                <c:pt idx="33" c:formatCode="yyyy/m/d">
                  <c:v>45046</c:v>
                </c:pt>
                <c:pt idx="34" c:formatCode="yyyy/m/d">
                  <c:v>45077</c:v>
                </c:pt>
                <c:pt idx="35" c:formatCode="yyyy/m/d">
                  <c:v>45107</c:v>
                </c:pt>
                <c:pt idx="36" c:formatCode="yyyy/m/d">
                  <c:v>45138</c:v>
                </c:pt>
                <c:pt idx="37" c:formatCode="yyyy/m/d">
                  <c:v>45169</c:v>
                </c:pt>
                <c:pt idx="38" c:formatCode="yyyy/m/d">
                  <c:v>45199</c:v>
                </c:pt>
                <c:pt idx="39" c:formatCode="yyyy/m/d">
                  <c:v>45230</c:v>
                </c:pt>
                <c:pt idx="40" c:formatCode="yyyy/m/d">
                  <c:v>45260</c:v>
                </c:pt>
                <c:pt idx="41" c:formatCode="yyyy/m/d">
                  <c:v>45291</c:v>
                </c:pt>
                <c:pt idx="42" c:formatCode="yyyy/m/d">
                  <c:v>45322</c:v>
                </c:pt>
                <c:pt idx="43" c:formatCode="yyyy/m/d">
                  <c:v>45351</c:v>
                </c:pt>
                <c:pt idx="44" c:formatCode="yyyy/m/d">
                  <c:v>45382</c:v>
                </c:pt>
                <c:pt idx="45" c:formatCode="yyyy/m/d">
                  <c:v>45412</c:v>
                </c:pt>
                <c:pt idx="46" c:formatCode="yyyy/m/d">
                  <c:v>45443</c:v>
                </c:pt>
                <c:pt idx="47" c:formatCode="yyyy/m/d">
                  <c:v>45473</c:v>
                </c:pt>
                <c:pt idx="48" c:formatCode="yyyy/m/d">
                  <c:v>45504</c:v>
                </c:pt>
                <c:pt idx="49" c:formatCode="yyyy/m/d">
                  <c:v>45535</c:v>
                </c:pt>
                <c:pt idx="50" c:formatCode="yyyy/m/d">
                  <c:v>45565</c:v>
                </c:pt>
                <c:pt idx="51" c:formatCode="yyyy/m/d">
                  <c:v>45596</c:v>
                </c:pt>
                <c:pt idx="52" c:formatCode="yyyy/m/d">
                  <c:v>45626</c:v>
                </c:pt>
              </c:numCache>
            </c:numRef>
          </c:cat>
          <c:val>
            <c:numRef>
              <c:f>'[Greenwoods Focused opportunities Fund data pack 2024Q3.xlsx]比较'!$E$2:$E$54</c:f>
              <c:numCache>
                <c:formatCode>General</c:formatCode>
                <c:ptCount val="53"/>
                <c:pt idx="0">
                  <c:v>1</c:v>
                </c:pt>
                <c:pt idx="1" c:formatCode="0.0000">
                  <c:v>1.06530642348307</c:v>
                </c:pt>
                <c:pt idx="2" c:formatCode="0.0000">
                  <c:v>1.02702409565376</c:v>
                </c:pt>
                <c:pt idx="3" c:formatCode="0.0000">
                  <c:v>0.994772188912702</c:v>
                </c:pt>
                <c:pt idx="4" c:formatCode="0.0000">
                  <c:v>1.12067783668405</c:v>
                </c:pt>
                <c:pt idx="5" c:formatCode="0.0000">
                  <c:v>1.1670556794419</c:v>
                </c:pt>
                <c:pt idx="6" c:formatCode="0.0000">
                  <c:v>1.15475622348133</c:v>
                </c:pt>
                <c:pt idx="7" c:formatCode="0.0000">
                  <c:v>1.1830514798393</c:v>
                </c:pt>
                <c:pt idx="8" c:formatCode="0.0000">
                  <c:v>1.21983704847764</c:v>
                </c:pt>
                <c:pt idx="9" c:formatCode="0.0000">
                  <c:v>1.27496117102968</c:v>
                </c:pt>
                <c:pt idx="10" c:formatCode="0.0000">
                  <c:v>1.29098734045415</c:v>
                </c:pt>
                <c:pt idx="11" c:formatCode="0.0000">
                  <c:v>1.30900485036747</c:v>
                </c:pt>
                <c:pt idx="12" c:formatCode="0.0000">
                  <c:v>1.33157337590782</c:v>
                </c:pt>
                <c:pt idx="13" c:formatCode="0.0000">
                  <c:v>1.36285347378285</c:v>
                </c:pt>
                <c:pt idx="14" c:formatCode="0.0000">
                  <c:v>1.30439309668631</c:v>
                </c:pt>
                <c:pt idx="15" c:formatCode="0.0000">
                  <c:v>1.37733516125953</c:v>
                </c:pt>
                <c:pt idx="16" c:formatCode="0.0000">
                  <c:v>1.34569497349218</c:v>
                </c:pt>
                <c:pt idx="17" c:formatCode="0.0000">
                  <c:v>1.40206422615381</c:v>
                </c:pt>
                <c:pt idx="18" c:formatCode="0.0000">
                  <c:v>1.32714817482147</c:v>
                </c:pt>
                <c:pt idx="19" c:formatCode="0.0000">
                  <c:v>1.29196348775261</c:v>
                </c:pt>
                <c:pt idx="20" c:formatCode="0.0000">
                  <c:v>1.32455379222379</c:v>
                </c:pt>
                <c:pt idx="21" c:formatCode="0.0000">
                  <c:v>1.212860849118</c:v>
                </c:pt>
                <c:pt idx="22" c:formatCode="0.0000">
                  <c:v>1.21086083176427</c:v>
                </c:pt>
                <c:pt idx="23" c:formatCode="0.0000">
                  <c:v>1.10464732882715</c:v>
                </c:pt>
                <c:pt idx="24" c:formatCode="0.0000">
                  <c:v>1.19149406936286</c:v>
                </c:pt>
                <c:pt idx="25" c:formatCode="0.0000">
                  <c:v>1.13984503119333</c:v>
                </c:pt>
                <c:pt idx="26" c:formatCode="0.0000">
                  <c:v>1.03196123176774</c:v>
                </c:pt>
                <c:pt idx="27" c:formatCode="0.0000">
                  <c:v>1.1053111089901</c:v>
                </c:pt>
                <c:pt idx="28" c:formatCode="0.0000">
                  <c:v>1.18043974351187</c:v>
                </c:pt>
                <c:pt idx="29" c:formatCode="0.0000">
                  <c:v>1.12915947209954</c:v>
                </c:pt>
                <c:pt idx="30" c:formatCode="0.0000">
                  <c:v>1.20825343386927</c:v>
                </c:pt>
                <c:pt idx="31" c:formatCode="0.0000">
                  <c:v>1.17769785421132</c:v>
                </c:pt>
                <c:pt idx="32" c:formatCode="0.0000">
                  <c:v>1.21104738435908</c:v>
                </c:pt>
                <c:pt idx="33" c:formatCode="0.0000">
                  <c:v>1.23034907027393</c:v>
                </c:pt>
                <c:pt idx="34" c:formatCode="0.0000">
                  <c:v>1.21500403474217</c:v>
                </c:pt>
                <c:pt idx="35" c:formatCode="0.0000">
                  <c:v>1.28709142812519</c:v>
                </c:pt>
                <c:pt idx="36" c:formatCode="0.0000">
                  <c:v>1.32942585185121</c:v>
                </c:pt>
                <c:pt idx="37" c:formatCode="0.0000">
                  <c:v>1.29546460272974</c:v>
                </c:pt>
                <c:pt idx="38" c:formatCode="0.0000">
                  <c:v>1.2378588968234</c:v>
                </c:pt>
                <c:pt idx="39" c:formatCode="0.0000">
                  <c:v>1.2011470815365</c:v>
                </c:pt>
                <c:pt idx="40" c:formatCode="0.0000">
                  <c:v>1.31178144712752</c:v>
                </c:pt>
                <c:pt idx="41" c:formatCode="0.0000">
                  <c:v>1.37492733125667</c:v>
                </c:pt>
                <c:pt idx="42" c:formatCode="0.0000">
                  <c:v>1.39060642608613</c:v>
                </c:pt>
                <c:pt idx="43" c:formatCode="0.0000">
                  <c:v>1.44782167307309</c:v>
                </c:pt>
                <c:pt idx="44" c:formatCode="0.0000">
                  <c:v>1.49144894966551</c:v>
                </c:pt>
                <c:pt idx="45" c:formatCode="0.0000">
                  <c:v>1.43398207359717</c:v>
                </c:pt>
                <c:pt idx="46" c:formatCode="0.0000">
                  <c:v>1.49466372810176</c:v>
                </c:pt>
                <c:pt idx="47" c:formatCode="0.0000">
                  <c:v>1.52356202656856</c:v>
                </c:pt>
                <c:pt idx="48" c:formatCode="0.0000">
                  <c:v>1.54950585254536</c:v>
                </c:pt>
                <c:pt idx="49" c:formatCode="0.0000">
                  <c:v>1.58840423778081</c:v>
                </c:pt>
                <c:pt idx="50" c:formatCode="0.0000">
                  <c:v>1.61521141181268</c:v>
                </c:pt>
                <c:pt idx="51" c:formatCode="0.0000">
                  <c:v>1.57838459162335</c:v>
                </c:pt>
                <c:pt idx="52" c:formatCode="0.0000">
                  <c:v>1.61121499112912</c:v>
                </c:pt>
              </c:numCache>
            </c:numRef>
          </c:val>
          <c:smooth val="0"/>
        </c:ser>
        <c:ser>
          <c:idx val="0"/>
          <c:order val="3"/>
          <c:tx>
            <c:strRef>
              <c:f>'[Greenwoods Focused opportunities Fund data pack 2024Q3.xlsx]比较'!$F$1</c:f>
              <c:strCache>
                <c:ptCount val="1"/>
                <c:pt idx="0">
                  <c:v>沪深300</c:v>
                </c:pt>
              </c:strCache>
            </c:strRef>
          </c:tx>
          <c:spPr>
            <a:ln w="28575" cap="rnd">
              <a:solidFill>
                <a:srgbClr val="5B9BD5">
                  <a:lumMod val="40000"/>
                  <a:lumOff val="60000"/>
                </a:srgbClr>
              </a:solidFill>
              <a:prstDash val="sysDot"/>
              <a:round/>
            </a:ln>
            <a:effectLst/>
          </c:spPr>
          <c:marker>
            <c:symbol val="none"/>
          </c:marker>
          <c:dLbls>
            <c:delete val="1"/>
          </c:dLbls>
          <c:cat>
            <c:numRef>
              <c:f>'[Greenwoods Focused opportunities Fund data pack 2024Q3.xlsx]比较'!$A$2:$A$54</c:f>
              <c:numCache>
                <c:formatCode>yyyy/m/d</c:formatCode>
                <c:ptCount val="53"/>
                <c:pt idx="0" c:formatCode="yyyy/m/d">
                  <c:v>44044</c:v>
                </c:pt>
                <c:pt idx="1" c:formatCode="yyyy/m/d">
                  <c:v>44074</c:v>
                </c:pt>
                <c:pt idx="2" c:formatCode="yyyy/m/d">
                  <c:v>44104</c:v>
                </c:pt>
                <c:pt idx="3" c:formatCode="yyyy/m/d">
                  <c:v>44135</c:v>
                </c:pt>
                <c:pt idx="4" c:formatCode="yyyy/m/d">
                  <c:v>44165</c:v>
                </c:pt>
                <c:pt idx="5" c:formatCode="yyyy/m/d">
                  <c:v>44196</c:v>
                </c:pt>
                <c:pt idx="6" c:formatCode="yyyy/m/d">
                  <c:v>44227</c:v>
                </c:pt>
                <c:pt idx="7" c:formatCode="yyyy/m/d">
                  <c:v>44255</c:v>
                </c:pt>
                <c:pt idx="8" c:formatCode="yyyy/m/d">
                  <c:v>44286</c:v>
                </c:pt>
                <c:pt idx="9" c:formatCode="yyyy/m/d">
                  <c:v>44316</c:v>
                </c:pt>
                <c:pt idx="10" c:formatCode="yyyy/m/d">
                  <c:v>44347</c:v>
                </c:pt>
                <c:pt idx="11" c:formatCode="yyyy/m/d">
                  <c:v>44377</c:v>
                </c:pt>
                <c:pt idx="12" c:formatCode="yyyy/m/d">
                  <c:v>44408</c:v>
                </c:pt>
                <c:pt idx="13" c:formatCode="yyyy/m/d">
                  <c:v>44439</c:v>
                </c:pt>
                <c:pt idx="14" c:formatCode="yyyy/m/d">
                  <c:v>44469</c:v>
                </c:pt>
                <c:pt idx="15" c:formatCode="yyyy/m/d">
                  <c:v>44500</c:v>
                </c:pt>
                <c:pt idx="16" c:formatCode="yyyy/m/d">
                  <c:v>44530</c:v>
                </c:pt>
                <c:pt idx="17" c:formatCode="yyyy/m/d">
                  <c:v>44561</c:v>
                </c:pt>
                <c:pt idx="18" c:formatCode="yyyy/m/d">
                  <c:v>44592</c:v>
                </c:pt>
                <c:pt idx="19" c:formatCode="yyyy/m/d">
                  <c:v>44620</c:v>
                </c:pt>
                <c:pt idx="20" c:formatCode="yyyy/m/d">
                  <c:v>44651</c:v>
                </c:pt>
                <c:pt idx="21" c:formatCode="yyyy/m/d">
                  <c:v>44681</c:v>
                </c:pt>
                <c:pt idx="22" c:formatCode="yyyy/m/d">
                  <c:v>44712</c:v>
                </c:pt>
                <c:pt idx="23" c:formatCode="yyyy/m/d">
                  <c:v>44742</c:v>
                </c:pt>
                <c:pt idx="24" c:formatCode="yyyy/m/d">
                  <c:v>44773</c:v>
                </c:pt>
                <c:pt idx="25" c:formatCode="yyyy/m/d">
                  <c:v>44804</c:v>
                </c:pt>
                <c:pt idx="26" c:formatCode="yyyy/m/d">
                  <c:v>44834</c:v>
                </c:pt>
                <c:pt idx="27" c:formatCode="yyyy/m/d">
                  <c:v>44865</c:v>
                </c:pt>
                <c:pt idx="28" c:formatCode="yyyy/m/d">
                  <c:v>44895</c:v>
                </c:pt>
                <c:pt idx="29" c:formatCode="yyyy/m/d">
                  <c:v>44926</c:v>
                </c:pt>
                <c:pt idx="30" c:formatCode="yyyy/m/d">
                  <c:v>44957</c:v>
                </c:pt>
                <c:pt idx="31" c:formatCode="yyyy/m/d">
                  <c:v>44985</c:v>
                </c:pt>
                <c:pt idx="32" c:formatCode="yyyy/m/d">
                  <c:v>45016</c:v>
                </c:pt>
                <c:pt idx="33" c:formatCode="yyyy/m/d">
                  <c:v>45046</c:v>
                </c:pt>
                <c:pt idx="34" c:formatCode="yyyy/m/d">
                  <c:v>45077</c:v>
                </c:pt>
                <c:pt idx="35" c:formatCode="yyyy/m/d">
                  <c:v>45107</c:v>
                </c:pt>
                <c:pt idx="36" c:formatCode="yyyy/m/d">
                  <c:v>45138</c:v>
                </c:pt>
                <c:pt idx="37" c:formatCode="yyyy/m/d">
                  <c:v>45169</c:v>
                </c:pt>
                <c:pt idx="38" c:formatCode="yyyy/m/d">
                  <c:v>45199</c:v>
                </c:pt>
                <c:pt idx="39" c:formatCode="yyyy/m/d">
                  <c:v>45230</c:v>
                </c:pt>
                <c:pt idx="40" c:formatCode="yyyy/m/d">
                  <c:v>45260</c:v>
                </c:pt>
                <c:pt idx="41" c:formatCode="yyyy/m/d">
                  <c:v>45291</c:v>
                </c:pt>
                <c:pt idx="42" c:formatCode="yyyy/m/d">
                  <c:v>45322</c:v>
                </c:pt>
                <c:pt idx="43" c:formatCode="yyyy/m/d">
                  <c:v>45351</c:v>
                </c:pt>
                <c:pt idx="44" c:formatCode="yyyy/m/d">
                  <c:v>45382</c:v>
                </c:pt>
                <c:pt idx="45" c:formatCode="yyyy/m/d">
                  <c:v>45412</c:v>
                </c:pt>
                <c:pt idx="46" c:formatCode="yyyy/m/d">
                  <c:v>45443</c:v>
                </c:pt>
                <c:pt idx="47" c:formatCode="yyyy/m/d">
                  <c:v>45473</c:v>
                </c:pt>
                <c:pt idx="48" c:formatCode="yyyy/m/d">
                  <c:v>45504</c:v>
                </c:pt>
                <c:pt idx="49" c:formatCode="yyyy/m/d">
                  <c:v>45535</c:v>
                </c:pt>
                <c:pt idx="50" c:formatCode="yyyy/m/d">
                  <c:v>45565</c:v>
                </c:pt>
                <c:pt idx="51" c:formatCode="yyyy/m/d">
                  <c:v>45596</c:v>
                </c:pt>
                <c:pt idx="52" c:formatCode="yyyy/m/d">
                  <c:v>45626</c:v>
                </c:pt>
              </c:numCache>
            </c:numRef>
          </c:cat>
          <c:val>
            <c:numRef>
              <c:f>'[Greenwoods Focused opportunities Fund data pack 2024Q3.xlsx]比较'!$F$2:$F$54</c:f>
              <c:numCache>
                <c:formatCode>General</c:formatCode>
                <c:ptCount val="53"/>
                <c:pt idx="0">
                  <c:v>1</c:v>
                </c:pt>
                <c:pt idx="1" c:formatCode="0.0000">
                  <c:v>1.02580803186335</c:v>
                </c:pt>
                <c:pt idx="2" c:formatCode="0.0000">
                  <c:v>0.977071596681611</c:v>
                </c:pt>
                <c:pt idx="3" c:formatCode="0.0000">
                  <c:v>1.00005963727756</c:v>
                </c:pt>
                <c:pt idx="4" c:formatCode="0.0000">
                  <c:v>1.05648502145877</c:v>
                </c:pt>
                <c:pt idx="5" c:formatCode="0.0000">
                  <c:v>1.10995410059531</c:v>
                </c:pt>
                <c:pt idx="6" c:formatCode="0.0000">
                  <c:v>1.13991544286003</c:v>
                </c:pt>
                <c:pt idx="7" c:formatCode="0.0000">
                  <c:v>1.13667799064973</c:v>
                </c:pt>
                <c:pt idx="8" c:formatCode="0.0000">
                  <c:v>1.0752515947647</c:v>
                </c:pt>
                <c:pt idx="9" c:formatCode="0.0000">
                  <c:v>1.09125355427525</c:v>
                </c:pt>
                <c:pt idx="10" c:formatCode="0.0000">
                  <c:v>1.13557257111213</c:v>
                </c:pt>
                <c:pt idx="11" c:formatCode="0.0000">
                  <c:v>1.11266972662698</c:v>
                </c:pt>
                <c:pt idx="12" c:formatCode="0.0000">
                  <c:v>1.02473243096453</c:v>
                </c:pt>
                <c:pt idx="13" c:formatCode="0.0000">
                  <c:v>1.02354820502444</c:v>
                </c:pt>
                <c:pt idx="14" c:formatCode="0.0000">
                  <c:v>1.03649162415736</c:v>
                </c:pt>
                <c:pt idx="15" c:formatCode="0.0000">
                  <c:v>1.04552028199913</c:v>
                </c:pt>
                <c:pt idx="16" c:formatCode="0.0000">
                  <c:v>1.02917540814262</c:v>
                </c:pt>
                <c:pt idx="17" c:formatCode="0.0000">
                  <c:v>1.05225077475213</c:v>
                </c:pt>
                <c:pt idx="18" c:formatCode="0.0000">
                  <c:v>0.972038636436246</c:v>
                </c:pt>
                <c:pt idx="19" c:formatCode="0.0000">
                  <c:v>0.975846902588896</c:v>
                </c:pt>
                <c:pt idx="20" c:formatCode="0.0000">
                  <c:v>0.899372743634253</c:v>
                </c:pt>
                <c:pt idx="21" c:formatCode="0.0000">
                  <c:v>0.855420070073801</c:v>
                </c:pt>
                <c:pt idx="22" c:formatCode="0.0000">
                  <c:v>0.871453978125898</c:v>
                </c:pt>
                <c:pt idx="23" c:formatCode="0.0000">
                  <c:v>0.95526352222021</c:v>
                </c:pt>
                <c:pt idx="24" c:formatCode="0.0000">
                  <c:v>0.888190754092075</c:v>
                </c:pt>
                <c:pt idx="25" c:formatCode="0.0000">
                  <c:v>0.868753261413616</c:v>
                </c:pt>
                <c:pt idx="26" c:formatCode="0.0000">
                  <c:v>0.810404575031149</c:v>
                </c:pt>
                <c:pt idx="27" c:formatCode="0.0000">
                  <c:v>0.747318984888339</c:v>
                </c:pt>
                <c:pt idx="28" c:formatCode="0.0000">
                  <c:v>0.820660056868404</c:v>
                </c:pt>
                <c:pt idx="29" c:formatCode="0.0000">
                  <c:v>0.824619546117719</c:v>
                </c:pt>
                <c:pt idx="30" c:formatCode="0.0000">
                  <c:v>0.885370762824676</c:v>
                </c:pt>
                <c:pt idx="31" c:formatCode="0.0000">
                  <c:v>0.866755412615414</c:v>
                </c:pt>
                <c:pt idx="32" c:formatCode="0.0000">
                  <c:v>0.862808702782717</c:v>
                </c:pt>
                <c:pt idx="33" c:formatCode="0.0000">
                  <c:v>0.858156995133172</c:v>
                </c:pt>
                <c:pt idx="34" c:formatCode="0.0000">
                  <c:v>0.809052086772238</c:v>
                </c:pt>
                <c:pt idx="35" c:formatCode="0.0000">
                  <c:v>0.818404489835038</c:v>
                </c:pt>
                <c:pt idx="36" c:formatCode="0.0000">
                  <c:v>0.85507715572784</c:v>
                </c:pt>
                <c:pt idx="37" c:formatCode="0.0000">
                  <c:v>0.801965900256653</c:v>
                </c:pt>
                <c:pt idx="38" c:formatCode="0.0000">
                  <c:v>0.785831886774368</c:v>
                </c:pt>
                <c:pt idx="39" c:formatCode="0.0000">
                  <c:v>0.760909894463317</c:v>
                </c:pt>
                <c:pt idx="40" c:formatCode="0.0000">
                  <c:v>0.744656606425916</c:v>
                </c:pt>
                <c:pt idx="41" c:formatCode="0.0000">
                  <c:v>0.730793069296386</c:v>
                </c:pt>
                <c:pt idx="42" c:formatCode="0.0000">
                  <c:v>0.684838287132192</c:v>
                </c:pt>
                <c:pt idx="43" c:formatCode="0.0000">
                  <c:v>0.748890853132554</c:v>
                </c:pt>
                <c:pt idx="44" c:formatCode="0.0000">
                  <c:v>0.753448845060222</c:v>
                </c:pt>
                <c:pt idx="45" c:formatCode="0.0000">
                  <c:v>0.767700024493881</c:v>
                </c:pt>
                <c:pt idx="46" c:formatCode="0.0000">
                  <c:v>0.762488152415841</c:v>
                </c:pt>
                <c:pt idx="47" c:formatCode="0.0000">
                  <c:v>0.737299922258548</c:v>
                </c:pt>
                <c:pt idx="48" c:formatCode="0.0000">
                  <c:v>0.733129572635008</c:v>
                </c:pt>
                <c:pt idx="49" c:formatCode="0.0000">
                  <c:v>0.7074322957157</c:v>
                </c:pt>
                <c:pt idx="50" c:formatCode="0.0000">
                  <c:v>0.85576298441976</c:v>
                </c:pt>
                <c:pt idx="51" c:formatCode="0.0000">
                  <c:v>0.82875368739417</c:v>
                </c:pt>
                <c:pt idx="52" c:formatCode="0.0000">
                  <c:v>0.834193459068593</c:v>
                </c:pt>
              </c:numCache>
            </c:numRef>
          </c:val>
          <c:smooth val="0"/>
        </c:ser>
        <c:ser>
          <c:idx val="5"/>
          <c:order val="4"/>
          <c:tx>
            <c:strRef>
              <c:f>'[Greenwoods Focused opportunities Fund data pack 2024Q3.xlsx]比较'!$G$1</c:f>
              <c:strCache>
                <c:ptCount val="1"/>
                <c:pt idx="0">
                  <c:v>恒生指数</c:v>
                </c:pt>
              </c:strCache>
            </c:strRef>
          </c:tx>
          <c:spPr>
            <a:ln w="28575" cap="rnd">
              <a:solidFill>
                <a:schemeClr val="accent6"/>
              </a:solidFill>
              <a:prstDash val="sysDot"/>
              <a:round/>
            </a:ln>
            <a:effectLst/>
          </c:spPr>
          <c:marker>
            <c:symbol val="none"/>
          </c:marker>
          <c:dLbls>
            <c:delete val="1"/>
          </c:dLbls>
          <c:cat>
            <c:numRef>
              <c:f>'[Greenwoods Focused opportunities Fund data pack 2024Q3.xlsx]比较'!$A$2:$A$54</c:f>
              <c:numCache>
                <c:formatCode>yyyy/m/d</c:formatCode>
                <c:ptCount val="53"/>
                <c:pt idx="0" c:formatCode="yyyy/m/d">
                  <c:v>44044</c:v>
                </c:pt>
                <c:pt idx="1" c:formatCode="yyyy/m/d">
                  <c:v>44074</c:v>
                </c:pt>
                <c:pt idx="2" c:formatCode="yyyy/m/d">
                  <c:v>44104</c:v>
                </c:pt>
                <c:pt idx="3" c:formatCode="yyyy/m/d">
                  <c:v>44135</c:v>
                </c:pt>
                <c:pt idx="4" c:formatCode="yyyy/m/d">
                  <c:v>44165</c:v>
                </c:pt>
                <c:pt idx="5" c:formatCode="yyyy/m/d">
                  <c:v>44196</c:v>
                </c:pt>
                <c:pt idx="6" c:formatCode="yyyy/m/d">
                  <c:v>44227</c:v>
                </c:pt>
                <c:pt idx="7" c:formatCode="yyyy/m/d">
                  <c:v>44255</c:v>
                </c:pt>
                <c:pt idx="8" c:formatCode="yyyy/m/d">
                  <c:v>44286</c:v>
                </c:pt>
                <c:pt idx="9" c:formatCode="yyyy/m/d">
                  <c:v>44316</c:v>
                </c:pt>
                <c:pt idx="10" c:formatCode="yyyy/m/d">
                  <c:v>44347</c:v>
                </c:pt>
                <c:pt idx="11" c:formatCode="yyyy/m/d">
                  <c:v>44377</c:v>
                </c:pt>
                <c:pt idx="12" c:formatCode="yyyy/m/d">
                  <c:v>44408</c:v>
                </c:pt>
                <c:pt idx="13" c:formatCode="yyyy/m/d">
                  <c:v>44439</c:v>
                </c:pt>
                <c:pt idx="14" c:formatCode="yyyy/m/d">
                  <c:v>44469</c:v>
                </c:pt>
                <c:pt idx="15" c:formatCode="yyyy/m/d">
                  <c:v>44500</c:v>
                </c:pt>
                <c:pt idx="16" c:formatCode="yyyy/m/d">
                  <c:v>44530</c:v>
                </c:pt>
                <c:pt idx="17" c:formatCode="yyyy/m/d">
                  <c:v>44561</c:v>
                </c:pt>
                <c:pt idx="18" c:formatCode="yyyy/m/d">
                  <c:v>44592</c:v>
                </c:pt>
                <c:pt idx="19" c:formatCode="yyyy/m/d">
                  <c:v>44620</c:v>
                </c:pt>
                <c:pt idx="20" c:formatCode="yyyy/m/d">
                  <c:v>44651</c:v>
                </c:pt>
                <c:pt idx="21" c:formatCode="yyyy/m/d">
                  <c:v>44681</c:v>
                </c:pt>
                <c:pt idx="22" c:formatCode="yyyy/m/d">
                  <c:v>44712</c:v>
                </c:pt>
                <c:pt idx="23" c:formatCode="yyyy/m/d">
                  <c:v>44742</c:v>
                </c:pt>
                <c:pt idx="24" c:formatCode="yyyy/m/d">
                  <c:v>44773</c:v>
                </c:pt>
                <c:pt idx="25" c:formatCode="yyyy/m/d">
                  <c:v>44804</c:v>
                </c:pt>
                <c:pt idx="26" c:formatCode="yyyy/m/d">
                  <c:v>44834</c:v>
                </c:pt>
                <c:pt idx="27" c:formatCode="yyyy/m/d">
                  <c:v>44865</c:v>
                </c:pt>
                <c:pt idx="28" c:formatCode="yyyy/m/d">
                  <c:v>44895</c:v>
                </c:pt>
                <c:pt idx="29" c:formatCode="yyyy/m/d">
                  <c:v>44926</c:v>
                </c:pt>
                <c:pt idx="30" c:formatCode="yyyy/m/d">
                  <c:v>44957</c:v>
                </c:pt>
                <c:pt idx="31" c:formatCode="yyyy/m/d">
                  <c:v>44985</c:v>
                </c:pt>
                <c:pt idx="32" c:formatCode="yyyy/m/d">
                  <c:v>45016</c:v>
                </c:pt>
                <c:pt idx="33" c:formatCode="yyyy/m/d">
                  <c:v>45046</c:v>
                </c:pt>
                <c:pt idx="34" c:formatCode="yyyy/m/d">
                  <c:v>45077</c:v>
                </c:pt>
                <c:pt idx="35" c:formatCode="yyyy/m/d">
                  <c:v>45107</c:v>
                </c:pt>
                <c:pt idx="36" c:formatCode="yyyy/m/d">
                  <c:v>45138</c:v>
                </c:pt>
                <c:pt idx="37" c:formatCode="yyyy/m/d">
                  <c:v>45169</c:v>
                </c:pt>
                <c:pt idx="38" c:formatCode="yyyy/m/d">
                  <c:v>45199</c:v>
                </c:pt>
                <c:pt idx="39" c:formatCode="yyyy/m/d">
                  <c:v>45230</c:v>
                </c:pt>
                <c:pt idx="40" c:formatCode="yyyy/m/d">
                  <c:v>45260</c:v>
                </c:pt>
                <c:pt idx="41" c:formatCode="yyyy/m/d">
                  <c:v>45291</c:v>
                </c:pt>
                <c:pt idx="42" c:formatCode="yyyy/m/d">
                  <c:v>45322</c:v>
                </c:pt>
                <c:pt idx="43" c:formatCode="yyyy/m/d">
                  <c:v>45351</c:v>
                </c:pt>
                <c:pt idx="44" c:formatCode="yyyy/m/d">
                  <c:v>45382</c:v>
                </c:pt>
                <c:pt idx="45" c:formatCode="yyyy/m/d">
                  <c:v>45412</c:v>
                </c:pt>
                <c:pt idx="46" c:formatCode="yyyy/m/d">
                  <c:v>45443</c:v>
                </c:pt>
                <c:pt idx="47" c:formatCode="yyyy/m/d">
                  <c:v>45473</c:v>
                </c:pt>
                <c:pt idx="48" c:formatCode="yyyy/m/d">
                  <c:v>45504</c:v>
                </c:pt>
                <c:pt idx="49" c:formatCode="yyyy/m/d">
                  <c:v>45535</c:v>
                </c:pt>
                <c:pt idx="50" c:formatCode="yyyy/m/d">
                  <c:v>45565</c:v>
                </c:pt>
                <c:pt idx="51" c:formatCode="yyyy/m/d">
                  <c:v>45596</c:v>
                </c:pt>
                <c:pt idx="52" c:formatCode="yyyy/m/d">
                  <c:v>45626</c:v>
                </c:pt>
              </c:numCache>
            </c:numRef>
          </c:cat>
          <c:val>
            <c:numRef>
              <c:f>'[Greenwoods Focused opportunities Fund data pack 2024Q3.xlsx]比较'!$G$2:$G$54</c:f>
              <c:numCache>
                <c:formatCode>General</c:formatCode>
                <c:ptCount val="53"/>
                <c:pt idx="0">
                  <c:v>1</c:v>
                </c:pt>
                <c:pt idx="1" c:formatCode="0.0000">
                  <c:v>1.02365081204374</c:v>
                </c:pt>
                <c:pt idx="2" c:formatCode="0.0000">
                  <c:v>0.953800210202335</c:v>
                </c:pt>
                <c:pt idx="3" c:formatCode="0.0000">
                  <c:v>0.980161697231387</c:v>
                </c:pt>
                <c:pt idx="4" c:formatCode="0.0000">
                  <c:v>1.07099472054677</c:v>
                </c:pt>
                <c:pt idx="5" c:formatCode="0.0000">
                  <c:v>1.10716578540253</c:v>
                </c:pt>
                <c:pt idx="6" c:formatCode="0.0000">
                  <c:v>1.14996167974841</c:v>
                </c:pt>
                <c:pt idx="7" c:formatCode="0.0000">
                  <c:v>1.17828004073941</c:v>
                </c:pt>
                <c:pt idx="8" c:formatCode="0.0000">
                  <c:v>1.15380956156347</c:v>
                </c:pt>
                <c:pt idx="9" c:formatCode="0.0000">
                  <c:v>1.16789881014094</c:v>
                </c:pt>
                <c:pt idx="10" c:formatCode="0.0000">
                  <c:v>1.18525656272425</c:v>
                </c:pt>
                <c:pt idx="11" c:formatCode="0.0000">
                  <c:v>1.17208943967051</c:v>
                </c:pt>
                <c:pt idx="12" c:formatCode="0.0000">
                  <c:v>1.05552594291197</c:v>
                </c:pt>
                <c:pt idx="13" c:formatCode="0.0000">
                  <c:v>1.05219035305454</c:v>
                </c:pt>
                <c:pt idx="14" c:formatCode="0.0000">
                  <c:v>0.999198629009142</c:v>
                </c:pt>
                <c:pt idx="15" c:formatCode="0.0000">
                  <c:v>1.03179015545621</c:v>
                </c:pt>
                <c:pt idx="16" c:formatCode="0.0000">
                  <c:v>0.95445927787163</c:v>
                </c:pt>
                <c:pt idx="17" c:formatCode="0.0000">
                  <c:v>0.951304616523042</c:v>
                </c:pt>
                <c:pt idx="18" c:formatCode="0.0000">
                  <c:v>0.967754473914785</c:v>
                </c:pt>
                <c:pt idx="19" c:formatCode="0.0000">
                  <c:v>0.923468053920761</c:v>
                </c:pt>
                <c:pt idx="20" c:formatCode="0.0000">
                  <c:v>0.894349948262578</c:v>
                </c:pt>
                <c:pt idx="21" c:formatCode="0.0000">
                  <c:v>0.857454356209609</c:v>
                </c:pt>
                <c:pt idx="22" c:formatCode="0.0000">
                  <c:v>0.870701169123432</c:v>
                </c:pt>
                <c:pt idx="23" c:formatCode="0.0000">
                  <c:v>0.888777350190178</c:v>
                </c:pt>
                <c:pt idx="24" c:formatCode="0.0000">
                  <c:v>0.819525235461174</c:v>
                </c:pt>
                <c:pt idx="25" c:formatCode="0.0000">
                  <c:v>0.811307421931381</c:v>
                </c:pt>
                <c:pt idx="26" c:formatCode="0.0000">
                  <c:v>0.70024740448906</c:v>
                </c:pt>
                <c:pt idx="27" c:formatCode="0.0000">
                  <c:v>0.597146208531287</c:v>
                </c:pt>
                <c:pt idx="28" c:formatCode="0.0000">
                  <c:v>0.756127885962184</c:v>
                </c:pt>
                <c:pt idx="29" c:formatCode="0.0000">
                  <c:v>0.804274385198828</c:v>
                </c:pt>
                <c:pt idx="30" c:formatCode="0.0000">
                  <c:v>0.888067459906039</c:v>
                </c:pt>
                <c:pt idx="31" c:formatCode="0.0000">
                  <c:v>0.804458566355022</c:v>
                </c:pt>
                <c:pt idx="32" c:formatCode="0.0000">
                  <c:v>0.829429546641946</c:v>
                </c:pt>
                <c:pt idx="33" c:formatCode="0.0000">
                  <c:v>0.808875254875413</c:v>
                </c:pt>
                <c:pt idx="34" c:formatCode="0.0000">
                  <c:v>0.741370624935201</c:v>
                </c:pt>
                <c:pt idx="35" c:formatCode="0.0000">
                  <c:v>0.769105948888713</c:v>
                </c:pt>
                <c:pt idx="36" c:formatCode="0.0000">
                  <c:v>0.816371387274424</c:v>
                </c:pt>
                <c:pt idx="37" c:formatCode="0.0000">
                  <c:v>0.747379484333421</c:v>
                </c:pt>
                <c:pt idx="38" c:formatCode="0.0000">
                  <c:v>0.724106792544119</c:v>
                </c:pt>
                <c:pt idx="39" c:formatCode="0.0000">
                  <c:v>0.695760784050643</c:v>
                </c:pt>
                <c:pt idx="40" c:formatCode="0.0000">
                  <c:v>0.692930980856137</c:v>
                </c:pt>
                <c:pt idx="41" c:formatCode="0.0000">
                  <c:v>0.693114348850494</c:v>
                </c:pt>
                <c:pt idx="42" c:formatCode="0.0000">
                  <c:v>0.629593398752203</c:v>
                </c:pt>
                <c:pt idx="43" c:formatCode="0.0000">
                  <c:v>0.671323644510039</c:v>
                </c:pt>
                <c:pt idx="44" c:formatCode="0.0000">
                  <c:v>0.672542574104454</c:v>
                </c:pt>
                <c:pt idx="45" c:formatCode="0.0000">
                  <c:v>0.722210905719983</c:v>
                </c:pt>
                <c:pt idx="46" c:formatCode="0.0000">
                  <c:v>0.7350824444458</c:v>
                </c:pt>
                <c:pt idx="47" c:formatCode="0.0000">
                  <c:v>0.720404873278892</c:v>
                </c:pt>
                <c:pt idx="48" c:formatCode="0.0000">
                  <c:v>0.705198340336689</c:v>
                </c:pt>
                <c:pt idx="49" c:formatCode="0.0000">
                  <c:v>0.731401260807429</c:v>
                </c:pt>
                <c:pt idx="50" c:formatCode="0.0000">
                  <c:v>0.859255103098756</c:v>
                </c:pt>
                <c:pt idx="51" c:formatCode="0.0000">
                  <c:v>0.826063869796526</c:v>
                </c:pt>
                <c:pt idx="52" c:formatCode="0.0000">
                  <c:v>0.789726919925921</c:v>
                </c:pt>
              </c:numCache>
            </c:numRef>
          </c:val>
          <c:smooth val="0"/>
        </c:ser>
        <c:dLbls>
          <c:showLegendKey val="0"/>
          <c:showVal val="0"/>
          <c:showCatName val="0"/>
          <c:showSerName val="0"/>
          <c:showPercent val="0"/>
          <c:showBubbleSize val="0"/>
        </c:dLbls>
        <c:marker val="0"/>
        <c:smooth val="0"/>
        <c:axId val="1876316751"/>
        <c:axId val="1876308015"/>
      </c:lineChart>
      <c:dateAx>
        <c:axId val="1876316751"/>
        <c:scaling>
          <c:orientation val="minMax"/>
        </c:scaling>
        <c:delete val="0"/>
        <c:axPos val="b"/>
        <c:numFmt formatCode="yyyy/m"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mj-ea"/>
                <a:ea typeface="+mj-ea"/>
                <a:cs typeface="+mn-cs"/>
              </a:defRPr>
            </a:pPr>
          </a:p>
        </c:txPr>
        <c:crossAx val="1876308015"/>
        <c:crosses val="autoZero"/>
        <c:auto val="1"/>
        <c:lblOffset val="100"/>
        <c:baseTimeUnit val="days"/>
        <c:majorUnit val="10"/>
        <c:majorTimeUnit val="months"/>
      </c:dateAx>
      <c:valAx>
        <c:axId val="1876308015"/>
        <c:scaling>
          <c:orientation val="minMax"/>
          <c:max val="2"/>
          <c:min val="0.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mj-ea"/>
                <a:ea typeface="+mj-ea"/>
                <a:cs typeface="+mn-cs"/>
              </a:defRPr>
            </a:pPr>
          </a:p>
        </c:txPr>
        <c:crossAx val="1876316751"/>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200" b="1" i="0" u="none" strike="noStrike" kern="1200" baseline="0">
                <a:solidFill>
                  <a:schemeClr val="tx1">
                    <a:lumMod val="65000"/>
                    <a:lumOff val="35000"/>
                  </a:schemeClr>
                </a:solidFill>
                <a:latin typeface="+mj-ea"/>
                <a:ea typeface="+mj-ea"/>
                <a:cs typeface="+mn-cs"/>
              </a:defRPr>
            </a:pPr>
          </a:p>
        </c:txPr>
      </c:legendEntry>
      <c:legendEntry>
        <c:idx val="1"/>
        <c:txPr>
          <a:bodyPr rot="0" spcFirstLastPara="1" vertOverflow="ellipsis" vert="horz" wrap="square" anchor="ctr" anchorCtr="1"/>
          <a:lstStyle/>
          <a:p>
            <a:pPr>
              <a:defRPr lang="zh-CN" sz="1200" b="1" i="0" u="none" strike="noStrike" kern="1200" baseline="0">
                <a:solidFill>
                  <a:schemeClr val="tx1">
                    <a:lumMod val="65000"/>
                    <a:lumOff val="35000"/>
                  </a:schemeClr>
                </a:solidFill>
                <a:latin typeface="+mj-ea"/>
                <a:ea typeface="+mj-ea"/>
                <a:cs typeface="+mn-cs"/>
              </a:defRPr>
            </a:pPr>
          </a:p>
        </c:txPr>
      </c:legendEntry>
      <c:legendEntry>
        <c:idx val="2"/>
        <c:txPr>
          <a:bodyPr rot="0" spcFirstLastPara="1" vertOverflow="ellipsis" vert="horz" wrap="square" anchor="ctr" anchorCtr="1"/>
          <a:lstStyle/>
          <a:p>
            <a:pPr>
              <a:defRPr lang="zh-CN" sz="1200" b="1" i="0" u="none" strike="noStrike" kern="1200" baseline="0">
                <a:solidFill>
                  <a:schemeClr val="tx1">
                    <a:lumMod val="65000"/>
                    <a:lumOff val="35000"/>
                  </a:schemeClr>
                </a:solidFill>
                <a:latin typeface="+mj-ea"/>
                <a:ea typeface="+mj-ea"/>
                <a:cs typeface="+mn-cs"/>
              </a:defRPr>
            </a:pPr>
          </a:p>
        </c:txPr>
      </c:legendEntry>
      <c:legendEntry>
        <c:idx val="3"/>
        <c:txPr>
          <a:bodyPr rot="0" spcFirstLastPara="1" vertOverflow="ellipsis" vert="horz" wrap="square" anchor="ctr" anchorCtr="1"/>
          <a:lstStyle/>
          <a:p>
            <a:pPr>
              <a:defRPr lang="zh-CN" sz="1200" b="1" i="0" u="none" strike="noStrike" kern="1200" baseline="0">
                <a:solidFill>
                  <a:schemeClr val="tx1">
                    <a:lumMod val="65000"/>
                    <a:lumOff val="35000"/>
                  </a:schemeClr>
                </a:solidFill>
                <a:latin typeface="+mj-ea"/>
                <a:ea typeface="+mj-ea"/>
                <a:cs typeface="+mn-cs"/>
              </a:defRPr>
            </a:pPr>
          </a:p>
        </c:txPr>
      </c:legendEntry>
      <c:legendEntry>
        <c:idx val="4"/>
        <c:txPr>
          <a:bodyPr rot="0" spcFirstLastPara="1" vertOverflow="ellipsis" vert="horz" wrap="square" anchor="ctr" anchorCtr="1"/>
          <a:lstStyle/>
          <a:p>
            <a:pPr>
              <a:defRPr lang="zh-CN" sz="1200" b="1" i="0" u="none" strike="noStrike" kern="1200" baseline="0">
                <a:solidFill>
                  <a:schemeClr val="tx1">
                    <a:lumMod val="65000"/>
                    <a:lumOff val="35000"/>
                  </a:schemeClr>
                </a:solidFill>
                <a:latin typeface="+mj-ea"/>
                <a:ea typeface="+mj-ea"/>
                <a:cs typeface="+mn-cs"/>
              </a:defRPr>
            </a:pPr>
          </a:p>
        </c:txPr>
      </c:legendEntry>
      <c:layout>
        <c:manualLayout>
          <c:xMode val="edge"/>
          <c:yMode val="edge"/>
          <c:x val="0.0796307567457902"/>
          <c:y val="0.875964865584243"/>
          <c:w val="0.877865692838304"/>
          <c:h val="0.108064945435188"/>
        </c:manualLayout>
      </c:layout>
      <c:overlay val="0"/>
      <c:spPr>
        <a:noFill/>
        <a:ln>
          <a:noFill/>
        </a:ln>
        <a:effectLst/>
      </c:spPr>
      <c:txPr>
        <a:bodyPr rot="0" spcFirstLastPara="1" vertOverflow="ellipsis" vert="horz" wrap="square" anchor="ctr" anchorCtr="1"/>
        <a:lstStyle/>
        <a:p>
          <a:pPr>
            <a:defRPr lang="zh-CN" sz="1200" b="1" i="0" u="none" strike="noStrike" kern="1200" baseline="0">
              <a:solidFill>
                <a:schemeClr val="tx1">
                  <a:lumMod val="65000"/>
                  <a:lumOff val="35000"/>
                </a:schemeClr>
              </a:solidFill>
              <a:latin typeface="+mj-ea"/>
              <a:ea typeface="+mj-ea"/>
              <a:cs typeface="+mn-cs"/>
            </a:defRPr>
          </a:pPr>
        </a:p>
      </c:txPr>
    </c:legend>
    <c:plotVisOnly val="1"/>
    <c:dispBlanksAs val="gap"/>
    <c:showDLblsOverMax val="0"/>
    <c:extLst>
      <c:ext uri="{0b15fc19-7d7d-44ad-8c2d-2c3a37ce22c3}">
        <chartProps xmlns="https://web.wps.cn/et/2018/main" chartId="{680c2670-03b3-4427-87f9-2a9e294b8578}"/>
      </c:ext>
    </c:extLst>
  </c:chart>
  <c:spPr>
    <a:noFill/>
    <a:ln w="9525" cap="flat" cmpd="sng" algn="ctr">
      <a:noFill/>
      <a:round/>
    </a:ln>
    <a:effectLst/>
  </c:spPr>
  <c:txPr>
    <a:bodyPr/>
    <a:lstStyle/>
    <a:p>
      <a:pPr>
        <a:defRPr lang="zh-CN" sz="1200">
          <a:latin typeface="+mj-ea"/>
          <a:ea typeface="+mj-ea"/>
        </a:defRPr>
      </a:p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589589829695371"/>
          <c:y val="0.049929676511955"/>
          <c:w val="0.916214919644999"/>
          <c:h val="0.817721518987342"/>
        </c:manualLayout>
      </c:layout>
      <c:lineChart>
        <c:grouping val="standard"/>
        <c:varyColors val="0"/>
        <c:ser>
          <c:idx val="0"/>
          <c:order val="0"/>
          <c:tx>
            <c:strRef>
              <c:f>[景林各系列净值汇总.xlsx]Sheet1!$H$1</c:f>
              <c:strCache>
                <c:ptCount val="1"/>
                <c:pt idx="0">
                  <c:v>景林环球</c:v>
                </c:pt>
              </c:strCache>
            </c:strRef>
          </c:tx>
          <c:spPr>
            <a:ln w="38100" cap="rnd">
              <a:solidFill>
                <a:srgbClr val="002060"/>
              </a:solidFill>
              <a:round/>
            </a:ln>
            <a:effectLst/>
          </c:spPr>
          <c:marker>
            <c:symbol val="none"/>
          </c:marker>
          <c:dLbls>
            <c:delete val="1"/>
          </c:dLbls>
          <c:cat>
            <c:numRef>
              <c:f>[景林各系列净值汇总.xlsx]Sheet1!$A$2:$A$55</c:f>
              <c:numCache>
                <c:formatCode>yyyy/m/d</c:formatCode>
                <c:ptCount val="54"/>
                <c:pt idx="0" c:formatCode="yyyy/m/d">
                  <c:v>44044</c:v>
                </c:pt>
                <c:pt idx="1" c:formatCode="yyyy/m/d">
                  <c:v>44074</c:v>
                </c:pt>
                <c:pt idx="2" c:formatCode="yyyy/m/d">
                  <c:v>44104</c:v>
                </c:pt>
                <c:pt idx="3" c:formatCode="yyyy/m/d">
                  <c:v>44135</c:v>
                </c:pt>
                <c:pt idx="4" c:formatCode="yyyy/m/d">
                  <c:v>44165</c:v>
                </c:pt>
                <c:pt idx="5" c:formatCode="yyyy/m/d">
                  <c:v>44196</c:v>
                </c:pt>
                <c:pt idx="6" c:formatCode="yyyy/m/d">
                  <c:v>44227</c:v>
                </c:pt>
                <c:pt idx="7" c:formatCode="yyyy/m/d">
                  <c:v>44255</c:v>
                </c:pt>
                <c:pt idx="8" c:formatCode="yyyy/m/d">
                  <c:v>44286</c:v>
                </c:pt>
                <c:pt idx="9" c:formatCode="yyyy/m/d">
                  <c:v>44316</c:v>
                </c:pt>
                <c:pt idx="10" c:formatCode="yyyy/m/d">
                  <c:v>44347</c:v>
                </c:pt>
                <c:pt idx="11" c:formatCode="yyyy/m/d">
                  <c:v>44377</c:v>
                </c:pt>
                <c:pt idx="12" c:formatCode="yyyy/m/d">
                  <c:v>44408</c:v>
                </c:pt>
                <c:pt idx="13" c:formatCode="yyyy/m/d">
                  <c:v>44439</c:v>
                </c:pt>
                <c:pt idx="14" c:formatCode="yyyy/m/d">
                  <c:v>44469</c:v>
                </c:pt>
                <c:pt idx="15" c:formatCode="yyyy/m/d">
                  <c:v>44500</c:v>
                </c:pt>
                <c:pt idx="16" c:formatCode="yyyy/m/d">
                  <c:v>44530</c:v>
                </c:pt>
                <c:pt idx="17" c:formatCode="yyyy/m/d">
                  <c:v>44561</c:v>
                </c:pt>
                <c:pt idx="18" c:formatCode="yyyy/m/d">
                  <c:v>44592</c:v>
                </c:pt>
                <c:pt idx="19" c:formatCode="yyyy/m/d">
                  <c:v>44620</c:v>
                </c:pt>
                <c:pt idx="20" c:formatCode="yyyy/m/d">
                  <c:v>44651</c:v>
                </c:pt>
                <c:pt idx="21" c:formatCode="yyyy/m/d">
                  <c:v>44681</c:v>
                </c:pt>
                <c:pt idx="22" c:formatCode="yyyy/m/d">
                  <c:v>44712</c:v>
                </c:pt>
                <c:pt idx="23" c:formatCode="yyyy/m/d">
                  <c:v>44742</c:v>
                </c:pt>
                <c:pt idx="24" c:formatCode="yyyy/m/d">
                  <c:v>44773</c:v>
                </c:pt>
                <c:pt idx="25" c:formatCode="yyyy/m/d">
                  <c:v>44804</c:v>
                </c:pt>
                <c:pt idx="26" c:formatCode="yyyy/m/d">
                  <c:v>44834</c:v>
                </c:pt>
                <c:pt idx="27" c:formatCode="yyyy/m/d">
                  <c:v>44865</c:v>
                </c:pt>
                <c:pt idx="28" c:formatCode="yyyy/m/d">
                  <c:v>44895</c:v>
                </c:pt>
                <c:pt idx="29" c:formatCode="yyyy/m/d">
                  <c:v>44926</c:v>
                </c:pt>
                <c:pt idx="30" c:formatCode="yyyy/m/d">
                  <c:v>44957</c:v>
                </c:pt>
                <c:pt idx="31" c:formatCode="yyyy/m/d">
                  <c:v>44985</c:v>
                </c:pt>
                <c:pt idx="32" c:formatCode="yyyy/m/d">
                  <c:v>45016</c:v>
                </c:pt>
                <c:pt idx="33" c:formatCode="yyyy/m/d">
                  <c:v>45046</c:v>
                </c:pt>
                <c:pt idx="34" c:formatCode="yyyy/m/d">
                  <c:v>45077</c:v>
                </c:pt>
                <c:pt idx="35" c:formatCode="yyyy/m/d">
                  <c:v>45107</c:v>
                </c:pt>
                <c:pt idx="36" c:formatCode="yyyy/m/d">
                  <c:v>45138</c:v>
                </c:pt>
                <c:pt idx="37" c:formatCode="yyyy/m/d">
                  <c:v>45169</c:v>
                </c:pt>
                <c:pt idx="38" c:formatCode="yyyy/m/d">
                  <c:v>45199</c:v>
                </c:pt>
                <c:pt idx="39" c:formatCode="yyyy/m/d">
                  <c:v>45230</c:v>
                </c:pt>
                <c:pt idx="40" c:formatCode="yyyy/m/d">
                  <c:v>45260</c:v>
                </c:pt>
                <c:pt idx="41" c:formatCode="yyyy/m/d">
                  <c:v>45291</c:v>
                </c:pt>
                <c:pt idx="42" c:formatCode="yyyy/m/d">
                  <c:v>45322</c:v>
                </c:pt>
                <c:pt idx="43" c:formatCode="yyyy/m/d">
                  <c:v>45351</c:v>
                </c:pt>
                <c:pt idx="44" c:formatCode="yyyy/m/d">
                  <c:v>45382</c:v>
                </c:pt>
                <c:pt idx="45" c:formatCode="yyyy/m/d">
                  <c:v>45412</c:v>
                </c:pt>
                <c:pt idx="46" c:formatCode="yyyy/m/d">
                  <c:v>45443</c:v>
                </c:pt>
                <c:pt idx="47" c:formatCode="yyyy/m/d">
                  <c:v>45473</c:v>
                </c:pt>
                <c:pt idx="48" c:formatCode="yyyy/m/d">
                  <c:v>45504</c:v>
                </c:pt>
                <c:pt idx="49" c:formatCode="yyyy/m/d">
                  <c:v>45535</c:v>
                </c:pt>
                <c:pt idx="50" c:formatCode="yyyy/m/d">
                  <c:v>45565</c:v>
                </c:pt>
                <c:pt idx="51" c:formatCode="yyyy/m/d">
                  <c:v>45595</c:v>
                </c:pt>
                <c:pt idx="52" c:formatCode="yyyy/m/d">
                  <c:v>45626</c:v>
                </c:pt>
                <c:pt idx="53" c:formatCode="yyyy/m/d">
                  <c:v>45656</c:v>
                </c:pt>
              </c:numCache>
            </c:numRef>
          </c:cat>
          <c:val>
            <c:numRef>
              <c:f>[景林各系列净值汇总.xlsx]Sheet1!$H$2:$H$55</c:f>
              <c:numCache>
                <c:formatCode>General</c:formatCode>
                <c:ptCount val="54"/>
                <c:pt idx="0">
                  <c:v>1</c:v>
                </c:pt>
                <c:pt idx="1" c:formatCode="0.0000">
                  <c:v>1.0572696</c:v>
                </c:pt>
                <c:pt idx="2" c:formatCode="0.0000">
                  <c:v>1.0490151</c:v>
                </c:pt>
                <c:pt idx="3" c:formatCode="0.0000">
                  <c:v>1.0595724</c:v>
                </c:pt>
                <c:pt idx="4" c:formatCode="0.0000">
                  <c:v>1.1409834</c:v>
                </c:pt>
                <c:pt idx="5" c:formatCode="0.0000">
                  <c:v>1.2014826</c:v>
                </c:pt>
                <c:pt idx="6" c:formatCode="0.0000">
                  <c:v>1.2451003</c:v>
                </c:pt>
                <c:pt idx="7" c:formatCode="0.0000">
                  <c:v>1.2975893</c:v>
                </c:pt>
                <c:pt idx="8" c:formatCode="0.0000">
                  <c:v>1.2668092</c:v>
                </c:pt>
                <c:pt idx="9" c:formatCode="0.0000">
                  <c:v>1.313345</c:v>
                </c:pt>
                <c:pt idx="10" c:formatCode="0.0000">
                  <c:v>1.3162032</c:v>
                </c:pt>
                <c:pt idx="11" c:formatCode="0.0000">
                  <c:v>1.3504848</c:v>
                </c:pt>
                <c:pt idx="12" c:formatCode="0.0000">
                  <c:v>1.3404349</c:v>
                </c:pt>
                <c:pt idx="13" c:formatCode="0.0000">
                  <c:v>1.3955841</c:v>
                </c:pt>
                <c:pt idx="14" c:formatCode="0.0000">
                  <c:v>1.3393187</c:v>
                </c:pt>
                <c:pt idx="15" c:formatCode="0.0000">
                  <c:v>1.3964274</c:v>
                </c:pt>
                <c:pt idx="16" c:formatCode="0.0000">
                  <c:v>1.3317609</c:v>
                </c:pt>
                <c:pt idx="17" c:formatCode="0.0000">
                  <c:v>1.2772744</c:v>
                </c:pt>
                <c:pt idx="18" c:formatCode="0.0000">
                  <c:v>1.18131034750664</c:v>
                </c:pt>
                <c:pt idx="19" c:formatCode="0.0000">
                  <c:v>1.11247432599488</c:v>
                </c:pt>
                <c:pt idx="20" c:formatCode="0.0000">
                  <c:v>1.07110430227096</c:v>
                </c:pt>
                <c:pt idx="21" c:formatCode="0.0000">
                  <c:v>0.954241869227119</c:v>
                </c:pt>
                <c:pt idx="22" c:formatCode="0.0000">
                  <c:v>0.922399673889999</c:v>
                </c:pt>
                <c:pt idx="23" c:formatCode="0.0000">
                  <c:v>0.918079037777119</c:v>
                </c:pt>
                <c:pt idx="24" c:formatCode="0.0000">
                  <c:v>0.919840910084479</c:v>
                </c:pt>
                <c:pt idx="25" c:formatCode="0.0000">
                  <c:v>0.914081296632559</c:v>
                </c:pt>
                <c:pt idx="26" c:formatCode="0.0000">
                  <c:v>0.864489840778159</c:v>
                </c:pt>
                <c:pt idx="27" c:formatCode="0.0000">
                  <c:v>0.827299314345919</c:v>
                </c:pt>
                <c:pt idx="28" c:formatCode="0.0000">
                  <c:v>1.00230366126008</c:v>
                </c:pt>
                <c:pt idx="29" c:formatCode="0.0000">
                  <c:v>1.06070716092752</c:v>
                </c:pt>
                <c:pt idx="30" c:formatCode="0.0000">
                  <c:v>1.1852250658152</c:v>
                </c:pt>
                <c:pt idx="31" c:formatCode="0.0000">
                  <c:v>1.14520856977296</c:v>
                </c:pt>
                <c:pt idx="32" c:formatCode="0.0000">
                  <c:v>1.22152890835896</c:v>
                </c:pt>
                <c:pt idx="33" c:formatCode="0.0000">
                  <c:v>1.243752333372</c:v>
                </c:pt>
                <c:pt idx="34" c:formatCode="0.0000">
                  <c:v>1.21634151383824</c:v>
                </c:pt>
                <c:pt idx="35" c:formatCode="0.0000">
                  <c:v>1.3032650181284</c:v>
                </c:pt>
                <c:pt idx="36" c:formatCode="0.0000">
                  <c:v>1.34164902976</c:v>
                </c:pt>
                <c:pt idx="37" c:formatCode="0.0000">
                  <c:v>1.3471809051864</c:v>
                </c:pt>
                <c:pt idx="38" c:formatCode="0.0000">
                  <c:v>1.37098623454384</c:v>
                </c:pt>
                <c:pt idx="39" c:formatCode="0.0000">
                  <c:v>1.38953953929592</c:v>
                </c:pt>
                <c:pt idx="40" c:formatCode="0.0000">
                  <c:v>1.49391125052728</c:v>
                </c:pt>
                <c:pt idx="41" c:formatCode="0.0000">
                  <c:v>1.50795360528088</c:v>
                </c:pt>
                <c:pt idx="42" c:formatCode="0.0000">
                  <c:v>1.55386451790436</c:v>
                </c:pt>
                <c:pt idx="43" c:formatCode="0.0000">
                  <c:v>1.68341566835479</c:v>
                </c:pt>
                <c:pt idx="44" c:formatCode="0.0000">
                  <c:v>1.75493548951139</c:v>
                </c:pt>
                <c:pt idx="45" c:formatCode="0.0000">
                  <c:v>1.75524521256969</c:v>
                </c:pt>
                <c:pt idx="46" c:formatCode="0.0000">
                  <c:v>1.81670772553994</c:v>
                </c:pt>
                <c:pt idx="47" c:formatCode="0.0000">
                  <c:v>1.84099938928048</c:v>
                </c:pt>
                <c:pt idx="48" c:formatCode="0.0000">
                  <c:v>1.76225440866829</c:v>
                </c:pt>
                <c:pt idx="49" c:formatCode="0.0000">
                  <c:v>1.76836195775153</c:v>
                </c:pt>
                <c:pt idx="50" c:formatCode="0.0000">
                  <c:v>1.91258544797889</c:v>
                </c:pt>
                <c:pt idx="51" c:formatCode="0.0000">
                  <c:v>1.9108641210757</c:v>
                </c:pt>
                <c:pt idx="52" c:formatCode="0.0000">
                  <c:v>1.93838056441919</c:v>
                </c:pt>
                <c:pt idx="53" c:formatCode="0.0000">
                  <c:v>2.04363462906716</c:v>
                </c:pt>
              </c:numCache>
            </c:numRef>
          </c:val>
          <c:smooth val="0"/>
        </c:ser>
        <c:ser>
          <c:idx val="1"/>
          <c:order val="1"/>
          <c:tx>
            <c:strRef>
              <c:f>[景林各系列净值汇总.xlsx]Sheet1!$I$1</c:f>
              <c:strCache>
                <c:ptCount val="1"/>
                <c:pt idx="0">
                  <c:v>MSCI全球</c:v>
                </c:pt>
              </c:strCache>
            </c:strRef>
          </c:tx>
          <c:spPr>
            <a:ln w="28575" cap="rnd">
              <a:solidFill>
                <a:schemeClr val="bg1">
                  <a:lumMod val="65000"/>
                </a:schemeClr>
              </a:solidFill>
              <a:round/>
            </a:ln>
            <a:effectLst/>
          </c:spPr>
          <c:marker>
            <c:symbol val="none"/>
          </c:marker>
          <c:dLbls>
            <c:delete val="1"/>
          </c:dLbls>
          <c:cat>
            <c:numRef>
              <c:f>[景林各系列净值汇总.xlsx]Sheet1!$A$2:$A$55</c:f>
              <c:numCache>
                <c:formatCode>yyyy/m/d</c:formatCode>
                <c:ptCount val="54"/>
                <c:pt idx="0" c:formatCode="yyyy/m/d">
                  <c:v>44044</c:v>
                </c:pt>
                <c:pt idx="1" c:formatCode="yyyy/m/d">
                  <c:v>44074</c:v>
                </c:pt>
                <c:pt idx="2" c:formatCode="yyyy/m/d">
                  <c:v>44104</c:v>
                </c:pt>
                <c:pt idx="3" c:formatCode="yyyy/m/d">
                  <c:v>44135</c:v>
                </c:pt>
                <c:pt idx="4" c:formatCode="yyyy/m/d">
                  <c:v>44165</c:v>
                </c:pt>
                <c:pt idx="5" c:formatCode="yyyy/m/d">
                  <c:v>44196</c:v>
                </c:pt>
                <c:pt idx="6" c:formatCode="yyyy/m/d">
                  <c:v>44227</c:v>
                </c:pt>
                <c:pt idx="7" c:formatCode="yyyy/m/d">
                  <c:v>44255</c:v>
                </c:pt>
                <c:pt idx="8" c:formatCode="yyyy/m/d">
                  <c:v>44286</c:v>
                </c:pt>
                <c:pt idx="9" c:formatCode="yyyy/m/d">
                  <c:v>44316</c:v>
                </c:pt>
                <c:pt idx="10" c:formatCode="yyyy/m/d">
                  <c:v>44347</c:v>
                </c:pt>
                <c:pt idx="11" c:formatCode="yyyy/m/d">
                  <c:v>44377</c:v>
                </c:pt>
                <c:pt idx="12" c:formatCode="yyyy/m/d">
                  <c:v>44408</c:v>
                </c:pt>
                <c:pt idx="13" c:formatCode="yyyy/m/d">
                  <c:v>44439</c:v>
                </c:pt>
                <c:pt idx="14" c:formatCode="yyyy/m/d">
                  <c:v>44469</c:v>
                </c:pt>
                <c:pt idx="15" c:formatCode="yyyy/m/d">
                  <c:v>44500</c:v>
                </c:pt>
                <c:pt idx="16" c:formatCode="yyyy/m/d">
                  <c:v>44530</c:v>
                </c:pt>
                <c:pt idx="17" c:formatCode="yyyy/m/d">
                  <c:v>44561</c:v>
                </c:pt>
                <c:pt idx="18" c:formatCode="yyyy/m/d">
                  <c:v>44592</c:v>
                </c:pt>
                <c:pt idx="19" c:formatCode="yyyy/m/d">
                  <c:v>44620</c:v>
                </c:pt>
                <c:pt idx="20" c:formatCode="yyyy/m/d">
                  <c:v>44651</c:v>
                </c:pt>
                <c:pt idx="21" c:formatCode="yyyy/m/d">
                  <c:v>44681</c:v>
                </c:pt>
                <c:pt idx="22" c:formatCode="yyyy/m/d">
                  <c:v>44712</c:v>
                </c:pt>
                <c:pt idx="23" c:formatCode="yyyy/m/d">
                  <c:v>44742</c:v>
                </c:pt>
                <c:pt idx="24" c:formatCode="yyyy/m/d">
                  <c:v>44773</c:v>
                </c:pt>
                <c:pt idx="25" c:formatCode="yyyy/m/d">
                  <c:v>44804</c:v>
                </c:pt>
                <c:pt idx="26" c:formatCode="yyyy/m/d">
                  <c:v>44834</c:v>
                </c:pt>
                <c:pt idx="27" c:formatCode="yyyy/m/d">
                  <c:v>44865</c:v>
                </c:pt>
                <c:pt idx="28" c:formatCode="yyyy/m/d">
                  <c:v>44895</c:v>
                </c:pt>
                <c:pt idx="29" c:formatCode="yyyy/m/d">
                  <c:v>44926</c:v>
                </c:pt>
                <c:pt idx="30" c:formatCode="yyyy/m/d">
                  <c:v>44957</c:v>
                </c:pt>
                <c:pt idx="31" c:formatCode="yyyy/m/d">
                  <c:v>44985</c:v>
                </c:pt>
                <c:pt idx="32" c:formatCode="yyyy/m/d">
                  <c:v>45016</c:v>
                </c:pt>
                <c:pt idx="33" c:formatCode="yyyy/m/d">
                  <c:v>45046</c:v>
                </c:pt>
                <c:pt idx="34" c:formatCode="yyyy/m/d">
                  <c:v>45077</c:v>
                </c:pt>
                <c:pt idx="35" c:formatCode="yyyy/m/d">
                  <c:v>45107</c:v>
                </c:pt>
                <c:pt idx="36" c:formatCode="yyyy/m/d">
                  <c:v>45138</c:v>
                </c:pt>
                <c:pt idx="37" c:formatCode="yyyy/m/d">
                  <c:v>45169</c:v>
                </c:pt>
                <c:pt idx="38" c:formatCode="yyyy/m/d">
                  <c:v>45199</c:v>
                </c:pt>
                <c:pt idx="39" c:formatCode="yyyy/m/d">
                  <c:v>45230</c:v>
                </c:pt>
                <c:pt idx="40" c:formatCode="yyyy/m/d">
                  <c:v>45260</c:v>
                </c:pt>
                <c:pt idx="41" c:formatCode="yyyy/m/d">
                  <c:v>45291</c:v>
                </c:pt>
                <c:pt idx="42" c:formatCode="yyyy/m/d">
                  <c:v>45322</c:v>
                </c:pt>
                <c:pt idx="43" c:formatCode="yyyy/m/d">
                  <c:v>45351</c:v>
                </c:pt>
                <c:pt idx="44" c:formatCode="yyyy/m/d">
                  <c:v>45382</c:v>
                </c:pt>
                <c:pt idx="45" c:formatCode="yyyy/m/d">
                  <c:v>45412</c:v>
                </c:pt>
                <c:pt idx="46" c:formatCode="yyyy/m/d">
                  <c:v>45443</c:v>
                </c:pt>
                <c:pt idx="47" c:formatCode="yyyy/m/d">
                  <c:v>45473</c:v>
                </c:pt>
                <c:pt idx="48" c:formatCode="yyyy/m/d">
                  <c:v>45504</c:v>
                </c:pt>
                <c:pt idx="49" c:formatCode="yyyy/m/d">
                  <c:v>45535</c:v>
                </c:pt>
                <c:pt idx="50" c:formatCode="yyyy/m/d">
                  <c:v>45565</c:v>
                </c:pt>
                <c:pt idx="51" c:formatCode="yyyy/m/d">
                  <c:v>45595</c:v>
                </c:pt>
                <c:pt idx="52" c:formatCode="yyyy/m/d">
                  <c:v>45626</c:v>
                </c:pt>
                <c:pt idx="53" c:formatCode="yyyy/m/d">
                  <c:v>45656</c:v>
                </c:pt>
              </c:numCache>
            </c:numRef>
          </c:cat>
          <c:val>
            <c:numRef>
              <c:f>[景林各系列净值汇总.xlsx]Sheet1!$I$2:$I$55</c:f>
              <c:numCache>
                <c:formatCode>General</c:formatCode>
                <c:ptCount val="54"/>
                <c:pt idx="0">
                  <c:v>1</c:v>
                </c:pt>
                <c:pt idx="1" c:formatCode="0.0000">
                  <c:v>1.06530642348307</c:v>
                </c:pt>
                <c:pt idx="2" c:formatCode="0.0000">
                  <c:v>1.02702409565376</c:v>
                </c:pt>
                <c:pt idx="3" c:formatCode="0.0000">
                  <c:v>0.994772188912702</c:v>
                </c:pt>
                <c:pt idx="4" c:formatCode="0.0000">
                  <c:v>1.12067783668405</c:v>
                </c:pt>
                <c:pt idx="5" c:formatCode="0.0000">
                  <c:v>1.1670556794419</c:v>
                </c:pt>
                <c:pt idx="6" c:formatCode="0.0000">
                  <c:v>1.15475622348133</c:v>
                </c:pt>
                <c:pt idx="7" c:formatCode="0.0000">
                  <c:v>1.1830514798393</c:v>
                </c:pt>
                <c:pt idx="8" c:formatCode="0.0000">
                  <c:v>1.21983704847764</c:v>
                </c:pt>
                <c:pt idx="9" c:formatCode="0.0000">
                  <c:v>1.27496117102968</c:v>
                </c:pt>
                <c:pt idx="10" c:formatCode="0.0000">
                  <c:v>1.29098734045415</c:v>
                </c:pt>
                <c:pt idx="11" c:formatCode="0.0000">
                  <c:v>1.30900485036747</c:v>
                </c:pt>
                <c:pt idx="12" c:formatCode="0.0000">
                  <c:v>1.33157337590782</c:v>
                </c:pt>
                <c:pt idx="13" c:formatCode="0.0000">
                  <c:v>1.36285347378285</c:v>
                </c:pt>
                <c:pt idx="14" c:formatCode="0.0000">
                  <c:v>1.30439309668631</c:v>
                </c:pt>
                <c:pt idx="15" c:formatCode="0.0000">
                  <c:v>1.37733516125953</c:v>
                </c:pt>
                <c:pt idx="16" c:formatCode="0.0000">
                  <c:v>1.34569497349218</c:v>
                </c:pt>
                <c:pt idx="17" c:formatCode="0.0000">
                  <c:v>1.40206422615381</c:v>
                </c:pt>
                <c:pt idx="18" c:formatCode="0.0000">
                  <c:v>1.32714817482147</c:v>
                </c:pt>
                <c:pt idx="19" c:formatCode="0.0000">
                  <c:v>1.29196348775261</c:v>
                </c:pt>
                <c:pt idx="20" c:formatCode="0.0000">
                  <c:v>1.32455379222379</c:v>
                </c:pt>
                <c:pt idx="21" c:formatCode="0.0000">
                  <c:v>1.212860849118</c:v>
                </c:pt>
                <c:pt idx="22" c:formatCode="0.0000">
                  <c:v>1.21086083176427</c:v>
                </c:pt>
                <c:pt idx="23" c:formatCode="0.0000">
                  <c:v>1.10464732882715</c:v>
                </c:pt>
                <c:pt idx="24" c:formatCode="0.0000">
                  <c:v>1.19149406936286</c:v>
                </c:pt>
                <c:pt idx="25" c:formatCode="0.0000">
                  <c:v>1.13984503119333</c:v>
                </c:pt>
                <c:pt idx="26" c:formatCode="0.0000">
                  <c:v>1.03196123176774</c:v>
                </c:pt>
                <c:pt idx="27" c:formatCode="0.0000">
                  <c:v>1.1053111089901</c:v>
                </c:pt>
                <c:pt idx="28" c:formatCode="0.0000">
                  <c:v>1.18043974351187</c:v>
                </c:pt>
                <c:pt idx="29" c:formatCode="0.0000">
                  <c:v>1.12915947209954</c:v>
                </c:pt>
                <c:pt idx="30" c:formatCode="0.0000">
                  <c:v>1.20825343386927</c:v>
                </c:pt>
                <c:pt idx="31" c:formatCode="0.0000">
                  <c:v>1.17769785421132</c:v>
                </c:pt>
                <c:pt idx="32" c:formatCode="0.0000">
                  <c:v>1.21104738435908</c:v>
                </c:pt>
                <c:pt idx="33" c:formatCode="0.0000">
                  <c:v>1.23034907027393</c:v>
                </c:pt>
                <c:pt idx="34" c:formatCode="0.0000">
                  <c:v>1.21500403474217</c:v>
                </c:pt>
                <c:pt idx="35" c:formatCode="0.0000">
                  <c:v>1.28709142812519</c:v>
                </c:pt>
                <c:pt idx="36" c:formatCode="0.0000">
                  <c:v>1.32942585185121</c:v>
                </c:pt>
                <c:pt idx="37" c:formatCode="0.0000">
                  <c:v>1.29546460272974</c:v>
                </c:pt>
                <c:pt idx="38" c:formatCode="0.0000">
                  <c:v>1.2378588968234</c:v>
                </c:pt>
                <c:pt idx="39" c:formatCode="0.0000">
                  <c:v>1.2011470815365</c:v>
                </c:pt>
                <c:pt idx="40" c:formatCode="0.0000">
                  <c:v>1.31178144712752</c:v>
                </c:pt>
                <c:pt idx="41" c:formatCode="0.0000">
                  <c:v>1.37492733125667</c:v>
                </c:pt>
                <c:pt idx="42" c:formatCode="0.0000">
                  <c:v>1.39060642608613</c:v>
                </c:pt>
                <c:pt idx="43" c:formatCode="0.0000">
                  <c:v>1.44782167307309</c:v>
                </c:pt>
                <c:pt idx="44" c:formatCode="0.0000">
                  <c:v>1.49144894966551</c:v>
                </c:pt>
                <c:pt idx="45" c:formatCode="0.0000">
                  <c:v>1.43398207359717</c:v>
                </c:pt>
                <c:pt idx="46" c:formatCode="0.0000">
                  <c:v>1.49466372810176</c:v>
                </c:pt>
                <c:pt idx="47" c:formatCode="0.0000">
                  <c:v>1.52356202656856</c:v>
                </c:pt>
                <c:pt idx="48" c:formatCode="0.0000">
                  <c:v>1.54950585254536</c:v>
                </c:pt>
                <c:pt idx="49" c:formatCode="0.0000">
                  <c:v>1.58840423778081</c:v>
                </c:pt>
                <c:pt idx="50" c:formatCode="0.0000">
                  <c:v>1.61521141181268</c:v>
                </c:pt>
                <c:pt idx="51" c:formatCode="0.0000">
                  <c:v>1.57827192238805</c:v>
                </c:pt>
                <c:pt idx="52" c:formatCode="0.0000">
                  <c:v>1.63552054588547</c:v>
                </c:pt>
                <c:pt idx="53" c:formatCode="0.0000">
                  <c:v>1.59539530993962</c:v>
                </c:pt>
              </c:numCache>
            </c:numRef>
          </c:val>
          <c:smooth val="0"/>
        </c:ser>
        <c:dLbls>
          <c:showLegendKey val="0"/>
          <c:showVal val="0"/>
          <c:showCatName val="0"/>
          <c:showSerName val="0"/>
          <c:showPercent val="0"/>
          <c:showBubbleSize val="0"/>
        </c:dLbls>
        <c:marker val="0"/>
        <c:smooth val="0"/>
        <c:axId val="1340201567"/>
        <c:axId val="1115180559"/>
      </c:lineChart>
      <c:dateAx>
        <c:axId val="1340201567"/>
        <c:scaling>
          <c:orientation val="minMax"/>
        </c:scaling>
        <c:delete val="0"/>
        <c:axPos val="b"/>
        <c:numFmt formatCode="yyyy/m"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crossAx val="1115180559"/>
        <c:crosses val="autoZero"/>
        <c:auto val="1"/>
        <c:lblOffset val="100"/>
        <c:baseTimeUnit val="months"/>
        <c:majorUnit val="10"/>
        <c:majorTimeUnit val="months"/>
      </c:dateAx>
      <c:valAx>
        <c:axId val="1115180559"/>
        <c:scaling>
          <c:orientation val="minMax"/>
          <c:min val="0.6"/>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crossAx val="1340201567"/>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legendEntry>
      <c:legendEntry>
        <c:idx val="1"/>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legendEntry>
      <c:layout>
        <c:manualLayout>
          <c:xMode val="edge"/>
          <c:yMode val="edge"/>
          <c:x val="0.149437052200614"/>
          <c:y val="0.013595874355368"/>
          <c:w val="0.674367597601989"/>
          <c:h val="0.0947022972339428"/>
        </c:manualLayout>
      </c:layout>
      <c:overlay val="0"/>
      <c:spPr>
        <a:noFill/>
        <a:ln>
          <a:noFill/>
        </a:ln>
        <a:effectLst/>
      </c:spPr>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df6e1c69-e7c4-42b8-806f-73eddac7d218}"/>
      </c:ext>
    </c:extLst>
  </c:chart>
  <c:spPr>
    <a:noFill/>
    <a:ln w="9525" cap="flat" cmpd="sng" algn="ctr">
      <a:noFill/>
      <a:round/>
    </a:ln>
    <a:effectLst/>
  </c:spPr>
  <c:txPr>
    <a:bodyPr/>
    <a:lstStyle/>
    <a:p>
      <a:pPr>
        <a:defRPr lang="zh-CN" sz="1200"/>
      </a:pPr>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zh-CN" sz="1400" b="1" i="0" u="none" strike="noStrike" kern="1200" spc="0" baseline="0">
                <a:solidFill>
                  <a:schemeClr val="tx1"/>
                </a:solidFill>
                <a:latin typeface="+mj-ea"/>
                <a:ea typeface="+mj-ea"/>
                <a:cs typeface="+mn-cs"/>
              </a:defRPr>
            </a:pPr>
            <a:r>
              <a:rPr lang="zh-CN" b="1">
                <a:solidFill>
                  <a:schemeClr val="tx1"/>
                </a:solidFill>
              </a:rPr>
              <a:t>景林</a:t>
            </a:r>
            <a:r>
              <a:rPr lang="zh-CN" altLang="en-US" b="1">
                <a:solidFill>
                  <a:schemeClr val="tx1"/>
                </a:solidFill>
              </a:rPr>
              <a:t>环球</a:t>
            </a:r>
            <a:r>
              <a:rPr lang="en-US" b="1">
                <a:solidFill>
                  <a:schemeClr val="tx1"/>
                </a:solidFill>
              </a:rPr>
              <a:t>-</a:t>
            </a:r>
            <a:r>
              <a:rPr lang="zh-CN" b="1">
                <a:solidFill>
                  <a:schemeClr val="tx1"/>
                </a:solidFill>
              </a:rPr>
              <a:t>市场配置</a:t>
            </a:r>
            <a:endParaRPr lang="zh-CN" b="1">
              <a:solidFill>
                <a:schemeClr val="tx1"/>
              </a:solidFill>
            </a:endParaRPr>
          </a:p>
        </c:rich>
      </c:tx>
      <c:layout/>
      <c:overlay val="0"/>
      <c:spPr>
        <a:noFill/>
        <a:ln>
          <a:noFill/>
        </a:ln>
        <a:effectLst/>
      </c:spPr>
    </c:title>
    <c:autoTitleDeleted val="0"/>
    <c:plotArea>
      <c:layout/>
      <c:areaChart>
        <c:grouping val="stacked"/>
        <c:varyColors val="0"/>
        <c:ser>
          <c:idx val="0"/>
          <c:order val="0"/>
          <c:tx>
            <c:strRef>
              <c:f>'[Greenwoods Focused opportunities Fund data pack 2024Q3.xlsx]Share Type'!$A$14</c:f>
              <c:strCache>
                <c:ptCount val="1"/>
                <c:pt idx="0">
                  <c:v>中国股票</c:v>
                </c:pt>
              </c:strCache>
            </c:strRef>
          </c:tx>
          <c:spPr>
            <a:solidFill>
              <a:srgbClr val="FCE6D5"/>
            </a:solidFill>
            <a:ln w="25400">
              <a:noFill/>
            </a:ln>
            <a:effectLst/>
          </c:spPr>
          <c:dLbls>
            <c:delete val="1"/>
          </c:dLbls>
          <c:cat>
            <c:strRef>
              <c:f>'[Greenwoods Focused opportunities Fund data pack 2024Q3.xlsx]Share Type'!$B$13:$G$13</c:f>
              <c:strCache>
                <c:ptCount val="6"/>
                <c:pt idx="0">
                  <c:v>2020 Dec</c:v>
                </c:pt>
                <c:pt idx="1">
                  <c:v>2021 Dec</c:v>
                </c:pt>
                <c:pt idx="2">
                  <c:v>2022 Dec</c:v>
                </c:pt>
                <c:pt idx="3">
                  <c:v>2023 Dec</c:v>
                </c:pt>
                <c:pt idx="4">
                  <c:v>2024 Jun</c:v>
                </c:pt>
                <c:pt idx="5">
                  <c:v>2024 Sep</c:v>
                </c:pt>
              </c:strCache>
            </c:strRef>
          </c:cat>
          <c:val>
            <c:numRef>
              <c:f>'[Greenwoods Focused opportunities Fund data pack 2024Q3.xlsx]Share Type'!$B$14:$G$14</c:f>
              <c:numCache>
                <c:formatCode>0.00%</c:formatCode>
                <c:ptCount val="6"/>
                <c:pt idx="0">
                  <c:v>0.0441454260363067</c:v>
                </c:pt>
                <c:pt idx="1">
                  <c:v>0.0357270892371262</c:v>
                </c:pt>
                <c:pt idx="2">
                  <c:v>0</c:v>
                </c:pt>
                <c:pt idx="3">
                  <c:v>0.0227566290476101</c:v>
                </c:pt>
                <c:pt idx="4">
                  <c:v>0.0128721277831231</c:v>
                </c:pt>
                <c:pt idx="5">
                  <c:v>0.0115828267562807</c:v>
                </c:pt>
              </c:numCache>
            </c:numRef>
          </c:val>
        </c:ser>
        <c:ser>
          <c:idx val="1"/>
          <c:order val="1"/>
          <c:tx>
            <c:strRef>
              <c:f>'[Greenwoods Focused opportunities Fund data pack 2024Q3.xlsx]Share Type'!$A$15</c:f>
              <c:strCache>
                <c:ptCount val="1"/>
                <c:pt idx="0">
                  <c:v>港股</c:v>
                </c:pt>
              </c:strCache>
            </c:strRef>
          </c:tx>
          <c:spPr>
            <a:solidFill>
              <a:srgbClr val="4874CB"/>
            </a:solidFill>
            <a:ln w="25400">
              <a:noFill/>
            </a:ln>
            <a:effectLst/>
          </c:spPr>
          <c:dLbls>
            <c:delete val="1"/>
          </c:dLbls>
          <c:cat>
            <c:strRef>
              <c:f>'[Greenwoods Focused opportunities Fund data pack 2024Q3.xlsx]Share Type'!$B$13:$G$13</c:f>
              <c:strCache>
                <c:ptCount val="6"/>
                <c:pt idx="0">
                  <c:v>2020 Dec</c:v>
                </c:pt>
                <c:pt idx="1">
                  <c:v>2021 Dec</c:v>
                </c:pt>
                <c:pt idx="2">
                  <c:v>2022 Dec</c:v>
                </c:pt>
                <c:pt idx="3">
                  <c:v>2023 Dec</c:v>
                </c:pt>
                <c:pt idx="4">
                  <c:v>2024 Jun</c:v>
                </c:pt>
                <c:pt idx="5">
                  <c:v>2024 Sep</c:v>
                </c:pt>
              </c:strCache>
            </c:strRef>
          </c:cat>
          <c:val>
            <c:numRef>
              <c:f>'[Greenwoods Focused opportunities Fund data pack 2024Q3.xlsx]Share Type'!$B$15:$G$15</c:f>
              <c:numCache>
                <c:formatCode>0.00%</c:formatCode>
                <c:ptCount val="6"/>
                <c:pt idx="0">
                  <c:v>0.163184150845607</c:v>
                </c:pt>
                <c:pt idx="1">
                  <c:v>0.18310581506554</c:v>
                </c:pt>
                <c:pt idx="2">
                  <c:v>0.329953971513591</c:v>
                </c:pt>
                <c:pt idx="3">
                  <c:v>0.22831750159426</c:v>
                </c:pt>
                <c:pt idx="4">
                  <c:v>0.184197180125004</c:v>
                </c:pt>
                <c:pt idx="5">
                  <c:v>0.184681557591915</c:v>
                </c:pt>
              </c:numCache>
            </c:numRef>
          </c:val>
        </c:ser>
        <c:ser>
          <c:idx val="2"/>
          <c:order val="2"/>
          <c:tx>
            <c:strRef>
              <c:f>'[Greenwoods Focused opportunities Fund data pack 2024Q3.xlsx]Share Type'!$A$16</c:f>
              <c:strCache>
                <c:ptCount val="1"/>
                <c:pt idx="0">
                  <c:v>中概股ADR</c:v>
                </c:pt>
              </c:strCache>
            </c:strRef>
          </c:tx>
          <c:spPr>
            <a:solidFill>
              <a:schemeClr val="accent3"/>
            </a:solidFill>
            <a:ln w="25400">
              <a:noFill/>
            </a:ln>
            <a:effectLst/>
          </c:spPr>
          <c:dLbls>
            <c:delete val="1"/>
          </c:dLbls>
          <c:cat>
            <c:strRef>
              <c:f>'[Greenwoods Focused opportunities Fund data pack 2024Q3.xlsx]Share Type'!$B$13:$G$13</c:f>
              <c:strCache>
                <c:ptCount val="6"/>
                <c:pt idx="0">
                  <c:v>2020 Dec</c:v>
                </c:pt>
                <c:pt idx="1">
                  <c:v>2021 Dec</c:v>
                </c:pt>
                <c:pt idx="2">
                  <c:v>2022 Dec</c:v>
                </c:pt>
                <c:pt idx="3">
                  <c:v>2023 Dec</c:v>
                </c:pt>
                <c:pt idx="4">
                  <c:v>2024 Jun</c:v>
                </c:pt>
                <c:pt idx="5">
                  <c:v>2024 Sep</c:v>
                </c:pt>
              </c:strCache>
            </c:strRef>
          </c:cat>
          <c:val>
            <c:numRef>
              <c:f>'[Greenwoods Focused opportunities Fund data pack 2024Q3.xlsx]Share Type'!$B$16:$G$16</c:f>
              <c:numCache>
                <c:formatCode>0.00%</c:formatCode>
                <c:ptCount val="6"/>
                <c:pt idx="0">
                  <c:v>0.154003014502863</c:v>
                </c:pt>
                <c:pt idx="1">
                  <c:v>0.164900012862988</c:v>
                </c:pt>
                <c:pt idx="2">
                  <c:v>0.315025896890908</c:v>
                </c:pt>
                <c:pt idx="3">
                  <c:v>0.368666043806307</c:v>
                </c:pt>
                <c:pt idx="4">
                  <c:v>0.477624089517555</c:v>
                </c:pt>
                <c:pt idx="5">
                  <c:v>0.406712252141192</c:v>
                </c:pt>
              </c:numCache>
            </c:numRef>
          </c:val>
        </c:ser>
        <c:ser>
          <c:idx val="3"/>
          <c:order val="3"/>
          <c:tx>
            <c:strRef>
              <c:f>'[Greenwoods Focused opportunities Fund data pack 2024Q3.xlsx]Share Type'!$A$17</c:f>
              <c:strCache>
                <c:ptCount val="1"/>
                <c:pt idx="0">
                  <c:v>其他国家</c:v>
                </c:pt>
              </c:strCache>
            </c:strRef>
          </c:tx>
          <c:spPr>
            <a:solidFill>
              <a:srgbClr val="002060"/>
            </a:solidFill>
            <a:ln w="25400">
              <a:noFill/>
            </a:ln>
            <a:effectLst/>
          </c:spPr>
          <c:dLbls>
            <c:delete val="1"/>
          </c:dLbls>
          <c:cat>
            <c:strRef>
              <c:f>'[Greenwoods Focused opportunities Fund data pack 2024Q3.xlsx]Share Type'!$B$13:$G$13</c:f>
              <c:strCache>
                <c:ptCount val="6"/>
                <c:pt idx="0">
                  <c:v>2020 Dec</c:v>
                </c:pt>
                <c:pt idx="1">
                  <c:v>2021 Dec</c:v>
                </c:pt>
                <c:pt idx="2">
                  <c:v>2022 Dec</c:v>
                </c:pt>
                <c:pt idx="3">
                  <c:v>2023 Dec</c:v>
                </c:pt>
                <c:pt idx="4">
                  <c:v>2024 Jun</c:v>
                </c:pt>
                <c:pt idx="5">
                  <c:v>2024 Sep</c:v>
                </c:pt>
              </c:strCache>
            </c:strRef>
          </c:cat>
          <c:val>
            <c:numRef>
              <c:f>'[Greenwoods Focused opportunities Fund data pack 2024Q3.xlsx]Share Type'!$B$17:$G$17</c:f>
              <c:numCache>
                <c:formatCode>0.00%</c:formatCode>
                <c:ptCount val="6"/>
                <c:pt idx="0">
                  <c:v>0.49791071427299</c:v>
                </c:pt>
                <c:pt idx="1">
                  <c:v>0.479899528514272</c:v>
                </c:pt>
                <c:pt idx="2">
                  <c:v>0.551779446163374</c:v>
                </c:pt>
                <c:pt idx="3">
                  <c:v>0.640207627103056</c:v>
                </c:pt>
                <c:pt idx="4">
                  <c:v>0.3631426950861</c:v>
                </c:pt>
                <c:pt idx="5">
                  <c:v>0.195995970093909</c:v>
                </c:pt>
              </c:numCache>
            </c:numRef>
          </c:val>
        </c:ser>
        <c:dLbls>
          <c:showLegendKey val="0"/>
          <c:showVal val="0"/>
          <c:showCatName val="0"/>
          <c:showSerName val="0"/>
          <c:showPercent val="0"/>
          <c:showBubbleSize val="0"/>
        </c:dLbls>
        <c:axId val="1817738576"/>
        <c:axId val="1817729424"/>
      </c:areaChart>
      <c:catAx>
        <c:axId val="181773857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crossAx val="1817729424"/>
        <c:crosses val="autoZero"/>
        <c:auto val="0"/>
        <c:lblAlgn val="ctr"/>
        <c:lblOffset val="100"/>
        <c:noMultiLvlLbl val="0"/>
      </c:catAx>
      <c:valAx>
        <c:axId val="1817729424"/>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crossAx val="1817738576"/>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legendEntry>
      <c:legendEntry>
        <c:idx val="1"/>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legendEntry>
      <c:legendEntry>
        <c:idx val="2"/>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legendEntry>
      <c:legendEntry>
        <c:idx val="3"/>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legendEntry>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legend>
    <c:plotVisOnly val="1"/>
    <c:dispBlanksAs val="zero"/>
    <c:showDLblsOverMax val="0"/>
    <c:extLst>
      <c:ext uri="{0b15fc19-7d7d-44ad-8c2d-2c3a37ce22c3}">
        <chartProps xmlns="https://web.wps.cn/et/2018/main" chartId="{39ce4f5a-0fe1-4913-918c-67ef7991bfd0}"/>
      </c:ext>
    </c:extLst>
  </c:chart>
  <c:spPr>
    <a:noFill/>
    <a:ln w="9525" cap="flat" cmpd="sng" algn="ctr">
      <a:noFill/>
      <a:round/>
    </a:ln>
    <a:effectLst/>
  </c:spPr>
  <c:txPr>
    <a:bodyPr/>
    <a:lstStyle/>
    <a:p>
      <a:pPr>
        <a:defRPr lang="zh-CN">
          <a:latin typeface="+mj-ea"/>
          <a:ea typeface="+mj-ea"/>
        </a:defRPr>
      </a:pPr>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0817003628823224"/>
          <c:y val="0.0634664948453608"/>
          <c:w val="0.88481078278901"/>
          <c:h val="0.700064432989691"/>
        </c:manualLayout>
      </c:layout>
      <c:areaChart>
        <c:grouping val="stacked"/>
        <c:varyColors val="0"/>
        <c:ser>
          <c:idx val="0"/>
          <c:order val="0"/>
          <c:tx>
            <c:strRef>
              <c:f>'[Greenwoods Focused opportunities Fund data pack 2024Q3.xlsx]Share Type'!$A$20</c:f>
              <c:strCache>
                <c:ptCount val="1"/>
                <c:pt idx="0">
                  <c:v>中国股票</c:v>
                </c:pt>
              </c:strCache>
            </c:strRef>
          </c:tx>
          <c:spPr>
            <a:solidFill>
              <a:schemeClr val="accent1"/>
            </a:solidFill>
            <a:ln w="25400">
              <a:noFill/>
            </a:ln>
            <a:effectLst/>
          </c:spPr>
          <c:dLbls>
            <c:delete val="1"/>
          </c:dLbls>
          <c:cat>
            <c:strRef>
              <c:f>'[Greenwoods Focused opportunities Fund data pack 2024Q3.xlsx]Share Type'!$B$13:$G$13</c:f>
              <c:strCache>
                <c:ptCount val="6"/>
                <c:pt idx="0">
                  <c:v>2020 Dec</c:v>
                </c:pt>
                <c:pt idx="1">
                  <c:v>2021 Dec</c:v>
                </c:pt>
                <c:pt idx="2">
                  <c:v>2022 Dec</c:v>
                </c:pt>
                <c:pt idx="3">
                  <c:v>2023 Dec</c:v>
                </c:pt>
                <c:pt idx="4">
                  <c:v>2024 Jun</c:v>
                </c:pt>
                <c:pt idx="5">
                  <c:v>2024 Sep</c:v>
                </c:pt>
              </c:strCache>
            </c:strRef>
          </c:cat>
          <c:val>
            <c:numRef>
              <c:f>'[Greenwoods Focused opportunities Fund data pack 2024Q3.xlsx]Share Type'!$B$20:$G$20</c:f>
              <c:numCache>
                <c:formatCode>0.00%</c:formatCode>
                <c:ptCount val="6"/>
                <c:pt idx="0">
                  <c:v>0</c:v>
                </c:pt>
                <c:pt idx="1">
                  <c:v>0</c:v>
                </c:pt>
                <c:pt idx="2">
                  <c:v>0</c:v>
                </c:pt>
                <c:pt idx="3">
                  <c:v>0</c:v>
                </c:pt>
                <c:pt idx="4">
                  <c:v>0</c:v>
                </c:pt>
                <c:pt idx="5">
                  <c:v>0</c:v>
                </c:pt>
              </c:numCache>
            </c:numRef>
          </c:val>
        </c:ser>
        <c:ser>
          <c:idx val="1"/>
          <c:order val="1"/>
          <c:tx>
            <c:strRef>
              <c:f>'[Greenwoods Focused opportunities Fund data pack 2024Q3.xlsx]Share Type'!$A$21</c:f>
              <c:strCache>
                <c:ptCount val="1"/>
                <c:pt idx="0">
                  <c:v>港股</c:v>
                </c:pt>
              </c:strCache>
            </c:strRef>
          </c:tx>
          <c:spPr>
            <a:solidFill>
              <a:srgbClr val="4874CB"/>
            </a:solidFill>
            <a:ln w="25400">
              <a:noFill/>
            </a:ln>
            <a:effectLst/>
          </c:spPr>
          <c:dLbls>
            <c:delete val="1"/>
          </c:dLbls>
          <c:cat>
            <c:strRef>
              <c:f>'[Greenwoods Focused opportunities Fund data pack 2024Q3.xlsx]Share Type'!$B$13:$G$13</c:f>
              <c:strCache>
                <c:ptCount val="6"/>
                <c:pt idx="0">
                  <c:v>2020 Dec</c:v>
                </c:pt>
                <c:pt idx="1">
                  <c:v>2021 Dec</c:v>
                </c:pt>
                <c:pt idx="2">
                  <c:v>2022 Dec</c:v>
                </c:pt>
                <c:pt idx="3">
                  <c:v>2023 Dec</c:v>
                </c:pt>
                <c:pt idx="4">
                  <c:v>2024 Jun</c:v>
                </c:pt>
                <c:pt idx="5">
                  <c:v>2024 Sep</c:v>
                </c:pt>
              </c:strCache>
            </c:strRef>
          </c:cat>
          <c:val>
            <c:numRef>
              <c:f>'[Greenwoods Focused opportunities Fund data pack 2024Q3.xlsx]Share Type'!$B$21:$G$21</c:f>
              <c:numCache>
                <c:formatCode>0.00%</c:formatCode>
                <c:ptCount val="6"/>
                <c:pt idx="0">
                  <c:v>0</c:v>
                </c:pt>
                <c:pt idx="1">
                  <c:v>-0.0563645658630964</c:v>
                </c:pt>
                <c:pt idx="2">
                  <c:v>-0.14262545985579</c:v>
                </c:pt>
                <c:pt idx="3">
                  <c:v>-0.0424366142880055</c:v>
                </c:pt>
                <c:pt idx="4">
                  <c:v>-0.00385452257339538</c:v>
                </c:pt>
                <c:pt idx="5">
                  <c:v>0</c:v>
                </c:pt>
              </c:numCache>
            </c:numRef>
          </c:val>
        </c:ser>
        <c:ser>
          <c:idx val="2"/>
          <c:order val="2"/>
          <c:tx>
            <c:strRef>
              <c:f>'[Greenwoods Focused opportunities Fund data pack 2024Q3.xlsx]Share Type'!$A$22</c:f>
              <c:strCache>
                <c:ptCount val="1"/>
                <c:pt idx="0">
                  <c:v>中概股ADR</c:v>
                </c:pt>
              </c:strCache>
            </c:strRef>
          </c:tx>
          <c:spPr>
            <a:solidFill>
              <a:srgbClr val="F2BA02"/>
            </a:solidFill>
            <a:ln w="25400">
              <a:noFill/>
            </a:ln>
            <a:effectLst/>
          </c:spPr>
          <c:dLbls>
            <c:delete val="1"/>
          </c:dLbls>
          <c:cat>
            <c:strRef>
              <c:f>'[Greenwoods Focused opportunities Fund data pack 2024Q3.xlsx]Share Type'!$B$13:$G$13</c:f>
              <c:strCache>
                <c:ptCount val="6"/>
                <c:pt idx="0">
                  <c:v>2020 Dec</c:v>
                </c:pt>
                <c:pt idx="1">
                  <c:v>2021 Dec</c:v>
                </c:pt>
                <c:pt idx="2">
                  <c:v>2022 Dec</c:v>
                </c:pt>
                <c:pt idx="3">
                  <c:v>2023 Dec</c:v>
                </c:pt>
                <c:pt idx="4">
                  <c:v>2024 Jun</c:v>
                </c:pt>
                <c:pt idx="5">
                  <c:v>2024 Sep</c:v>
                </c:pt>
              </c:strCache>
            </c:strRef>
          </c:cat>
          <c:val>
            <c:numRef>
              <c:f>'[Greenwoods Focused opportunities Fund data pack 2024Q3.xlsx]Share Type'!$B$22:$G$22</c:f>
              <c:numCache>
                <c:formatCode>0.00%</c:formatCode>
                <c:ptCount val="6"/>
                <c:pt idx="0">
                  <c:v>0</c:v>
                </c:pt>
                <c:pt idx="1">
                  <c:v>-0.0176947496461767</c:v>
                </c:pt>
                <c:pt idx="2">
                  <c:v>-0.071587731769466</c:v>
                </c:pt>
                <c:pt idx="3">
                  <c:v>-0.0528176256248258</c:v>
                </c:pt>
                <c:pt idx="4">
                  <c:v>-0.0178236729560407</c:v>
                </c:pt>
                <c:pt idx="5">
                  <c:v>-0.0863576332908134</c:v>
                </c:pt>
              </c:numCache>
            </c:numRef>
          </c:val>
        </c:ser>
        <c:ser>
          <c:idx val="3"/>
          <c:order val="3"/>
          <c:tx>
            <c:strRef>
              <c:f>'[Greenwoods Focused opportunities Fund data pack 2024Q3.xlsx]Share Type'!$A$23</c:f>
              <c:strCache>
                <c:ptCount val="1"/>
                <c:pt idx="0">
                  <c:v>其他国家</c:v>
                </c:pt>
              </c:strCache>
            </c:strRef>
          </c:tx>
          <c:spPr>
            <a:solidFill>
              <a:srgbClr val="002060"/>
            </a:solidFill>
            <a:ln w="25400">
              <a:noFill/>
            </a:ln>
            <a:effectLst/>
          </c:spPr>
          <c:dLbls>
            <c:delete val="1"/>
          </c:dLbls>
          <c:cat>
            <c:strRef>
              <c:f>'[Greenwoods Focused opportunities Fund data pack 2024Q3.xlsx]Share Type'!$B$13:$G$13</c:f>
              <c:strCache>
                <c:ptCount val="6"/>
                <c:pt idx="0">
                  <c:v>2020 Dec</c:v>
                </c:pt>
                <c:pt idx="1">
                  <c:v>2021 Dec</c:v>
                </c:pt>
                <c:pt idx="2">
                  <c:v>2022 Dec</c:v>
                </c:pt>
                <c:pt idx="3">
                  <c:v>2023 Dec</c:v>
                </c:pt>
                <c:pt idx="4">
                  <c:v>2024 Jun</c:v>
                </c:pt>
                <c:pt idx="5">
                  <c:v>2024 Sep</c:v>
                </c:pt>
              </c:strCache>
            </c:strRef>
          </c:cat>
          <c:val>
            <c:numRef>
              <c:f>'[Greenwoods Focused opportunities Fund data pack 2024Q3.xlsx]Share Type'!$B$23:$G$23</c:f>
              <c:numCache>
                <c:formatCode>0.00%</c:formatCode>
                <c:ptCount val="6"/>
                <c:pt idx="0">
                  <c:v>-0.0197477538544195</c:v>
                </c:pt>
                <c:pt idx="1">
                  <c:v>-0.0693429036069949</c:v>
                </c:pt>
                <c:pt idx="2">
                  <c:v>-0.20239128997051</c:v>
                </c:pt>
                <c:pt idx="3">
                  <c:v>-0.14933928801785</c:v>
                </c:pt>
                <c:pt idx="4">
                  <c:v>-0.0828183871847064</c:v>
                </c:pt>
                <c:pt idx="5">
                  <c:v>-0.132016228841898</c:v>
                </c:pt>
              </c:numCache>
            </c:numRef>
          </c:val>
        </c:ser>
        <c:dLbls>
          <c:showLegendKey val="0"/>
          <c:showVal val="0"/>
          <c:showCatName val="0"/>
          <c:showSerName val="0"/>
          <c:showPercent val="0"/>
          <c:showBubbleSize val="0"/>
        </c:dLbls>
        <c:axId val="1813650112"/>
        <c:axId val="1813665504"/>
      </c:areaChart>
      <c:catAx>
        <c:axId val="1813650112"/>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j-ea"/>
                <a:ea typeface="+mj-ea"/>
                <a:cs typeface="+mn-cs"/>
              </a:defRPr>
            </a:pPr>
          </a:p>
        </c:txPr>
        <c:crossAx val="1813665504"/>
        <c:crosses val="autoZero"/>
        <c:auto val="0"/>
        <c:lblAlgn val="ctr"/>
        <c:lblOffset val="100"/>
        <c:noMultiLvlLbl val="0"/>
      </c:catAx>
      <c:valAx>
        <c:axId val="1813665504"/>
        <c:scaling>
          <c:orientation val="minMax"/>
        </c:scaling>
        <c:delete val="0"/>
        <c:axPos val="l"/>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crossAx val="1813650112"/>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legendEntry>
      <c:legendEntry>
        <c:idx val="1"/>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legendEntry>
      <c:legendEntry>
        <c:idx val="2"/>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legendEntry>
      <c:legendEntry>
        <c:idx val="3"/>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legendEntry>
      <c:layout>
        <c:manualLayout>
          <c:xMode val="edge"/>
          <c:yMode val="edge"/>
          <c:x val="0.29061689994816"/>
          <c:y val="0.809922680412371"/>
        </c:manualLayout>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j-ea"/>
              <a:ea typeface="+mj-ea"/>
              <a:cs typeface="+mn-cs"/>
            </a:defRPr>
          </a:pPr>
        </a:p>
      </c:txPr>
    </c:legend>
    <c:plotVisOnly val="1"/>
    <c:dispBlanksAs val="zero"/>
    <c:showDLblsOverMax val="0"/>
    <c:extLst>
      <c:ext uri="{0b15fc19-7d7d-44ad-8c2d-2c3a37ce22c3}">
        <chartProps xmlns="https://web.wps.cn/et/2018/main" chartId="{031db1e3-8d5a-46d5-a6e4-98e49fe39eab}"/>
      </c:ext>
    </c:extLst>
  </c:chart>
  <c:spPr>
    <a:noFill/>
    <a:ln w="9525" cap="flat" cmpd="sng" algn="ctr">
      <a:noFill/>
      <a:round/>
    </a:ln>
    <a:effectLst/>
  </c:spPr>
  <c:txPr>
    <a:bodyPr/>
    <a:lstStyle/>
    <a:p>
      <a:pPr>
        <a:defRPr lang="zh-CN">
          <a:latin typeface="+mj-ea"/>
          <a:ea typeface="+mj-ea"/>
        </a:defRPr>
      </a:pPr>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r>
              <a:rPr lang="zh-CN" altLang="en-US" b="1"/>
              <a:t>单年度归因贡献</a:t>
            </a:r>
            <a:endParaRPr lang="zh-CN" altLang="en-US" b="1"/>
          </a:p>
        </c:rich>
      </c:tx>
      <c:layout/>
      <c:overlay val="0"/>
      <c:spPr>
        <a:noFill/>
        <a:ln>
          <a:noFill/>
        </a:ln>
        <a:effectLst/>
      </c:spPr>
    </c:title>
    <c:autoTitleDeleted val="0"/>
    <c:plotArea>
      <c:layout/>
      <c:barChart>
        <c:barDir val="col"/>
        <c:grouping val="stacked"/>
        <c:varyColors val="0"/>
        <c:ser>
          <c:idx val="0"/>
          <c:order val="0"/>
          <c:tx>
            <c:strRef>
              <c:f>'[Greenwoods Focused opportunities Fund data pack 2024Q3.xlsx]Share Type'!$A$3</c:f>
              <c:strCache>
                <c:ptCount val="1"/>
                <c:pt idx="0">
                  <c:v>中国股票</c:v>
                </c:pt>
              </c:strCache>
            </c:strRef>
          </c:tx>
          <c:spPr>
            <a:solidFill>
              <a:srgbClr val="FCE6D5"/>
            </a:solidFill>
            <a:ln>
              <a:noFill/>
            </a:ln>
            <a:effectLst/>
          </c:spPr>
          <c:invertIfNegative val="0"/>
          <c:dLbls>
            <c:delete val="1"/>
          </c:dLbls>
          <c:cat>
            <c:strRef>
              <c:f>'[Greenwoods Focused opportunities Fund data pack 2024Q3.xlsx]Share Type'!$B$2:$F$2</c:f>
              <c:strCache>
                <c:ptCount val="5"/>
                <c:pt idx="0">
                  <c:v>2020 Dec</c:v>
                </c:pt>
                <c:pt idx="1">
                  <c:v>2021 Dec</c:v>
                </c:pt>
                <c:pt idx="2">
                  <c:v>2022 Dec</c:v>
                </c:pt>
                <c:pt idx="3">
                  <c:v>2023 Dec</c:v>
                </c:pt>
                <c:pt idx="4">
                  <c:v>2024 Sep</c:v>
                </c:pt>
              </c:strCache>
            </c:strRef>
          </c:cat>
          <c:val>
            <c:numRef>
              <c:f>'[Greenwoods Focused opportunities Fund data pack 2024Q3.xlsx]Share Type'!$B$3:$F$3</c:f>
              <c:numCache>
                <c:formatCode>0.00%</c:formatCode>
                <c:ptCount val="5"/>
                <c:pt idx="0">
                  <c:v>0.0123120860696777</c:v>
                </c:pt>
                <c:pt idx="1">
                  <c:v>0.0343669423469792</c:v>
                </c:pt>
                <c:pt idx="2">
                  <c:v>-0.017187208001306</c:v>
                </c:pt>
                <c:pt idx="3">
                  <c:v>-0.00513892608473821</c:v>
                </c:pt>
                <c:pt idx="4">
                  <c:v>0.000628424896381059</c:v>
                </c:pt>
              </c:numCache>
            </c:numRef>
          </c:val>
        </c:ser>
        <c:ser>
          <c:idx val="1"/>
          <c:order val="1"/>
          <c:tx>
            <c:strRef>
              <c:f>'[Greenwoods Focused opportunities Fund data pack 2024Q3.xlsx]Share Type'!$A$4</c:f>
              <c:strCache>
                <c:ptCount val="1"/>
                <c:pt idx="0">
                  <c:v>港股</c:v>
                </c:pt>
              </c:strCache>
            </c:strRef>
          </c:tx>
          <c:spPr>
            <a:solidFill>
              <a:srgbClr val="4874CB"/>
            </a:solidFill>
            <a:ln>
              <a:noFill/>
            </a:ln>
            <a:effectLst/>
          </c:spPr>
          <c:invertIfNegative val="0"/>
          <c:dLbls>
            <c:delete val="1"/>
          </c:dLbls>
          <c:cat>
            <c:strRef>
              <c:f>'[Greenwoods Focused opportunities Fund data pack 2024Q3.xlsx]Share Type'!$B$2:$F$2</c:f>
              <c:strCache>
                <c:ptCount val="5"/>
                <c:pt idx="0">
                  <c:v>2020 Dec</c:v>
                </c:pt>
                <c:pt idx="1">
                  <c:v>2021 Dec</c:v>
                </c:pt>
                <c:pt idx="2">
                  <c:v>2022 Dec</c:v>
                </c:pt>
                <c:pt idx="3">
                  <c:v>2023 Dec</c:v>
                </c:pt>
                <c:pt idx="4">
                  <c:v>2024 Sep</c:v>
                </c:pt>
              </c:strCache>
            </c:strRef>
          </c:cat>
          <c:val>
            <c:numRef>
              <c:f>'[Greenwoods Focused opportunities Fund data pack 2024Q3.xlsx]Share Type'!$B$4:$F$4</c:f>
              <c:numCache>
                <c:formatCode>0.00%</c:formatCode>
                <c:ptCount val="5"/>
                <c:pt idx="0">
                  <c:v>0.072726583819328</c:v>
                </c:pt>
                <c:pt idx="1">
                  <c:v>-0.0460086407438522</c:v>
                </c:pt>
                <c:pt idx="2">
                  <c:v>-0.0074383187986435</c:v>
                </c:pt>
                <c:pt idx="3">
                  <c:v>-0.0730114971364066</c:v>
                </c:pt>
                <c:pt idx="4">
                  <c:v>0.112925351914776</c:v>
                </c:pt>
              </c:numCache>
            </c:numRef>
          </c:val>
        </c:ser>
        <c:ser>
          <c:idx val="2"/>
          <c:order val="2"/>
          <c:tx>
            <c:strRef>
              <c:f>'[Greenwoods Focused opportunities Fund data pack 2024Q3.xlsx]Share Type'!$A$5</c:f>
              <c:strCache>
                <c:ptCount val="1"/>
                <c:pt idx="0">
                  <c:v>中概股ADR</c:v>
                </c:pt>
              </c:strCache>
            </c:strRef>
          </c:tx>
          <c:spPr>
            <a:solidFill>
              <a:schemeClr val="accent3"/>
            </a:solidFill>
            <a:ln>
              <a:noFill/>
            </a:ln>
            <a:effectLst/>
          </c:spPr>
          <c:invertIfNegative val="0"/>
          <c:dLbls>
            <c:delete val="1"/>
          </c:dLbls>
          <c:cat>
            <c:strRef>
              <c:f>'[Greenwoods Focused opportunities Fund data pack 2024Q3.xlsx]Share Type'!$B$2:$F$2</c:f>
              <c:strCache>
                <c:ptCount val="5"/>
                <c:pt idx="0">
                  <c:v>2020 Dec</c:v>
                </c:pt>
                <c:pt idx="1">
                  <c:v>2021 Dec</c:v>
                </c:pt>
                <c:pt idx="2">
                  <c:v>2022 Dec</c:v>
                </c:pt>
                <c:pt idx="3">
                  <c:v>2023 Dec</c:v>
                </c:pt>
                <c:pt idx="4">
                  <c:v>2024 Sep</c:v>
                </c:pt>
              </c:strCache>
            </c:strRef>
          </c:cat>
          <c:val>
            <c:numRef>
              <c:f>'[Greenwoods Focused opportunities Fund data pack 2024Q3.xlsx]Share Type'!$B$5:$F$5</c:f>
              <c:numCache>
                <c:formatCode>0.00%</c:formatCode>
                <c:ptCount val="5"/>
                <c:pt idx="0">
                  <c:v>0.0756563505872669</c:v>
                </c:pt>
                <c:pt idx="1">
                  <c:v>0.0580064739387159</c:v>
                </c:pt>
                <c:pt idx="2">
                  <c:v>-0.0232330469889038</c:v>
                </c:pt>
                <c:pt idx="3">
                  <c:v>0.188610316615047</c:v>
                </c:pt>
                <c:pt idx="4">
                  <c:v>0.0576681083134645</c:v>
                </c:pt>
              </c:numCache>
            </c:numRef>
          </c:val>
        </c:ser>
        <c:ser>
          <c:idx val="3"/>
          <c:order val="3"/>
          <c:tx>
            <c:strRef>
              <c:f>'[Greenwoods Focused opportunities Fund data pack 2024Q3.xlsx]Share Type'!$A$6</c:f>
              <c:strCache>
                <c:ptCount val="1"/>
                <c:pt idx="0">
                  <c:v>其他国家</c:v>
                </c:pt>
              </c:strCache>
            </c:strRef>
          </c:tx>
          <c:spPr>
            <a:solidFill>
              <a:srgbClr val="002060"/>
            </a:solidFill>
            <a:ln>
              <a:noFill/>
            </a:ln>
            <a:effectLst/>
          </c:spPr>
          <c:invertIfNegative val="0"/>
          <c:dLbls>
            <c:delete val="1"/>
          </c:dLbls>
          <c:cat>
            <c:strRef>
              <c:f>'[Greenwoods Focused opportunities Fund data pack 2024Q3.xlsx]Share Type'!$B$2:$F$2</c:f>
              <c:strCache>
                <c:ptCount val="5"/>
                <c:pt idx="0">
                  <c:v>2020 Dec</c:v>
                </c:pt>
                <c:pt idx="1">
                  <c:v>2021 Dec</c:v>
                </c:pt>
                <c:pt idx="2">
                  <c:v>2022 Dec</c:v>
                </c:pt>
                <c:pt idx="3">
                  <c:v>2023 Dec</c:v>
                </c:pt>
                <c:pt idx="4">
                  <c:v>2024 Sep</c:v>
                </c:pt>
              </c:strCache>
            </c:strRef>
          </c:cat>
          <c:val>
            <c:numRef>
              <c:f>'[Greenwoods Focused opportunities Fund data pack 2024Q3.xlsx]Share Type'!$B$6:$F$6</c:f>
              <c:numCache>
                <c:formatCode>0.00%</c:formatCode>
                <c:ptCount val="5"/>
                <c:pt idx="0">
                  <c:v>0.100239263383696</c:v>
                </c:pt>
                <c:pt idx="1">
                  <c:v>0.0519084550190855</c:v>
                </c:pt>
                <c:pt idx="2">
                  <c:v>-0.116918902999955</c:v>
                </c:pt>
                <c:pt idx="3">
                  <c:v>0.378870797269519</c:v>
                </c:pt>
                <c:pt idx="4">
                  <c:v>0.180781155712189</c:v>
                </c:pt>
              </c:numCache>
            </c:numRef>
          </c:val>
        </c:ser>
        <c:dLbls>
          <c:showLegendKey val="0"/>
          <c:showVal val="0"/>
          <c:showCatName val="0"/>
          <c:showSerName val="0"/>
          <c:showPercent val="0"/>
          <c:showBubbleSize val="0"/>
        </c:dLbls>
        <c:gapWidth val="150"/>
        <c:overlap val="100"/>
        <c:axId val="1306715039"/>
        <c:axId val="1306745407"/>
      </c:barChart>
      <c:catAx>
        <c:axId val="1306715039"/>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p>
        </c:txPr>
        <c:crossAx val="1306745407"/>
        <c:crosses val="autoZero"/>
        <c:auto val="1"/>
        <c:lblAlgn val="ctr"/>
        <c:lblOffset val="100"/>
        <c:noMultiLvlLbl val="0"/>
      </c:catAx>
      <c:valAx>
        <c:axId val="1306745407"/>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p>
        </c:txPr>
        <c:crossAx val="1306715039"/>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p>
        </c:txPr>
      </c:legendEntry>
      <c:legendEntry>
        <c:idx val="1"/>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p>
        </c:txPr>
      </c:legendEntry>
      <c:legendEntry>
        <c:idx val="2"/>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p>
        </c:txPr>
      </c:legendEntry>
      <c:legendEntry>
        <c:idx val="3"/>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p>
        </c:txPr>
      </c:legendEntry>
      <c:layout>
        <c:manualLayout>
          <c:xMode val="edge"/>
          <c:yMode val="edge"/>
          <c:x val="0.16875"/>
          <c:y val="0.890493114171479"/>
          <c:w val="0.704027777777778"/>
          <c:h val="0.0968458462905375"/>
        </c:manualLayout>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d741fc10-eab2-400a-8b1c-7b6545242a7b}"/>
      </c:ext>
    </c:extLst>
  </c:chart>
  <c:spPr>
    <a:noFill/>
    <a:ln>
      <a:noFill/>
    </a:ln>
    <a:effectLst/>
  </c:spPr>
  <c:txPr>
    <a:bodyPr/>
    <a:lstStyle/>
    <a:p>
      <a:pPr>
        <a:defRPr lang="zh-CN"/>
      </a:pPr>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320" b="0" i="0" u="none" strike="noStrike" kern="1200" spc="0" baseline="0">
                <a:solidFill>
                  <a:schemeClr val="tx1">
                    <a:lumMod val="65000"/>
                    <a:lumOff val="35000"/>
                  </a:schemeClr>
                </a:solidFill>
                <a:latin typeface="+mn-lt"/>
                <a:ea typeface="+mn-ea"/>
                <a:cs typeface="+mn-cs"/>
              </a:defRPr>
            </a:pPr>
            <a:r>
              <a:rPr lang="zh-CN" altLang="en-US" sz="1500" b="1"/>
              <a:t>景林环球</a:t>
            </a:r>
            <a:r>
              <a:rPr lang="en-US" altLang="zh-CN" sz="1500" b="1"/>
              <a:t>-</a:t>
            </a:r>
            <a:r>
              <a:rPr lang="zh-CN" altLang="en-US" sz="1500" b="1"/>
              <a:t>行业配置</a:t>
            </a:r>
            <a:endParaRPr lang="zh-CN" altLang="en-US" sz="1500" b="1"/>
          </a:p>
        </c:rich>
      </c:tx>
      <c:layout/>
      <c:overlay val="0"/>
      <c:spPr>
        <a:noFill/>
        <a:ln>
          <a:noFill/>
        </a:ln>
        <a:effectLst/>
      </c:spPr>
    </c:title>
    <c:autoTitleDeleted val="0"/>
    <c:plotArea>
      <c:layout>
        <c:manualLayout>
          <c:layoutTarget val="inner"/>
          <c:xMode val="edge"/>
          <c:yMode val="edge"/>
          <c:x val="0.0904081422843631"/>
          <c:y val="0.217006200177148"/>
          <c:w val="0.858805387066927"/>
          <c:h val="0.581860053144375"/>
        </c:manualLayout>
      </c:layout>
      <c:areaChart>
        <c:grouping val="stacked"/>
        <c:varyColors val="0"/>
        <c:ser>
          <c:idx val="0"/>
          <c:order val="0"/>
          <c:tx>
            <c:strRef>
              <c:f>'[Greenwoods Focused opportunities Fund data pack 2024Q3.xlsx]Sheet2'!$B$3</c:f>
              <c:strCache>
                <c:ptCount val="1"/>
                <c:pt idx="0">
                  <c:v>通讯服务</c:v>
                </c:pt>
              </c:strCache>
            </c:strRef>
          </c:tx>
          <c:spPr>
            <a:solidFill>
              <a:schemeClr val="accent1"/>
            </a:solidFill>
            <a:ln>
              <a:noFill/>
            </a:ln>
            <a:effectLst/>
          </c:spPr>
          <c:dLbls>
            <c:delete val="1"/>
          </c:dLbls>
          <c:cat>
            <c:strRef>
              <c:f>'[Greenwoods Focused opportunities Fund data pack 2024Q3.xlsx]Sheet2'!$C$1:$H$2</c:f>
              <c:strCache>
                <c:ptCount val="6"/>
                <c:pt idx="0">
                  <c:v>2020-12-31</c:v>
                </c:pt>
                <c:pt idx="1">
                  <c:v>2021-12-31</c:v>
                </c:pt>
                <c:pt idx="2">
                  <c:v>2022-12-31</c:v>
                </c:pt>
                <c:pt idx="3">
                  <c:v>2023-12-31</c:v>
                </c:pt>
                <c:pt idx="4">
                  <c:v>2024-06-30</c:v>
                </c:pt>
                <c:pt idx="5">
                  <c:v>2024-09-30</c:v>
                </c:pt>
              </c:strCache>
            </c:strRef>
          </c:cat>
          <c:val>
            <c:numRef>
              <c:f>'[Greenwoods Focused opportunities Fund data pack 2024Q3.xlsx]Sheet2'!$C$3:$H$3</c:f>
              <c:numCache>
                <c:formatCode>0.00%</c:formatCode>
                <c:ptCount val="6"/>
                <c:pt idx="0">
                  <c:v>0.197843254198342</c:v>
                </c:pt>
                <c:pt idx="1">
                  <c:v>0.429844346759777</c:v>
                </c:pt>
                <c:pt idx="2">
                  <c:v>0.266648043562136</c:v>
                </c:pt>
                <c:pt idx="3">
                  <c:v>0.451842717300344</c:v>
                </c:pt>
                <c:pt idx="4">
                  <c:v>0.314231281645171</c:v>
                </c:pt>
                <c:pt idx="5">
                  <c:v>0.234341805912137</c:v>
                </c:pt>
              </c:numCache>
            </c:numRef>
          </c:val>
        </c:ser>
        <c:ser>
          <c:idx val="1"/>
          <c:order val="1"/>
          <c:tx>
            <c:strRef>
              <c:f>'[Greenwoods Focused opportunities Fund data pack 2024Q3.xlsx]Sheet2'!$B$4</c:f>
              <c:strCache>
                <c:ptCount val="1"/>
                <c:pt idx="0">
                  <c:v>可选消费</c:v>
                </c:pt>
              </c:strCache>
            </c:strRef>
          </c:tx>
          <c:spPr>
            <a:solidFill>
              <a:schemeClr val="accent2"/>
            </a:solidFill>
            <a:ln>
              <a:noFill/>
            </a:ln>
            <a:effectLst/>
          </c:spPr>
          <c:dLbls>
            <c:delete val="1"/>
          </c:dLbls>
          <c:cat>
            <c:strRef>
              <c:f>'[Greenwoods Focused opportunities Fund data pack 2024Q3.xlsx]Sheet2'!$C$1:$H$2</c:f>
              <c:strCache>
                <c:ptCount val="6"/>
                <c:pt idx="0">
                  <c:v>2020-12-31</c:v>
                </c:pt>
                <c:pt idx="1">
                  <c:v>2021-12-31</c:v>
                </c:pt>
                <c:pt idx="2">
                  <c:v>2022-12-31</c:v>
                </c:pt>
                <c:pt idx="3">
                  <c:v>2023-12-31</c:v>
                </c:pt>
                <c:pt idx="4">
                  <c:v>2024-06-30</c:v>
                </c:pt>
                <c:pt idx="5">
                  <c:v>2024-09-30</c:v>
                </c:pt>
              </c:strCache>
            </c:strRef>
          </c:cat>
          <c:val>
            <c:numRef>
              <c:f>'[Greenwoods Focused opportunities Fund data pack 2024Q3.xlsx]Sheet2'!$C$4:$H$4</c:f>
              <c:numCache>
                <c:formatCode>0.00%</c:formatCode>
                <c:ptCount val="6"/>
                <c:pt idx="0">
                  <c:v>0.19659160401114</c:v>
                </c:pt>
                <c:pt idx="1">
                  <c:v>0.267276914508721</c:v>
                </c:pt>
                <c:pt idx="2">
                  <c:v>0.369837955095359</c:v>
                </c:pt>
                <c:pt idx="3">
                  <c:v>0.362471370244229</c:v>
                </c:pt>
                <c:pt idx="4">
                  <c:v>0.276824711187582</c:v>
                </c:pt>
                <c:pt idx="5">
                  <c:v>0.206347268219396</c:v>
                </c:pt>
              </c:numCache>
            </c:numRef>
          </c:val>
        </c:ser>
        <c:ser>
          <c:idx val="2"/>
          <c:order val="2"/>
          <c:tx>
            <c:strRef>
              <c:f>'[Greenwoods Focused opportunities Fund data pack 2024Q3.xlsx]Sheet2'!$B$5</c:f>
              <c:strCache>
                <c:ptCount val="1"/>
                <c:pt idx="0">
                  <c:v>信息技术</c:v>
                </c:pt>
              </c:strCache>
            </c:strRef>
          </c:tx>
          <c:spPr>
            <a:solidFill>
              <a:schemeClr val="accent3"/>
            </a:solidFill>
            <a:ln w="25400">
              <a:noFill/>
            </a:ln>
            <a:effectLst/>
          </c:spPr>
          <c:dLbls>
            <c:delete val="1"/>
          </c:dLbls>
          <c:cat>
            <c:strRef>
              <c:f>'[Greenwoods Focused opportunities Fund data pack 2024Q3.xlsx]Sheet2'!$C$1:$H$2</c:f>
              <c:strCache>
                <c:ptCount val="6"/>
                <c:pt idx="0">
                  <c:v>2020-12-31</c:v>
                </c:pt>
                <c:pt idx="1">
                  <c:v>2021-12-31</c:v>
                </c:pt>
                <c:pt idx="2">
                  <c:v>2022-12-31</c:v>
                </c:pt>
                <c:pt idx="3">
                  <c:v>2023-12-31</c:v>
                </c:pt>
                <c:pt idx="4">
                  <c:v>2024-06-30</c:v>
                </c:pt>
                <c:pt idx="5">
                  <c:v>2024-09-30</c:v>
                </c:pt>
              </c:strCache>
            </c:strRef>
          </c:cat>
          <c:val>
            <c:numRef>
              <c:f>'[Greenwoods Focused opportunities Fund data pack 2024Q3.xlsx]Sheet2'!$C$5:$H$5</c:f>
              <c:numCache>
                <c:formatCode>0.00%</c:formatCode>
                <c:ptCount val="6"/>
                <c:pt idx="0">
                  <c:v>0.25699070642104</c:v>
                </c:pt>
                <c:pt idx="1">
                  <c:v>0.0844487272671631</c:v>
                </c:pt>
                <c:pt idx="2">
                  <c:v>0.0618813745004496</c:v>
                </c:pt>
                <c:pt idx="3">
                  <c:v>0.145112993848306</c:v>
                </c:pt>
                <c:pt idx="4">
                  <c:v>0.237798373470377</c:v>
                </c:pt>
                <c:pt idx="5">
                  <c:v>0.162766167502977</c:v>
                </c:pt>
              </c:numCache>
            </c:numRef>
          </c:val>
        </c:ser>
        <c:ser>
          <c:idx val="3"/>
          <c:order val="3"/>
          <c:tx>
            <c:strRef>
              <c:f>'[Greenwoods Focused opportunities Fund data pack 2024Q3.xlsx]Sheet2'!$B$6</c:f>
              <c:strCache>
                <c:ptCount val="1"/>
                <c:pt idx="0">
                  <c:v>工业</c:v>
                </c:pt>
              </c:strCache>
            </c:strRef>
          </c:tx>
          <c:spPr>
            <a:solidFill>
              <a:schemeClr val="accent4"/>
            </a:solidFill>
            <a:ln w="25400">
              <a:noFill/>
            </a:ln>
            <a:effectLst/>
          </c:spPr>
          <c:dLbls>
            <c:delete val="1"/>
          </c:dLbls>
          <c:cat>
            <c:strRef>
              <c:f>'[Greenwoods Focused opportunities Fund data pack 2024Q3.xlsx]Sheet2'!$C$1:$H$2</c:f>
              <c:strCache>
                <c:ptCount val="6"/>
                <c:pt idx="0">
                  <c:v>2020-12-31</c:v>
                </c:pt>
                <c:pt idx="1">
                  <c:v>2021-12-31</c:v>
                </c:pt>
                <c:pt idx="2">
                  <c:v>2022-12-31</c:v>
                </c:pt>
                <c:pt idx="3">
                  <c:v>2023-12-31</c:v>
                </c:pt>
                <c:pt idx="4">
                  <c:v>2024-06-30</c:v>
                </c:pt>
                <c:pt idx="5">
                  <c:v>2024-09-30</c:v>
                </c:pt>
              </c:strCache>
            </c:strRef>
          </c:cat>
          <c:val>
            <c:numRef>
              <c:f>'[Greenwoods Focused opportunities Fund data pack 2024Q3.xlsx]Sheet2'!$C$6:$H$6</c:f>
              <c:numCache>
                <c:formatCode>0.00%</c:formatCode>
                <c:ptCount val="6"/>
                <c:pt idx="0">
                  <c:v>0.106080546527474</c:v>
                </c:pt>
                <c:pt idx="1">
                  <c:v>0</c:v>
                </c:pt>
                <c:pt idx="2">
                  <c:v>0.118806932879092</c:v>
                </c:pt>
                <c:pt idx="3">
                  <c:v>0.0270084587863927</c:v>
                </c:pt>
                <c:pt idx="4">
                  <c:v>0.109812590426164</c:v>
                </c:pt>
                <c:pt idx="5">
                  <c:v>0.0900904266996634</c:v>
                </c:pt>
              </c:numCache>
            </c:numRef>
          </c:val>
        </c:ser>
        <c:ser>
          <c:idx val="4"/>
          <c:order val="4"/>
          <c:tx>
            <c:strRef>
              <c:f>'[Greenwoods Focused opportunities Fund data pack 2024Q3.xlsx]Sheet2'!$B$7</c:f>
              <c:strCache>
                <c:ptCount val="1"/>
                <c:pt idx="0">
                  <c:v>必需消费</c:v>
                </c:pt>
              </c:strCache>
            </c:strRef>
          </c:tx>
          <c:spPr>
            <a:solidFill>
              <a:schemeClr val="accent5"/>
            </a:solidFill>
            <a:ln>
              <a:noFill/>
            </a:ln>
            <a:effectLst/>
          </c:spPr>
          <c:dLbls>
            <c:delete val="1"/>
          </c:dLbls>
          <c:cat>
            <c:strRef>
              <c:f>'[Greenwoods Focused opportunities Fund data pack 2024Q3.xlsx]Sheet2'!$C$1:$H$2</c:f>
              <c:strCache>
                <c:ptCount val="6"/>
                <c:pt idx="0">
                  <c:v>2020-12-31</c:v>
                </c:pt>
                <c:pt idx="1">
                  <c:v>2021-12-31</c:v>
                </c:pt>
                <c:pt idx="2">
                  <c:v>2022-12-31</c:v>
                </c:pt>
                <c:pt idx="3">
                  <c:v>2023-12-31</c:v>
                </c:pt>
                <c:pt idx="4">
                  <c:v>2024-06-30</c:v>
                </c:pt>
                <c:pt idx="5">
                  <c:v>2024-09-30</c:v>
                </c:pt>
              </c:strCache>
            </c:strRef>
          </c:cat>
          <c:val>
            <c:numRef>
              <c:f>'[Greenwoods Focused opportunities Fund data pack 2024Q3.xlsx]Sheet2'!$C$7:$H$7</c:f>
              <c:numCache>
                <c:formatCode>0.00%</c:formatCode>
                <c:ptCount val="6"/>
                <c:pt idx="0">
                  <c:v>0.0441454436943597</c:v>
                </c:pt>
                <c:pt idx="1">
                  <c:v>0</c:v>
                </c:pt>
                <c:pt idx="2">
                  <c:v>0</c:v>
                </c:pt>
                <c:pt idx="3">
                  <c:v>0.0227566290476101</c:v>
                </c:pt>
                <c:pt idx="4">
                  <c:v>0.0128721277831231</c:v>
                </c:pt>
                <c:pt idx="5">
                  <c:v>0.0115828267562807</c:v>
                </c:pt>
              </c:numCache>
            </c:numRef>
          </c:val>
        </c:ser>
        <c:ser>
          <c:idx val="5"/>
          <c:order val="5"/>
          <c:tx>
            <c:strRef>
              <c:f>'[Greenwoods Focused opportunities Fund data pack 2024Q3.xlsx]Sheet2'!$B$8</c:f>
              <c:strCache>
                <c:ptCount val="1"/>
                <c:pt idx="0">
                  <c:v>能源</c:v>
                </c:pt>
              </c:strCache>
            </c:strRef>
          </c:tx>
          <c:spPr>
            <a:solidFill>
              <a:schemeClr val="accent6"/>
            </a:solidFill>
            <a:ln>
              <a:noFill/>
            </a:ln>
            <a:effectLst/>
          </c:spPr>
          <c:dLbls>
            <c:delete val="1"/>
          </c:dLbls>
          <c:cat>
            <c:strRef>
              <c:f>'[Greenwoods Focused opportunities Fund data pack 2024Q3.xlsx]Sheet2'!$C$1:$H$2</c:f>
              <c:strCache>
                <c:ptCount val="6"/>
                <c:pt idx="0">
                  <c:v>2020-12-31</c:v>
                </c:pt>
                <c:pt idx="1">
                  <c:v>2021-12-31</c:v>
                </c:pt>
                <c:pt idx="2">
                  <c:v>2022-12-31</c:v>
                </c:pt>
                <c:pt idx="3">
                  <c:v>2023-12-31</c:v>
                </c:pt>
                <c:pt idx="4">
                  <c:v>2024-06-30</c:v>
                </c:pt>
                <c:pt idx="5">
                  <c:v>2024-09-30</c:v>
                </c:pt>
              </c:strCache>
            </c:strRef>
          </c:cat>
          <c:val>
            <c:numRef>
              <c:f>'[Greenwoods Focused opportunities Fund data pack 2024Q3.xlsx]Sheet2'!$C$8:$H$8</c:f>
              <c:numCache>
                <c:formatCode>0.00%</c:formatCode>
                <c:ptCount val="6"/>
                <c:pt idx="0">
                  <c:v>0.0377864851761741</c:v>
                </c:pt>
                <c:pt idx="1">
                  <c:v>0</c:v>
                </c:pt>
                <c:pt idx="2">
                  <c:v>0.00893262590662225</c:v>
                </c:pt>
                <c:pt idx="3">
                  <c:v>0</c:v>
                </c:pt>
                <c:pt idx="4">
                  <c:v>0.0272823888276497</c:v>
                </c:pt>
                <c:pt idx="5">
                  <c:v>0.0225325507789491</c:v>
                </c:pt>
              </c:numCache>
            </c:numRef>
          </c:val>
        </c:ser>
        <c:ser>
          <c:idx val="6"/>
          <c:order val="6"/>
          <c:tx>
            <c:strRef>
              <c:f>'[Greenwoods Focused opportunities Fund data pack 2024Q3.xlsx]Sheet2'!$B$9</c:f>
              <c:strCache>
                <c:ptCount val="1"/>
                <c:pt idx="0">
                  <c:v>金融</c:v>
                </c:pt>
              </c:strCache>
            </c:strRef>
          </c:tx>
          <c:spPr>
            <a:solidFill>
              <a:schemeClr val="accent1">
                <a:lumMod val="60000"/>
              </a:schemeClr>
            </a:solidFill>
            <a:ln>
              <a:noFill/>
            </a:ln>
            <a:effectLst/>
          </c:spPr>
          <c:dLbls>
            <c:delete val="1"/>
          </c:dLbls>
          <c:cat>
            <c:strRef>
              <c:f>'[Greenwoods Focused opportunities Fund data pack 2024Q3.xlsx]Sheet2'!$C$1:$H$2</c:f>
              <c:strCache>
                <c:ptCount val="6"/>
                <c:pt idx="0">
                  <c:v>2020-12-31</c:v>
                </c:pt>
                <c:pt idx="1">
                  <c:v>2021-12-31</c:v>
                </c:pt>
                <c:pt idx="2">
                  <c:v>2022-12-31</c:v>
                </c:pt>
                <c:pt idx="3">
                  <c:v>2023-12-31</c:v>
                </c:pt>
                <c:pt idx="4">
                  <c:v>2024-06-30</c:v>
                </c:pt>
                <c:pt idx="5">
                  <c:v>2024-09-30</c:v>
                </c:pt>
              </c:strCache>
            </c:strRef>
          </c:cat>
          <c:val>
            <c:numRef>
              <c:f>'[Greenwoods Focused opportunities Fund data pack 2024Q3.xlsx]Sheet2'!$C$9:$H$9</c:f>
              <c:numCache>
                <c:formatCode>0.00%</c:formatCode>
                <c:ptCount val="6"/>
                <c:pt idx="0">
                  <c:v>0.0198056093242736</c:v>
                </c:pt>
                <c:pt idx="1">
                  <c:v>0</c:v>
                </c:pt>
                <c:pt idx="2">
                  <c:v>0.0650005376297531</c:v>
                </c:pt>
                <c:pt idx="3">
                  <c:v>0.0399568109952477</c:v>
                </c:pt>
                <c:pt idx="4">
                  <c:v>0.0302650420475174</c:v>
                </c:pt>
                <c:pt idx="5">
                  <c:v>0.0293166743620528</c:v>
                </c:pt>
              </c:numCache>
            </c:numRef>
          </c:val>
        </c:ser>
        <c:ser>
          <c:idx val="7"/>
          <c:order val="7"/>
          <c:tx>
            <c:strRef>
              <c:f>'[Greenwoods Focused opportunities Fund data pack 2024Q3.xlsx]Sheet2'!$B$10</c:f>
              <c:strCache>
                <c:ptCount val="1"/>
                <c:pt idx="0">
                  <c:v>医疗健康</c:v>
                </c:pt>
              </c:strCache>
            </c:strRef>
          </c:tx>
          <c:spPr>
            <a:solidFill>
              <a:schemeClr val="accent2">
                <a:lumMod val="60000"/>
              </a:schemeClr>
            </a:solidFill>
            <a:ln w="25400">
              <a:noFill/>
            </a:ln>
            <a:effectLst/>
          </c:spPr>
          <c:dLbls>
            <c:delete val="1"/>
          </c:dLbls>
          <c:cat>
            <c:strRef>
              <c:f>'[Greenwoods Focused opportunities Fund data pack 2024Q3.xlsx]Sheet2'!$C$1:$H$2</c:f>
              <c:strCache>
                <c:ptCount val="6"/>
                <c:pt idx="0">
                  <c:v>2020-12-31</c:v>
                </c:pt>
                <c:pt idx="1">
                  <c:v>2021-12-31</c:v>
                </c:pt>
                <c:pt idx="2">
                  <c:v>2022-12-31</c:v>
                </c:pt>
                <c:pt idx="3">
                  <c:v>2023-12-31</c:v>
                </c:pt>
                <c:pt idx="4">
                  <c:v>2024-06-30</c:v>
                </c:pt>
                <c:pt idx="5">
                  <c:v>2024-09-30</c:v>
                </c:pt>
              </c:strCache>
            </c:strRef>
          </c:cat>
          <c:val>
            <c:numRef>
              <c:f>'[Greenwoods Focused opportunities Fund data pack 2024Q3.xlsx]Sheet2'!$C$10:$H$10</c:f>
              <c:numCache>
                <c:formatCode>0.00%</c:formatCode>
                <c:ptCount val="6"/>
                <c:pt idx="0">
                  <c:v>0</c:v>
                </c:pt>
                <c:pt idx="1">
                  <c:v>0</c:v>
                </c:pt>
                <c:pt idx="2">
                  <c:v>0.0387761894388762</c:v>
                </c:pt>
                <c:pt idx="3">
                  <c:v>0</c:v>
                </c:pt>
                <c:pt idx="4">
                  <c:v>0</c:v>
                </c:pt>
                <c:pt idx="5">
                  <c:v>0.0273632724995476</c:v>
                </c:pt>
              </c:numCache>
            </c:numRef>
          </c:val>
        </c:ser>
        <c:ser>
          <c:idx val="8"/>
          <c:order val="8"/>
          <c:tx>
            <c:strRef>
              <c:f>'[Greenwoods Focused opportunities Fund data pack 2024Q3.xlsx]Sheet2'!$B$11</c:f>
              <c:strCache>
                <c:ptCount val="1"/>
                <c:pt idx="0">
                  <c:v>材料</c:v>
                </c:pt>
              </c:strCache>
            </c:strRef>
          </c:tx>
          <c:spPr>
            <a:solidFill>
              <a:schemeClr val="accent3">
                <a:lumMod val="60000"/>
              </a:schemeClr>
            </a:solidFill>
            <a:ln w="25400">
              <a:noFill/>
            </a:ln>
            <a:effectLst/>
          </c:spPr>
          <c:dLbls>
            <c:delete val="1"/>
          </c:dLbls>
          <c:cat>
            <c:strRef>
              <c:f>'[Greenwoods Focused opportunities Fund data pack 2024Q3.xlsx]Sheet2'!$C$1:$H$2</c:f>
              <c:strCache>
                <c:ptCount val="6"/>
                <c:pt idx="0">
                  <c:v>2020-12-31</c:v>
                </c:pt>
                <c:pt idx="1">
                  <c:v>2021-12-31</c:v>
                </c:pt>
                <c:pt idx="2">
                  <c:v>2022-12-31</c:v>
                </c:pt>
                <c:pt idx="3">
                  <c:v>2023-12-31</c:v>
                </c:pt>
                <c:pt idx="4">
                  <c:v>2024-06-30</c:v>
                </c:pt>
                <c:pt idx="5">
                  <c:v>2024-09-30</c:v>
                </c:pt>
              </c:strCache>
            </c:strRef>
          </c:cat>
          <c:val>
            <c:numRef>
              <c:f>'[Greenwoods Focused opportunities Fund data pack 2024Q3.xlsx]Sheet2'!$C$11:$H$11</c:f>
              <c:numCache>
                <c:formatCode>0.00%</c:formatCode>
                <c:ptCount val="6"/>
                <c:pt idx="0">
                  <c:v>0</c:v>
                </c:pt>
                <c:pt idx="1">
                  <c:v>0</c:v>
                </c:pt>
                <c:pt idx="2">
                  <c:v>0</c:v>
                </c:pt>
                <c:pt idx="3">
                  <c:v>0.0188306593794102</c:v>
                </c:pt>
                <c:pt idx="4">
                  <c:v>0.00616824186306132</c:v>
                </c:pt>
                <c:pt idx="5">
                  <c:v>0.00474815287859723</c:v>
                </c:pt>
              </c:numCache>
            </c:numRef>
          </c:val>
        </c:ser>
        <c:ser>
          <c:idx val="9"/>
          <c:order val="9"/>
          <c:tx>
            <c:strRef>
              <c:f>'[Greenwoods Focused opportunities Fund data pack 2024Q3.xlsx]Sheet2'!$B$12</c:f>
              <c:strCache>
                <c:ptCount val="1"/>
                <c:pt idx="0">
                  <c:v>房地产</c:v>
                </c:pt>
              </c:strCache>
            </c:strRef>
          </c:tx>
          <c:spPr>
            <a:solidFill>
              <a:schemeClr val="accent4">
                <a:lumMod val="60000"/>
              </a:schemeClr>
            </a:solidFill>
            <a:ln w="25400">
              <a:noFill/>
            </a:ln>
            <a:effectLst/>
          </c:spPr>
          <c:dLbls>
            <c:delete val="1"/>
          </c:dLbls>
          <c:cat>
            <c:strRef>
              <c:f>'[Greenwoods Focused opportunities Fund data pack 2024Q3.xlsx]Sheet2'!$C$1:$H$2</c:f>
              <c:strCache>
                <c:ptCount val="6"/>
                <c:pt idx="0">
                  <c:v>2020-12-31</c:v>
                </c:pt>
                <c:pt idx="1">
                  <c:v>2021-12-31</c:v>
                </c:pt>
                <c:pt idx="2">
                  <c:v>2022-12-31</c:v>
                </c:pt>
                <c:pt idx="3">
                  <c:v>2023-12-31</c:v>
                </c:pt>
                <c:pt idx="4">
                  <c:v>2024-06-30</c:v>
                </c:pt>
                <c:pt idx="5">
                  <c:v>2024-09-30</c:v>
                </c:pt>
              </c:strCache>
            </c:strRef>
          </c:cat>
          <c:val>
            <c:numRef>
              <c:f>'[Greenwoods Focused opportunities Fund data pack 2024Q3.xlsx]Sheet2'!$C$12:$H$12</c:f>
              <c:numCache>
                <c:formatCode>0.00%</c:formatCode>
                <c:ptCount val="6"/>
                <c:pt idx="0">
                  <c:v>0</c:v>
                </c:pt>
                <c:pt idx="1">
                  <c:v>0.0218787046072391</c:v>
                </c:pt>
                <c:pt idx="2">
                  <c:v>0.0200872499464124</c:v>
                </c:pt>
                <c:pt idx="3">
                  <c:v>0.0137971245460239</c:v>
                </c:pt>
                <c:pt idx="4">
                  <c:v>0.00887456589660096</c:v>
                </c:pt>
                <c:pt idx="5">
                  <c:v>0.00988346097369604</c:v>
                </c:pt>
              </c:numCache>
            </c:numRef>
          </c:val>
        </c:ser>
        <c:ser>
          <c:idx val="10"/>
          <c:order val="10"/>
          <c:tx>
            <c:strRef>
              <c:f>'[Greenwoods Focused opportunities Fund data pack 2024Q3.xlsx]Sheet2'!$B$13</c:f>
              <c:strCache>
                <c:ptCount val="1"/>
                <c:pt idx="0">
                  <c:v>公用事业</c:v>
                </c:pt>
              </c:strCache>
            </c:strRef>
          </c:tx>
          <c:spPr>
            <a:solidFill>
              <a:schemeClr val="accent5">
                <a:lumMod val="60000"/>
              </a:schemeClr>
            </a:solidFill>
            <a:ln w="25400">
              <a:noFill/>
            </a:ln>
            <a:effectLst/>
          </c:spPr>
          <c:dLbls>
            <c:delete val="1"/>
          </c:dLbls>
          <c:cat>
            <c:strRef>
              <c:f>'[Greenwoods Focused opportunities Fund data pack 2024Q3.xlsx]Sheet2'!$C$1:$H$2</c:f>
              <c:strCache>
                <c:ptCount val="6"/>
                <c:pt idx="0">
                  <c:v>2020-12-31</c:v>
                </c:pt>
                <c:pt idx="1">
                  <c:v>2021-12-31</c:v>
                </c:pt>
                <c:pt idx="2">
                  <c:v>2022-12-31</c:v>
                </c:pt>
                <c:pt idx="3">
                  <c:v>2023-12-31</c:v>
                </c:pt>
                <c:pt idx="4">
                  <c:v>2024-06-30</c:v>
                </c:pt>
                <c:pt idx="5">
                  <c:v>2024-09-30</c:v>
                </c:pt>
              </c:strCache>
            </c:strRef>
          </c:cat>
          <c:val>
            <c:numRef>
              <c:f>'[Greenwoods Focused opportunities Fund data pack 2024Q3.xlsx]Sheet2'!$C$13:$H$13</c:f>
              <c:numCache>
                <c:formatCode>0.00%</c:formatCode>
                <c:ptCount val="6"/>
                <c:pt idx="0">
                  <c:v>0</c:v>
                </c:pt>
                <c:pt idx="1">
                  <c:v>0</c:v>
                </c:pt>
                <c:pt idx="2">
                  <c:v>0.0993895971129235</c:v>
                </c:pt>
                <c:pt idx="3">
                  <c:v>0.0568635260388487</c:v>
                </c:pt>
                <c:pt idx="4">
                  <c:v>0</c:v>
                </c:pt>
                <c:pt idx="5">
                  <c:v>0</c:v>
                </c:pt>
              </c:numCache>
            </c:numRef>
          </c:val>
        </c:ser>
        <c:ser>
          <c:idx val="11"/>
          <c:order val="11"/>
          <c:tx>
            <c:strRef>
              <c:f>'[Greenwoods Focused opportunities Fund data pack 2024Q3.xlsx]Sheet2'!$B$14</c:f>
              <c:strCache>
                <c:ptCount val="1"/>
                <c:pt idx="0">
                  <c:v>指数对冲</c:v>
                </c:pt>
              </c:strCache>
            </c:strRef>
          </c:tx>
          <c:spPr>
            <a:solidFill>
              <a:schemeClr val="accent6">
                <a:lumMod val="60000"/>
              </a:schemeClr>
            </a:solidFill>
            <a:ln w="25400">
              <a:noFill/>
            </a:ln>
            <a:effectLst/>
          </c:spPr>
          <c:dLbls>
            <c:delete val="1"/>
          </c:dLbls>
          <c:cat>
            <c:strRef>
              <c:f>'[Greenwoods Focused opportunities Fund data pack 2024Q3.xlsx]Sheet2'!$C$1:$H$2</c:f>
              <c:strCache>
                <c:ptCount val="6"/>
                <c:pt idx="0">
                  <c:v>2020-12-31</c:v>
                </c:pt>
                <c:pt idx="1">
                  <c:v>2021-12-31</c:v>
                </c:pt>
                <c:pt idx="2">
                  <c:v>2022-12-31</c:v>
                </c:pt>
                <c:pt idx="3">
                  <c:v>2023-12-31</c:v>
                </c:pt>
                <c:pt idx="4">
                  <c:v>2024-06-30</c:v>
                </c:pt>
                <c:pt idx="5">
                  <c:v>2024-09-30</c:v>
                </c:pt>
              </c:strCache>
            </c:strRef>
          </c:cat>
          <c:val>
            <c:numRef>
              <c:f>'[Greenwoods Focused opportunities Fund data pack 2024Q3.xlsx]Sheet2'!$C$14:$H$14</c:f>
              <c:numCache>
                <c:formatCode>0.00%</c:formatCode>
                <c:ptCount val="6"/>
                <c:pt idx="0">
                  <c:v>0</c:v>
                </c:pt>
                <c:pt idx="1">
                  <c:v>0.0601837525370261</c:v>
                </c:pt>
                <c:pt idx="2">
                  <c:v>0.147398808496249</c:v>
                </c:pt>
                <c:pt idx="3">
                  <c:v>0.121307511364821</c:v>
                </c:pt>
                <c:pt idx="4">
                  <c:v>0.0137067693645351</c:v>
                </c:pt>
                <c:pt idx="5">
                  <c:v>0</c:v>
                </c:pt>
              </c:numCache>
            </c:numRef>
          </c:val>
        </c:ser>
        <c:dLbls>
          <c:showLegendKey val="0"/>
          <c:showVal val="0"/>
          <c:showCatName val="0"/>
          <c:showSerName val="0"/>
          <c:showPercent val="0"/>
          <c:showBubbleSize val="0"/>
        </c:dLbls>
        <c:axId val="1520731535"/>
        <c:axId val="1520749839"/>
      </c:areaChart>
      <c:catAx>
        <c:axId val="1520731535"/>
        <c:scaling>
          <c:orientation val="minMax"/>
        </c:scaling>
        <c:delete val="0"/>
        <c:axPos val="b"/>
        <c:numFmt formatCode="m/d/yy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00" b="0" i="0" u="none" strike="noStrike" kern="1200" baseline="0">
                <a:solidFill>
                  <a:schemeClr val="tx1">
                    <a:lumMod val="65000"/>
                    <a:lumOff val="35000"/>
                  </a:schemeClr>
                </a:solidFill>
                <a:latin typeface="+mn-lt"/>
                <a:ea typeface="+mn-ea"/>
                <a:cs typeface="+mn-cs"/>
              </a:defRPr>
            </a:pPr>
          </a:p>
        </c:txPr>
        <c:crossAx val="1520749839"/>
        <c:crosses val="autoZero"/>
        <c:auto val="0"/>
        <c:lblAlgn val="ctr"/>
        <c:lblOffset val="100"/>
        <c:tickLblSkip val="1"/>
        <c:noMultiLvlLbl val="0"/>
      </c:catAx>
      <c:valAx>
        <c:axId val="1520749839"/>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lang="zh-CN" sz="1100" b="0" i="0" u="none" strike="noStrike" kern="1200" baseline="0">
                <a:solidFill>
                  <a:schemeClr val="tx1">
                    <a:lumMod val="65000"/>
                    <a:lumOff val="35000"/>
                  </a:schemeClr>
                </a:solidFill>
                <a:latin typeface="+mn-lt"/>
                <a:ea typeface="+mn-ea"/>
                <a:cs typeface="+mn-cs"/>
              </a:defRPr>
            </a:pPr>
          </a:p>
        </c:txPr>
        <c:crossAx val="1520731535"/>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1"/>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2"/>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3"/>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4"/>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5"/>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6"/>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7"/>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8"/>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9"/>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10"/>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11"/>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ayout>
        <c:manualLayout>
          <c:xMode val="edge"/>
          <c:yMode val="edge"/>
          <c:x val="0.288475377814331"/>
          <c:y val="0.105580159433127"/>
          <c:w val="0.532127068983242"/>
          <c:h val="0.155181576616475"/>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zero"/>
    <c:showDLblsOverMax val="0"/>
    <c:extLst>
      <c:ext uri="{0b15fc19-7d7d-44ad-8c2d-2c3a37ce22c3}">
        <chartProps xmlns="https://web.wps.cn/et/2018/main" chartId="{6c4e6945-7386-43b8-9e53-dc7fc2d66b79}"/>
      </c:ext>
    </c:extLst>
  </c:chart>
  <c:spPr>
    <a:noFill/>
    <a:ln w="9525" cap="flat" cmpd="sng" algn="ctr">
      <a:noFill/>
      <a:round/>
    </a:ln>
    <a:effectLst/>
  </c:spPr>
  <c:txPr>
    <a:bodyPr/>
    <a:lstStyle/>
    <a:p>
      <a:pPr>
        <a:defRPr lang="zh-CN" sz="1100"/>
      </a:pPr>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1"/>
          <c:order val="1"/>
          <c:tx>
            <c:strRef>
              <c:f>'[Greenwoods Focused opportunities Fund data pack 2024Q3.xlsx]Sheet2'!$B$17</c:f>
              <c:strCache>
                <c:ptCount val="1"/>
                <c:pt idx="0">
                  <c:v>通讯服务</c:v>
                </c:pt>
              </c:strCache>
            </c:strRef>
          </c:tx>
          <c:spPr>
            <a:solidFill>
              <a:srgbClr val="5B9BD5"/>
            </a:solidFill>
            <a:ln>
              <a:noFill/>
            </a:ln>
            <a:effectLst/>
          </c:spPr>
          <c:dLbls>
            <c:delete val="1"/>
          </c:dLbls>
          <c:cat>
            <c:numRef>
              <c:f>'[Greenwoods Focused opportunities Fund data pack 2024Q3.xlsx]Sheet2'!$C$1:$H$1</c:f>
              <c:numCache>
                <c:formatCode>yyyy\-mm\-dd</c:formatCode>
                <c:ptCount val="6"/>
                <c:pt idx="0" c:formatCode="yyyy\-mm\-dd">
                  <c:v>44196</c:v>
                </c:pt>
                <c:pt idx="1" c:formatCode="yyyy\-mm\-dd">
                  <c:v>44561</c:v>
                </c:pt>
                <c:pt idx="2" c:formatCode="yyyy\-mm\-dd">
                  <c:v>44926</c:v>
                </c:pt>
                <c:pt idx="3" c:formatCode="yyyy\-mm\-dd">
                  <c:v>45291</c:v>
                </c:pt>
                <c:pt idx="4" c:formatCode="yyyy\-mm\-dd">
                  <c:v>45473</c:v>
                </c:pt>
                <c:pt idx="5" c:formatCode="yyyy\-mm\-dd">
                  <c:v>45565</c:v>
                </c:pt>
              </c:numCache>
            </c:numRef>
          </c:cat>
          <c:val>
            <c:numRef>
              <c:f>'[Greenwoods Focused opportunities Fund data pack 2024Q3.xlsx]Sheet2'!$C$17:$H$17</c:f>
              <c:numCache>
                <c:formatCode>0.00%</c:formatCode>
                <c:ptCount val="6"/>
                <c:pt idx="0">
                  <c:v>0</c:v>
                </c:pt>
                <c:pt idx="1">
                  <c:v>-0.00566745136685251</c:v>
                </c:pt>
                <c:pt idx="2">
                  <c:v>-0.0162380753681675</c:v>
                </c:pt>
                <c:pt idx="3">
                  <c:v>0</c:v>
                </c:pt>
                <c:pt idx="4">
                  <c:v>0</c:v>
                </c:pt>
                <c:pt idx="5">
                  <c:v>0</c:v>
                </c:pt>
              </c:numCache>
            </c:numRef>
          </c:val>
        </c:ser>
        <c:ser>
          <c:idx val="2"/>
          <c:order val="2"/>
          <c:tx>
            <c:strRef>
              <c:f>'[Greenwoods Focused opportunities Fund data pack 2024Q3.xlsx]Sheet2'!$B$18</c:f>
              <c:strCache>
                <c:ptCount val="1"/>
                <c:pt idx="0">
                  <c:v>可选消费</c:v>
                </c:pt>
              </c:strCache>
            </c:strRef>
          </c:tx>
          <c:spPr>
            <a:solidFill>
              <a:srgbClr val="ED7D31"/>
            </a:solidFill>
            <a:ln>
              <a:noFill/>
            </a:ln>
            <a:effectLst/>
          </c:spPr>
          <c:dLbls>
            <c:delete val="1"/>
          </c:dLbls>
          <c:cat>
            <c:numRef>
              <c:f>'[Greenwoods Focused opportunities Fund data pack 2024Q3.xlsx]Sheet2'!$C$1:$H$1</c:f>
              <c:numCache>
                <c:formatCode>yyyy\-mm\-dd</c:formatCode>
                <c:ptCount val="6"/>
                <c:pt idx="0" c:formatCode="yyyy\-mm\-dd">
                  <c:v>44196</c:v>
                </c:pt>
                <c:pt idx="1" c:formatCode="yyyy\-mm\-dd">
                  <c:v>44561</c:v>
                </c:pt>
                <c:pt idx="2" c:formatCode="yyyy\-mm\-dd">
                  <c:v>44926</c:v>
                </c:pt>
                <c:pt idx="3" c:formatCode="yyyy\-mm\-dd">
                  <c:v>45291</c:v>
                </c:pt>
                <c:pt idx="4" c:formatCode="yyyy\-mm\-dd">
                  <c:v>45473</c:v>
                </c:pt>
                <c:pt idx="5" c:formatCode="yyyy\-mm\-dd">
                  <c:v>45565</c:v>
                </c:pt>
              </c:numCache>
            </c:numRef>
          </c:cat>
          <c:val>
            <c:numRef>
              <c:f>'[Greenwoods Focused opportunities Fund data pack 2024Q3.xlsx]Sheet2'!$C$18:$H$18</c:f>
              <c:numCache>
                <c:formatCode>0.00%</c:formatCode>
                <c:ptCount val="6"/>
                <c:pt idx="0">
                  <c:v>0</c:v>
                </c:pt>
                <c:pt idx="1">
                  <c:v>-0.0313820397298185</c:v>
                </c:pt>
                <c:pt idx="2">
                  <c:v>-0.211507996805837</c:v>
                </c:pt>
                <c:pt idx="3">
                  <c:v>-0.0568032407255814</c:v>
                </c:pt>
                <c:pt idx="4">
                  <c:v>-0.0272316115057949</c:v>
                </c:pt>
                <c:pt idx="5">
                  <c:v>-0.111535721436366</c:v>
                </c:pt>
              </c:numCache>
            </c:numRef>
          </c:val>
        </c:ser>
        <c:ser>
          <c:idx val="3"/>
          <c:order val="3"/>
          <c:tx>
            <c:strRef>
              <c:f>'[Greenwoods Focused opportunities Fund data pack 2024Q3.xlsx]Sheet2'!$B$19</c:f>
              <c:strCache>
                <c:ptCount val="1"/>
                <c:pt idx="0">
                  <c:v>必需消费</c:v>
                </c:pt>
              </c:strCache>
            </c:strRef>
          </c:tx>
          <c:spPr>
            <a:solidFill>
              <a:srgbClr val="4472C4"/>
            </a:solidFill>
            <a:ln>
              <a:noFill/>
            </a:ln>
            <a:effectLst/>
          </c:spPr>
          <c:dLbls>
            <c:delete val="1"/>
          </c:dLbls>
          <c:cat>
            <c:numRef>
              <c:f>'[Greenwoods Focused opportunities Fund data pack 2024Q3.xlsx]Sheet2'!$C$1:$H$1</c:f>
              <c:numCache>
                <c:formatCode>yyyy\-mm\-dd</c:formatCode>
                <c:ptCount val="6"/>
                <c:pt idx="0" c:formatCode="yyyy\-mm\-dd">
                  <c:v>44196</c:v>
                </c:pt>
                <c:pt idx="1" c:formatCode="yyyy\-mm\-dd">
                  <c:v>44561</c:v>
                </c:pt>
                <c:pt idx="2" c:formatCode="yyyy\-mm\-dd">
                  <c:v>44926</c:v>
                </c:pt>
                <c:pt idx="3" c:formatCode="yyyy\-mm\-dd">
                  <c:v>45291</c:v>
                </c:pt>
                <c:pt idx="4" c:formatCode="yyyy\-mm\-dd">
                  <c:v>45473</c:v>
                </c:pt>
                <c:pt idx="5" c:formatCode="yyyy\-mm\-dd">
                  <c:v>45565</c:v>
                </c:pt>
              </c:numCache>
            </c:numRef>
          </c:cat>
          <c:val>
            <c:numRef>
              <c:f>'[Greenwoods Focused opportunities Fund data pack 2024Q3.xlsx]Sheet2'!$C$19:$H$19</c:f>
              <c:numCache>
                <c:formatCode>0.00%</c:formatCode>
                <c:ptCount val="6"/>
                <c:pt idx="0">
                  <c:v>0</c:v>
                </c:pt>
                <c:pt idx="1">
                  <c:v>-0.0224961809065446</c:v>
                </c:pt>
                <c:pt idx="2">
                  <c:v>-0.0653223710444904</c:v>
                </c:pt>
                <c:pt idx="3">
                  <c:v>-0.0384509991872499</c:v>
                </c:pt>
                <c:pt idx="4">
                  <c:v>0</c:v>
                </c:pt>
                <c:pt idx="5">
                  <c:v>0</c:v>
                </c:pt>
              </c:numCache>
            </c:numRef>
          </c:val>
        </c:ser>
        <c:ser>
          <c:idx val="4"/>
          <c:order val="4"/>
          <c:tx>
            <c:strRef>
              <c:f>'[Greenwoods Focused opportunities Fund data pack 2024Q3.xlsx]Sheet2'!$B$20</c:f>
              <c:strCache>
                <c:ptCount val="1"/>
                <c:pt idx="0">
                  <c:v>能源</c:v>
                </c:pt>
              </c:strCache>
            </c:strRef>
          </c:tx>
          <c:spPr>
            <a:solidFill>
              <a:srgbClr val="70AD47"/>
            </a:solidFill>
            <a:ln>
              <a:noFill/>
            </a:ln>
            <a:effectLst/>
          </c:spPr>
          <c:dLbls>
            <c:delete val="1"/>
          </c:dLbls>
          <c:cat>
            <c:numRef>
              <c:f>'[Greenwoods Focused opportunities Fund data pack 2024Q3.xlsx]Sheet2'!$C$1:$H$1</c:f>
              <c:numCache>
                <c:formatCode>yyyy\-mm\-dd</c:formatCode>
                <c:ptCount val="6"/>
                <c:pt idx="0" c:formatCode="yyyy\-mm\-dd">
                  <c:v>44196</c:v>
                </c:pt>
                <c:pt idx="1" c:formatCode="yyyy\-mm\-dd">
                  <c:v>44561</c:v>
                </c:pt>
                <c:pt idx="2" c:formatCode="yyyy\-mm\-dd">
                  <c:v>44926</c:v>
                </c:pt>
                <c:pt idx="3" c:formatCode="yyyy\-mm\-dd">
                  <c:v>45291</c:v>
                </c:pt>
                <c:pt idx="4" c:formatCode="yyyy\-mm\-dd">
                  <c:v>45473</c:v>
                </c:pt>
                <c:pt idx="5" c:formatCode="yyyy\-mm\-dd">
                  <c:v>45565</c:v>
                </c:pt>
              </c:numCache>
            </c:numRef>
          </c:cat>
          <c:val>
            <c:numRef>
              <c:f>'[Greenwoods Focused opportunities Fund data pack 2024Q3.xlsx]Sheet2'!$C$20:$H$20</c:f>
              <c:numCache>
                <c:formatCode>0.00%</c:formatCode>
                <c:ptCount val="6"/>
                <c:pt idx="0">
                  <c:v>0</c:v>
                </c:pt>
                <c:pt idx="1">
                  <c:v>-0.00449162956198423</c:v>
                </c:pt>
                <c:pt idx="2">
                  <c:v>-0.0143103220053078</c:v>
                </c:pt>
                <c:pt idx="3">
                  <c:v>0</c:v>
                </c:pt>
                <c:pt idx="4">
                  <c:v>0</c:v>
                </c:pt>
                <c:pt idx="5">
                  <c:v>0</c:v>
                </c:pt>
              </c:numCache>
            </c:numRef>
          </c:val>
        </c:ser>
        <c:ser>
          <c:idx val="5"/>
          <c:order val="5"/>
          <c:tx>
            <c:strRef>
              <c:f>'[Greenwoods Focused opportunities Fund data pack 2024Q3.xlsx]Sheet2'!$B$21</c:f>
              <c:strCache>
                <c:ptCount val="1"/>
                <c:pt idx="0">
                  <c:v>金融</c:v>
                </c:pt>
              </c:strCache>
            </c:strRef>
          </c:tx>
          <c:spPr>
            <a:solidFill>
              <a:schemeClr val="accent6"/>
            </a:solidFill>
            <a:ln>
              <a:noFill/>
            </a:ln>
            <a:effectLst/>
          </c:spPr>
          <c:dLbls>
            <c:delete val="1"/>
          </c:dLbls>
          <c:cat>
            <c:numRef>
              <c:f>'[Greenwoods Focused opportunities Fund data pack 2024Q3.xlsx]Sheet2'!$C$1:$H$1</c:f>
              <c:numCache>
                <c:formatCode>yyyy\-mm\-dd</c:formatCode>
                <c:ptCount val="6"/>
                <c:pt idx="0" c:formatCode="yyyy\-mm\-dd">
                  <c:v>44196</c:v>
                </c:pt>
                <c:pt idx="1" c:formatCode="yyyy\-mm\-dd">
                  <c:v>44561</c:v>
                </c:pt>
                <c:pt idx="2" c:formatCode="yyyy\-mm\-dd">
                  <c:v>44926</c:v>
                </c:pt>
                <c:pt idx="3" c:formatCode="yyyy\-mm\-dd">
                  <c:v>45291</c:v>
                </c:pt>
                <c:pt idx="4" c:formatCode="yyyy\-mm\-dd">
                  <c:v>45473</c:v>
                </c:pt>
                <c:pt idx="5" c:formatCode="yyyy\-mm\-dd">
                  <c:v>45565</c:v>
                </c:pt>
              </c:numCache>
            </c:numRef>
          </c:cat>
          <c:val>
            <c:numRef>
              <c:f>'[Greenwoods Focused opportunities Fund data pack 2024Q3.xlsx]Sheet2'!$C$21:$H$21</c:f>
              <c:numCache>
                <c:formatCode>0.00%</c:formatCode>
                <c:ptCount val="6"/>
                <c:pt idx="0">
                  <c:v>0</c:v>
                </c:pt>
                <c:pt idx="1">
                  <c:v>0</c:v>
                </c:pt>
                <c:pt idx="2">
                  <c:v>0</c:v>
                </c:pt>
                <c:pt idx="3">
                  <c:v>0</c:v>
                </c:pt>
                <c:pt idx="4">
                  <c:v>0</c:v>
                </c:pt>
                <c:pt idx="5">
                  <c:v>0</c:v>
                </c:pt>
              </c:numCache>
            </c:numRef>
          </c:val>
        </c:ser>
        <c:ser>
          <c:idx val="6"/>
          <c:order val="6"/>
          <c:tx>
            <c:strRef>
              <c:f>'[Greenwoods Focused opportunities Fund data pack 2024Q3.xlsx]Sheet2'!$B$22</c:f>
              <c:strCache>
                <c:ptCount val="1"/>
                <c:pt idx="0">
                  <c:v>医疗健康</c:v>
                </c:pt>
              </c:strCache>
            </c:strRef>
          </c:tx>
          <c:spPr>
            <a:solidFill>
              <a:schemeClr val="accent1">
                <a:lumMod val="60000"/>
              </a:schemeClr>
            </a:solidFill>
            <a:ln>
              <a:noFill/>
            </a:ln>
            <a:effectLst/>
          </c:spPr>
          <c:dLbls>
            <c:delete val="1"/>
          </c:dLbls>
          <c:cat>
            <c:numRef>
              <c:f>'[Greenwoods Focused opportunities Fund data pack 2024Q3.xlsx]Sheet2'!$C$1:$H$1</c:f>
              <c:numCache>
                <c:formatCode>yyyy\-mm\-dd</c:formatCode>
                <c:ptCount val="6"/>
                <c:pt idx="0" c:formatCode="yyyy\-mm\-dd">
                  <c:v>44196</c:v>
                </c:pt>
                <c:pt idx="1" c:formatCode="yyyy\-mm\-dd">
                  <c:v>44561</c:v>
                </c:pt>
                <c:pt idx="2" c:formatCode="yyyy\-mm\-dd">
                  <c:v>44926</c:v>
                </c:pt>
                <c:pt idx="3" c:formatCode="yyyy\-mm\-dd">
                  <c:v>45291</c:v>
                </c:pt>
                <c:pt idx="4" c:formatCode="yyyy\-mm\-dd">
                  <c:v>45473</c:v>
                </c:pt>
                <c:pt idx="5" c:formatCode="yyyy\-mm\-dd">
                  <c:v>45565</c:v>
                </c:pt>
              </c:numCache>
            </c:numRef>
          </c:cat>
          <c:val>
            <c:numRef>
              <c:f>'[Greenwoods Focused opportunities Fund data pack 2024Q3.xlsx]Sheet2'!$C$22:$H$22</c:f>
              <c:numCache>
                <c:formatCode>0.00%</c:formatCode>
                <c:ptCount val="6"/>
                <c:pt idx="0">
                  <c:v>0</c:v>
                </c:pt>
                <c:pt idx="1">
                  <c:v>0</c:v>
                </c:pt>
                <c:pt idx="2">
                  <c:v>-0.0233839205390324</c:v>
                </c:pt>
                <c:pt idx="3">
                  <c:v>0</c:v>
                </c:pt>
                <c:pt idx="4">
                  <c:v>0</c:v>
                </c:pt>
                <c:pt idx="5">
                  <c:v>0</c:v>
                </c:pt>
              </c:numCache>
            </c:numRef>
          </c:val>
        </c:ser>
        <c:ser>
          <c:idx val="7"/>
          <c:order val="7"/>
          <c:tx>
            <c:strRef>
              <c:f>'[Greenwoods Focused opportunities Fund data pack 2024Q3.xlsx]Sheet2'!$B$23</c:f>
              <c:strCache>
                <c:ptCount val="1"/>
                <c:pt idx="0">
                  <c:v>工业</c:v>
                </c:pt>
              </c:strCache>
            </c:strRef>
          </c:tx>
          <c:spPr>
            <a:solidFill>
              <a:srgbClr val="FFC000"/>
            </a:solidFill>
            <a:ln>
              <a:noFill/>
            </a:ln>
            <a:effectLst/>
          </c:spPr>
          <c:dLbls>
            <c:delete val="1"/>
          </c:dLbls>
          <c:cat>
            <c:numRef>
              <c:f>'[Greenwoods Focused opportunities Fund data pack 2024Q3.xlsx]Sheet2'!$C$1:$H$1</c:f>
              <c:numCache>
                <c:formatCode>yyyy\-mm\-dd</c:formatCode>
                <c:ptCount val="6"/>
                <c:pt idx="0" c:formatCode="yyyy\-mm\-dd">
                  <c:v>44196</c:v>
                </c:pt>
                <c:pt idx="1" c:formatCode="yyyy\-mm\-dd">
                  <c:v>44561</c:v>
                </c:pt>
                <c:pt idx="2" c:formatCode="yyyy\-mm\-dd">
                  <c:v>44926</c:v>
                </c:pt>
                <c:pt idx="3" c:formatCode="yyyy\-mm\-dd">
                  <c:v>45291</c:v>
                </c:pt>
                <c:pt idx="4" c:formatCode="yyyy\-mm\-dd">
                  <c:v>45473</c:v>
                </c:pt>
                <c:pt idx="5" c:formatCode="yyyy\-mm\-dd">
                  <c:v>45565</c:v>
                </c:pt>
              </c:numCache>
            </c:numRef>
          </c:cat>
          <c:val>
            <c:numRef>
              <c:f>'[Greenwoods Focused opportunities Fund data pack 2024Q3.xlsx]Sheet2'!$C$23:$H$23</c:f>
              <c:numCache>
                <c:formatCode>0.00%</c:formatCode>
                <c:ptCount val="6"/>
                <c:pt idx="0">
                  <c:v>0</c:v>
                </c:pt>
                <c:pt idx="1">
                  <c:v>-0.0156242114949905</c:v>
                </c:pt>
                <c:pt idx="2">
                  <c:v>-0.0270183302286544</c:v>
                </c:pt>
                <c:pt idx="3">
                  <c:v>-0.141223424424164</c:v>
                </c:pt>
                <c:pt idx="4">
                  <c:v>-0.0492515250982492</c:v>
                </c:pt>
                <c:pt idx="5">
                  <c:v>-0.042042640280177</c:v>
                </c:pt>
              </c:numCache>
            </c:numRef>
          </c:val>
        </c:ser>
        <c:ser>
          <c:idx val="8"/>
          <c:order val="8"/>
          <c:tx>
            <c:strRef>
              <c:f>'[Greenwoods Focused opportunities Fund data pack 2024Q3.xlsx]Sheet2'!$B$24</c:f>
              <c:strCache>
                <c:ptCount val="1"/>
                <c:pt idx="0">
                  <c:v>信息技术</c:v>
                </c:pt>
              </c:strCache>
            </c:strRef>
          </c:tx>
          <c:spPr>
            <a:solidFill>
              <a:srgbClr val="A5A5A5"/>
            </a:solidFill>
            <a:ln>
              <a:noFill/>
            </a:ln>
            <a:effectLst/>
          </c:spPr>
          <c:dLbls>
            <c:delete val="1"/>
          </c:dLbls>
          <c:cat>
            <c:numRef>
              <c:f>'[Greenwoods Focused opportunities Fund data pack 2024Q3.xlsx]Sheet2'!$C$1:$H$1</c:f>
              <c:numCache>
                <c:formatCode>yyyy\-mm\-dd</c:formatCode>
                <c:ptCount val="6"/>
                <c:pt idx="0" c:formatCode="yyyy\-mm\-dd">
                  <c:v>44196</c:v>
                </c:pt>
                <c:pt idx="1" c:formatCode="yyyy\-mm\-dd">
                  <c:v>44561</c:v>
                </c:pt>
                <c:pt idx="2" c:formatCode="yyyy\-mm\-dd">
                  <c:v>44926</c:v>
                </c:pt>
                <c:pt idx="3" c:formatCode="yyyy\-mm\-dd">
                  <c:v>45291</c:v>
                </c:pt>
                <c:pt idx="4" c:formatCode="yyyy\-mm\-dd">
                  <c:v>45473</c:v>
                </c:pt>
                <c:pt idx="5" c:formatCode="yyyy\-mm\-dd">
                  <c:v>45565</c:v>
                </c:pt>
              </c:numCache>
            </c:numRef>
          </c:cat>
          <c:val>
            <c:numRef>
              <c:f>'[Greenwoods Focused opportunities Fund data pack 2024Q3.xlsx]Sheet2'!$C$24:$H$24</c:f>
              <c:numCache>
                <c:formatCode>0.00%</c:formatCode>
                <c:ptCount val="6"/>
                <c:pt idx="0">
                  <c:v>-0.0197477617534685</c:v>
                </c:pt>
                <c:pt idx="1">
                  <c:v>0</c:v>
                </c:pt>
                <c:pt idx="2">
                  <c:v>0</c:v>
                </c:pt>
                <c:pt idx="3">
                  <c:v>-0.00806563572759017</c:v>
                </c:pt>
                <c:pt idx="4">
                  <c:v>-0.0280134461100984</c:v>
                </c:pt>
                <c:pt idx="5">
                  <c:v>-0.0127573407103821</c:v>
                </c:pt>
              </c:numCache>
            </c:numRef>
          </c:val>
        </c:ser>
        <c:ser>
          <c:idx val="9"/>
          <c:order val="9"/>
          <c:tx>
            <c:strRef>
              <c:f>'[Greenwoods Focused opportunities Fund data pack 2024Q3.xlsx]Sheet2'!$B$25</c:f>
              <c:strCache>
                <c:ptCount val="1"/>
                <c:pt idx="0">
                  <c:v>材料</c:v>
                </c:pt>
              </c:strCache>
            </c:strRef>
          </c:tx>
          <c:spPr>
            <a:solidFill>
              <a:schemeClr val="accent4">
                <a:lumMod val="60000"/>
              </a:schemeClr>
            </a:solidFill>
            <a:ln>
              <a:noFill/>
            </a:ln>
            <a:effectLst/>
          </c:spPr>
          <c:dLbls>
            <c:delete val="1"/>
          </c:dLbls>
          <c:cat>
            <c:numRef>
              <c:f>'[Greenwoods Focused opportunities Fund data pack 2024Q3.xlsx]Sheet2'!$C$1:$H$1</c:f>
              <c:numCache>
                <c:formatCode>yyyy\-mm\-dd</c:formatCode>
                <c:ptCount val="6"/>
                <c:pt idx="0" c:formatCode="yyyy\-mm\-dd">
                  <c:v>44196</c:v>
                </c:pt>
                <c:pt idx="1" c:formatCode="yyyy\-mm\-dd">
                  <c:v>44561</c:v>
                </c:pt>
                <c:pt idx="2" c:formatCode="yyyy\-mm\-dd">
                  <c:v>44926</c:v>
                </c:pt>
                <c:pt idx="3" c:formatCode="yyyy\-mm\-dd">
                  <c:v>45291</c:v>
                </c:pt>
                <c:pt idx="4" c:formatCode="yyyy\-mm\-dd">
                  <c:v>45473</c:v>
                </c:pt>
                <c:pt idx="5" c:formatCode="yyyy\-mm\-dd">
                  <c:v>45565</c:v>
                </c:pt>
              </c:numCache>
            </c:numRef>
          </c:cat>
          <c:val>
            <c:numRef>
              <c:f>'[Greenwoods Focused opportunities Fund data pack 2024Q3.xlsx]Sheet2'!$C$25:$H$25</c:f>
              <c:numCache>
                <c:formatCode>0.00%</c:formatCode>
                <c:ptCount val="6"/>
                <c:pt idx="0">
                  <c:v>0</c:v>
                </c:pt>
                <c:pt idx="1">
                  <c:v>-0.0377577129078669</c:v>
                </c:pt>
                <c:pt idx="2">
                  <c:v>-0.0363741857080188</c:v>
                </c:pt>
                <c:pt idx="3">
                  <c:v>-5.02278660957798e-5</c:v>
                </c:pt>
                <c:pt idx="4">
                  <c:v>0</c:v>
                </c:pt>
                <c:pt idx="5">
                  <c:v>0</c:v>
                </c:pt>
              </c:numCache>
            </c:numRef>
          </c:val>
        </c:ser>
        <c:ser>
          <c:idx val="10"/>
          <c:order val="10"/>
          <c:tx>
            <c:strRef>
              <c:f>'[Greenwoods Focused opportunities Fund data pack 2024Q3.xlsx]Sheet2'!$B$26</c:f>
              <c:strCache>
                <c:ptCount val="1"/>
                <c:pt idx="0">
                  <c:v>房地产</c:v>
                </c:pt>
              </c:strCache>
            </c:strRef>
          </c:tx>
          <c:spPr>
            <a:solidFill>
              <a:schemeClr val="accent5">
                <a:lumMod val="60000"/>
              </a:schemeClr>
            </a:solidFill>
            <a:ln>
              <a:noFill/>
            </a:ln>
            <a:effectLst/>
          </c:spPr>
          <c:dLbls>
            <c:delete val="1"/>
          </c:dLbls>
          <c:cat>
            <c:numRef>
              <c:f>'[Greenwoods Focused opportunities Fund data pack 2024Q3.xlsx]Sheet2'!$C$1:$H$1</c:f>
              <c:numCache>
                <c:formatCode>yyyy\-mm\-dd</c:formatCode>
                <c:ptCount val="6"/>
                <c:pt idx="0" c:formatCode="yyyy\-mm\-dd">
                  <c:v>44196</c:v>
                </c:pt>
                <c:pt idx="1" c:formatCode="yyyy\-mm\-dd">
                  <c:v>44561</c:v>
                </c:pt>
                <c:pt idx="2" c:formatCode="yyyy\-mm\-dd">
                  <c:v>44926</c:v>
                </c:pt>
                <c:pt idx="3" c:formatCode="yyyy\-mm\-dd">
                  <c:v>45291</c:v>
                </c:pt>
                <c:pt idx="4" c:formatCode="yyyy\-mm\-dd">
                  <c:v>45473</c:v>
                </c:pt>
                <c:pt idx="5" c:formatCode="yyyy\-mm\-dd">
                  <c:v>45565</c:v>
                </c:pt>
              </c:numCache>
            </c:numRef>
          </c:cat>
          <c:val>
            <c:numRef>
              <c:f>'[Greenwoods Focused opportunities Fund data pack 2024Q3.xlsx]Sheet2'!$C$26:$H$26</c:f>
              <c:numCache>
                <c:formatCode>0.00%</c:formatCode>
                <c:ptCount val="6"/>
                <c:pt idx="0">
                  <c:v>0</c:v>
                </c:pt>
                <c:pt idx="1">
                  <c:v>0</c:v>
                </c:pt>
                <c:pt idx="2">
                  <c:v>0</c:v>
                </c:pt>
                <c:pt idx="3">
                  <c:v>0</c:v>
                </c:pt>
                <c:pt idx="4">
                  <c:v>0</c:v>
                </c:pt>
                <c:pt idx="5">
                  <c:v>0</c:v>
                </c:pt>
              </c:numCache>
            </c:numRef>
          </c:val>
        </c:ser>
        <c:ser>
          <c:idx val="11"/>
          <c:order val="11"/>
          <c:tx>
            <c:strRef>
              <c:f>'[Greenwoods Focused opportunities Fund data pack 2024Q3.xlsx]Sheet2'!$B$27</c:f>
              <c:strCache>
                <c:ptCount val="1"/>
                <c:pt idx="0">
                  <c:v>公用事业</c:v>
                </c:pt>
              </c:strCache>
            </c:strRef>
          </c:tx>
          <c:spPr>
            <a:solidFill>
              <a:schemeClr val="accent6">
                <a:lumMod val="60000"/>
              </a:schemeClr>
            </a:solidFill>
            <a:ln>
              <a:noFill/>
            </a:ln>
            <a:effectLst/>
          </c:spPr>
          <c:dLbls>
            <c:delete val="1"/>
          </c:dLbls>
          <c:cat>
            <c:numRef>
              <c:f>'[Greenwoods Focused opportunities Fund data pack 2024Q3.xlsx]Sheet2'!$C$1:$H$1</c:f>
              <c:numCache>
                <c:formatCode>yyyy\-mm\-dd</c:formatCode>
                <c:ptCount val="6"/>
                <c:pt idx="0" c:formatCode="yyyy\-mm\-dd">
                  <c:v>44196</c:v>
                </c:pt>
                <c:pt idx="1" c:formatCode="yyyy\-mm\-dd">
                  <c:v>44561</c:v>
                </c:pt>
                <c:pt idx="2" c:formatCode="yyyy\-mm\-dd">
                  <c:v>44926</c:v>
                </c:pt>
                <c:pt idx="3" c:formatCode="yyyy\-mm\-dd">
                  <c:v>45291</c:v>
                </c:pt>
                <c:pt idx="4" c:formatCode="yyyy\-mm\-dd">
                  <c:v>45473</c:v>
                </c:pt>
                <c:pt idx="5" c:formatCode="yyyy\-mm\-dd">
                  <c:v>45565</c:v>
                </c:pt>
              </c:numCache>
            </c:numRef>
          </c:cat>
          <c:val>
            <c:numRef>
              <c:f>'[Greenwoods Focused opportunities Fund data pack 2024Q3.xlsx]Sheet2'!$C$27:$H$27</c:f>
              <c:numCache>
                <c:formatCode>0.00%</c:formatCode>
                <c:ptCount val="6"/>
                <c:pt idx="0">
                  <c:v>0</c:v>
                </c:pt>
                <c:pt idx="1">
                  <c:v>0</c:v>
                </c:pt>
                <c:pt idx="2">
                  <c:v>0</c:v>
                </c:pt>
                <c:pt idx="3">
                  <c:v>0</c:v>
                </c:pt>
                <c:pt idx="4">
                  <c:v>0</c:v>
                </c:pt>
                <c:pt idx="5">
                  <c:v>0</c:v>
                </c:pt>
              </c:numCache>
            </c:numRef>
          </c:val>
        </c:ser>
        <c:ser>
          <c:idx val="12"/>
          <c:order val="12"/>
          <c:tx>
            <c:strRef>
              <c:f>'[Greenwoods Focused opportunities Fund data pack 2024Q3.xlsx]Sheet2'!$B$28</c:f>
              <c:strCache>
                <c:ptCount val="1"/>
                <c:pt idx="0">
                  <c:v>指数对冲</c:v>
                </c:pt>
              </c:strCache>
            </c:strRef>
          </c:tx>
          <c:spPr>
            <a:solidFill>
              <a:srgbClr val="496B33"/>
            </a:solidFill>
            <a:ln w="25400">
              <a:noFill/>
            </a:ln>
            <a:effectLst/>
          </c:spPr>
          <c:dLbls>
            <c:delete val="1"/>
          </c:dLbls>
          <c:cat>
            <c:numRef>
              <c:f>'[Greenwoods Focused opportunities Fund data pack 2024Q3.xlsx]Sheet2'!$C$1:$H$1</c:f>
              <c:numCache>
                <c:formatCode>yyyy\-mm\-dd</c:formatCode>
                <c:ptCount val="6"/>
                <c:pt idx="0" c:formatCode="yyyy\-mm\-dd">
                  <c:v>44196</c:v>
                </c:pt>
                <c:pt idx="1" c:formatCode="yyyy\-mm\-dd">
                  <c:v>44561</c:v>
                </c:pt>
                <c:pt idx="2" c:formatCode="yyyy\-mm\-dd">
                  <c:v>44926</c:v>
                </c:pt>
                <c:pt idx="3" c:formatCode="yyyy\-mm\-dd">
                  <c:v>45291</c:v>
                </c:pt>
                <c:pt idx="4" c:formatCode="yyyy\-mm\-dd">
                  <c:v>45473</c:v>
                </c:pt>
                <c:pt idx="5" c:formatCode="yyyy\-mm\-dd">
                  <c:v>45565</c:v>
                </c:pt>
              </c:numCache>
            </c:numRef>
          </c:cat>
          <c:val>
            <c:numRef>
              <c:f>'[Greenwoods Focused opportunities Fund data pack 2024Q3.xlsx]Sheet2'!$C$28:$H$28</c:f>
              <c:numCache>
                <c:formatCode>0.00%</c:formatCode>
                <c:ptCount val="6"/>
                <c:pt idx="0">
                  <c:v>0</c:v>
                </c:pt>
                <c:pt idx="1">
                  <c:v>-0.0259829931482107</c:v>
                </c:pt>
                <c:pt idx="2">
                  <c:v>-0.022449279896258</c:v>
                </c:pt>
                <c:pt idx="3">
                  <c:v>0</c:v>
                </c:pt>
                <c:pt idx="4">
                  <c:v>0</c:v>
                </c:pt>
                <c:pt idx="5">
                  <c:v>-0.0520381597057861</c:v>
                </c:pt>
              </c:numCache>
            </c:numRef>
          </c:val>
        </c:ser>
        <c:dLbls>
          <c:showLegendKey val="0"/>
          <c:showVal val="0"/>
          <c:showCatName val="0"/>
          <c:showSerName val="0"/>
          <c:showPercent val="0"/>
          <c:showBubbleSize val="0"/>
        </c:dLbls>
        <c:axId val="1430513711"/>
        <c:axId val="1430503727"/>
        <c:extLst>
          <c:ext xmlns:c15="http://schemas.microsoft.com/office/drawing/2012/chart" uri="{02D57815-91ED-43cb-92C2-25804820EDAC}">
            <c15:filteredAreaSeries>
              <c15:ser>
                <c:idx val="0"/>
                <c:order val="0"/>
                <c:tx>
                  <c:strRef>
                    <c:extLst>
                      <c:ext uri="{02D57815-91ED-43cb-92C2-25804820EDAC}">
                        <c15:formulaRef>
                          <c15:sqref>'[Greenwoods Focused opportunities Fund data pack 2024Q3.xlsx]Sheet2'!$B$2</c15:sqref>
                        </c15:formulaRef>
                      </c:ext>
                    </c:extLst>
                    <c:strCache>
                      <c:ptCount val="1"/>
                      <c:pt idx="0">
                        <c:v/>
                      </c:pt>
                    </c:strCache>
                  </c:strRef>
                </c:tx>
                <c:spPr>
                  <a:solidFill>
                    <a:schemeClr val="accent1"/>
                  </a:solidFill>
                  <a:ln>
                    <a:noFill/>
                  </a:ln>
                  <a:effectLst/>
                </c:spPr>
                <c:dLbls>
                  <c:delete val="1"/>
                </c:dLbls>
                <c:cat>
                  <c:numRef>
                    <c:extLst>
                      <c:ext uri="{02D57815-91ED-43cb-92C2-25804820EDAC}">
                        <c15:fullRef>
                          <c15:sqref/>
                        </c15:fullRef>
                        <c15:formulaRef>
                          <c15:sqref>'[Greenwoods Focused opportunities Fund data pack 2024Q3.xlsx]Sheet2'!$C$1:$H$1</c15:sqref>
                        </c15:formulaRef>
                      </c:ext>
                    </c:extLst>
                    <c:numCache>
                      <c:formatCode>yyyy\-mm\-dd</c:formatCode>
                      <c:ptCount val="6"/>
                      <c:pt idx="0" c:formatCode="yyyy\-mm\-dd">
                        <c:v>44196</c:v>
                      </c:pt>
                      <c:pt idx="1" c:formatCode="yyyy\-mm\-dd">
                        <c:v>44561</c:v>
                      </c:pt>
                      <c:pt idx="2" c:formatCode="yyyy\-mm\-dd">
                        <c:v>44926</c:v>
                      </c:pt>
                      <c:pt idx="3" c:formatCode="yyyy\-mm\-dd">
                        <c:v>45291</c:v>
                      </c:pt>
                      <c:pt idx="4" c:formatCode="yyyy\-mm\-dd">
                        <c:v>45473</c:v>
                      </c:pt>
                      <c:pt idx="5" c:formatCode="yyyy\-mm\-dd">
                        <c:v>45565</c:v>
                      </c:pt>
                    </c:numCache>
                  </c:numRef>
                </c:cat>
                <c:val>
                  <c:numRef>
                    <c:extLst>
                      <c:ext uri="{02D57815-91ED-43cb-92C2-25804820EDAC}">
                        <c15:formulaRef>
                          <c15:sqref>'[Greenwoods Focused opportunities Fund data pack 2024Q3.xlsx]Sheet2'!$C$2:$H$2</c15:sqref>
                        </c15:formulaRef>
                      </c:ext>
                    </c:extLst>
                    <c:numCache>
                      <c:formatCode>General</c:formatCode>
                      <c:ptCount val="6"/>
                    </c:numCache>
                  </c:numRef>
                </c:val>
              </c15:ser>
            </c15:filteredAreaSeries>
          </c:ext>
        </c:extLst>
      </c:areaChart>
      <c:catAx>
        <c:axId val="1430513711"/>
        <c:scaling>
          <c:orientation val="minMax"/>
        </c:scaling>
        <c:delete val="1"/>
        <c:axPos val="b"/>
        <c:numFmt formatCode="yyyy\-mm\-dd" sourceLinked="1"/>
        <c:majorTickMark val="none"/>
        <c:minorTickMark val="none"/>
        <c:tickLblPos val="nextTo"/>
        <c:txPr>
          <a:bodyPr rot="-60000000" spcFirstLastPara="0"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crossAx val="1430503727"/>
        <c:crosses val="autoZero"/>
        <c:auto val="0"/>
        <c:lblAlgn val="ctr"/>
        <c:lblOffset val="100"/>
        <c:noMultiLvlLbl val="0"/>
      </c:catAx>
      <c:valAx>
        <c:axId val="1430503727"/>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lang="zh-CN" sz="1100" b="0" i="0" u="none" strike="noStrike" kern="1200" baseline="0">
                <a:solidFill>
                  <a:schemeClr val="tx1">
                    <a:lumMod val="65000"/>
                    <a:lumOff val="35000"/>
                  </a:schemeClr>
                </a:solidFill>
                <a:latin typeface="+mn-lt"/>
                <a:ea typeface="+mn-ea"/>
                <a:cs typeface="+mn-cs"/>
              </a:defRPr>
            </a:pPr>
          </a:p>
        </c:txPr>
        <c:crossAx val="1430513711"/>
        <c:crosses val="autoZero"/>
        <c:crossBetween val="midCat"/>
      </c:valAx>
      <c:spPr>
        <a:noFill/>
        <a:ln>
          <a:noFill/>
        </a:ln>
        <a:effectLst/>
      </c:spPr>
    </c:plotArea>
    <c:legend>
      <c:legendPos val="b"/>
      <c:legendEntry>
        <c:idx val="0"/>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1"/>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2"/>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3"/>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4"/>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5"/>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6"/>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7"/>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8"/>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9"/>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10"/>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11"/>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ayout>
        <c:manualLayout>
          <c:xMode val="edge"/>
          <c:yMode val="edge"/>
          <c:x val="0.264445881845623"/>
          <c:y val="0.710863377609108"/>
          <c:w val="0.579560155239327"/>
          <c:h val="0.177893738140417"/>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99557d4f-1579-49b4-a5a0-ba2a45ec7f4d}"/>
      </c:ext>
    </c:extLst>
  </c:chart>
  <c:spPr>
    <a:noFill/>
    <a:ln w="9525" cap="flat" cmpd="sng" algn="ctr">
      <a:noFill/>
      <a:round/>
    </a:ln>
    <a:effectLst/>
  </c:spPr>
  <c:txPr>
    <a:bodyPr/>
    <a:lstStyle/>
    <a:p>
      <a:pPr>
        <a:defRPr lang="zh-CN" sz="1200"/>
      </a:pPr>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defTabSz="914400">
              <a:defRPr lang="zh-CN" sz="1080" b="0" i="0" u="none" strike="noStrike" kern="1200" spc="0" baseline="0">
                <a:solidFill>
                  <a:schemeClr val="tx1">
                    <a:lumMod val="65000"/>
                    <a:lumOff val="35000"/>
                  </a:schemeClr>
                </a:solidFill>
                <a:latin typeface="+mn-lt"/>
                <a:ea typeface="+mn-ea"/>
                <a:cs typeface="+mn-cs"/>
              </a:defRPr>
            </a:pPr>
            <a:r>
              <a:rPr lang="zh-CN" altLang="en-US" sz="1400" b="1"/>
              <a:t>单年度行业贡献归因</a:t>
            </a:r>
            <a:endParaRPr lang="zh-CN" altLang="en-US" sz="1400" b="1"/>
          </a:p>
        </c:rich>
      </c:tx>
      <c:layout>
        <c:manualLayout>
          <c:xMode val="edge"/>
          <c:yMode val="edge"/>
          <c:x val="0.328234704112337"/>
          <c:y val="0.0403932464201752"/>
        </c:manualLayout>
      </c:layout>
      <c:overlay val="0"/>
      <c:spPr>
        <a:noFill/>
        <a:ln>
          <a:noFill/>
        </a:ln>
        <a:effectLst/>
      </c:spPr>
    </c:title>
    <c:autoTitleDeleted val="0"/>
    <c:plotArea>
      <c:layout/>
      <c:barChart>
        <c:barDir val="col"/>
        <c:grouping val="stacked"/>
        <c:varyColors val="0"/>
        <c:ser>
          <c:idx val="0"/>
          <c:order val="0"/>
          <c:tx>
            <c:strRef>
              <c:f>'[Greenwoods Focused opportunities Fund data pack 2024Q3.xlsx]Sector Contribution'!$A$6</c:f>
              <c:strCache>
                <c:ptCount val="1"/>
                <c:pt idx="0">
                  <c:v>通讯服务</c:v>
                </c:pt>
              </c:strCache>
            </c:strRef>
          </c:tx>
          <c:spPr>
            <a:solidFill>
              <a:schemeClr val="accent1"/>
            </a:solidFill>
            <a:ln>
              <a:noFill/>
            </a:ln>
            <a:effectLst/>
          </c:spPr>
          <c:invertIfNegative val="0"/>
          <c:dLbls>
            <c:delete val="1"/>
          </c:dLbls>
          <c:cat>
            <c:strRef>
              <c:f>'[Greenwoods Focused opportunities Fund data pack 2024Q3.xlsx]Sector Contribution'!$B$4:$F$4</c:f>
              <c:strCache>
                <c:ptCount val="5"/>
                <c:pt idx="0">
                  <c:v>2020 Dec</c:v>
                </c:pt>
                <c:pt idx="1">
                  <c:v>2021 Dec</c:v>
                </c:pt>
                <c:pt idx="2">
                  <c:v>2022 Dec</c:v>
                </c:pt>
                <c:pt idx="3">
                  <c:v>2023 Dec</c:v>
                </c:pt>
                <c:pt idx="4">
                  <c:v>2024Q3</c:v>
                </c:pt>
              </c:strCache>
            </c:strRef>
          </c:cat>
          <c:val>
            <c:numRef>
              <c:f>'[Greenwoods Focused opportunities Fund data pack 2024Q3.xlsx]Sector Contribution'!$B$6:$F$6</c:f>
              <c:numCache>
                <c:formatCode>0.00%</c:formatCode>
                <c:ptCount val="5"/>
                <c:pt idx="0">
                  <c:v>0.0654417996790498</c:v>
                </c:pt>
                <c:pt idx="1">
                  <c:v>0.03874509393161</c:v>
                </c:pt>
                <c:pt idx="2">
                  <c:v>-0.123282568496529</c:v>
                </c:pt>
                <c:pt idx="3">
                  <c:v>0.184151516466656</c:v>
                </c:pt>
                <c:pt idx="4">
                  <c:v>0.125298161415598</c:v>
                </c:pt>
              </c:numCache>
            </c:numRef>
          </c:val>
        </c:ser>
        <c:ser>
          <c:idx val="1"/>
          <c:order val="1"/>
          <c:tx>
            <c:strRef>
              <c:f>'[Greenwoods Focused opportunities Fund data pack 2024Q3.xlsx]Sector Contribution'!$A$7</c:f>
              <c:strCache>
                <c:ptCount val="1"/>
                <c:pt idx="0">
                  <c:v>可选消费</c:v>
                </c:pt>
              </c:strCache>
            </c:strRef>
          </c:tx>
          <c:spPr>
            <a:solidFill>
              <a:schemeClr val="accent2"/>
            </a:solidFill>
            <a:ln>
              <a:noFill/>
            </a:ln>
            <a:effectLst/>
          </c:spPr>
          <c:invertIfNegative val="0"/>
          <c:dLbls>
            <c:delete val="1"/>
          </c:dLbls>
          <c:cat>
            <c:strRef>
              <c:f>'[Greenwoods Focused opportunities Fund data pack 2024Q3.xlsx]Sector Contribution'!$B$4:$F$4</c:f>
              <c:strCache>
                <c:ptCount val="5"/>
                <c:pt idx="0">
                  <c:v>2020 Dec</c:v>
                </c:pt>
                <c:pt idx="1">
                  <c:v>2021 Dec</c:v>
                </c:pt>
                <c:pt idx="2">
                  <c:v>2022 Dec</c:v>
                </c:pt>
                <c:pt idx="3">
                  <c:v>2023 Dec</c:v>
                </c:pt>
                <c:pt idx="4">
                  <c:v>2024Q3</c:v>
                </c:pt>
              </c:strCache>
            </c:strRef>
          </c:cat>
          <c:val>
            <c:numRef>
              <c:f>'[Greenwoods Focused opportunities Fund data pack 2024Q3.xlsx]Sector Contribution'!$B$7:$F$7</c:f>
              <c:numCache>
                <c:formatCode>0.00%</c:formatCode>
                <c:ptCount val="5"/>
                <c:pt idx="0">
                  <c:v>0.0939593565295504</c:v>
                </c:pt>
                <c:pt idx="1">
                  <c:v>-0.0124143822646095</c:v>
                </c:pt>
                <c:pt idx="2">
                  <c:v>-0.0247406141151158</c:v>
                </c:pt>
                <c:pt idx="3">
                  <c:v>0.199110223633204</c:v>
                </c:pt>
                <c:pt idx="4">
                  <c:v>0.0588351562746946</c:v>
                </c:pt>
              </c:numCache>
            </c:numRef>
          </c:val>
        </c:ser>
        <c:ser>
          <c:idx val="2"/>
          <c:order val="2"/>
          <c:tx>
            <c:strRef>
              <c:f>'[Greenwoods Focused opportunities Fund data pack 2024Q3.xlsx]Sector Contribution'!$A$8</c:f>
              <c:strCache>
                <c:ptCount val="1"/>
                <c:pt idx="0">
                  <c:v>必需消费</c:v>
                </c:pt>
              </c:strCache>
            </c:strRef>
          </c:tx>
          <c:spPr>
            <a:solidFill>
              <a:schemeClr val="accent3"/>
            </a:solidFill>
            <a:ln>
              <a:noFill/>
            </a:ln>
            <a:effectLst/>
          </c:spPr>
          <c:invertIfNegative val="0"/>
          <c:dLbls>
            <c:delete val="1"/>
          </c:dLbls>
          <c:cat>
            <c:strRef>
              <c:f>'[Greenwoods Focused opportunities Fund data pack 2024Q3.xlsx]Sector Contribution'!$B$4:$F$4</c:f>
              <c:strCache>
                <c:ptCount val="5"/>
                <c:pt idx="0">
                  <c:v>2020 Dec</c:v>
                </c:pt>
                <c:pt idx="1">
                  <c:v>2021 Dec</c:v>
                </c:pt>
                <c:pt idx="2">
                  <c:v>2022 Dec</c:v>
                </c:pt>
                <c:pt idx="3">
                  <c:v>2023 Dec</c:v>
                </c:pt>
                <c:pt idx="4">
                  <c:v>2024Q3</c:v>
                </c:pt>
              </c:strCache>
            </c:strRef>
          </c:cat>
          <c:val>
            <c:numRef>
              <c:f>'[Greenwoods Focused opportunities Fund data pack 2024Q3.xlsx]Sector Contribution'!$B$8:$F$8</c:f>
              <c:numCache>
                <c:formatCode>0.00%</c:formatCode>
                <c:ptCount val="5"/>
                <c:pt idx="0">
                  <c:v>0.0122747546649379</c:v>
                </c:pt>
                <c:pt idx="1">
                  <c:v>-0.00674927172810061</c:v>
                </c:pt>
                <c:pt idx="2">
                  <c:v>0.000763586457683393</c:v>
                </c:pt>
                <c:pt idx="3">
                  <c:v>-0.00955696552311325</c:v>
                </c:pt>
                <c:pt idx="4">
                  <c:v>0.00495340378688894</c:v>
                </c:pt>
              </c:numCache>
            </c:numRef>
          </c:val>
        </c:ser>
        <c:ser>
          <c:idx val="3"/>
          <c:order val="3"/>
          <c:tx>
            <c:strRef>
              <c:f>'[Greenwoods Focused opportunities Fund data pack 2024Q3.xlsx]Sector Contribution'!$A$9</c:f>
              <c:strCache>
                <c:ptCount val="1"/>
                <c:pt idx="0">
                  <c:v>能源</c:v>
                </c:pt>
              </c:strCache>
            </c:strRef>
          </c:tx>
          <c:spPr>
            <a:solidFill>
              <a:schemeClr val="accent4"/>
            </a:solidFill>
            <a:ln>
              <a:noFill/>
            </a:ln>
            <a:effectLst/>
          </c:spPr>
          <c:invertIfNegative val="0"/>
          <c:dLbls>
            <c:delete val="1"/>
          </c:dLbls>
          <c:cat>
            <c:strRef>
              <c:f>'[Greenwoods Focused opportunities Fund data pack 2024Q3.xlsx]Sector Contribution'!$B$4:$F$4</c:f>
              <c:strCache>
                <c:ptCount val="5"/>
                <c:pt idx="0">
                  <c:v>2020 Dec</c:v>
                </c:pt>
                <c:pt idx="1">
                  <c:v>2021 Dec</c:v>
                </c:pt>
                <c:pt idx="2">
                  <c:v>2022 Dec</c:v>
                </c:pt>
                <c:pt idx="3">
                  <c:v>2023 Dec</c:v>
                </c:pt>
                <c:pt idx="4">
                  <c:v>2024Q3</c:v>
                </c:pt>
              </c:strCache>
            </c:strRef>
          </c:cat>
          <c:val>
            <c:numRef>
              <c:f>'[Greenwoods Focused opportunities Fund data pack 2024Q3.xlsx]Sector Contribution'!$B$9:$F$9</c:f>
              <c:numCache>
                <c:formatCode>0.00%</c:formatCode>
                <c:ptCount val="5"/>
                <c:pt idx="0">
                  <c:v>-0.00194731474060832</c:v>
                </c:pt>
                <c:pt idx="1">
                  <c:v>-0.00252275045043692</c:v>
                </c:pt>
                <c:pt idx="2">
                  <c:v>-0.00250862650634803</c:v>
                </c:pt>
                <c:pt idx="3">
                  <c:v>-0.000643402508593658</c:v>
                </c:pt>
                <c:pt idx="4">
                  <c:v>-0.00313010359933738</c:v>
                </c:pt>
              </c:numCache>
            </c:numRef>
          </c:val>
        </c:ser>
        <c:ser>
          <c:idx val="4"/>
          <c:order val="4"/>
          <c:tx>
            <c:strRef>
              <c:f>'[Greenwoods Focused opportunities Fund data pack 2024Q3.xlsx]Sector Contribution'!$A$10</c:f>
              <c:strCache>
                <c:ptCount val="1"/>
                <c:pt idx="0">
                  <c:v>金融</c:v>
                </c:pt>
              </c:strCache>
            </c:strRef>
          </c:tx>
          <c:spPr>
            <a:solidFill>
              <a:schemeClr val="accent5"/>
            </a:solidFill>
            <a:ln>
              <a:noFill/>
            </a:ln>
            <a:effectLst/>
          </c:spPr>
          <c:invertIfNegative val="0"/>
          <c:dLbls>
            <c:delete val="1"/>
          </c:dLbls>
          <c:cat>
            <c:strRef>
              <c:f>'[Greenwoods Focused opportunities Fund data pack 2024Q3.xlsx]Sector Contribution'!$B$4:$F$4</c:f>
              <c:strCache>
                <c:ptCount val="5"/>
                <c:pt idx="0">
                  <c:v>2020 Dec</c:v>
                </c:pt>
                <c:pt idx="1">
                  <c:v>2021 Dec</c:v>
                </c:pt>
                <c:pt idx="2">
                  <c:v>2022 Dec</c:v>
                </c:pt>
                <c:pt idx="3">
                  <c:v>2023 Dec</c:v>
                </c:pt>
                <c:pt idx="4">
                  <c:v>2024Q3</c:v>
                </c:pt>
              </c:strCache>
            </c:strRef>
          </c:cat>
          <c:val>
            <c:numRef>
              <c:f>'[Greenwoods Focused opportunities Fund data pack 2024Q3.xlsx]Sector Contribution'!$B$10:$F$10</c:f>
              <c:numCache>
                <c:formatCode>0.00%</c:formatCode>
                <c:ptCount val="5"/>
                <c:pt idx="0">
                  <c:v>0.0102060005659814</c:v>
                </c:pt>
                <c:pt idx="1">
                  <c:v>-0.00404232308668062</c:v>
                </c:pt>
                <c:pt idx="2">
                  <c:v>-0.00283564028145371</c:v>
                </c:pt>
                <c:pt idx="3">
                  <c:v>0.013439646297942</c:v>
                </c:pt>
                <c:pt idx="4">
                  <c:v>0.0205924374705107</c:v>
                </c:pt>
              </c:numCache>
            </c:numRef>
          </c:val>
        </c:ser>
        <c:ser>
          <c:idx val="5"/>
          <c:order val="5"/>
          <c:tx>
            <c:strRef>
              <c:f>'[Greenwoods Focused opportunities Fund data pack 2024Q3.xlsx]Sector Contribution'!$A$11</c:f>
              <c:strCache>
                <c:ptCount val="1"/>
                <c:pt idx="0">
                  <c:v>医疗健康</c:v>
                </c:pt>
              </c:strCache>
            </c:strRef>
          </c:tx>
          <c:spPr>
            <a:solidFill>
              <a:schemeClr val="accent6"/>
            </a:solidFill>
            <a:ln>
              <a:noFill/>
            </a:ln>
            <a:effectLst/>
          </c:spPr>
          <c:invertIfNegative val="0"/>
          <c:dLbls>
            <c:delete val="1"/>
          </c:dLbls>
          <c:cat>
            <c:strRef>
              <c:f>'[Greenwoods Focused opportunities Fund data pack 2024Q3.xlsx]Sector Contribution'!$B$4:$F$4</c:f>
              <c:strCache>
                <c:ptCount val="5"/>
                <c:pt idx="0">
                  <c:v>2020 Dec</c:v>
                </c:pt>
                <c:pt idx="1">
                  <c:v>2021 Dec</c:v>
                </c:pt>
                <c:pt idx="2">
                  <c:v>2022 Dec</c:v>
                </c:pt>
                <c:pt idx="3">
                  <c:v>2023 Dec</c:v>
                </c:pt>
                <c:pt idx="4">
                  <c:v>2024Q3</c:v>
                </c:pt>
              </c:strCache>
            </c:strRef>
          </c:cat>
          <c:val>
            <c:numRef>
              <c:f>'[Greenwoods Focused opportunities Fund data pack 2024Q3.xlsx]Sector Contribution'!$B$11:$F$11</c:f>
              <c:numCache>
                <c:formatCode>0.00%</c:formatCode>
                <c:ptCount val="5"/>
                <c:pt idx="0">
                  <c:v>0</c:v>
                </c:pt>
                <c:pt idx="1">
                  <c:v>0</c:v>
                </c:pt>
                <c:pt idx="2">
                  <c:v>0.00177510529013654</c:v>
                </c:pt>
                <c:pt idx="3">
                  <c:v>-0.00210777735268311</c:v>
                </c:pt>
                <c:pt idx="4">
                  <c:v>0.0120230337075545</c:v>
                </c:pt>
              </c:numCache>
            </c:numRef>
          </c:val>
        </c:ser>
        <c:ser>
          <c:idx val="6"/>
          <c:order val="6"/>
          <c:tx>
            <c:strRef>
              <c:f>'[Greenwoods Focused opportunities Fund data pack 2024Q3.xlsx]Sector Contribution'!$A$12</c:f>
              <c:strCache>
                <c:ptCount val="1"/>
                <c:pt idx="0">
                  <c:v>工业</c:v>
                </c:pt>
              </c:strCache>
            </c:strRef>
          </c:tx>
          <c:spPr>
            <a:solidFill>
              <a:schemeClr val="accent1">
                <a:lumMod val="60000"/>
              </a:schemeClr>
            </a:solidFill>
            <a:ln>
              <a:noFill/>
            </a:ln>
            <a:effectLst/>
          </c:spPr>
          <c:invertIfNegative val="0"/>
          <c:dLbls>
            <c:delete val="1"/>
          </c:dLbls>
          <c:cat>
            <c:strRef>
              <c:f>'[Greenwoods Focused opportunities Fund data pack 2024Q3.xlsx]Sector Contribution'!$B$4:$F$4</c:f>
              <c:strCache>
                <c:ptCount val="5"/>
                <c:pt idx="0">
                  <c:v>2020 Dec</c:v>
                </c:pt>
                <c:pt idx="1">
                  <c:v>2021 Dec</c:v>
                </c:pt>
                <c:pt idx="2">
                  <c:v>2022 Dec</c:v>
                </c:pt>
                <c:pt idx="3">
                  <c:v>2023 Dec</c:v>
                </c:pt>
                <c:pt idx="4">
                  <c:v>2024Q3</c:v>
                </c:pt>
              </c:strCache>
            </c:strRef>
          </c:cat>
          <c:val>
            <c:numRef>
              <c:f>'[Greenwoods Focused opportunities Fund data pack 2024Q3.xlsx]Sector Contribution'!$B$12:$F$12</c:f>
              <c:numCache>
                <c:formatCode>0.00%</c:formatCode>
                <c:ptCount val="5"/>
                <c:pt idx="0">
                  <c:v>0.043010885464894</c:v>
                </c:pt>
                <c:pt idx="1">
                  <c:v>0.0356310550822176</c:v>
                </c:pt>
                <c:pt idx="2">
                  <c:v>0.0271006746720553</c:v>
                </c:pt>
                <c:pt idx="3">
                  <c:v>0.00663373264858</c:v>
                </c:pt>
                <c:pt idx="4">
                  <c:v>0.0581083454611409</c:v>
                </c:pt>
              </c:numCache>
            </c:numRef>
          </c:val>
        </c:ser>
        <c:ser>
          <c:idx val="7"/>
          <c:order val="7"/>
          <c:tx>
            <c:strRef>
              <c:f>'[Greenwoods Focused opportunities Fund data pack 2024Q3.xlsx]Sector Contribution'!$A$13</c:f>
              <c:strCache>
                <c:ptCount val="1"/>
                <c:pt idx="0">
                  <c:v>信息技术</c:v>
                </c:pt>
              </c:strCache>
            </c:strRef>
          </c:tx>
          <c:spPr>
            <a:solidFill>
              <a:schemeClr val="accent4">
                <a:lumMod val="60000"/>
                <a:lumOff val="40000"/>
              </a:schemeClr>
            </a:solidFill>
            <a:ln>
              <a:noFill/>
            </a:ln>
            <a:effectLst/>
          </c:spPr>
          <c:invertIfNegative val="0"/>
          <c:dLbls>
            <c:delete val="1"/>
          </c:dLbls>
          <c:cat>
            <c:strRef>
              <c:f>'[Greenwoods Focused opportunities Fund data pack 2024Q3.xlsx]Sector Contribution'!$B$4:$F$4</c:f>
              <c:strCache>
                <c:ptCount val="5"/>
                <c:pt idx="0">
                  <c:v>2020 Dec</c:v>
                </c:pt>
                <c:pt idx="1">
                  <c:v>2021 Dec</c:v>
                </c:pt>
                <c:pt idx="2">
                  <c:v>2022 Dec</c:v>
                </c:pt>
                <c:pt idx="3">
                  <c:v>2023 Dec</c:v>
                </c:pt>
                <c:pt idx="4">
                  <c:v>2024Q3</c:v>
                </c:pt>
              </c:strCache>
            </c:strRef>
          </c:cat>
          <c:val>
            <c:numRef>
              <c:f>'[Greenwoods Focused opportunities Fund data pack 2024Q3.xlsx]Sector Contribution'!$B$13:$F$13</c:f>
              <c:numCache>
                <c:formatCode>0.00%</c:formatCode>
                <c:ptCount val="5"/>
                <c:pt idx="0">
                  <c:v>0.0444971697663896</c:v>
                </c:pt>
                <c:pt idx="1">
                  <c:v>0.046847699126312</c:v>
                </c:pt>
                <c:pt idx="2">
                  <c:v>-0.0483566127576799</c:v>
                </c:pt>
                <c:pt idx="3">
                  <c:v>0.0782104294511339</c:v>
                </c:pt>
                <c:pt idx="4">
                  <c:v>0.0517694164449692</c:v>
                </c:pt>
              </c:numCache>
            </c:numRef>
          </c:val>
        </c:ser>
        <c:ser>
          <c:idx val="8"/>
          <c:order val="8"/>
          <c:tx>
            <c:strRef>
              <c:f>'[Greenwoods Focused opportunities Fund data pack 2024Q3.xlsx]Sector Contribution'!$A$14</c:f>
              <c:strCache>
                <c:ptCount val="1"/>
                <c:pt idx="0">
                  <c:v>材料</c:v>
                </c:pt>
              </c:strCache>
            </c:strRef>
          </c:tx>
          <c:spPr>
            <a:solidFill>
              <a:schemeClr val="accent3">
                <a:lumMod val="60000"/>
              </a:schemeClr>
            </a:solidFill>
            <a:ln>
              <a:noFill/>
            </a:ln>
            <a:effectLst/>
          </c:spPr>
          <c:invertIfNegative val="0"/>
          <c:dLbls>
            <c:delete val="1"/>
          </c:dLbls>
          <c:cat>
            <c:strRef>
              <c:f>'[Greenwoods Focused opportunities Fund data pack 2024Q3.xlsx]Sector Contribution'!$B$4:$F$4</c:f>
              <c:strCache>
                <c:ptCount val="5"/>
                <c:pt idx="0">
                  <c:v>2020 Dec</c:v>
                </c:pt>
                <c:pt idx="1">
                  <c:v>2021 Dec</c:v>
                </c:pt>
                <c:pt idx="2">
                  <c:v>2022 Dec</c:v>
                </c:pt>
                <c:pt idx="3">
                  <c:v>2023 Dec</c:v>
                </c:pt>
                <c:pt idx="4">
                  <c:v>2024Q3</c:v>
                </c:pt>
              </c:strCache>
            </c:strRef>
          </c:cat>
          <c:val>
            <c:numRef>
              <c:f>'[Greenwoods Focused opportunities Fund data pack 2024Q3.xlsx]Sector Contribution'!$B$14:$F$14</c:f>
              <c:numCache>
                <c:formatCode>0.00%</c:formatCode>
                <c:ptCount val="5"/>
                <c:pt idx="0">
                  <c:v>0</c:v>
                </c:pt>
                <c:pt idx="1">
                  <c:v>-0.00149374663031118</c:v>
                </c:pt>
                <c:pt idx="2">
                  <c:v>0.0101759631810663</c:v>
                </c:pt>
                <c:pt idx="3">
                  <c:v>0.0111389246952355</c:v>
                </c:pt>
                <c:pt idx="4">
                  <c:v>0.00624894090910697</c:v>
                </c:pt>
              </c:numCache>
            </c:numRef>
          </c:val>
        </c:ser>
        <c:ser>
          <c:idx val="9"/>
          <c:order val="9"/>
          <c:tx>
            <c:strRef>
              <c:f>'[Greenwoods Focused opportunities Fund data pack 2024Q3.xlsx]Sector Contribution'!$A$15</c:f>
              <c:strCache>
                <c:ptCount val="1"/>
                <c:pt idx="0">
                  <c:v>房地产</c:v>
                </c:pt>
              </c:strCache>
            </c:strRef>
          </c:tx>
          <c:spPr>
            <a:solidFill>
              <a:schemeClr val="accent4">
                <a:lumMod val="60000"/>
              </a:schemeClr>
            </a:solidFill>
            <a:ln>
              <a:noFill/>
            </a:ln>
            <a:effectLst/>
          </c:spPr>
          <c:invertIfNegative val="0"/>
          <c:dLbls>
            <c:delete val="1"/>
          </c:dLbls>
          <c:cat>
            <c:strRef>
              <c:f>'[Greenwoods Focused opportunities Fund data pack 2024Q3.xlsx]Sector Contribution'!$B$4:$F$4</c:f>
              <c:strCache>
                <c:ptCount val="5"/>
                <c:pt idx="0">
                  <c:v>2020 Dec</c:v>
                </c:pt>
                <c:pt idx="1">
                  <c:v>2021 Dec</c:v>
                </c:pt>
                <c:pt idx="2">
                  <c:v>2022 Dec</c:v>
                </c:pt>
                <c:pt idx="3">
                  <c:v>2023 Dec</c:v>
                </c:pt>
                <c:pt idx="4">
                  <c:v>2024Q3</c:v>
                </c:pt>
              </c:strCache>
            </c:strRef>
          </c:cat>
          <c:val>
            <c:numRef>
              <c:f>'[Greenwoods Focused opportunities Fund data pack 2024Q3.xlsx]Sector Contribution'!$B$15:$F$15</c:f>
              <c:numCache>
                <c:formatCode>0.00%</c:formatCode>
                <c:ptCount val="5"/>
                <c:pt idx="0">
                  <c:v>0</c:v>
                </c:pt>
                <c:pt idx="1">
                  <c:v>0.00164378203846085</c:v>
                </c:pt>
                <c:pt idx="2">
                  <c:v>0.00303517873304004</c:v>
                </c:pt>
                <c:pt idx="3">
                  <c:v>-0.0206776544746192</c:v>
                </c:pt>
                <c:pt idx="4">
                  <c:v>0.00543576843466821</c:v>
                </c:pt>
              </c:numCache>
            </c:numRef>
          </c:val>
        </c:ser>
        <c:ser>
          <c:idx val="10"/>
          <c:order val="10"/>
          <c:tx>
            <c:strRef>
              <c:f>'[Greenwoods Focused opportunities Fund data pack 2024Q3.xlsx]Sector Contribution'!$A$16</c:f>
              <c:strCache>
                <c:ptCount val="1"/>
                <c:pt idx="0">
                  <c:v>公用事业</c:v>
                </c:pt>
              </c:strCache>
            </c:strRef>
          </c:tx>
          <c:spPr>
            <a:solidFill>
              <a:schemeClr val="accent5">
                <a:lumMod val="60000"/>
              </a:schemeClr>
            </a:solidFill>
            <a:ln>
              <a:noFill/>
            </a:ln>
            <a:effectLst/>
          </c:spPr>
          <c:invertIfNegative val="0"/>
          <c:dLbls>
            <c:delete val="1"/>
          </c:dLbls>
          <c:cat>
            <c:strRef>
              <c:f>'[Greenwoods Focused opportunities Fund data pack 2024Q3.xlsx]Sector Contribution'!$B$4:$F$4</c:f>
              <c:strCache>
                <c:ptCount val="5"/>
                <c:pt idx="0">
                  <c:v>2020 Dec</c:v>
                </c:pt>
                <c:pt idx="1">
                  <c:v>2021 Dec</c:v>
                </c:pt>
                <c:pt idx="2">
                  <c:v>2022 Dec</c:v>
                </c:pt>
                <c:pt idx="3">
                  <c:v>2023 Dec</c:v>
                </c:pt>
                <c:pt idx="4">
                  <c:v>2024Q3</c:v>
                </c:pt>
              </c:strCache>
            </c:strRef>
          </c:cat>
          <c:val>
            <c:numRef>
              <c:f>'[Greenwoods Focused opportunities Fund data pack 2024Q3.xlsx]Sector Contribution'!$B$16:$F$16</c:f>
              <c:numCache>
                <c:formatCode>0.00%</c:formatCode>
                <c:ptCount val="5"/>
                <c:pt idx="0">
                  <c:v>0</c:v>
                </c:pt>
                <c:pt idx="1">
                  <c:v>0</c:v>
                </c:pt>
                <c:pt idx="2">
                  <c:v>0.0175781103844459</c:v>
                </c:pt>
                <c:pt idx="3">
                  <c:v>0.00153757960190967</c:v>
                </c:pt>
                <c:pt idx="4">
                  <c:v>0.00647568744560182</c:v>
                </c:pt>
              </c:numCache>
            </c:numRef>
          </c:val>
        </c:ser>
        <c:ser>
          <c:idx val="11"/>
          <c:order val="11"/>
          <c:tx>
            <c:strRef>
              <c:f>'[Greenwoods Focused opportunities Fund data pack 2024Q3.xlsx]Sector Contribution'!$A$17</c:f>
              <c:strCache>
                <c:ptCount val="1"/>
                <c:pt idx="0">
                  <c:v>指数对冲</c:v>
                </c:pt>
              </c:strCache>
            </c:strRef>
          </c:tx>
          <c:spPr>
            <a:solidFill>
              <a:schemeClr val="accent6">
                <a:lumMod val="60000"/>
              </a:schemeClr>
            </a:solidFill>
            <a:ln>
              <a:noFill/>
            </a:ln>
            <a:effectLst/>
          </c:spPr>
          <c:invertIfNegative val="0"/>
          <c:dLbls>
            <c:delete val="1"/>
          </c:dLbls>
          <c:cat>
            <c:strRef>
              <c:f>'[Greenwoods Focused opportunities Fund data pack 2024Q3.xlsx]Sector Contribution'!$B$4:$F$4</c:f>
              <c:strCache>
                <c:ptCount val="5"/>
                <c:pt idx="0">
                  <c:v>2020 Dec</c:v>
                </c:pt>
                <c:pt idx="1">
                  <c:v>2021 Dec</c:v>
                </c:pt>
                <c:pt idx="2">
                  <c:v>2022 Dec</c:v>
                </c:pt>
                <c:pt idx="3">
                  <c:v>2023 Dec</c:v>
                </c:pt>
                <c:pt idx="4">
                  <c:v>2024Q3</c:v>
                </c:pt>
              </c:strCache>
            </c:strRef>
          </c:cat>
          <c:val>
            <c:numRef>
              <c:f>'[Greenwoods Focused opportunities Fund data pack 2024Q3.xlsx]Sector Contribution'!$B$17:$F$17</c:f>
              <c:numCache>
                <c:formatCode>0.00%</c:formatCode>
                <c:ptCount val="5"/>
                <c:pt idx="0">
                  <c:v>-0.00659545095589106</c:v>
                </c:pt>
                <c:pt idx="1">
                  <c:v>0.00262807454246693</c:v>
                </c:pt>
                <c:pt idx="2">
                  <c:v>-0.0234820333501097</c:v>
                </c:pt>
                <c:pt idx="3">
                  <c:v>0.0280944377277689</c:v>
                </c:pt>
                <c:pt idx="4">
                  <c:v>0.00539279308541351</c:v>
                </c:pt>
              </c:numCache>
            </c:numRef>
          </c:val>
        </c:ser>
        <c:dLbls>
          <c:showLegendKey val="0"/>
          <c:showVal val="0"/>
          <c:showCatName val="0"/>
          <c:showSerName val="0"/>
          <c:showPercent val="0"/>
          <c:showBubbleSize val="0"/>
        </c:dLbls>
        <c:gapWidth val="150"/>
        <c:overlap val="100"/>
        <c:axId val="1306733343"/>
        <c:axId val="1306737919"/>
      </c:barChart>
      <c:catAx>
        <c:axId val="1306733343"/>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p>
        </c:txPr>
        <c:crossAx val="1306737919"/>
        <c:crosses val="autoZero"/>
        <c:auto val="1"/>
        <c:lblAlgn val="ctr"/>
        <c:lblOffset val="100"/>
        <c:noMultiLvlLbl val="0"/>
      </c:catAx>
      <c:valAx>
        <c:axId val="1306737919"/>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p>
        </c:txPr>
        <c:crossAx val="1306733343"/>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1"/>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2"/>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3"/>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4"/>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5"/>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6"/>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7"/>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8"/>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9"/>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10"/>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egendEntry>
        <c:idx val="11"/>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Entry>
      <c:layout>
        <c:manualLayout>
          <c:xMode val="edge"/>
          <c:yMode val="edge"/>
          <c:x val="0.118983416475664"/>
          <c:y val="0.854433808921799"/>
          <c:w val="0.806458136712957"/>
          <c:h val="0.134729998193968"/>
        </c:manualLayout>
      </c:layout>
      <c:overlay val="0"/>
      <c:spPr>
        <a:noFill/>
        <a:ln>
          <a:noFill/>
        </a:ln>
        <a:effectLst/>
      </c:spPr>
      <c:txPr>
        <a:bodyPr rot="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d48fa2d7-7520-47fd-bba2-b1f10e4b5b7d}"/>
      </c:ext>
    </c:extLst>
  </c:chart>
  <c:spPr>
    <a:noFill/>
    <a:ln w="9525" cap="flat" cmpd="sng" algn="ctr">
      <a:noFill/>
      <a:round/>
    </a:ln>
    <a:effectLst/>
  </c:spPr>
  <c:txPr>
    <a:bodyPr/>
    <a:lstStyle/>
    <a:p>
      <a:pPr>
        <a:defRPr lang="zh-CN" sz="900"/>
      </a:pPr>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400" b="0" i="0" u="none" strike="noStrike" kern="1200" spc="0" baseline="0">
                <a:solidFill>
                  <a:schemeClr val="tx1">
                    <a:lumMod val="65000"/>
                    <a:lumOff val="35000"/>
                  </a:schemeClr>
                </a:solidFill>
                <a:latin typeface="+mn-lt"/>
                <a:ea typeface="+mn-ea"/>
                <a:cs typeface="+mn-cs"/>
              </a:defRPr>
            </a:pPr>
            <a:r>
              <a:rPr lang="zh-CN" altLang="en-US" sz="1600" b="1"/>
              <a:t>景林环球基金多空仓位变化</a:t>
            </a:r>
            <a:endParaRPr lang="zh-CN" altLang="en-US" sz="1600" b="1"/>
          </a:p>
        </c:rich>
      </c:tx>
      <c:layout>
        <c:manualLayout>
          <c:xMode val="edge"/>
          <c:yMode val="edge"/>
          <c:x val="0.372210526315789"/>
          <c:y val="0.0325235896406344"/>
        </c:manualLayout>
      </c:layout>
      <c:overlay val="0"/>
      <c:spPr>
        <a:noFill/>
        <a:ln>
          <a:noFill/>
        </a:ln>
        <a:effectLst/>
      </c:spPr>
    </c:title>
    <c:autoTitleDeleted val="0"/>
    <c:plotArea>
      <c:layout/>
      <c:barChart>
        <c:barDir val="col"/>
        <c:grouping val="stacked"/>
        <c:varyColors val="0"/>
        <c:ser>
          <c:idx val="0"/>
          <c:order val="0"/>
          <c:tx>
            <c:strRef>
              <c:f>'[Greenwoods Focused opportunities Fund data pack 2024Q3.xlsx]Sheet1'!$A$2</c:f>
              <c:strCache>
                <c:ptCount val="1"/>
                <c:pt idx="0">
                  <c:v>多头仓位</c:v>
                </c:pt>
              </c:strCache>
            </c:strRef>
          </c:tx>
          <c:spPr>
            <a:solidFill>
              <a:schemeClr val="accent1"/>
            </a:solidFill>
            <a:ln>
              <a:noFill/>
            </a:ln>
            <a:effectLst/>
          </c:spPr>
          <c:invertIfNegative val="0"/>
          <c:dLbls>
            <c:delete val="1"/>
          </c:dLbls>
          <c:cat>
            <c:numRef>
              <c:f>'[Greenwoods Focused opportunities Fund data pack 2024Q3.xlsx]Sheet1'!$B$1:$G$1</c:f>
              <c:numCache>
                <c:formatCode>yyyy\-mm\-dd</c:formatCode>
                <c:ptCount val="6"/>
                <c:pt idx="0" c:formatCode="yyyy\-mm\-dd">
                  <c:v>44196</c:v>
                </c:pt>
                <c:pt idx="1" c:formatCode="yyyy\-mm\-dd">
                  <c:v>44561</c:v>
                </c:pt>
                <c:pt idx="2" c:formatCode="yyyy\-mm\-dd">
                  <c:v>44926</c:v>
                </c:pt>
                <c:pt idx="3" c:formatCode="yyyy\-mm\-dd">
                  <c:v>45291</c:v>
                </c:pt>
                <c:pt idx="4" c:formatCode="yyyy\-mm\-dd">
                  <c:v>45473</c:v>
                </c:pt>
                <c:pt idx="5" c:formatCode="yyyy\-mm\-dd">
                  <c:v>45565</c:v>
                </c:pt>
              </c:numCache>
            </c:numRef>
          </c:cat>
          <c:val>
            <c:numRef>
              <c:f>'[Greenwoods Focused opportunities Fund data pack 2024Q3.xlsx]Sheet1'!$B$2:$G$2</c:f>
              <c:numCache>
                <c:formatCode>0.0%</c:formatCode>
                <c:ptCount val="6"/>
                <c:pt idx="0">
                  <c:v>0.859243649352804</c:v>
                </c:pt>
                <c:pt idx="1">
                  <c:v>0.863632445679926</c:v>
                </c:pt>
                <c:pt idx="2">
                  <c:v>1.19675931456787</c:v>
                </c:pt>
                <c:pt idx="3">
                  <c:v>1.25994780155123</c:v>
                </c:pt>
                <c:pt idx="4">
                  <c:v>1.03783609251178</c:v>
                </c:pt>
                <c:pt idx="5">
                  <c:v>0.798972606583297</c:v>
                </c:pt>
              </c:numCache>
            </c:numRef>
          </c:val>
        </c:ser>
        <c:ser>
          <c:idx val="1"/>
          <c:order val="1"/>
          <c:tx>
            <c:strRef>
              <c:f>'[Greenwoods Focused opportunities Fund data pack 2024Q3.xlsx]Sheet1'!$A$3</c:f>
              <c:strCache>
                <c:ptCount val="1"/>
                <c:pt idx="0">
                  <c:v>空头仓位</c:v>
                </c:pt>
              </c:strCache>
            </c:strRef>
          </c:tx>
          <c:spPr>
            <a:solidFill>
              <a:schemeClr val="accent2"/>
            </a:solidFill>
            <a:ln>
              <a:noFill/>
            </a:ln>
            <a:effectLst/>
          </c:spPr>
          <c:invertIfNegative val="0"/>
          <c:dLbls>
            <c:delete val="1"/>
          </c:dLbls>
          <c:cat>
            <c:numRef>
              <c:f>'[Greenwoods Focused opportunities Fund data pack 2024Q3.xlsx]Sheet1'!$B$1:$G$1</c:f>
              <c:numCache>
                <c:formatCode>yyyy\-mm\-dd</c:formatCode>
                <c:ptCount val="6"/>
                <c:pt idx="0" c:formatCode="yyyy\-mm\-dd">
                  <c:v>44196</c:v>
                </c:pt>
                <c:pt idx="1" c:formatCode="yyyy\-mm\-dd">
                  <c:v>44561</c:v>
                </c:pt>
                <c:pt idx="2" c:formatCode="yyyy\-mm\-dd">
                  <c:v>44926</c:v>
                </c:pt>
                <c:pt idx="3" c:formatCode="yyyy\-mm\-dd">
                  <c:v>45291</c:v>
                </c:pt>
                <c:pt idx="4" c:formatCode="yyyy\-mm\-dd">
                  <c:v>45473</c:v>
                </c:pt>
                <c:pt idx="5" c:formatCode="yyyy\-mm\-dd">
                  <c:v>45565</c:v>
                </c:pt>
              </c:numCache>
            </c:numRef>
          </c:cat>
          <c:val>
            <c:numRef>
              <c:f>'[Greenwoods Focused opportunities Fund data pack 2024Q3.xlsx]Sheet1'!$B$3:$G$3</c:f>
              <c:numCache>
                <c:formatCode>0.0%</c:formatCode>
                <c:ptCount val="6"/>
                <c:pt idx="0">
                  <c:v>-0.0197477617534685</c:v>
                </c:pt>
                <c:pt idx="1">
                  <c:v>-0.143402219116268</c:v>
                </c:pt>
                <c:pt idx="2">
                  <c:v>-0.416604481595766</c:v>
                </c:pt>
                <c:pt idx="3">
                  <c:v>-0.244593527930682</c:v>
                </c:pt>
                <c:pt idx="4">
                  <c:v>-0.104496582714142</c:v>
                </c:pt>
                <c:pt idx="5">
                  <c:v>-0.218373862132711</c:v>
                </c:pt>
              </c:numCache>
            </c:numRef>
          </c:val>
        </c:ser>
        <c:dLbls>
          <c:showLegendKey val="0"/>
          <c:showVal val="0"/>
          <c:showCatName val="0"/>
          <c:showSerName val="0"/>
          <c:showPercent val="0"/>
          <c:showBubbleSize val="0"/>
        </c:dLbls>
        <c:gapWidth val="150"/>
        <c:overlap val="100"/>
        <c:axId val="1306717535"/>
        <c:axId val="1306737087"/>
      </c:barChart>
      <c:lineChart>
        <c:grouping val="standard"/>
        <c:varyColors val="0"/>
        <c:ser>
          <c:idx val="2"/>
          <c:order val="2"/>
          <c:tx>
            <c:strRef>
              <c:f>'[Greenwoods Focused opportunities Fund data pack 2024Q3.xlsx]Sheet1'!$A$4</c:f>
              <c:strCache>
                <c:ptCount val="1"/>
                <c:pt idx="0">
                  <c:v>净敞口</c:v>
                </c:pt>
              </c:strCache>
            </c:strRef>
          </c:tx>
          <c:spPr>
            <a:ln w="28575" cap="rnd">
              <a:solidFill>
                <a:srgbClr val="FF0000"/>
              </a:solidFill>
              <a:round/>
            </a:ln>
            <a:effectLst/>
          </c:spPr>
          <c:marker>
            <c:symbol val="none"/>
          </c:marker>
          <c:dLbls>
            <c:dLbl>
              <c:idx val="0"/>
              <c:layout>
                <c:manualLayout>
                  <c:x val="-0.0144561403508772"/>
                  <c:y val="-0.0585865983156353"/>
                </c:manualLayout>
              </c:layout>
              <c:dLblPos val="r"/>
              <c:showLegendKey val="0"/>
              <c:showVal val="1"/>
              <c:showCatName val="0"/>
              <c:showSerName val="0"/>
              <c:showPercent val="0"/>
              <c:showBubbleSize val="0"/>
              <c:extLst>
                <c:ext xmlns:c15="http://schemas.microsoft.com/office/drawing/2012/chart" uri="{CE6537A1-D6FC-4f65-9D91-7224C49458BB}">
                  <c15:layout/>
                </c:ext>
              </c:extLst>
            </c:dLbl>
            <c:dLbl>
              <c:idx val="1"/>
              <c:layout>
                <c:manualLayout>
                  <c:x val="-0.00512280701754386"/>
                  <c:y val="-0.0664591724642988"/>
                </c:manualLayout>
              </c:layout>
              <c:dLblPos val="r"/>
              <c:showLegendKey val="0"/>
              <c:showVal val="1"/>
              <c:showCatName val="0"/>
              <c:showSerName val="0"/>
              <c:showPercent val="0"/>
              <c:showBubbleSize val="0"/>
              <c:extLst>
                <c:ext xmlns:c15="http://schemas.microsoft.com/office/drawing/2012/chart" uri="{CE6537A1-D6FC-4f65-9D91-7224C49458BB}">
                  <c15:layout/>
                </c:ext>
              </c:extLst>
            </c:dLbl>
            <c:dLbl>
              <c:idx val="2"/>
              <c:layout>
                <c:manualLayout>
                  <c:x val="-0.0112280701754386"/>
                  <c:y val="-0.0670084218235079"/>
                </c:manualLayout>
              </c:layout>
              <c:dLblPos val="r"/>
              <c:showLegendKey val="0"/>
              <c:showVal val="1"/>
              <c:showCatName val="0"/>
              <c:showSerName val="0"/>
              <c:showPercent val="0"/>
              <c:showBubbleSize val="0"/>
              <c:extLst>
                <c:ext xmlns:c15="http://schemas.microsoft.com/office/drawing/2012/chart" uri="{CE6537A1-D6FC-4f65-9D91-7224C49458BB}">
                  <c15:layout/>
                </c:ext>
              </c:extLst>
            </c:dLbl>
            <c:dLbl>
              <c:idx val="3"/>
              <c:layout>
                <c:manualLayout>
                  <c:x val="-0.0220350877192982"/>
                  <c:y val="-0.0530941047235445"/>
                </c:manualLayout>
              </c:layout>
              <c:dLblPos val="r"/>
              <c:showLegendKey val="0"/>
              <c:showVal val="1"/>
              <c:showCatName val="0"/>
              <c:showSerName val="0"/>
              <c:showPercent val="0"/>
              <c:showBubbleSize val="0"/>
              <c:extLst>
                <c:ext xmlns:c15="http://schemas.microsoft.com/office/drawing/2012/chart" uri="{CE6537A1-D6FC-4f65-9D91-7224C49458BB}">
                  <c15:layout/>
                </c:ext>
              </c:extLst>
            </c:dLbl>
            <c:dLbl>
              <c:idx val="4"/>
              <c:layout>
                <c:manualLayout>
                  <c:x val="-0.0152982456140351"/>
                  <c:y val="-0.0443061149761992"/>
                </c:manualLayout>
              </c:layout>
              <c:dLblPos val="r"/>
              <c:showLegendKey val="0"/>
              <c:showVal val="1"/>
              <c:showCatName val="0"/>
              <c:showSerName val="0"/>
              <c:showPercent val="0"/>
              <c:showBubbleSize val="0"/>
              <c:extLst>
                <c:ext xmlns:c15="http://schemas.microsoft.com/office/drawing/2012/chart" uri="{CE6537A1-D6FC-4f65-9D91-7224C49458BB}">
                  <c15:layout/>
                </c:ext>
              </c:extLst>
            </c:dLbl>
            <c:dLbl>
              <c:idx val="5"/>
              <c:layout>
                <c:manualLayout>
                  <c:x val="-0.0127719298245614"/>
                  <c:y val="-0.0710362504577078"/>
                </c:manualLayout>
              </c:layout>
              <c:dLblPos val="r"/>
              <c:showLegendKey val="0"/>
              <c:showVal val="1"/>
              <c:showCatName val="0"/>
              <c:showSerName val="0"/>
              <c:showPercent val="0"/>
              <c:showBubbleSize val="0"/>
              <c:extLst>
                <c:ext xmlns:c15="http://schemas.microsoft.com/office/drawing/2012/chart" uri="{CE6537A1-D6FC-4f65-9D91-7224C49458BB}">
                  <c15:layout/>
                </c:ext>
              </c:extLst>
            </c:dLbl>
            <c:spPr>
              <a:noFill/>
              <a:ln>
                <a:noFill/>
              </a:ln>
              <a:effectLst/>
            </c:spPr>
            <c:txPr>
              <a:bodyPr rot="0" spcFirstLastPara="0" vertOverflow="ellipsis" vert="horz" wrap="square" lIns="38100" tIns="19050" rIns="38100" bIns="19050" anchor="ctr" anchorCtr="1"/>
              <a:lstStyle/>
              <a:p>
                <a:pPr>
                  <a:defRPr lang="zh-CN" sz="1200" b="1" i="0" u="none" strike="noStrike" kern="1200" baseline="0">
                    <a:solidFill>
                      <a:srgbClr val="FF0000"/>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numRef>
              <c:f>'[Greenwoods Focused opportunities Fund data pack 2024Q3.xlsx]Sheet1'!$B$1:$G$1</c:f>
              <c:numCache>
                <c:formatCode>yyyy\-mm\-dd</c:formatCode>
                <c:ptCount val="6"/>
                <c:pt idx="0" c:formatCode="yyyy\-mm\-dd">
                  <c:v>44196</c:v>
                </c:pt>
                <c:pt idx="1" c:formatCode="yyyy\-mm\-dd">
                  <c:v>44561</c:v>
                </c:pt>
                <c:pt idx="2" c:formatCode="yyyy\-mm\-dd">
                  <c:v>44926</c:v>
                </c:pt>
                <c:pt idx="3" c:formatCode="yyyy\-mm\-dd">
                  <c:v>45291</c:v>
                </c:pt>
                <c:pt idx="4" c:formatCode="yyyy\-mm\-dd">
                  <c:v>45473</c:v>
                </c:pt>
                <c:pt idx="5" c:formatCode="yyyy\-mm\-dd">
                  <c:v>45565</c:v>
                </c:pt>
              </c:numCache>
            </c:numRef>
          </c:cat>
          <c:val>
            <c:numRef>
              <c:f>'[Greenwoods Focused opportunities Fund data pack 2024Q3.xlsx]Sheet1'!$B$4:$G$4</c:f>
              <c:numCache>
                <c:formatCode>0.0%</c:formatCode>
                <c:ptCount val="6"/>
                <c:pt idx="0">
                  <c:v>0.839495887599335</c:v>
                </c:pt>
                <c:pt idx="1">
                  <c:v>0.720230226563658</c:v>
                </c:pt>
                <c:pt idx="2">
                  <c:v>0.780154832972107</c:v>
                </c:pt>
                <c:pt idx="3">
                  <c:v>1.01535427362055</c:v>
                </c:pt>
                <c:pt idx="4">
                  <c:v>0.933339509797639</c:v>
                </c:pt>
                <c:pt idx="5">
                  <c:v>0.580598744450586</c:v>
                </c:pt>
              </c:numCache>
            </c:numRef>
          </c:val>
          <c:smooth val="0"/>
        </c:ser>
        <c:dLbls>
          <c:showLegendKey val="0"/>
          <c:showVal val="0"/>
          <c:showCatName val="0"/>
          <c:showSerName val="0"/>
          <c:showPercent val="0"/>
          <c:showBubbleSize val="0"/>
        </c:dLbls>
        <c:marker val="0"/>
        <c:smooth val="0"/>
        <c:axId val="1306717535"/>
        <c:axId val="1306737087"/>
      </c:lineChart>
      <c:catAx>
        <c:axId val="1306717535"/>
        <c:scaling>
          <c:orientation val="minMax"/>
        </c:scaling>
        <c:delete val="0"/>
        <c:axPos val="b"/>
        <c:numFmt formatCode="yyyy\-mm\-dd"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crossAx val="1306737087"/>
        <c:crosses val="autoZero"/>
        <c:auto val="0"/>
        <c:lblAlgn val="ctr"/>
        <c:lblOffset val="100"/>
        <c:noMultiLvlLbl val="0"/>
      </c:catAx>
      <c:valAx>
        <c:axId val="1306737087"/>
        <c:scaling>
          <c:orientation val="minMax"/>
          <c:min val="-0.5"/>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crossAx val="1306717535"/>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legendEntry>
      <c:legendEntry>
        <c:idx val="1"/>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legendEntry>
      <c:legendEntry>
        <c:idx val="2"/>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legendEntry>
      <c:layout/>
      <c:overlay val="0"/>
      <c:spPr>
        <a:noFill/>
        <a:ln>
          <a:noFill/>
        </a:ln>
        <a:effectLst/>
      </c:spPr>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c41d4261-eb1a-477b-bfd0-3eaef715f1c5}"/>
      </c:ext>
    </c:extLst>
  </c:chart>
  <c:spPr>
    <a:noFill/>
    <a:ln>
      <a:noFill/>
    </a:ln>
    <a:effectLst/>
  </c:spPr>
  <c:txPr>
    <a:bodyPr/>
    <a:lstStyle/>
    <a:p>
      <a:pPr>
        <a:defRPr lang="zh-CN"/>
      </a:pPr>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tx1">
                    <a:lumMod val="75000"/>
                    <a:lumOff val="25000"/>
                  </a:schemeClr>
                </a:solidFill>
                <a:latin typeface="+mn-lt"/>
                <a:ea typeface="+mn-ea"/>
                <a:cs typeface="+mn-cs"/>
              </a:defRPr>
            </a:pPr>
            <a:r>
              <a:rPr lang="zh-CN" altLang="en-US" sz="1600"/>
              <a:t>单年度多空贡献归因</a:t>
            </a:r>
            <a:endParaRPr lang="zh-CN" altLang="en-US" sz="1600"/>
          </a:p>
        </c:rich>
      </c:tx>
      <c:layout/>
      <c:overlay val="0"/>
      <c:spPr>
        <a:noFill/>
        <a:ln>
          <a:noFill/>
        </a:ln>
        <a:effectLst/>
      </c:spPr>
    </c:title>
    <c:autoTitleDeleted val="0"/>
    <c:plotArea>
      <c:layout/>
      <c:barChart>
        <c:barDir val="col"/>
        <c:grouping val="stacked"/>
        <c:varyColors val="0"/>
        <c:ser>
          <c:idx val="0"/>
          <c:order val="0"/>
          <c:tx>
            <c:strRef>
              <c:f>'[Greenwoods Focused opportunities Fund data pack 2024Q3 (00000003).xlsx]LS contribution'!$B$2</c:f>
              <c:strCache>
                <c:ptCount val="1"/>
                <c:pt idx="0">
                  <c:v>多头贡献</c:v>
                </c:pt>
              </c:strCache>
            </c:strRef>
          </c:tx>
          <c:spPr>
            <a:solidFill>
              <a:schemeClr val="accent1"/>
            </a:solidFill>
            <a:ln>
              <a:solidFill>
                <a:schemeClr val="bg1"/>
              </a:solidFill>
            </a:ln>
            <a:effectLst/>
          </c:spPr>
          <c:invertIfNegative val="0"/>
          <c:dLbls>
            <c:delete val="1"/>
          </c:dLbls>
          <c:cat>
            <c:strRef>
              <c:f>'[Greenwoods Focused opportunities Fund data pack 2024Q3 (00000003).xlsx]LS contribution'!$A$3:$A$7</c:f>
              <c:strCache>
                <c:ptCount val="5"/>
                <c:pt idx="0">
                  <c:v>2020</c:v>
                </c:pt>
                <c:pt idx="1">
                  <c:v>2021</c:v>
                </c:pt>
                <c:pt idx="2">
                  <c:v>2022</c:v>
                </c:pt>
                <c:pt idx="3">
                  <c:v>2023</c:v>
                </c:pt>
                <c:pt idx="4">
                  <c:v>Jan-Sep 2024</c:v>
                </c:pt>
              </c:strCache>
            </c:strRef>
          </c:cat>
          <c:val>
            <c:numRef>
              <c:f>'[Greenwoods Focused opportunities Fund data pack 2024Q3 (00000003).xlsx]LS contribution'!$B$3:$B$7</c:f>
              <c:numCache>
                <c:formatCode>0.00%</c:formatCode>
                <c:ptCount val="5"/>
                <c:pt idx="0">
                  <c:v>0.269823566386532</c:v>
                </c:pt>
                <c:pt idx="1">
                  <c:v>0.0372684186737802</c:v>
                </c:pt>
                <c:pt idx="2">
                  <c:v>-0.316706958138416</c:v>
                </c:pt>
                <c:pt idx="3">
                  <c:v>0.482031618759113</c:v>
                </c:pt>
                <c:pt idx="4">
                  <c:v>0.286968714591278</c:v>
                </c:pt>
              </c:numCache>
            </c:numRef>
          </c:val>
        </c:ser>
        <c:ser>
          <c:idx val="1"/>
          <c:order val="1"/>
          <c:tx>
            <c:strRef>
              <c:f>'[Greenwoods Focused opportunities Fund data pack 2024Q3 (00000003).xlsx]LS contribution'!$C$2</c:f>
              <c:strCache>
                <c:ptCount val="1"/>
                <c:pt idx="0">
                  <c:v>空头贡献</c:v>
                </c:pt>
              </c:strCache>
            </c:strRef>
          </c:tx>
          <c:spPr>
            <a:solidFill>
              <a:schemeClr val="accent2"/>
            </a:solidFill>
            <a:ln>
              <a:solidFill>
                <a:schemeClr val="bg1"/>
              </a:solidFill>
            </a:ln>
            <a:effectLst/>
          </c:spPr>
          <c:invertIfNegative val="0"/>
          <c:dLbls>
            <c:delete val="1"/>
          </c:dLbls>
          <c:cat>
            <c:strRef>
              <c:f>'[Greenwoods Focused opportunities Fund data pack 2024Q3 (00000003).xlsx]LS contribution'!$A$3:$A$7</c:f>
              <c:strCache>
                <c:ptCount val="5"/>
                <c:pt idx="0">
                  <c:v>2020</c:v>
                </c:pt>
                <c:pt idx="1">
                  <c:v>2021</c:v>
                </c:pt>
                <c:pt idx="2">
                  <c:v>2022</c:v>
                </c:pt>
                <c:pt idx="3">
                  <c:v>2023</c:v>
                </c:pt>
                <c:pt idx="4">
                  <c:v>Jan-Sep 2024</c:v>
                </c:pt>
              </c:strCache>
            </c:strRef>
          </c:cat>
          <c:val>
            <c:numRef>
              <c:f>'[Greenwoods Focused opportunities Fund data pack 2024Q3 (00000003).xlsx]LS contribution'!$C$3:$C$7</c:f>
              <c:numCache>
                <c:formatCode>0.00%</c:formatCode>
                <c:ptCount val="5"/>
                <c:pt idx="0">
                  <c:v>-0.0111344810897616</c:v>
                </c:pt>
                <c:pt idx="1">
                  <c:v>0.061948193948765</c:v>
                </c:pt>
                <c:pt idx="2">
                  <c:v>0.151929482076574</c:v>
                </c:pt>
                <c:pt idx="3">
                  <c:v>0.00729907190430841</c:v>
                </c:pt>
                <c:pt idx="4">
                  <c:v>0.0650343262455324</c:v>
                </c:pt>
              </c:numCache>
            </c:numRef>
          </c:val>
        </c:ser>
        <c:dLbls>
          <c:showLegendKey val="0"/>
          <c:showVal val="0"/>
          <c:showCatName val="0"/>
          <c:showSerName val="0"/>
          <c:showPercent val="0"/>
          <c:showBubbleSize val="0"/>
        </c:dLbls>
        <c:gapWidth val="246"/>
        <c:overlap val="100"/>
        <c:axId val="41818434"/>
        <c:axId val="162435275"/>
      </c:barChart>
      <c:catAx>
        <c:axId val="41818434"/>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p>
        </c:txPr>
        <c:crossAx val="162435275"/>
        <c:crosses val="autoZero"/>
        <c:auto val="1"/>
        <c:lblAlgn val="ctr"/>
        <c:lblOffset val="100"/>
        <c:noMultiLvlLbl val="0"/>
      </c:catAx>
      <c:valAx>
        <c:axId val="162435275"/>
        <c:scaling>
          <c:orientation val="minMax"/>
        </c:scaling>
        <c:delete val="0"/>
        <c:axPos val="l"/>
        <c:numFmt formatCode="0%" sourceLinked="0"/>
        <c:majorTickMark val="none"/>
        <c:minorTickMark val="none"/>
        <c:tickLblPos val="nextTo"/>
        <c:spPr>
          <a:noFill/>
          <a:ln>
            <a:noFill/>
          </a:ln>
          <a:effectLst/>
        </c:spPr>
        <c:txPr>
          <a:bodyPr rot="-60000000" spcFirstLastPara="0"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crossAx val="41818434"/>
        <c:crosses val="autoZero"/>
        <c:crossBetween val="between"/>
      </c:valAx>
      <c:spPr>
        <a:noFill/>
        <a:ln>
          <a:noFill/>
        </a:ln>
        <a:effectLst/>
      </c:spPr>
    </c:plotArea>
    <c:legend>
      <c:legendPos val="b"/>
      <c:legendEntry>
        <c:idx val="0"/>
        <c:txPr>
          <a:bodyPr rot="0" spcFirstLastPara="0"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legendEntry>
      <c:legendEntry>
        <c:idx val="1"/>
        <c:txPr>
          <a:bodyPr rot="0" spcFirstLastPara="0"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legendEntry>
      <c:layout>
        <c:manualLayout>
          <c:xMode val="edge"/>
          <c:yMode val="edge"/>
          <c:x val="0.309156976744186"/>
          <c:y val="0.903020940611054"/>
          <c:w val="0.439970930232558"/>
          <c:h val="0.0705458290422245"/>
        </c:manualLayout>
      </c:layout>
      <c:overlay val="0"/>
      <c:spPr>
        <a:noFill/>
        <a:ln>
          <a:noFill/>
        </a:ln>
        <a:effectLst/>
      </c:spPr>
      <c:txPr>
        <a:bodyPr rot="0" spcFirstLastPara="0" vertOverflow="ellipsis" vert="horz" wrap="square" anchor="ctr" anchorCtr="1"/>
        <a:lstStyle/>
        <a:p>
          <a:pPr>
            <a:defRPr lang="zh-CN" sz="12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f42dfc6a-0ce3-4812-b224-33c010fc56b4}"/>
      </c:ext>
    </c:extLst>
  </c:chart>
  <c:spPr>
    <a:solidFill>
      <a:schemeClr val="bg1"/>
    </a:solidFill>
    <a:ln w="9525" cap="flat" cmpd="sng" algn="ctr">
      <a:noFill/>
      <a:round/>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1001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sym typeface="+mn-ea"/>
              </a:rPr>
              <a:t>1</a:t>
            </a:r>
            <a:r>
              <a:rPr lang="zh-CN" altLang="en-US">
                <a:sym typeface="+mn-ea"/>
              </a:rPr>
              <a:t>、新基金</a:t>
            </a:r>
            <a:r>
              <a:rPr lang="en-US" altLang="zh-CN">
                <a:sym typeface="+mn-ea"/>
              </a:rPr>
              <a:t>2020</a:t>
            </a:r>
            <a:r>
              <a:rPr lang="zh-CN" altLang="en-US">
                <a:sym typeface="+mn-ea"/>
              </a:rPr>
              <a:t>年成立，海外研究的迭代；</a:t>
            </a:r>
            <a:r>
              <a:rPr lang="en-US" altLang="zh-CN">
                <a:sym typeface="+mn-ea"/>
              </a:rPr>
              <a:t>2</a:t>
            </a:r>
            <a:r>
              <a:rPr lang="zh-CN" altLang="en-US">
                <a:sym typeface="+mn-ea"/>
              </a:rPr>
              <a:t>、年化</a:t>
            </a:r>
            <a:r>
              <a:rPr lang="en-US" altLang="zh-CN">
                <a:sym typeface="+mn-ea"/>
              </a:rPr>
              <a:t>17%</a:t>
            </a:r>
            <a:r>
              <a:rPr lang="zh-CN" altLang="en-US">
                <a:sym typeface="+mn-ea"/>
              </a:rPr>
              <a:t>，</a:t>
            </a:r>
            <a:r>
              <a:rPr lang="en-US" altLang="zh-CN">
                <a:sym typeface="+mn-ea"/>
              </a:rPr>
              <a:t>23</a:t>
            </a:r>
            <a:r>
              <a:rPr lang="zh-CN" altLang="en-US">
                <a:sym typeface="+mn-ea"/>
              </a:rPr>
              <a:t>、</a:t>
            </a:r>
            <a:r>
              <a:rPr lang="en-US" altLang="zh-CN">
                <a:sym typeface="+mn-ea"/>
              </a:rPr>
              <a:t>24</a:t>
            </a:r>
            <a:r>
              <a:rPr lang="zh-CN" altLang="en-US">
                <a:sym typeface="+mn-ea"/>
              </a:rPr>
              <a:t>主要来自于海外，</a:t>
            </a:r>
            <a:endParaRPr lang="zh-CN" altLang="en-US">
              <a:sym typeface="+mn-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sz="500" baseline="0" dirty="0">
                <a:latin typeface="+mn-ea"/>
                <a:ea typeface="+mn-ea"/>
              </a:rPr>
              <a:t>客户层面再细化，体量、盈亏、锁定情况，每个区域单独拉下情况，</a:t>
            </a:r>
            <a:endParaRPr lang="zh-CN" altLang="en-US" sz="500" baseline="0" dirty="0">
              <a:latin typeface="+mn-ea"/>
              <a:ea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第一是回顾金色中国的业绩，表现怎么样，自</a:t>
            </a:r>
            <a:r>
              <a:rPr lang="en-US" altLang="zh-CN">
                <a:sym typeface="+mn-ea"/>
              </a:rPr>
              <a:t>2022</a:t>
            </a:r>
            <a:r>
              <a:rPr lang="zh-CN" altLang="en-US">
                <a:sym typeface="+mn-ea"/>
              </a:rPr>
              <a:t>年</a:t>
            </a:r>
            <a:r>
              <a:rPr lang="en-US" altLang="zh-CN">
                <a:sym typeface="+mn-ea"/>
              </a:rPr>
              <a:t>10</a:t>
            </a:r>
            <a:r>
              <a:rPr lang="zh-CN" altLang="en-US">
                <a:sym typeface="+mn-ea"/>
              </a:rPr>
              <a:t>月以来整个爬坑修复的状态都非常不错，背后体现的是景林对于市场和公司的理解，都在迭代和加深；</a:t>
            </a:r>
            <a:endParaRPr lang="zh-CN" altLang="en-US">
              <a:sym typeface="+mn-ea"/>
            </a:endParaRPr>
          </a:p>
          <a:p>
            <a:r>
              <a:rPr lang="zh-CN" altLang="en-US">
                <a:sym typeface="+mn-ea"/>
              </a:rPr>
              <a:t>第二是在这个过程中，一些关键的节点，主要的观点、操作、和应对；</a:t>
            </a:r>
            <a:endParaRPr lang="zh-CN" altLang="en-US">
              <a:sym typeface="+mn-ea"/>
            </a:endParaRPr>
          </a:p>
          <a:p>
            <a:r>
              <a:rPr lang="zh-CN" altLang="en-US">
                <a:sym typeface="+mn-ea"/>
              </a:rPr>
              <a:t>最后一步，是给出建议，景林新基金上线，给老客户一键调仓的机会，长期来看，不仅在原先基础上优化了产品收益来源，从投中国到投全球，也是帮助客户打开全球视野的契机，借助景林存续场景去打开海外配置窗口，对于资金体量大的客户，挖掘对其他对冲基金的需求。</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其他三只不提观点，医药客观讲。</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FE74612-5D05-4E95-9A52-CCD22BF977B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FE74612-5D05-4E95-9A52-CCD22BF977B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A75BA858-AD3F-47B5-84F0-241BB04BA892}"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FE74612-5D05-4E95-9A52-CCD22BF977B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地域配置，变化不大，还是以中国资产为主：</a:t>
            </a:r>
            <a:endParaRPr lang="en-US" altLang="zh-CN" dirty="0"/>
          </a:p>
          <a:p>
            <a:pPr marL="171450" indent="-171450">
              <a:buFontTx/>
              <a:buChar char="-"/>
            </a:pPr>
            <a:r>
              <a:rPr lang="zh-CN" altLang="en-US" dirty="0"/>
              <a:t>多头：港股</a:t>
            </a:r>
            <a:r>
              <a:rPr lang="en-US" altLang="zh-CN" dirty="0"/>
              <a:t>6</a:t>
            </a:r>
            <a:r>
              <a:rPr lang="zh-CN" altLang="en-US" dirty="0"/>
              <a:t>成、</a:t>
            </a:r>
            <a:r>
              <a:rPr lang="en-US" altLang="zh-CN" dirty="0"/>
              <a:t>A</a:t>
            </a:r>
            <a:r>
              <a:rPr lang="zh-CN" altLang="en-US" dirty="0"/>
              <a:t>股</a:t>
            </a:r>
            <a:r>
              <a:rPr lang="en-US" altLang="zh-CN" dirty="0"/>
              <a:t>3</a:t>
            </a:r>
            <a:r>
              <a:rPr lang="zh-CN" altLang="en-US" dirty="0"/>
              <a:t>成、降低了外股的仓位；</a:t>
            </a:r>
            <a:endParaRPr lang="en-US" altLang="zh-CN" dirty="0"/>
          </a:p>
          <a:p>
            <a:pPr marL="171450" indent="-171450">
              <a:buFontTx/>
              <a:buChar char="-"/>
            </a:pPr>
            <a:r>
              <a:rPr lang="zh-CN" altLang="en-US" dirty="0"/>
              <a:t>空头：增加了外股的仓位，主要是自下而上寻找的一些结构性的机会。</a:t>
            </a:r>
            <a:endParaRPr lang="en-US" altLang="zh-CN"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FE74612-5D05-4E95-9A52-CCD22BF977B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rPr>
              <a:t>行业配置，变化不大，集中在通讯服务、消费、能源、信息技术板块。</a:t>
            </a:r>
            <a:endParaRPr lang="zh-CN" altLang="en-US" dirty="0">
              <a:effectLst/>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FE74612-5D05-4E95-9A52-CCD22BF977B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美股方面，</a:t>
            </a:r>
            <a:r>
              <a:rPr lang="en-US" altLang="zh-CN" b="0" dirty="0"/>
              <a:t>2024</a:t>
            </a:r>
            <a:r>
              <a:rPr lang="zh-CN" altLang="en-US" b="0" dirty="0"/>
              <a:t>年</a:t>
            </a:r>
            <a:r>
              <a:rPr lang="en-US" altLang="zh-CN" b="0" dirty="0"/>
              <a:t>3</a:t>
            </a:r>
            <a:r>
              <a:rPr lang="zh-CN" altLang="en-US" b="0" dirty="0"/>
              <a:t>季度：</a:t>
            </a:r>
            <a:r>
              <a:rPr lang="zh-CN" altLang="en-US" sz="1200" b="0" i="0" kern="1200" dirty="0">
                <a:solidFill>
                  <a:schemeClr val="tx1"/>
                </a:solidFill>
                <a:effectLst/>
                <a:latin typeface="+mn-lt"/>
                <a:ea typeface="+mn-ea"/>
                <a:cs typeface="+mn-cs"/>
              </a:rPr>
              <a:t>减持英伟达、微软、台积电等</a:t>
            </a:r>
            <a:r>
              <a:rPr lang="en-US" altLang="zh-CN" sz="1200" b="0" i="0" kern="1200" dirty="0">
                <a:solidFill>
                  <a:schemeClr val="tx1"/>
                </a:solidFill>
                <a:effectLst/>
                <a:latin typeface="+mn-lt"/>
                <a:ea typeface="+mn-ea"/>
                <a:cs typeface="+mn-cs"/>
              </a:rPr>
              <a:t>AI</a:t>
            </a:r>
            <a:r>
              <a:rPr lang="zh-CN" altLang="en-US" sz="1200" b="0" i="0" kern="1200" dirty="0">
                <a:solidFill>
                  <a:schemeClr val="tx1"/>
                </a:solidFill>
                <a:effectLst/>
                <a:latin typeface="+mn-lt"/>
                <a:ea typeface="+mn-ea"/>
                <a:cs typeface="+mn-cs"/>
              </a:rPr>
              <a:t>、半导体领域的公司；加仓苹果、中概（中通、腾讯音乐、好未来、阿里等）</a:t>
            </a:r>
            <a:endParaRPr lang="zh-CN" altLang="en-US" b="0"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3C92AF0-049C-4B8D-9633-30172B7CC5D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a:effectLst/>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3C92AF0-049C-4B8D-9633-30172B7CC5D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FE74612-5D05-4E95-9A52-CCD22BF977BF}"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客户怕踏空中国资产，</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内容页_4">
    <p:bg>
      <p:bgRef idx="1001">
        <a:schemeClr val="bg1"/>
      </p:bgRef>
    </p:bg>
    <p:spTree>
      <p:nvGrpSpPr>
        <p:cNvPr id="1" name=""/>
        <p:cNvGrpSpPr/>
        <p:nvPr/>
      </p:nvGrpSpPr>
      <p:grpSpPr>
        <a:xfrm>
          <a:off x="0" y="0"/>
          <a:ext cx="0" cy="0"/>
          <a:chOff x="0" y="0"/>
          <a:chExt cx="0" cy="0"/>
        </a:xfrm>
      </p:grpSpPr>
      <p:sp>
        <p:nvSpPr>
          <p:cNvPr id="2" name="文本占位符 7"/>
          <p:cNvSpPr>
            <a:spLocks noGrp="1"/>
          </p:cNvSpPr>
          <p:nvPr>
            <p:ph type="body" sz="quarter" idx="10" hasCustomPrompt="1"/>
          </p:nvPr>
        </p:nvSpPr>
        <p:spPr>
          <a:xfrm>
            <a:off x="322121" y="256674"/>
            <a:ext cx="3511942" cy="418834"/>
          </a:xfrm>
          <a:prstGeom prst="rect">
            <a:avLst/>
          </a:prstGeom>
          <a:ln w="12700" cmpd="sng">
            <a:noFill/>
          </a:ln>
        </p:spPr>
        <p:txBody>
          <a:bodyPr vert="horz" anchor="t"/>
          <a:lstStyle>
            <a:lvl1pPr marL="0" indent="0" algn="l">
              <a:buNone/>
              <a:defRPr sz="2400" b="1">
                <a:solidFill>
                  <a:schemeClr val="accent1"/>
                </a:solidFill>
              </a:defRPr>
            </a:lvl1pPr>
          </a:lstStyle>
          <a:p>
            <a:pPr lvl="0"/>
            <a:r>
              <a:rPr kumimoji="1" lang="en-US" altLang="zh-CN"/>
              <a:t>PART</a:t>
            </a:r>
            <a:endParaRPr kumimoji="1" lang="zh-CN" altLang="en-US" dirty="0"/>
          </a:p>
        </p:txBody>
      </p:sp>
      <p:sp>
        <p:nvSpPr>
          <p:cNvPr id="3" name="文本占位符 7"/>
          <p:cNvSpPr>
            <a:spLocks noGrp="1"/>
          </p:cNvSpPr>
          <p:nvPr>
            <p:ph type="body" sz="quarter" idx="11" hasCustomPrompt="1"/>
          </p:nvPr>
        </p:nvSpPr>
        <p:spPr>
          <a:xfrm>
            <a:off x="322121" y="675508"/>
            <a:ext cx="3511942" cy="529569"/>
          </a:xfrm>
          <a:prstGeom prst="rect">
            <a:avLst/>
          </a:prstGeom>
          <a:ln w="12700" cmpd="sng">
            <a:noFill/>
          </a:ln>
        </p:spPr>
        <p:txBody>
          <a:bodyPr vert="horz" anchor="t"/>
          <a:lstStyle>
            <a:lvl1pPr marL="0" marR="0" indent="0" algn="l" defTabSz="609600" rtl="0" eaLnBrk="1" fontAlgn="auto" latinLnBrk="0" hangingPunct="1">
              <a:lnSpc>
                <a:spcPct val="100000"/>
              </a:lnSpc>
              <a:spcBef>
                <a:spcPts val="0"/>
              </a:spcBef>
              <a:spcAft>
                <a:spcPts val="0"/>
              </a:spcAft>
              <a:buClrTx/>
              <a:buSzTx/>
              <a:buFontTx/>
              <a:buNone/>
              <a:defRPr sz="2400" b="1">
                <a:solidFill>
                  <a:schemeClr val="tx2"/>
                </a:solidFill>
                <a:latin typeface="微软雅黑" panose="020B0503020204020204" charset="-122"/>
                <a:ea typeface="微软雅黑" panose="020B0503020204020204" charset="-122"/>
                <a:cs typeface="微软雅黑" panose="020B0503020204020204" charset="-122"/>
              </a:defRPr>
            </a:lvl1pPr>
          </a:lstStyle>
          <a:p>
            <a:pPr marL="0" marR="0" lvl="0" indent="0" algn="l" defTabSz="609600" rtl="0" eaLnBrk="1" fontAlgn="auto" latinLnBrk="0" hangingPunct="1">
              <a:lnSpc>
                <a:spcPct val="100000"/>
              </a:lnSpc>
              <a:spcBef>
                <a:spcPts val="0"/>
              </a:spcBef>
              <a:spcAft>
                <a:spcPts val="0"/>
              </a:spcAft>
              <a:buClrTx/>
              <a:buSzTx/>
              <a:buFontTx/>
              <a:buNone/>
              <a:defRPr/>
            </a:pPr>
            <a:r>
              <a:rPr kumimoji="1" lang="zh-CN" altLang="en-US" sz="3200" b="1" i="0" u="none" strike="noStrike" kern="1200" cap="none" spc="0" normalizeH="0" baseline="0" noProof="0" dirty="0">
                <a:ln>
                  <a:noFill/>
                </a:ln>
                <a:solidFill>
                  <a:srgbClr val="29303A"/>
                </a:solidFill>
                <a:effectLst/>
                <a:uLnTx/>
                <a:uFillTx/>
                <a:latin typeface="+mn-lt"/>
                <a:ea typeface="微软雅黑" panose="020B0503020204020204" charset="-122"/>
                <a:cs typeface="+mn-cs"/>
              </a:rPr>
              <a:t>点击此处添加标题</a:t>
            </a:r>
            <a:endParaRPr kumimoji="1" lang="en-US" altLang="zh-CN" sz="3200" b="1" i="0" u="none" strike="noStrike" kern="1200" cap="none" spc="0" normalizeH="0" baseline="0" noProof="0" dirty="0">
              <a:ln>
                <a:noFill/>
              </a:ln>
              <a:solidFill>
                <a:srgbClr val="29303A"/>
              </a:solidFill>
              <a:effectLst/>
              <a:uLnTx/>
              <a:uFillTx/>
              <a:latin typeface="+mn-lt"/>
              <a:ea typeface="微软雅黑" panose="020B0503020204020204" charset="-122"/>
              <a:cs typeface="+mn-cs"/>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2290234" y="274638"/>
            <a:ext cx="9292167" cy="690562"/>
          </a:xfrm>
        </p:spPr>
        <p:txBody>
          <a:bodyPr/>
          <a:lstStyle/>
          <a:p>
            <a:r>
              <a:rPr lang="en-US"/>
              <a:t>Click to edit Master title style</a:t>
            </a:r>
            <a:endParaRPr lang="en-US"/>
          </a:p>
        </p:txBody>
      </p:sp>
      <p:sp>
        <p:nvSpPr>
          <p:cNvPr id="3" name="Text Placeholder 2"/>
          <p:cNvSpPr>
            <a:spLocks noGrp="1"/>
          </p:cNvSpPr>
          <p:nvPr>
            <p:ph type="body" sz="half" idx="1"/>
          </p:nvPr>
        </p:nvSpPr>
        <p:spPr>
          <a:xfrm>
            <a:off x="2290234" y="1365250"/>
            <a:ext cx="4544484" cy="428625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lipArt Placeholder 3"/>
          <p:cNvSpPr>
            <a:spLocks noGrp="1"/>
          </p:cNvSpPr>
          <p:nvPr>
            <p:ph type="clipArt" sz="half" idx="2"/>
          </p:nvPr>
        </p:nvSpPr>
        <p:spPr>
          <a:xfrm>
            <a:off x="7037917" y="1365250"/>
            <a:ext cx="4544483" cy="4286250"/>
          </a:xfrm>
        </p:spPr>
        <p:txBody>
          <a:bodyPr/>
          <a:lstStyle/>
          <a:p>
            <a:pPr lvl="0"/>
            <a:endParaRPr lang="en-US" noProof="0"/>
          </a:p>
        </p:txBody>
      </p:sp>
      <p:sp>
        <p:nvSpPr>
          <p:cNvPr id="5" name="Rectangle 6"/>
          <p:cNvSpPr>
            <a:spLocks noGrp="1" noChangeArrowheads="1"/>
          </p:cNvSpPr>
          <p:nvPr>
            <p:ph type="sldNum" sz="quarter" idx="10"/>
          </p:nvPr>
        </p:nvSpPr>
        <p:spPr/>
        <p:txBody>
          <a:bodyPr/>
          <a:lstStyle>
            <a:lvl1pPr>
              <a:defRPr/>
            </a:lvl1pPr>
          </a:lstStyle>
          <a:p>
            <a:fld id="{A2F25D86-1EB1-4CB0-9AD0-0726CE947CE3}" type="slidenum">
              <a:rPr lang="en-US" altLang="en-US"/>
            </a:fld>
            <a:endParaRPr lang="en-US" altLang="en-US"/>
          </a:p>
        </p:txBody>
      </p:sp>
    </p:spTree>
  </p:cSld>
  <p:clrMapOvr>
    <a:masterClrMapping/>
  </p:clrMapOvr>
  <p:transition>
    <p:zoom/>
    <p:sndAc>
      <p:stSnd>
        <p:snd r:embed="rId2" name="chimes.wav"/>
      </p:stSnd>
    </p:sndAc>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
        <p:nvSpPr>
          <p:cNvPr id="9" name="页脚占位符 4"/>
          <p:cNvSpPr txBox="1"/>
          <p:nvPr userDrawn="1"/>
        </p:nvSpPr>
        <p:spPr>
          <a:xfrm>
            <a:off x="294120" y="6399530"/>
            <a:ext cx="10510982" cy="228599"/>
          </a:xfrm>
          <a:prstGeom prst="rect">
            <a:avLst/>
          </a:prstGeom>
        </p:spPr>
        <p:txBody>
          <a:bodyPr vert="horz" lIns="91440" tIns="45720" rIns="91440" bIns="45720" rtlCol="0" anchor="ctr"/>
          <a:lstStyle>
            <a:defPPr>
              <a:defRPr lang="zh-CN"/>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dirty="0" smtClean="0">
                <a:solidFill>
                  <a:srgbClr val="FF0000"/>
                </a:solidFill>
              </a:rPr>
              <a:t>本文件僅供内部員工培訓之用，文件所含資訊均屬保密信息，未經</a:t>
            </a:r>
            <a:r>
              <a:rPr lang="en-US" altLang="zh-CN" sz="1200" dirty="0" smtClean="0">
                <a:solidFill>
                  <a:srgbClr val="FF0000"/>
                </a:solidFill>
              </a:rPr>
              <a:t>Ark HK</a:t>
            </a:r>
            <a:r>
              <a:rPr lang="zh-CN" altLang="en-US" sz="1200" dirty="0" smtClean="0">
                <a:solidFill>
                  <a:srgbClr val="FF0000"/>
                </a:solidFill>
              </a:rPr>
              <a:t>書面許可，任何機構或個人不得以任何形式複製、傳播或引用。</a:t>
            </a:r>
            <a:endParaRPr lang="en-US" altLang="zh-CN" sz="1200" dirty="0" smtClean="0">
              <a:solidFill>
                <a:srgbClr val="FF0000"/>
              </a:solidFill>
            </a:endParaRPr>
          </a:p>
          <a:p>
            <a:pPr algn="ctr"/>
            <a:r>
              <a:rPr lang="zh-CN" altLang="en-US" sz="1200" dirty="0" smtClean="0">
                <a:solidFill>
                  <a:srgbClr val="FF0000"/>
                </a:solidFill>
              </a:rPr>
              <a:t>投資涉及風險，過往業績不代表或不保證將來的表現。</a:t>
            </a:r>
            <a:endParaRPr lang="zh-CN" altLang="en-US" sz="1200" dirty="0" smtClean="0">
              <a:solidFill>
                <a:srgbClr val="FF000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tags" Target="../tags/tag2.xml"/><Relationship Id="rId2" Type="http://schemas.openxmlformats.org/officeDocument/2006/relationships/image" Target="../media/image1.pn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chart" Target="../charts/chart4.xml"/><Relationship Id="rId1" Type="http://schemas.openxmlformats.org/officeDocument/2006/relationships/chart" Target="../charts/chart3.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chart" Target="../charts/chart6.xml"/><Relationship Id="rId1" Type="http://schemas.openxmlformats.org/officeDocument/2006/relationships/chart" Target="../charts/char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chart" Target="../charts/char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chart" Target="../charts/chart11.xml"/><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chart" Target="../charts/chart8.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6.xml"/><Relationship Id="rId2" Type="http://schemas.openxmlformats.org/officeDocument/2006/relationships/image" Target="../media/image5.emf"/><Relationship Id="rId1" Type="http://schemas.openxmlformats.org/officeDocument/2006/relationships/chart" Target="../charts/chart12.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7.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chart" Target="../charts/chart13.xml"/></Relationships>
</file>

<file path=ppt/slides/_rels/slide20.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chart" Target="../charts/chart16.xml"/><Relationship Id="rId2" Type="http://schemas.openxmlformats.org/officeDocument/2006/relationships/chart" Target="../charts/chart15.xml"/><Relationship Id="rId12" Type="http://schemas.openxmlformats.org/officeDocument/2006/relationships/slideLayout" Target="../slideLayouts/slideLayout7.xml"/><Relationship Id="rId11" Type="http://schemas.openxmlformats.org/officeDocument/2006/relationships/tags" Target="../tags/tag16.xml"/><Relationship Id="rId10" Type="http://schemas.openxmlformats.org/officeDocument/2006/relationships/tags" Target="../tags/tag15.xml"/><Relationship Id="rId1" Type="http://schemas.openxmlformats.org/officeDocument/2006/relationships/chart" Target="../charts/chart14.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chart" Target="../charts/chart19.xml"/><Relationship Id="rId2" Type="http://schemas.openxmlformats.org/officeDocument/2006/relationships/chart" Target="../charts/chart18.xml"/><Relationship Id="rId1" Type="http://schemas.openxmlformats.org/officeDocument/2006/relationships/chart" Target="../charts/chart17.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chart" Target="../charts/chart21.xml"/><Relationship Id="rId1" Type="http://schemas.openxmlformats.org/officeDocument/2006/relationships/chart" Target="../charts/chart20.xml"/></Relationships>
</file>

<file path=ppt/slides/_rels/slide23.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7.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txBox="1"/>
          <p:nvPr/>
        </p:nvSpPr>
        <p:spPr>
          <a:xfrm>
            <a:off x="1072662" y="4814398"/>
            <a:ext cx="2017712" cy="62229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000" dirty="0" smtClean="0">
                <a:latin typeface="等线" panose="02010600030101010101" charset="-122"/>
                <a:ea typeface="等线" panose="02010600030101010101" charset="-122"/>
                <a:cs typeface="等线" panose="02010600030101010101" charset="-122"/>
              </a:rPr>
              <a:t>2025</a:t>
            </a:r>
            <a:r>
              <a:rPr lang="zh-CN" altLang="en-US" sz="2000" dirty="0" smtClean="0">
                <a:latin typeface="等线" panose="02010600030101010101" charset="-122"/>
                <a:ea typeface="等线" panose="02010600030101010101" charset="-122"/>
                <a:cs typeface="等线" panose="02010600030101010101" charset="-122"/>
              </a:rPr>
              <a:t>年</a:t>
            </a:r>
            <a:r>
              <a:rPr lang="en-US" altLang="zh-CN" sz="2000" dirty="0" smtClean="0">
                <a:latin typeface="等线" panose="02010600030101010101" charset="-122"/>
                <a:ea typeface="等线" panose="02010600030101010101" charset="-122"/>
                <a:cs typeface="等线" panose="02010600030101010101" charset="-122"/>
              </a:rPr>
              <a:t>2</a:t>
            </a:r>
            <a:r>
              <a:rPr lang="zh-CN" altLang="en-US" sz="2000" dirty="0" smtClean="0">
                <a:latin typeface="等线" panose="02010600030101010101" charset="-122"/>
                <a:ea typeface="等线" panose="02010600030101010101" charset="-122"/>
                <a:cs typeface="等线" panose="02010600030101010101" charset="-122"/>
              </a:rPr>
              <a:t>月</a:t>
            </a:r>
            <a:endParaRPr lang="zh-CN" altLang="en-US" sz="2000" dirty="0">
              <a:latin typeface="等线" panose="02010600030101010101" charset="-122"/>
              <a:ea typeface="等线" panose="02010600030101010101" charset="-122"/>
              <a:cs typeface="等线" panose="02010600030101010101" charset="-122"/>
            </a:endParaRPr>
          </a:p>
        </p:txBody>
      </p:sp>
      <p:sp>
        <p:nvSpPr>
          <p:cNvPr id="3" name="文本占位符 2"/>
          <p:cNvSpPr txBox="1"/>
          <p:nvPr/>
        </p:nvSpPr>
        <p:spPr>
          <a:xfrm>
            <a:off x="956309" y="1644708"/>
            <a:ext cx="10454468" cy="30460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200" b="1" dirty="0">
                <a:latin typeface="等线" panose="02010600030101010101" charset="-122"/>
                <a:ea typeface="等线" panose="02010600030101010101" charset="-122"/>
                <a:cs typeface="等线" panose="02010600030101010101" charset="-122"/>
              </a:rPr>
              <a:t>Greenwoods Focused opportunities Fund</a:t>
            </a:r>
            <a:endParaRPr lang="en-US" altLang="zh-CN" sz="3200" b="1" dirty="0">
              <a:latin typeface="等线" panose="02010600030101010101" charset="-122"/>
              <a:ea typeface="等线" panose="02010600030101010101" charset="-122"/>
              <a:cs typeface="等线" panose="02010600030101010101" charset="-122"/>
            </a:endParaRPr>
          </a:p>
          <a:p>
            <a:pPr marL="0" indent="0">
              <a:buNone/>
            </a:pPr>
            <a:r>
              <a:rPr lang="zh-CN" sz="3200" b="1" dirty="0">
                <a:latin typeface="等线" panose="02010600030101010101" charset="-122"/>
                <a:ea typeface="等线" panose="02010600030101010101" charset="-122"/>
                <a:cs typeface="等线" panose="02010600030101010101" charset="-122"/>
              </a:rPr>
              <a:t>景林环球</a:t>
            </a:r>
            <a:r>
              <a:rPr lang="zh-CN" altLang="en-US" sz="3200" b="1" dirty="0" smtClean="0">
                <a:latin typeface="等线" panose="02010600030101010101" charset="-122"/>
                <a:ea typeface="等线" panose="02010600030101010101" charset="-122"/>
                <a:cs typeface="等线" panose="02010600030101010101" charset="-122"/>
              </a:rPr>
              <a:t>基金</a:t>
            </a:r>
            <a:endParaRPr lang="zh-CN" altLang="en-US" sz="3200" b="1" dirty="0" smtClean="0">
              <a:latin typeface="等线" panose="02010600030101010101" charset="-122"/>
              <a:ea typeface="等线" panose="02010600030101010101" charset="-122"/>
              <a:cs typeface="等线" panose="02010600030101010101" charset="-122"/>
            </a:endParaRPr>
          </a:p>
          <a:p>
            <a:pPr marL="0" indent="0">
              <a:buNone/>
            </a:pPr>
            <a:endParaRPr lang="zh-CN" altLang="en-US" sz="3200" b="1" dirty="0">
              <a:latin typeface="等线" panose="02010600030101010101" charset="-122"/>
              <a:ea typeface="等线" panose="02010600030101010101" charset="-122"/>
              <a:cs typeface="等线" panose="02010600030101010101" charset="-122"/>
            </a:endParaRPr>
          </a:p>
          <a:p>
            <a:pPr marL="0" indent="0">
              <a:buNone/>
            </a:pPr>
            <a:r>
              <a:rPr lang="zh-CN" sz="3200" b="1" dirty="0" smtClean="0">
                <a:latin typeface="等线" panose="02010600030101010101" charset="-122"/>
                <a:ea typeface="等线" panose="02010600030101010101" charset="-122"/>
                <a:cs typeface="等线" panose="02010600030101010101" charset="-122"/>
              </a:rPr>
              <a:t>内部培训材料</a:t>
            </a:r>
            <a:endParaRPr lang="zh-CN" sz="3200" b="1"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1346200" y="2599055"/>
            <a:ext cx="9184640" cy="829945"/>
          </a:xfrm>
          <a:prstGeom prst="roundRect">
            <a:avLst/>
          </a:prstGeom>
          <a:solidFill>
            <a:schemeClr val="bg1">
              <a:lumMod val="9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圆角矩形 3"/>
          <p:cNvSpPr/>
          <p:nvPr/>
        </p:nvSpPr>
        <p:spPr>
          <a:xfrm>
            <a:off x="1346200" y="1136015"/>
            <a:ext cx="9184640" cy="829945"/>
          </a:xfrm>
          <a:prstGeom prst="roundRect">
            <a:avLst/>
          </a:prstGeom>
          <a:solidFill>
            <a:schemeClr val="bg1">
              <a:lumMod val="9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文本框 6"/>
          <p:cNvSpPr txBox="1"/>
          <p:nvPr/>
        </p:nvSpPr>
        <p:spPr>
          <a:xfrm>
            <a:off x="1472565" y="1091565"/>
            <a:ext cx="9158605" cy="3046095"/>
          </a:xfrm>
          <a:prstGeom prst="rect">
            <a:avLst/>
          </a:prstGeom>
          <a:noFill/>
        </p:spPr>
        <p:txBody>
          <a:bodyPr wrap="square" rtlCol="0">
            <a:spAutoFit/>
          </a:bodyPr>
          <a:lstStyle/>
          <a:p>
            <a:pPr marL="342900" indent="-342900" algn="l">
              <a:lnSpc>
                <a:spcPct val="150000"/>
              </a:lnSpc>
              <a:buClrTx/>
              <a:buSzTx/>
              <a:buFont typeface="+mj-lt"/>
              <a:buAutoNum type="arabicPeriod"/>
            </a:pPr>
            <a:r>
              <a:rPr lang="zh-CN" altLang="en-US" sz="1600" b="1" spc="-10" dirty="0" smtClean="0">
                <a:solidFill>
                  <a:srgbClr val="C00000"/>
                </a:solidFill>
                <a:latin typeface="等线" panose="02010600030101010101" charset="-122"/>
                <a:ea typeface="等线" panose="02010600030101010101" charset="-122"/>
                <a:cs typeface="等线" panose="02010600030101010101" charset="-122"/>
                <a:sym typeface="+mn-lt"/>
              </a:rPr>
              <a:t>投资范围更全面</a:t>
            </a:r>
            <a:r>
              <a:rPr lang="zh-CN" altLang="en-US" sz="1600" b="1" dirty="0">
                <a:latin typeface="等线" panose="02010600030101010101" charset="-122"/>
                <a:ea typeface="等线" panose="02010600030101010101" charset="-122"/>
                <a:cs typeface="等线" panose="02010600030101010101" charset="-122"/>
                <a:sym typeface="+mn-ea"/>
              </a:rPr>
              <a:t>：老基金投资目标限制以中国资产为主，通常不低于</a:t>
            </a:r>
            <a:r>
              <a:rPr lang="en-US" altLang="zh-CN" sz="1600" b="1" dirty="0">
                <a:latin typeface="等线" panose="02010600030101010101" charset="-122"/>
                <a:ea typeface="等线" panose="02010600030101010101" charset="-122"/>
                <a:cs typeface="等线" panose="02010600030101010101" charset="-122"/>
                <a:sym typeface="+mn-ea"/>
              </a:rPr>
              <a:t>8</a:t>
            </a:r>
            <a:r>
              <a:rPr lang="zh-CN" altLang="en-US" sz="1600" b="1" dirty="0">
                <a:latin typeface="等线" panose="02010600030101010101" charset="-122"/>
                <a:ea typeface="等线" panose="02010600030101010101" charset="-122"/>
                <a:cs typeface="等线" panose="02010600030101010101" charset="-122"/>
                <a:sym typeface="+mn-ea"/>
              </a:rPr>
              <a:t>成的中国资产；新</a:t>
            </a:r>
            <a:r>
              <a:rPr lang="zh-CN" altLang="en-US" sz="1600" b="1" spc="-10" dirty="0">
                <a:latin typeface="等线" panose="02010600030101010101" charset="-122"/>
                <a:ea typeface="等线" panose="02010600030101010101" charset="-122"/>
                <a:cs typeface="等线" panose="02010600030101010101" charset="-122"/>
                <a:sym typeface="+mn-lt"/>
              </a:rPr>
              <a:t>基金全球多空布局，多地域多资产，投资美股及其他非中国资产长期目标中枢在</a:t>
            </a:r>
            <a:r>
              <a:rPr lang="en-US" altLang="zh-CN" sz="1600" b="1" spc="-10" dirty="0">
                <a:latin typeface="等线" panose="02010600030101010101" charset="-122"/>
                <a:ea typeface="等线" panose="02010600030101010101" charset="-122"/>
                <a:cs typeface="等线" panose="02010600030101010101" charset="-122"/>
                <a:sym typeface="+mn-lt"/>
              </a:rPr>
              <a:t>5</a:t>
            </a:r>
            <a:r>
              <a:rPr lang="zh-CN" altLang="en-US" sz="1600" b="1" spc="-10" dirty="0">
                <a:latin typeface="等线" panose="02010600030101010101" charset="-122"/>
                <a:ea typeface="等线" panose="02010600030101010101" charset="-122"/>
                <a:cs typeface="等线" panose="02010600030101010101" charset="-122"/>
                <a:sym typeface="+mn-lt"/>
              </a:rPr>
              <a:t>成以上</a:t>
            </a:r>
            <a:endParaRPr lang="zh-CN" altLang="en-US" sz="1600" b="1" spc="-10" dirty="0">
              <a:latin typeface="等线" panose="02010600030101010101" charset="-122"/>
              <a:ea typeface="等线" panose="02010600030101010101" charset="-122"/>
              <a:cs typeface="等线" panose="02010600030101010101" charset="-122"/>
              <a:sym typeface="+mn-lt"/>
            </a:endParaRPr>
          </a:p>
          <a:p>
            <a:pPr marL="342900" indent="-342900" algn="l">
              <a:lnSpc>
                <a:spcPct val="150000"/>
              </a:lnSpc>
              <a:buClrTx/>
              <a:buSzTx/>
              <a:buFont typeface="+mj-lt"/>
              <a:buAutoNum type="arabicPeriod"/>
            </a:pPr>
            <a:endParaRPr lang="zh-CN" altLang="en-US" sz="1600" b="1" spc="-10" dirty="0">
              <a:latin typeface="等线" panose="02010600030101010101" charset="-122"/>
              <a:ea typeface="等线" panose="02010600030101010101" charset="-122"/>
              <a:cs typeface="等线" panose="02010600030101010101" charset="-122"/>
              <a:sym typeface="+mn-lt"/>
            </a:endParaRPr>
          </a:p>
          <a:p>
            <a:pPr marL="342900" indent="-342900" algn="l">
              <a:lnSpc>
                <a:spcPct val="150000"/>
              </a:lnSpc>
              <a:buClrTx/>
              <a:buSzTx/>
              <a:buFont typeface="+mj-lt"/>
              <a:buAutoNum type="arabicPeriod"/>
            </a:pPr>
            <a:endParaRPr lang="zh-CN" altLang="en-US" sz="1600" b="1" spc="-10" dirty="0">
              <a:latin typeface="等线" panose="02010600030101010101" charset="-122"/>
              <a:ea typeface="等线" panose="02010600030101010101" charset="-122"/>
              <a:cs typeface="等线" panose="02010600030101010101" charset="-122"/>
              <a:sym typeface="+mn-lt"/>
            </a:endParaRPr>
          </a:p>
          <a:p>
            <a:pPr marL="342900" indent="-342900" algn="l">
              <a:lnSpc>
                <a:spcPct val="150000"/>
              </a:lnSpc>
              <a:buClrTx/>
              <a:buSzTx/>
              <a:buFont typeface="+mj-lt"/>
              <a:buAutoNum type="arabicPeriod"/>
            </a:pPr>
            <a:r>
              <a:rPr lang="zh-CN" altLang="en-US" sz="1600" b="1" spc="-10" dirty="0" smtClean="0">
                <a:solidFill>
                  <a:srgbClr val="C00000"/>
                </a:solidFill>
                <a:latin typeface="等线" panose="02010600030101010101" charset="-122"/>
                <a:ea typeface="等线" panose="02010600030101010101" charset="-122"/>
                <a:cs typeface="等线" panose="02010600030101010101" charset="-122"/>
                <a:sym typeface="+mn-ea"/>
              </a:rPr>
              <a:t>投资业绩更优秀：</a:t>
            </a:r>
            <a:r>
              <a:rPr lang="zh-CN" altLang="en-US" sz="1600" b="1" dirty="0">
                <a:latin typeface="等线" panose="02010600030101010101" charset="-122"/>
                <a:ea typeface="等线" panose="02010600030101010101" charset="-122"/>
                <a:cs typeface="等线" panose="02010600030101010101" charset="-122"/>
                <a:sym typeface="+mn-ea"/>
              </a:rPr>
              <a:t>从2020年8月到2024年12月，金色中国刚回本（+1.86%），景林环球已翻倍（+104.36%），</a:t>
            </a:r>
            <a:r>
              <a:rPr lang="zh-CN" sz="1600" b="1" dirty="0">
                <a:latin typeface="等线" panose="02010600030101010101" charset="-122"/>
                <a:ea typeface="等线" panose="02010600030101010101" charset="-122"/>
                <a:cs typeface="等线" panose="02010600030101010101" charset="-122"/>
                <a:sym typeface="+mn-ea"/>
              </a:rPr>
              <a:t>风险收益比进一步优化（从</a:t>
            </a:r>
            <a:r>
              <a:rPr lang="en-US" altLang="zh-CN" sz="1600" b="1" dirty="0">
                <a:latin typeface="等线" panose="02010600030101010101" charset="-122"/>
                <a:ea typeface="等线" panose="02010600030101010101" charset="-122"/>
                <a:cs typeface="等线" panose="02010600030101010101" charset="-122"/>
                <a:sym typeface="+mn-ea"/>
              </a:rPr>
              <a:t>0.05</a:t>
            </a:r>
            <a:r>
              <a:rPr lang="zh-CN" altLang="en-US" sz="1600" b="1" dirty="0">
                <a:latin typeface="等线" panose="02010600030101010101" charset="-122"/>
                <a:ea typeface="等线" panose="02010600030101010101" charset="-122"/>
                <a:cs typeface="等线" panose="02010600030101010101" charset="-122"/>
                <a:sym typeface="+mn-ea"/>
              </a:rPr>
              <a:t>到</a:t>
            </a:r>
            <a:r>
              <a:rPr lang="en-US" altLang="zh-CN" sz="1600" b="1" dirty="0">
                <a:latin typeface="等线" panose="02010600030101010101" charset="-122"/>
                <a:ea typeface="等线" panose="02010600030101010101" charset="-122"/>
                <a:cs typeface="等线" panose="02010600030101010101" charset="-122"/>
                <a:sym typeface="+mn-ea"/>
              </a:rPr>
              <a:t>0.90</a:t>
            </a:r>
            <a:r>
              <a:rPr lang="zh-CN" sz="1600" b="1" dirty="0">
                <a:latin typeface="等线" panose="02010600030101010101" charset="-122"/>
                <a:ea typeface="等线" panose="02010600030101010101" charset="-122"/>
                <a:cs typeface="等线" panose="02010600030101010101" charset="-122"/>
                <a:sym typeface="+mn-ea"/>
              </a:rPr>
              <a:t>）</a:t>
            </a:r>
            <a:endParaRPr lang="zh-CN" altLang="en-US" sz="1600" b="1" dirty="0">
              <a:latin typeface="等线" panose="02010600030101010101" charset="-122"/>
              <a:ea typeface="等线" panose="02010600030101010101" charset="-122"/>
              <a:cs typeface="等线" panose="02010600030101010101" charset="-122"/>
              <a:sym typeface="+mn-ea"/>
            </a:endParaRPr>
          </a:p>
          <a:p>
            <a:pPr marL="342900" indent="-342900" algn="l">
              <a:lnSpc>
                <a:spcPct val="150000"/>
              </a:lnSpc>
              <a:buClrTx/>
              <a:buSzTx/>
              <a:buFont typeface="+mj-lt"/>
              <a:buAutoNum type="arabicPeriod"/>
            </a:pPr>
            <a:endParaRPr lang="zh-CN" altLang="en-US" sz="1600" b="1" spc="-10" dirty="0" smtClean="0">
              <a:solidFill>
                <a:srgbClr val="C00000"/>
              </a:solidFill>
              <a:latin typeface="等线" panose="02010600030101010101" charset="-122"/>
              <a:ea typeface="等线" panose="02010600030101010101" charset="-122"/>
              <a:cs typeface="等线" panose="02010600030101010101" charset="-122"/>
              <a:sym typeface="+mn-lt"/>
            </a:endParaRPr>
          </a:p>
          <a:p>
            <a:pPr indent="0">
              <a:lnSpc>
                <a:spcPct val="150000"/>
              </a:lnSpc>
              <a:buFont typeface="+mj-lt"/>
              <a:buNone/>
            </a:pPr>
            <a:endParaRPr lang="zh-CN" altLang="en-US" sz="1600" b="1" spc="-10" dirty="0" smtClean="0">
              <a:solidFill>
                <a:srgbClr val="C00000"/>
              </a:solidFill>
              <a:latin typeface="等线" panose="02010600030101010101" charset="-122"/>
              <a:ea typeface="等线" panose="02010600030101010101" charset="-122"/>
              <a:cs typeface="等线" panose="02010600030101010101" charset="-122"/>
              <a:sym typeface="+mn-lt"/>
            </a:endParaRPr>
          </a:p>
        </p:txBody>
      </p:sp>
      <p:sp>
        <p:nvSpPr>
          <p:cNvPr id="8" name="矩形 7"/>
          <p:cNvSpPr/>
          <p:nvPr/>
        </p:nvSpPr>
        <p:spPr>
          <a:xfrm>
            <a:off x="3442970" y="462915"/>
            <a:ext cx="6111240" cy="460375"/>
          </a:xfrm>
          <a:prstGeom prst="rect">
            <a:avLst/>
          </a:prstGeom>
          <a:noFill/>
        </p:spPr>
        <p:txBody>
          <a:bodyPr wrap="square" rtlCol="0">
            <a:spAutoFit/>
          </a:bodyPr>
          <a:lstStyle/>
          <a:p>
            <a:r>
              <a:rPr lang="zh-CN" altLang="en-US" sz="2400" b="1" dirty="0" smtClean="0">
                <a:solidFill>
                  <a:srgbClr val="C00000"/>
                </a:solidFill>
                <a:latin typeface="等线" panose="02010600030101010101" charset="-122"/>
                <a:ea typeface="等线" panose="02010600030101010101" charset="-122"/>
                <a:cs typeface="+mn-ea"/>
              </a:rPr>
              <a:t>当前推进</a:t>
            </a:r>
            <a:r>
              <a:rPr lang="zh-CN" altLang="en-US" sz="2400" b="1" dirty="0">
                <a:solidFill>
                  <a:srgbClr val="C00000"/>
                </a:solidFill>
                <a:latin typeface="等线" panose="02010600030101010101" charset="-122"/>
                <a:ea typeface="等线" panose="02010600030101010101" charset="-122"/>
                <a:sym typeface="+mn-ea"/>
              </a:rPr>
              <a:t>景林新基金</a:t>
            </a:r>
            <a:r>
              <a:rPr lang="zh-CN" altLang="en-US" sz="2400" b="1" dirty="0" smtClean="0">
                <a:solidFill>
                  <a:srgbClr val="C00000"/>
                </a:solidFill>
                <a:latin typeface="等线" panose="02010600030101010101" charset="-122"/>
                <a:ea typeface="等线" panose="02010600030101010101" charset="-122"/>
                <a:cs typeface="+mn-ea"/>
              </a:rPr>
              <a:t>的背景原因</a:t>
            </a:r>
            <a:endParaRPr lang="zh-CN" altLang="en-US" sz="2400" b="1" dirty="0" smtClean="0">
              <a:solidFill>
                <a:srgbClr val="C00000"/>
              </a:solidFill>
              <a:latin typeface="等线" panose="02010600030101010101" charset="-122"/>
              <a:ea typeface="等线" panose="02010600030101010101" charset="-122"/>
              <a:cs typeface="+mn-ea"/>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custDataLst>
              <p:tags r:id="rId1"/>
            </p:custDataLst>
          </p:nvPr>
        </p:nvSpPr>
        <p:spPr>
          <a:xfrm rot="5400000">
            <a:off x="1957081" y="-396767"/>
            <a:ext cx="76200" cy="25082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等线" panose="02010600030101010101" charset="-122"/>
              <a:ea typeface="等线" panose="02010600030101010101" charset="-122"/>
            </a:endParaRPr>
          </a:p>
        </p:txBody>
      </p:sp>
      <p:pic>
        <p:nvPicPr>
          <p:cNvPr id="4" name="图片 3" descr="未标题-1"/>
          <p:cNvPicPr>
            <a:picLocks noChangeAspect="1"/>
          </p:cNvPicPr>
          <p:nvPr/>
        </p:nvPicPr>
        <p:blipFill>
          <a:blip r:embed="rId2"/>
          <a:stretch>
            <a:fillRect/>
          </a:stretch>
        </p:blipFill>
        <p:spPr>
          <a:xfrm>
            <a:off x="11133455" y="295910"/>
            <a:ext cx="771525" cy="187960"/>
          </a:xfrm>
          <a:prstGeom prst="rect">
            <a:avLst/>
          </a:prstGeom>
        </p:spPr>
      </p:pic>
      <p:sp>
        <p:nvSpPr>
          <p:cNvPr id="5" name="标题 1"/>
          <p:cNvSpPr txBox="1"/>
          <p:nvPr/>
        </p:nvSpPr>
        <p:spPr>
          <a:xfrm>
            <a:off x="511755" y="206827"/>
            <a:ext cx="8229600" cy="521970"/>
          </a:xfrm>
          <a:prstGeom prst="rect">
            <a:avLst/>
          </a:prstGeom>
          <a:noFill/>
        </p:spPr>
        <p:txBody>
          <a:bodyPr vert="horz" wrap="square" lIns="91440" tIns="45720" rIns="91440" bIns="45720" rtlCol="0" anchor="ctr">
            <a:spAutoFit/>
          </a:bodyPr>
          <a:lstStyle>
            <a:defPPr>
              <a:defRPr lang="en-US"/>
            </a:defPPr>
            <a:lvl1pPr>
              <a:lnSpc>
                <a:spcPct val="90000"/>
              </a:lnSpc>
              <a:spcBef>
                <a:spcPct val="0"/>
              </a:spcBef>
              <a:buNone/>
              <a:defRPr sz="2800" b="1">
                <a:solidFill>
                  <a:srgbClr val="002B82"/>
                </a:solidFill>
                <a:latin typeface="微软雅黑" panose="020B0503020204020204" charset="-122"/>
                <a:ea typeface="微软雅黑" panose="020B0503020204020204" charset="-122"/>
              </a:defRPr>
            </a:lvl1pPr>
          </a:lstStyle>
          <a:p>
            <a:pPr>
              <a:lnSpc>
                <a:spcPct val="100000"/>
              </a:lnSpc>
            </a:pPr>
            <a:r>
              <a:rPr lang="zh-CN" altLang="en-US" spc="300" dirty="0">
                <a:solidFill>
                  <a:srgbClr val="257000"/>
                </a:solidFill>
                <a:latin typeface="等线" panose="02010600030101010101" charset="-122"/>
                <a:ea typeface="等线" panose="02010600030101010101" charset="-122"/>
                <a:sym typeface="+mn-lt"/>
              </a:rPr>
              <a:t>景林基金存续转换方案</a:t>
            </a:r>
            <a:endParaRPr lang="zh-CN" altLang="en-US" spc="300" dirty="0">
              <a:solidFill>
                <a:srgbClr val="257000"/>
              </a:solidFill>
              <a:latin typeface="等线" panose="02010600030101010101" charset="-122"/>
              <a:ea typeface="等线" panose="02010600030101010101" charset="-122"/>
              <a:sym typeface="+mn-lt"/>
            </a:endParaRPr>
          </a:p>
        </p:txBody>
      </p:sp>
      <p:sp>
        <p:nvSpPr>
          <p:cNvPr id="6" name="Rectangle 1"/>
          <p:cNvSpPr/>
          <p:nvPr/>
        </p:nvSpPr>
        <p:spPr>
          <a:xfrm>
            <a:off x="741056" y="985295"/>
            <a:ext cx="10618243" cy="4939030"/>
          </a:xfrm>
          <a:prstGeom prst="rect">
            <a:avLst/>
          </a:prstGeom>
        </p:spPr>
        <p:txBody>
          <a:bodyPr wrap="square">
            <a:spAutoFit/>
          </a:bodyPr>
          <a:lstStyle/>
          <a:p>
            <a:pPr>
              <a:lnSpc>
                <a:spcPct val="150000"/>
              </a:lnSpc>
            </a:pPr>
            <a:r>
              <a:rPr lang="zh-CN" altLang="en-US" b="1" dirty="0">
                <a:latin typeface="等线" panose="02010600030101010101" charset="-122"/>
                <a:ea typeface="等线" panose="02010600030101010101" charset="-122"/>
                <a:cs typeface="等线" panose="02010600030101010101" charset="-122"/>
                <a:sym typeface="+mn-ea"/>
              </a:rPr>
              <a:t>转换行动事项安排：</a:t>
            </a:r>
            <a:endParaRPr lang="en-US" altLang="zh-CN" b="1" dirty="0">
              <a:latin typeface="等线" panose="02010600030101010101" charset="-122"/>
              <a:ea typeface="等线" panose="02010600030101010101" charset="-122"/>
              <a:cs typeface="等线" panose="02010600030101010101" charset="-122"/>
              <a:sym typeface="+mn-ea"/>
            </a:endParaRPr>
          </a:p>
          <a:p>
            <a:pPr marL="171450" indent="-171450">
              <a:lnSpc>
                <a:spcPct val="150000"/>
              </a:lnSpc>
              <a:buFont typeface="Arial" panose="020B0604020202020204" pitchFamily="34" charset="0"/>
              <a:buChar char="•"/>
            </a:pPr>
            <a:r>
              <a:rPr lang="zh-CN" altLang="en-US" sz="1600" b="1" dirty="0">
                <a:latin typeface="等线" panose="02010600030101010101" charset="-122"/>
                <a:ea typeface="等线" panose="02010600030101010101" charset="-122"/>
                <a:cs typeface="等线" panose="02010600030101010101" charset="-122"/>
                <a:sym typeface="+mn-ea"/>
              </a:rPr>
              <a:t>转换时间：计划</a:t>
            </a:r>
            <a:r>
              <a:rPr lang="en-US" altLang="zh-CN" sz="1600" b="1" dirty="0">
                <a:solidFill>
                  <a:srgbClr val="FF0000"/>
                </a:solidFill>
                <a:latin typeface="等线" panose="02010600030101010101" charset="-122"/>
                <a:ea typeface="等线" panose="02010600030101010101" charset="-122"/>
                <a:cs typeface="等线" panose="02010600030101010101" charset="-122"/>
                <a:sym typeface="+mn-ea"/>
              </a:rPr>
              <a:t>3</a:t>
            </a:r>
            <a:r>
              <a:rPr lang="zh-CN" altLang="en-US" sz="1600" b="1" dirty="0">
                <a:solidFill>
                  <a:srgbClr val="FF0000"/>
                </a:solidFill>
                <a:latin typeface="等线" panose="02010600030101010101" charset="-122"/>
                <a:ea typeface="等线" panose="02010600030101010101" charset="-122"/>
                <a:cs typeface="等线" panose="02010600030101010101" charset="-122"/>
                <a:sym typeface="+mn-ea"/>
              </a:rPr>
              <a:t>月</a:t>
            </a:r>
            <a:r>
              <a:rPr lang="en-US" altLang="zh-CN" sz="1600" b="1" dirty="0">
                <a:solidFill>
                  <a:srgbClr val="FF0000"/>
                </a:solidFill>
                <a:latin typeface="等线" panose="02010600030101010101" charset="-122"/>
                <a:ea typeface="等线" panose="02010600030101010101" charset="-122"/>
                <a:cs typeface="等线" panose="02010600030101010101" charset="-122"/>
                <a:sym typeface="+mn-ea"/>
              </a:rPr>
              <a:t>17</a:t>
            </a:r>
            <a:r>
              <a:rPr lang="zh-CN" altLang="en-US" sz="1600" b="1" dirty="0">
                <a:solidFill>
                  <a:srgbClr val="FF0000"/>
                </a:solidFill>
                <a:latin typeface="等线" panose="02010600030101010101" charset="-122"/>
                <a:ea typeface="等线" panose="02010600030101010101" charset="-122"/>
                <a:cs typeface="等线" panose="02010600030101010101" charset="-122"/>
                <a:sym typeface="+mn-ea"/>
              </a:rPr>
              <a:t>日至</a:t>
            </a:r>
            <a:r>
              <a:rPr lang="en-US" altLang="zh-CN" sz="1600" b="1" dirty="0">
                <a:solidFill>
                  <a:srgbClr val="FF0000"/>
                </a:solidFill>
                <a:latin typeface="等线" panose="02010600030101010101" charset="-122"/>
                <a:ea typeface="等线" panose="02010600030101010101" charset="-122"/>
                <a:cs typeface="等线" panose="02010600030101010101" charset="-122"/>
                <a:sym typeface="+mn-ea"/>
              </a:rPr>
              <a:t>3</a:t>
            </a:r>
            <a:r>
              <a:rPr lang="zh-CN" altLang="en-US" sz="1600" b="1" dirty="0">
                <a:solidFill>
                  <a:srgbClr val="FF0000"/>
                </a:solidFill>
                <a:latin typeface="等线" panose="02010600030101010101" charset="-122"/>
                <a:ea typeface="等线" panose="02010600030101010101" charset="-122"/>
                <a:cs typeface="等线" panose="02010600030101010101" charset="-122"/>
                <a:sym typeface="+mn-ea"/>
              </a:rPr>
              <a:t>月</a:t>
            </a:r>
            <a:r>
              <a:rPr lang="en-US" altLang="zh-CN" sz="1600" b="1" dirty="0">
                <a:solidFill>
                  <a:srgbClr val="FF0000"/>
                </a:solidFill>
                <a:latin typeface="等线" panose="02010600030101010101" charset="-122"/>
                <a:ea typeface="等线" panose="02010600030101010101" charset="-122"/>
                <a:cs typeface="等线" panose="02010600030101010101" charset="-122"/>
                <a:sym typeface="+mn-ea"/>
              </a:rPr>
              <a:t>28</a:t>
            </a:r>
            <a:r>
              <a:rPr lang="zh-CN" altLang="en-US" sz="1600" b="1" dirty="0">
                <a:solidFill>
                  <a:srgbClr val="FF0000"/>
                </a:solidFill>
                <a:latin typeface="等线" panose="02010600030101010101" charset="-122"/>
                <a:ea typeface="等线" panose="02010600030101010101" charset="-122"/>
                <a:cs typeface="等线" panose="02010600030101010101" charset="-122"/>
                <a:sym typeface="+mn-ea"/>
              </a:rPr>
              <a:t>日</a:t>
            </a:r>
            <a:endParaRPr lang="en-US" altLang="zh-CN" sz="1600" b="1" dirty="0">
              <a:solidFill>
                <a:srgbClr val="FF0000"/>
              </a:solidFill>
              <a:latin typeface="等线" panose="02010600030101010101" charset="-122"/>
              <a:ea typeface="等线" panose="02010600030101010101" charset="-122"/>
              <a:cs typeface="等线" panose="02010600030101010101" charset="-122"/>
              <a:sym typeface="+mn-ea"/>
            </a:endParaRPr>
          </a:p>
          <a:p>
            <a:pPr marL="171450" indent="-171450">
              <a:lnSpc>
                <a:spcPct val="150000"/>
              </a:lnSpc>
              <a:buFont typeface="Arial" panose="020B0604020202020204" pitchFamily="34" charset="0"/>
              <a:buChar char="•"/>
            </a:pPr>
            <a:r>
              <a:rPr lang="zh-CN" altLang="en-US" sz="1600" b="1" dirty="0">
                <a:latin typeface="等线" panose="02010600030101010101" charset="-122"/>
                <a:ea typeface="等线" panose="02010600030101010101" charset="-122"/>
                <a:cs typeface="等线" panose="02010600030101010101" charset="-122"/>
                <a:sym typeface="+mn-ea"/>
              </a:rPr>
              <a:t>转换收费：</a:t>
            </a:r>
            <a:r>
              <a:rPr lang="zh-CN" altLang="en-US" sz="1600" dirty="0">
                <a:latin typeface="等线" panose="02010600030101010101" charset="-122"/>
                <a:ea typeface="等线" panose="02010600030101010101" charset="-122"/>
                <a:cs typeface="等线" panose="02010600030101010101" charset="-122"/>
                <a:sym typeface="+mn-ea"/>
              </a:rPr>
              <a:t>老基金转新基金是</a:t>
            </a:r>
            <a:r>
              <a:rPr lang="zh-CN" altLang="en-US" sz="1600" b="1" dirty="0">
                <a:solidFill>
                  <a:srgbClr val="FF0000"/>
                </a:solidFill>
                <a:latin typeface="等线" panose="02010600030101010101" charset="-122"/>
                <a:ea typeface="等线" panose="02010600030101010101" charset="-122"/>
                <a:cs typeface="等线" panose="02010600030101010101" charset="-122"/>
                <a:sym typeface="+mn-ea"/>
              </a:rPr>
              <a:t>同个净值日进行转换</a:t>
            </a:r>
            <a:r>
              <a:rPr lang="zh-CN" altLang="en-US" sz="1600" dirty="0">
                <a:latin typeface="等线" panose="02010600030101010101" charset="-122"/>
                <a:ea typeface="等线" panose="02010600030101010101" charset="-122"/>
                <a:cs typeface="等线" panose="02010600030101010101" charset="-122"/>
                <a:sym typeface="+mn-ea"/>
              </a:rPr>
              <a:t>，在存续客户转换时，</a:t>
            </a:r>
            <a:r>
              <a:rPr lang="en-US" altLang="zh-CN" sz="1600" b="1" dirty="0">
                <a:latin typeface="等线" panose="02010600030101010101" charset="-122"/>
                <a:ea typeface="等线" panose="02010600030101010101" charset="-122"/>
                <a:cs typeface="等线" panose="02010600030101010101" charset="-122"/>
                <a:sym typeface="+mn-ea"/>
              </a:rPr>
              <a:t>ARK</a:t>
            </a:r>
            <a:r>
              <a:rPr lang="zh-CN" altLang="en-US" sz="1600" b="1" dirty="0">
                <a:latin typeface="等线" panose="02010600030101010101" charset="-122"/>
                <a:ea typeface="等线" panose="02010600030101010101" charset="-122"/>
                <a:cs typeface="等线" panose="02010600030101010101" charset="-122"/>
                <a:sym typeface="+mn-ea"/>
              </a:rPr>
              <a:t>收取</a:t>
            </a:r>
            <a:r>
              <a:rPr lang="en-US" altLang="zh-CN" sz="1600" b="1" dirty="0">
                <a:solidFill>
                  <a:srgbClr val="FF0000"/>
                </a:solidFill>
                <a:latin typeface="等线" panose="02010600030101010101" charset="-122"/>
                <a:ea typeface="等线" panose="02010600030101010101" charset="-122"/>
                <a:cs typeface="等线" panose="02010600030101010101" charset="-122"/>
                <a:sym typeface="+mn-ea"/>
              </a:rPr>
              <a:t>0.5%</a:t>
            </a:r>
            <a:r>
              <a:rPr lang="zh-CN" altLang="en-US" sz="1600" b="1" dirty="0">
                <a:latin typeface="等线" panose="02010600030101010101" charset="-122"/>
                <a:ea typeface="等线" panose="02010600030101010101" charset="-122"/>
                <a:cs typeface="等线" panose="02010600030101010101" charset="-122"/>
                <a:sym typeface="+mn-ea"/>
              </a:rPr>
              <a:t>的一次性交易服务费</a:t>
            </a:r>
            <a:r>
              <a:rPr lang="zh-CN" altLang="en-US" sz="1600" dirty="0">
                <a:latin typeface="等线" panose="02010600030101010101" charset="-122"/>
                <a:ea typeface="等线" panose="02010600030101010101" charset="-122"/>
                <a:cs typeface="等线" panose="02010600030101010101" charset="-122"/>
                <a:sym typeface="+mn-ea"/>
              </a:rPr>
              <a:t>，免收认购费。</a:t>
            </a:r>
            <a:r>
              <a:rPr lang="zh-CN" altLang="en-US" sz="1600" b="1" dirty="0">
                <a:latin typeface="等线" panose="02010600030101010101" charset="-122"/>
                <a:ea typeface="等线" panose="02010600030101010101" charset="-122"/>
                <a:cs typeface="等线" panose="02010600030101010101" charset="-122"/>
                <a:sym typeface="+mn-ea"/>
              </a:rPr>
              <a:t>交易服务费通过赎回客户份额的方式收取</a:t>
            </a:r>
            <a:r>
              <a:rPr lang="zh-CN" altLang="en-US" sz="1600" dirty="0">
                <a:latin typeface="等线" panose="02010600030101010101" charset="-122"/>
                <a:ea typeface="等线" panose="02010600030101010101" charset="-122"/>
                <a:cs typeface="等线" panose="02010600030101010101" charset="-122"/>
                <a:sym typeface="+mn-ea"/>
              </a:rPr>
              <a:t>。也就是同意转换的客户，我们会将其</a:t>
            </a:r>
            <a:r>
              <a:rPr lang="en-US" altLang="zh-CN" sz="1600" b="1" dirty="0">
                <a:latin typeface="等线" panose="02010600030101010101" charset="-122"/>
                <a:ea typeface="等线" panose="02010600030101010101" charset="-122"/>
                <a:cs typeface="等线" panose="02010600030101010101" charset="-122"/>
                <a:sym typeface="+mn-ea"/>
              </a:rPr>
              <a:t>99.5%</a:t>
            </a:r>
            <a:r>
              <a:rPr lang="zh-CN" altLang="en-US" sz="1600" b="1" dirty="0">
                <a:latin typeface="等线" panose="02010600030101010101" charset="-122"/>
                <a:ea typeface="等线" panose="02010600030101010101" charset="-122"/>
                <a:cs typeface="等线" panose="02010600030101010101" charset="-122"/>
                <a:sym typeface="+mn-ea"/>
              </a:rPr>
              <a:t>份额进行转换，</a:t>
            </a:r>
            <a:r>
              <a:rPr lang="en-US" altLang="zh-CN" sz="1600" b="1" dirty="0">
                <a:latin typeface="等线" panose="02010600030101010101" charset="-122"/>
                <a:ea typeface="等线" panose="02010600030101010101" charset="-122"/>
                <a:cs typeface="等线" panose="02010600030101010101" charset="-122"/>
                <a:sym typeface="+mn-ea"/>
              </a:rPr>
              <a:t>0.5%</a:t>
            </a:r>
            <a:r>
              <a:rPr lang="zh-CN" altLang="en-US" sz="1600" b="1" dirty="0">
                <a:latin typeface="等线" panose="02010600030101010101" charset="-122"/>
                <a:ea typeface="等线" panose="02010600030101010101" charset="-122"/>
                <a:cs typeface="等线" panose="02010600030101010101" charset="-122"/>
                <a:sym typeface="+mn-ea"/>
              </a:rPr>
              <a:t>份额进行赎回</a:t>
            </a:r>
            <a:r>
              <a:rPr lang="zh-CN" altLang="en-US" sz="1600" dirty="0">
                <a:latin typeface="等线" panose="02010600030101010101" charset="-122"/>
                <a:ea typeface="等线" panose="02010600030101010101" charset="-122"/>
                <a:cs typeface="等线" panose="02010600030101010101" charset="-122"/>
                <a:sym typeface="+mn-ea"/>
              </a:rPr>
              <a:t>。</a:t>
            </a:r>
            <a:endParaRPr lang="en-US" altLang="zh-CN" sz="1600" dirty="0">
              <a:latin typeface="等线" panose="02010600030101010101" charset="-122"/>
              <a:ea typeface="等线" panose="02010600030101010101" charset="-122"/>
              <a:cs typeface="等线" panose="02010600030101010101" charset="-122"/>
              <a:sym typeface="+mn-ea"/>
            </a:endParaRPr>
          </a:p>
          <a:p>
            <a:pPr marL="171450" indent="-171450">
              <a:lnSpc>
                <a:spcPct val="150000"/>
              </a:lnSpc>
              <a:buFont typeface="Arial" panose="020B0604020202020204" pitchFamily="34" charset="0"/>
              <a:buChar char="•"/>
            </a:pPr>
            <a:r>
              <a:rPr lang="zh-CN" altLang="en-US" sz="1600" dirty="0">
                <a:latin typeface="等线" panose="02010600030101010101" charset="-122"/>
                <a:ea typeface="等线" panose="02010600030101010101" charset="-122"/>
                <a:cs typeface="等线" panose="02010600030101010101" charset="-122"/>
                <a:sym typeface="+mn-ea"/>
              </a:rPr>
              <a:t>赎回份额会按照</a:t>
            </a:r>
            <a:r>
              <a:rPr lang="en-US" altLang="zh-CN" sz="1600" b="1" dirty="0">
                <a:latin typeface="等线" panose="02010600030101010101" charset="-122"/>
                <a:ea typeface="等线" panose="02010600030101010101" charset="-122"/>
                <a:cs typeface="等线" panose="02010600030101010101" charset="-122"/>
                <a:sym typeface="+mn-ea"/>
              </a:rPr>
              <a:t>5</a:t>
            </a:r>
            <a:r>
              <a:rPr lang="zh-CN" altLang="en-US" sz="1600" b="1" dirty="0">
                <a:latin typeface="等线" panose="02010600030101010101" charset="-122"/>
                <a:ea typeface="等线" panose="02010600030101010101" charset="-122"/>
                <a:cs typeface="等线" panose="02010600030101010101" charset="-122"/>
                <a:sym typeface="+mn-ea"/>
              </a:rPr>
              <a:t>月</a:t>
            </a:r>
            <a:r>
              <a:rPr lang="en-US" altLang="zh-CN" sz="1600" b="1" dirty="0">
                <a:latin typeface="等线" panose="02010600030101010101" charset="-122"/>
                <a:ea typeface="等线" panose="02010600030101010101" charset="-122"/>
                <a:cs typeface="等线" panose="02010600030101010101" charset="-122"/>
                <a:sym typeface="+mn-ea"/>
              </a:rPr>
              <a:t>1</a:t>
            </a:r>
            <a:r>
              <a:rPr lang="zh-CN" altLang="en-US" sz="1600" b="1" dirty="0">
                <a:latin typeface="等线" panose="02010600030101010101" charset="-122"/>
                <a:ea typeface="等线" panose="02010600030101010101" charset="-122"/>
                <a:cs typeface="等线" panose="02010600030101010101" charset="-122"/>
                <a:sym typeface="+mn-ea"/>
              </a:rPr>
              <a:t>日景林全球的</a:t>
            </a:r>
            <a:r>
              <a:rPr lang="zh-CN" altLang="en-US" sz="1600" dirty="0">
                <a:latin typeface="等线" panose="02010600030101010101" charset="-122"/>
                <a:ea typeface="等线" panose="02010600030101010101" charset="-122"/>
                <a:cs typeface="等线" panose="02010600030101010101" charset="-122"/>
                <a:sym typeface="+mn-ea"/>
              </a:rPr>
              <a:t>净值计入，期间没有等待期，资金效率高</a:t>
            </a:r>
            <a:endParaRPr lang="en-US" altLang="zh-CN" sz="1600" dirty="0">
              <a:latin typeface="等线" panose="02010600030101010101" charset="-122"/>
              <a:ea typeface="等线" panose="02010600030101010101" charset="-122"/>
              <a:cs typeface="等线" panose="02010600030101010101" charset="-122"/>
              <a:sym typeface="+mn-ea"/>
            </a:endParaRPr>
          </a:p>
          <a:p>
            <a:pPr marL="171450" indent="-171450">
              <a:lnSpc>
                <a:spcPct val="150000"/>
              </a:lnSpc>
              <a:buFont typeface="Arial" panose="020B0604020202020204" pitchFamily="34" charset="0"/>
              <a:buChar char="•"/>
            </a:pPr>
            <a:r>
              <a:rPr lang="zh-CN" altLang="en-US" sz="1600" b="1" dirty="0">
                <a:latin typeface="等线" panose="02010600030101010101" charset="-122"/>
                <a:ea typeface="等线" panose="02010600030101010101" charset="-122"/>
                <a:cs typeface="等线" panose="02010600030101010101" charset="-122"/>
                <a:sym typeface="+mn-ea"/>
              </a:rPr>
              <a:t>转化起点金额</a:t>
            </a:r>
            <a:r>
              <a:rPr lang="zh-CN" altLang="en-US" sz="1600" dirty="0">
                <a:latin typeface="等线" panose="02010600030101010101" charset="-122"/>
                <a:ea typeface="等线" panose="02010600030101010101" charset="-122"/>
                <a:cs typeface="等线" panose="02010600030101010101" charset="-122"/>
                <a:sym typeface="+mn-ea"/>
              </a:rPr>
              <a:t>：</a:t>
            </a:r>
            <a:r>
              <a:rPr lang="zh-CN" altLang="en-US" sz="1600" b="1" dirty="0">
                <a:latin typeface="等线" panose="02010600030101010101" charset="-122"/>
                <a:ea typeface="等线" panose="02010600030101010101" charset="-122"/>
                <a:cs typeface="等线" panose="02010600030101010101" charset="-122"/>
                <a:sym typeface="+mn-ea"/>
              </a:rPr>
              <a:t>新产品起投</a:t>
            </a:r>
            <a:r>
              <a:rPr lang="en-US" altLang="zh-CN" sz="1600" b="1" dirty="0">
                <a:latin typeface="等线" panose="02010600030101010101" charset="-122"/>
                <a:ea typeface="等线" panose="02010600030101010101" charset="-122"/>
                <a:cs typeface="等线" panose="02010600030101010101" charset="-122"/>
                <a:sym typeface="+mn-ea"/>
              </a:rPr>
              <a:t>25</a:t>
            </a:r>
            <a:r>
              <a:rPr lang="zh-CN" altLang="en-US" sz="1600" b="1" dirty="0">
                <a:latin typeface="等线" panose="02010600030101010101" charset="-122"/>
                <a:ea typeface="等线" panose="02010600030101010101" charset="-122"/>
                <a:cs typeface="等线" panose="02010600030101010101" charset="-122"/>
                <a:sym typeface="+mn-ea"/>
              </a:rPr>
              <a:t>万美金</a:t>
            </a:r>
            <a:r>
              <a:rPr lang="zh-CN" altLang="en-US" sz="1600" dirty="0">
                <a:latin typeface="等线" panose="02010600030101010101" charset="-122"/>
                <a:ea typeface="等线" panose="02010600030101010101" charset="-122"/>
                <a:cs typeface="等线" panose="02010600030101010101" charset="-122"/>
                <a:sym typeface="+mn-ea"/>
              </a:rPr>
              <a:t>；</a:t>
            </a:r>
            <a:r>
              <a:rPr lang="zh-CN" altLang="en-US" sz="1600" b="1" u="sng" dirty="0">
                <a:latin typeface="等线" panose="02010600030101010101" charset="-122"/>
                <a:ea typeface="等线" panose="02010600030101010101" charset="-122"/>
                <a:cs typeface="等线" panose="02010600030101010101" charset="-122"/>
                <a:sym typeface="+mn-ea"/>
              </a:rPr>
              <a:t>老客户如果</a:t>
            </a:r>
            <a:r>
              <a:rPr lang="en-US" altLang="zh-CN" sz="1600" b="1" u="sng" dirty="0">
                <a:latin typeface="等线" panose="02010600030101010101" charset="-122"/>
                <a:ea typeface="等线" panose="02010600030101010101" charset="-122"/>
                <a:cs typeface="等线" panose="02010600030101010101" charset="-122"/>
                <a:sym typeface="+mn-ea"/>
              </a:rPr>
              <a:t>100%</a:t>
            </a:r>
            <a:r>
              <a:rPr lang="zh-CN" altLang="en-US" sz="1600" b="1" u="sng" dirty="0">
                <a:latin typeface="等线" panose="02010600030101010101" charset="-122"/>
                <a:ea typeface="等线" panose="02010600030101010101" charset="-122"/>
                <a:cs typeface="等线" panose="02010600030101010101" charset="-122"/>
                <a:sym typeface="+mn-ea"/>
              </a:rPr>
              <a:t>转，没有金额要求；如果部分转，新产品最低投</a:t>
            </a:r>
            <a:r>
              <a:rPr lang="en-US" altLang="zh-CN" sz="1600" b="1" u="sng" dirty="0">
                <a:latin typeface="等线" panose="02010600030101010101" charset="-122"/>
                <a:ea typeface="等线" panose="02010600030101010101" charset="-122"/>
                <a:cs typeface="等线" panose="02010600030101010101" charset="-122"/>
                <a:sym typeface="+mn-ea"/>
              </a:rPr>
              <a:t>25</a:t>
            </a:r>
            <a:r>
              <a:rPr lang="zh-CN" altLang="en-US" sz="1600" b="1" u="sng" dirty="0">
                <a:latin typeface="等线" panose="02010600030101010101" charset="-122"/>
                <a:ea typeface="等线" panose="02010600030101010101" charset="-122"/>
                <a:cs typeface="等线" panose="02010600030101010101" charset="-122"/>
                <a:sym typeface="+mn-ea"/>
              </a:rPr>
              <a:t>万，老产品最少留</a:t>
            </a:r>
            <a:r>
              <a:rPr lang="en-US" altLang="zh-CN" sz="1600" b="1" u="sng" dirty="0">
                <a:latin typeface="等线" panose="02010600030101010101" charset="-122"/>
                <a:ea typeface="等线" panose="02010600030101010101" charset="-122"/>
                <a:cs typeface="等线" panose="02010600030101010101" charset="-122"/>
                <a:sym typeface="+mn-ea"/>
              </a:rPr>
              <a:t>15</a:t>
            </a:r>
            <a:r>
              <a:rPr lang="zh-CN" altLang="en-US" sz="1600" b="1" u="sng" dirty="0">
                <a:latin typeface="等线" panose="02010600030101010101" charset="-122"/>
                <a:ea typeface="等线" panose="02010600030101010101" charset="-122"/>
                <a:cs typeface="等线" panose="02010600030101010101" charset="-122"/>
                <a:sym typeface="+mn-ea"/>
              </a:rPr>
              <a:t>万</a:t>
            </a:r>
            <a:endParaRPr lang="en-US" altLang="zh-CN" sz="1600" b="1" u="sng" dirty="0">
              <a:latin typeface="等线" panose="02010600030101010101" charset="-122"/>
              <a:ea typeface="等线" panose="02010600030101010101" charset="-122"/>
              <a:cs typeface="等线" panose="02010600030101010101" charset="-122"/>
              <a:sym typeface="+mn-ea"/>
            </a:endParaRPr>
          </a:p>
          <a:p>
            <a:pPr marL="171450" indent="-171450">
              <a:lnSpc>
                <a:spcPct val="150000"/>
              </a:lnSpc>
              <a:buFont typeface="Arial" panose="020B0604020202020204" pitchFamily="34" charset="0"/>
              <a:buChar char="•"/>
            </a:pPr>
            <a:r>
              <a:rPr lang="zh-CN" altLang="en-US" sz="1600" b="1" dirty="0">
                <a:latin typeface="等线" panose="02010600030101010101" charset="-122"/>
                <a:ea typeface="等线" panose="02010600030101010101" charset="-122"/>
                <a:cs typeface="等线" panose="02010600030101010101" charset="-122"/>
                <a:sym typeface="+mn-ea"/>
              </a:rPr>
              <a:t>系统准备：</a:t>
            </a:r>
            <a:r>
              <a:rPr lang="zh-CN" altLang="en-US" sz="1600" b="1" dirty="0">
                <a:solidFill>
                  <a:srgbClr val="FF0000"/>
                </a:solidFill>
                <a:latin typeface="等线" panose="02010600030101010101" charset="-122"/>
                <a:ea typeface="等线" panose="02010600030101010101" charset="-122"/>
                <a:cs typeface="等线" panose="02010600030101010101" charset="-122"/>
                <a:sym typeface="+mn-ea"/>
              </a:rPr>
              <a:t>客户的操作均在线上APP完成，不涉及资金划转</a:t>
            </a:r>
            <a:r>
              <a:rPr lang="zh-CN" altLang="en-US" sz="1600" dirty="0">
                <a:latin typeface="等线" panose="02010600030101010101" charset="-122"/>
                <a:ea typeface="等线" panose="02010600030101010101" charset="-122"/>
                <a:cs typeface="等线" panose="02010600030101010101" charset="-122"/>
                <a:sym typeface="+mn-ea"/>
              </a:rPr>
              <a:t>，分两步：</a:t>
            </a:r>
            <a:r>
              <a:rPr lang="en-US" altLang="en-US" sz="1600" dirty="0">
                <a:latin typeface="等线" panose="02010600030101010101" charset="-122"/>
                <a:ea typeface="等线" panose="02010600030101010101" charset="-122"/>
                <a:cs typeface="等线" panose="02010600030101010101" charset="-122"/>
                <a:sym typeface="+mn-ea"/>
              </a:rPr>
              <a:t>①</a:t>
            </a:r>
            <a:r>
              <a:rPr lang="zh-CN" altLang="en-US" sz="1600" dirty="0">
                <a:latin typeface="等线" panose="02010600030101010101" charset="-122"/>
                <a:ea typeface="等线" panose="02010600030101010101" charset="-122"/>
                <a:cs typeface="等线" panose="02010600030101010101" charset="-122"/>
                <a:sym typeface="+mn-ea"/>
              </a:rPr>
              <a:t>客户在存续待办任务栏填写并提交份额转换申请单（完成后，</a:t>
            </a:r>
            <a:r>
              <a:rPr lang="en-US" altLang="zh-CN" sz="1600" dirty="0">
                <a:latin typeface="等线" panose="02010600030101010101" charset="-122"/>
                <a:ea typeface="等线" panose="02010600030101010101" charset="-122"/>
                <a:cs typeface="等线" panose="02010600030101010101" charset="-122"/>
                <a:sym typeface="+mn-ea"/>
              </a:rPr>
              <a:t>FR/AR</a:t>
            </a:r>
            <a:r>
              <a:rPr lang="zh-CN" altLang="en-US" sz="1600" dirty="0">
                <a:latin typeface="等线" panose="02010600030101010101" charset="-122"/>
                <a:ea typeface="等线" panose="02010600030101010101" charset="-122"/>
                <a:cs typeface="等线" panose="02010600030101010101" charset="-122"/>
                <a:sym typeface="+mn-ea"/>
              </a:rPr>
              <a:t>需在</a:t>
            </a:r>
            <a:r>
              <a:rPr lang="en-US" altLang="zh-CN" sz="1600" dirty="0">
                <a:latin typeface="等线" panose="02010600030101010101" charset="-122"/>
                <a:ea typeface="等线" panose="02010600030101010101" charset="-122"/>
                <a:cs typeface="等线" panose="02010600030101010101" charset="-122"/>
                <a:sym typeface="+mn-ea"/>
              </a:rPr>
              <a:t>SBTS</a:t>
            </a:r>
            <a:r>
              <a:rPr lang="zh-CN" altLang="en-US" sz="1600" dirty="0">
                <a:latin typeface="等线" panose="02010600030101010101" charset="-122"/>
                <a:ea typeface="等线" panose="02010600030101010101" charset="-122"/>
                <a:cs typeface="等线" panose="02010600030101010101" charset="-122"/>
                <a:sym typeface="+mn-ea"/>
              </a:rPr>
              <a:t>帮客户提交对应的一笔赎回并上传客户已签署的份额转换申请单，非真实赎回，只是为了冻结份额），</a:t>
            </a:r>
            <a:r>
              <a:rPr lang="en-US" altLang="en-US" sz="1600" dirty="0">
                <a:latin typeface="等线" panose="02010600030101010101" charset="-122"/>
                <a:ea typeface="等线" panose="02010600030101010101" charset="-122"/>
                <a:cs typeface="等线" panose="02010600030101010101" charset="-122"/>
                <a:sym typeface="+mn-ea"/>
              </a:rPr>
              <a:t>②</a:t>
            </a:r>
            <a:r>
              <a:rPr lang="zh-CN" altLang="en-US" sz="1600" dirty="0">
                <a:latin typeface="等线" panose="02010600030101010101" charset="-122"/>
                <a:ea typeface="等线" panose="02010600030101010101" charset="-122"/>
                <a:cs typeface="等线" panose="02010600030101010101" charset="-122"/>
                <a:sym typeface="+mn-ea"/>
              </a:rPr>
              <a:t>客户到新基金认购页面进行下单，完成景林环球基金的法律文件签署。</a:t>
            </a:r>
            <a:endParaRPr lang="zh-CN" altLang="en-US" sz="1600" b="1" dirty="0">
              <a:latin typeface="等线" panose="02010600030101010101" charset="-122"/>
              <a:ea typeface="等线" panose="02010600030101010101" charset="-122"/>
              <a:cs typeface="等线" panose="02010600030101010101" charset="-122"/>
              <a:sym typeface="+mn-ea"/>
            </a:endParaRPr>
          </a:p>
          <a:p>
            <a:pPr marL="171450" indent="-171450">
              <a:lnSpc>
                <a:spcPct val="150000"/>
              </a:lnSpc>
              <a:buFont typeface="Arial" panose="020B0604020202020204" pitchFamily="34" charset="0"/>
              <a:buChar char="•"/>
            </a:pPr>
            <a:endParaRPr lang="en-US" altLang="zh-CN" sz="1600" dirty="0">
              <a:latin typeface="等线" panose="02010600030101010101" charset="-122"/>
              <a:ea typeface="等线" panose="02010600030101010101" charset="-122"/>
              <a:cs typeface="等线" panose="02010600030101010101" charset="-122"/>
              <a:sym typeface="+mn-ea"/>
            </a:endParaRPr>
          </a:p>
          <a:p>
            <a:pPr marL="171450" indent="-171450">
              <a:lnSpc>
                <a:spcPct val="150000"/>
              </a:lnSpc>
              <a:buFont typeface="Arial" panose="020B0604020202020204" pitchFamily="34" charset="0"/>
              <a:buChar char="•"/>
            </a:pPr>
            <a:r>
              <a:rPr lang="zh-CN" altLang="en-US" sz="1600" b="1" dirty="0">
                <a:latin typeface="等线" panose="02010600030101010101" charset="-122"/>
                <a:ea typeface="等线" panose="02010600030101010101" charset="-122"/>
                <a:cs typeface="等线" panose="02010600030101010101" charset="-122"/>
                <a:sym typeface="+mn-ea"/>
              </a:rPr>
              <a:t>后续安排交流会议</a:t>
            </a:r>
            <a:r>
              <a:rPr lang="zh-CN" altLang="en-US" sz="1600" dirty="0">
                <a:latin typeface="等线" panose="02010600030101010101" charset="-122"/>
                <a:ea typeface="等线" panose="02010600030101010101" charset="-122"/>
                <a:cs typeface="等线" panose="02010600030101010101" charset="-122"/>
                <a:sym typeface="+mn-ea"/>
              </a:rPr>
              <a:t>：</a:t>
            </a:r>
            <a:r>
              <a:rPr lang="en-US" altLang="zh-CN" sz="1600" dirty="0">
                <a:latin typeface="等线" panose="02010600030101010101" charset="-122"/>
                <a:ea typeface="等线" panose="02010600030101010101" charset="-122"/>
                <a:cs typeface="等线" panose="02010600030101010101" charset="-122"/>
                <a:sym typeface="+mn-ea"/>
              </a:rPr>
              <a:t>2</a:t>
            </a:r>
            <a:r>
              <a:rPr lang="zh-CN" altLang="en-US" sz="1600" dirty="0">
                <a:latin typeface="等线" panose="02010600030101010101" charset="-122"/>
                <a:ea typeface="等线" panose="02010600030101010101" charset="-122"/>
                <a:cs typeface="等线" panose="02010600030101010101" charset="-122"/>
                <a:sym typeface="+mn-ea"/>
              </a:rPr>
              <a:t>月下旬安排对内理财师交流会；</a:t>
            </a:r>
            <a:r>
              <a:rPr lang="en-US" altLang="zh-CN" sz="1600" dirty="0">
                <a:latin typeface="等线" panose="02010600030101010101" charset="-122"/>
                <a:ea typeface="等线" panose="02010600030101010101" charset="-122"/>
                <a:cs typeface="等线" panose="02010600030101010101" charset="-122"/>
                <a:sym typeface="+mn-ea"/>
              </a:rPr>
              <a:t>3</a:t>
            </a:r>
            <a:r>
              <a:rPr lang="zh-CN" altLang="en-US" sz="1600" dirty="0">
                <a:latin typeface="等线" panose="02010600030101010101" charset="-122"/>
                <a:ea typeface="等线" panose="02010600030101010101" charset="-122"/>
                <a:cs typeface="等线" panose="02010600030101010101" charset="-122"/>
                <a:sym typeface="+mn-ea"/>
              </a:rPr>
              <a:t>月上旬，安排对客交流会，景林</a:t>
            </a:r>
            <a:r>
              <a:rPr lang="en-US" altLang="zh-CN" sz="1600" dirty="0">
                <a:latin typeface="等线" panose="02010600030101010101" charset="-122"/>
                <a:ea typeface="等线" panose="02010600030101010101" charset="-122"/>
                <a:cs typeface="等线" panose="02010600030101010101" charset="-122"/>
                <a:sym typeface="+mn-ea"/>
              </a:rPr>
              <a:t>Jason</a:t>
            </a:r>
            <a:r>
              <a:rPr lang="zh-CN" altLang="en-US" sz="1600" dirty="0">
                <a:latin typeface="等线" panose="02010600030101010101" charset="-122"/>
                <a:ea typeface="等线" panose="02010600030101010101" charset="-122"/>
                <a:cs typeface="等线" panose="02010600030101010101" charset="-122"/>
                <a:sym typeface="+mn-ea"/>
              </a:rPr>
              <a:t>会届时支持。</a:t>
            </a:r>
            <a:endParaRPr lang="en-US" altLang="zh-CN" sz="1600" dirty="0">
              <a:latin typeface="等线" panose="02010600030101010101" charset="-122"/>
              <a:ea typeface="等线" panose="02010600030101010101" charset="-122"/>
              <a:cs typeface="等线" panose="02010600030101010101" charset="-122"/>
              <a:sym typeface="+mn-ea"/>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txBox="1"/>
          <p:nvPr/>
        </p:nvSpPr>
        <p:spPr>
          <a:xfrm>
            <a:off x="1072662" y="4814398"/>
            <a:ext cx="2017712" cy="62229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000" dirty="0">
              <a:latin typeface="等线" panose="02010600030101010101" charset="-122"/>
              <a:ea typeface="等线" panose="02010600030101010101" charset="-122"/>
              <a:cs typeface="等线" panose="02010600030101010101" charset="-122"/>
            </a:endParaRPr>
          </a:p>
        </p:txBody>
      </p:sp>
      <p:sp>
        <p:nvSpPr>
          <p:cNvPr id="3" name="文本占位符 2"/>
          <p:cNvSpPr txBox="1"/>
          <p:nvPr/>
        </p:nvSpPr>
        <p:spPr>
          <a:xfrm>
            <a:off x="956309" y="2637848"/>
            <a:ext cx="10454468" cy="30460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sz="3200" b="1" dirty="0">
                <a:latin typeface="等线" panose="02010600030101010101" charset="-122"/>
                <a:ea typeface="等线" panose="02010600030101010101" charset="-122"/>
                <a:cs typeface="等线" panose="02010600030101010101" charset="-122"/>
              </a:rPr>
              <a:t>一、存续回顾</a:t>
            </a:r>
            <a:endParaRPr lang="zh-CN" sz="3200" b="1"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
          <p:cNvSpPr txBox="1"/>
          <p:nvPr/>
        </p:nvSpPr>
        <p:spPr>
          <a:xfrm>
            <a:off x="511755" y="256039"/>
            <a:ext cx="8229600" cy="423545"/>
          </a:xfrm>
          <a:prstGeom prst="rect">
            <a:avLst/>
          </a:prstGeom>
          <a:noFill/>
        </p:spPr>
        <p:txBody>
          <a:bodyPr vert="horz" wrap="square" lIns="91440" tIns="45720" rIns="91440" bIns="45720" rtlCol="0" anchor="ctr">
            <a:spAutoFit/>
          </a:bodyPr>
          <a:lstStyle>
            <a:defPPr>
              <a:defRPr lang="en-US"/>
            </a:defPPr>
            <a:lvl1pPr>
              <a:lnSpc>
                <a:spcPct val="90000"/>
              </a:lnSpc>
              <a:spcBef>
                <a:spcPct val="0"/>
              </a:spcBef>
              <a:buNone/>
              <a:defRPr sz="2800" b="1">
                <a:solidFill>
                  <a:srgbClr val="002B82"/>
                </a:solidFill>
                <a:latin typeface="微软雅黑" panose="020B0503020204020204" charset="-122"/>
                <a:ea typeface="微软雅黑" panose="020B0503020204020204" charset="-122"/>
              </a:defRPr>
            </a:lvl1pPr>
          </a:lstStyle>
          <a:p>
            <a:r>
              <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景</a:t>
            </a:r>
            <a:r>
              <a:rPr lang="zh-CN" altLang="en-US" sz="2400" dirty="0" smtClean="0">
                <a:solidFill>
                  <a:schemeClr val="tx2">
                    <a:lumMod val="75000"/>
                  </a:schemeClr>
                </a:solidFill>
                <a:latin typeface="等线" panose="02010600030101010101" charset="-122"/>
                <a:ea typeface="等线" panose="02010600030101010101" charset="-122"/>
                <a:cs typeface="等线" panose="02010600030101010101" charset="-122"/>
                <a:sym typeface="+mn-lt"/>
              </a:rPr>
              <a:t>林存续</a:t>
            </a:r>
            <a:r>
              <a:rPr lang="zh-CN" sz="2400" dirty="0" smtClean="0">
                <a:solidFill>
                  <a:schemeClr val="tx2">
                    <a:lumMod val="75000"/>
                  </a:schemeClr>
                </a:solidFill>
                <a:latin typeface="等线" panose="02010600030101010101" charset="-122"/>
                <a:ea typeface="等线" panose="02010600030101010101" charset="-122"/>
                <a:cs typeface="等线" panose="02010600030101010101" charset="-122"/>
                <a:sym typeface="+mn-lt"/>
              </a:rPr>
              <a:t>产品</a:t>
            </a:r>
            <a:r>
              <a:rPr lang="zh-CN"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概览</a:t>
            </a:r>
            <a:endPar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endParaRPr>
          </a:p>
        </p:txBody>
      </p:sp>
      <p:sp>
        <p:nvSpPr>
          <p:cNvPr id="6" name="文本框 5"/>
          <p:cNvSpPr txBox="1"/>
          <p:nvPr/>
        </p:nvSpPr>
        <p:spPr>
          <a:xfrm>
            <a:off x="347124" y="5730293"/>
            <a:ext cx="7666886" cy="2298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900" b="0" i="1"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数据来源</a:t>
            </a:r>
            <a:r>
              <a:rPr kumimoji="0" lang="zh-CN" altLang="en-US" sz="900" b="0" i="1" u="none" strike="noStrike" kern="1200" cap="none" spc="0" normalizeH="0" baseline="0" noProof="0" dirty="0" smtClean="0">
                <a:ln>
                  <a:noFill/>
                </a:ln>
                <a:solidFill>
                  <a:prstClr val="black"/>
                </a:solidFill>
                <a:effectLst/>
                <a:uLnTx/>
                <a:uFillTx/>
                <a:latin typeface="等线" panose="02010600030101010101" charset="-122"/>
                <a:ea typeface="等线" panose="02010600030101010101" charset="-122"/>
                <a:cs typeface="+mn-cs"/>
              </a:rPr>
              <a:t>：</a:t>
            </a:r>
            <a:r>
              <a:rPr lang="en-US" altLang="zh-CN" sz="900" i="1" dirty="0" smtClean="0">
                <a:solidFill>
                  <a:prstClr val="black"/>
                </a:solidFill>
                <a:latin typeface="等线" panose="02010600030101010101" charset="-122"/>
                <a:ea typeface="等线" panose="02010600030101010101" charset="-122"/>
              </a:rPr>
              <a:t>ARK</a:t>
            </a:r>
            <a:r>
              <a:rPr kumimoji="0" lang="zh-CN" altLang="en-US" sz="900" b="0" i="1" u="none" strike="noStrike" kern="1200" cap="none" spc="0" normalizeH="0" baseline="0" noProof="0" dirty="0" smtClean="0">
                <a:ln>
                  <a:noFill/>
                </a:ln>
                <a:solidFill>
                  <a:prstClr val="black"/>
                </a:solidFill>
                <a:effectLst/>
                <a:uLnTx/>
                <a:uFillTx/>
                <a:latin typeface="等线" panose="02010600030101010101" charset="-122"/>
                <a:ea typeface="等线" panose="02010600030101010101" charset="-122"/>
                <a:cs typeface="+mn-cs"/>
              </a:rPr>
              <a:t>产品</a:t>
            </a:r>
            <a:r>
              <a:rPr kumimoji="0" lang="zh-CN" altLang="en-US" sz="900" b="0" i="1"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查询中心，数据截至</a:t>
            </a:r>
            <a:r>
              <a:rPr kumimoji="0" lang="en-US" altLang="zh-CN" sz="900" b="0" i="1"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2024</a:t>
            </a:r>
            <a:r>
              <a:rPr kumimoji="0" lang="zh-CN" altLang="en-US" sz="900" b="0" i="1" u="none" strike="noStrike" kern="1200" cap="none" spc="0" normalizeH="0" baseline="0" noProof="0" dirty="0" smtClean="0">
                <a:ln>
                  <a:noFill/>
                </a:ln>
                <a:solidFill>
                  <a:prstClr val="black"/>
                </a:solidFill>
                <a:effectLst/>
                <a:uLnTx/>
                <a:uFillTx/>
                <a:latin typeface="等线" panose="02010600030101010101" charset="-122"/>
                <a:ea typeface="等线" panose="02010600030101010101" charset="-122"/>
                <a:cs typeface="+mn-cs"/>
              </a:rPr>
              <a:t>年</a:t>
            </a:r>
            <a:r>
              <a:rPr kumimoji="0" lang="en-US" altLang="zh-CN" sz="900" b="0" i="1" u="none" strike="noStrike" kern="1200" cap="none" spc="0" normalizeH="0" baseline="0" noProof="0" dirty="0" smtClean="0">
                <a:ln>
                  <a:noFill/>
                </a:ln>
                <a:solidFill>
                  <a:prstClr val="black"/>
                </a:solidFill>
                <a:effectLst/>
                <a:uLnTx/>
                <a:uFillTx/>
                <a:latin typeface="等线" panose="02010600030101010101" charset="-122"/>
                <a:ea typeface="等线" panose="02010600030101010101" charset="-122"/>
                <a:cs typeface="+mn-cs"/>
              </a:rPr>
              <a:t>12</a:t>
            </a:r>
            <a:r>
              <a:rPr kumimoji="0" lang="zh-CN" altLang="en-US" sz="900" b="0" i="1" u="none" strike="noStrike" kern="1200" cap="none" spc="0" normalizeH="0" baseline="0" noProof="0" dirty="0" smtClean="0">
                <a:ln>
                  <a:noFill/>
                </a:ln>
                <a:solidFill>
                  <a:prstClr val="black"/>
                </a:solidFill>
                <a:effectLst/>
                <a:uLnTx/>
                <a:uFillTx/>
                <a:latin typeface="等线" panose="02010600030101010101" charset="-122"/>
                <a:ea typeface="等线" panose="02010600030101010101" charset="-122"/>
                <a:cs typeface="+mn-cs"/>
              </a:rPr>
              <a:t>月</a:t>
            </a:r>
            <a:r>
              <a:rPr kumimoji="0" lang="zh-CN" altLang="en-US" sz="900" b="0" i="1"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a:t>
            </a:r>
            <a:endParaRPr kumimoji="0" lang="zh-CN" altLang="en-US" sz="900" b="0" i="1"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9" name="文本框 8"/>
          <p:cNvSpPr txBox="1"/>
          <p:nvPr/>
        </p:nvSpPr>
        <p:spPr>
          <a:xfrm>
            <a:off x="245836" y="1028700"/>
            <a:ext cx="11631839" cy="10001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10" name="矩形 9"/>
          <p:cNvSpPr/>
          <p:nvPr/>
        </p:nvSpPr>
        <p:spPr>
          <a:xfrm>
            <a:off x="333114" y="850218"/>
            <a:ext cx="11574406" cy="1383665"/>
          </a:xfrm>
          <a:prstGeom prst="rect">
            <a:avLst/>
          </a:prstGeom>
          <a:solidFill>
            <a:schemeClr val="bg1">
              <a:lumMod val="95000"/>
            </a:schemeClr>
          </a:solidFill>
        </p:spPr>
        <p:txBody>
          <a:bodyPr wrap="square">
            <a:spAutoFit/>
          </a:bodyPr>
          <a:lstStyle/>
          <a:p>
            <a:pPr marL="298450" lvl="0" indent="-285750">
              <a:lnSpc>
                <a:spcPct val="150000"/>
              </a:lnSpc>
              <a:buFont typeface="Arial" panose="020B0604020202020204" pitchFamily="34" charset="0"/>
              <a:buChar char="•"/>
              <a:defRPr/>
            </a:pPr>
            <a:r>
              <a:rPr kumimoji="0" lang="zh-CN" altLang="zh-TW"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公司</a:t>
            </a:r>
            <a:r>
              <a:rPr kumimoji="0" lang="zh-TW" altLang="en-US"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管理</a:t>
            </a:r>
            <a:r>
              <a:rPr kumimoji="0" lang="zh-CN" altLang="zh-TW"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规模</a:t>
            </a:r>
            <a:r>
              <a:rPr kumimoji="0" lang="zh-TW" altLang="en-US"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a:t>
            </a:r>
            <a:r>
              <a:rPr kumimoji="0" lang="zh-TW" altLang="en-US" sz="140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截至</a:t>
            </a:r>
            <a:r>
              <a:rPr kumimoji="0" lang="en-US" altLang="zh-TW" sz="140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2024</a:t>
            </a:r>
            <a:r>
              <a:rPr kumimoji="0" lang="zh-CN" altLang="en-US" sz="140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年</a:t>
            </a:r>
            <a:r>
              <a:rPr kumimoji="0" lang="zh-TW" altLang="en-US" sz="140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1</a:t>
            </a:r>
            <a:r>
              <a:rPr kumimoji="0" lang="en-US" altLang="zh-TW" sz="140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2</a:t>
            </a:r>
            <a:r>
              <a:rPr kumimoji="0" lang="zh-TW" altLang="en-US" sz="140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月，</a:t>
            </a:r>
            <a:r>
              <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景林总管理规模过千亿人民币，其中国内二级市场人民币基金规模超过</a:t>
            </a:r>
            <a:r>
              <a:rPr kumimoji="0" lang="en-US" altLang="zh-CN"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800</a:t>
            </a:r>
            <a:r>
              <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亿，海外二级市场</a:t>
            </a:r>
            <a:r>
              <a:rPr kumimoji="0" lang="en-US" altLang="zh-CN"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70</a:t>
            </a:r>
            <a:r>
              <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亿美金。</a:t>
            </a:r>
            <a:endPar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endParaRPr>
          </a:p>
          <a:p>
            <a:pPr marL="298450" lvl="0" indent="-285750">
              <a:lnSpc>
                <a:spcPct val="150000"/>
              </a:lnSpc>
              <a:buFont typeface="Arial" panose="020B0604020202020204" pitchFamily="34" charset="0"/>
              <a:buChar char="•"/>
              <a:defRPr/>
            </a:pPr>
            <a:r>
              <a:rPr kumimoji="0" lang="zh-CN" altLang="en-US"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在诺亚的存续规模</a:t>
            </a:r>
            <a:r>
              <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a:t>
            </a:r>
            <a:r>
              <a:rPr kumimoji="0" lang="zh-CN" altLang="en-US" sz="1400" b="0" i="0" u="none" strike="noStrike" kern="1200" cap="none" spc="0" normalizeH="0" baseline="0" noProof="0" dirty="0" smtClean="0">
                <a:ln>
                  <a:noFill/>
                </a:ln>
                <a:solidFill>
                  <a:prstClr val="black"/>
                </a:solidFill>
                <a:effectLst/>
                <a:uLnTx/>
                <a:uFillTx/>
                <a:latin typeface="等线 Light" panose="02010600030101010101" charset="-122"/>
                <a:ea typeface="等线 Light" panose="02010600030101010101" charset="-122"/>
                <a:cs typeface="+mn-ea"/>
                <a:sym typeface="+mn-lt"/>
              </a:rPr>
              <a:t>美元</a:t>
            </a:r>
            <a:r>
              <a:rPr kumimoji="0" lang="zh-TW" altLang="en-US" sz="1400" b="0" i="0" u="none" strike="noStrike" kern="1200" cap="none" spc="0" normalizeH="0" baseline="0" noProof="0" dirty="0" smtClean="0">
                <a:ln>
                  <a:noFill/>
                </a:ln>
                <a:solidFill>
                  <a:prstClr val="black"/>
                </a:solidFill>
                <a:effectLst/>
                <a:uLnTx/>
                <a:uFillTx/>
                <a:latin typeface="等线 Light" panose="02010600030101010101" charset="-122"/>
                <a:ea typeface="等线 Light" panose="02010600030101010101" charset="-122"/>
                <a:cs typeface="+mn-ea"/>
                <a:sym typeface="+mn-lt"/>
              </a:rPr>
              <a:t>存量</a:t>
            </a:r>
            <a:r>
              <a:rPr kumimoji="0" lang="zh-CN" altLang="zh-TW"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超过</a:t>
            </a:r>
            <a:r>
              <a:rPr kumimoji="0" lang="en-US" altLang="zh-TW"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3.5</a:t>
            </a:r>
            <a:r>
              <a:rPr kumimoji="0" lang="zh-CN" altLang="en-US" sz="1400" b="0" i="0" u="none" strike="noStrike" kern="1200" cap="none" spc="0" normalizeH="0" baseline="0" noProof="0" dirty="0" smtClean="0">
                <a:ln>
                  <a:noFill/>
                </a:ln>
                <a:solidFill>
                  <a:prstClr val="black"/>
                </a:solidFill>
                <a:effectLst/>
                <a:uLnTx/>
                <a:uFillTx/>
                <a:latin typeface="等线 Light" panose="02010600030101010101" charset="-122"/>
                <a:ea typeface="等线 Light" panose="02010600030101010101" charset="-122"/>
                <a:cs typeface="+mn-ea"/>
                <a:sym typeface="+mn-lt"/>
              </a:rPr>
              <a:t>亿</a:t>
            </a:r>
            <a:r>
              <a:rPr lang="zh-CN" altLang="en-US" sz="1400" dirty="0" smtClean="0">
                <a:solidFill>
                  <a:prstClr val="black"/>
                </a:solidFill>
                <a:latin typeface="等线 Light" panose="02010600030101010101" charset="-122"/>
                <a:ea typeface="等线 Light" panose="02010600030101010101" charset="-122"/>
                <a:cs typeface="+mn-ea"/>
                <a:sym typeface="+mn-lt"/>
              </a:rPr>
              <a:t>；人民币存量</a:t>
            </a:r>
            <a:r>
              <a:rPr lang="en-US" altLang="zh-CN" sz="1400" dirty="0">
                <a:solidFill>
                  <a:prstClr val="black"/>
                </a:solidFill>
                <a:latin typeface="等线 Light" panose="02010600030101010101" charset="-122"/>
                <a:ea typeface="等线 Light" panose="02010600030101010101" charset="-122"/>
                <a:cs typeface="+mn-ea"/>
                <a:sym typeface="+mn-lt"/>
              </a:rPr>
              <a:t>92.6</a:t>
            </a:r>
            <a:r>
              <a:rPr lang="zh-CN" altLang="en-US" sz="1400" dirty="0">
                <a:solidFill>
                  <a:prstClr val="black"/>
                </a:solidFill>
                <a:latin typeface="等线 Light" panose="02010600030101010101" charset="-122"/>
                <a:ea typeface="等线 Light" panose="02010600030101010101" charset="-122"/>
                <a:cs typeface="+mn-ea"/>
                <a:sym typeface="+mn-lt"/>
              </a:rPr>
              <a:t>亿</a:t>
            </a:r>
            <a:r>
              <a:rPr lang="zh-CN" altLang="en-US" sz="1400" dirty="0" smtClean="0">
                <a:solidFill>
                  <a:prstClr val="black"/>
                </a:solidFill>
                <a:latin typeface="等线 Light" panose="02010600030101010101" charset="-122"/>
                <a:ea typeface="等线 Light" panose="02010600030101010101" charset="-122"/>
                <a:cs typeface="+mn-ea"/>
                <a:sym typeface="+mn-lt"/>
              </a:rPr>
              <a:t>元。</a:t>
            </a:r>
            <a:endParaRPr kumimoji="0" lang="zh-TW"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endParaRPr>
          </a:p>
          <a:p>
            <a:pPr marL="2984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zh-CN" altLang="zh-TW"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团队</a:t>
            </a:r>
            <a:r>
              <a:rPr kumimoji="0" lang="zh-TW" altLang="en-US"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情况</a:t>
            </a:r>
            <a:r>
              <a:rPr kumimoji="0" lang="zh-TW" altLang="en-US" sz="1400" b="1" i="0" u="none" strike="noStrike" kern="1200" cap="none" spc="0" normalizeH="0" baseline="0" noProof="0" dirty="0" smtClean="0">
                <a:ln>
                  <a:noFill/>
                </a:ln>
                <a:solidFill>
                  <a:prstClr val="black"/>
                </a:solidFill>
                <a:effectLst/>
                <a:uLnTx/>
                <a:uFillTx/>
                <a:latin typeface="等线 Light" panose="02010600030101010101" charset="-122"/>
                <a:ea typeface="等线 Light" panose="02010600030101010101" charset="-122"/>
                <a:cs typeface="+mn-ea"/>
                <a:sym typeface="+mn-lt"/>
              </a:rPr>
              <a:t>：</a:t>
            </a:r>
            <a:r>
              <a:rPr kumimoji="0" lang="zh-CN" altLang="en-US" sz="1400" i="0" u="none" strike="noStrike" kern="1200" cap="none" spc="0" normalizeH="0" baseline="0" noProof="0" dirty="0" smtClean="0">
                <a:ln>
                  <a:noFill/>
                </a:ln>
                <a:solidFill>
                  <a:prstClr val="black"/>
                </a:solidFill>
                <a:effectLst/>
                <a:uLnTx/>
                <a:uFillTx/>
                <a:latin typeface="等线 Light" panose="02010600030101010101" charset="-122"/>
                <a:ea typeface="等线 Light" panose="02010600030101010101" charset="-122"/>
                <a:cs typeface="+mn-ea"/>
                <a:sym typeface="+mn-lt"/>
              </a:rPr>
              <a:t>4位</a:t>
            </a:r>
            <a:r>
              <a:rPr kumimoji="0" lang="zh-CN" altLang="en-US" sz="1400" b="0" i="0" u="none" strike="noStrike" kern="1200" cap="none" spc="0" normalizeH="0" baseline="0" noProof="0" dirty="0" smtClean="0">
                <a:ln>
                  <a:noFill/>
                </a:ln>
                <a:solidFill>
                  <a:prstClr val="black"/>
                </a:solidFill>
                <a:effectLst/>
                <a:uLnTx/>
                <a:uFillTx/>
                <a:latin typeface="等线 Light" panose="02010600030101010101" charset="-122"/>
                <a:ea typeface="等线 Light" panose="02010600030101010101" charset="-122"/>
                <a:cs typeface="+mn-ea"/>
                <a:sym typeface="+mn-lt"/>
              </a:rPr>
              <a:t>核心基金经</a:t>
            </a:r>
            <a:r>
              <a:rPr kumimoji="0" lang="zh-CN" altLang="zh-TW"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理</a:t>
            </a:r>
            <a:r>
              <a:rPr kumimoji="0" lang="zh-TW"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蒋</a:t>
            </a:r>
            <a:r>
              <a:rPr kumimoji="0" lang="zh-CN" altLang="zh-TW"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锦</a:t>
            </a:r>
            <a:r>
              <a:rPr kumimoji="0" lang="zh-TW"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志</a:t>
            </a:r>
            <a:r>
              <a:rPr kumimoji="0" lang="zh-CN" altLang="zh-TW"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、高云程、金美桥、蒋彤</a:t>
            </a:r>
            <a:r>
              <a:rPr kumimoji="0" lang="zh-TW"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，投研</a:t>
            </a:r>
            <a:r>
              <a:rPr kumimoji="0" lang="zh-CN" altLang="zh-TW"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团队</a:t>
            </a:r>
            <a:r>
              <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约</a:t>
            </a:r>
            <a:r>
              <a:rPr kumimoji="0" lang="en-US" altLang="zh-CN"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30</a:t>
            </a:r>
            <a:r>
              <a:rPr kumimoji="0" lang="zh-TW"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人，</a:t>
            </a:r>
            <a:r>
              <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人员分布在上海、香港、新加坡，</a:t>
            </a:r>
            <a:r>
              <a:rPr lang="zh-CN" altLang="en-US" sz="1400" noProof="0" dirty="0">
                <a:ln>
                  <a:noFill/>
                </a:ln>
                <a:solidFill>
                  <a:prstClr val="black"/>
                </a:solidFill>
                <a:effectLst/>
                <a:uLnTx/>
                <a:uFillTx/>
                <a:latin typeface="等线 Light" panose="02010600030101010101" charset="-122"/>
                <a:ea typeface="等线 Light" panose="02010600030101010101" charset="-122"/>
                <a:cs typeface="+mn-ea"/>
                <a:sym typeface="+mn-lt"/>
              </a:rPr>
              <a:t>平均</a:t>
            </a:r>
            <a:r>
              <a:rPr lang="en-US" altLang="zh-CN" sz="1400" noProof="0" dirty="0">
                <a:ln>
                  <a:noFill/>
                </a:ln>
                <a:solidFill>
                  <a:prstClr val="black"/>
                </a:solidFill>
                <a:effectLst/>
                <a:uLnTx/>
                <a:uFillTx/>
                <a:latin typeface="等线 Light" panose="02010600030101010101" charset="-122"/>
                <a:ea typeface="等线 Light" panose="02010600030101010101" charset="-122"/>
                <a:cs typeface="+mn-ea"/>
                <a:sym typeface="+mn-lt"/>
              </a:rPr>
              <a:t>9</a:t>
            </a:r>
            <a:r>
              <a:rPr lang="zh-CN" altLang="en-US" sz="1400" noProof="0" dirty="0">
                <a:ln>
                  <a:noFill/>
                </a:ln>
                <a:solidFill>
                  <a:prstClr val="black"/>
                </a:solidFill>
                <a:effectLst/>
                <a:uLnTx/>
                <a:uFillTx/>
                <a:latin typeface="等线 Light" panose="02010600030101010101" charset="-122"/>
                <a:ea typeface="等线 Light" panose="02010600030101010101" charset="-122"/>
                <a:cs typeface="+mn-ea"/>
                <a:sym typeface="+mn-lt"/>
              </a:rPr>
              <a:t>年以上的行业研究经验，专注于中国、美国以及亚洲其他新兴市场</a:t>
            </a:r>
            <a:r>
              <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；行业</a:t>
            </a:r>
            <a:r>
              <a:rPr kumimoji="0" lang="zh-TW"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分</a:t>
            </a:r>
            <a:r>
              <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rPr>
              <a:t>消费、医药、科技、周期四大主题板块行业。</a:t>
            </a:r>
            <a:endPar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ea"/>
              <a:sym typeface="+mn-lt"/>
            </a:endParaRPr>
          </a:p>
        </p:txBody>
      </p:sp>
      <p:graphicFrame>
        <p:nvGraphicFramePr>
          <p:cNvPr id="7" name="Table 6"/>
          <p:cNvGraphicFramePr>
            <a:graphicFrameLocks noGrp="1"/>
          </p:cNvGraphicFramePr>
          <p:nvPr>
            <p:custDataLst>
              <p:tags r:id="rId1"/>
            </p:custDataLst>
          </p:nvPr>
        </p:nvGraphicFramePr>
        <p:xfrm>
          <a:off x="347345" y="2592070"/>
          <a:ext cx="11560175" cy="2908935"/>
        </p:xfrm>
        <a:graphic>
          <a:graphicData uri="http://schemas.openxmlformats.org/drawingml/2006/table">
            <a:tbl>
              <a:tblPr/>
              <a:tblGrid>
                <a:gridCol w="1409700"/>
                <a:gridCol w="1268730"/>
                <a:gridCol w="1254125"/>
                <a:gridCol w="1247775"/>
                <a:gridCol w="1007745"/>
                <a:gridCol w="1430655"/>
                <a:gridCol w="1113155"/>
                <a:gridCol w="2828290"/>
              </a:tblGrid>
              <a:tr h="515620">
                <a:tc>
                  <a:txBody>
                    <a:bodyPr/>
                    <a:lstStyle/>
                    <a:p>
                      <a:pPr algn="ctr" fontAlgn="ctr"/>
                      <a:r>
                        <a:rPr lang="zh-HK" altLang="en-US" sz="1200" b="1" i="0" u="none" strike="noStrike" dirty="0">
                          <a:solidFill>
                            <a:schemeClr val="bg1"/>
                          </a:solidFill>
                          <a:effectLst/>
                          <a:latin typeface="PMingLiU"/>
                        </a:rPr>
                        <a:t>　</a:t>
                      </a:r>
                      <a:endParaRPr lang="zh-HK" altLang="en-US" sz="1200" b="1" i="0" u="none" strike="noStrike" dirty="0">
                        <a:solidFill>
                          <a:schemeClr val="bg1"/>
                        </a:solidFill>
                        <a:effectLst/>
                        <a:latin typeface="PMingLiU"/>
                      </a:endParaRPr>
                    </a:p>
                  </a:txBody>
                  <a:tcPr marL="3756" marR="3756" marT="37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rtl="0" fontAlgn="ctr"/>
                      <a:r>
                        <a:rPr lang="zh-HK" altLang="en-US" sz="1200" b="1" i="0" u="none" strike="noStrike" dirty="0">
                          <a:solidFill>
                            <a:schemeClr val="bg1"/>
                          </a:solidFill>
                          <a:effectLst/>
                          <a:latin typeface="等线 Light" panose="02010600030101010101" charset="-122"/>
                          <a:ea typeface="等线 Light" panose="02010600030101010101" charset="-122"/>
                        </a:rPr>
                        <a:t>基金名称</a:t>
                      </a:r>
                      <a:endParaRPr lang="zh-HK" altLang="en-US" sz="1200" b="1" i="0" u="none" strike="noStrike" dirty="0">
                        <a:solidFill>
                          <a:schemeClr val="bg1"/>
                        </a:solidFill>
                        <a:effectLst/>
                        <a:latin typeface="等线 Light" panose="02010600030101010101" charset="-122"/>
                        <a:ea typeface="等线 Light" panose="02010600030101010101" charset="-122"/>
                      </a:endParaRPr>
                    </a:p>
                  </a:txBody>
                  <a:tcPr marL="3756" marR="3756" marT="3756" marB="0" anchor="ctr">
                    <a:lnL>
                      <a:noFill/>
                    </a:lnL>
                    <a:lnR>
                      <a:noFill/>
                    </a:lnR>
                    <a:lnT w="12700" cap="flat" cmpd="sng" algn="ctr">
                      <a:solidFill>
                        <a:schemeClr val="tx1"/>
                      </a:solidFill>
                      <a:prstDash val="solid"/>
                      <a:round/>
                      <a:headEnd type="none" w="med" len="med"/>
                      <a:tailEnd type="none" w="med" len="med"/>
                    </a:lnT>
                    <a:lnB w="12700">
                      <a:solidFill>
                        <a:schemeClr val="tx1"/>
                      </a:solidFill>
                      <a:prstDash val="solid"/>
                    </a:lnB>
                    <a:solidFill>
                      <a:srgbClr val="002060"/>
                    </a:solidFill>
                  </a:tcPr>
                </a:tc>
                <a:tc>
                  <a:txBody>
                    <a:bodyPr/>
                    <a:lstStyle/>
                    <a:p>
                      <a:pPr algn="ctr" rtl="0" fontAlgn="ctr">
                        <a:buNone/>
                      </a:pPr>
                      <a:r>
                        <a:rPr lang="zh-CN" altLang="en-US" sz="1200" b="1">
                          <a:solidFill>
                            <a:schemeClr val="bg1"/>
                          </a:solidFill>
                          <a:effectLst/>
                          <a:latin typeface="等线 Light" panose="02010600030101010101" charset="-122"/>
                          <a:ea typeface="等线 Light" panose="02010600030101010101" charset="-122"/>
                          <a:sym typeface="+mn-ea"/>
                        </a:rPr>
                        <a:t>核心投资经理</a:t>
                      </a:r>
                      <a:endParaRPr lang="zh-CN" altLang="en-US" sz="1200" b="1" i="0" u="none" strike="noStrike" dirty="0">
                        <a:solidFill>
                          <a:schemeClr val="bg1"/>
                        </a:solidFill>
                        <a:effectLst/>
                        <a:latin typeface="等线 Light" panose="02010600030101010101" charset="-122"/>
                        <a:ea typeface="等线 Light" panose="02010600030101010101" charset="-122"/>
                        <a:sym typeface="+mn-ea"/>
                      </a:endParaRPr>
                    </a:p>
                  </a:txBody>
                  <a:tcPr marL="3756" marR="3756" marT="37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rtl="0" fontAlgn="ctr"/>
                      <a:r>
                        <a:rPr lang="zh-HK" altLang="en-US" sz="1200" b="1" i="0" u="none" strike="noStrike" dirty="0">
                          <a:solidFill>
                            <a:schemeClr val="bg1"/>
                          </a:solidFill>
                          <a:effectLst/>
                          <a:latin typeface="等线 Light" panose="02010600030101010101" charset="-122"/>
                          <a:ea typeface="等线 Light" panose="02010600030101010101" charset="-122"/>
                        </a:rPr>
                        <a:t>策略类型</a:t>
                      </a:r>
                      <a:endParaRPr lang="zh-HK" altLang="en-US" sz="1200" b="1" i="0" u="none" strike="noStrike" dirty="0">
                        <a:solidFill>
                          <a:schemeClr val="bg1"/>
                        </a:solidFill>
                        <a:effectLst/>
                        <a:latin typeface="等线 Light" panose="02010600030101010101" charset="-122"/>
                        <a:ea typeface="等线 Light" panose="02010600030101010101" charset="-122"/>
                      </a:endParaRPr>
                    </a:p>
                  </a:txBody>
                  <a:tcPr marL="3756" marR="3756" marT="37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rtl="0" fontAlgn="ctr"/>
                      <a:r>
                        <a:rPr lang="zh-HK" altLang="en-US" sz="1200" b="1" i="0" u="none" strike="noStrike">
                          <a:solidFill>
                            <a:schemeClr val="bg1"/>
                          </a:solidFill>
                          <a:effectLst/>
                          <a:latin typeface="等线 Light" panose="02010600030101010101" charset="-122"/>
                          <a:ea typeface="等线 Light" panose="02010600030101010101" charset="-122"/>
                        </a:rPr>
                        <a:t>海外主基金规模（亿美元）</a:t>
                      </a:r>
                      <a:endParaRPr lang="zh-HK" altLang="en-US" sz="1200" b="1" i="0" u="none" strike="noStrike">
                        <a:solidFill>
                          <a:schemeClr val="bg1"/>
                        </a:solidFill>
                        <a:effectLst/>
                        <a:latin typeface="等线 Light" panose="02010600030101010101" charset="-122"/>
                        <a:ea typeface="等线 Light" panose="02010600030101010101" charset="-122"/>
                      </a:endParaRPr>
                    </a:p>
                  </a:txBody>
                  <a:tcPr marL="3756" marR="3756" marT="37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rtl="0" fontAlgn="ctr"/>
                      <a:r>
                        <a:rPr lang="zh-CN" altLang="en-US" sz="1200" b="1" i="0" u="none" strike="noStrike">
                          <a:solidFill>
                            <a:schemeClr val="bg1"/>
                          </a:solidFill>
                          <a:effectLst/>
                          <a:latin typeface="等线 Light" panose="02010600030101010101" charset="-122"/>
                          <a:ea typeface="等线 Light" panose="02010600030101010101" charset="-122"/>
                        </a:rPr>
                        <a:t>诺亚存续规模</a:t>
                      </a:r>
                      <a:endParaRPr lang="zh-CN" altLang="en-US" sz="1200" b="1" i="0" u="none" strike="noStrike">
                        <a:solidFill>
                          <a:schemeClr val="bg1"/>
                        </a:solidFill>
                        <a:effectLst/>
                        <a:latin typeface="等线 Light" panose="02010600030101010101" charset="-122"/>
                        <a:ea typeface="等线 Light" panose="02010600030101010101" charset="-122"/>
                      </a:endParaRPr>
                    </a:p>
                    <a:p>
                      <a:pPr algn="ctr" rtl="0" fontAlgn="ctr"/>
                      <a:r>
                        <a:rPr lang="zh-HK" altLang="en-US" sz="1200" b="1" i="0" u="none" strike="noStrike">
                          <a:solidFill>
                            <a:schemeClr val="bg1"/>
                          </a:solidFill>
                          <a:effectLst/>
                          <a:latin typeface="等线 Light" panose="02010600030101010101" charset="-122"/>
                          <a:ea typeface="等线 Light" panose="02010600030101010101" charset="-122"/>
                        </a:rPr>
                        <a:t>（亿美元）</a:t>
                      </a:r>
                      <a:r>
                        <a:rPr lang="zh-HK" altLang="en-US" sz="1200" b="1" i="0" u="none" strike="noStrike">
                          <a:solidFill>
                            <a:schemeClr val="bg1"/>
                          </a:solidFill>
                          <a:effectLst/>
                          <a:latin typeface="PMingLiU"/>
                        </a:rPr>
                        <a:t>　</a:t>
                      </a:r>
                      <a:endParaRPr lang="zh-HK" altLang="en-US" sz="1200" b="1" i="0" u="none" strike="noStrike">
                        <a:solidFill>
                          <a:schemeClr val="bg1"/>
                        </a:solidFill>
                        <a:effectLst/>
                        <a:latin typeface="PMingLiU"/>
                      </a:endParaRPr>
                    </a:p>
                  </a:txBody>
                  <a:tcPr marL="3756" marR="3756" marT="37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rtl="0" fontAlgn="ctr"/>
                      <a:r>
                        <a:rPr lang="zh-CN" altLang="en-US" sz="1200" b="1" i="0" u="none" strike="noStrike">
                          <a:solidFill>
                            <a:schemeClr val="bg1"/>
                          </a:solidFill>
                          <a:effectLst/>
                          <a:latin typeface="等线 Light" panose="02010600030101010101" charset="-122"/>
                          <a:ea typeface="等线 Light" panose="02010600030101010101" charset="-122"/>
                        </a:rPr>
                        <a:t>诺亚上架日期</a:t>
                      </a:r>
                      <a:endParaRPr lang="zh-CN" altLang="en-US" sz="1200" b="1" i="0" u="none" strike="noStrike">
                        <a:solidFill>
                          <a:schemeClr val="bg1"/>
                        </a:solidFill>
                        <a:effectLst/>
                        <a:latin typeface="等线 Light" panose="02010600030101010101" charset="-122"/>
                        <a:ea typeface="等线 Light" panose="02010600030101010101" charset="-122"/>
                      </a:endParaRPr>
                    </a:p>
                  </a:txBody>
                  <a:tcPr marL="3756" marR="3756" marT="37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rtl="0" fontAlgn="ctr"/>
                      <a:r>
                        <a:rPr lang="zh-HK" altLang="en-US" sz="1200" b="1" i="0" u="none" strike="noStrike">
                          <a:solidFill>
                            <a:schemeClr val="bg1"/>
                          </a:solidFill>
                          <a:effectLst/>
                          <a:latin typeface="等线 Light" panose="02010600030101010101" charset="-122"/>
                          <a:ea typeface="等线 Light" panose="02010600030101010101" charset="-122"/>
                        </a:rPr>
                        <a:t>投资方向</a:t>
                      </a:r>
                      <a:endParaRPr lang="zh-HK" altLang="en-US" sz="1200" b="1" i="0" u="none" strike="noStrike">
                        <a:solidFill>
                          <a:schemeClr val="bg1"/>
                        </a:solidFill>
                        <a:effectLst/>
                        <a:latin typeface="等线 Light" panose="02010600030101010101" charset="-122"/>
                        <a:ea typeface="等线 Light" panose="02010600030101010101" charset="-122"/>
                      </a:endParaRPr>
                    </a:p>
                  </a:txBody>
                  <a:tcPr marL="3756" marR="3756" marT="37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r>
              <a:tr h="379095">
                <a:tc rowSpan="4">
                  <a:txBody>
                    <a:bodyPr/>
                    <a:lstStyle/>
                    <a:p>
                      <a:pPr algn="ctr" fontAlgn="ctr"/>
                      <a:r>
                        <a:rPr lang="zh-CN" altLang="en-US" sz="1200" b="1" i="0" u="none" strike="noStrike">
                          <a:solidFill>
                            <a:srgbClr val="000000"/>
                          </a:solidFill>
                          <a:effectLst/>
                          <a:latin typeface="等线" panose="02010600030101010101" charset="-122"/>
                          <a:ea typeface="等线" panose="02010600030101010101" charset="-122"/>
                        </a:rPr>
                        <a:t>美元存量产品</a:t>
                      </a:r>
                      <a:endParaRPr lang="zh-CN" altLang="en-US" sz="1200" b="1" i="0" u="none" strike="noStrike">
                        <a:solidFill>
                          <a:srgbClr val="000000"/>
                        </a:solidFill>
                        <a:effectLst/>
                        <a:latin typeface="等线" panose="02010600030101010101" charset="-122"/>
                        <a:ea typeface="等线" panose="02010600030101010101" charset="-122"/>
                      </a:endParaRPr>
                    </a:p>
                  </a:txBody>
                  <a:tcPr marL="3756" marR="3756" marT="3756" marB="0" anchor="ctr" anchorCtr="0">
                    <a:lnL>
                      <a:noFill/>
                    </a:lnL>
                    <a:lnR>
                      <a:noFill/>
                    </a:lnR>
                    <a:lnT w="12700" cap="flat" cmpd="sng" algn="ctr">
                      <a:solidFill>
                        <a:schemeClr val="tx1"/>
                      </a:solidFill>
                      <a:prstDash val="solid"/>
                      <a:round/>
                      <a:headEnd type="none" w="med" len="med"/>
                      <a:tailEnd type="none" w="med" len="med"/>
                    </a:lnT>
                    <a:lnB w="12700">
                      <a:solidFill>
                        <a:schemeClr val="tx1"/>
                      </a:solidFill>
                      <a:prstDash val="solid"/>
                    </a:lnB>
                  </a:tcPr>
                </a:tc>
                <a:tc>
                  <a:txBody>
                    <a:bodyPr/>
                    <a:lstStyle/>
                    <a:p>
                      <a:pPr algn="ctr" rtl="0" fontAlgn="ctr"/>
                      <a:r>
                        <a:rPr lang="zh-CN" altLang="en-US" sz="1200" b="0" i="0" u="none" strike="noStrike">
                          <a:solidFill>
                            <a:srgbClr val="000000"/>
                          </a:solidFill>
                          <a:effectLst/>
                          <a:latin typeface="等线 Light" panose="02010600030101010101" charset="-122"/>
                          <a:ea typeface="等线 Light" panose="02010600030101010101" charset="-122"/>
                        </a:rPr>
                        <a:t>景林金色中国</a:t>
                      </a:r>
                      <a:endParaRPr lang="zh-CN" altLang="en-US" sz="1200" b="0" i="0" u="none" strike="noStrike">
                        <a:solidFill>
                          <a:srgbClr val="000000"/>
                        </a:solidFill>
                        <a:effectLst/>
                        <a:latin typeface="等线 Light" panose="02010600030101010101" charset="-122"/>
                        <a:ea typeface="等线 Light" panose="02010600030101010101" charset="-122"/>
                      </a:endParaRPr>
                    </a:p>
                    <a:p>
                      <a:pPr algn="ctr" rtl="0" fontAlgn="ctr"/>
                      <a:r>
                        <a:rPr lang="zh-CN" altLang="en-US" sz="1200" b="0" i="0" u="none" strike="noStrike" dirty="0">
                          <a:solidFill>
                            <a:srgbClr val="000000"/>
                          </a:solidFill>
                          <a:effectLst/>
                          <a:latin typeface="等线 Light" panose="02010600030101010101" charset="-122"/>
                          <a:ea typeface="等线 Light" panose="02010600030101010101" charset="-122"/>
                        </a:rPr>
                        <a:t>（旗舰基金）</a:t>
                      </a:r>
                      <a:endParaRPr lang="zh-CN" altLang="en-US" sz="1200" b="0" i="0" u="none" strike="noStrike" dirty="0">
                        <a:solidFill>
                          <a:srgbClr val="000000"/>
                        </a:solidFill>
                        <a:effectLst/>
                        <a:latin typeface="等线 Light" panose="02010600030101010101" charset="-122"/>
                        <a:ea typeface="等线 Light" panose="02010600030101010101" charset="-122"/>
                      </a:endParaRPr>
                    </a:p>
                  </a:txBody>
                  <a:tcPr marL="3756" marR="3756" marT="3756" marB="0" anchor="ctr" anchorCtr="0">
                    <a:lnL>
                      <a:noFill/>
                    </a:lnL>
                    <a:lnR>
                      <a:noFill/>
                    </a:lnR>
                    <a:lnT w="12700">
                      <a:solidFill>
                        <a:schemeClr val="tx1"/>
                      </a:solidFill>
                      <a:prstDash val="solid"/>
                    </a:lnT>
                    <a:lnB>
                      <a:noFill/>
                    </a:lnB>
                    <a:lnTlToBr>
                      <a:noFill/>
                    </a:lnTlToBr>
                    <a:lnBlToTr>
                      <a:noFill/>
                    </a:lnBlToTr>
                    <a:solidFill>
                      <a:srgbClr val="FFFFFF"/>
                    </a:solidFill>
                  </a:tcPr>
                </a:tc>
                <a:tc>
                  <a:txBody>
                    <a:bodyPr/>
                    <a:lstStyle/>
                    <a:p>
                      <a:pPr algn="ctr" rtl="0" fontAlgn="ctr"/>
                      <a:r>
                        <a:rPr lang="zh-HK" altLang="en-US" sz="1200" b="0" i="0" u="none" strike="noStrike">
                          <a:solidFill>
                            <a:srgbClr val="000000"/>
                          </a:solidFill>
                          <a:effectLst/>
                          <a:latin typeface="等线 Light" panose="02010600030101010101" charset="-122"/>
                          <a:ea typeface="等线 Light" panose="02010600030101010101" charset="-122"/>
                        </a:rPr>
                        <a:t>蒋锦志</a:t>
                      </a:r>
                      <a:endParaRPr lang="zh-HK" altLang="en-US" sz="1200" b="0" i="0" u="none" strike="noStrike" dirty="0">
                        <a:solidFill>
                          <a:srgbClr val="000000"/>
                        </a:solidFill>
                        <a:effectLst/>
                        <a:latin typeface="等线 Light" panose="02010600030101010101" charset="-122"/>
                        <a:ea typeface="等线 Light" panose="02010600030101010101" charset="-122"/>
                      </a:endParaRPr>
                    </a:p>
                  </a:txBody>
                  <a:tcPr marL="3756" marR="3756" marT="3756" marB="0" anchor="ctr" anchorCtr="0">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rtl="0" fontAlgn="ctr"/>
                      <a:r>
                        <a:rPr lang="zh-HK" altLang="en-US" sz="1200" b="0" i="0" u="none" strike="noStrike" dirty="0">
                          <a:solidFill>
                            <a:srgbClr val="000000"/>
                          </a:solidFill>
                          <a:effectLst/>
                          <a:latin typeface="等线 Light" panose="02010600030101010101" charset="-122"/>
                          <a:ea typeface="等线 Light" panose="02010600030101010101" charset="-122"/>
                        </a:rPr>
                        <a:t>股票多空</a:t>
                      </a:r>
                      <a:endParaRPr lang="zh-HK" altLang="en-US" sz="1200" b="0" i="0" u="none" strike="noStrike" dirty="0">
                        <a:solidFill>
                          <a:srgbClr val="000000"/>
                        </a:solidFill>
                        <a:effectLst/>
                        <a:latin typeface="等线 Light" panose="02010600030101010101" charset="-122"/>
                        <a:ea typeface="等线 Light" panose="02010600030101010101" charset="-122"/>
                      </a:endParaRPr>
                    </a:p>
                  </a:txBody>
                  <a:tcPr marL="3756" marR="3756" marT="3756" marB="0" anchor="ctr" anchorCtr="0">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rtl="0" fontAlgn="ctr"/>
                      <a:r>
                        <a:rPr lang="en-US" altLang="zh-HK" sz="1200" b="0" i="0" u="none" strike="noStrike" dirty="0">
                          <a:solidFill>
                            <a:srgbClr val="000000"/>
                          </a:solidFill>
                          <a:effectLst/>
                          <a:latin typeface="等线 Light" panose="02010600030101010101" charset="-122"/>
                          <a:ea typeface="等线 Light" panose="02010600030101010101" charset="-122"/>
                        </a:rPr>
                        <a:t>20</a:t>
                      </a:r>
                      <a:endParaRPr lang="en-US" altLang="zh-HK" sz="1200" b="0" i="0" u="none" strike="noStrike" dirty="0">
                        <a:solidFill>
                          <a:srgbClr val="000000"/>
                        </a:solidFill>
                        <a:effectLst/>
                        <a:latin typeface="等线 Light" panose="02010600030101010101" charset="-122"/>
                        <a:ea typeface="等线 Light" panose="02010600030101010101" charset="-122"/>
                      </a:endParaRPr>
                    </a:p>
                  </a:txBody>
                  <a:tcPr marL="3756" marR="3756" marT="3756" marB="0" anchor="ctr" anchorCtr="0">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rtl="0" fontAlgn="ctr"/>
                      <a:r>
                        <a:rPr lang="en-US" altLang="zh-HK" sz="1200" b="0" i="0" u="none" strike="noStrike">
                          <a:solidFill>
                            <a:srgbClr val="000000"/>
                          </a:solidFill>
                          <a:effectLst/>
                          <a:latin typeface="等线 Light" panose="02010600030101010101" charset="-122"/>
                          <a:ea typeface="等线 Light" panose="02010600030101010101" charset="-122"/>
                        </a:rPr>
                        <a:t>3.24</a:t>
                      </a:r>
                      <a:endParaRPr lang="en-US" altLang="zh-HK" sz="1200" b="0" i="0" u="none" strike="noStrike">
                        <a:solidFill>
                          <a:srgbClr val="000000"/>
                        </a:solidFill>
                        <a:effectLst/>
                        <a:latin typeface="等线 Light" panose="02010600030101010101" charset="-122"/>
                        <a:ea typeface="等线 Light" panose="02010600030101010101" charset="-122"/>
                      </a:endParaRPr>
                    </a:p>
                  </a:txBody>
                  <a:tcPr marL="3756" marR="3756" marT="3756" marB="0" anchor="ctr" anchorCtr="0">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ctr" rtl="0" fontAlgn="ctr"/>
                      <a:r>
                        <a:rPr lang="en-US" altLang="zh-HK" sz="1200" b="0" i="0" u="none" strike="noStrike">
                          <a:solidFill>
                            <a:srgbClr val="000000"/>
                          </a:solidFill>
                          <a:effectLst/>
                          <a:latin typeface="等线 Light" panose="02010600030101010101" charset="-122"/>
                          <a:ea typeface="等线 Light" panose="02010600030101010101" charset="-122"/>
                        </a:rPr>
                        <a:t>2014/10</a:t>
                      </a:r>
                      <a:endParaRPr lang="en-US" altLang="zh-HK" sz="1200" b="0" i="0" u="none" strike="noStrike">
                        <a:solidFill>
                          <a:srgbClr val="000000"/>
                        </a:solidFill>
                        <a:effectLst/>
                        <a:latin typeface="等线 Light" panose="02010600030101010101" charset="-122"/>
                        <a:ea typeface="等线 Light" panose="02010600030101010101" charset="-122"/>
                      </a:endParaRPr>
                    </a:p>
                  </a:txBody>
                  <a:tcPr marL="3756" marR="3756" marT="3756" marB="0" anchor="ctr" anchorCtr="0">
                    <a:lnL>
                      <a:noFill/>
                    </a:lnL>
                    <a:lnR>
                      <a:noFill/>
                    </a:lnR>
                    <a:lnT w="12700" cap="flat" cmpd="sng" algn="ctr">
                      <a:solidFill>
                        <a:schemeClr val="tx1"/>
                      </a:solidFill>
                      <a:prstDash val="solid"/>
                      <a:round/>
                      <a:headEnd type="none" w="med" len="med"/>
                      <a:tailEnd type="none" w="med" len="med"/>
                    </a:lnT>
                    <a:lnB>
                      <a:noFill/>
                    </a:lnB>
                    <a:solidFill>
                      <a:srgbClr val="FFFFFF"/>
                    </a:solidFill>
                  </a:tcPr>
                </a:tc>
                <a:tc>
                  <a:txBody>
                    <a:bodyPr/>
                    <a:lstStyle/>
                    <a:p>
                      <a:pPr algn="l" rtl="0" fontAlgn="ctr"/>
                      <a:r>
                        <a:rPr lang="zh-CN" altLang="en-US" sz="1200" b="0" i="0" u="none" strike="noStrike">
                          <a:solidFill>
                            <a:srgbClr val="000000"/>
                          </a:solidFill>
                          <a:effectLst/>
                          <a:latin typeface="等线 Light" panose="02010600030101010101" charset="-122"/>
                          <a:ea typeface="等线 Light" panose="02010600030101010101" charset="-122"/>
                        </a:rPr>
                        <a:t>大中华区股票为主，少量美股</a:t>
                      </a:r>
                      <a:endParaRPr lang="zh-CN" altLang="en-US" sz="1200" b="0" i="0" u="none" strike="noStrike">
                        <a:solidFill>
                          <a:srgbClr val="000000"/>
                        </a:solidFill>
                        <a:effectLst/>
                        <a:latin typeface="等线 Light" panose="02010600030101010101" charset="-122"/>
                        <a:ea typeface="等线 Light" panose="02010600030101010101" charset="-122"/>
                      </a:endParaRPr>
                    </a:p>
                  </a:txBody>
                  <a:tcPr marL="3756" marR="3756" marT="3756" marB="0" anchor="ctr" anchorCtr="0">
                    <a:lnL>
                      <a:noFill/>
                    </a:lnL>
                    <a:lnR>
                      <a:noFill/>
                    </a:lnR>
                    <a:lnT w="12700" cap="flat" cmpd="sng" algn="ctr">
                      <a:solidFill>
                        <a:schemeClr val="tx1"/>
                      </a:solidFill>
                      <a:prstDash val="solid"/>
                      <a:round/>
                      <a:headEnd type="none" w="med" len="med"/>
                      <a:tailEnd type="none" w="med" len="med"/>
                    </a:lnT>
                    <a:lnB>
                      <a:noFill/>
                    </a:lnB>
                    <a:solidFill>
                      <a:srgbClr val="FFFFFF"/>
                    </a:solidFill>
                  </a:tcPr>
                </a:tc>
              </a:tr>
              <a:tr h="379730">
                <a:tc vMerge="1">
                  <a:tcPr>
                    <a:lnR>
                      <a:noFill/>
                    </a:lnR>
                  </a:tcPr>
                </a:tc>
                <a:tc>
                  <a:txBody>
                    <a:bodyPr/>
                    <a:lstStyle/>
                    <a:p>
                      <a:pPr algn="ctr" rtl="0" fontAlgn="ctr"/>
                      <a:r>
                        <a:rPr lang="zh-CN" altLang="en-US" sz="1200" b="0" i="0" u="none" strike="noStrike">
                          <a:solidFill>
                            <a:srgbClr val="000000"/>
                          </a:solidFill>
                          <a:effectLst/>
                          <a:latin typeface="等线 Light" panose="02010600030101010101" charset="-122"/>
                          <a:ea typeface="等线 Light" panose="02010600030101010101" charset="-122"/>
                        </a:rPr>
                        <a:t>景林中国医药健康</a:t>
                      </a:r>
                      <a:endParaRPr lang="zh-CN" altLang="en-US" sz="1200" b="0" i="0" u="none" strike="noStrike">
                        <a:solidFill>
                          <a:srgbClr val="000000"/>
                        </a:solidFill>
                        <a:effectLst/>
                        <a:latin typeface="等线 Light" panose="02010600030101010101" charset="-122"/>
                        <a:ea typeface="等线 Light" panose="02010600030101010101" charset="-122"/>
                      </a:endParaRPr>
                    </a:p>
                  </a:txBody>
                  <a:tcPr marL="3756" marR="3756" marT="3756" marB="0" anchor="ctr" anchorCtr="0">
                    <a:lnL>
                      <a:noFill/>
                    </a:lnL>
                    <a:lnR>
                      <a:noFill/>
                    </a:lnR>
                    <a:lnT>
                      <a:noFill/>
                    </a:lnT>
                    <a:lnB>
                      <a:noFill/>
                    </a:lnB>
                    <a:lnTlToBr>
                      <a:noFill/>
                    </a:lnTlToBr>
                    <a:lnBlToTr>
                      <a:noFill/>
                    </a:lnBlToTr>
                    <a:solidFill>
                      <a:srgbClr val="FFFFFF"/>
                    </a:solidFill>
                  </a:tcPr>
                </a:tc>
                <a:tc>
                  <a:txBody>
                    <a:bodyPr/>
                    <a:lstStyle/>
                    <a:p>
                      <a:pPr algn="ctr" rtl="0" fontAlgn="ctr"/>
                      <a:r>
                        <a:rPr lang="zh-HK" altLang="en-US" sz="1200" b="0" i="0" u="none" strike="noStrike" dirty="0">
                          <a:solidFill>
                            <a:srgbClr val="000000"/>
                          </a:solidFill>
                          <a:effectLst/>
                          <a:latin typeface="等线 Light" panose="02010600030101010101" charset="-122"/>
                          <a:ea typeface="等线 Light" panose="02010600030101010101" charset="-122"/>
                        </a:rPr>
                        <a:t>蒋锦志</a:t>
                      </a:r>
                      <a:r>
                        <a:rPr lang="zh-CN" altLang="zh-HK" sz="1200" b="0" i="0" u="none" strike="noStrike" dirty="0">
                          <a:solidFill>
                            <a:srgbClr val="000000"/>
                          </a:solidFill>
                          <a:effectLst/>
                          <a:latin typeface="等线 Light" panose="02010600030101010101" charset="-122"/>
                          <a:ea typeface="等线 Light" panose="02010600030101010101" charset="-122"/>
                        </a:rPr>
                        <a:t>、李伟</a:t>
                      </a:r>
                      <a:endParaRPr lang="zh-CN" altLang="zh-HK" sz="1200" b="0" i="0" u="none" strike="noStrike" dirty="0">
                        <a:solidFill>
                          <a:srgbClr val="000000"/>
                        </a:solidFill>
                        <a:effectLst/>
                        <a:latin typeface="等线 Light" panose="02010600030101010101" charset="-122"/>
                        <a:ea typeface="等线 Light" panose="02010600030101010101" charset="-122"/>
                      </a:endParaRPr>
                    </a:p>
                  </a:txBody>
                  <a:tcPr marL="3756" marR="3756" marT="3756" marB="0" anchor="ctr" anchorCtr="0">
                    <a:lnL>
                      <a:noFill/>
                    </a:lnL>
                    <a:lnR>
                      <a:noFill/>
                    </a:lnR>
                    <a:lnT>
                      <a:noFill/>
                    </a:lnT>
                    <a:lnB>
                      <a:noFill/>
                    </a:lnB>
                    <a:lnTlToBr>
                      <a:noFill/>
                    </a:lnTlToBr>
                    <a:lnBlToTr>
                      <a:noFill/>
                    </a:lnBlToTr>
                    <a:solidFill>
                      <a:srgbClr val="FFFFFF"/>
                    </a:solidFill>
                  </a:tcPr>
                </a:tc>
                <a:tc>
                  <a:txBody>
                    <a:bodyPr/>
                    <a:lstStyle/>
                    <a:p>
                      <a:pPr algn="ctr" rtl="0" fontAlgn="ctr"/>
                      <a:r>
                        <a:rPr lang="zh-HK" altLang="en-US" sz="1200" b="0" i="0" u="none" strike="noStrike">
                          <a:solidFill>
                            <a:srgbClr val="000000"/>
                          </a:solidFill>
                          <a:effectLst/>
                          <a:latin typeface="等线 Light" panose="02010600030101010101" charset="-122"/>
                          <a:ea typeface="等线 Light" panose="02010600030101010101" charset="-122"/>
                        </a:rPr>
                        <a:t>股票多空</a:t>
                      </a:r>
                      <a:endParaRPr lang="zh-HK" altLang="en-US" sz="1200" b="0" i="0" u="none" strike="noStrike">
                        <a:solidFill>
                          <a:srgbClr val="000000"/>
                        </a:solidFill>
                        <a:effectLst/>
                        <a:latin typeface="等线 Light" panose="02010600030101010101" charset="-122"/>
                        <a:ea typeface="等线 Light" panose="02010600030101010101" charset="-122"/>
                      </a:endParaRPr>
                    </a:p>
                  </a:txBody>
                  <a:tcPr marL="3756" marR="3756" marT="3756" marB="0" anchor="ctr" anchorCtr="0">
                    <a:lnL>
                      <a:noFill/>
                    </a:lnL>
                    <a:lnR>
                      <a:noFill/>
                    </a:lnR>
                    <a:lnT>
                      <a:noFill/>
                    </a:lnT>
                    <a:lnB>
                      <a:noFill/>
                    </a:lnB>
                    <a:solidFill>
                      <a:srgbClr val="FFFFFF"/>
                    </a:solidFill>
                  </a:tcPr>
                </a:tc>
                <a:tc>
                  <a:txBody>
                    <a:bodyPr/>
                    <a:lstStyle/>
                    <a:p>
                      <a:pPr algn="ctr" rtl="0" fontAlgn="ctr"/>
                      <a:r>
                        <a:rPr lang="en-US" altLang="zh-HK" sz="1200" b="0" i="0" u="none" strike="noStrike">
                          <a:solidFill>
                            <a:srgbClr val="000000"/>
                          </a:solidFill>
                          <a:effectLst/>
                          <a:latin typeface="等线 Light" panose="02010600030101010101" charset="-122"/>
                          <a:ea typeface="等线 Light" panose="02010600030101010101" charset="-122"/>
                        </a:rPr>
                        <a:t>0.45</a:t>
                      </a:r>
                      <a:endParaRPr lang="en-US" altLang="zh-HK" sz="1200" b="0" i="0" u="none" strike="noStrike">
                        <a:solidFill>
                          <a:srgbClr val="000000"/>
                        </a:solidFill>
                        <a:effectLst/>
                        <a:latin typeface="等线 Light" panose="02010600030101010101" charset="-122"/>
                        <a:ea typeface="等线 Light" panose="02010600030101010101" charset="-122"/>
                      </a:endParaRPr>
                    </a:p>
                  </a:txBody>
                  <a:tcPr marL="3756" marR="3756" marT="3756" marB="0" anchor="ctr" anchorCtr="0">
                    <a:lnL>
                      <a:noFill/>
                    </a:lnL>
                    <a:lnR>
                      <a:noFill/>
                    </a:lnR>
                    <a:lnT>
                      <a:noFill/>
                    </a:lnT>
                    <a:lnB>
                      <a:noFill/>
                    </a:lnB>
                    <a:solidFill>
                      <a:srgbClr val="FFFFFF"/>
                    </a:solidFill>
                  </a:tcPr>
                </a:tc>
                <a:tc>
                  <a:txBody>
                    <a:bodyPr/>
                    <a:lstStyle/>
                    <a:p>
                      <a:pPr algn="ctr" rtl="0" fontAlgn="ctr"/>
                      <a:r>
                        <a:rPr lang="en-US" altLang="zh-HK" sz="1200" b="0" i="0" u="none" strike="noStrike" dirty="0">
                          <a:solidFill>
                            <a:srgbClr val="000000"/>
                          </a:solidFill>
                          <a:effectLst/>
                          <a:latin typeface="等线 Light" panose="02010600030101010101" charset="-122"/>
                          <a:ea typeface="等线 Light" panose="02010600030101010101" charset="-122"/>
                        </a:rPr>
                        <a:t>0.15</a:t>
                      </a:r>
                      <a:endParaRPr lang="en-US" altLang="zh-HK" sz="1200" b="0" i="0" u="none" strike="noStrike" dirty="0">
                        <a:solidFill>
                          <a:srgbClr val="000000"/>
                        </a:solidFill>
                        <a:effectLst/>
                        <a:latin typeface="等线 Light" panose="02010600030101010101" charset="-122"/>
                        <a:ea typeface="等线 Light" panose="02010600030101010101" charset="-122"/>
                      </a:endParaRPr>
                    </a:p>
                  </a:txBody>
                  <a:tcPr marL="3756" marR="3756" marT="3756" marB="0" anchor="ctr" anchorCtr="0">
                    <a:lnL>
                      <a:noFill/>
                    </a:lnL>
                    <a:lnR>
                      <a:noFill/>
                    </a:lnR>
                    <a:lnT>
                      <a:noFill/>
                    </a:lnT>
                    <a:lnB>
                      <a:noFill/>
                    </a:lnB>
                    <a:solidFill>
                      <a:srgbClr val="FFFFFF"/>
                    </a:solidFill>
                  </a:tcPr>
                </a:tc>
                <a:tc>
                  <a:txBody>
                    <a:bodyPr/>
                    <a:lstStyle/>
                    <a:p>
                      <a:pPr algn="ctr" rtl="0" fontAlgn="ctr"/>
                      <a:r>
                        <a:rPr lang="en-US" altLang="zh-HK" sz="1200" b="0" i="0" u="none" strike="noStrike" dirty="0">
                          <a:solidFill>
                            <a:srgbClr val="000000"/>
                          </a:solidFill>
                          <a:effectLst/>
                          <a:latin typeface="等线 Light" panose="02010600030101010101" charset="-122"/>
                          <a:ea typeface="等线 Light" panose="02010600030101010101" charset="-122"/>
                        </a:rPr>
                        <a:t>2016/8</a:t>
                      </a:r>
                      <a:endParaRPr lang="en-US" altLang="zh-HK" sz="1200" b="0" i="0" u="none" strike="noStrike" dirty="0">
                        <a:solidFill>
                          <a:srgbClr val="000000"/>
                        </a:solidFill>
                        <a:effectLst/>
                        <a:latin typeface="等线 Light" panose="02010600030101010101" charset="-122"/>
                        <a:ea typeface="等线 Light" panose="02010600030101010101" charset="-122"/>
                      </a:endParaRPr>
                    </a:p>
                  </a:txBody>
                  <a:tcPr marL="3756" marR="3756" marT="3756" marB="0" anchor="ctr" anchorCtr="0">
                    <a:lnL>
                      <a:noFill/>
                    </a:lnL>
                    <a:lnR>
                      <a:noFill/>
                    </a:lnR>
                    <a:lnT>
                      <a:noFill/>
                    </a:lnT>
                    <a:lnB>
                      <a:noFill/>
                    </a:lnB>
                    <a:solidFill>
                      <a:srgbClr val="FFFFFF"/>
                    </a:solidFill>
                  </a:tcPr>
                </a:tc>
                <a:tc>
                  <a:txBody>
                    <a:bodyPr/>
                    <a:lstStyle/>
                    <a:p>
                      <a:pPr algn="l" rtl="0" fontAlgn="ctr"/>
                      <a:r>
                        <a:rPr lang="zh-CN" altLang="en-US" sz="1200" b="0" i="0" u="none" strike="noStrike">
                          <a:solidFill>
                            <a:srgbClr val="000000"/>
                          </a:solidFill>
                          <a:effectLst/>
                          <a:latin typeface="等线 Light" panose="02010600030101010101" charset="-122"/>
                          <a:ea typeface="等线 Light" panose="02010600030101010101" charset="-122"/>
                        </a:rPr>
                        <a:t>医药行业主题基金、大中华区股票为主，少量美股</a:t>
                      </a:r>
                      <a:endParaRPr lang="zh-CN" altLang="en-US" sz="1200" b="0" i="0" u="none" strike="noStrike">
                        <a:solidFill>
                          <a:srgbClr val="000000"/>
                        </a:solidFill>
                        <a:effectLst/>
                        <a:latin typeface="等线 Light" panose="02010600030101010101" charset="-122"/>
                        <a:ea typeface="等线 Light" panose="02010600030101010101" charset="-122"/>
                      </a:endParaRPr>
                    </a:p>
                  </a:txBody>
                  <a:tcPr marL="3756" marR="3756" marT="3756" marB="0" anchor="ctr" anchorCtr="0">
                    <a:lnL>
                      <a:noFill/>
                    </a:lnL>
                    <a:lnR>
                      <a:noFill/>
                    </a:lnR>
                    <a:lnT>
                      <a:noFill/>
                    </a:lnT>
                    <a:lnB>
                      <a:noFill/>
                    </a:lnB>
                    <a:solidFill>
                      <a:srgbClr val="FFFFFF"/>
                    </a:solidFill>
                  </a:tcPr>
                </a:tc>
              </a:tr>
              <a:tr h="384175">
                <a:tc vMerge="1">
                  <a:tcPr>
                    <a:lnR>
                      <a:noFill/>
                    </a:lnR>
                  </a:tcPr>
                </a:tc>
                <a:tc>
                  <a:txBody>
                    <a:bodyPr/>
                    <a:lstStyle/>
                    <a:p>
                      <a:pPr algn="ctr" rtl="0" fontAlgn="ctr"/>
                      <a:r>
                        <a:rPr lang="zh-HK" altLang="en-US" sz="1200" b="0" i="0" u="none" strike="noStrike">
                          <a:solidFill>
                            <a:srgbClr val="000000"/>
                          </a:solidFill>
                          <a:effectLst/>
                          <a:latin typeface="等线" panose="02010600030101010101" charset="-122"/>
                          <a:ea typeface="等线" panose="02010600030101010101" charset="-122"/>
                        </a:rPr>
                        <a:t>景林平衡</a:t>
                      </a:r>
                      <a:endParaRPr lang="zh-HK" altLang="en-US" sz="1200" b="0" i="0" u="none" strike="noStrike">
                        <a:solidFill>
                          <a:srgbClr val="000000"/>
                        </a:solidFill>
                        <a:effectLst/>
                        <a:latin typeface="等线" panose="02010600030101010101" charset="-122"/>
                        <a:ea typeface="等线" panose="02010600030101010101" charset="-122"/>
                      </a:endParaRPr>
                    </a:p>
                    <a:p>
                      <a:pPr algn="ctr" rtl="0" fontAlgn="ctr"/>
                      <a:r>
                        <a:rPr lang="zh-CN" altLang="en-US" sz="1200" b="0" i="0" u="none" strike="noStrike">
                          <a:solidFill>
                            <a:srgbClr val="000000"/>
                          </a:solidFill>
                          <a:effectLst/>
                          <a:latin typeface="等线" panose="02010600030101010101" charset="-122"/>
                          <a:ea typeface="等线" panose="02010600030101010101" charset="-122"/>
                        </a:rPr>
                        <a:t>（已下架）</a:t>
                      </a:r>
                      <a:endParaRPr lang="zh-CN" altLang="en-US" sz="1200" b="0" i="0" u="none" strike="noStrike">
                        <a:solidFill>
                          <a:srgbClr val="000000"/>
                        </a:solidFill>
                        <a:effectLst/>
                        <a:latin typeface="等线" panose="02010600030101010101" charset="-122"/>
                        <a:ea typeface="等线" panose="02010600030101010101" charset="-122"/>
                      </a:endParaRPr>
                    </a:p>
                  </a:txBody>
                  <a:tcPr marL="3756" marR="3756" marT="3756" marB="0" anchor="ctr" anchorCtr="0">
                    <a:lnL>
                      <a:noFill/>
                    </a:lnL>
                    <a:lnR>
                      <a:noFill/>
                    </a:lnR>
                    <a:lnT>
                      <a:noFill/>
                    </a:lnT>
                    <a:lnB>
                      <a:noFill/>
                    </a:lnB>
                    <a:lnTlToBr>
                      <a:noFill/>
                    </a:lnTlToBr>
                    <a:lnBlToTr>
                      <a:noFill/>
                    </a:lnBlToTr>
                    <a:solidFill>
                      <a:srgbClr val="FFFFFF"/>
                    </a:solidFill>
                  </a:tcPr>
                </a:tc>
                <a:tc>
                  <a:txBody>
                    <a:bodyPr/>
                    <a:lstStyle/>
                    <a:p>
                      <a:pPr algn="ctr" rtl="0" fontAlgn="ctr"/>
                      <a:r>
                        <a:rPr lang="zh-HK" altLang="en-US" sz="1200" b="0" i="0" u="none" strike="noStrike">
                          <a:solidFill>
                            <a:srgbClr val="000000"/>
                          </a:solidFill>
                          <a:effectLst/>
                          <a:latin typeface="等线" panose="02010600030101010101" charset="-122"/>
                          <a:ea typeface="等线" panose="02010600030101010101" charset="-122"/>
                        </a:rPr>
                        <a:t>蒋锦志</a:t>
                      </a:r>
                      <a:endParaRPr lang="zh-HK" altLang="en-US" sz="1200" b="0" i="0" u="none" strike="noStrike">
                        <a:solidFill>
                          <a:srgbClr val="000000"/>
                        </a:solidFill>
                        <a:effectLst/>
                        <a:latin typeface="等线" panose="02010600030101010101" charset="-122"/>
                        <a:ea typeface="等线" panose="02010600030101010101" charset="-122"/>
                      </a:endParaRPr>
                    </a:p>
                  </a:txBody>
                  <a:tcPr marL="3756" marR="3756" marT="3756" marB="0" anchor="ctr" anchorCtr="0">
                    <a:lnL>
                      <a:noFill/>
                    </a:lnL>
                    <a:lnR>
                      <a:noFill/>
                    </a:lnR>
                    <a:lnT>
                      <a:noFill/>
                    </a:lnT>
                    <a:lnB>
                      <a:noFill/>
                    </a:lnB>
                    <a:lnTlToBr>
                      <a:noFill/>
                    </a:lnTlToBr>
                    <a:lnBlToTr>
                      <a:noFill/>
                    </a:lnBlToTr>
                    <a:solidFill>
                      <a:srgbClr val="FFFFFF"/>
                    </a:solidFill>
                  </a:tcPr>
                </a:tc>
                <a:tc>
                  <a:txBody>
                    <a:bodyPr/>
                    <a:lstStyle/>
                    <a:p>
                      <a:pPr algn="ctr" rtl="0" fontAlgn="ctr"/>
                      <a:r>
                        <a:rPr lang="zh-HK" altLang="en-US" sz="1200" b="0" i="0" u="none" strike="noStrike">
                          <a:solidFill>
                            <a:srgbClr val="000000"/>
                          </a:solidFill>
                          <a:effectLst/>
                          <a:latin typeface="等线" panose="02010600030101010101" charset="-122"/>
                          <a:ea typeface="等线" panose="02010600030101010101" charset="-122"/>
                        </a:rPr>
                        <a:t>股票多空</a:t>
                      </a:r>
                      <a:endParaRPr lang="zh-HK" altLang="en-US" sz="1200" b="0" i="0" u="none" strike="noStrike">
                        <a:solidFill>
                          <a:srgbClr val="000000"/>
                        </a:solidFill>
                        <a:effectLst/>
                        <a:latin typeface="等线" panose="02010600030101010101" charset="-122"/>
                        <a:ea typeface="等线" panose="02010600030101010101" charset="-122"/>
                      </a:endParaRPr>
                    </a:p>
                  </a:txBody>
                  <a:tcPr marL="3756" marR="3756" marT="3756" marB="0" anchor="ctr" anchorCtr="0">
                    <a:lnL>
                      <a:noFill/>
                    </a:lnL>
                    <a:lnR>
                      <a:noFill/>
                    </a:lnR>
                    <a:lnT>
                      <a:noFill/>
                    </a:lnT>
                    <a:lnB>
                      <a:noFill/>
                    </a:lnB>
                    <a:solidFill>
                      <a:srgbClr val="FFFFFF"/>
                    </a:solidFill>
                  </a:tcPr>
                </a:tc>
                <a:tc>
                  <a:txBody>
                    <a:bodyPr/>
                    <a:lstStyle/>
                    <a:p>
                      <a:pPr algn="ctr" rtl="0" fontAlgn="ctr"/>
                      <a:r>
                        <a:rPr lang="en-US" altLang="zh-HK" sz="1200" b="0" i="0" u="none" strike="noStrike">
                          <a:solidFill>
                            <a:srgbClr val="000000"/>
                          </a:solidFill>
                          <a:effectLst/>
                          <a:latin typeface="等线" panose="02010600030101010101" charset="-122"/>
                          <a:ea typeface="等线" panose="02010600030101010101" charset="-122"/>
                        </a:rPr>
                        <a:t>3.71</a:t>
                      </a:r>
                      <a:endParaRPr lang="en-US" altLang="zh-HK" sz="1200" b="0" i="0" u="none" strike="noStrike">
                        <a:solidFill>
                          <a:srgbClr val="000000"/>
                        </a:solidFill>
                        <a:effectLst/>
                        <a:latin typeface="等线" panose="02010600030101010101" charset="-122"/>
                        <a:ea typeface="等线" panose="02010600030101010101" charset="-122"/>
                      </a:endParaRPr>
                    </a:p>
                  </a:txBody>
                  <a:tcPr marL="3756" marR="3756" marT="3756" marB="0" anchor="ctr" anchorCtr="0">
                    <a:lnL>
                      <a:noFill/>
                    </a:lnL>
                    <a:lnR>
                      <a:noFill/>
                    </a:lnR>
                    <a:lnT>
                      <a:noFill/>
                    </a:lnT>
                    <a:lnB>
                      <a:noFill/>
                    </a:lnB>
                    <a:solidFill>
                      <a:srgbClr val="FFFFFF"/>
                    </a:solidFill>
                  </a:tcPr>
                </a:tc>
                <a:tc>
                  <a:txBody>
                    <a:bodyPr/>
                    <a:lstStyle/>
                    <a:p>
                      <a:pPr algn="ctr" rtl="0" fontAlgn="ctr"/>
                      <a:r>
                        <a:rPr lang="en-US" altLang="zh-HK" sz="1200" b="0" i="0" u="none" strike="noStrike">
                          <a:solidFill>
                            <a:srgbClr val="000000"/>
                          </a:solidFill>
                          <a:effectLst/>
                          <a:latin typeface="等线" panose="02010600030101010101" charset="-122"/>
                          <a:ea typeface="等线" panose="02010600030101010101" charset="-122"/>
                        </a:rPr>
                        <a:t>0.07</a:t>
                      </a:r>
                      <a:endParaRPr lang="en-US" altLang="zh-HK" sz="1200" b="0" i="0" u="none" strike="noStrike">
                        <a:solidFill>
                          <a:srgbClr val="000000"/>
                        </a:solidFill>
                        <a:effectLst/>
                        <a:latin typeface="等线" panose="02010600030101010101" charset="-122"/>
                        <a:ea typeface="等线" panose="02010600030101010101" charset="-122"/>
                      </a:endParaRPr>
                    </a:p>
                  </a:txBody>
                  <a:tcPr marL="3756" marR="3756" marT="3756" marB="0" anchor="ctr" anchorCtr="0">
                    <a:lnL>
                      <a:noFill/>
                    </a:lnL>
                    <a:lnR>
                      <a:noFill/>
                    </a:lnR>
                    <a:lnT>
                      <a:noFill/>
                    </a:lnT>
                    <a:lnB>
                      <a:noFill/>
                    </a:lnB>
                    <a:solidFill>
                      <a:srgbClr val="FFFFFF"/>
                    </a:solidFill>
                  </a:tcPr>
                </a:tc>
                <a:tc>
                  <a:txBody>
                    <a:bodyPr/>
                    <a:lstStyle/>
                    <a:p>
                      <a:pPr algn="ctr" rtl="0" fontAlgn="ctr"/>
                      <a:r>
                        <a:rPr lang="en-US" altLang="zh-HK" sz="1200" b="0" i="0" u="none" strike="noStrike" dirty="0">
                          <a:solidFill>
                            <a:srgbClr val="000000"/>
                          </a:solidFill>
                          <a:effectLst/>
                          <a:latin typeface="等线" panose="02010600030101010101" charset="-122"/>
                          <a:ea typeface="等线" panose="02010600030101010101" charset="-122"/>
                        </a:rPr>
                        <a:t>2018/1</a:t>
                      </a:r>
                      <a:endParaRPr lang="en-US" altLang="zh-HK" sz="1200" b="0" i="0" u="none" strike="noStrike" dirty="0">
                        <a:solidFill>
                          <a:srgbClr val="000000"/>
                        </a:solidFill>
                        <a:effectLst/>
                        <a:latin typeface="等线" panose="02010600030101010101" charset="-122"/>
                        <a:ea typeface="等线" panose="02010600030101010101" charset="-122"/>
                      </a:endParaRPr>
                    </a:p>
                  </a:txBody>
                  <a:tcPr marL="3756" marR="3756" marT="3756" marB="0" anchor="ctr" anchorCtr="0">
                    <a:lnL>
                      <a:noFill/>
                    </a:lnL>
                    <a:lnR>
                      <a:noFill/>
                    </a:lnR>
                    <a:lnT>
                      <a:noFill/>
                    </a:lnT>
                    <a:lnB>
                      <a:noFill/>
                    </a:lnB>
                    <a:solidFill>
                      <a:srgbClr val="FFFFFF"/>
                    </a:solidFill>
                  </a:tcPr>
                </a:tc>
                <a:tc>
                  <a:txBody>
                    <a:bodyPr/>
                    <a:lstStyle/>
                    <a:p>
                      <a:pPr algn="l" rtl="0" fontAlgn="ctr"/>
                      <a:r>
                        <a:rPr lang="en-US" altLang="zh-CN" sz="1200" b="0" i="0" u="none" strike="noStrike" dirty="0">
                          <a:solidFill>
                            <a:srgbClr val="000000"/>
                          </a:solidFill>
                          <a:effectLst/>
                          <a:latin typeface="等线" panose="02010600030101010101" charset="-122"/>
                          <a:ea typeface="等线" panose="02010600030101010101" charset="-122"/>
                          <a:cs typeface="等线" panose="02010600030101010101" charset="-122"/>
                        </a:rPr>
                        <a:t>2020</a:t>
                      </a:r>
                      <a:r>
                        <a:rPr lang="zh-CN" altLang="en-US" sz="1200" b="0" i="0" u="none" strike="noStrike" dirty="0">
                          <a:solidFill>
                            <a:srgbClr val="000000"/>
                          </a:solidFill>
                          <a:effectLst/>
                          <a:latin typeface="等线" panose="02010600030101010101" charset="-122"/>
                          <a:ea typeface="等线" panose="02010600030101010101" charset="-122"/>
                          <a:cs typeface="等线" panose="02010600030101010101" charset="-122"/>
                        </a:rPr>
                        <a:t>年</a:t>
                      </a:r>
                      <a:r>
                        <a:rPr lang="en-US" altLang="zh-CN" sz="1200" b="0" i="0" u="none" strike="noStrike" dirty="0">
                          <a:solidFill>
                            <a:srgbClr val="000000"/>
                          </a:solidFill>
                          <a:effectLst/>
                          <a:latin typeface="等线" panose="02010600030101010101" charset="-122"/>
                          <a:ea typeface="等线" panose="02010600030101010101" charset="-122"/>
                          <a:cs typeface="等线" panose="02010600030101010101" charset="-122"/>
                        </a:rPr>
                        <a:t>8</a:t>
                      </a:r>
                      <a:r>
                        <a:rPr lang="zh-CN" altLang="en-US" sz="1200" b="0" i="0" u="none" strike="noStrike" dirty="0">
                          <a:solidFill>
                            <a:srgbClr val="000000"/>
                          </a:solidFill>
                          <a:effectLst/>
                          <a:latin typeface="等线" panose="02010600030101010101" charset="-122"/>
                          <a:ea typeface="等线" panose="02010600030101010101" charset="-122"/>
                          <a:cs typeface="等线" panose="02010600030101010101" charset="-122"/>
                        </a:rPr>
                        <a:t>月之前：聚焦</a:t>
                      </a:r>
                      <a:r>
                        <a:rPr lang="en-US" altLang="zh-CN" sz="1200" b="0" i="0" u="none" strike="noStrike" dirty="0">
                          <a:solidFill>
                            <a:srgbClr val="000000"/>
                          </a:solidFill>
                          <a:effectLst/>
                          <a:latin typeface="等线" panose="02010600030101010101" charset="-122"/>
                          <a:ea typeface="等线" panose="02010600030101010101" charset="-122"/>
                          <a:cs typeface="等线" panose="02010600030101010101" charset="-122"/>
                        </a:rPr>
                        <a:t>A</a:t>
                      </a:r>
                      <a:r>
                        <a:rPr lang="zh-CN" altLang="en-US" sz="1200" b="0" i="0" u="none" strike="noStrike" dirty="0">
                          <a:solidFill>
                            <a:srgbClr val="000000"/>
                          </a:solidFill>
                          <a:effectLst/>
                          <a:latin typeface="等线" panose="02010600030101010101" charset="-122"/>
                          <a:ea typeface="等线" panose="02010600030101010101" charset="-122"/>
                          <a:cs typeface="等线" panose="02010600030101010101" charset="-122"/>
                        </a:rPr>
                        <a:t>股市场；</a:t>
                      </a:r>
                      <a:endParaRPr lang="zh-CN" altLang="en-US" sz="1200" b="0" i="0" u="none" strike="noStrike" dirty="0">
                        <a:solidFill>
                          <a:srgbClr val="000000"/>
                        </a:solidFill>
                        <a:effectLst/>
                        <a:latin typeface="等线" panose="02010600030101010101" charset="-122"/>
                        <a:ea typeface="等线" panose="02010600030101010101" charset="-122"/>
                        <a:cs typeface="等线" panose="02010600030101010101" charset="-122"/>
                      </a:endParaRPr>
                    </a:p>
                    <a:p>
                      <a:pPr algn="l" rtl="0" fontAlgn="ctr"/>
                      <a:r>
                        <a:rPr lang="en-US" altLang="zh-CN" sz="1200" b="0" i="0" u="none" strike="noStrike" dirty="0">
                          <a:solidFill>
                            <a:srgbClr val="000000"/>
                          </a:solidFill>
                          <a:effectLst/>
                          <a:latin typeface="等线" panose="02010600030101010101" charset="-122"/>
                          <a:ea typeface="等线" panose="02010600030101010101" charset="-122"/>
                          <a:cs typeface="等线" panose="02010600030101010101" charset="-122"/>
                        </a:rPr>
                        <a:t>2020</a:t>
                      </a:r>
                      <a:r>
                        <a:rPr lang="zh-CN" altLang="en-US" sz="1200" b="0" i="0" u="none" strike="noStrike" dirty="0">
                          <a:solidFill>
                            <a:srgbClr val="000000"/>
                          </a:solidFill>
                          <a:effectLst/>
                          <a:latin typeface="等线" panose="02010600030101010101" charset="-122"/>
                          <a:ea typeface="等线" panose="02010600030101010101" charset="-122"/>
                          <a:cs typeface="等线" panose="02010600030101010101" charset="-122"/>
                        </a:rPr>
                        <a:t>年</a:t>
                      </a:r>
                      <a:r>
                        <a:rPr lang="en-US" altLang="zh-CN" sz="1200" b="0" i="0" u="none" strike="noStrike" dirty="0">
                          <a:solidFill>
                            <a:srgbClr val="000000"/>
                          </a:solidFill>
                          <a:effectLst/>
                          <a:latin typeface="等线" panose="02010600030101010101" charset="-122"/>
                          <a:ea typeface="等线" panose="02010600030101010101" charset="-122"/>
                          <a:cs typeface="等线" panose="02010600030101010101" charset="-122"/>
                        </a:rPr>
                        <a:t>8</a:t>
                      </a:r>
                      <a:r>
                        <a:rPr lang="zh-CN" altLang="en-US" sz="1200" b="0" i="0" u="none" strike="noStrike" dirty="0">
                          <a:solidFill>
                            <a:srgbClr val="000000"/>
                          </a:solidFill>
                          <a:effectLst/>
                          <a:latin typeface="等线" panose="02010600030101010101" charset="-122"/>
                          <a:ea typeface="等线" panose="02010600030101010101" charset="-122"/>
                          <a:cs typeface="等线" panose="02010600030101010101" charset="-122"/>
                        </a:rPr>
                        <a:t>月之后：大中华区股票为主，少量美股</a:t>
                      </a:r>
                      <a:endParaRPr lang="zh-CN" altLang="en-US" sz="1200" b="0" i="0" u="none" strike="noStrike" dirty="0">
                        <a:solidFill>
                          <a:srgbClr val="000000"/>
                        </a:solidFill>
                        <a:effectLst/>
                        <a:latin typeface="等线" panose="02010600030101010101" charset="-122"/>
                        <a:ea typeface="等线" panose="02010600030101010101" charset="-122"/>
                        <a:cs typeface="等线" panose="02010600030101010101" charset="-122"/>
                      </a:endParaRPr>
                    </a:p>
                  </a:txBody>
                  <a:tcPr marL="3756" marR="3756" marT="3756" marB="0" anchor="ctr" anchorCtr="0">
                    <a:lnL>
                      <a:noFill/>
                    </a:lnL>
                    <a:lnR>
                      <a:noFill/>
                    </a:lnR>
                    <a:lnT>
                      <a:noFill/>
                    </a:lnT>
                    <a:lnB>
                      <a:noFill/>
                    </a:lnB>
                    <a:solidFill>
                      <a:srgbClr val="FFFFFF"/>
                    </a:solidFill>
                  </a:tcPr>
                </a:tc>
              </a:tr>
              <a:tr h="461645">
                <a:tc vMerge="1">
                  <a:tcPr>
                    <a:lnB w="12700">
                      <a:solidFill>
                        <a:schemeClr val="tx1"/>
                      </a:solidFill>
                      <a:prstDash val="solid"/>
                    </a:lnB>
                  </a:tcPr>
                </a:tc>
                <a:tc>
                  <a:txBody>
                    <a:bodyPr/>
                    <a:lstStyle/>
                    <a:p>
                      <a:pPr algn="ctr" rtl="0" fontAlgn="ctr"/>
                      <a:r>
                        <a:rPr lang="zh-CN" altLang="en-US" sz="1200" b="0" i="0" u="none" strike="noStrike">
                          <a:solidFill>
                            <a:srgbClr val="000000"/>
                          </a:solidFill>
                          <a:effectLst/>
                          <a:latin typeface="等线" panose="02010600030101010101" charset="-122"/>
                          <a:ea typeface="等线" panose="02010600030101010101" charset="-122"/>
                        </a:rPr>
                        <a:t>景林中国阿尔法</a:t>
                      </a:r>
                      <a:endParaRPr lang="zh-CN" altLang="en-US" sz="1200" b="0" i="0" u="none" strike="noStrike">
                        <a:solidFill>
                          <a:srgbClr val="000000"/>
                        </a:solidFill>
                        <a:effectLst/>
                        <a:latin typeface="等线" panose="02010600030101010101" charset="-122"/>
                        <a:ea typeface="等线" panose="02010600030101010101" charset="-122"/>
                      </a:endParaRPr>
                    </a:p>
                  </a:txBody>
                  <a:tcPr marL="3756" marR="3756" marT="3756" marB="0" anchor="ctr" anchorCtr="0">
                    <a:lnL>
                      <a:noFill/>
                    </a:lnL>
                    <a:lnR>
                      <a:noFill/>
                    </a:lnR>
                    <a:lnT>
                      <a:noFill/>
                    </a:lnT>
                    <a:lnB w="12700">
                      <a:solidFill>
                        <a:schemeClr val="tx1"/>
                      </a:solidFill>
                      <a:prstDash val="solid"/>
                    </a:lnB>
                    <a:solidFill>
                      <a:srgbClr val="FFFFFF"/>
                    </a:solidFill>
                  </a:tcPr>
                </a:tc>
                <a:tc>
                  <a:txBody>
                    <a:bodyPr/>
                    <a:lstStyle/>
                    <a:p>
                      <a:pPr algn="ctr" rtl="0" fontAlgn="ctr"/>
                      <a:r>
                        <a:rPr lang="zh-CN" altLang="en-US" sz="1200" b="0" i="0" u="none" strike="noStrike" dirty="0">
                          <a:solidFill>
                            <a:srgbClr val="000000"/>
                          </a:solidFill>
                          <a:effectLst/>
                          <a:latin typeface="等线" panose="02010600030101010101" charset="-122"/>
                          <a:ea typeface="等线" panose="02010600030101010101" charset="-122"/>
                        </a:rPr>
                        <a:t>蒋锦志</a:t>
                      </a:r>
                      <a:endParaRPr lang="zh-CN" altLang="en-US" sz="1200" b="0" i="0" u="none" strike="noStrike" dirty="0">
                        <a:solidFill>
                          <a:srgbClr val="000000"/>
                        </a:solidFill>
                        <a:effectLst/>
                        <a:latin typeface="等线" panose="02010600030101010101" charset="-122"/>
                        <a:ea typeface="等线" panose="02010600030101010101" charset="-122"/>
                      </a:endParaRPr>
                    </a:p>
                  </a:txBody>
                  <a:tcPr marL="3756" marR="3756" marT="3756" marB="0" anchor="ctr" anchorCtr="0">
                    <a:lnL>
                      <a:noFill/>
                    </a:lnL>
                    <a:lnR>
                      <a:noFill/>
                    </a:lnR>
                    <a:lnT>
                      <a:noFill/>
                    </a:lnT>
                    <a:lnB w="12700">
                      <a:solidFill>
                        <a:schemeClr val="tx1"/>
                      </a:solidFill>
                      <a:prstDash val="solid"/>
                    </a:lnB>
                    <a:solidFill>
                      <a:srgbClr val="FFFFFF"/>
                    </a:solidFill>
                  </a:tcPr>
                </a:tc>
                <a:tc>
                  <a:txBody>
                    <a:bodyPr/>
                    <a:lstStyle/>
                    <a:p>
                      <a:pPr algn="ctr" rtl="0" fontAlgn="ctr"/>
                      <a:r>
                        <a:rPr lang="zh-HK" altLang="en-US" sz="1200" b="0" i="0" u="none" strike="noStrike">
                          <a:solidFill>
                            <a:srgbClr val="000000"/>
                          </a:solidFill>
                          <a:effectLst/>
                          <a:latin typeface="等线" panose="02010600030101010101" charset="-122"/>
                          <a:ea typeface="等线" panose="02010600030101010101" charset="-122"/>
                        </a:rPr>
                        <a:t>股票多空</a:t>
                      </a:r>
                      <a:endParaRPr lang="zh-HK" altLang="en-US" sz="1200" b="0" i="0" u="none" strike="noStrike">
                        <a:solidFill>
                          <a:srgbClr val="000000"/>
                        </a:solidFill>
                        <a:effectLst/>
                        <a:latin typeface="等线" panose="02010600030101010101" charset="-122"/>
                        <a:ea typeface="等线" panose="02010600030101010101" charset="-122"/>
                      </a:endParaRPr>
                    </a:p>
                  </a:txBody>
                  <a:tcPr marL="3756" marR="3756" marT="3756" marB="0" anchor="ctr" anchorCtr="0">
                    <a:lnL>
                      <a:noFill/>
                    </a:lnL>
                    <a:lnR>
                      <a:noFill/>
                    </a:lnR>
                    <a:lnT>
                      <a:noFill/>
                    </a:lnT>
                    <a:lnB w="12700">
                      <a:solidFill>
                        <a:schemeClr val="tx1"/>
                      </a:solidFill>
                      <a:prstDash val="solid"/>
                    </a:lnB>
                    <a:solidFill>
                      <a:srgbClr val="FFFFFF"/>
                    </a:solidFill>
                  </a:tcPr>
                </a:tc>
                <a:tc>
                  <a:txBody>
                    <a:bodyPr/>
                    <a:lstStyle/>
                    <a:p>
                      <a:pPr algn="ctr" rtl="0" fontAlgn="ctr"/>
                      <a:r>
                        <a:rPr lang="en-US" altLang="zh-HK" sz="1200" b="0" i="0" u="none" strike="noStrike">
                          <a:solidFill>
                            <a:srgbClr val="000000"/>
                          </a:solidFill>
                          <a:effectLst/>
                          <a:latin typeface="等线" panose="02010600030101010101" charset="-122"/>
                          <a:ea typeface="等线" panose="02010600030101010101" charset="-122"/>
                        </a:rPr>
                        <a:t>30</a:t>
                      </a:r>
                      <a:endParaRPr lang="en-US" altLang="zh-HK" sz="1200" b="0" i="0" u="none" strike="noStrike">
                        <a:solidFill>
                          <a:srgbClr val="000000"/>
                        </a:solidFill>
                        <a:effectLst/>
                        <a:latin typeface="等线" panose="02010600030101010101" charset="-122"/>
                        <a:ea typeface="等线" panose="02010600030101010101" charset="-122"/>
                      </a:endParaRPr>
                    </a:p>
                  </a:txBody>
                  <a:tcPr marL="3756" marR="3756" marT="3756" marB="0" anchor="ctr" anchorCtr="0">
                    <a:lnL>
                      <a:noFill/>
                    </a:lnL>
                    <a:lnR>
                      <a:noFill/>
                    </a:lnR>
                    <a:lnT>
                      <a:noFill/>
                    </a:lnT>
                    <a:lnB w="12700">
                      <a:solidFill>
                        <a:schemeClr val="tx1"/>
                      </a:solidFill>
                      <a:prstDash val="solid"/>
                    </a:lnB>
                    <a:solidFill>
                      <a:srgbClr val="FFFFFF"/>
                    </a:solidFill>
                  </a:tcPr>
                </a:tc>
                <a:tc>
                  <a:txBody>
                    <a:bodyPr/>
                    <a:lstStyle/>
                    <a:p>
                      <a:pPr algn="ctr" rtl="0" fontAlgn="ctr"/>
                      <a:r>
                        <a:rPr lang="en-US" altLang="zh-HK" sz="1200" b="0" i="0" u="none" strike="noStrike">
                          <a:solidFill>
                            <a:srgbClr val="000000"/>
                          </a:solidFill>
                          <a:effectLst/>
                          <a:latin typeface="等线" panose="02010600030101010101" charset="-122"/>
                          <a:ea typeface="等线" panose="02010600030101010101" charset="-122"/>
                        </a:rPr>
                        <a:t>0.04</a:t>
                      </a:r>
                      <a:endParaRPr lang="en-US" altLang="zh-HK" sz="1200" b="0" i="0" u="none" strike="noStrike">
                        <a:solidFill>
                          <a:srgbClr val="000000"/>
                        </a:solidFill>
                        <a:effectLst/>
                        <a:latin typeface="等线" panose="02010600030101010101" charset="-122"/>
                        <a:ea typeface="等线" panose="02010600030101010101" charset="-122"/>
                      </a:endParaRPr>
                    </a:p>
                  </a:txBody>
                  <a:tcPr marL="3756" marR="3756" marT="3756" marB="0" anchor="ctr" anchorCtr="0">
                    <a:lnL>
                      <a:noFill/>
                    </a:lnL>
                    <a:lnR>
                      <a:noFill/>
                    </a:lnR>
                    <a:lnT>
                      <a:noFill/>
                    </a:lnT>
                    <a:lnB w="12700">
                      <a:solidFill>
                        <a:schemeClr val="tx1"/>
                      </a:solidFill>
                      <a:prstDash val="solid"/>
                    </a:lnB>
                    <a:solidFill>
                      <a:srgbClr val="FFFFFF"/>
                    </a:solidFill>
                  </a:tcPr>
                </a:tc>
                <a:tc>
                  <a:txBody>
                    <a:bodyPr/>
                    <a:lstStyle/>
                    <a:p>
                      <a:pPr algn="ctr" rtl="0" fontAlgn="ctr"/>
                      <a:r>
                        <a:rPr lang="en-US" altLang="zh-HK" sz="1200" b="0" i="0" u="none" strike="noStrike">
                          <a:solidFill>
                            <a:srgbClr val="000000"/>
                          </a:solidFill>
                          <a:effectLst/>
                          <a:latin typeface="等线" panose="02010600030101010101" charset="-122"/>
                          <a:ea typeface="等线" panose="02010600030101010101" charset="-122"/>
                        </a:rPr>
                        <a:t>2009/12</a:t>
                      </a:r>
                      <a:endParaRPr lang="en-US" altLang="zh-HK" sz="1200" b="0" i="0" u="none" strike="noStrike">
                        <a:solidFill>
                          <a:srgbClr val="000000"/>
                        </a:solidFill>
                        <a:effectLst/>
                        <a:latin typeface="等线" panose="02010600030101010101" charset="-122"/>
                        <a:ea typeface="等线" panose="02010600030101010101" charset="-122"/>
                      </a:endParaRPr>
                    </a:p>
                  </a:txBody>
                  <a:tcPr marL="3756" marR="3756" marT="3756" marB="0" anchor="ctr" anchorCtr="0">
                    <a:lnL>
                      <a:noFill/>
                    </a:lnL>
                    <a:lnR>
                      <a:noFill/>
                    </a:lnR>
                    <a:lnT>
                      <a:noFill/>
                    </a:lnT>
                    <a:lnB w="12700">
                      <a:solidFill>
                        <a:schemeClr val="tx1"/>
                      </a:solidFill>
                      <a:prstDash val="solid"/>
                    </a:lnB>
                    <a:solidFill>
                      <a:srgbClr val="FFFFFF"/>
                    </a:solidFill>
                  </a:tcPr>
                </a:tc>
                <a:tc>
                  <a:txBody>
                    <a:bodyPr/>
                    <a:lstStyle/>
                    <a:p>
                      <a:pPr algn="l" rtl="0" fontAlgn="ctr"/>
                      <a:r>
                        <a:rPr lang="zh-CN" altLang="en-US" sz="1200" b="0" i="0" u="none" strike="noStrike">
                          <a:solidFill>
                            <a:srgbClr val="000000"/>
                          </a:solidFill>
                          <a:effectLst/>
                          <a:latin typeface="等线" panose="02010600030101010101" charset="-122"/>
                          <a:ea typeface="等线" panose="02010600030101010101" charset="-122"/>
                        </a:rPr>
                        <a:t>大中华区股票为主，少量美股，</a:t>
                      </a:r>
                      <a:endParaRPr lang="zh-CN" altLang="en-US" sz="1200" b="0" i="0" u="none" strike="noStrike">
                        <a:solidFill>
                          <a:srgbClr val="000000"/>
                        </a:solidFill>
                        <a:effectLst/>
                        <a:latin typeface="等线" panose="02010600030101010101" charset="-122"/>
                        <a:ea typeface="等线" panose="02010600030101010101" charset="-122"/>
                      </a:endParaRPr>
                    </a:p>
                    <a:p>
                      <a:pPr algn="l" rtl="0" fontAlgn="ctr"/>
                      <a:r>
                        <a:rPr lang="zh-CN" altLang="en-US" sz="1200" b="0" i="0" u="none" strike="noStrike">
                          <a:solidFill>
                            <a:srgbClr val="000000"/>
                          </a:solidFill>
                          <a:effectLst/>
                          <a:latin typeface="等线" panose="02010600030101010101" charset="-122"/>
                          <a:ea typeface="等线" panose="02010600030101010101" charset="-122"/>
                        </a:rPr>
                        <a:t>杠杆和集中度高于金色中国</a:t>
                      </a:r>
                      <a:endParaRPr lang="zh-CN" altLang="en-US" sz="1200" b="0" i="0" u="none" strike="noStrike">
                        <a:solidFill>
                          <a:srgbClr val="000000"/>
                        </a:solidFill>
                        <a:effectLst/>
                        <a:latin typeface="等线" panose="02010600030101010101" charset="-122"/>
                        <a:ea typeface="等线" panose="02010600030101010101" charset="-122"/>
                      </a:endParaRPr>
                    </a:p>
                  </a:txBody>
                  <a:tcPr marL="3756" marR="3756" marT="3756" marB="0" anchor="ctr" anchorCtr="0">
                    <a:lnL>
                      <a:noFill/>
                    </a:lnL>
                    <a:lnR>
                      <a:noFill/>
                    </a:lnR>
                    <a:lnT>
                      <a:noFill/>
                    </a:lnT>
                    <a:lnB w="12700">
                      <a:solidFill>
                        <a:schemeClr val="tx1"/>
                      </a:solidFill>
                      <a:prstDash val="solid"/>
                    </a:lnB>
                    <a:solidFill>
                      <a:srgbClr val="FFFFFF"/>
                    </a:solidFill>
                  </a:tcPr>
                </a:tc>
              </a:tr>
              <a:tr h="620395">
                <a:tc>
                  <a:txBody>
                    <a:bodyPr/>
                    <a:lstStyle/>
                    <a:p>
                      <a:pPr algn="ctr" fontAlgn="ctr"/>
                      <a:r>
                        <a:rPr lang="zh-CN" altLang="en-US" sz="1200" b="1" i="0" u="none" strike="noStrike">
                          <a:solidFill>
                            <a:srgbClr val="FF0000"/>
                          </a:solidFill>
                          <a:effectLst/>
                          <a:latin typeface="等线" panose="02010600030101010101" charset="-122"/>
                          <a:ea typeface="等线" panose="02010600030101010101" charset="-122"/>
                        </a:rPr>
                        <a:t>美元拟上线产品</a:t>
                      </a:r>
                      <a:endParaRPr lang="zh-CN" altLang="en-US" sz="1200" b="1" i="0" u="none" strike="noStrike">
                        <a:solidFill>
                          <a:srgbClr val="FF0000"/>
                        </a:solidFill>
                        <a:effectLst/>
                        <a:latin typeface="等线" panose="02010600030101010101" charset="-122"/>
                        <a:ea typeface="等线" panose="02010600030101010101" charset="-122"/>
                      </a:endParaRPr>
                    </a:p>
                  </a:txBody>
                  <a:tcPr marL="3756" marR="3756" marT="3756" marB="0" anchor="ctr" anchorCtr="0">
                    <a:lnL>
                      <a:noFill/>
                    </a:lnL>
                    <a:lnR>
                      <a:noFill/>
                    </a:lnR>
                    <a:lnT w="12700">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fontAlgn="ctr"/>
                      <a:r>
                        <a:rPr lang="zh-CN" altLang="en-US" sz="1200" b="1" i="0" u="none" strike="noStrike" dirty="0">
                          <a:solidFill>
                            <a:srgbClr val="FF0000"/>
                          </a:solidFill>
                          <a:effectLst/>
                          <a:latin typeface="等线" panose="02010600030101010101" charset="-122"/>
                          <a:ea typeface="等线" panose="02010600030101010101" charset="-122"/>
                        </a:rPr>
                        <a:t>景林环球基金</a:t>
                      </a:r>
                      <a:endParaRPr lang="zh-CN" altLang="en-US" sz="1200" b="1" i="0" u="none" strike="noStrike" dirty="0">
                        <a:solidFill>
                          <a:srgbClr val="FF0000"/>
                        </a:solidFill>
                        <a:effectLst/>
                        <a:latin typeface="等线" panose="02010600030101010101" charset="-122"/>
                        <a:ea typeface="等线" panose="02010600030101010101" charset="-122"/>
                      </a:endParaRPr>
                    </a:p>
                  </a:txBody>
                  <a:tcPr marL="3756" marR="3756" marT="3756" marB="0" anchor="ctr" anchorCtr="0">
                    <a:lnL>
                      <a:noFill/>
                    </a:lnL>
                    <a:lnR>
                      <a:noFill/>
                    </a:lnR>
                    <a:lnT w="12700">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fontAlgn="ctr">
                        <a:buClrTx/>
                        <a:buSzTx/>
                        <a:buFontTx/>
                        <a:buNone/>
                      </a:pPr>
                      <a:r>
                        <a:rPr lang="zh-CN" altLang="en-US" sz="1200" b="1" i="0" u="none" strike="noStrike" dirty="0">
                          <a:solidFill>
                            <a:srgbClr val="FF0000"/>
                          </a:solidFill>
                          <a:effectLst/>
                          <a:latin typeface="等线" panose="02010600030101010101" charset="-122"/>
                          <a:ea typeface="等线" panose="02010600030101010101" charset="-122"/>
                        </a:rPr>
                        <a:t>蒋锦志、杨位鑫</a:t>
                      </a:r>
                      <a:endParaRPr lang="zh-CN" altLang="en-US" sz="1200" b="1" i="0" u="none" strike="noStrike" dirty="0">
                        <a:solidFill>
                          <a:srgbClr val="FF0000"/>
                        </a:solidFill>
                        <a:effectLst/>
                        <a:latin typeface="等线" panose="02010600030101010101" charset="-122"/>
                        <a:ea typeface="等线" panose="02010600030101010101" charset="-122"/>
                      </a:endParaRPr>
                    </a:p>
                  </a:txBody>
                  <a:tcPr marL="3756" marR="3756" marT="3756" marB="0" anchor="ctr" anchorCtr="0">
                    <a:lnL>
                      <a:noFill/>
                    </a:lnL>
                    <a:lnR>
                      <a:noFill/>
                    </a:lnR>
                    <a:lnT w="12700">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fontAlgn="ctr">
                        <a:buClrTx/>
                        <a:buSzTx/>
                        <a:buFontTx/>
                      </a:pPr>
                      <a:r>
                        <a:rPr lang="zh-CN" altLang="en-US" sz="1200" b="1" i="0" u="none" strike="noStrike">
                          <a:solidFill>
                            <a:srgbClr val="FF0000"/>
                          </a:solidFill>
                          <a:effectLst/>
                          <a:latin typeface="等线" panose="02010600030101010101" charset="-122"/>
                          <a:ea typeface="等线" panose="02010600030101010101" charset="-122"/>
                        </a:rPr>
                        <a:t>股票多空</a:t>
                      </a:r>
                      <a:endParaRPr lang="zh-CN" altLang="en-US" sz="1200" b="1" i="0" u="none" strike="noStrike">
                        <a:solidFill>
                          <a:srgbClr val="FF0000"/>
                        </a:solidFill>
                        <a:effectLst/>
                        <a:latin typeface="等线" panose="02010600030101010101" charset="-122"/>
                        <a:ea typeface="等线" panose="02010600030101010101" charset="-122"/>
                      </a:endParaRPr>
                    </a:p>
                  </a:txBody>
                  <a:tcPr marL="3756" marR="3756" marT="3756" marB="0" anchor="ctr" anchorCtr="0">
                    <a:lnL>
                      <a:noFill/>
                    </a:lnL>
                    <a:lnR>
                      <a:noFill/>
                    </a:lnR>
                    <a:lnT w="12700">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fontAlgn="ctr">
                        <a:buClrTx/>
                        <a:buSzTx/>
                        <a:buFontTx/>
                      </a:pPr>
                      <a:r>
                        <a:rPr lang="zh-CN" altLang="en-US" sz="1200" b="1" i="0" u="none" strike="noStrike" dirty="0">
                          <a:solidFill>
                            <a:srgbClr val="FF0000"/>
                          </a:solidFill>
                          <a:effectLst/>
                          <a:latin typeface="等线" panose="02010600030101010101" charset="-122"/>
                          <a:ea typeface="等线" panose="02010600030101010101" charset="-122"/>
                        </a:rPr>
                        <a:t>5.5</a:t>
                      </a:r>
                      <a:endParaRPr lang="zh-CN" altLang="en-US" sz="1200" b="1" i="0" u="none" strike="noStrike" dirty="0">
                        <a:solidFill>
                          <a:srgbClr val="FF0000"/>
                        </a:solidFill>
                        <a:effectLst/>
                        <a:latin typeface="等线" panose="02010600030101010101" charset="-122"/>
                        <a:ea typeface="等线" panose="02010600030101010101" charset="-122"/>
                      </a:endParaRPr>
                    </a:p>
                  </a:txBody>
                  <a:tcPr marL="3756" marR="3756" marT="3756" marB="0" anchor="ctr" anchorCtr="0">
                    <a:lnL>
                      <a:noFill/>
                    </a:lnL>
                    <a:lnR>
                      <a:noFill/>
                    </a:lnR>
                    <a:lnT w="12700">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fontAlgn="ctr"/>
                      <a:r>
                        <a:rPr lang="en-US" altLang="zh-HK" sz="1200" b="1" i="0" u="none" strike="noStrike" dirty="0">
                          <a:solidFill>
                            <a:srgbClr val="FF0000"/>
                          </a:solidFill>
                          <a:effectLst/>
                          <a:latin typeface="等线" panose="02010600030101010101" charset="-122"/>
                          <a:ea typeface="等线" panose="02010600030101010101" charset="-122"/>
                        </a:rPr>
                        <a:t>-</a:t>
                      </a:r>
                      <a:endParaRPr lang="en-US" altLang="zh-HK" sz="1200" b="1" i="0" u="none" strike="noStrike" dirty="0">
                        <a:solidFill>
                          <a:srgbClr val="FF0000"/>
                        </a:solidFill>
                        <a:effectLst/>
                        <a:latin typeface="等线" panose="02010600030101010101" charset="-122"/>
                        <a:ea typeface="等线" panose="02010600030101010101" charset="-122"/>
                      </a:endParaRPr>
                    </a:p>
                  </a:txBody>
                  <a:tcPr marL="3756" marR="3756" marT="3756" marB="0" anchor="ctr" anchorCtr="0">
                    <a:lnL>
                      <a:noFill/>
                    </a:lnL>
                    <a:lnR>
                      <a:noFill/>
                    </a:lnR>
                    <a:lnT w="12700">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fontAlgn="ctr"/>
                      <a:r>
                        <a:rPr lang="zh-CN" sz="1200" b="1" i="0" u="none" strike="noStrike">
                          <a:solidFill>
                            <a:srgbClr val="FF0000"/>
                          </a:solidFill>
                          <a:effectLst/>
                          <a:latin typeface="等线" panose="02010600030101010101" charset="-122"/>
                          <a:ea typeface="等线" panose="02010600030101010101" charset="-122"/>
                          <a:cs typeface="等线" panose="02010600030101010101" charset="-122"/>
                        </a:rPr>
                        <a:t>计划</a:t>
                      </a:r>
                      <a:r>
                        <a:rPr lang="en-US" altLang="zh-CN" sz="1200" b="1" i="0" u="none" strike="noStrike">
                          <a:solidFill>
                            <a:srgbClr val="FF0000"/>
                          </a:solidFill>
                          <a:effectLst/>
                          <a:latin typeface="等线" panose="02010600030101010101" charset="-122"/>
                          <a:ea typeface="等线" panose="02010600030101010101" charset="-122"/>
                          <a:cs typeface="等线" panose="02010600030101010101" charset="-122"/>
                        </a:rPr>
                        <a:t>2025/3</a:t>
                      </a:r>
                      <a:endParaRPr lang="en-US" altLang="zh-CN" sz="1200" b="1" i="0" u="none" strike="noStrike">
                        <a:solidFill>
                          <a:srgbClr val="FF0000"/>
                        </a:solidFill>
                        <a:effectLst/>
                        <a:latin typeface="等线" panose="02010600030101010101" charset="-122"/>
                        <a:ea typeface="等线" panose="02010600030101010101" charset="-122"/>
                        <a:cs typeface="等线" panose="02010600030101010101" charset="-122"/>
                      </a:endParaRPr>
                    </a:p>
                  </a:txBody>
                  <a:tcPr marL="3756" marR="3756" marT="3756" marB="0" anchor="ctr" anchorCtr="0">
                    <a:lnL>
                      <a:noFill/>
                    </a:lnL>
                    <a:lnR>
                      <a:noFill/>
                    </a:lnR>
                    <a:lnT w="12700">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l" fontAlgn="ctr"/>
                      <a:r>
                        <a:rPr lang="zh-CN" altLang="en-US" sz="1200" b="1" i="0" u="none" strike="noStrike" dirty="0" smtClean="0">
                          <a:solidFill>
                            <a:srgbClr val="FF0000"/>
                          </a:solidFill>
                          <a:effectLst/>
                          <a:latin typeface="等线" panose="02010600030101010101" charset="-122"/>
                          <a:ea typeface="等线" panose="02010600030101010101" charset="-122"/>
                          <a:cs typeface="等线" panose="02010600030101010101" charset="-122"/>
                        </a:rPr>
                        <a:t>全球布局，长期目标敞口为中概</a:t>
                      </a:r>
                      <a:r>
                        <a:rPr lang="en-US" altLang="zh-CN" sz="1200" b="1" i="0" u="none" strike="noStrike" dirty="0" smtClean="0">
                          <a:solidFill>
                            <a:srgbClr val="FF0000"/>
                          </a:solidFill>
                          <a:effectLst/>
                          <a:latin typeface="等线" panose="02010600030101010101" charset="-122"/>
                          <a:ea typeface="等线" panose="02010600030101010101" charset="-122"/>
                          <a:cs typeface="等线" panose="02010600030101010101" charset="-122"/>
                        </a:rPr>
                        <a:t>2-3</a:t>
                      </a:r>
                      <a:r>
                        <a:rPr lang="zh-CN" altLang="en-US" sz="1200" b="1" i="0" u="none" strike="noStrike" dirty="0" smtClean="0">
                          <a:solidFill>
                            <a:srgbClr val="FF0000"/>
                          </a:solidFill>
                          <a:effectLst/>
                          <a:latin typeface="等线" panose="02010600030101010101" charset="-122"/>
                          <a:ea typeface="等线" panose="02010600030101010101" charset="-122"/>
                          <a:cs typeface="等线" panose="02010600030101010101" charset="-122"/>
                        </a:rPr>
                        <a:t>成，大部分（</a:t>
                      </a:r>
                      <a:r>
                        <a:rPr lang="en-US" altLang="zh-CN" sz="1200" b="1" i="0" u="none" strike="noStrike" dirty="0" smtClean="0">
                          <a:solidFill>
                            <a:srgbClr val="FF0000"/>
                          </a:solidFill>
                          <a:effectLst/>
                          <a:latin typeface="等线" panose="02010600030101010101" charset="-122"/>
                          <a:ea typeface="等线" panose="02010600030101010101" charset="-122"/>
                          <a:cs typeface="等线" panose="02010600030101010101" charset="-122"/>
                        </a:rPr>
                        <a:t>5</a:t>
                      </a:r>
                      <a:r>
                        <a:rPr lang="zh-CN" altLang="en-US" sz="1200" b="1" i="0" u="none" strike="noStrike" dirty="0" smtClean="0">
                          <a:solidFill>
                            <a:srgbClr val="FF0000"/>
                          </a:solidFill>
                          <a:effectLst/>
                          <a:latin typeface="等线" panose="02010600030101010101" charset="-122"/>
                          <a:ea typeface="等线" panose="02010600030101010101" charset="-122"/>
                          <a:cs typeface="等线" panose="02010600030101010101" charset="-122"/>
                        </a:rPr>
                        <a:t>成以上）为纯美股</a:t>
                      </a:r>
                      <a:r>
                        <a:rPr lang="en-US" altLang="zh-CN" sz="1200" b="1" i="0" u="none" strike="noStrike" dirty="0" smtClean="0">
                          <a:solidFill>
                            <a:srgbClr val="FF0000"/>
                          </a:solidFill>
                          <a:effectLst/>
                          <a:latin typeface="等线" panose="02010600030101010101" charset="-122"/>
                          <a:ea typeface="等线" panose="02010600030101010101" charset="-122"/>
                          <a:cs typeface="等线" panose="02010600030101010101" charset="-122"/>
                        </a:rPr>
                        <a:t>+</a:t>
                      </a:r>
                      <a:r>
                        <a:rPr lang="zh-CN" altLang="en-US" sz="1200" b="1" i="0" u="none" strike="noStrike" dirty="0" smtClean="0">
                          <a:solidFill>
                            <a:srgbClr val="FF0000"/>
                          </a:solidFill>
                          <a:effectLst/>
                          <a:latin typeface="等线" panose="02010600030101010101" charset="-122"/>
                          <a:ea typeface="等线" panose="02010600030101010101" charset="-122"/>
                          <a:cs typeface="等线" panose="02010600030101010101" charset="-122"/>
                        </a:rPr>
                        <a:t>其它地区</a:t>
                      </a:r>
                      <a:endParaRPr lang="zh-CN" altLang="en-US" sz="1200" b="1" i="0" u="none" strike="noStrike" dirty="0" smtClean="0">
                        <a:solidFill>
                          <a:srgbClr val="FF0000"/>
                        </a:solidFill>
                        <a:effectLst/>
                        <a:latin typeface="等线" panose="02010600030101010101" charset="-122"/>
                        <a:ea typeface="等线" panose="02010600030101010101" charset="-122"/>
                        <a:cs typeface="等线" panose="02010600030101010101" charset="-122"/>
                      </a:endParaRPr>
                    </a:p>
                  </a:txBody>
                  <a:tcPr marL="3756" marR="3756" marT="3756" marB="0" anchor="ctr" anchorCtr="0">
                    <a:lnL>
                      <a:noFill/>
                    </a:lnL>
                    <a:lnR>
                      <a:noFill/>
                    </a:lnR>
                    <a:lnT w="12700">
                      <a:solidFill>
                        <a:schemeClr val="tx1"/>
                      </a:solidFill>
                      <a:prstDash val="soli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32600" y="245842"/>
            <a:ext cx="6729538" cy="423545"/>
          </a:xfrm>
          <a:prstGeom prst="rect">
            <a:avLst/>
          </a:prstGeom>
          <a:noFill/>
        </p:spPr>
        <p:txBody>
          <a:bodyPr wrap="square" rtlCol="0">
            <a:spAutoFit/>
          </a:bodyPr>
          <a:lstStyle/>
          <a:p>
            <a:pPr marL="0" marR="0" lvl="0" algn="l" defTabSz="914400" rtl="0" eaLnBrk="1" fontAlgn="auto" latinLnBrk="0" hangingPunct="1">
              <a:lnSpc>
                <a:spcPct val="90000"/>
              </a:lnSpc>
              <a:spcBef>
                <a:spcPts val="0"/>
              </a:spcBef>
              <a:buClrTx/>
              <a:buSzTx/>
              <a:buFontTx/>
              <a:buNone/>
            </a:pPr>
            <a:r>
              <a:rPr kumimoji="0" lang="zh-CN" altLang="en-US" sz="2400" b="1" i="0" u="none" strike="noStrike" kern="1200" cap="none" spc="0" normalizeH="0" baseline="0" dirty="0" smtClean="0">
                <a:solidFill>
                  <a:schemeClr val="tx2">
                    <a:lumMod val="75000"/>
                  </a:schemeClr>
                </a:solidFill>
                <a:latin typeface="等线" panose="02010600030101010101" charset="-122"/>
                <a:ea typeface="等线" panose="02010600030101010101" charset="-122"/>
                <a:cs typeface="等线" panose="02010600030101010101" charset="-122"/>
              </a:rPr>
              <a:t>景林金色中国-基金概要</a:t>
            </a:r>
            <a:endParaRPr kumimoji="0" lang="zh-CN" altLang="en-US" sz="2400" b="1" i="0" u="none" strike="noStrike" kern="1200" cap="none" spc="0" normalizeH="0" baseline="0" dirty="0" smtClean="0">
              <a:solidFill>
                <a:schemeClr val="tx2">
                  <a:lumMod val="75000"/>
                </a:schemeClr>
              </a:solidFill>
              <a:latin typeface="等线" panose="02010600030101010101" charset="-122"/>
              <a:ea typeface="等线" panose="02010600030101010101" charset="-122"/>
              <a:cs typeface="等线" panose="02010600030101010101" charset="-122"/>
            </a:endParaRPr>
          </a:p>
        </p:txBody>
      </p:sp>
      <p:graphicFrame>
        <p:nvGraphicFramePr>
          <p:cNvPr id="6" name="表格 5"/>
          <p:cNvGraphicFramePr>
            <a:graphicFrameLocks noGrp="1"/>
          </p:cNvGraphicFramePr>
          <p:nvPr>
            <p:custDataLst>
              <p:tags r:id="rId1"/>
            </p:custDataLst>
          </p:nvPr>
        </p:nvGraphicFramePr>
        <p:xfrm>
          <a:off x="196850" y="1310005"/>
          <a:ext cx="6141085" cy="5005705"/>
        </p:xfrm>
        <a:graphic>
          <a:graphicData uri="http://schemas.openxmlformats.org/drawingml/2006/table">
            <a:tbl>
              <a:tblPr firstRow="1" bandRow="1">
                <a:tableStyleId>{5C22544A-7EE6-4342-B048-85BDC9FD1C3A}</a:tableStyleId>
              </a:tblPr>
              <a:tblGrid>
                <a:gridCol w="1164590"/>
                <a:gridCol w="4976495"/>
              </a:tblGrid>
              <a:tr h="430530">
                <a:tc>
                  <a:txBody>
                    <a:bodyPr/>
                    <a:lstStyle/>
                    <a:p>
                      <a:pPr marL="0" algn="l" defTabSz="914400" rtl="0" eaLnBrk="1" latinLnBrk="0" hangingPunct="1"/>
                      <a:r>
                        <a:rPr lang="zh-TW" altLang="en-US" sz="1100" b="1" kern="1200" dirty="0">
                          <a:solidFill>
                            <a:schemeClr val="tx1"/>
                          </a:solidFill>
                          <a:latin typeface="等线 Light" panose="02010600030101010101" charset="-122"/>
                          <a:ea typeface="等线 Light" panose="02010600030101010101" charset="-122"/>
                          <a:cs typeface="+mn-cs"/>
                        </a:rPr>
                        <a:t>标的基金名称</a:t>
                      </a:r>
                      <a:endParaRPr lang="zh-CN" altLang="en-US" sz="1100" b="1" kern="1200" dirty="0">
                        <a:solidFill>
                          <a:schemeClr val="tx1"/>
                        </a:solidFill>
                        <a:latin typeface="等线 Light" panose="02010600030101010101" charset="-122"/>
                        <a:ea typeface="等线 Light" panose="02010600030101010101" charset="-122"/>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buFont typeface="Arial" panose="020B0604020202020204" pitchFamily="34" charset="0"/>
                        <a:buNone/>
                      </a:pPr>
                      <a:r>
                        <a:rPr lang="en-US" altLang="zh-CN" sz="1000" b="0" kern="1200" dirty="0">
                          <a:solidFill>
                            <a:schemeClr val="tx1"/>
                          </a:solidFill>
                          <a:latin typeface="等线 Light" panose="02010600030101010101" charset="-122"/>
                          <a:ea typeface="等线 Light" panose="02010600030101010101" charset="-122"/>
                          <a:cs typeface="+mn-cs"/>
                        </a:rPr>
                        <a:t>Golden China Fund</a:t>
                      </a:r>
                      <a:endParaRPr lang="en-US" altLang="zh-CN" sz="1000" b="0" kern="1200" dirty="0">
                        <a:solidFill>
                          <a:schemeClr val="tx1"/>
                        </a:solidFill>
                        <a:latin typeface="等线 Light" panose="02010600030101010101" charset="-122"/>
                        <a:ea typeface="等线 Light" panose="02010600030101010101" charset="-122"/>
                        <a:cs typeface="+mn-cs"/>
                      </a:endParaRPr>
                    </a:p>
                    <a:p>
                      <a:pPr marL="0" indent="0" algn="l" defTabSz="914400" rtl="0" eaLnBrk="1" latinLnBrk="0" hangingPunct="1">
                        <a:buFont typeface="Arial" panose="020B0604020202020204" pitchFamily="34" charset="0"/>
                        <a:buNone/>
                      </a:pPr>
                      <a:r>
                        <a:rPr lang="zh-CN" altLang="en-US" sz="1000" b="0" kern="1200" dirty="0">
                          <a:solidFill>
                            <a:schemeClr val="tx1"/>
                          </a:solidFill>
                          <a:latin typeface="等线 Light" panose="02010600030101010101" charset="-122"/>
                          <a:ea typeface="等线 Light" panose="02010600030101010101" charset="-122"/>
                          <a:cs typeface="+mn-cs"/>
                        </a:rPr>
                        <a:t>（</a:t>
                      </a:r>
                      <a:r>
                        <a:rPr lang="zh-TW" altLang="en-US" sz="1000" b="0" kern="1200" dirty="0">
                          <a:solidFill>
                            <a:schemeClr val="tx1"/>
                          </a:solidFill>
                          <a:latin typeface="等线 Light" panose="02010600030101010101" charset="-122"/>
                          <a:ea typeface="等线 Light" panose="02010600030101010101" charset="-122"/>
                          <a:cs typeface="+mn-cs"/>
                        </a:rPr>
                        <a:t>金色中国基金</a:t>
                      </a:r>
                      <a:r>
                        <a:rPr lang="zh-CN" altLang="en-US" sz="1000" b="0" kern="1200" dirty="0">
                          <a:solidFill>
                            <a:schemeClr val="tx1"/>
                          </a:solidFill>
                          <a:latin typeface="等线 Light" panose="02010600030101010101" charset="-122"/>
                          <a:ea typeface="等线 Light" panose="02010600030101010101" charset="-122"/>
                          <a:cs typeface="+mn-cs"/>
                        </a:rPr>
                        <a:t>）</a:t>
                      </a:r>
                      <a:endParaRPr lang="zh-CN" altLang="en-US" sz="1000" b="0" kern="1200" dirty="0">
                        <a:solidFill>
                          <a:schemeClr val="tx1"/>
                        </a:solidFill>
                        <a:latin typeface="等线 Light" panose="02010600030101010101" charset="-122"/>
                        <a:ea typeface="等线 Light" panose="02010600030101010101" charset="-122"/>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26720">
                <a:tc>
                  <a:txBody>
                    <a:bodyPr/>
                    <a:lstStyle/>
                    <a:p>
                      <a:pPr marL="0" algn="l" defTabSz="914400" rtl="0" eaLnBrk="1" latinLnBrk="0" hangingPunct="1"/>
                      <a:r>
                        <a:rPr lang="zh-TW" altLang="en-US" sz="1100" b="1" kern="1200" dirty="0">
                          <a:solidFill>
                            <a:schemeClr val="tx1"/>
                          </a:solidFill>
                          <a:latin typeface="等线 Light" panose="02010600030101010101" charset="-122"/>
                          <a:ea typeface="等线 Light" panose="02010600030101010101" charset="-122"/>
                          <a:cs typeface="+mn-cs"/>
                        </a:rPr>
                        <a:t>标的基金投资管理人</a:t>
                      </a:r>
                      <a:endParaRPr lang="zh-CN" altLang="en-US" sz="1100" b="1" kern="1200" dirty="0">
                        <a:solidFill>
                          <a:schemeClr val="tx1"/>
                        </a:solidFill>
                        <a:latin typeface="等线 Light" panose="02010600030101010101" charset="-122"/>
                        <a:ea typeface="等线 Light" panose="02010600030101010101" charset="-122"/>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buFont typeface="Arial" panose="020B0604020202020204" pitchFamily="34" charset="0"/>
                        <a:buNone/>
                      </a:pPr>
                      <a:r>
                        <a:rPr lang="zh-TW" altLang="en-US" sz="1000" b="0" kern="1200" dirty="0">
                          <a:solidFill>
                            <a:schemeClr val="dk1"/>
                          </a:solidFill>
                          <a:latin typeface="等线 Light" panose="02010600030101010101" charset="-122"/>
                          <a:ea typeface="等线 Light" panose="02010600030101010101" charset="-122"/>
                          <a:cs typeface="+mn-cs"/>
                        </a:rPr>
                        <a:t>景林资产管理香港有限公司</a:t>
                      </a:r>
                      <a:endParaRPr lang="zh-CN" altLang="en-US" sz="1000" b="0" kern="1200" dirty="0">
                        <a:solidFill>
                          <a:schemeClr val="dk1"/>
                        </a:solidFill>
                        <a:latin typeface="等线 Light" panose="02010600030101010101" charset="-122"/>
                        <a:ea typeface="等线 Light" panose="02010600030101010101" charset="-122"/>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853440">
                <a:tc>
                  <a:txBody>
                    <a:bodyPr/>
                    <a:lstStyle/>
                    <a:p>
                      <a:pPr marL="0" algn="l" defTabSz="914400" rtl="0" eaLnBrk="1" latinLnBrk="0" hangingPunct="1"/>
                      <a:r>
                        <a:rPr lang="zh-CN" altLang="en-US" sz="1100" b="1" kern="1200" dirty="0">
                          <a:solidFill>
                            <a:schemeClr val="tx1"/>
                          </a:solidFill>
                          <a:latin typeface="等线 Light" panose="02010600030101010101" charset="-122"/>
                          <a:ea typeface="等线 Light" panose="02010600030101010101" charset="-122"/>
                          <a:cs typeface="+mn-cs"/>
                        </a:rPr>
                        <a:t>流动性安排</a:t>
                      </a:r>
                      <a:endParaRPr lang="zh-CN" altLang="en-US" sz="1100" b="1" kern="1200" dirty="0">
                        <a:solidFill>
                          <a:schemeClr val="tx1"/>
                        </a:solidFill>
                        <a:latin typeface="等线 Light" panose="02010600030101010101" charset="-122"/>
                        <a:ea typeface="等线 Light" panose="02010600030101010101" charset="-122"/>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altLang="zh-TW" sz="1000" b="0" dirty="0">
                          <a:latin typeface="等线 Light" panose="02010600030101010101" charset="-122"/>
                          <a:ea typeface="等线 Light" panose="02010600030101010101" charset="-122"/>
                        </a:rPr>
                        <a:t>A</a:t>
                      </a:r>
                      <a:r>
                        <a:rPr lang="zh-CN" altLang="en-US" sz="1000" b="0" dirty="0">
                          <a:latin typeface="等线 Light" panose="02010600030101010101" charset="-122"/>
                          <a:ea typeface="等线 Light" panose="02010600030101010101" charset="-122"/>
                        </a:rPr>
                        <a:t>类份额：</a:t>
                      </a:r>
                      <a:r>
                        <a:rPr lang="zh-TW" altLang="en-US" sz="1000" b="0" dirty="0">
                          <a:latin typeface="等线 Light" panose="02010600030101010101" charset="-122"/>
                          <a:ea typeface="等线 Light" panose="02010600030101010101" charset="-122"/>
                        </a:rPr>
                        <a:t>锁定期</a:t>
                      </a:r>
                      <a:r>
                        <a:rPr lang="en-US" altLang="zh-TW" sz="1000" b="0" dirty="0">
                          <a:latin typeface="等线 Light" panose="02010600030101010101" charset="-122"/>
                          <a:ea typeface="等线 Light" panose="02010600030101010101" charset="-122"/>
                        </a:rPr>
                        <a:t>12</a:t>
                      </a:r>
                      <a:r>
                        <a:rPr lang="zh-TW" altLang="en-US" sz="1000" b="0" dirty="0">
                          <a:latin typeface="等线 Light" panose="02010600030101010101" charset="-122"/>
                          <a:ea typeface="等线 Light" panose="02010600030101010101" charset="-122"/>
                        </a:rPr>
                        <a:t>个月，锁定期内赎回支付净值的</a:t>
                      </a:r>
                      <a:r>
                        <a:rPr lang="en-US" altLang="zh-TW" sz="1000" b="0" dirty="0">
                          <a:latin typeface="等线 Light" panose="02010600030101010101" charset="-122"/>
                          <a:ea typeface="等线 Light" panose="02010600030101010101" charset="-122"/>
                        </a:rPr>
                        <a:t>2%</a:t>
                      </a:r>
                      <a:r>
                        <a:rPr lang="zh-TW" altLang="en-US" sz="1000" b="0" dirty="0">
                          <a:latin typeface="等线 Light" panose="02010600030101010101" charset="-122"/>
                          <a:ea typeface="等线 Light" panose="02010600030101010101" charset="-122"/>
                        </a:rPr>
                        <a:t>赎回费；锁定期后月度赎回。</a:t>
                      </a:r>
                      <a:endParaRPr lang="en-US" altLang="zh-TW" sz="1000" b="0" dirty="0">
                        <a:latin typeface="等线 Light" panose="02010600030101010101" charset="-122"/>
                        <a:ea typeface="等线 Light" panose="02010600030101010101" charset="-122"/>
                      </a:endParaRPr>
                    </a:p>
                    <a:p>
                      <a:pPr marL="171450" indent="-171450">
                        <a:buFont typeface="Arial" panose="020B0604020202020204" pitchFamily="34" charset="0"/>
                        <a:buChar char="•"/>
                      </a:pPr>
                      <a:r>
                        <a:rPr lang="en-US" altLang="zh-TW" sz="1000" b="0" dirty="0">
                          <a:latin typeface="等线 Light" panose="02010600030101010101" charset="-122"/>
                          <a:ea typeface="等线 Light" panose="02010600030101010101" charset="-122"/>
                        </a:rPr>
                        <a:t>E</a:t>
                      </a:r>
                      <a:r>
                        <a:rPr lang="zh-CN" altLang="en-US" sz="1000" b="0" dirty="0">
                          <a:latin typeface="等线 Light" panose="02010600030101010101" charset="-122"/>
                          <a:ea typeface="等线 Light" panose="02010600030101010101" charset="-122"/>
                        </a:rPr>
                        <a:t>类份额：</a:t>
                      </a:r>
                      <a:r>
                        <a:rPr lang="zh-TW" altLang="en-US" sz="1000" b="0" dirty="0">
                          <a:latin typeface="等线 Light" panose="02010600030101010101" charset="-122"/>
                          <a:ea typeface="等线 Light" panose="02010600030101010101" charset="-122"/>
                        </a:rPr>
                        <a:t>锁定期</a:t>
                      </a:r>
                      <a:r>
                        <a:rPr lang="en-US" altLang="zh-TW" sz="1000" b="0" dirty="0">
                          <a:latin typeface="等线 Light" panose="02010600030101010101" charset="-122"/>
                          <a:ea typeface="等线 Light" panose="02010600030101010101" charset="-122"/>
                        </a:rPr>
                        <a:t>36</a:t>
                      </a:r>
                      <a:r>
                        <a:rPr lang="zh-TW" altLang="en-US" sz="1000" b="0" dirty="0">
                          <a:latin typeface="等线 Light" panose="02010600030101010101" charset="-122"/>
                          <a:ea typeface="等线 Light" panose="02010600030101010101" charset="-122"/>
                        </a:rPr>
                        <a:t>个月，锁定期内不能赎回。</a:t>
                      </a:r>
                      <a:r>
                        <a:rPr lang="en-US" altLang="zh-TW" sz="1000" b="0" dirty="0">
                          <a:latin typeface="等线 Light" panose="02010600030101010101" charset="-122"/>
                          <a:ea typeface="等线 Light" panose="02010600030101010101" charset="-122"/>
                        </a:rPr>
                        <a:t>36</a:t>
                      </a:r>
                      <a:r>
                        <a:rPr lang="zh-TW" altLang="en-US" sz="1000" b="0" dirty="0">
                          <a:latin typeface="等线 Light" panose="02010600030101010101" charset="-122"/>
                          <a:ea typeface="等线 Light" panose="02010600030101010101" charset="-122"/>
                        </a:rPr>
                        <a:t>个月后，将被自动转入</a:t>
                      </a:r>
                      <a:r>
                        <a:rPr lang="en-US" altLang="zh-TW" sz="1000" b="0" dirty="0">
                          <a:latin typeface="等线 Light" panose="02010600030101010101" charset="-122"/>
                          <a:ea typeface="等线 Light" panose="02010600030101010101" charset="-122"/>
                        </a:rPr>
                        <a:t>D</a:t>
                      </a:r>
                      <a:r>
                        <a:rPr lang="zh-TW" altLang="en-US" sz="1000" b="0" dirty="0">
                          <a:latin typeface="等线 Light" panose="02010600030101010101" charset="-122"/>
                          <a:ea typeface="等线 Light" panose="02010600030101010101" charset="-122"/>
                        </a:rPr>
                        <a:t>类基金份额（年管理费</a:t>
                      </a:r>
                      <a:r>
                        <a:rPr lang="en-US" altLang="zh-TW" sz="1000" b="0" dirty="0">
                          <a:latin typeface="等线 Light" panose="02010600030101010101" charset="-122"/>
                          <a:ea typeface="等线 Light" panose="02010600030101010101" charset="-122"/>
                        </a:rPr>
                        <a:t>2%</a:t>
                      </a:r>
                      <a:r>
                        <a:rPr lang="zh-TW" altLang="en-US" sz="1000" b="0" dirty="0">
                          <a:latin typeface="等线 Light" panose="02010600030101010101" charset="-122"/>
                          <a:ea typeface="等线 Light" panose="02010600030101010101" charset="-122"/>
                        </a:rPr>
                        <a:t>，表现费</a:t>
                      </a:r>
                      <a:r>
                        <a:rPr lang="en-US" altLang="zh-TW" sz="1000" b="0" dirty="0">
                          <a:latin typeface="等线 Light" panose="02010600030101010101" charset="-122"/>
                          <a:ea typeface="等线 Light" panose="02010600030101010101" charset="-122"/>
                        </a:rPr>
                        <a:t>20%</a:t>
                      </a:r>
                      <a:r>
                        <a:rPr lang="zh-TW" altLang="en-US" sz="1000" b="0" dirty="0">
                          <a:latin typeface="等线 Light" panose="02010600030101010101" charset="-122"/>
                          <a:ea typeface="等线 Light" panose="02010600030101010101" charset="-122"/>
                        </a:rPr>
                        <a:t>，豁免</a:t>
                      </a:r>
                      <a:r>
                        <a:rPr lang="en-US" altLang="zh-TW" sz="1000" b="0" dirty="0">
                          <a:latin typeface="等线 Light" panose="02010600030101010101" charset="-122"/>
                          <a:ea typeface="等线 Light" panose="02010600030101010101" charset="-122"/>
                        </a:rPr>
                        <a:t>12</a:t>
                      </a:r>
                      <a:r>
                        <a:rPr lang="zh-TW" altLang="en-US" sz="1000" b="0" dirty="0">
                          <a:latin typeface="等线 Light" panose="02010600030101010101" charset="-122"/>
                          <a:ea typeface="等线 Light" panose="02010600030101010101" charset="-122"/>
                        </a:rPr>
                        <a:t>个月锁定期）</a:t>
                      </a:r>
                      <a:r>
                        <a:rPr lang="en-US" altLang="zh-TW" sz="1000" b="0" dirty="0">
                          <a:latin typeface="等线 Light" panose="02010600030101010101" charset="-122"/>
                          <a:ea typeface="等线 Light" panose="02010600030101010101" charset="-122"/>
                        </a:rPr>
                        <a:t>, </a:t>
                      </a:r>
                      <a:r>
                        <a:rPr lang="zh-TW" altLang="en-US" sz="1000" b="0" dirty="0">
                          <a:latin typeface="等线 Light" panose="02010600030101010101" charset="-122"/>
                          <a:ea typeface="等线 Light" panose="02010600030101010101" charset="-122"/>
                        </a:rPr>
                        <a:t>除非届时提前</a:t>
                      </a:r>
                      <a:r>
                        <a:rPr lang="en-US" altLang="zh-TW" sz="1000" b="0" dirty="0">
                          <a:latin typeface="等线 Light" panose="02010600030101010101" charset="-122"/>
                          <a:ea typeface="等线 Light" panose="02010600030101010101" charset="-122"/>
                        </a:rPr>
                        <a:t>35</a:t>
                      </a:r>
                      <a:r>
                        <a:rPr lang="zh-TW" altLang="en-US" sz="1000" b="0" dirty="0">
                          <a:latin typeface="等线 Light" panose="02010600030101010101" charset="-122"/>
                          <a:ea typeface="等线 Light" panose="02010600030101010101" charset="-122"/>
                        </a:rPr>
                        <a:t>天通知可选择以下三个选项</a:t>
                      </a:r>
                      <a:r>
                        <a:rPr lang="en-US" altLang="zh-TW" sz="1000" b="0" dirty="0">
                          <a:latin typeface="等线 Light" panose="02010600030101010101" charset="-122"/>
                          <a:ea typeface="等线 Light" panose="02010600030101010101" charset="-122"/>
                        </a:rPr>
                        <a:t>:</a:t>
                      </a:r>
                      <a:r>
                        <a:rPr lang="zh-TW" altLang="en-US" sz="1000" b="0" dirty="0">
                          <a:latin typeface="等线 Light" panose="02010600030101010101" charset="-122"/>
                          <a:ea typeface="等线 Light" panose="02010600030101010101" charset="-122"/>
                        </a:rPr>
                        <a:t>（</a:t>
                      </a:r>
                      <a:r>
                        <a:rPr lang="en-US" altLang="zh-TW" sz="1000" b="0" dirty="0">
                          <a:latin typeface="等线 Light" panose="02010600030101010101" charset="-122"/>
                          <a:ea typeface="等线 Light" panose="02010600030101010101" charset="-122"/>
                        </a:rPr>
                        <a:t>1</a:t>
                      </a:r>
                      <a:r>
                        <a:rPr lang="zh-TW" altLang="en-US" sz="1000" b="0" dirty="0">
                          <a:latin typeface="等线 Light" panose="02010600030101010101" charset="-122"/>
                          <a:ea typeface="等线 Light" panose="02010600030101010101" charset="-122"/>
                        </a:rPr>
                        <a:t>）全部赎回；或（</a:t>
                      </a:r>
                      <a:r>
                        <a:rPr lang="en-US" altLang="zh-TW" sz="1000" b="0" dirty="0">
                          <a:latin typeface="等线 Light" panose="02010600030101010101" charset="-122"/>
                          <a:ea typeface="等线 Light" panose="02010600030101010101" charset="-122"/>
                        </a:rPr>
                        <a:t>2</a:t>
                      </a:r>
                      <a:r>
                        <a:rPr lang="zh-TW" altLang="en-US" sz="1000" b="0" dirty="0">
                          <a:latin typeface="等线 Light" panose="02010600030101010101" charset="-122"/>
                          <a:ea typeface="等线 Light" panose="02010600030101010101" charset="-122"/>
                        </a:rPr>
                        <a:t>）留在</a:t>
                      </a:r>
                      <a:r>
                        <a:rPr lang="en-US" altLang="zh-TW" sz="1000" b="0" dirty="0">
                          <a:latin typeface="等线 Light" panose="02010600030101010101" charset="-122"/>
                          <a:ea typeface="等线 Light" panose="02010600030101010101" charset="-122"/>
                        </a:rPr>
                        <a:t>E</a:t>
                      </a:r>
                      <a:r>
                        <a:rPr lang="zh-TW" altLang="en-US" sz="1000" b="0" dirty="0">
                          <a:latin typeface="等线 Light" panose="02010600030101010101" charset="-122"/>
                          <a:ea typeface="等线 Light" panose="02010600030101010101" charset="-122"/>
                        </a:rPr>
                        <a:t>类基金份额重新锁定</a:t>
                      </a:r>
                      <a:r>
                        <a:rPr lang="en-US" altLang="zh-TW" sz="1000" b="0" dirty="0">
                          <a:latin typeface="等线 Light" panose="02010600030101010101" charset="-122"/>
                          <a:ea typeface="等线 Light" panose="02010600030101010101" charset="-122"/>
                        </a:rPr>
                        <a:t>36</a:t>
                      </a:r>
                      <a:r>
                        <a:rPr lang="zh-TW" altLang="en-US" sz="1000" b="0" dirty="0">
                          <a:latin typeface="等线 Light" panose="02010600030101010101" charset="-122"/>
                          <a:ea typeface="等线 Light" panose="02010600030101010101" charset="-122"/>
                        </a:rPr>
                        <a:t>个月；或（</a:t>
                      </a:r>
                      <a:r>
                        <a:rPr lang="en-US" altLang="zh-TW" sz="1000" b="0" dirty="0">
                          <a:latin typeface="等线 Light" panose="02010600030101010101" charset="-122"/>
                          <a:ea typeface="等线 Light" panose="02010600030101010101" charset="-122"/>
                        </a:rPr>
                        <a:t>3</a:t>
                      </a:r>
                      <a:r>
                        <a:rPr lang="zh-TW" altLang="en-US" sz="1000" b="0" dirty="0">
                          <a:latin typeface="等线 Light" panose="02010600030101010101" charset="-122"/>
                          <a:ea typeface="等线 Light" panose="02010600030101010101" charset="-122"/>
                        </a:rPr>
                        <a:t>）若在</a:t>
                      </a:r>
                      <a:r>
                        <a:rPr lang="en-US" altLang="zh-TW" sz="1000" b="0" dirty="0">
                          <a:latin typeface="等线 Light" panose="02010600030101010101" charset="-122"/>
                          <a:ea typeface="等线 Light" panose="02010600030101010101" charset="-122"/>
                        </a:rPr>
                        <a:t>A</a:t>
                      </a:r>
                      <a:r>
                        <a:rPr lang="zh-TW" altLang="en-US" sz="1000" b="0" dirty="0">
                          <a:latin typeface="等线 Light" panose="02010600030101010101" charset="-122"/>
                          <a:ea typeface="等线 Light" panose="02010600030101010101" charset="-122"/>
                        </a:rPr>
                        <a:t>类基金份额保留最低</a:t>
                      </a:r>
                      <a:r>
                        <a:rPr lang="en-US" altLang="zh-TW" sz="1000" b="0" dirty="0">
                          <a:latin typeface="等线 Light" panose="02010600030101010101" charset="-122"/>
                          <a:ea typeface="等线 Light" panose="02010600030101010101" charset="-122"/>
                        </a:rPr>
                        <a:t>25</a:t>
                      </a:r>
                      <a:r>
                        <a:rPr lang="zh-TW" altLang="en-US" sz="1000" b="0" dirty="0">
                          <a:latin typeface="等线 Light" panose="02010600030101010101" charset="-122"/>
                          <a:ea typeface="等线 Light" panose="02010600030101010101" charset="-122"/>
                        </a:rPr>
                        <a:t>万美元，可从</a:t>
                      </a:r>
                      <a:r>
                        <a:rPr lang="en-US" altLang="zh-TW" sz="1000" b="0" dirty="0">
                          <a:latin typeface="等线 Light" panose="02010600030101010101" charset="-122"/>
                          <a:ea typeface="等线 Light" panose="02010600030101010101" charset="-122"/>
                        </a:rPr>
                        <a:t>E</a:t>
                      </a:r>
                      <a:r>
                        <a:rPr lang="zh-TW" altLang="en-US" sz="1000" b="0" dirty="0">
                          <a:latin typeface="等线 Light" panose="02010600030101010101" charset="-122"/>
                          <a:ea typeface="等线 Light" panose="02010600030101010101" charset="-122"/>
                        </a:rPr>
                        <a:t>类基金份额转回</a:t>
                      </a:r>
                      <a:r>
                        <a:rPr lang="en-US" altLang="zh-TW" sz="1000" b="0" dirty="0">
                          <a:latin typeface="等线 Light" panose="02010600030101010101" charset="-122"/>
                          <a:ea typeface="等线 Light" panose="02010600030101010101" charset="-122"/>
                        </a:rPr>
                        <a:t>A</a:t>
                      </a:r>
                      <a:r>
                        <a:rPr lang="zh-TW" altLang="en-US" sz="1000" b="0" dirty="0">
                          <a:latin typeface="等线 Light" panose="02010600030101010101" charset="-122"/>
                          <a:ea typeface="等线 Light" panose="02010600030101010101" charset="-122"/>
                        </a:rPr>
                        <a:t>类基金份额。</a:t>
                      </a:r>
                      <a:endParaRPr lang="zh-TW" altLang="en-US" sz="1000" b="0" dirty="0">
                        <a:latin typeface="等线 Light" panose="02010600030101010101" charset="-122"/>
                        <a:ea typeface="等线 Light"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1767840">
                <a:tc>
                  <a:txBody>
                    <a:bodyPr/>
                    <a:lstStyle/>
                    <a:p>
                      <a:pPr marL="0" algn="l" defTabSz="914400" rtl="0" eaLnBrk="1" latinLnBrk="0" hangingPunct="1"/>
                      <a:r>
                        <a:rPr lang="zh-CN" altLang="en-US" sz="1100" b="1" kern="1200" dirty="0">
                          <a:solidFill>
                            <a:schemeClr val="tx1"/>
                          </a:solidFill>
                          <a:latin typeface="等线 Light" panose="02010600030101010101" charset="-122"/>
                          <a:ea typeface="等线 Light" panose="02010600030101010101" charset="-122"/>
                          <a:cs typeface="+mn-cs"/>
                        </a:rPr>
                        <a:t>投资目标</a:t>
                      </a:r>
                      <a:endParaRPr lang="zh-CN" altLang="en-US" sz="1100" b="1" kern="1200" dirty="0">
                        <a:solidFill>
                          <a:schemeClr val="tx1"/>
                        </a:solidFill>
                        <a:latin typeface="等线 Light" panose="02010600030101010101" charset="-122"/>
                        <a:ea typeface="等线 Light" panose="02010600030101010101" charset="-122"/>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defTabSz="914400" rtl="0" eaLnBrk="1" latinLnBrk="0" hangingPunct="1">
                        <a:buFont typeface="Arial" panose="020B0604020202020204" pitchFamily="34" charset="0"/>
                        <a:buChar char="•"/>
                      </a:pPr>
                      <a:r>
                        <a:rPr lang="zh-TW" altLang="en-US" sz="1000" kern="1200" dirty="0">
                          <a:solidFill>
                            <a:schemeClr val="dk1"/>
                          </a:solidFill>
                          <a:latin typeface="等线 Light" panose="02010600030101010101" charset="-122"/>
                          <a:ea typeface="等线 Light" panose="02010600030101010101" charset="-122"/>
                          <a:cs typeface="+mn-cs"/>
                        </a:rPr>
                        <a:t>本基金的主要投资目标为通过主基金来主要投资于境外或中国上市的中国相关证券，从而实现长期资本增值；</a:t>
                      </a:r>
                      <a:endParaRPr lang="zh-TW" altLang="en-US" sz="1000" kern="1200" dirty="0">
                        <a:solidFill>
                          <a:schemeClr val="dk1"/>
                        </a:solidFill>
                        <a:latin typeface="等线 Light" panose="02010600030101010101" charset="-122"/>
                        <a:ea typeface="等线 Light" panose="02010600030101010101" charset="-122"/>
                        <a:cs typeface="+mn-cs"/>
                      </a:endParaRPr>
                    </a:p>
                    <a:p>
                      <a:pPr marL="285750" indent="-285750" algn="l" defTabSz="914400" rtl="0" eaLnBrk="1" latinLnBrk="0" hangingPunct="1">
                        <a:buFont typeface="Arial" panose="020B0604020202020204" pitchFamily="34" charset="0"/>
                        <a:buChar char="•"/>
                      </a:pPr>
                      <a:r>
                        <a:rPr lang="zh-TW" altLang="en-US" sz="1000" kern="1200" dirty="0">
                          <a:solidFill>
                            <a:schemeClr val="dk1"/>
                          </a:solidFill>
                          <a:latin typeface="等线 Light" panose="02010600030101010101" charset="-122"/>
                          <a:ea typeface="等线 Light" panose="02010600030101010101" charset="-122"/>
                          <a:cs typeface="+mn-cs"/>
                        </a:rPr>
                        <a:t>投资标的可能是大部分收益或利润源自或将可能源自中国或中国相关市场（即与中国具有经济联系的市场）的中国或境外公司。主基金可通过股票市场交易互联互通机制或其他中国许可机制投资中国</a:t>
                      </a:r>
                      <a:r>
                        <a:rPr lang="en-US" altLang="zh-TW" sz="1000" kern="1200" dirty="0">
                          <a:solidFill>
                            <a:schemeClr val="dk1"/>
                          </a:solidFill>
                          <a:latin typeface="等线 Light" panose="02010600030101010101" charset="-122"/>
                          <a:ea typeface="等线 Light" panose="02010600030101010101" charset="-122"/>
                          <a:cs typeface="+mn-cs"/>
                        </a:rPr>
                        <a:t>A</a:t>
                      </a:r>
                      <a:r>
                        <a:rPr lang="zh-TW" altLang="en-US" sz="1000" kern="1200" dirty="0">
                          <a:solidFill>
                            <a:schemeClr val="dk1"/>
                          </a:solidFill>
                          <a:latin typeface="等线 Light" panose="02010600030101010101" charset="-122"/>
                          <a:ea typeface="等线 Light" panose="02010600030101010101" charset="-122"/>
                          <a:cs typeface="+mn-cs"/>
                        </a:rPr>
                        <a:t>股及</a:t>
                      </a:r>
                      <a:r>
                        <a:rPr lang="en-US" altLang="zh-TW" sz="1000" kern="1200" dirty="0">
                          <a:solidFill>
                            <a:schemeClr val="dk1"/>
                          </a:solidFill>
                          <a:latin typeface="等线 Light" panose="02010600030101010101" charset="-122"/>
                          <a:ea typeface="等线 Light" panose="02010600030101010101" charset="-122"/>
                          <a:cs typeface="+mn-cs"/>
                        </a:rPr>
                        <a:t>/</a:t>
                      </a:r>
                      <a:r>
                        <a:rPr lang="zh-TW" altLang="en-US" sz="1000" kern="1200" dirty="0">
                          <a:solidFill>
                            <a:schemeClr val="dk1"/>
                          </a:solidFill>
                          <a:latin typeface="等线 Light" panose="02010600030101010101" charset="-122"/>
                          <a:ea typeface="等线 Light" panose="02010600030101010101" charset="-122"/>
                          <a:cs typeface="+mn-cs"/>
                        </a:rPr>
                        <a:t>或其他</a:t>
                      </a:r>
                      <a:r>
                        <a:rPr lang="en-US" altLang="zh-TW" sz="1000" kern="1200" dirty="0">
                          <a:solidFill>
                            <a:schemeClr val="dk1"/>
                          </a:solidFill>
                          <a:latin typeface="等线 Light" panose="02010600030101010101" charset="-122"/>
                          <a:ea typeface="等线 Light" panose="02010600030101010101" charset="-122"/>
                          <a:cs typeface="+mn-cs"/>
                        </a:rPr>
                        <a:t>FII</a:t>
                      </a:r>
                      <a:r>
                        <a:rPr lang="zh-TW" altLang="en-US" sz="1000" kern="1200" dirty="0">
                          <a:solidFill>
                            <a:schemeClr val="dk1"/>
                          </a:solidFill>
                          <a:latin typeface="等线 Light" panose="02010600030101010101" charset="-122"/>
                          <a:ea typeface="等线 Light" panose="02010600030101010101" charset="-122"/>
                          <a:cs typeface="+mn-cs"/>
                        </a:rPr>
                        <a:t>许可证券。主基金可持有证券的多仓或空仓；</a:t>
                      </a:r>
                      <a:endParaRPr lang="zh-TW" altLang="en-US" sz="1000" kern="1200" dirty="0">
                        <a:solidFill>
                          <a:schemeClr val="dk1"/>
                        </a:solidFill>
                        <a:latin typeface="等线 Light" panose="02010600030101010101" charset="-122"/>
                        <a:ea typeface="等线 Light" panose="02010600030101010101" charset="-122"/>
                        <a:cs typeface="+mn-cs"/>
                      </a:endParaRPr>
                    </a:p>
                    <a:p>
                      <a:pPr marL="285750" indent="-285750" algn="l" defTabSz="914400" rtl="0" eaLnBrk="1" latinLnBrk="0" hangingPunct="1">
                        <a:buFont typeface="Arial" panose="020B0604020202020204" pitchFamily="34" charset="0"/>
                        <a:buChar char="•"/>
                      </a:pPr>
                      <a:r>
                        <a:rPr lang="zh-TW" altLang="en-US" sz="1000" kern="1200" dirty="0">
                          <a:solidFill>
                            <a:schemeClr val="dk1"/>
                          </a:solidFill>
                          <a:latin typeface="等线 Light" panose="02010600030101010101" charset="-122"/>
                          <a:ea typeface="等线 Light" panose="02010600030101010101" charset="-122"/>
                          <a:cs typeface="+mn-cs"/>
                        </a:rPr>
                        <a:t>视乎市场情况，本基金可通过主基金考虑投资并不属于上述范畴的证券，如非中国相关股权及股权证券（包括股票期权、股票指数期权及（仅作对冲用途）期货）、债务证券（包括债券）及其他金融衍生品。主基金可投资从其他来源获得收入或盈利的市场发行人的证券，包括属于中国公司市场及</a:t>
                      </a:r>
                      <a:r>
                        <a:rPr lang="en-US" altLang="zh-TW" sz="1000" kern="1200" dirty="0">
                          <a:solidFill>
                            <a:schemeClr val="dk1"/>
                          </a:solidFill>
                          <a:latin typeface="等线 Light" panose="02010600030101010101" charset="-122"/>
                          <a:ea typeface="等线 Light" panose="02010600030101010101" charset="-122"/>
                          <a:cs typeface="+mn-cs"/>
                        </a:rPr>
                        <a:t>/</a:t>
                      </a:r>
                      <a:r>
                        <a:rPr lang="zh-TW" altLang="en-US" sz="1000" kern="1200" dirty="0">
                          <a:solidFill>
                            <a:schemeClr val="dk1"/>
                          </a:solidFill>
                          <a:latin typeface="等线 Light" panose="02010600030101010101" charset="-122"/>
                          <a:ea typeface="等线 Light" panose="02010600030101010101" charset="-122"/>
                          <a:cs typeface="+mn-cs"/>
                        </a:rPr>
                        <a:t>或竞争对手的地区（如北美、印度及东南亚国家）发行人的证券。</a:t>
                      </a:r>
                      <a:endParaRPr lang="zh-TW" altLang="en-US" sz="1000" kern="1200" dirty="0">
                        <a:solidFill>
                          <a:schemeClr val="dk1"/>
                        </a:solidFill>
                        <a:latin typeface="等线 Light" panose="02010600030101010101" charset="-122"/>
                        <a:ea typeface="等线 Light" panose="02010600030101010101" charset="-122"/>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96240">
                <a:tc>
                  <a:txBody>
                    <a:bodyPr/>
                    <a:lstStyle/>
                    <a:p>
                      <a:pPr marL="0" algn="l" defTabSz="914400" rtl="0" eaLnBrk="1" latinLnBrk="0" hangingPunct="1"/>
                      <a:r>
                        <a:rPr lang="zh-CN" altLang="en-US" sz="1100" b="1" kern="1200" dirty="0">
                          <a:solidFill>
                            <a:schemeClr val="tx1"/>
                          </a:solidFill>
                          <a:latin typeface="等线 Light" panose="02010600030101010101" charset="-122"/>
                          <a:ea typeface="等线 Light" panose="02010600030101010101" charset="-122"/>
                          <a:cs typeface="+mn-cs"/>
                        </a:rPr>
                        <a:t>杠杆</a:t>
                      </a:r>
                      <a:endParaRPr lang="zh-CN" altLang="en-US" sz="1100" b="1" kern="1200" dirty="0">
                        <a:solidFill>
                          <a:schemeClr val="tx1"/>
                        </a:solidFill>
                        <a:latin typeface="等线 Light" panose="02010600030101010101" charset="-122"/>
                        <a:ea typeface="等线 Light" panose="02010600030101010101" charset="-122"/>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defTabSz="914400" rtl="0" eaLnBrk="1" latinLnBrk="0" hangingPunct="1">
                        <a:buFont typeface="Arial" panose="020B0604020202020204" pitchFamily="34" charset="0"/>
                        <a:buChar char="•"/>
                      </a:pPr>
                      <a:r>
                        <a:rPr lang="zh-TW" altLang="en-US" sz="1000" kern="1200" dirty="0">
                          <a:solidFill>
                            <a:schemeClr val="dk1"/>
                          </a:solidFill>
                          <a:latin typeface="等线 Light" panose="02010600030101010101" charset="-122"/>
                          <a:ea typeface="等线 Light" panose="02010600030101010101" charset="-122"/>
                          <a:cs typeface="+mn-cs"/>
                        </a:rPr>
                        <a:t>一般情况下，主基金的总多头头寸和总空头头寸之和除以主基金的资产净值不超过</a:t>
                      </a:r>
                      <a:r>
                        <a:rPr lang="en-US" altLang="zh-TW" sz="1000" kern="1200" dirty="0">
                          <a:solidFill>
                            <a:schemeClr val="dk1"/>
                          </a:solidFill>
                          <a:latin typeface="等线 Light" panose="02010600030101010101" charset="-122"/>
                          <a:ea typeface="等线 Light" panose="02010600030101010101" charset="-122"/>
                          <a:cs typeface="+mn-cs"/>
                        </a:rPr>
                        <a:t>250%</a:t>
                      </a:r>
                      <a:r>
                        <a:rPr lang="zh-TW" altLang="en-US" sz="1000" kern="1200" dirty="0">
                          <a:solidFill>
                            <a:schemeClr val="dk1"/>
                          </a:solidFill>
                          <a:latin typeface="等线 Light" panose="02010600030101010101" charset="-122"/>
                          <a:ea typeface="等线 Light" panose="02010600030101010101" charset="-122"/>
                          <a:cs typeface="+mn-cs"/>
                        </a:rPr>
                        <a:t>，在特殊市场情况下，可能会临时超过最高杠杆限制。</a:t>
                      </a:r>
                      <a:endParaRPr lang="zh-TW" altLang="en-US" sz="1000" kern="1200" dirty="0">
                        <a:solidFill>
                          <a:schemeClr val="dk1"/>
                        </a:solidFill>
                        <a:latin typeface="等线 Light" panose="02010600030101010101" charset="-122"/>
                        <a:ea typeface="等线 Light" panose="02010600030101010101" charset="-122"/>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701040">
                <a:tc>
                  <a:txBody>
                    <a:bodyPr/>
                    <a:lstStyle/>
                    <a:p>
                      <a:pPr marL="0" algn="l" defTabSz="914400" rtl="0" eaLnBrk="1" latinLnBrk="0" hangingPunct="1"/>
                      <a:r>
                        <a:rPr lang="zh-CN" altLang="en-US" sz="1100" b="1" kern="1200" dirty="0">
                          <a:solidFill>
                            <a:schemeClr val="tx1"/>
                          </a:solidFill>
                          <a:latin typeface="等线 Light" panose="02010600030101010101" charset="-122"/>
                          <a:ea typeface="等线 Light" panose="02010600030101010101" charset="-122"/>
                          <a:cs typeface="+mn-cs"/>
                        </a:rPr>
                        <a:t>基金特点</a:t>
                      </a:r>
                      <a:endParaRPr lang="zh-CN" altLang="en-US" sz="1100" b="1" kern="1200" dirty="0">
                        <a:solidFill>
                          <a:schemeClr val="tx1"/>
                        </a:solidFill>
                        <a:latin typeface="等线 Light" panose="02010600030101010101" charset="-122"/>
                        <a:ea typeface="等线 Light" panose="02010600030101010101" charset="-122"/>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defTabSz="914400" rtl="0" eaLnBrk="1" latinLnBrk="0" hangingPunct="1">
                        <a:buSzPts val="1400"/>
                        <a:buFont typeface="Arial" panose="020B0604020202020204" pitchFamily="34" charset="0"/>
                        <a:buChar char="•"/>
                      </a:pPr>
                      <a:r>
                        <a:rPr lang="zh-TW" altLang="en-US" sz="1000" kern="1200" dirty="0">
                          <a:solidFill>
                            <a:schemeClr val="tx1"/>
                          </a:solidFill>
                          <a:latin typeface="等线 Light" panose="02010600030101010101" charset="-122"/>
                          <a:ea typeface="等线 Light" panose="02010600030101010101" charset="-122"/>
                          <a:cs typeface="+mn-cs"/>
                        </a:rPr>
                        <a:t>景林的投资哲学植根于价值投资</a:t>
                      </a:r>
                      <a:r>
                        <a:rPr lang="zh-CN" altLang="en-US" sz="1000" kern="1200" dirty="0">
                          <a:solidFill>
                            <a:schemeClr val="tx1"/>
                          </a:solidFill>
                          <a:latin typeface="等线 Light" panose="02010600030101010101" charset="-122"/>
                          <a:ea typeface="等线 Light" panose="02010600030101010101" charset="-122"/>
                          <a:cs typeface="+mn-cs"/>
                        </a:rPr>
                        <a:t>；</a:t>
                      </a:r>
                      <a:r>
                        <a:rPr lang="zh-TW" altLang="en-US" sz="1000" kern="1200" dirty="0">
                          <a:solidFill>
                            <a:schemeClr val="tx1"/>
                          </a:solidFill>
                          <a:latin typeface="等线 Light" panose="02010600030101010101" charset="-122"/>
                          <a:ea typeface="等线 Light" panose="02010600030101010101" charset="-122"/>
                          <a:cs typeface="+mn-cs"/>
                        </a:rPr>
                        <a:t>当选定目标公司后，景林运用独有的“</a:t>
                      </a:r>
                      <a:r>
                        <a:rPr lang="en-US" altLang="zh-TW" sz="1000" kern="1200" dirty="0">
                          <a:solidFill>
                            <a:schemeClr val="tx1"/>
                          </a:solidFill>
                          <a:latin typeface="等线 Light" panose="02010600030101010101" charset="-122"/>
                          <a:ea typeface="等线 Light" panose="02010600030101010101" charset="-122"/>
                          <a:cs typeface="+mn-cs"/>
                        </a:rPr>
                        <a:t>360</a:t>
                      </a:r>
                      <a:r>
                        <a:rPr lang="zh-TW" altLang="en-US" sz="1000" kern="1200" dirty="0">
                          <a:solidFill>
                            <a:schemeClr val="tx1"/>
                          </a:solidFill>
                          <a:latin typeface="等线 Light" panose="02010600030101010101" charset="-122"/>
                          <a:ea typeface="等线 Light" panose="02010600030101010101" charset="-122"/>
                          <a:cs typeface="+mn-cs"/>
                        </a:rPr>
                        <a:t>度全方位调查”系统，利用在国内的资源来做尽职调查和深入分析目标公司</a:t>
                      </a:r>
                      <a:endParaRPr lang="en-US" altLang="zh-CN" sz="1000" kern="1200" dirty="0">
                        <a:solidFill>
                          <a:schemeClr val="tx1"/>
                        </a:solidFill>
                        <a:latin typeface="等线 Light" panose="02010600030101010101" charset="-122"/>
                        <a:ea typeface="等线 Light" panose="02010600030101010101" charset="-122"/>
                        <a:cs typeface="+mn-cs"/>
                      </a:endParaRPr>
                    </a:p>
                    <a:p>
                      <a:pPr marL="285750" indent="-285750" algn="l" defTabSz="914400" rtl="0" eaLnBrk="1" latinLnBrk="0" hangingPunct="1">
                        <a:buSzPts val="1400"/>
                        <a:buFont typeface="Arial" panose="020B0604020202020204" pitchFamily="34" charset="0"/>
                        <a:buChar char="•"/>
                      </a:pPr>
                      <a:r>
                        <a:rPr lang="zh-TW" altLang="en-US" sz="1000" kern="1200" dirty="0">
                          <a:solidFill>
                            <a:schemeClr val="tx1"/>
                          </a:solidFill>
                          <a:latin typeface="等线 Light" panose="02010600030101010101" charset="-122"/>
                          <a:ea typeface="等线 Light" panose="02010600030101010101" charset="-122"/>
                          <a:cs typeface="+mn-cs"/>
                        </a:rPr>
                        <a:t>景林与不同行业的专家顾问建立了纵深的网络</a:t>
                      </a:r>
                      <a:r>
                        <a:rPr lang="en-US" altLang="zh-TW" sz="1000" kern="1200" dirty="0">
                          <a:solidFill>
                            <a:schemeClr val="tx1"/>
                          </a:solidFill>
                          <a:latin typeface="等线 Light" panose="02010600030101010101" charset="-122"/>
                          <a:ea typeface="等线 Light" panose="02010600030101010101" charset="-122"/>
                          <a:cs typeface="+mn-cs"/>
                        </a:rPr>
                        <a:t>,</a:t>
                      </a:r>
                      <a:r>
                        <a:rPr lang="zh-TW" altLang="en-US" sz="1000" kern="1200" dirty="0">
                          <a:solidFill>
                            <a:schemeClr val="tx1"/>
                          </a:solidFill>
                          <a:latin typeface="等线 Light" panose="02010600030101010101" charset="-122"/>
                          <a:ea typeface="等线 Light" panose="02010600030101010101" charset="-122"/>
                          <a:cs typeface="+mn-cs"/>
                        </a:rPr>
                        <a:t>投资决策之前，景林对于宏观趋势、潜在的政策发展、公司的优势和风险以及其高管人员的能力会有深刻理解。</a:t>
                      </a:r>
                      <a:endParaRPr lang="zh-TW" altLang="en-US" sz="1000" kern="1200" dirty="0">
                        <a:solidFill>
                          <a:schemeClr val="tx1"/>
                        </a:solidFill>
                        <a:latin typeface="等线 Light" panose="02010600030101010101" charset="-122"/>
                        <a:ea typeface="等线 Light" panose="02010600030101010101" charset="-122"/>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29895">
                <a:tc>
                  <a:txBody>
                    <a:bodyPr/>
                    <a:lstStyle/>
                    <a:p>
                      <a:pPr marL="0" algn="l" defTabSz="914400" rtl="0" eaLnBrk="1" latinLnBrk="0" hangingPunct="1"/>
                      <a:r>
                        <a:rPr lang="zh-CN" altLang="en-US" sz="1100" b="1" kern="1200" dirty="0">
                          <a:solidFill>
                            <a:schemeClr val="tx1"/>
                          </a:solidFill>
                          <a:latin typeface="等线 Light" panose="02010600030101010101" charset="-122"/>
                          <a:ea typeface="等线 Light" panose="02010600030101010101" charset="-122"/>
                          <a:cs typeface="+mn-cs"/>
                        </a:rPr>
                        <a:t>基金成立日期</a:t>
                      </a:r>
                      <a:endParaRPr lang="zh-CN" altLang="en-US" sz="1100" b="1" kern="1200" dirty="0">
                        <a:solidFill>
                          <a:schemeClr val="tx1"/>
                        </a:solidFill>
                        <a:latin typeface="等线 Light" panose="02010600030101010101" charset="-122"/>
                        <a:ea typeface="等线 Light" panose="02010600030101010101" charset="-122"/>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buSzPts val="1400"/>
                        <a:buFont typeface="Arial" panose="020B0604020202020204" pitchFamily="34" charset="0"/>
                        <a:buNone/>
                      </a:pPr>
                      <a:r>
                        <a:rPr lang="en-US" altLang="zh-TW" sz="1000" kern="1200" dirty="0">
                          <a:solidFill>
                            <a:schemeClr val="tx1"/>
                          </a:solidFill>
                          <a:latin typeface="等线 Light" panose="02010600030101010101" charset="-122"/>
                          <a:ea typeface="等线 Light" panose="02010600030101010101" charset="-122"/>
                          <a:cs typeface="+mn-cs"/>
                        </a:rPr>
                        <a:t>2004</a:t>
                      </a:r>
                      <a:r>
                        <a:rPr lang="zh-CN" altLang="en-US" sz="1000" kern="1200" dirty="0">
                          <a:solidFill>
                            <a:schemeClr val="tx1"/>
                          </a:solidFill>
                          <a:latin typeface="等线 Light" panose="02010600030101010101" charset="-122"/>
                          <a:ea typeface="等线 Light" panose="02010600030101010101" charset="-122"/>
                          <a:cs typeface="+mn-cs"/>
                        </a:rPr>
                        <a:t>年</a:t>
                      </a:r>
                      <a:r>
                        <a:rPr lang="en-US" altLang="zh-CN" sz="1000" kern="1200" dirty="0">
                          <a:solidFill>
                            <a:schemeClr val="tx1"/>
                          </a:solidFill>
                          <a:latin typeface="等线 Light" panose="02010600030101010101" charset="-122"/>
                          <a:ea typeface="等线 Light" panose="02010600030101010101" charset="-122"/>
                          <a:cs typeface="+mn-cs"/>
                        </a:rPr>
                        <a:t>7</a:t>
                      </a:r>
                      <a:r>
                        <a:rPr lang="zh-CN" altLang="en-US" sz="1000" kern="1200" dirty="0">
                          <a:solidFill>
                            <a:schemeClr val="tx1"/>
                          </a:solidFill>
                          <a:latin typeface="等线 Light" panose="02010600030101010101" charset="-122"/>
                          <a:ea typeface="等线 Light" panose="02010600030101010101" charset="-122"/>
                          <a:cs typeface="+mn-cs"/>
                        </a:rPr>
                        <a:t>月</a:t>
                      </a:r>
                      <a:endParaRPr lang="zh-TW" altLang="en-US" sz="1000" kern="1200" dirty="0">
                        <a:solidFill>
                          <a:schemeClr val="tx1"/>
                        </a:solidFill>
                        <a:latin typeface="等线 Light" panose="02010600030101010101" charset="-122"/>
                        <a:ea typeface="等线 Light" panose="02010600030101010101" charset="-122"/>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34" name="文本框 7"/>
          <p:cNvSpPr txBox="1"/>
          <p:nvPr/>
        </p:nvSpPr>
        <p:spPr>
          <a:xfrm>
            <a:off x="132245" y="6506031"/>
            <a:ext cx="2946882" cy="2139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marR="0" lvl="0" indent="0" algn="l" defTabSz="914400" rtl="0" eaLnBrk="1" fontAlgn="base" latinLnBrk="0" hangingPunct="1">
              <a:lnSpc>
                <a:spcPct val="100000"/>
              </a:lnSpc>
              <a:spcBef>
                <a:spcPct val="50000"/>
              </a:spcBef>
              <a:spcAft>
                <a:spcPct val="0"/>
              </a:spcAft>
              <a:buClr>
                <a:srgbClr val="C12727"/>
              </a:buClr>
              <a:buSzPct val="80000"/>
              <a:buFont typeface="Arial" panose="020B0604020202020204" pitchFamily="34" charset="0"/>
              <a:buNone/>
              <a:defRPr/>
            </a:pPr>
            <a:r>
              <a:rPr kumimoji="0" lang="zh-CN" altLang="en-US" sz="800" b="0" i="0" u="none" strike="noStrike" kern="1200" cap="none" spc="0" normalizeH="0" baseline="0" noProof="0" dirty="0">
                <a:ln>
                  <a:noFill/>
                </a:ln>
                <a:solidFill>
                  <a:srgbClr val="000000"/>
                </a:solidFill>
                <a:effectLst/>
                <a:uLnTx/>
                <a:uFillTx/>
                <a:latin typeface="等线 Light" panose="02010600030101010101" charset="-122"/>
                <a:ea typeface="等线 Light" panose="02010600030101010101" charset="-122"/>
                <a:cs typeface="+mn-cs"/>
              </a:rPr>
              <a:t>信息来源：</a:t>
            </a:r>
            <a:r>
              <a:rPr kumimoji="0" lang="zh-TW" altLang="en-US" sz="800" b="0" i="0" u="none" strike="noStrike" kern="1200" cap="none" spc="0" normalizeH="0" baseline="0" noProof="0" dirty="0">
                <a:ln>
                  <a:noFill/>
                </a:ln>
                <a:solidFill>
                  <a:srgbClr val="000000"/>
                </a:solidFill>
                <a:effectLst/>
                <a:uLnTx/>
                <a:uFillTx/>
                <a:latin typeface="等线 Light" panose="02010600030101010101" charset="-122"/>
                <a:ea typeface="等线 Light" panose="02010600030101010101" charset="-122"/>
                <a:cs typeface="+mn-cs"/>
              </a:rPr>
              <a:t>标的基金投资管理人</a:t>
            </a:r>
            <a:endParaRPr kumimoji="0" lang="zh-CN" altLang="en-US" sz="800" b="0" i="0" u="none" strike="noStrike" kern="1200" cap="none" spc="0" normalizeH="0" baseline="0" noProof="0" dirty="0">
              <a:ln>
                <a:noFill/>
              </a:ln>
              <a:solidFill>
                <a:srgbClr val="000000"/>
              </a:solidFill>
              <a:effectLst/>
              <a:uLnTx/>
              <a:uFillTx/>
              <a:latin typeface="等线 Light" panose="02010600030101010101" charset="-122"/>
              <a:ea typeface="等线 Light" panose="02010600030101010101" charset="-122"/>
              <a:cs typeface="+mn-cs"/>
            </a:endParaRPr>
          </a:p>
        </p:txBody>
      </p:sp>
      <p:sp>
        <p:nvSpPr>
          <p:cNvPr id="51" name="矩形 50"/>
          <p:cNvSpPr/>
          <p:nvPr/>
        </p:nvSpPr>
        <p:spPr>
          <a:xfrm>
            <a:off x="6514618" y="1199929"/>
            <a:ext cx="1554480" cy="368300"/>
          </a:xfrm>
          <a:prstGeom prst="rect">
            <a:avLst/>
          </a:prstGeom>
        </p:spPr>
        <p:txBody>
          <a:bodyPr wrap="none">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1800" b="1" i="0" u="none" strike="noStrike" kern="1200" cap="none" spc="0" normalizeH="0" baseline="0" noProof="0" dirty="0">
                <a:ln>
                  <a:noFill/>
                </a:ln>
                <a:solidFill>
                  <a:srgbClr val="795B2A"/>
                </a:solidFill>
                <a:effectLst/>
                <a:uLnTx/>
                <a:uFillTx/>
                <a:latin typeface="等线" panose="02010600030101010101" charset="-122"/>
                <a:ea typeface="等线" panose="02010600030101010101" charset="-122"/>
                <a:cs typeface="+mn-cs"/>
              </a:rPr>
              <a:t>投资组合特征</a:t>
            </a:r>
            <a:endParaRPr kumimoji="0" lang="zh-HK" altLang="en-US" sz="1800" b="1" i="0" u="none" strike="noStrike" kern="1200" cap="none" spc="0" normalizeH="0" baseline="0" noProof="0" dirty="0">
              <a:ln>
                <a:noFill/>
              </a:ln>
              <a:solidFill>
                <a:srgbClr val="795B2A"/>
              </a:solidFill>
              <a:effectLst/>
              <a:uLnTx/>
              <a:uFillTx/>
              <a:latin typeface="PMingLiU"/>
              <a:cs typeface="+mn-cs"/>
            </a:endParaRPr>
          </a:p>
        </p:txBody>
      </p:sp>
      <p:sp>
        <p:nvSpPr>
          <p:cNvPr id="52" name="矩形 51"/>
          <p:cNvSpPr/>
          <p:nvPr/>
        </p:nvSpPr>
        <p:spPr>
          <a:xfrm>
            <a:off x="432144" y="912448"/>
            <a:ext cx="1554480" cy="368300"/>
          </a:xfrm>
          <a:prstGeom prst="rect">
            <a:avLst/>
          </a:prstGeom>
        </p:spPr>
        <p:txBody>
          <a:bodyPr wrap="none">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1800" b="1" i="0" u="none" strike="noStrike" kern="1200" cap="none" spc="0" normalizeH="0" baseline="0" noProof="0" dirty="0">
                <a:ln>
                  <a:noFill/>
                </a:ln>
                <a:solidFill>
                  <a:srgbClr val="795B2A"/>
                </a:solidFill>
                <a:effectLst/>
                <a:uLnTx/>
                <a:uFillTx/>
                <a:latin typeface="等线" panose="02010600030101010101" charset="-122"/>
                <a:ea typeface="等线" panose="02010600030101010101" charset="-122"/>
                <a:cs typeface="+mn-cs"/>
              </a:rPr>
              <a:t>标的基金概要</a:t>
            </a:r>
            <a:endParaRPr kumimoji="0" lang="zh-HK" altLang="en-US" sz="1800" b="1" i="0" u="none" strike="noStrike" kern="1200" cap="none" spc="0" normalizeH="0" baseline="0" noProof="0" dirty="0">
              <a:ln>
                <a:noFill/>
              </a:ln>
              <a:solidFill>
                <a:srgbClr val="795B2A"/>
              </a:solidFill>
              <a:effectLst/>
              <a:uLnTx/>
              <a:uFillTx/>
              <a:latin typeface="PMingLiU"/>
              <a:cs typeface="+mn-cs"/>
            </a:endParaRPr>
          </a:p>
        </p:txBody>
      </p:sp>
      <p:graphicFrame>
        <p:nvGraphicFramePr>
          <p:cNvPr id="35" name="表格 34"/>
          <p:cNvGraphicFramePr>
            <a:graphicFrameLocks noGrp="1"/>
          </p:cNvGraphicFramePr>
          <p:nvPr/>
        </p:nvGraphicFramePr>
        <p:xfrm>
          <a:off x="6514618" y="2099831"/>
          <a:ext cx="5471735" cy="3950016"/>
        </p:xfrm>
        <a:graphic>
          <a:graphicData uri="http://schemas.openxmlformats.org/drawingml/2006/table">
            <a:tbl>
              <a:tblPr firstRow="1" bandRow="1">
                <a:tableStyleId>{5C22544A-7EE6-4342-B048-85BDC9FD1C3A}</a:tableStyleId>
              </a:tblPr>
              <a:tblGrid>
                <a:gridCol w="1493918"/>
                <a:gridCol w="3977817"/>
              </a:tblGrid>
              <a:tr h="493712">
                <a:tc>
                  <a:txBody>
                    <a:bodyPr/>
                    <a:lstStyle/>
                    <a:p>
                      <a:pPr marL="0" algn="l" defTabSz="914400" rtl="0" eaLnBrk="1" latinLnBrk="0" hangingPunct="1">
                        <a:lnSpc>
                          <a:spcPct val="150000"/>
                        </a:lnSpc>
                      </a:pPr>
                      <a:r>
                        <a:rPr lang="zh-CN" altLang="en-US" sz="1100" b="1" dirty="0">
                          <a:solidFill>
                            <a:schemeClr val="tx1"/>
                          </a:solidFill>
                          <a:latin typeface="等线 Light" panose="02010600030101010101" charset="-122"/>
                          <a:ea typeface="等线 Light" panose="02010600030101010101" charset="-122"/>
                        </a:rPr>
                        <a:t>主要地区</a:t>
                      </a:r>
                      <a:endParaRPr lang="zh-CN" altLang="en-US" sz="1100" b="1" kern="1200" dirty="0">
                        <a:solidFill>
                          <a:schemeClr val="tx1"/>
                        </a:solidFill>
                        <a:latin typeface="等线 Light" panose="02010600030101010101" charset="-122"/>
                        <a:ea typeface="等线 Light" panose="02010600030101010101"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a:lnSpc>
                          <a:spcPct val="150000"/>
                        </a:lnSpc>
                        <a:buClrTx/>
                        <a:buSzTx/>
                        <a:buFont typeface="Arial" panose="020B0604020202020204" pitchFamily="34" charset="0"/>
                        <a:buNone/>
                      </a:pPr>
                      <a:r>
                        <a:rPr lang="zh-CN" altLang="en-US" sz="1100" b="1" kern="1200" dirty="0">
                          <a:solidFill>
                            <a:srgbClr val="FF0000"/>
                          </a:solidFill>
                          <a:latin typeface="等线 Light" panose="02010600030101010101" charset="-122"/>
                          <a:ea typeface="等线 Light" panose="02010600030101010101" charset="-122"/>
                          <a:cs typeface="+mn-cs"/>
                        </a:rPr>
                        <a:t>大中华区域为主</a:t>
                      </a:r>
                      <a:r>
                        <a:rPr lang="zh-CN" altLang="en-US" sz="1100" kern="1200" dirty="0">
                          <a:solidFill>
                            <a:srgbClr val="FF0000"/>
                          </a:solidFill>
                          <a:latin typeface="等线 Light" panose="02010600030101010101" charset="-122"/>
                          <a:ea typeface="等线 Light" panose="02010600030101010101" charset="-122"/>
                          <a:cs typeface="+mn-cs"/>
                        </a:rPr>
                        <a:t>，包括H股、A股，也可投资其它市场</a:t>
                      </a:r>
                      <a:endParaRPr lang="zh-CN" altLang="en-US" sz="1100" kern="1200" dirty="0">
                        <a:solidFill>
                          <a:srgbClr val="FF0000"/>
                        </a:solidFill>
                        <a:latin typeface="等线 Light" panose="02010600030101010101" charset="-122"/>
                        <a:ea typeface="等线 Light" panose="02010600030101010101"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93712">
                <a:tc>
                  <a:txBody>
                    <a:bodyPr/>
                    <a:lstStyle/>
                    <a:p>
                      <a:pPr algn="l">
                        <a:lnSpc>
                          <a:spcPct val="150000"/>
                        </a:lnSpc>
                      </a:pPr>
                      <a:r>
                        <a:rPr lang="zh-CN" altLang="en-US" sz="1100" b="1" dirty="0">
                          <a:solidFill>
                            <a:schemeClr val="tx1"/>
                          </a:solidFill>
                          <a:latin typeface="等线 Light" panose="02010600030101010101" charset="-122"/>
                          <a:ea typeface="等线 Light" panose="02010600030101010101" charset="-122"/>
                        </a:rPr>
                        <a:t>主要行业</a:t>
                      </a:r>
                      <a:endParaRPr lang="zh-CN" altLang="en-US" sz="1100" b="1" dirty="0">
                        <a:solidFill>
                          <a:schemeClr val="tx1"/>
                        </a:solidFill>
                        <a:latin typeface="等线 Light" panose="02010600030101010101" charset="-122"/>
                        <a:ea typeface="等线 Light" panose="02010600030101010101"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50000"/>
                        </a:lnSpc>
                        <a:buFont typeface="Arial" panose="020B0604020202020204" pitchFamily="34" charset="0"/>
                        <a:buNone/>
                      </a:pPr>
                      <a:r>
                        <a:rPr lang="zh-CN" altLang="en-US" sz="1100" b="0" kern="1200" dirty="0">
                          <a:solidFill>
                            <a:schemeClr val="tx1"/>
                          </a:solidFill>
                          <a:latin typeface="等线 Light" panose="02010600030101010101" charset="-122"/>
                          <a:ea typeface="等线 Light" panose="02010600030101010101" charset="-122"/>
                          <a:cs typeface="+mn-cs"/>
                        </a:rPr>
                        <a:t>通讯服务、可选消费、必选消费、信息技术、房地产、能源等</a:t>
                      </a:r>
                      <a:endParaRPr lang="zh-CN" altLang="en-US" sz="1100" b="0" kern="1200" dirty="0">
                        <a:solidFill>
                          <a:schemeClr val="tx1"/>
                        </a:solidFill>
                        <a:latin typeface="等线 Light" panose="02010600030101010101" charset="-122"/>
                        <a:ea typeface="等线 Light" panose="02010600030101010101"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02226">
                <a:tc>
                  <a:txBody>
                    <a:bodyPr/>
                    <a:lstStyle/>
                    <a:p>
                      <a:pPr algn="l">
                        <a:lnSpc>
                          <a:spcPct val="150000"/>
                        </a:lnSpc>
                      </a:pPr>
                      <a:r>
                        <a:rPr lang="zh-CN" altLang="en-US" sz="1100" b="1" dirty="0">
                          <a:solidFill>
                            <a:schemeClr val="tx1"/>
                          </a:solidFill>
                          <a:latin typeface="等线 Light" panose="02010600030101010101" charset="-122"/>
                          <a:ea typeface="等线 Light" panose="02010600030101010101" charset="-122"/>
                        </a:rPr>
                        <a:t>特殊投资</a:t>
                      </a:r>
                      <a:endParaRPr lang="zh-CN" altLang="en-US" sz="1100" b="1" dirty="0">
                        <a:solidFill>
                          <a:schemeClr val="tx1"/>
                        </a:solidFill>
                        <a:latin typeface="等线 Light" panose="02010600030101010101" charset="-122"/>
                        <a:ea typeface="等线 Light" panose="02010600030101010101"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lnSpc>
                          <a:spcPct val="150000"/>
                        </a:lnSpc>
                        <a:buFont typeface="Arial" panose="020B0604020202020204" pitchFamily="34" charset="0"/>
                        <a:buNone/>
                      </a:pPr>
                      <a:r>
                        <a:rPr lang="zh-CN" altLang="en-US" sz="1100" b="0" kern="1200" dirty="0">
                          <a:solidFill>
                            <a:schemeClr val="tx1"/>
                          </a:solidFill>
                          <a:latin typeface="等线 Light" panose="02010600030101010101" charset="-122"/>
                          <a:ea typeface="等线 Light" panose="02010600030101010101" charset="-122"/>
                          <a:cs typeface="+mn-cs"/>
                        </a:rPr>
                        <a:t>无</a:t>
                      </a:r>
                      <a:endParaRPr lang="zh-CN" altLang="en-US" sz="1100" b="0" kern="1200" dirty="0">
                        <a:solidFill>
                          <a:schemeClr val="tx1"/>
                        </a:solidFill>
                        <a:latin typeface="等线 Light" panose="02010600030101010101" charset="-122"/>
                        <a:ea typeface="等线 Light" panose="02010600030101010101"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19100">
                <a:tc>
                  <a:txBody>
                    <a:bodyPr/>
                    <a:lstStyle/>
                    <a:p>
                      <a:pPr algn="l">
                        <a:lnSpc>
                          <a:spcPct val="150000"/>
                        </a:lnSpc>
                      </a:pPr>
                      <a:r>
                        <a:rPr lang="zh-CN" altLang="en-US" sz="1100" b="1" dirty="0">
                          <a:solidFill>
                            <a:schemeClr val="tx1"/>
                          </a:solidFill>
                          <a:latin typeface="等线 Light" panose="02010600030101010101" charset="-122"/>
                          <a:ea typeface="等线 Light" panose="02010600030101010101" charset="-122"/>
                        </a:rPr>
                        <a:t>组合仓位</a:t>
                      </a:r>
                      <a:endParaRPr lang="zh-CN" altLang="en-US" sz="1100" b="1" dirty="0">
                        <a:solidFill>
                          <a:schemeClr val="tx1"/>
                        </a:solidFill>
                        <a:latin typeface="等线 Light" panose="02010600030101010101" charset="-122"/>
                        <a:ea typeface="等线 Light" panose="02010600030101010101"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nSpc>
                          <a:spcPct val="150000"/>
                        </a:lnSpc>
                        <a:buFont typeface="Arial" panose="020B0604020202020204" pitchFamily="34" charset="0"/>
                        <a:buChar char="•"/>
                      </a:pPr>
                      <a:r>
                        <a:rPr lang="zh-CN" altLang="en-US" sz="1100" dirty="0">
                          <a:solidFill>
                            <a:schemeClr val="tx1"/>
                          </a:solidFill>
                          <a:latin typeface="等线 Light" panose="02010600030101010101" charset="-122"/>
                          <a:ea typeface="等线 Light" panose="02010600030101010101" charset="-122"/>
                        </a:rPr>
                        <a:t>长仓：平均</a:t>
                      </a:r>
                      <a:r>
                        <a:rPr lang="en-US" altLang="zh-CN" sz="1100" dirty="0">
                          <a:solidFill>
                            <a:schemeClr val="tx1"/>
                          </a:solidFill>
                          <a:latin typeface="等线 Light" panose="02010600030101010101" charset="-122"/>
                          <a:ea typeface="等线 Light" panose="02010600030101010101" charset="-122"/>
                        </a:rPr>
                        <a:t>105%</a:t>
                      </a:r>
                      <a:r>
                        <a:rPr lang="zh-CN" altLang="en-US" sz="1100" dirty="0">
                          <a:solidFill>
                            <a:schemeClr val="tx1"/>
                          </a:solidFill>
                          <a:latin typeface="等线 Light" panose="02010600030101010101" charset="-122"/>
                          <a:ea typeface="等线 Light" panose="02010600030101010101" charset="-122"/>
                        </a:rPr>
                        <a:t>；短仓：平均</a:t>
                      </a:r>
                      <a:r>
                        <a:rPr lang="en-US" altLang="zh-CN" sz="1100" dirty="0">
                          <a:solidFill>
                            <a:schemeClr val="tx1"/>
                          </a:solidFill>
                          <a:latin typeface="等线 Light" panose="02010600030101010101" charset="-122"/>
                          <a:ea typeface="等线 Light" panose="02010600030101010101" charset="-122"/>
                        </a:rPr>
                        <a:t>20%</a:t>
                      </a:r>
                      <a:endParaRPr lang="en-US" altLang="zh-CN" sz="1100" dirty="0">
                        <a:solidFill>
                          <a:schemeClr val="tx1"/>
                        </a:solidFill>
                        <a:latin typeface="等线 Light" panose="02010600030101010101" charset="-122"/>
                        <a:ea typeface="等线 Light" panose="02010600030101010101" charset="-122"/>
                      </a:endParaRPr>
                    </a:p>
                    <a:p>
                      <a:pPr marL="285750" indent="-285750">
                        <a:lnSpc>
                          <a:spcPct val="150000"/>
                        </a:lnSpc>
                        <a:buFont typeface="Arial" panose="020B0604020202020204" pitchFamily="34" charset="0"/>
                        <a:buChar char="•"/>
                      </a:pPr>
                      <a:r>
                        <a:rPr lang="zh-CN" altLang="en-US" sz="1100" dirty="0">
                          <a:solidFill>
                            <a:schemeClr val="tx1"/>
                          </a:solidFill>
                          <a:latin typeface="等线 Light" panose="02010600030101010101" charset="-122"/>
                          <a:ea typeface="等线 Light" panose="02010600030101010101" charset="-122"/>
                        </a:rPr>
                        <a:t>总仓位：平均</a:t>
                      </a:r>
                      <a:r>
                        <a:rPr lang="en-US" altLang="zh-CN" sz="1100" dirty="0">
                          <a:solidFill>
                            <a:schemeClr val="tx1"/>
                          </a:solidFill>
                          <a:latin typeface="等线 Light" panose="02010600030101010101" charset="-122"/>
                          <a:ea typeface="等线 Light" panose="02010600030101010101" charset="-122"/>
                        </a:rPr>
                        <a:t>125%</a:t>
                      </a:r>
                      <a:r>
                        <a:rPr lang="zh-CN" altLang="en-US" sz="1100" dirty="0">
                          <a:solidFill>
                            <a:schemeClr val="tx1"/>
                          </a:solidFill>
                          <a:latin typeface="等线 Light" panose="02010600030101010101" charset="-122"/>
                          <a:ea typeface="等线 Light" panose="02010600030101010101" charset="-122"/>
                        </a:rPr>
                        <a:t>；净仓位：平均</a:t>
                      </a:r>
                      <a:r>
                        <a:rPr lang="en-US" altLang="zh-CN" sz="1100" dirty="0">
                          <a:solidFill>
                            <a:schemeClr val="tx1"/>
                          </a:solidFill>
                          <a:latin typeface="等线 Light" panose="02010600030101010101" charset="-122"/>
                          <a:ea typeface="等线 Light" panose="02010600030101010101" charset="-122"/>
                        </a:rPr>
                        <a:t>85%</a:t>
                      </a:r>
                      <a:endParaRPr lang="zh-CN" altLang="en-US" sz="1100" dirty="0">
                        <a:solidFill>
                          <a:schemeClr val="tx1"/>
                        </a:solidFill>
                        <a:latin typeface="等线 Light" panose="02010600030101010101" charset="-122"/>
                        <a:ea typeface="等线 Light" panose="02010600030101010101"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28240">
                <a:tc>
                  <a:txBody>
                    <a:bodyPr/>
                    <a:lstStyle/>
                    <a:p>
                      <a:pPr algn="l">
                        <a:lnSpc>
                          <a:spcPct val="150000"/>
                        </a:lnSpc>
                      </a:pPr>
                      <a:r>
                        <a:rPr lang="zh-CN" altLang="en-US" sz="1100" b="1" dirty="0">
                          <a:solidFill>
                            <a:schemeClr val="tx1"/>
                          </a:solidFill>
                          <a:latin typeface="等线 Light" panose="02010600030101010101" charset="-122"/>
                          <a:ea typeface="等线 Light" panose="02010600030101010101" charset="-122"/>
                        </a:rPr>
                        <a:t>持股数量</a:t>
                      </a:r>
                      <a:endParaRPr lang="zh-CN" altLang="en-US" sz="1100" b="1" dirty="0">
                        <a:solidFill>
                          <a:schemeClr val="tx1"/>
                        </a:solidFill>
                        <a:latin typeface="等线 Light" panose="02010600030101010101" charset="-122"/>
                        <a:ea typeface="等线 Light" panose="02010600030101010101"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914400" rtl="0" eaLnBrk="1" latinLnBrk="0" hangingPunct="1">
                        <a:lnSpc>
                          <a:spcPct val="150000"/>
                        </a:lnSpc>
                        <a:buFont typeface="Arial" panose="020B0604020202020204" pitchFamily="34" charset="0"/>
                        <a:buNone/>
                      </a:pPr>
                      <a:r>
                        <a:rPr lang="en-US" altLang="zh-CN" sz="1100" b="0" kern="1200" dirty="0">
                          <a:solidFill>
                            <a:schemeClr val="tx1"/>
                          </a:solidFill>
                          <a:latin typeface="等线 Light" panose="02010600030101010101" charset="-122"/>
                          <a:ea typeface="等线 Light" panose="02010600030101010101" charset="-122"/>
                          <a:cs typeface="+mn-cs"/>
                        </a:rPr>
                        <a:t>50+</a:t>
                      </a:r>
                      <a:endParaRPr lang="zh-CN" altLang="en-US" sz="1100" b="0" kern="1200" dirty="0">
                        <a:solidFill>
                          <a:schemeClr val="tx1"/>
                        </a:solidFill>
                        <a:latin typeface="等线 Light" panose="02010600030101010101" charset="-122"/>
                        <a:ea typeface="等线 Light" panose="02010600030101010101"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93712">
                <a:tc>
                  <a:txBody>
                    <a:bodyPr/>
                    <a:lstStyle/>
                    <a:p>
                      <a:pPr algn="l">
                        <a:lnSpc>
                          <a:spcPct val="150000"/>
                        </a:lnSpc>
                      </a:pPr>
                      <a:r>
                        <a:rPr lang="zh-CN" altLang="en-US" sz="1100" b="1" dirty="0">
                          <a:solidFill>
                            <a:schemeClr val="tx1"/>
                          </a:solidFill>
                          <a:latin typeface="等线 Light" panose="02010600030101010101" charset="-122"/>
                          <a:ea typeface="等线 Light" panose="02010600030101010101" charset="-122"/>
                        </a:rPr>
                        <a:t>集中度</a:t>
                      </a:r>
                      <a:endParaRPr lang="zh-CN" altLang="en-US" sz="1100" b="1" dirty="0">
                        <a:solidFill>
                          <a:schemeClr val="tx1"/>
                        </a:solidFill>
                        <a:latin typeface="等线 Light" panose="02010600030101010101" charset="-122"/>
                        <a:ea typeface="等线 Light" panose="02010600030101010101"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defTabSz="914400" rtl="0" eaLnBrk="1" latinLnBrk="0" hangingPunct="1">
                        <a:lnSpc>
                          <a:spcPct val="150000"/>
                        </a:lnSpc>
                        <a:buSzPts val="1400"/>
                        <a:buFont typeface="Arial" panose="020B0604020202020204" pitchFamily="34" charset="0"/>
                        <a:buChar char="•"/>
                      </a:pPr>
                      <a:r>
                        <a:rPr lang="zh-TW" altLang="en-US" sz="1100" kern="1200" dirty="0">
                          <a:solidFill>
                            <a:schemeClr val="tx1"/>
                          </a:solidFill>
                          <a:latin typeface="等线 Light" panose="02010600030101010101" charset="-122"/>
                          <a:ea typeface="等线 Light" panose="02010600030101010101" charset="-122"/>
                          <a:cs typeface="+mn-cs"/>
                        </a:rPr>
                        <a:t>单一股票</a:t>
                      </a:r>
                      <a:r>
                        <a:rPr lang="zh-CN" altLang="en-US" sz="1100" kern="1200" dirty="0">
                          <a:solidFill>
                            <a:schemeClr val="tx1"/>
                          </a:solidFill>
                          <a:latin typeface="等线 Light" panose="02010600030101010101" charset="-122"/>
                          <a:ea typeface="等线 Light" panose="02010600030101010101" charset="-122"/>
                          <a:cs typeface="+mn-cs"/>
                        </a:rPr>
                        <a:t>按市值计算占比不超过净资产的</a:t>
                      </a:r>
                      <a:r>
                        <a:rPr lang="en-US" altLang="zh-CN" sz="1100" kern="1200" dirty="0">
                          <a:solidFill>
                            <a:schemeClr val="tx1"/>
                          </a:solidFill>
                          <a:latin typeface="等线 Light" panose="02010600030101010101" charset="-122"/>
                          <a:ea typeface="等线 Light" panose="02010600030101010101" charset="-122"/>
                          <a:cs typeface="+mn-cs"/>
                        </a:rPr>
                        <a:t>15%</a:t>
                      </a:r>
                      <a:endParaRPr lang="zh-TW" altLang="en-US" sz="1100" kern="1200" dirty="0">
                        <a:solidFill>
                          <a:schemeClr val="tx1"/>
                        </a:solidFill>
                        <a:latin typeface="等线 Light" panose="02010600030101010101" charset="-122"/>
                        <a:ea typeface="等线 Light" panose="02010600030101010101" charset="-122"/>
                        <a:cs typeface="+mn-cs"/>
                      </a:endParaRPr>
                    </a:p>
                    <a:p>
                      <a:pPr marL="285750" indent="-285750" algn="l" defTabSz="914400" rtl="0" eaLnBrk="1" latinLnBrk="0" hangingPunct="1">
                        <a:lnSpc>
                          <a:spcPct val="150000"/>
                        </a:lnSpc>
                        <a:buSzPts val="1400"/>
                        <a:buFont typeface="Arial" panose="020B0604020202020204" pitchFamily="34" charset="0"/>
                        <a:buChar char="•"/>
                      </a:pPr>
                      <a:r>
                        <a:rPr lang="zh-TW" altLang="en-US" sz="1100" kern="1200" dirty="0">
                          <a:solidFill>
                            <a:schemeClr val="tx1"/>
                          </a:solidFill>
                          <a:latin typeface="等线 Light" panose="02010600030101010101" charset="-122"/>
                          <a:ea typeface="等线 Light" panose="02010600030101010101" charset="-122"/>
                          <a:cs typeface="+mn-cs"/>
                        </a:rPr>
                        <a:t>单一</a:t>
                      </a:r>
                      <a:r>
                        <a:rPr lang="zh-CN" altLang="en-US" sz="1100" kern="1200" dirty="0">
                          <a:solidFill>
                            <a:schemeClr val="tx1"/>
                          </a:solidFill>
                          <a:latin typeface="等线 Light" panose="02010600030101010101" charset="-122"/>
                          <a:ea typeface="等线 Light" panose="02010600030101010101" charset="-122"/>
                          <a:cs typeface="+mn-cs"/>
                        </a:rPr>
                        <a:t>行业按市值计算占比不超过净资产的</a:t>
                      </a:r>
                      <a:r>
                        <a:rPr lang="en-US" altLang="zh-CN" sz="1100" kern="1200" dirty="0">
                          <a:solidFill>
                            <a:schemeClr val="tx1"/>
                          </a:solidFill>
                          <a:latin typeface="等线 Light" panose="02010600030101010101" charset="-122"/>
                          <a:ea typeface="等线 Light" panose="02010600030101010101" charset="-122"/>
                          <a:cs typeface="+mn-cs"/>
                        </a:rPr>
                        <a:t>40%</a:t>
                      </a:r>
                      <a:endParaRPr lang="zh-TW" altLang="en-US" sz="1100" kern="1200" dirty="0">
                        <a:solidFill>
                          <a:schemeClr val="tx1"/>
                        </a:solidFill>
                        <a:latin typeface="等线 Light" panose="02010600030101010101" charset="-122"/>
                        <a:ea typeface="等线 Light" panose="02010600030101010101"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93712">
                <a:tc>
                  <a:txBody>
                    <a:bodyPr/>
                    <a:lstStyle/>
                    <a:p>
                      <a:pPr algn="l">
                        <a:lnSpc>
                          <a:spcPct val="150000"/>
                        </a:lnSpc>
                      </a:pPr>
                      <a:r>
                        <a:rPr lang="zh-CN" altLang="en-US" sz="1100" b="1" dirty="0">
                          <a:solidFill>
                            <a:schemeClr val="tx1"/>
                          </a:solidFill>
                          <a:latin typeface="等线 Light" panose="02010600030101010101" charset="-122"/>
                          <a:ea typeface="等线 Light" panose="02010600030101010101" charset="-122"/>
                        </a:rPr>
                        <a:t>做空</a:t>
                      </a:r>
                      <a:endParaRPr lang="zh-CN" altLang="en-US" sz="1100" b="1" dirty="0">
                        <a:solidFill>
                          <a:schemeClr val="tx1"/>
                        </a:solidFill>
                        <a:latin typeface="等线 Light" panose="02010600030101010101" charset="-122"/>
                        <a:ea typeface="等线 Light" panose="02010600030101010101"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defTabSz="914400" rtl="0" eaLnBrk="1" latinLnBrk="0" hangingPunct="1">
                        <a:lnSpc>
                          <a:spcPct val="150000"/>
                        </a:lnSpc>
                        <a:buSzPts val="1400"/>
                        <a:buFont typeface="Arial" panose="020B0604020202020204" pitchFamily="34" charset="0"/>
                        <a:buChar char="•"/>
                      </a:pPr>
                      <a:r>
                        <a:rPr lang="zh-CN" altLang="en-US" sz="1100" kern="1200" dirty="0">
                          <a:solidFill>
                            <a:schemeClr val="tx1"/>
                          </a:solidFill>
                          <a:latin typeface="等线 Light" panose="02010600030101010101" charset="-122"/>
                          <a:ea typeface="等线 Light" panose="02010600030101010101" charset="-122"/>
                          <a:cs typeface="+mn-cs"/>
                        </a:rPr>
                        <a:t>个股融券、指数做空</a:t>
                      </a:r>
                      <a:endParaRPr lang="zh-TW" altLang="en-US" sz="1100" kern="1200" dirty="0">
                        <a:solidFill>
                          <a:schemeClr val="tx1"/>
                        </a:solidFill>
                        <a:latin typeface="等线 Light" panose="02010600030101010101" charset="-122"/>
                        <a:ea typeface="等线 Light" panose="02010600030101010101"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93712">
                <a:tc>
                  <a:txBody>
                    <a:bodyPr/>
                    <a:lstStyle/>
                    <a:p>
                      <a:pPr algn="l">
                        <a:lnSpc>
                          <a:spcPct val="150000"/>
                        </a:lnSpc>
                      </a:pPr>
                      <a:r>
                        <a:rPr lang="zh-CN" altLang="en-US" sz="1100" b="1" dirty="0">
                          <a:solidFill>
                            <a:schemeClr val="tx1"/>
                          </a:solidFill>
                          <a:latin typeface="等线 Light" panose="02010600030101010101" charset="-122"/>
                          <a:ea typeface="等线 Light" panose="02010600030101010101" charset="-122"/>
                        </a:rPr>
                        <a:t>持仓周期及换手率</a:t>
                      </a:r>
                      <a:endParaRPr lang="zh-CN" altLang="en-US" sz="1100" b="1" dirty="0">
                        <a:solidFill>
                          <a:schemeClr val="tx1"/>
                        </a:solidFill>
                        <a:latin typeface="等线 Light" panose="02010600030101010101" charset="-122"/>
                        <a:ea typeface="等线 Light" panose="02010600030101010101"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l" defTabSz="914400" rtl="0" eaLnBrk="1" latinLnBrk="0" hangingPunct="1">
                        <a:lnSpc>
                          <a:spcPct val="150000"/>
                        </a:lnSpc>
                        <a:buSzPts val="1400"/>
                        <a:buFont typeface="Arial" panose="020B0604020202020204" pitchFamily="34" charset="0"/>
                        <a:buChar char="•"/>
                      </a:pPr>
                      <a:r>
                        <a:rPr lang="zh-CN" altLang="en-US" sz="1100" kern="1200" dirty="0">
                          <a:solidFill>
                            <a:schemeClr val="tx1"/>
                          </a:solidFill>
                          <a:latin typeface="等线 Light" panose="02010600030101010101" charset="-122"/>
                          <a:ea typeface="等线 Light" panose="02010600030101010101" charset="-122"/>
                          <a:cs typeface="+mn-cs"/>
                        </a:rPr>
                        <a:t>个股持仓周期在</a:t>
                      </a:r>
                      <a:r>
                        <a:rPr lang="en-US" altLang="zh-CN" sz="1100" kern="1200" dirty="0">
                          <a:solidFill>
                            <a:schemeClr val="tx1"/>
                          </a:solidFill>
                          <a:latin typeface="等线 Light" panose="02010600030101010101" charset="-122"/>
                          <a:ea typeface="等线 Light" panose="02010600030101010101" charset="-122"/>
                          <a:cs typeface="+mn-cs"/>
                        </a:rPr>
                        <a:t>6</a:t>
                      </a:r>
                      <a:r>
                        <a:rPr lang="zh-CN" altLang="en-US" sz="1100" kern="1200" dirty="0">
                          <a:solidFill>
                            <a:schemeClr val="tx1"/>
                          </a:solidFill>
                          <a:latin typeface="等线 Light" panose="02010600030101010101" charset="-122"/>
                          <a:ea typeface="等线 Light" panose="02010600030101010101" charset="-122"/>
                          <a:cs typeface="+mn-cs"/>
                        </a:rPr>
                        <a:t>个月以上</a:t>
                      </a:r>
                      <a:endParaRPr lang="en-US" altLang="zh-CN" sz="1100" kern="1200" dirty="0">
                        <a:solidFill>
                          <a:schemeClr val="tx1"/>
                        </a:solidFill>
                        <a:latin typeface="等线 Light" panose="02010600030101010101" charset="-122"/>
                        <a:ea typeface="等线 Light" panose="02010600030101010101" charset="-122"/>
                        <a:cs typeface="+mn-cs"/>
                      </a:endParaRPr>
                    </a:p>
                    <a:p>
                      <a:pPr marL="285750" indent="-285750" algn="l" defTabSz="914400" rtl="0" eaLnBrk="1" latinLnBrk="0" hangingPunct="1">
                        <a:lnSpc>
                          <a:spcPct val="150000"/>
                        </a:lnSpc>
                        <a:buSzPts val="1400"/>
                        <a:buFont typeface="Arial" panose="020B0604020202020204" pitchFamily="34" charset="0"/>
                        <a:buChar char="•"/>
                      </a:pPr>
                      <a:r>
                        <a:rPr lang="zh-CN" altLang="en-US" sz="1100" kern="1200" dirty="0">
                          <a:solidFill>
                            <a:schemeClr val="tx1"/>
                          </a:solidFill>
                          <a:latin typeface="等线 Light" panose="02010600030101010101" charset="-122"/>
                          <a:ea typeface="等线 Light" panose="02010600030101010101" charset="-122"/>
                          <a:cs typeface="+mn-cs"/>
                        </a:rPr>
                        <a:t>平均换手率</a:t>
                      </a:r>
                      <a:r>
                        <a:rPr lang="en-US" altLang="zh-CN" sz="1100" kern="1200" dirty="0">
                          <a:solidFill>
                            <a:schemeClr val="tx1"/>
                          </a:solidFill>
                          <a:latin typeface="等线 Light" panose="02010600030101010101" charset="-122"/>
                          <a:ea typeface="等线 Light" panose="02010600030101010101" charset="-122"/>
                          <a:cs typeface="+mn-cs"/>
                        </a:rPr>
                        <a:t>120%-140%</a:t>
                      </a:r>
                      <a:endParaRPr lang="zh-TW" altLang="en-US" sz="1100" kern="1200" dirty="0">
                        <a:solidFill>
                          <a:schemeClr val="tx1"/>
                        </a:solidFill>
                        <a:latin typeface="等线 Light" panose="02010600030101010101" charset="-122"/>
                        <a:ea typeface="等线 Light" panose="02010600030101010101" charset="-122"/>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3D43F66-1552-4AB5-8C73-059430FE9C80}"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9" name="文本框 4"/>
          <p:cNvSpPr txBox="1"/>
          <p:nvPr/>
        </p:nvSpPr>
        <p:spPr>
          <a:xfrm rot="18792261">
            <a:off x="2868108" y="2860347"/>
            <a:ext cx="6278880" cy="8299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TW" altLang="en-US" sz="4800" b="0" i="0" u="none" strike="noStrike" kern="1200" cap="none" spc="0" normalizeH="0" baseline="0" noProof="0" dirty="0">
                <a:ln>
                  <a:noFill/>
                </a:ln>
                <a:solidFill>
                  <a:srgbClr val="D9D9D9">
                    <a:alpha val="50000"/>
                  </a:srgbClr>
                </a:solidFill>
                <a:effectLst/>
                <a:uLnTx/>
                <a:uFillTx/>
                <a:latin typeface="等线" panose="02010600030101010101" charset="-122"/>
                <a:cs typeface="+mn-cs"/>
              </a:rPr>
              <a:t>仅供</a:t>
            </a:r>
            <a:r>
              <a:rPr kumimoji="0" lang="zh-TW" altLang="en-US" sz="4800" b="0" i="0" u="none" strike="noStrike" kern="1200" cap="none" spc="0" normalizeH="0" baseline="0" noProof="0" dirty="0" smtClean="0">
                <a:ln>
                  <a:noFill/>
                </a:ln>
                <a:solidFill>
                  <a:srgbClr val="D9D9D9">
                    <a:alpha val="50000"/>
                  </a:srgbClr>
                </a:solidFill>
                <a:effectLst/>
                <a:uLnTx/>
                <a:uFillTx/>
                <a:latin typeface="等线" panose="02010600030101010101" charset="-122"/>
                <a:cs typeface="+mn-cs"/>
              </a:rPr>
              <a:t>内使用</a:t>
            </a:r>
            <a:r>
              <a:rPr kumimoji="0" lang="zh-CN" altLang="en-US" sz="4800" b="0" i="0" u="none" strike="noStrike" kern="1200" cap="none" spc="0" normalizeH="0" baseline="0" noProof="0" dirty="0" smtClean="0">
                <a:ln>
                  <a:noFill/>
                </a:ln>
                <a:solidFill>
                  <a:srgbClr val="D9D9D9">
                    <a:alpha val="50000"/>
                  </a:srgbClr>
                </a:solidFill>
                <a:effectLst/>
                <a:uLnTx/>
                <a:uFillTx/>
                <a:latin typeface="等线" panose="02010600030101010101" charset="-122"/>
                <a:ea typeface="等线" panose="02010600030101010101" charset="-122"/>
                <a:cs typeface="+mn-cs"/>
              </a:rPr>
              <a:t>，禁止转发</a:t>
            </a:r>
            <a:endParaRPr kumimoji="0" lang="zh-TW" altLang="en-US" sz="4800" b="0" i="0" u="none" strike="noStrike" kern="1200" cap="none" spc="0" normalizeH="0" baseline="0" noProof="0" dirty="0">
              <a:ln>
                <a:noFill/>
              </a:ln>
              <a:solidFill>
                <a:srgbClr val="D9D9D9">
                  <a:alpha val="50000"/>
                </a:srgbClr>
              </a:solidFill>
              <a:effectLst/>
              <a:uLnTx/>
              <a:uFillTx/>
              <a:latin typeface="等线" panose="02010600030101010101" charset="-122"/>
              <a:cs typeface="+mn-c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flipH="1">
            <a:off x="4208780" y="2213610"/>
            <a:ext cx="76200" cy="373761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矩形 12"/>
          <p:cNvSpPr/>
          <p:nvPr/>
        </p:nvSpPr>
        <p:spPr>
          <a:xfrm>
            <a:off x="1863090" y="4122420"/>
            <a:ext cx="372110" cy="18288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aphicFrame>
        <p:nvGraphicFramePr>
          <p:cNvPr id="8" name="图表 7"/>
          <p:cNvGraphicFramePr/>
          <p:nvPr/>
        </p:nvGraphicFramePr>
        <p:xfrm>
          <a:off x="210185" y="1442720"/>
          <a:ext cx="7649210" cy="4837430"/>
        </p:xfrm>
        <a:graphic>
          <a:graphicData uri="http://schemas.openxmlformats.org/drawingml/2006/chart">
            <c:chart xmlns:c="http://schemas.openxmlformats.org/drawingml/2006/chart" xmlns:r="http://schemas.openxmlformats.org/officeDocument/2006/relationships" r:id="rId1"/>
          </a:graphicData>
        </a:graphic>
      </p:graphicFrame>
      <p:sp>
        <p:nvSpPr>
          <p:cNvPr id="2" name="矩形 1"/>
          <p:cNvSpPr/>
          <p:nvPr/>
        </p:nvSpPr>
        <p:spPr>
          <a:xfrm>
            <a:off x="291465" y="246380"/>
            <a:ext cx="6123940" cy="423545"/>
          </a:xfrm>
          <a:prstGeom prst="rect">
            <a:avLst/>
          </a:prstGeom>
          <a:noFill/>
        </p:spPr>
        <p:txBody>
          <a:bodyPr wrap="square" rtlCol="0">
            <a:spAutoFit/>
          </a:bodyPr>
          <a:lstStyle/>
          <a:p>
            <a:pPr marL="0" marR="0" lvl="0" algn="l" defTabSz="914400" rtl="0" eaLnBrk="1" fontAlgn="auto" latinLnBrk="0" hangingPunct="1">
              <a:lnSpc>
                <a:spcPct val="90000"/>
              </a:lnSpc>
              <a:spcBef>
                <a:spcPts val="0"/>
              </a:spcBef>
              <a:buClrTx/>
              <a:buSzTx/>
              <a:buFontTx/>
              <a:buNone/>
            </a:pPr>
            <a:r>
              <a:rPr kumimoji="0" lang="zh-CN" altLang="en-US" sz="2400" b="1" i="0" u="none" strike="noStrike" kern="1200" cap="none" spc="0" normalizeH="0" baseline="0" dirty="0" smtClean="0">
                <a:solidFill>
                  <a:schemeClr val="tx2">
                    <a:lumMod val="75000"/>
                  </a:schemeClr>
                </a:solidFill>
                <a:latin typeface="等线" panose="02010600030101010101" charset="-122"/>
                <a:ea typeface="等线" panose="02010600030101010101" charset="-122"/>
                <a:cs typeface="等线" panose="02010600030101010101" charset="-122"/>
              </a:rPr>
              <a:t>金色中国基金业绩-2004年7月成立以来</a:t>
            </a:r>
            <a:endParaRPr kumimoji="0" lang="zh-CN" altLang="en-US" sz="2400" b="1" i="0" u="none" strike="noStrike" kern="1200" cap="none" spc="0" normalizeH="0" baseline="0" dirty="0" smtClean="0">
              <a:solidFill>
                <a:schemeClr val="tx2">
                  <a:lumMod val="75000"/>
                </a:schemeClr>
              </a:solidFill>
              <a:latin typeface="等线" panose="02010600030101010101" charset="-122"/>
              <a:ea typeface="等线" panose="02010600030101010101" charset="-122"/>
              <a:cs typeface="等线" panose="02010600030101010101" charset="-122"/>
            </a:endParaRPr>
          </a:p>
        </p:txBody>
      </p:sp>
      <p:sp>
        <p:nvSpPr>
          <p:cNvPr id="7" name="文本框 6"/>
          <p:cNvSpPr txBox="1"/>
          <p:nvPr/>
        </p:nvSpPr>
        <p:spPr>
          <a:xfrm>
            <a:off x="110830" y="6660131"/>
            <a:ext cx="10080920" cy="213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Segoe UI" panose="020B0502040204020203" pitchFamily="34" charset="0"/>
              </a:rPr>
              <a:t>数据来源：景林、诺亚产品中心、</a:t>
            </a:r>
            <a:r>
              <a:rPr kumimoji="0" lang="en-US" altLang="zh-CN"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Segoe UI" panose="020B0502040204020203" pitchFamily="34" charset="0"/>
              </a:rPr>
              <a:t>wind</a:t>
            </a:r>
            <a:r>
              <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Segoe UI" panose="020B0502040204020203" pitchFamily="34" charset="0"/>
              </a:rPr>
              <a:t>、数据截至</a:t>
            </a:r>
            <a:r>
              <a:rPr kumimoji="0" lang="en-US" altLang="zh-CN" sz="800" b="0" i="0" u="none" strike="noStrike" kern="1200" cap="none" spc="0" normalizeH="0" baseline="0" noProof="0" dirty="0" smtClean="0">
                <a:ln>
                  <a:noFill/>
                </a:ln>
                <a:solidFill>
                  <a:prstClr val="black"/>
                </a:solidFill>
                <a:effectLst/>
                <a:uLnTx/>
                <a:uFillTx/>
                <a:latin typeface="等线" panose="02010600030101010101" charset="-122"/>
                <a:ea typeface="等线" panose="02010600030101010101" charset="-122"/>
                <a:cs typeface="Segoe UI" panose="020B0502040204020203" pitchFamily="34" charset="0"/>
              </a:rPr>
              <a:t>2024/12/31</a:t>
            </a:r>
            <a:r>
              <a:rPr kumimoji="0" lang="zh-CN" altLang="en-US" sz="800" b="0" i="0" u="none" strike="noStrike" kern="1200" cap="none" spc="0" normalizeH="0" baseline="0" noProof="0" dirty="0" smtClean="0">
                <a:ln>
                  <a:noFill/>
                </a:ln>
                <a:solidFill>
                  <a:prstClr val="black"/>
                </a:solidFill>
                <a:effectLst/>
                <a:uLnTx/>
                <a:uFillTx/>
                <a:latin typeface="等线" panose="02010600030101010101" charset="-122"/>
                <a:ea typeface="等线" panose="02010600030101010101" charset="-122"/>
                <a:cs typeface="Segoe UI" panose="020B0502040204020203" pitchFamily="34" charset="0"/>
              </a:rPr>
              <a:t>；</a:t>
            </a:r>
            <a:r>
              <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Segoe UI" panose="020B0502040204020203" pitchFamily="34" charset="0"/>
              </a:rPr>
              <a:t>展示端做了净值归</a:t>
            </a:r>
            <a:r>
              <a:rPr kumimoji="0" lang="en-US" altLang="zh-CN"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Segoe UI" panose="020B0502040204020203" pitchFamily="34" charset="0"/>
              </a:rPr>
              <a:t>1</a:t>
            </a:r>
            <a:r>
              <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Segoe UI" panose="020B0502040204020203" pitchFamily="34" charset="0"/>
              </a:rPr>
              <a:t>处理；收益率扣除</a:t>
            </a:r>
            <a:r>
              <a:rPr kumimoji="0" lang="en-US" altLang="zh-CN"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Segoe UI" panose="020B0502040204020203" pitchFamily="34" charset="0"/>
              </a:rPr>
              <a:t>1.5%/</a:t>
            </a:r>
            <a:r>
              <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Segoe UI" panose="020B0502040204020203" pitchFamily="34" charset="0"/>
              </a:rPr>
              <a:t>年管理费及</a:t>
            </a:r>
            <a:r>
              <a:rPr kumimoji="0" lang="en-US" altLang="zh-CN"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Segoe UI" panose="020B0502040204020203" pitchFamily="34" charset="0"/>
              </a:rPr>
              <a:t>20%</a:t>
            </a:r>
            <a:r>
              <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Segoe UI" panose="020B0502040204020203" pitchFamily="34" charset="0"/>
              </a:rPr>
              <a:t>的业绩报酬。</a:t>
            </a:r>
            <a:endPar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Segoe UI" panose="020B0502040204020203" pitchFamily="34" charset="0"/>
            </a:endParaRPr>
          </a:p>
        </p:txBody>
      </p:sp>
      <p:sp>
        <p:nvSpPr>
          <p:cNvPr id="12" name="文本框 1"/>
          <p:cNvSpPr txBox="1"/>
          <p:nvPr/>
        </p:nvSpPr>
        <p:spPr>
          <a:xfrm>
            <a:off x="3174783" y="1920762"/>
            <a:ext cx="3076265" cy="293003"/>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srgbClr val="0070C0"/>
                </a:solidFill>
                <a:effectLst/>
                <a:uLnTx/>
                <a:uFillTx/>
                <a:latin typeface="等线 Light" panose="02010600030101010101" charset="-122"/>
                <a:ea typeface="等线 Light" panose="02010600030101010101" charset="-122"/>
                <a:cs typeface="+mn-cs"/>
              </a:rPr>
              <a:t>诺亚香港上架时间：</a:t>
            </a:r>
            <a:r>
              <a:rPr kumimoji="0" lang="en-US" altLang="zh-CN" sz="1100" b="1" i="0" u="none" strike="noStrike" kern="1200" cap="none" spc="0" normalizeH="0" baseline="0" noProof="0" dirty="0">
                <a:ln>
                  <a:noFill/>
                </a:ln>
                <a:solidFill>
                  <a:srgbClr val="0070C0"/>
                </a:solidFill>
                <a:effectLst/>
                <a:uLnTx/>
                <a:uFillTx/>
                <a:latin typeface="等线 Light" panose="02010600030101010101" charset="-122"/>
                <a:ea typeface="等线 Light" panose="02010600030101010101" charset="-122"/>
                <a:cs typeface="+mn-cs"/>
              </a:rPr>
              <a:t>2014</a:t>
            </a:r>
            <a:r>
              <a:rPr kumimoji="0" lang="zh-CN" altLang="en-US" sz="1100" b="1" i="0" u="none" strike="noStrike" kern="1200" cap="none" spc="0" normalizeH="0" baseline="0" noProof="0" dirty="0">
                <a:ln>
                  <a:noFill/>
                </a:ln>
                <a:solidFill>
                  <a:srgbClr val="0070C0"/>
                </a:solidFill>
                <a:effectLst/>
                <a:uLnTx/>
                <a:uFillTx/>
                <a:latin typeface="等线 Light" panose="02010600030101010101" charset="-122"/>
                <a:ea typeface="等线 Light" panose="02010600030101010101" charset="-122"/>
                <a:cs typeface="+mn-cs"/>
              </a:rPr>
              <a:t>年</a:t>
            </a:r>
            <a:r>
              <a:rPr kumimoji="0" lang="en-US" altLang="zh-CN" sz="1100" b="1" i="0" u="none" strike="noStrike" kern="1200" cap="none" spc="0" normalizeH="0" baseline="0" noProof="0" dirty="0">
                <a:ln>
                  <a:noFill/>
                </a:ln>
                <a:solidFill>
                  <a:srgbClr val="0070C0"/>
                </a:solidFill>
                <a:effectLst/>
                <a:uLnTx/>
                <a:uFillTx/>
                <a:latin typeface="等线 Light" panose="02010600030101010101" charset="-122"/>
                <a:ea typeface="等线 Light" panose="02010600030101010101" charset="-122"/>
                <a:cs typeface="+mn-cs"/>
              </a:rPr>
              <a:t>10</a:t>
            </a:r>
            <a:r>
              <a:rPr kumimoji="0" lang="zh-CN" altLang="en-US" sz="1100" b="1" i="0" u="none" strike="noStrike" kern="1200" cap="none" spc="0" normalizeH="0" baseline="0" noProof="0" dirty="0">
                <a:ln>
                  <a:noFill/>
                </a:ln>
                <a:solidFill>
                  <a:srgbClr val="0070C0"/>
                </a:solidFill>
                <a:effectLst/>
                <a:uLnTx/>
                <a:uFillTx/>
                <a:latin typeface="等线 Light" panose="02010600030101010101" charset="-122"/>
                <a:ea typeface="等线 Light" panose="02010600030101010101" charset="-122"/>
                <a:cs typeface="+mn-cs"/>
              </a:rPr>
              <a:t>月</a:t>
            </a:r>
            <a:endParaRPr kumimoji="0" lang="zh-CN" altLang="en-US" sz="1100" b="1" i="0" u="none" strike="noStrike" kern="1200" cap="none" spc="0" normalizeH="0" baseline="0" noProof="0" dirty="0">
              <a:ln>
                <a:noFill/>
              </a:ln>
              <a:solidFill>
                <a:srgbClr val="0070C0"/>
              </a:solidFill>
              <a:effectLst/>
              <a:uLnTx/>
              <a:uFillTx/>
              <a:latin typeface="等线 Light" panose="02010600030101010101" charset="-122"/>
              <a:ea typeface="等线 Light" panose="02010600030101010101" charset="-122"/>
              <a:cs typeface="+mn-cs"/>
            </a:endParaRPr>
          </a:p>
        </p:txBody>
      </p:sp>
      <p:sp>
        <p:nvSpPr>
          <p:cNvPr id="14" name="文本框 1"/>
          <p:cNvSpPr txBox="1"/>
          <p:nvPr/>
        </p:nvSpPr>
        <p:spPr>
          <a:xfrm>
            <a:off x="929678" y="3829710"/>
            <a:ext cx="3076265" cy="293003"/>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最大回撤：</a:t>
            </a:r>
            <a:r>
              <a:rPr kumimoji="0" lang="en-US" altLang="zh-CN" sz="11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2007.10-2008.11</a:t>
            </a:r>
            <a:endParaRPr kumimoji="0" lang="zh-CN" altLang="en-US" sz="11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endParaRPr>
          </a:p>
        </p:txBody>
      </p:sp>
      <p:sp>
        <p:nvSpPr>
          <p:cNvPr id="3" name="文本框 2"/>
          <p:cNvSpPr txBox="1"/>
          <p:nvPr/>
        </p:nvSpPr>
        <p:spPr>
          <a:xfrm>
            <a:off x="291300" y="916940"/>
            <a:ext cx="8185950" cy="27559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景林美元的管理规模</a:t>
            </a:r>
            <a:r>
              <a:rPr kumimoji="0" lang="zh-CN" altLang="en-US" sz="1200" b="0" i="0" u="none" strike="noStrike" kern="1200" cap="none" spc="0" normalizeH="0" baseline="0" noProof="0" dirty="0" smtClean="0">
                <a:ln>
                  <a:noFill/>
                </a:ln>
                <a:solidFill>
                  <a:prstClr val="black"/>
                </a:solidFill>
                <a:effectLst/>
                <a:uLnTx/>
                <a:uFillTx/>
                <a:latin typeface="等线 Light" panose="02010600030101010101" charset="-122"/>
                <a:ea typeface="等线 Light" panose="02010600030101010101" charset="-122"/>
                <a:cs typeface="+mn-cs"/>
              </a:rPr>
              <a:t>约</a:t>
            </a:r>
            <a:r>
              <a:rPr kumimoji="0" lang="en-US" altLang="zh-CN" sz="1200" b="0" i="0" u="none" strike="noStrike" kern="1200" cap="none" spc="0" normalizeH="0" baseline="0" noProof="0" dirty="0" smtClean="0">
                <a:ln>
                  <a:noFill/>
                </a:ln>
                <a:solidFill>
                  <a:prstClr val="black"/>
                </a:solidFill>
                <a:effectLst/>
                <a:uLnTx/>
                <a:uFillTx/>
                <a:latin typeface="等线 Light" panose="02010600030101010101" charset="-122"/>
                <a:ea typeface="等线 Light" panose="02010600030101010101" charset="-122"/>
                <a:cs typeface="+mn-cs"/>
              </a:rPr>
              <a:t>70</a:t>
            </a:r>
            <a:r>
              <a:rPr kumimoji="0" lang="zh-CN" altLang="en-US" sz="1200" b="0" i="0" u="none" strike="noStrike" kern="1200" cap="none" spc="0" normalizeH="0" baseline="0" noProof="0" dirty="0" smtClean="0">
                <a:ln>
                  <a:noFill/>
                </a:ln>
                <a:solidFill>
                  <a:prstClr val="black"/>
                </a:solidFill>
                <a:effectLst/>
                <a:uLnTx/>
                <a:uFillTx/>
                <a:latin typeface="等线 Light" panose="02010600030101010101" charset="-122"/>
                <a:ea typeface="等线 Light" panose="02010600030101010101" charset="-122"/>
                <a:cs typeface="+mn-cs"/>
              </a:rPr>
              <a:t>亿</a:t>
            </a:r>
            <a:r>
              <a:rPr kumimoji="0" lang="zh-CN" altLang="en-US"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美金，金色中国基金管理规模约</a:t>
            </a:r>
            <a:r>
              <a:rPr kumimoji="0" lang="en-US" altLang="zh-CN"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20</a:t>
            </a:r>
            <a:r>
              <a:rPr kumimoji="0" lang="zh-CN" altLang="en-US"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亿美金。</a:t>
            </a:r>
            <a:endParaRPr kumimoji="0" lang="zh-CN" altLang="en-US"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3D43F66-1552-4AB5-8C73-059430FE9C80}"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16" name="文本框 4"/>
          <p:cNvSpPr txBox="1"/>
          <p:nvPr/>
        </p:nvSpPr>
        <p:spPr>
          <a:xfrm rot="18792261">
            <a:off x="2868108" y="2860347"/>
            <a:ext cx="6278880" cy="829945"/>
          </a:xfrm>
          <a:prstGeom prst="rect">
            <a:avLst/>
          </a:prstGeom>
          <a:noFill/>
        </p:spPr>
        <p:txBody>
          <a:bodyPr wrap="none" rtlCol="0">
            <a:spAutoFit/>
          </a:bodyPr>
          <a:lstStyle/>
          <a:p>
            <a:pPr marL="0" marR="0" lvl="0" algn="l" defTabSz="914400" rtl="0" eaLnBrk="1" fontAlgn="auto" latinLnBrk="0" hangingPunct="1">
              <a:lnSpc>
                <a:spcPct val="100000"/>
              </a:lnSpc>
              <a:spcBef>
                <a:spcPts val="0"/>
              </a:spcBef>
              <a:spcAft>
                <a:spcPts val="0"/>
              </a:spcAft>
              <a:buClrTx/>
              <a:buSzTx/>
              <a:buFontTx/>
              <a:buNone/>
              <a:defRPr/>
            </a:pPr>
            <a:r>
              <a:rPr kumimoji="0" lang="zh-TW" altLang="en-US" sz="4800" b="0" i="0" u="none" strike="noStrike" kern="1200" cap="none" spc="0" normalizeH="0" baseline="0" noProof="0" dirty="0">
                <a:ln>
                  <a:noFill/>
                </a:ln>
                <a:solidFill>
                  <a:srgbClr val="D9D9D9">
                    <a:alpha val="50000"/>
                  </a:srgbClr>
                </a:solidFill>
                <a:effectLst/>
                <a:uLnTx/>
                <a:uFillTx/>
                <a:latin typeface="等线" panose="02010600030101010101" charset="-122"/>
                <a:cs typeface="+mn-cs"/>
              </a:rPr>
              <a:t>仅供</a:t>
            </a:r>
            <a:r>
              <a:rPr kumimoji="0" lang="zh-TW" altLang="en-US" sz="4800" b="0" i="0" u="none" strike="noStrike" kern="1200" cap="none" spc="0" normalizeH="0" baseline="0" noProof="0" dirty="0" smtClean="0">
                <a:ln>
                  <a:noFill/>
                </a:ln>
                <a:solidFill>
                  <a:srgbClr val="D9D9D9">
                    <a:alpha val="50000"/>
                  </a:srgbClr>
                </a:solidFill>
                <a:effectLst/>
                <a:uLnTx/>
                <a:uFillTx/>
                <a:latin typeface="等线" panose="02010600030101010101" charset="-122"/>
                <a:cs typeface="+mn-cs"/>
              </a:rPr>
              <a:t>内使用，禁止转发</a:t>
            </a:r>
            <a:endParaRPr kumimoji="0" lang="zh-TW" altLang="en-US" sz="4800" b="0" i="0" u="none" strike="noStrike" kern="1200" cap="none" spc="0" normalizeH="0" baseline="0" noProof="0" dirty="0" smtClean="0">
              <a:ln>
                <a:noFill/>
              </a:ln>
              <a:solidFill>
                <a:srgbClr val="D9D9D9">
                  <a:alpha val="50000"/>
                </a:srgbClr>
              </a:solidFill>
              <a:effectLst/>
              <a:uLnTx/>
              <a:uFillTx/>
              <a:latin typeface="等线" panose="02010600030101010101" charset="-122"/>
              <a:cs typeface="+mn-cs"/>
            </a:endParaRPr>
          </a:p>
        </p:txBody>
      </p:sp>
      <p:graphicFrame>
        <p:nvGraphicFramePr>
          <p:cNvPr id="10" name="表格 9"/>
          <p:cNvGraphicFramePr/>
          <p:nvPr>
            <p:custDataLst>
              <p:tags r:id="rId2"/>
            </p:custDataLst>
          </p:nvPr>
        </p:nvGraphicFramePr>
        <p:xfrm>
          <a:off x="7859395" y="1071880"/>
          <a:ext cx="3978910" cy="5113020"/>
        </p:xfrm>
        <a:graphic>
          <a:graphicData uri="http://schemas.openxmlformats.org/drawingml/2006/table">
            <a:tbl>
              <a:tblPr/>
              <a:tblGrid>
                <a:gridCol w="1146810"/>
                <a:gridCol w="784225"/>
                <a:gridCol w="830580"/>
                <a:gridCol w="608330"/>
                <a:gridCol w="608965"/>
              </a:tblGrid>
              <a:tr h="340995">
                <a:tc>
                  <a:txBody>
                    <a:bodyPr/>
                    <a:p>
                      <a:pPr algn="ctr" fontAlgn="ctr"/>
                      <a:endParaRPr sz="1000" b="1" i="0">
                        <a:solidFill>
                          <a:srgbClr val="000000"/>
                        </a:solidFill>
                        <a:latin typeface="微软雅黑" panose="020B0503020204020204" charset="-122"/>
                        <a:ea typeface="微软雅黑" panose="020B0503020204020204" charset="-122"/>
                      </a:endParaRPr>
                    </a:p>
                  </a:txBody>
                  <a:tcPr marL="9842" marR="9842" marT="9842" marB="0" anchor="ctr" anchorCtr="0">
                    <a:lnL>
                      <a:noFill/>
                    </a:lnL>
                    <a:lnR>
                      <a:noFill/>
                    </a:lnR>
                    <a:lnT w="12700">
                      <a:solidFill>
                        <a:schemeClr val="tx1"/>
                      </a:solidFill>
                      <a:prstDash val="solid"/>
                    </a:lnT>
                    <a:lnB w="12700">
                      <a:solidFill>
                        <a:schemeClr val="tx1"/>
                      </a:solidFill>
                      <a:prstDash val="solid"/>
                    </a:lnB>
                    <a:noFill/>
                  </a:tcPr>
                </a:tc>
                <a:tc>
                  <a:txBody>
                    <a:bodyPr/>
                    <a:p>
                      <a:pPr algn="ctr" fontAlgn="ctr"/>
                      <a:r>
                        <a:rPr lang="zh-CN" altLang="en-US" sz="1000" b="1" i="0">
                          <a:solidFill>
                            <a:sysClr val="windowText" lastClr="000000"/>
                          </a:solidFill>
                          <a:latin typeface="微软雅黑" panose="020B0503020204020204" charset="-122"/>
                          <a:ea typeface="微软雅黑" panose="020B0503020204020204" charset="-122"/>
                        </a:rPr>
                        <a:t>景林金色中国</a:t>
                      </a:r>
                      <a:endParaRPr lang="zh-CN" altLang="en-US" sz="1000" b="1" i="0">
                        <a:solidFill>
                          <a:sysClr val="windowText" lastClr="000000"/>
                        </a:solidFill>
                        <a:latin typeface="微软雅黑" panose="020B0503020204020204" charset="-122"/>
                        <a:ea typeface="微软雅黑" panose="020B0503020204020204" charset="-122"/>
                      </a:endParaRPr>
                    </a:p>
                  </a:txBody>
                  <a:tcPr marL="9842" marR="9842" marT="9842" marB="0" anchor="ctr" anchorCtr="0">
                    <a:lnL>
                      <a:noFill/>
                    </a:lnL>
                    <a:lnR>
                      <a:noFill/>
                    </a:lnR>
                    <a:lnT w="12700">
                      <a:solidFill>
                        <a:schemeClr val="tx1"/>
                      </a:solidFill>
                      <a:prstDash val="solid"/>
                    </a:lnT>
                    <a:lnB w="12700">
                      <a:solidFill>
                        <a:schemeClr val="tx1"/>
                      </a:solidFill>
                      <a:prstDash val="solid"/>
                    </a:lnB>
                    <a:solidFill>
                      <a:srgbClr val="C0C0C0"/>
                    </a:solidFill>
                  </a:tcPr>
                </a:tc>
                <a:tc>
                  <a:txBody>
                    <a:bodyPr/>
                    <a:p>
                      <a:pPr algn="ctr" fontAlgn="ctr"/>
                      <a:r>
                        <a:rPr lang="zh-CN" altLang="en-US" sz="1000" b="1" i="0">
                          <a:solidFill>
                            <a:sysClr val="windowText" lastClr="000000"/>
                          </a:solidFill>
                          <a:latin typeface="微软雅黑" panose="020B0503020204020204" charset="-122"/>
                          <a:ea typeface="微软雅黑" panose="020B0503020204020204" charset="-122"/>
                        </a:rPr>
                        <a:t>恒生指数</a:t>
                      </a:r>
                      <a:endParaRPr lang="zh-CN" altLang="en-US" sz="1000" b="1" i="0">
                        <a:solidFill>
                          <a:sysClr val="windowText" lastClr="000000"/>
                        </a:solidFill>
                        <a:latin typeface="微软雅黑" panose="020B0503020204020204" charset="-122"/>
                        <a:ea typeface="微软雅黑" panose="020B0503020204020204" charset="-122"/>
                      </a:endParaRPr>
                    </a:p>
                  </a:txBody>
                  <a:tcPr marL="9842" marR="9842" marT="9842" marB="0" anchor="ctr" anchorCtr="0">
                    <a:lnL>
                      <a:noFill/>
                    </a:lnL>
                    <a:lnR>
                      <a:noFill/>
                    </a:lnR>
                    <a:lnT w="12700">
                      <a:solidFill>
                        <a:schemeClr val="tx1"/>
                      </a:solidFill>
                      <a:prstDash val="solid"/>
                    </a:lnT>
                    <a:lnB w="12700">
                      <a:solidFill>
                        <a:schemeClr val="tx1"/>
                      </a:solidFill>
                      <a:prstDash val="solid"/>
                    </a:lnB>
                    <a:solidFill>
                      <a:srgbClr val="C0C0C0"/>
                    </a:solidFill>
                  </a:tcPr>
                </a:tc>
                <a:tc>
                  <a:txBody>
                    <a:bodyPr/>
                    <a:p>
                      <a:pPr algn="ctr" fontAlgn="ctr"/>
                      <a:r>
                        <a:rPr lang="zh-CN" altLang="en-US" sz="1000" b="1" i="0">
                          <a:solidFill>
                            <a:sysClr val="windowText" lastClr="000000"/>
                          </a:solidFill>
                          <a:latin typeface="微软雅黑" panose="020B0503020204020204" charset="-122"/>
                          <a:ea typeface="微软雅黑" panose="020B0503020204020204" charset="-122"/>
                        </a:rPr>
                        <a:t>沪深</a:t>
                      </a:r>
                      <a:r>
                        <a:rPr lang="en-US" altLang="zh-CN" sz="1000" b="1" i="0">
                          <a:solidFill>
                            <a:sysClr val="windowText" lastClr="000000"/>
                          </a:solidFill>
                          <a:latin typeface="微软雅黑" panose="020B0503020204020204" charset="-122"/>
                          <a:ea typeface="微软雅黑" panose="020B0503020204020204" charset="-122"/>
                        </a:rPr>
                        <a:t>300</a:t>
                      </a:r>
                      <a:endParaRPr lang="en-US" altLang="zh-CN" sz="1000" b="1" i="0">
                        <a:solidFill>
                          <a:sysClr val="windowText" lastClr="000000"/>
                        </a:solidFill>
                        <a:latin typeface="微软雅黑" panose="020B0503020204020204" charset="-122"/>
                        <a:ea typeface="微软雅黑" panose="020B0503020204020204" charset="-122"/>
                      </a:endParaRPr>
                    </a:p>
                  </a:txBody>
                  <a:tcPr marL="9842" marR="9842" marT="9842" marB="0" anchor="ctr" anchorCtr="0">
                    <a:lnL>
                      <a:noFill/>
                    </a:lnL>
                    <a:lnR>
                      <a:noFill/>
                    </a:lnR>
                    <a:lnT w="12700">
                      <a:solidFill>
                        <a:schemeClr val="tx1"/>
                      </a:solidFill>
                      <a:prstDash val="solid"/>
                    </a:lnT>
                    <a:lnB w="12700">
                      <a:solidFill>
                        <a:schemeClr val="tx1"/>
                      </a:solidFill>
                      <a:prstDash val="solid"/>
                    </a:lnB>
                    <a:solidFill>
                      <a:srgbClr val="C0C0C0"/>
                    </a:solidFill>
                  </a:tcPr>
                </a:tc>
                <a:tc>
                  <a:txBody>
                    <a:bodyPr/>
                    <a:p>
                      <a:pPr algn="ctr" fontAlgn="ctr"/>
                      <a:r>
                        <a:rPr lang="zh-CN" altLang="en-US" sz="1000" b="1" i="0">
                          <a:solidFill>
                            <a:sysClr val="windowText" lastClr="000000"/>
                          </a:solidFill>
                          <a:latin typeface="微软雅黑" panose="020B0503020204020204" charset="-122"/>
                          <a:ea typeface="微软雅黑" panose="020B0503020204020204" charset="-122"/>
                        </a:rPr>
                        <a:t>标普</a:t>
                      </a:r>
                      <a:r>
                        <a:rPr lang="en-US" altLang="zh-CN" sz="1000" b="1" i="0">
                          <a:solidFill>
                            <a:sysClr val="windowText" lastClr="000000"/>
                          </a:solidFill>
                          <a:latin typeface="微软雅黑" panose="020B0503020204020204" charset="-122"/>
                          <a:ea typeface="微软雅黑" panose="020B0503020204020204" charset="-122"/>
                        </a:rPr>
                        <a:t>500</a:t>
                      </a:r>
                      <a:endParaRPr lang="en-US" altLang="zh-CN" sz="1000" b="1" i="0">
                        <a:solidFill>
                          <a:sysClr val="windowText" lastClr="000000"/>
                        </a:solidFill>
                        <a:latin typeface="微软雅黑" panose="020B0503020204020204" charset="-122"/>
                        <a:ea typeface="微软雅黑" panose="020B0503020204020204" charset="-122"/>
                      </a:endParaRPr>
                    </a:p>
                  </a:txBody>
                  <a:tcPr marL="9842" marR="9842" marT="9842" marB="0" anchor="ctr" anchorCtr="0">
                    <a:lnL>
                      <a:noFill/>
                    </a:lnL>
                    <a:lnR>
                      <a:noFill/>
                    </a:lnR>
                    <a:lnT w="12700">
                      <a:solidFill>
                        <a:schemeClr val="tx1"/>
                      </a:solidFill>
                      <a:prstDash val="solid"/>
                    </a:lnT>
                    <a:lnB w="12700">
                      <a:solidFill>
                        <a:schemeClr val="tx1"/>
                      </a:solidFill>
                      <a:prstDash val="solid"/>
                    </a:lnB>
                    <a:solidFill>
                      <a:srgbClr val="C0C0C0"/>
                    </a:solidFill>
                  </a:tcPr>
                </a:tc>
              </a:tr>
              <a:tr h="170180">
                <a:tc>
                  <a:txBody>
                    <a:bodyPr/>
                    <a:p>
                      <a:pPr algn="ctr" fontAlgn="b"/>
                      <a:r>
                        <a:rPr lang="zh-CN" altLang="en-US" sz="1000" b="1" i="0">
                          <a:solidFill>
                            <a:srgbClr val="000000"/>
                          </a:solidFill>
                          <a:latin typeface="微软雅黑" panose="020B0503020204020204" charset="-122"/>
                          <a:ea typeface="微软雅黑" panose="020B0503020204020204" charset="-122"/>
                        </a:rPr>
                        <a:t>成立日期</a:t>
                      </a:r>
                      <a:endParaRPr lang="zh-CN" altLang="en-US"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w="12700">
                      <a:solidFill>
                        <a:schemeClr val="tx1"/>
                      </a:solidFill>
                      <a:prstDash val="solid"/>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2004/7/1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w="12700">
                      <a:solidFill>
                        <a:schemeClr val="tx1"/>
                      </a:solidFill>
                      <a:prstDash val="solid"/>
                    </a:lnT>
                    <a:lnB>
                      <a:noFill/>
                    </a:lnB>
                    <a:noFill/>
                  </a:tcPr>
                </a:tc>
                <a:tc>
                  <a:txBody>
                    <a:bodyPr/>
                    <a:p>
                      <a:pPr algn="ctr" fontAlgn="b"/>
                      <a:endParaRPr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w="12700">
                      <a:solidFill>
                        <a:schemeClr val="tx1"/>
                      </a:solidFill>
                      <a:prstDash val="solid"/>
                    </a:lnT>
                    <a:lnB>
                      <a:noFill/>
                    </a:lnB>
                    <a:noFill/>
                  </a:tcPr>
                </a:tc>
                <a:tc>
                  <a:txBody>
                    <a:bodyPr/>
                    <a:p>
                      <a:pPr algn="l" fontAlgn="b"/>
                      <a:endParaRPr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w="12700">
                      <a:solidFill>
                        <a:schemeClr val="tx1"/>
                      </a:solidFill>
                      <a:prstDash val="solid"/>
                    </a:lnT>
                    <a:lnB>
                      <a:noFill/>
                    </a:lnB>
                    <a:noFill/>
                  </a:tcPr>
                </a:tc>
                <a:tc>
                  <a:txBody>
                    <a:bodyPr/>
                    <a:p>
                      <a:pPr algn="l" fontAlgn="b"/>
                      <a:endParaRPr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w="12700">
                      <a:solidFill>
                        <a:schemeClr val="tx1"/>
                      </a:solidFill>
                      <a:prstDash val="solid"/>
                    </a:lnT>
                    <a:lnB>
                      <a:noFill/>
                    </a:lnB>
                    <a:noFill/>
                  </a:tcPr>
                </a:tc>
              </a:tr>
              <a:tr h="170180">
                <a:tc>
                  <a:txBody>
                    <a:bodyPr/>
                    <a:p>
                      <a:pPr algn="ctr" fontAlgn="b"/>
                      <a:r>
                        <a:rPr lang="zh-CN" altLang="en-US" sz="1000" b="1" i="0">
                          <a:solidFill>
                            <a:srgbClr val="000000"/>
                          </a:solidFill>
                          <a:latin typeface="微软雅黑" panose="020B0503020204020204" charset="-122"/>
                          <a:ea typeface="微软雅黑" panose="020B0503020204020204" charset="-122"/>
                        </a:rPr>
                        <a:t>最新净值</a:t>
                      </a:r>
                      <a:endParaRPr lang="zh-CN" altLang="en-US"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32.02 </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1.63 </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3.54 </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5.21 </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180">
                <a:tc>
                  <a:txBody>
                    <a:bodyPr/>
                    <a:p>
                      <a:pPr algn="ctr" fontAlgn="b"/>
                      <a:r>
                        <a:rPr lang="zh-CN" altLang="en-US" sz="1000" b="1" i="0">
                          <a:solidFill>
                            <a:srgbClr val="000000"/>
                          </a:solidFill>
                          <a:latin typeface="微软雅黑" panose="020B0503020204020204" charset="-122"/>
                          <a:ea typeface="微软雅黑" panose="020B0503020204020204" charset="-122"/>
                        </a:rPr>
                        <a:t>成立以来收益率</a:t>
                      </a:r>
                      <a:endParaRPr lang="zh-CN" altLang="en-US"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3101.8%</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63.3%</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253.7%</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421.0%</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1450">
                <a:tc>
                  <a:txBody>
                    <a:bodyPr/>
                    <a:p>
                      <a:pPr algn="ctr" fontAlgn="b"/>
                      <a:r>
                        <a:rPr lang="zh-CN" altLang="en-US" sz="1000" b="1" i="0">
                          <a:solidFill>
                            <a:srgbClr val="000000"/>
                          </a:solidFill>
                          <a:latin typeface="微软雅黑" panose="020B0503020204020204" charset="-122"/>
                          <a:ea typeface="微软雅黑" panose="020B0503020204020204" charset="-122"/>
                        </a:rPr>
                        <a:t>年化收益率</a:t>
                      </a:r>
                      <a:endParaRPr lang="zh-CN" altLang="en-US"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18.4%</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2.4%</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6.4%</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8.4%</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69545">
                <a:tc>
                  <a:txBody>
                    <a:bodyPr/>
                    <a:p>
                      <a:pPr algn="ctr" fontAlgn="b"/>
                      <a:r>
                        <a:rPr lang="zh-CN" altLang="en-US" sz="1000" b="1" i="0">
                          <a:solidFill>
                            <a:srgbClr val="000000"/>
                          </a:solidFill>
                          <a:latin typeface="微软雅黑" panose="020B0503020204020204" charset="-122"/>
                          <a:ea typeface="微软雅黑" panose="020B0503020204020204" charset="-122"/>
                        </a:rPr>
                        <a:t>最大回撤（月度）</a:t>
                      </a:r>
                      <a:endParaRPr lang="zh-CN" altLang="en-US"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-64.6%</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-59.1%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-70.8%</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-52.6%</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815">
                <a:tc>
                  <a:txBody>
                    <a:bodyPr/>
                    <a:p>
                      <a:pPr algn="ctr" fontAlgn="b"/>
                      <a:r>
                        <a:rPr lang="zh-CN" altLang="en-US" sz="1000" b="1" i="0">
                          <a:solidFill>
                            <a:srgbClr val="000000"/>
                          </a:solidFill>
                          <a:latin typeface="微软雅黑" panose="020B0503020204020204" charset="-122"/>
                          <a:ea typeface="微软雅黑" panose="020B0503020204020204" charset="-122"/>
                        </a:rPr>
                        <a:t>波动率</a:t>
                      </a:r>
                      <a:endParaRPr lang="zh-CN" altLang="en-US"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23.5%</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21.1%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27.2%</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14.8%</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815">
                <a:tc>
                  <a:txBody>
                    <a:bodyPr/>
                    <a:p>
                      <a:pPr algn="ctr" fontAlgn="b"/>
                      <a:r>
                        <a:rPr lang="zh-CN" altLang="en-US" sz="1000" b="1" i="0">
                          <a:solidFill>
                            <a:srgbClr val="000000"/>
                          </a:solidFill>
                          <a:latin typeface="微软雅黑" panose="020B0503020204020204" charset="-122"/>
                          <a:ea typeface="微软雅黑" panose="020B0503020204020204" charset="-122"/>
                        </a:rPr>
                        <a:t>夏普比例</a:t>
                      </a:r>
                      <a:endParaRPr lang="zh-CN" altLang="en-US"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0.72 </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0.04 </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0.18 </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0.46 </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180">
                <a:tc>
                  <a:txBody>
                    <a:bodyPr/>
                    <a:p>
                      <a:pPr algn="ctr" fontAlgn="b"/>
                      <a:r>
                        <a:rPr lang="en-US" altLang="zh-CN" sz="1000" b="1" i="0">
                          <a:solidFill>
                            <a:srgbClr val="000000"/>
                          </a:solidFill>
                          <a:latin typeface="微软雅黑" panose="020B0503020204020204" charset="-122"/>
                          <a:ea typeface="微软雅黑" panose="020B0503020204020204" charset="-122"/>
                        </a:rPr>
                        <a:t>2004</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14.58%</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15.83%</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-10.10%</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7.35%</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815">
                <a:tc>
                  <a:txBody>
                    <a:bodyPr/>
                    <a:p>
                      <a:pPr algn="ctr" fontAlgn="b"/>
                      <a:r>
                        <a:rPr lang="en-US" altLang="zh-CN" sz="1000" b="1" i="0">
                          <a:solidFill>
                            <a:srgbClr val="000000"/>
                          </a:solidFill>
                          <a:latin typeface="微软雅黑" panose="020B0503020204020204" charset="-122"/>
                          <a:ea typeface="微软雅黑" panose="020B0503020204020204" charset="-122"/>
                        </a:rPr>
                        <a:t>2005</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32.85%</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4.54%</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-7.65%</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3.00%</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180">
                <a:tc>
                  <a:txBody>
                    <a:bodyPr/>
                    <a:p>
                      <a:pPr algn="ctr" fontAlgn="b"/>
                      <a:r>
                        <a:rPr lang="en-US" altLang="zh-CN" sz="1000" b="1" i="0">
                          <a:solidFill>
                            <a:srgbClr val="000000"/>
                          </a:solidFill>
                          <a:latin typeface="微软雅黑" panose="020B0503020204020204" charset="-122"/>
                          <a:ea typeface="微软雅黑" panose="020B0503020204020204" charset="-122"/>
                        </a:rPr>
                        <a:t>2006</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92.41%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34.20%</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121.02%</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13.62%</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815">
                <a:tc>
                  <a:txBody>
                    <a:bodyPr/>
                    <a:p>
                      <a:pPr algn="ctr" fontAlgn="b"/>
                      <a:r>
                        <a:rPr lang="en-US" altLang="zh-CN" sz="1000" b="1" i="0">
                          <a:solidFill>
                            <a:srgbClr val="000000"/>
                          </a:solidFill>
                          <a:latin typeface="微软雅黑" panose="020B0503020204020204" charset="-122"/>
                          <a:ea typeface="微软雅黑" panose="020B0503020204020204" charset="-122"/>
                        </a:rPr>
                        <a:t>2007</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100.26%</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39.31%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161.55%</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3.53%</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69545">
                <a:tc>
                  <a:txBody>
                    <a:bodyPr/>
                    <a:p>
                      <a:pPr algn="ctr" fontAlgn="b"/>
                      <a:r>
                        <a:rPr lang="en-US" altLang="zh-CN" sz="1000" b="1" i="0">
                          <a:solidFill>
                            <a:srgbClr val="000000"/>
                          </a:solidFill>
                          <a:latin typeface="微软雅黑" panose="020B0503020204020204" charset="-122"/>
                          <a:ea typeface="微软雅黑" panose="020B0503020204020204" charset="-122"/>
                        </a:rPr>
                        <a:t>2008</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-55.57%</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-48.27%</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-65.95%</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-38.49%</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1450">
                <a:tc>
                  <a:txBody>
                    <a:bodyPr/>
                    <a:p>
                      <a:pPr algn="ctr" fontAlgn="b"/>
                      <a:r>
                        <a:rPr lang="en-US" altLang="zh-CN" sz="1000" b="1" i="0">
                          <a:solidFill>
                            <a:srgbClr val="000000"/>
                          </a:solidFill>
                          <a:latin typeface="微软雅黑" panose="020B0503020204020204" charset="-122"/>
                          <a:ea typeface="微软雅黑" panose="020B0503020204020204" charset="-122"/>
                        </a:rPr>
                        <a:t>2009</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148.36%</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52.02%</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96.71%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23.45%</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180">
                <a:tc>
                  <a:txBody>
                    <a:bodyPr/>
                    <a:p>
                      <a:pPr algn="ctr" fontAlgn="b"/>
                      <a:r>
                        <a:rPr lang="en-US" altLang="zh-CN" sz="1000" b="1" i="0">
                          <a:solidFill>
                            <a:srgbClr val="000000"/>
                          </a:solidFill>
                          <a:latin typeface="微软雅黑" panose="020B0503020204020204" charset="-122"/>
                          <a:ea typeface="微软雅黑" panose="020B0503020204020204" charset="-122"/>
                        </a:rPr>
                        <a:t>2010</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13.17%</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5.32%</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-12.51%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12.78%</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69545">
                <a:tc>
                  <a:txBody>
                    <a:bodyPr/>
                    <a:p>
                      <a:pPr algn="ctr" fontAlgn="b"/>
                      <a:r>
                        <a:rPr lang="en-US" altLang="zh-CN" sz="1000" b="1" i="0">
                          <a:solidFill>
                            <a:srgbClr val="000000"/>
                          </a:solidFill>
                          <a:latin typeface="微软雅黑" panose="020B0503020204020204" charset="-122"/>
                          <a:ea typeface="微软雅黑" panose="020B0503020204020204" charset="-122"/>
                        </a:rPr>
                        <a:t>2011</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-3.90%</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-19.97%</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-25.01%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0.00%</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815">
                <a:tc>
                  <a:txBody>
                    <a:bodyPr/>
                    <a:p>
                      <a:pPr algn="ctr" fontAlgn="b"/>
                      <a:r>
                        <a:rPr lang="en-US" altLang="zh-CN" sz="1000" b="1" i="0">
                          <a:solidFill>
                            <a:srgbClr val="000000"/>
                          </a:solidFill>
                          <a:latin typeface="微软雅黑" panose="020B0503020204020204" charset="-122"/>
                          <a:ea typeface="微软雅黑" panose="020B0503020204020204" charset="-122"/>
                        </a:rPr>
                        <a:t>2012</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26.91%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22.91%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7.55%</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13.41%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180">
                <a:tc>
                  <a:txBody>
                    <a:bodyPr/>
                    <a:p>
                      <a:pPr algn="ctr" fontAlgn="b"/>
                      <a:r>
                        <a:rPr lang="en-US" altLang="zh-CN" sz="1000" b="1" i="0">
                          <a:solidFill>
                            <a:srgbClr val="000000"/>
                          </a:solidFill>
                          <a:latin typeface="微软雅黑" panose="020B0503020204020204" charset="-122"/>
                          <a:ea typeface="微软雅黑" panose="020B0503020204020204" charset="-122"/>
                        </a:rPr>
                        <a:t>2013</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17.45%</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2.87%</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-7.65%</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29.60%</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815">
                <a:tc>
                  <a:txBody>
                    <a:bodyPr/>
                    <a:p>
                      <a:pPr algn="ctr" fontAlgn="b"/>
                      <a:r>
                        <a:rPr lang="en-US" altLang="zh-CN" sz="1000" b="1" i="0">
                          <a:solidFill>
                            <a:srgbClr val="000000"/>
                          </a:solidFill>
                          <a:latin typeface="微软雅黑" panose="020B0503020204020204" charset="-122"/>
                          <a:ea typeface="微软雅黑" panose="020B0503020204020204" charset="-122"/>
                        </a:rPr>
                        <a:t>2014</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30.01%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1.28%</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51.66%</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11.39%</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180">
                <a:tc>
                  <a:txBody>
                    <a:bodyPr/>
                    <a:p>
                      <a:pPr algn="ctr" fontAlgn="b"/>
                      <a:r>
                        <a:rPr lang="en-US" altLang="zh-CN" sz="1000" b="1" i="0">
                          <a:solidFill>
                            <a:srgbClr val="000000"/>
                          </a:solidFill>
                          <a:latin typeface="微软雅黑" panose="020B0503020204020204" charset="-122"/>
                          <a:ea typeface="微软雅黑" panose="020B0503020204020204" charset="-122"/>
                        </a:rPr>
                        <a:t>2015</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21.94%</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-7.16%</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5.58%</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-0.73%</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815">
                <a:tc>
                  <a:txBody>
                    <a:bodyPr/>
                    <a:p>
                      <a:pPr algn="ctr" fontAlgn="b"/>
                      <a:r>
                        <a:rPr lang="en-US" altLang="zh-CN" sz="1000" b="1" i="0">
                          <a:solidFill>
                            <a:srgbClr val="000000"/>
                          </a:solidFill>
                          <a:latin typeface="微软雅黑" panose="020B0503020204020204" charset="-122"/>
                          <a:ea typeface="微软雅黑" panose="020B0503020204020204" charset="-122"/>
                        </a:rPr>
                        <a:t>2016</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-7.97%</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0.39%</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-11.28%</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9.54%</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815">
                <a:tc>
                  <a:txBody>
                    <a:bodyPr/>
                    <a:p>
                      <a:pPr algn="ctr" fontAlgn="b"/>
                      <a:r>
                        <a:rPr lang="en-US" altLang="zh-CN" sz="1000" b="1" i="0">
                          <a:solidFill>
                            <a:srgbClr val="000000"/>
                          </a:solidFill>
                          <a:latin typeface="微软雅黑" panose="020B0503020204020204" charset="-122"/>
                          <a:ea typeface="微软雅黑" panose="020B0503020204020204" charset="-122"/>
                        </a:rPr>
                        <a:t>2017</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52.11%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35.99%</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21.78%</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19.42%</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69545">
                <a:tc>
                  <a:txBody>
                    <a:bodyPr/>
                    <a:p>
                      <a:pPr algn="ctr" fontAlgn="b"/>
                      <a:r>
                        <a:rPr lang="en-US" altLang="zh-CN" sz="1000" b="1" i="0">
                          <a:solidFill>
                            <a:srgbClr val="000000"/>
                          </a:solidFill>
                          <a:latin typeface="微软雅黑" panose="020B0503020204020204" charset="-122"/>
                          <a:ea typeface="微软雅黑" panose="020B0503020204020204" charset="-122"/>
                        </a:rPr>
                        <a:t>2018</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-22.89%</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-13.61%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-25.31%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-6.24%</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1450">
                <a:tc>
                  <a:txBody>
                    <a:bodyPr/>
                    <a:p>
                      <a:pPr algn="ctr" fontAlgn="b"/>
                      <a:r>
                        <a:rPr lang="en-US" altLang="zh-CN" sz="1000" b="1" i="0">
                          <a:solidFill>
                            <a:srgbClr val="000000"/>
                          </a:solidFill>
                          <a:latin typeface="微软雅黑" panose="020B0503020204020204" charset="-122"/>
                          <a:ea typeface="微软雅黑" panose="020B0503020204020204" charset="-122"/>
                        </a:rPr>
                        <a:t>2019</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47.34%</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9.07%</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36.07%</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28.88%</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180">
                <a:tc>
                  <a:txBody>
                    <a:bodyPr/>
                    <a:p>
                      <a:pPr algn="ctr" fontAlgn="b"/>
                      <a:r>
                        <a:rPr lang="en-US" altLang="zh-CN" sz="1000" b="1" i="0">
                          <a:solidFill>
                            <a:srgbClr val="000000"/>
                          </a:solidFill>
                          <a:latin typeface="微软雅黑" panose="020B0503020204020204" charset="-122"/>
                          <a:ea typeface="微软雅黑" panose="020B0503020204020204" charset="-122"/>
                        </a:rPr>
                        <a:t>2020</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27.89%</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-3.40%</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27.21%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16.26%</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180">
                <a:tc>
                  <a:txBody>
                    <a:bodyPr/>
                    <a:p>
                      <a:pPr algn="ctr" fontAlgn="b"/>
                      <a:r>
                        <a:rPr lang="en-US" altLang="zh-CN" sz="1000" b="1" i="0">
                          <a:solidFill>
                            <a:srgbClr val="000000"/>
                          </a:solidFill>
                          <a:latin typeface="微软雅黑" panose="020B0503020204020204" charset="-122"/>
                          <a:ea typeface="微软雅黑" panose="020B0503020204020204" charset="-122"/>
                        </a:rPr>
                        <a:t>2021</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-7.41%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-14.08%</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-5.20%</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26.89%</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180">
                <a:tc>
                  <a:txBody>
                    <a:bodyPr/>
                    <a:p>
                      <a:pPr algn="ctr" fontAlgn="b"/>
                      <a:r>
                        <a:rPr lang="en-US" altLang="zh-CN" sz="1000" b="1" i="0">
                          <a:solidFill>
                            <a:srgbClr val="000000"/>
                          </a:solidFill>
                          <a:latin typeface="微软雅黑" panose="020B0503020204020204" charset="-122"/>
                          <a:ea typeface="微软雅黑" panose="020B0503020204020204" charset="-122"/>
                        </a:rPr>
                        <a:t>2022</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-20.64%</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-15.46%</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-21.63%</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-19.44%</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815">
                <a:tc>
                  <a:txBody>
                    <a:bodyPr/>
                    <a:p>
                      <a:pPr algn="ctr" fontAlgn="b"/>
                      <a:r>
                        <a:rPr lang="en-US" altLang="zh-CN" sz="1000" b="1" i="0">
                          <a:solidFill>
                            <a:srgbClr val="000000"/>
                          </a:solidFill>
                          <a:latin typeface="微软雅黑" panose="020B0503020204020204" charset="-122"/>
                          <a:ea typeface="微软雅黑" panose="020B0503020204020204" charset="-122"/>
                        </a:rPr>
                        <a:t>2023</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6.98%</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-13.82%</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-11.38%</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24.23%</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a:noFill/>
                    </a:lnB>
                    <a:noFill/>
                  </a:tcPr>
                </a:tc>
              </a:tr>
              <a:tr h="170180">
                <a:tc>
                  <a:txBody>
                    <a:bodyPr/>
                    <a:p>
                      <a:pPr algn="ctr" fontAlgn="b"/>
                      <a:r>
                        <a:rPr lang="en-US" altLang="zh-CN" sz="1000" b="1" i="0">
                          <a:solidFill>
                            <a:srgbClr val="000000"/>
                          </a:solidFill>
                          <a:latin typeface="微软雅黑" panose="020B0503020204020204" charset="-122"/>
                          <a:ea typeface="微软雅黑" panose="020B0503020204020204" charset="-122"/>
                        </a:rPr>
                        <a:t>2024</a:t>
                      </a:r>
                      <a:endParaRPr lang="en-US" altLang="zh-CN" sz="1000" b="1"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w="12700">
                      <a:solidFill>
                        <a:schemeClr val="tx1"/>
                      </a:solidFill>
                      <a:prstDash val="solid"/>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20.37%</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w="12700">
                      <a:solidFill>
                        <a:schemeClr val="tx1"/>
                      </a:solidFill>
                      <a:prstDash val="solid"/>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17.67%</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w="12700">
                      <a:solidFill>
                        <a:schemeClr val="tx1"/>
                      </a:solidFill>
                      <a:prstDash val="solid"/>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14.68%</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w="12700">
                      <a:solidFill>
                        <a:schemeClr val="tx1"/>
                      </a:solidFill>
                      <a:prstDash val="solid"/>
                    </a:lnB>
                    <a:noFill/>
                  </a:tcPr>
                </a:tc>
                <a:tc>
                  <a:txBody>
                    <a:bodyPr/>
                    <a:p>
                      <a:pPr algn="ctr" fontAlgn="b"/>
                      <a:r>
                        <a:rPr lang="en-US" altLang="zh-CN" sz="1000" b="0" i="0">
                          <a:solidFill>
                            <a:srgbClr val="000000"/>
                          </a:solidFill>
                          <a:latin typeface="微软雅黑" panose="020B0503020204020204" charset="-122"/>
                          <a:ea typeface="微软雅黑" panose="020B0503020204020204" charset="-122"/>
                        </a:rPr>
                        <a:t>23.31%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lnL>
                      <a:noFill/>
                    </a:lnL>
                    <a:lnR>
                      <a:noFill/>
                    </a:lnR>
                    <a:lnT>
                      <a:noFill/>
                    </a:lnT>
                    <a:lnB w="12700">
                      <a:solidFill>
                        <a:schemeClr val="tx1"/>
                      </a:solidFill>
                      <a:prstDash val="solid"/>
                    </a:lnB>
                    <a:noFill/>
                  </a:tcPr>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表 2"/>
          <p:cNvGraphicFramePr/>
          <p:nvPr/>
        </p:nvGraphicFramePr>
        <p:xfrm>
          <a:off x="730885" y="1896110"/>
          <a:ext cx="10514965" cy="4518660"/>
        </p:xfrm>
        <a:graphic>
          <a:graphicData uri="http://schemas.openxmlformats.org/drawingml/2006/chart">
            <c:chart xmlns:c="http://schemas.openxmlformats.org/drawingml/2006/chart" xmlns:r="http://schemas.openxmlformats.org/officeDocument/2006/relationships" r:id="rId1"/>
          </a:graphicData>
        </a:graphic>
      </p:graphicFrame>
      <p:sp>
        <p:nvSpPr>
          <p:cNvPr id="7" name="文本框 6"/>
          <p:cNvSpPr txBox="1"/>
          <p:nvPr/>
        </p:nvSpPr>
        <p:spPr>
          <a:xfrm>
            <a:off x="314325" y="6585544"/>
            <a:ext cx="4314825" cy="213995"/>
          </a:xfrm>
          <a:prstGeom prst="rect">
            <a:avLst/>
          </a:prstGeom>
          <a:noFill/>
        </p:spPr>
        <p:txBody>
          <a:bodyPr wrap="square" rtlCol="0">
            <a:spAutoFit/>
          </a:bodyPr>
          <a:lstStyle>
            <a:defPPr>
              <a:defRPr lang="zh-CN"/>
            </a:defPPr>
            <a:lvl1pPr>
              <a:defRPr sz="800">
                <a:latin typeface="+mn-ea"/>
              </a:defRPr>
            </a:lvl1pPr>
          </a:lstStyle>
          <a:p>
            <a:r>
              <a:rPr lang="zh-CN" altLang="en-US" dirty="0"/>
              <a:t>数据来源：诺亚，申购、赎回均按确认日的金额统计</a:t>
            </a:r>
            <a:endParaRPr lang="zh-CN" altLang="en-US" dirty="0"/>
          </a:p>
        </p:txBody>
      </p:sp>
      <p:sp>
        <p:nvSpPr>
          <p:cNvPr id="4" name="矩形 3"/>
          <p:cNvSpPr/>
          <p:nvPr/>
        </p:nvSpPr>
        <p:spPr>
          <a:xfrm>
            <a:off x="415910" y="835486"/>
            <a:ext cx="10829823" cy="1060450"/>
          </a:xfrm>
          <a:prstGeom prst="rect">
            <a:avLst/>
          </a:prstGeom>
          <a:solidFill>
            <a:schemeClr val="bg1">
              <a:lumMod val="95000"/>
            </a:schemeClr>
          </a:solidFill>
        </p:spPr>
        <p:txBody>
          <a:bodyPr wrap="square">
            <a:spAutoFit/>
          </a:bodyPr>
          <a:lstStyle/>
          <a:p>
            <a:pPr marL="298450" indent="-285750" algn="l">
              <a:lnSpc>
                <a:spcPct val="150000"/>
              </a:lnSpc>
              <a:buClrTx/>
              <a:buSzTx/>
              <a:buFont typeface="Arial" panose="020B0604020202020204" pitchFamily="34" charset="0"/>
              <a:buChar char="•"/>
              <a:defRPr/>
            </a:pPr>
            <a:r>
              <a:rPr lang="zh-CN" altLang="en-US" sz="1400" noProof="0" dirty="0" smtClean="0">
                <a:ln>
                  <a:noFill/>
                </a:ln>
                <a:solidFill>
                  <a:prstClr val="black"/>
                </a:solidFill>
                <a:effectLst/>
                <a:uLnTx/>
                <a:uFillTx/>
                <a:latin typeface="等线 Light" panose="02010600030101010101" charset="-122"/>
                <a:ea typeface="等线 Light" panose="02010600030101010101" charset="-122"/>
                <a:cs typeface="+mn-ea"/>
              </a:rPr>
              <a:t>金色中国申购量集中在2020年-2022年7月，也是净值曲线的高点。</a:t>
            </a:r>
            <a:endParaRPr lang="zh-CN" altLang="en-US" sz="1400" noProof="0" dirty="0" smtClean="0">
              <a:ln>
                <a:noFill/>
              </a:ln>
              <a:solidFill>
                <a:prstClr val="black"/>
              </a:solidFill>
              <a:effectLst/>
              <a:uLnTx/>
              <a:uFillTx/>
              <a:latin typeface="等线 Light" panose="02010600030101010101" charset="-122"/>
              <a:ea typeface="等线 Light" panose="02010600030101010101" charset="-122"/>
              <a:cs typeface="+mn-ea"/>
            </a:endParaRPr>
          </a:p>
          <a:p>
            <a:pPr marL="298450" indent="-285750" algn="l">
              <a:lnSpc>
                <a:spcPct val="150000"/>
              </a:lnSpc>
              <a:buClrTx/>
              <a:buSzTx/>
              <a:buFont typeface="Arial" panose="020B0604020202020204" pitchFamily="34" charset="0"/>
              <a:buChar char="•"/>
              <a:defRPr/>
            </a:pPr>
            <a:r>
              <a:rPr lang="zh-CN" altLang="en-US" sz="1400" noProof="0" dirty="0" smtClean="0">
                <a:ln>
                  <a:noFill/>
                </a:ln>
                <a:solidFill>
                  <a:prstClr val="black"/>
                </a:solidFill>
                <a:effectLst/>
                <a:uLnTx/>
                <a:uFillTx/>
                <a:latin typeface="等线 Light" panose="02010600030101010101" charset="-122"/>
                <a:ea typeface="等线 Light" panose="02010600030101010101" charset="-122"/>
                <a:cs typeface="+mn-ea"/>
              </a:rPr>
              <a:t>截至2024年12月底，诺亚线上持有总成本约USD 2.</a:t>
            </a:r>
            <a:r>
              <a:rPr lang="en-US" altLang="zh-CN" sz="1400" noProof="0" dirty="0" smtClean="0">
                <a:ln>
                  <a:noFill/>
                </a:ln>
                <a:solidFill>
                  <a:prstClr val="black"/>
                </a:solidFill>
                <a:effectLst/>
                <a:uLnTx/>
                <a:uFillTx/>
                <a:latin typeface="等线 Light" panose="02010600030101010101" charset="-122"/>
                <a:ea typeface="等线 Light" panose="02010600030101010101" charset="-122"/>
                <a:cs typeface="+mn-ea"/>
              </a:rPr>
              <a:t>86</a:t>
            </a:r>
            <a:r>
              <a:rPr lang="zh-CN" altLang="en-US" sz="1400" noProof="0" dirty="0" smtClean="0">
                <a:ln>
                  <a:noFill/>
                </a:ln>
                <a:solidFill>
                  <a:prstClr val="black"/>
                </a:solidFill>
                <a:effectLst/>
                <a:uLnTx/>
                <a:uFillTx/>
                <a:latin typeface="等线 Light" panose="02010600030101010101" charset="-122"/>
                <a:ea typeface="等线 Light" panose="02010600030101010101" charset="-122"/>
                <a:cs typeface="+mn-ea"/>
              </a:rPr>
              <a:t>亿，总体浮盈 USD 4,</a:t>
            </a:r>
            <a:r>
              <a:rPr lang="en-US" altLang="zh-CN" sz="1400" noProof="0" dirty="0" smtClean="0">
                <a:ln>
                  <a:noFill/>
                </a:ln>
                <a:solidFill>
                  <a:prstClr val="black"/>
                </a:solidFill>
                <a:effectLst/>
                <a:uLnTx/>
                <a:uFillTx/>
                <a:latin typeface="等线 Light" panose="02010600030101010101" charset="-122"/>
                <a:ea typeface="等线 Light" panose="02010600030101010101" charset="-122"/>
                <a:cs typeface="+mn-ea"/>
              </a:rPr>
              <a:t>025</a:t>
            </a:r>
            <a:r>
              <a:rPr lang="zh-CN" altLang="en-US" sz="1400" noProof="0" dirty="0" smtClean="0">
                <a:ln>
                  <a:noFill/>
                </a:ln>
                <a:solidFill>
                  <a:prstClr val="black"/>
                </a:solidFill>
                <a:effectLst/>
                <a:uLnTx/>
                <a:uFillTx/>
                <a:latin typeface="等线 Light" panose="02010600030101010101" charset="-122"/>
                <a:ea typeface="等线 Light" panose="02010600030101010101" charset="-122"/>
                <a:cs typeface="+mn-ea"/>
              </a:rPr>
              <a:t>万 (+1</a:t>
            </a:r>
            <a:r>
              <a:rPr lang="en-US" altLang="zh-CN" sz="1400" noProof="0" dirty="0" smtClean="0">
                <a:ln>
                  <a:noFill/>
                </a:ln>
                <a:solidFill>
                  <a:prstClr val="black"/>
                </a:solidFill>
                <a:effectLst/>
                <a:uLnTx/>
                <a:uFillTx/>
                <a:latin typeface="等线 Light" panose="02010600030101010101" charset="-122"/>
                <a:ea typeface="等线 Light" panose="02010600030101010101" charset="-122"/>
                <a:cs typeface="+mn-ea"/>
              </a:rPr>
              <a:t>2</a:t>
            </a:r>
            <a:r>
              <a:rPr lang="zh-CN" altLang="en-US" sz="1400" noProof="0" dirty="0" smtClean="0">
                <a:ln>
                  <a:noFill/>
                </a:ln>
                <a:solidFill>
                  <a:prstClr val="black"/>
                </a:solidFill>
                <a:effectLst/>
                <a:uLnTx/>
                <a:uFillTx/>
                <a:latin typeface="等线 Light" panose="02010600030101010101" charset="-122"/>
                <a:ea typeface="等线 Light" panose="02010600030101010101" charset="-122"/>
                <a:cs typeface="+mn-ea"/>
              </a:rPr>
              <a:t>.</a:t>
            </a:r>
            <a:r>
              <a:rPr lang="en-US" altLang="zh-CN" sz="1400" noProof="0" dirty="0" smtClean="0">
                <a:ln>
                  <a:noFill/>
                </a:ln>
                <a:solidFill>
                  <a:prstClr val="black"/>
                </a:solidFill>
                <a:effectLst/>
                <a:uLnTx/>
                <a:uFillTx/>
                <a:latin typeface="等线 Light" panose="02010600030101010101" charset="-122"/>
                <a:ea typeface="等线 Light" panose="02010600030101010101" charset="-122"/>
                <a:cs typeface="+mn-ea"/>
              </a:rPr>
              <a:t>86</a:t>
            </a:r>
            <a:r>
              <a:rPr lang="zh-CN" altLang="en-US" sz="1400" noProof="0" dirty="0" smtClean="0">
                <a:ln>
                  <a:noFill/>
                </a:ln>
                <a:solidFill>
                  <a:prstClr val="black"/>
                </a:solidFill>
                <a:effectLst/>
                <a:uLnTx/>
                <a:uFillTx/>
                <a:latin typeface="等线 Light" panose="02010600030101010101" charset="-122"/>
                <a:ea typeface="等线 Light" panose="02010600030101010101" charset="-122"/>
                <a:cs typeface="+mn-ea"/>
              </a:rPr>
              <a:t>%)。</a:t>
            </a:r>
            <a:endParaRPr lang="zh-CN" altLang="en-US" sz="1400" noProof="0" dirty="0" smtClean="0">
              <a:ln>
                <a:noFill/>
              </a:ln>
              <a:solidFill>
                <a:prstClr val="black"/>
              </a:solidFill>
              <a:effectLst/>
              <a:uLnTx/>
              <a:uFillTx/>
              <a:latin typeface="等线 Light" panose="02010600030101010101" charset="-122"/>
              <a:ea typeface="等线 Light" panose="02010600030101010101" charset="-122"/>
              <a:cs typeface="+mn-ea"/>
            </a:endParaRPr>
          </a:p>
          <a:p>
            <a:pPr marL="298450" indent="-285750" algn="l">
              <a:lnSpc>
                <a:spcPct val="150000"/>
              </a:lnSpc>
              <a:buClrTx/>
              <a:buSzTx/>
              <a:buFont typeface="Arial" panose="020B0604020202020204" pitchFamily="34" charset="0"/>
              <a:buChar char="•"/>
              <a:defRPr/>
            </a:pPr>
            <a:r>
              <a:rPr lang="zh-CN" altLang="en-US" sz="1400" noProof="0" dirty="0" smtClean="0">
                <a:ln>
                  <a:noFill/>
                </a:ln>
                <a:solidFill>
                  <a:prstClr val="black"/>
                </a:solidFill>
                <a:effectLst/>
                <a:uLnTx/>
                <a:uFillTx/>
                <a:latin typeface="等线 Light" panose="02010600030101010101" charset="-122"/>
                <a:ea typeface="等线 Light" panose="02010600030101010101" charset="-122"/>
                <a:cs typeface="+mn-ea"/>
              </a:rPr>
              <a:t>总共约5</a:t>
            </a:r>
            <a:r>
              <a:rPr lang="en-US" altLang="zh-CN" sz="1400" noProof="0" dirty="0" smtClean="0">
                <a:ln>
                  <a:noFill/>
                </a:ln>
                <a:solidFill>
                  <a:prstClr val="black"/>
                </a:solidFill>
                <a:effectLst/>
                <a:uLnTx/>
                <a:uFillTx/>
                <a:latin typeface="等线 Light" panose="02010600030101010101" charset="-122"/>
                <a:ea typeface="等线 Light" panose="02010600030101010101" charset="-122"/>
                <a:cs typeface="+mn-ea"/>
              </a:rPr>
              <a:t>5</a:t>
            </a:r>
            <a:r>
              <a:rPr lang="zh-CN" altLang="en-US" sz="1400" noProof="0" dirty="0" smtClean="0">
                <a:ln>
                  <a:noFill/>
                </a:ln>
                <a:solidFill>
                  <a:prstClr val="black"/>
                </a:solidFill>
                <a:effectLst/>
                <a:uLnTx/>
                <a:uFillTx/>
                <a:latin typeface="等线 Light" panose="02010600030101010101" charset="-122"/>
                <a:ea typeface="等线 Light" panose="02010600030101010101" charset="-122"/>
                <a:cs typeface="+mn-ea"/>
              </a:rPr>
              <a:t>6个存续客户，其中2</a:t>
            </a:r>
            <a:r>
              <a:rPr lang="en-US" altLang="zh-CN" sz="1400" noProof="0" dirty="0" smtClean="0">
                <a:ln>
                  <a:noFill/>
                </a:ln>
                <a:solidFill>
                  <a:prstClr val="black"/>
                </a:solidFill>
                <a:effectLst/>
                <a:uLnTx/>
                <a:uFillTx/>
                <a:latin typeface="等线 Light" panose="02010600030101010101" charset="-122"/>
                <a:ea typeface="等线 Light" panose="02010600030101010101" charset="-122"/>
                <a:cs typeface="+mn-ea"/>
              </a:rPr>
              <a:t>00</a:t>
            </a:r>
            <a:r>
              <a:rPr lang="zh-CN" altLang="en-US" sz="1400" noProof="0" dirty="0" smtClean="0">
                <a:ln>
                  <a:noFill/>
                </a:ln>
                <a:solidFill>
                  <a:prstClr val="black"/>
                </a:solidFill>
                <a:effectLst/>
                <a:uLnTx/>
                <a:uFillTx/>
                <a:latin typeface="等线 Light" panose="02010600030101010101" charset="-122"/>
                <a:ea typeface="等线 Light" panose="02010600030101010101" charset="-122"/>
                <a:cs typeface="+mn-ea"/>
              </a:rPr>
              <a:t> (</a:t>
            </a:r>
            <a:r>
              <a:rPr lang="en-US" altLang="zh-CN" sz="1400" noProof="0" dirty="0" smtClean="0">
                <a:ln>
                  <a:noFill/>
                </a:ln>
                <a:solidFill>
                  <a:prstClr val="black"/>
                </a:solidFill>
                <a:effectLst/>
                <a:uLnTx/>
                <a:uFillTx/>
                <a:latin typeface="等线 Light" panose="02010600030101010101" charset="-122"/>
                <a:ea typeface="等线 Light" panose="02010600030101010101" charset="-122"/>
                <a:cs typeface="+mn-ea"/>
              </a:rPr>
              <a:t>36</a:t>
            </a:r>
            <a:r>
              <a:rPr lang="zh-CN" altLang="en-US" sz="1400" noProof="0" dirty="0" smtClean="0">
                <a:ln>
                  <a:noFill/>
                </a:ln>
                <a:solidFill>
                  <a:prstClr val="black"/>
                </a:solidFill>
                <a:effectLst/>
                <a:uLnTx/>
                <a:uFillTx/>
                <a:latin typeface="等线 Light" panose="02010600030101010101" charset="-122"/>
                <a:ea typeface="等线 Light" panose="02010600030101010101" charset="-122"/>
                <a:cs typeface="+mn-ea"/>
              </a:rPr>
              <a:t>%)名客户目前亏损，3</a:t>
            </a:r>
            <a:r>
              <a:rPr lang="en-US" altLang="zh-CN" sz="1400" noProof="0" dirty="0" smtClean="0">
                <a:ln>
                  <a:noFill/>
                </a:ln>
                <a:solidFill>
                  <a:prstClr val="black"/>
                </a:solidFill>
                <a:effectLst/>
                <a:uLnTx/>
                <a:uFillTx/>
                <a:latin typeface="等线 Light" panose="02010600030101010101" charset="-122"/>
                <a:ea typeface="等线 Light" panose="02010600030101010101" charset="-122"/>
                <a:cs typeface="+mn-ea"/>
              </a:rPr>
              <a:t>56</a:t>
            </a:r>
            <a:r>
              <a:rPr lang="zh-CN" altLang="en-US" sz="1400" noProof="0" dirty="0" smtClean="0">
                <a:ln>
                  <a:noFill/>
                </a:ln>
                <a:solidFill>
                  <a:prstClr val="black"/>
                </a:solidFill>
                <a:effectLst/>
                <a:uLnTx/>
                <a:uFillTx/>
                <a:latin typeface="等线 Light" panose="02010600030101010101" charset="-122"/>
                <a:ea typeface="等线 Light" panose="02010600030101010101" charset="-122"/>
                <a:cs typeface="+mn-ea"/>
              </a:rPr>
              <a:t>（</a:t>
            </a:r>
            <a:r>
              <a:rPr lang="en-US" altLang="zh-CN" sz="1400" noProof="0" dirty="0" smtClean="0">
                <a:ln>
                  <a:noFill/>
                </a:ln>
                <a:solidFill>
                  <a:prstClr val="black"/>
                </a:solidFill>
                <a:effectLst/>
                <a:uLnTx/>
                <a:uFillTx/>
                <a:latin typeface="等线 Light" panose="02010600030101010101" charset="-122"/>
                <a:ea typeface="等线 Light" panose="02010600030101010101" charset="-122"/>
                <a:cs typeface="+mn-ea"/>
              </a:rPr>
              <a:t>64</a:t>
            </a:r>
            <a:r>
              <a:rPr lang="zh-CN" altLang="en-US" sz="1400" noProof="0" dirty="0" smtClean="0">
                <a:ln>
                  <a:noFill/>
                </a:ln>
                <a:solidFill>
                  <a:prstClr val="black"/>
                </a:solidFill>
                <a:effectLst/>
                <a:uLnTx/>
                <a:uFillTx/>
                <a:latin typeface="等线 Light" panose="02010600030101010101" charset="-122"/>
                <a:ea typeface="等线 Light" panose="02010600030101010101" charset="-122"/>
                <a:cs typeface="+mn-ea"/>
              </a:rPr>
              <a:t>%）名客户目前盈利。</a:t>
            </a:r>
            <a:endParaRPr lang="zh-CN" altLang="en-US" sz="1400" noProof="0" dirty="0" smtClean="0">
              <a:ln>
                <a:noFill/>
              </a:ln>
              <a:solidFill>
                <a:prstClr val="black"/>
              </a:solidFill>
              <a:effectLst/>
              <a:uLnTx/>
              <a:uFillTx/>
              <a:latin typeface="等线 Light" panose="02010600030101010101" charset="-122"/>
              <a:ea typeface="等线 Light" panose="02010600030101010101" charset="-122"/>
              <a:cs typeface="+mn-ea"/>
            </a:endParaRPr>
          </a:p>
        </p:txBody>
      </p:sp>
      <p:sp>
        <p:nvSpPr>
          <p:cNvPr id="17" name="标题 1"/>
          <p:cNvSpPr txBox="1"/>
          <p:nvPr/>
        </p:nvSpPr>
        <p:spPr>
          <a:xfrm>
            <a:off x="511755" y="256039"/>
            <a:ext cx="8229600" cy="423545"/>
          </a:xfrm>
          <a:prstGeom prst="rect">
            <a:avLst/>
          </a:prstGeom>
          <a:noFill/>
        </p:spPr>
        <p:txBody>
          <a:bodyPr vert="horz" wrap="square" lIns="91440" tIns="45720" rIns="91440" bIns="45720" rtlCol="0" anchor="ctr">
            <a:spAutoFit/>
          </a:bodyPr>
          <a:lstStyle>
            <a:defPPr>
              <a:defRPr lang="en-US"/>
            </a:defPPr>
            <a:lvl1pPr>
              <a:lnSpc>
                <a:spcPct val="90000"/>
              </a:lnSpc>
              <a:spcBef>
                <a:spcPct val="0"/>
              </a:spcBef>
              <a:buNone/>
              <a:defRPr sz="2800" b="1">
                <a:solidFill>
                  <a:srgbClr val="002B82"/>
                </a:solidFill>
                <a:latin typeface="微软雅黑" panose="020B0503020204020204" charset="-122"/>
                <a:ea typeface="微软雅黑" panose="020B0503020204020204" charset="-122"/>
              </a:defRPr>
            </a:lvl1pPr>
          </a:lstStyle>
          <a:p>
            <a:r>
              <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景林美元</a:t>
            </a:r>
            <a:r>
              <a:rPr lang="zh-CN"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存续产品概览</a:t>
            </a:r>
            <a:r>
              <a:rPr lang="en-US" altLang="zh-CN"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 - </a:t>
            </a:r>
            <a:r>
              <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景林金色中国申赎情况</a:t>
            </a:r>
            <a:endPar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854075" y="898525"/>
            <a:ext cx="10541635" cy="3768725"/>
          </a:xfrm>
          <a:prstGeom prst="rect">
            <a:avLst/>
          </a:prstGeom>
        </p:spPr>
      </p:pic>
      <p:sp>
        <p:nvSpPr>
          <p:cNvPr id="4" name="矩形 3"/>
          <p:cNvSpPr/>
          <p:nvPr/>
        </p:nvSpPr>
        <p:spPr>
          <a:xfrm>
            <a:off x="506787" y="388406"/>
            <a:ext cx="5907348" cy="423545"/>
          </a:xfrm>
          <a:prstGeom prst="rect">
            <a:avLst/>
          </a:prstGeom>
          <a:noFill/>
        </p:spPr>
        <p:txBody>
          <a:bodyPr wrap="square" rtlCol="0">
            <a:spAutoFit/>
          </a:bodyPr>
          <a:lstStyle/>
          <a:p>
            <a:pPr marL="0" marR="0" lvl="0" algn="l" defTabSz="914400" rtl="0" eaLnBrk="1" fontAlgn="auto" latinLnBrk="0" hangingPunct="1">
              <a:lnSpc>
                <a:spcPct val="90000"/>
              </a:lnSpc>
              <a:spcBef>
                <a:spcPts val="0"/>
              </a:spcBef>
              <a:buClrTx/>
              <a:buSzTx/>
              <a:buFontTx/>
              <a:buNone/>
            </a:pPr>
            <a:r>
              <a:rPr kumimoji="0" lang="zh-CN" altLang="en-US" sz="2400" b="1" i="0" u="none" strike="noStrike" kern="1200" cap="none" spc="0" normalizeH="0" baseline="0" dirty="0">
                <a:solidFill>
                  <a:schemeClr val="tx2">
                    <a:lumMod val="75000"/>
                  </a:schemeClr>
                </a:solidFill>
                <a:latin typeface="等线" panose="02010600030101010101" charset="-122"/>
                <a:ea typeface="等线" panose="02010600030101010101" charset="-122"/>
                <a:cs typeface="等线" panose="02010600030101010101" charset="-122"/>
              </a:rPr>
              <a:t>月度收益率-2014年10月诺亚上架以来</a:t>
            </a:r>
            <a:endParaRPr kumimoji="0" lang="zh-CN" altLang="en-US" sz="2400" b="1" i="0" u="none" strike="noStrike" kern="1200" cap="none" spc="0" normalizeH="0" baseline="0" dirty="0">
              <a:solidFill>
                <a:schemeClr val="tx2">
                  <a:lumMod val="75000"/>
                </a:schemeClr>
              </a:solidFill>
              <a:latin typeface="等线" panose="02010600030101010101" charset="-122"/>
              <a:ea typeface="等线" panose="02010600030101010101" charset="-122"/>
              <a:cs typeface="等线" panose="02010600030101010101" charset="-122"/>
            </a:endParaRPr>
          </a:p>
        </p:txBody>
      </p:sp>
      <p:sp>
        <p:nvSpPr>
          <p:cNvPr id="5" name="矩形 4"/>
          <p:cNvSpPr/>
          <p:nvPr/>
        </p:nvSpPr>
        <p:spPr>
          <a:xfrm>
            <a:off x="813047" y="4878860"/>
            <a:ext cx="10712203" cy="1814830"/>
          </a:xfrm>
          <a:prstGeom prst="rect">
            <a:avLst/>
          </a:prstGeom>
          <a:solidFill>
            <a:schemeClr val="bg1">
              <a:lumMod val="95000"/>
            </a:schemeClr>
          </a:solidFill>
        </p:spPr>
        <p:txBody>
          <a:bodyPr wrap="square">
            <a:spAutoFit/>
          </a:bodyPr>
          <a:lstStyle/>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defRPr/>
            </a:pPr>
            <a:r>
              <a:rPr kumimoji="0" lang="en-US" altLang="zh-CN"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2021</a:t>
            </a:r>
            <a:r>
              <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年，主要受到互联网反垄断政策的影响，一季度降低了电商仓位，上半年正收益；但</a:t>
            </a:r>
            <a:r>
              <a:rPr kumimoji="0" lang="en-US" altLang="zh-CN"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7</a:t>
            </a:r>
            <a:r>
              <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月后过早加仓了互联网。</a:t>
            </a:r>
            <a:endPar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endParaRP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defRPr/>
            </a:pPr>
            <a:r>
              <a:rPr kumimoji="0" lang="en-US" altLang="zh-CN"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2022</a:t>
            </a:r>
            <a:r>
              <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年，主要受到全球</a:t>
            </a:r>
            <a:r>
              <a:rPr kumimoji="0" lang="en-US" altLang="zh-CN"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beta</a:t>
            </a:r>
            <a:r>
              <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影响，美联储快速加息</a:t>
            </a:r>
            <a:r>
              <a:rPr kumimoji="0" lang="en-US" altLang="zh-CN"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a:t>
            </a:r>
            <a:r>
              <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国内疫情封城，且一季度低估了整个中国地产下行周期对于宏观经济的影响。</a:t>
            </a:r>
            <a:endPar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endParaRP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defRPr/>
            </a:pPr>
            <a:endParaRPr kumimoji="0" lang="en-US" altLang="zh-CN"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endParaRP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defRPr/>
            </a:pPr>
            <a:r>
              <a:rPr kumimoji="0" lang="en-US" altLang="zh-CN"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2023</a:t>
            </a:r>
            <a:r>
              <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年，增配了部分纯美股及其他市场，行业配置上更加均衡，正收益贡献主要来自于港股通讯服务和中概股消费。</a:t>
            </a:r>
            <a:endParaRPr kumimoji="0" lang="en-US" altLang="zh-CN"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endParaRPr>
          </a:p>
          <a:p>
            <a:pPr marL="285750" marR="0" lvl="0" indent="-285750" algn="l" defTabSz="914400" rtl="0" eaLnBrk="1" fontAlgn="ctr" latinLnBrk="0" hangingPunct="1">
              <a:lnSpc>
                <a:spcPct val="100000"/>
              </a:lnSpc>
              <a:spcBef>
                <a:spcPts val="0"/>
              </a:spcBef>
              <a:spcAft>
                <a:spcPts val="0"/>
              </a:spcAft>
              <a:buClrTx/>
              <a:buSzTx/>
              <a:buFont typeface="Arial" panose="020B0604020202020204" pitchFamily="34" charset="0"/>
              <a:buChar char="•"/>
              <a:defRPr/>
            </a:pPr>
            <a:r>
              <a:rPr kumimoji="0" lang="en-US" altLang="zh-CN"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2024</a:t>
            </a:r>
            <a:r>
              <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年，</a:t>
            </a:r>
            <a:r>
              <a:rPr kumimoji="0" lang="en-US" altLang="zh-CN"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1-6</a:t>
            </a:r>
            <a:r>
              <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月的业绩主要得益于能源、</a:t>
            </a:r>
            <a:r>
              <a:rPr kumimoji="0" lang="en-US" altLang="zh-CN"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TMT</a:t>
            </a:r>
            <a:r>
              <a:rPr kumimoji="0" lang="zh-CN" altLang="en-US" sz="14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和材料板块多仓的表现，同时空仓组合的表现也较为强劲。消费品和电商板块的表现相对落后，是主要的拖累因素。</a:t>
            </a:r>
            <a:r>
              <a:rPr kumimoji="0" lang="en-US" altLang="zh-CN" sz="1400" b="1" i="0" u="none" strike="noStrike" kern="1200" cap="none" spc="0" normalizeH="0" baseline="0" noProof="0" dirty="0">
                <a:ln>
                  <a:noFill/>
                </a:ln>
                <a:solidFill>
                  <a:srgbClr val="C00000"/>
                </a:solidFill>
                <a:effectLst/>
                <a:uLnTx/>
                <a:uFillTx/>
                <a:latin typeface="等线 Light" panose="02010600030101010101" charset="-122"/>
                <a:ea typeface="等线 Light" panose="02010600030101010101" charset="-122"/>
                <a:cs typeface="+mn-cs"/>
              </a:rPr>
              <a:t>7</a:t>
            </a:r>
            <a:r>
              <a:rPr kumimoji="0" lang="zh-CN" altLang="en-US" sz="1400" b="1" i="0" u="none" strike="noStrike" kern="1200" cap="none" spc="0" normalizeH="0" baseline="0" noProof="0" dirty="0">
                <a:ln>
                  <a:noFill/>
                </a:ln>
                <a:solidFill>
                  <a:srgbClr val="C00000"/>
                </a:solidFill>
                <a:effectLst/>
                <a:uLnTx/>
                <a:uFillTx/>
                <a:latin typeface="等线 Light" panose="02010600030101010101" charset="-122"/>
                <a:ea typeface="等线 Light" panose="02010600030101010101" charset="-122"/>
                <a:cs typeface="+mn-cs"/>
              </a:rPr>
              <a:t>月受全球宏观因素负面影响，组合布局的多头头寸有回撤；</a:t>
            </a:r>
            <a:r>
              <a:rPr kumimoji="0" lang="en-US" altLang="zh-CN" sz="1400" b="1" i="0" u="none" strike="noStrike" kern="1200" cap="none" spc="0" normalizeH="0" baseline="0" noProof="0" dirty="0">
                <a:ln>
                  <a:noFill/>
                </a:ln>
                <a:solidFill>
                  <a:srgbClr val="C00000"/>
                </a:solidFill>
                <a:effectLst/>
                <a:uLnTx/>
                <a:uFillTx/>
                <a:latin typeface="等线 Light" panose="02010600030101010101" charset="-122"/>
                <a:ea typeface="等线 Light" panose="02010600030101010101" charset="-122"/>
                <a:cs typeface="+mn-cs"/>
              </a:rPr>
              <a:t>8</a:t>
            </a:r>
            <a:r>
              <a:rPr kumimoji="0" lang="zh-CN" altLang="en-US" sz="1400" b="1" i="0" u="none" strike="noStrike" kern="1200" cap="none" spc="0" normalizeH="0" baseline="0" noProof="0" dirty="0">
                <a:ln>
                  <a:noFill/>
                </a:ln>
                <a:solidFill>
                  <a:srgbClr val="C00000"/>
                </a:solidFill>
                <a:effectLst/>
                <a:uLnTx/>
                <a:uFillTx/>
                <a:latin typeface="等线 Light" panose="02010600030101010101" charset="-122"/>
                <a:ea typeface="等线 Light" panose="02010600030101010101" charset="-122"/>
                <a:cs typeface="+mn-cs"/>
              </a:rPr>
              <a:t>月则是受某电商板块的多仓拖累；</a:t>
            </a:r>
            <a:r>
              <a:rPr kumimoji="0" lang="en-US" altLang="zh-CN" sz="1400" b="1" i="0" u="none" strike="noStrike" kern="1200" cap="none" spc="0" normalizeH="0" baseline="0" noProof="0" dirty="0">
                <a:ln>
                  <a:noFill/>
                </a:ln>
                <a:solidFill>
                  <a:srgbClr val="C00000"/>
                </a:solidFill>
                <a:effectLst/>
                <a:uLnTx/>
                <a:uFillTx/>
                <a:latin typeface="等线 Light" panose="02010600030101010101" charset="-122"/>
                <a:ea typeface="等线 Light" panose="02010600030101010101" charset="-122"/>
                <a:cs typeface="+mn-cs"/>
              </a:rPr>
              <a:t>9</a:t>
            </a:r>
            <a:r>
              <a:rPr kumimoji="0" lang="zh-CN" altLang="en-US" sz="1400" b="1" i="0" u="none" strike="noStrike" kern="1200" cap="none" spc="0" normalizeH="0" baseline="0" noProof="0" dirty="0">
                <a:ln>
                  <a:noFill/>
                </a:ln>
                <a:solidFill>
                  <a:srgbClr val="C00000"/>
                </a:solidFill>
                <a:effectLst/>
                <a:uLnTx/>
                <a:uFillTx/>
                <a:latin typeface="等线 Light" panose="02010600030101010101" charset="-122"/>
                <a:ea typeface="等线 Light" panose="02010600030101010101" charset="-122"/>
                <a:cs typeface="+mn-cs"/>
              </a:rPr>
              <a:t>月伴随中国刺激政策组合拳出台，基金净值大幅反弹，</a:t>
            </a:r>
            <a:r>
              <a:rPr kumimoji="0" lang="en-US" altLang="zh-CN" sz="1400" b="1" i="0" u="none" strike="noStrike" kern="1200" cap="none" spc="0" normalizeH="0" baseline="0" noProof="0" dirty="0">
                <a:ln>
                  <a:noFill/>
                </a:ln>
                <a:solidFill>
                  <a:srgbClr val="C00000"/>
                </a:solidFill>
                <a:effectLst/>
                <a:uLnTx/>
                <a:uFillTx/>
                <a:latin typeface="等线 Light" panose="02010600030101010101" charset="-122"/>
                <a:ea typeface="等线 Light" panose="02010600030101010101" charset="-122"/>
                <a:cs typeface="+mn-cs"/>
              </a:rPr>
              <a:t>10</a:t>
            </a:r>
            <a:r>
              <a:rPr kumimoji="0" lang="zh-CN" altLang="en-US" sz="1400" b="1" i="0" u="none" strike="noStrike" kern="1200" cap="none" spc="0" normalizeH="0" baseline="0" noProof="0" dirty="0">
                <a:ln>
                  <a:noFill/>
                </a:ln>
                <a:solidFill>
                  <a:srgbClr val="C00000"/>
                </a:solidFill>
                <a:effectLst/>
                <a:uLnTx/>
                <a:uFillTx/>
                <a:latin typeface="等线 Light" panose="02010600030101010101" charset="-122"/>
                <a:ea typeface="等线 Light" panose="02010600030101010101" charset="-122"/>
                <a:cs typeface="+mn-cs"/>
              </a:rPr>
              <a:t>月</a:t>
            </a:r>
            <a:r>
              <a:rPr kumimoji="0" lang="en-US" altLang="zh-CN" sz="1400" b="1" i="0" u="none" strike="noStrike" kern="1200" cap="none" spc="0" normalizeH="0" baseline="0" noProof="0" dirty="0">
                <a:ln>
                  <a:noFill/>
                </a:ln>
                <a:solidFill>
                  <a:srgbClr val="C00000"/>
                </a:solidFill>
                <a:effectLst/>
                <a:uLnTx/>
                <a:uFillTx/>
                <a:latin typeface="等线 Light" panose="02010600030101010101" charset="-122"/>
                <a:ea typeface="等线 Light" panose="02010600030101010101" charset="-122"/>
                <a:cs typeface="+mn-cs"/>
              </a:rPr>
              <a:t>11</a:t>
            </a:r>
            <a:r>
              <a:rPr kumimoji="0" lang="zh-CN" altLang="en-US" sz="1400" b="1" i="0" u="none" strike="noStrike" kern="1200" cap="none" spc="0" normalizeH="0" baseline="0" noProof="0" dirty="0">
                <a:ln>
                  <a:noFill/>
                </a:ln>
                <a:solidFill>
                  <a:srgbClr val="C00000"/>
                </a:solidFill>
                <a:effectLst/>
                <a:uLnTx/>
                <a:uFillTx/>
                <a:latin typeface="等线 Light" panose="02010600030101010101" charset="-122"/>
                <a:ea typeface="等线 Light" panose="02010600030101010101" charset="-122"/>
                <a:cs typeface="+mn-cs"/>
              </a:rPr>
              <a:t>月市场情绪降温，获利盘止盈，叠加投资者在美国大选前降低风险资产头寸，组合伴随中国市场出现回调；</a:t>
            </a:r>
            <a:r>
              <a:rPr kumimoji="0" lang="en-US" altLang="zh-CN" sz="1400" b="1" i="0" u="none" strike="noStrike" kern="1200" cap="none" spc="0" normalizeH="0" baseline="0" noProof="0" dirty="0">
                <a:ln>
                  <a:noFill/>
                </a:ln>
                <a:solidFill>
                  <a:srgbClr val="C00000"/>
                </a:solidFill>
                <a:effectLst/>
                <a:uLnTx/>
                <a:uFillTx/>
                <a:latin typeface="等线 Light" panose="02010600030101010101" charset="-122"/>
                <a:ea typeface="等线 Light" panose="02010600030101010101" charset="-122"/>
                <a:cs typeface="+mn-cs"/>
              </a:rPr>
              <a:t>12</a:t>
            </a:r>
            <a:r>
              <a:rPr kumimoji="0" lang="zh-CN" altLang="en-US" sz="1400" b="1" i="0" u="none" strike="noStrike" kern="1200" cap="none" spc="0" normalizeH="0" baseline="0" noProof="0" dirty="0">
                <a:ln>
                  <a:noFill/>
                </a:ln>
                <a:solidFill>
                  <a:srgbClr val="C00000"/>
                </a:solidFill>
                <a:effectLst/>
                <a:uLnTx/>
                <a:uFillTx/>
                <a:latin typeface="等线 Light" panose="02010600030101010101" charset="-122"/>
                <a:ea typeface="等线 Light" panose="02010600030101010101" charset="-122"/>
                <a:cs typeface="+mn-cs"/>
              </a:rPr>
              <a:t>月信息技术、港股通讯和能源均有正贡献。</a:t>
            </a:r>
            <a:endParaRPr kumimoji="0" lang="zh-CN" altLang="en-US" sz="1400" b="1" i="0" u="none" strike="noStrike" kern="1200" cap="none" spc="0" normalizeH="0" baseline="0" noProof="0" dirty="0">
              <a:ln>
                <a:noFill/>
              </a:ln>
              <a:solidFill>
                <a:srgbClr val="C00000"/>
              </a:solidFill>
              <a:effectLst/>
              <a:uLnTx/>
              <a:uFillTx/>
              <a:latin typeface="等线 Light" panose="02010600030101010101" charset="-122"/>
              <a:ea typeface="等线 Light" panose="02010600030101010101" charset="-122"/>
              <a:cs typeface="+mn-cs"/>
            </a:endParaRPr>
          </a:p>
        </p:txBody>
      </p:sp>
      <p:sp>
        <p:nvSpPr>
          <p:cNvPr id="6" name="文本框 5"/>
          <p:cNvSpPr txBox="1"/>
          <p:nvPr/>
        </p:nvSpPr>
        <p:spPr>
          <a:xfrm>
            <a:off x="110830" y="6660131"/>
            <a:ext cx="10080920" cy="213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Segoe UI" panose="020B0502040204020203" pitchFamily="34" charset="0"/>
              </a:rPr>
              <a:t>数据来源</a:t>
            </a:r>
            <a:r>
              <a:rPr kumimoji="0" lang="zh-CN" altLang="en-US" sz="800" b="0" i="0" u="none" strike="noStrike" kern="1200" cap="none" spc="0" normalizeH="0" baseline="0" noProof="0" dirty="0" smtClean="0">
                <a:ln>
                  <a:noFill/>
                </a:ln>
                <a:solidFill>
                  <a:prstClr val="black"/>
                </a:solidFill>
                <a:effectLst/>
                <a:uLnTx/>
                <a:uFillTx/>
                <a:latin typeface="等线" panose="02010600030101010101" charset="-122"/>
                <a:ea typeface="等线" panose="02010600030101010101" charset="-122"/>
                <a:cs typeface="Segoe UI" panose="020B0502040204020203" pitchFamily="34" charset="0"/>
              </a:rPr>
              <a:t>：</a:t>
            </a:r>
            <a:r>
              <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景林金色中国投资月</a:t>
            </a:r>
            <a:r>
              <a:rPr kumimoji="0" lang="zh-CN" altLang="en-US" sz="800" b="0" i="0" u="none" strike="noStrike" kern="1200" cap="none" spc="0" normalizeH="0" baseline="0" noProof="0" dirty="0" smtClean="0">
                <a:ln>
                  <a:noFill/>
                </a:ln>
                <a:solidFill>
                  <a:prstClr val="black"/>
                </a:solidFill>
                <a:effectLst/>
                <a:uLnTx/>
                <a:uFillTx/>
                <a:latin typeface="等线" panose="02010600030101010101" charset="-122"/>
                <a:ea typeface="等线" panose="02010600030101010101" charset="-122"/>
                <a:cs typeface="+mn-cs"/>
              </a:rPr>
              <a:t>报</a:t>
            </a:r>
            <a:endPar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Segoe UI" panose="020B0502040204020203" pitchFamily="34" charset="0"/>
            </a:endParaRPr>
          </a:p>
        </p:txBody>
      </p:sp>
      <p:sp>
        <p:nvSpPr>
          <p:cNvPr id="9" name="矩形 8"/>
          <p:cNvSpPr/>
          <p:nvPr/>
        </p:nvSpPr>
        <p:spPr>
          <a:xfrm>
            <a:off x="1424940" y="2325370"/>
            <a:ext cx="2139950" cy="279400"/>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3D43F66-1552-4AB5-8C73-059430FE9C80}"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8" name="文本框 4"/>
          <p:cNvSpPr txBox="1"/>
          <p:nvPr/>
        </p:nvSpPr>
        <p:spPr>
          <a:xfrm rot="18792261">
            <a:off x="2868108" y="2860347"/>
            <a:ext cx="6278880" cy="8299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TW" altLang="en-US" sz="4800" b="0" i="0" u="none" strike="noStrike" kern="1200" cap="none" spc="0" normalizeH="0" baseline="0" noProof="0" dirty="0">
                <a:ln>
                  <a:noFill/>
                </a:ln>
                <a:solidFill>
                  <a:srgbClr val="D9D9D9">
                    <a:alpha val="50000"/>
                  </a:srgbClr>
                </a:solidFill>
                <a:effectLst/>
                <a:uLnTx/>
                <a:uFillTx/>
                <a:latin typeface="等线" panose="02010600030101010101" charset="-122"/>
                <a:cs typeface="+mn-cs"/>
              </a:rPr>
              <a:t>仅供</a:t>
            </a:r>
            <a:r>
              <a:rPr kumimoji="0" lang="zh-TW" altLang="en-US" sz="4800" b="0" i="0" u="none" strike="noStrike" kern="1200" cap="none" spc="0" normalizeH="0" baseline="0" noProof="0" dirty="0" smtClean="0">
                <a:ln>
                  <a:noFill/>
                </a:ln>
                <a:solidFill>
                  <a:srgbClr val="D9D9D9">
                    <a:alpha val="50000"/>
                  </a:srgbClr>
                </a:solidFill>
                <a:effectLst/>
                <a:uLnTx/>
                <a:uFillTx/>
                <a:latin typeface="等线" panose="02010600030101010101" charset="-122"/>
                <a:cs typeface="+mn-cs"/>
              </a:rPr>
              <a:t>内使用</a:t>
            </a:r>
            <a:r>
              <a:rPr kumimoji="0" lang="zh-CN" altLang="en-US" sz="4800" b="0" i="0" u="none" strike="noStrike" kern="1200" cap="none" spc="0" normalizeH="0" baseline="0" noProof="0" dirty="0" smtClean="0">
                <a:ln>
                  <a:noFill/>
                </a:ln>
                <a:solidFill>
                  <a:srgbClr val="D9D9D9">
                    <a:alpha val="50000"/>
                  </a:srgbClr>
                </a:solidFill>
                <a:effectLst/>
                <a:uLnTx/>
                <a:uFillTx/>
                <a:latin typeface="等线" panose="02010600030101010101" charset="-122"/>
                <a:ea typeface="等线" panose="02010600030101010101" charset="-122"/>
                <a:cs typeface="+mn-cs"/>
              </a:rPr>
              <a:t>，禁止转发</a:t>
            </a:r>
            <a:endParaRPr kumimoji="0" lang="zh-TW" altLang="en-US" sz="4800" b="0" i="0" u="none" strike="noStrike" kern="1200" cap="none" spc="0" normalizeH="0" baseline="0" noProof="0" dirty="0">
              <a:ln>
                <a:noFill/>
              </a:ln>
              <a:solidFill>
                <a:srgbClr val="D9D9D9">
                  <a:alpha val="50000"/>
                </a:srgbClr>
              </a:solidFill>
              <a:effectLst/>
              <a:uLnTx/>
              <a:uFillTx/>
              <a:latin typeface="等线" panose="02010600030101010101" charset="-122"/>
              <a:cs typeface="+mn-cs"/>
            </a:endParaRPr>
          </a:p>
        </p:txBody>
      </p:sp>
      <p:sp>
        <p:nvSpPr>
          <p:cNvPr id="11" name="矩形 10"/>
          <p:cNvSpPr/>
          <p:nvPr/>
        </p:nvSpPr>
        <p:spPr>
          <a:xfrm>
            <a:off x="4681855" y="2604770"/>
            <a:ext cx="521335" cy="252095"/>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矩形 11"/>
          <p:cNvSpPr/>
          <p:nvPr/>
        </p:nvSpPr>
        <p:spPr>
          <a:xfrm>
            <a:off x="5729605" y="2352675"/>
            <a:ext cx="1079500" cy="252095"/>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表 5"/>
          <p:cNvGraphicFramePr/>
          <p:nvPr/>
        </p:nvGraphicFramePr>
        <p:xfrm>
          <a:off x="394199" y="4300346"/>
          <a:ext cx="5923552" cy="1865378"/>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5" name="图表 4"/>
          <p:cNvGraphicFramePr/>
          <p:nvPr/>
        </p:nvGraphicFramePr>
        <p:xfrm>
          <a:off x="312317" y="897924"/>
          <a:ext cx="5894277" cy="3402262"/>
        </p:xfrm>
        <a:graphic>
          <a:graphicData uri="http://schemas.openxmlformats.org/drawingml/2006/chart">
            <c:chart xmlns:c="http://schemas.openxmlformats.org/drawingml/2006/chart" xmlns:r="http://schemas.openxmlformats.org/officeDocument/2006/relationships" r:id="rId2"/>
          </a:graphicData>
        </a:graphic>
      </p:graphicFrame>
      <p:sp>
        <p:nvSpPr>
          <p:cNvPr id="7" name="文本框 6"/>
          <p:cNvSpPr txBox="1"/>
          <p:nvPr/>
        </p:nvSpPr>
        <p:spPr>
          <a:xfrm>
            <a:off x="2567029" y="2817168"/>
            <a:ext cx="1197531" cy="2755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港股（多）</a:t>
            </a:r>
            <a:endParaRPr kumimoji="0" lang="zh-CN" altLang="en-US" sz="12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2295958" y="1476292"/>
            <a:ext cx="1567990" cy="2755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中国股票（多）</a:t>
            </a:r>
            <a:endParaRPr kumimoji="0" lang="zh-CN" altLang="en-US" sz="12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sp>
        <p:nvSpPr>
          <p:cNvPr id="9" name="文本框 8"/>
          <p:cNvSpPr txBox="1"/>
          <p:nvPr/>
        </p:nvSpPr>
        <p:spPr>
          <a:xfrm>
            <a:off x="4049427" y="2032440"/>
            <a:ext cx="1729274" cy="2755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美股中概股（多）</a:t>
            </a:r>
            <a:endParaRPr kumimoji="0" lang="zh-CN" altLang="en-US" sz="12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sp>
        <p:nvSpPr>
          <p:cNvPr id="10" name="文本框 9"/>
          <p:cNvSpPr txBox="1"/>
          <p:nvPr/>
        </p:nvSpPr>
        <p:spPr>
          <a:xfrm>
            <a:off x="3273632" y="1664725"/>
            <a:ext cx="1818370"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纯美股</a:t>
            </a:r>
            <a:r>
              <a:rPr kumimoji="0" lang="en-US" altLang="zh-CN" sz="1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r>
              <a:rPr kumimoji="0" lang="zh-CN" altLang="en-US" sz="1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其它市场（多）</a:t>
            </a:r>
            <a:endParaRPr kumimoji="0" lang="zh-CN" altLang="en-US" sz="1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2" name="矩形 11"/>
          <p:cNvSpPr/>
          <p:nvPr/>
        </p:nvSpPr>
        <p:spPr>
          <a:xfrm>
            <a:off x="466336" y="285865"/>
            <a:ext cx="3583032" cy="423545"/>
          </a:xfrm>
          <a:prstGeom prst="rect">
            <a:avLst/>
          </a:prstGeom>
          <a:noFill/>
        </p:spPr>
        <p:txBody>
          <a:bodyPr wrap="square" rtlCol="0">
            <a:spAutoFit/>
          </a:bodyPr>
          <a:lstStyle/>
          <a:p>
            <a:pPr marL="0" marR="0" lvl="0" algn="l" defTabSz="914400" rtl="0" eaLnBrk="1" fontAlgn="auto" latinLnBrk="0" hangingPunct="1">
              <a:lnSpc>
                <a:spcPct val="90000"/>
              </a:lnSpc>
              <a:spcBef>
                <a:spcPts val="0"/>
              </a:spcBef>
              <a:buClrTx/>
              <a:buSzTx/>
              <a:buFontTx/>
              <a:buNone/>
            </a:pPr>
            <a:r>
              <a:rPr kumimoji="0" lang="zh-CN" altLang="en-US" sz="2400" b="1" i="0" u="none" strike="noStrike" kern="1200" cap="none" spc="0" normalizeH="0" baseline="0" dirty="0">
                <a:solidFill>
                  <a:schemeClr val="tx2">
                    <a:lumMod val="75000"/>
                  </a:schemeClr>
                </a:solidFill>
                <a:latin typeface="等线" panose="02010600030101010101" charset="-122"/>
                <a:ea typeface="等线" panose="02010600030101010101" charset="-122"/>
                <a:cs typeface="等线" panose="02010600030101010101" charset="-122"/>
              </a:rPr>
              <a:t>地域分布</a:t>
            </a:r>
            <a:endParaRPr kumimoji="0" lang="zh-CN" altLang="en-US" sz="2400" b="1" i="0" u="none" strike="noStrike" kern="1200" cap="none" spc="0" normalizeH="0" baseline="0" dirty="0">
              <a:solidFill>
                <a:schemeClr val="tx2">
                  <a:lumMod val="75000"/>
                </a:schemeClr>
              </a:solidFill>
              <a:latin typeface="等线" panose="02010600030101010101" charset="-122"/>
              <a:ea typeface="等线" panose="02010600030101010101" charset="-122"/>
              <a:cs typeface="等线" panose="02010600030101010101" charset="-122"/>
            </a:endParaRPr>
          </a:p>
        </p:txBody>
      </p:sp>
      <p:sp>
        <p:nvSpPr>
          <p:cNvPr id="13" name="文本框 12"/>
          <p:cNvSpPr txBox="1"/>
          <p:nvPr/>
        </p:nvSpPr>
        <p:spPr>
          <a:xfrm>
            <a:off x="280916" y="6398308"/>
            <a:ext cx="4314825" cy="213995"/>
          </a:xfrm>
          <a:prstGeom prst="rect">
            <a:avLst/>
          </a:prstGeom>
          <a:noFill/>
        </p:spPr>
        <p:txBody>
          <a:bodyPr wrap="square" rtlCol="0">
            <a:spAutoFit/>
          </a:bodyPr>
          <a:lstStyle>
            <a:defPPr>
              <a:defRPr lang="zh-CN"/>
            </a:defPPr>
            <a:lvl1pPr>
              <a:defRPr sz="800">
                <a:latin typeface="微软雅黑" panose="020B0503020204020204" charset="-122"/>
                <a:ea typeface="微软雅黑" panose="020B050302020402020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备注：其它市场包括纯美股、加拿大、澳洲等</a:t>
            </a:r>
            <a:endPar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14" name="文本框 13"/>
          <p:cNvSpPr txBox="1"/>
          <p:nvPr/>
        </p:nvSpPr>
        <p:spPr>
          <a:xfrm>
            <a:off x="280916" y="6544814"/>
            <a:ext cx="4314825" cy="213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数据来源：景林金色中国投资月报、景林价值投资月报、数据截至</a:t>
            </a:r>
            <a:r>
              <a:rPr kumimoji="0" lang="en-US" altLang="zh-CN"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2024/12/31</a:t>
            </a:r>
            <a:endPar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21" name="文本框 20"/>
          <p:cNvSpPr txBox="1"/>
          <p:nvPr/>
        </p:nvSpPr>
        <p:spPr>
          <a:xfrm>
            <a:off x="2337169" y="4452096"/>
            <a:ext cx="1197531" cy="2755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港股（空）</a:t>
            </a:r>
            <a:endParaRPr kumimoji="0" lang="zh-CN" altLang="en-US" sz="12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sp>
        <p:nvSpPr>
          <p:cNvPr id="22" name="文本框 21"/>
          <p:cNvSpPr txBox="1"/>
          <p:nvPr/>
        </p:nvSpPr>
        <p:spPr>
          <a:xfrm>
            <a:off x="1061082" y="4623535"/>
            <a:ext cx="1832197" cy="2527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美股中概股（空）</a:t>
            </a:r>
            <a:endParaRPr kumimoji="0" lang="zh-CN" altLang="en-US" sz="105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sp>
        <p:nvSpPr>
          <p:cNvPr id="23" name="文本框 22"/>
          <p:cNvSpPr txBox="1"/>
          <p:nvPr/>
        </p:nvSpPr>
        <p:spPr>
          <a:xfrm>
            <a:off x="2196580" y="5585805"/>
            <a:ext cx="1567990" cy="2527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中国股票（空）</a:t>
            </a:r>
            <a:endParaRPr kumimoji="0" lang="zh-CN" altLang="en-US" sz="105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sp>
        <p:nvSpPr>
          <p:cNvPr id="29" name="文本框 28"/>
          <p:cNvSpPr txBox="1"/>
          <p:nvPr/>
        </p:nvSpPr>
        <p:spPr>
          <a:xfrm>
            <a:off x="5076119" y="4140331"/>
            <a:ext cx="1567990"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其它市场（空）</a:t>
            </a:r>
            <a:endParaRPr kumimoji="0" lang="zh-CN" altLang="en-US" sz="1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1" name="矩形 30"/>
          <p:cNvSpPr/>
          <p:nvPr/>
        </p:nvSpPr>
        <p:spPr>
          <a:xfrm>
            <a:off x="8516012" y="1574693"/>
            <a:ext cx="1895475" cy="306705"/>
          </a:xfrm>
          <a:prstGeom prst="rect">
            <a:avLst/>
          </a:prstGeom>
        </p:spPr>
        <p:txBody>
          <a:bodyPr wrap="none">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2024</a:t>
            </a:r>
            <a:r>
              <a:rPr kumimoji="0" lang="zh-CN" altLang="en-US"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年</a:t>
            </a:r>
            <a:r>
              <a:rPr kumimoji="0" lang="en-US" altLang="zh-CN"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12</a:t>
            </a:r>
            <a:r>
              <a:rPr kumimoji="0" lang="zh-CN" altLang="en-US"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月</a:t>
            </a:r>
            <a:r>
              <a:rPr kumimoji="0" lang="en-US" altLang="zh-CN"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a:t>
            </a:r>
            <a:r>
              <a:rPr kumimoji="0" lang="zh-CN" altLang="en-US"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区域分布</a:t>
            </a:r>
            <a:endParaRPr kumimoji="0" lang="zh-HK" altLang="en-US" sz="1400" b="1" i="0" u="none" strike="noStrike" kern="1200" cap="none" spc="0" normalizeH="0" baseline="0" noProof="0" dirty="0">
              <a:ln>
                <a:noFill/>
              </a:ln>
              <a:solidFill>
                <a:prstClr val="black"/>
              </a:solidFill>
              <a:effectLst/>
              <a:uLnTx/>
              <a:uFillTx/>
              <a:latin typeface="PMingLiU"/>
              <a:ea typeface="+mj-ea"/>
              <a:cs typeface="+mn-cs"/>
            </a:endParaRPr>
          </a:p>
        </p:txBody>
      </p:sp>
      <p:sp>
        <p:nvSpPr>
          <p:cNvPr id="32" name="文本框 31"/>
          <p:cNvSpPr txBox="1"/>
          <p:nvPr/>
        </p:nvSpPr>
        <p:spPr>
          <a:xfrm>
            <a:off x="4499206" y="4790077"/>
            <a:ext cx="1818370"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纯美股</a:t>
            </a:r>
            <a:r>
              <a:rPr kumimoji="0" lang="en-US" altLang="zh-CN" sz="1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r>
              <a:rPr kumimoji="0" lang="zh-CN" altLang="en-US" sz="1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其它市场（空）</a:t>
            </a:r>
            <a:endParaRPr kumimoji="0" lang="zh-CN" altLang="en-US" sz="1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3D43F66-1552-4AB5-8C73-059430FE9C80}"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19" name="文本框 4"/>
          <p:cNvSpPr txBox="1"/>
          <p:nvPr/>
        </p:nvSpPr>
        <p:spPr>
          <a:xfrm rot="18792261">
            <a:off x="2868108" y="2860347"/>
            <a:ext cx="6278880" cy="829945"/>
          </a:xfrm>
          <a:prstGeom prst="rect">
            <a:avLst/>
          </a:prstGeom>
          <a:noFill/>
        </p:spPr>
        <p:txBody>
          <a:bodyPr wrap="none" rtlCol="0">
            <a:spAutoFit/>
          </a:bodyPr>
          <a:lstStyle/>
          <a:p>
            <a:pPr marL="0" marR="0" lvl="0" algn="l" defTabSz="914400" rtl="0" eaLnBrk="1" fontAlgn="auto" latinLnBrk="0" hangingPunct="1">
              <a:lnSpc>
                <a:spcPct val="100000"/>
              </a:lnSpc>
              <a:spcBef>
                <a:spcPts val="0"/>
              </a:spcBef>
              <a:spcAft>
                <a:spcPts val="0"/>
              </a:spcAft>
              <a:buClrTx/>
              <a:buSzTx/>
              <a:buFontTx/>
              <a:buNone/>
              <a:defRPr/>
            </a:pPr>
            <a:r>
              <a:rPr kumimoji="0" lang="zh-TW" altLang="en-US" sz="4800" b="0" i="0" u="none" strike="noStrike" kern="1200" cap="none" spc="0" normalizeH="0" baseline="0" noProof="0" dirty="0">
                <a:ln>
                  <a:noFill/>
                </a:ln>
                <a:solidFill>
                  <a:srgbClr val="D9D9D9">
                    <a:alpha val="50000"/>
                  </a:srgbClr>
                </a:solidFill>
                <a:effectLst/>
                <a:uLnTx/>
                <a:uFillTx/>
                <a:latin typeface="等线" panose="02010600030101010101" charset="-122"/>
                <a:cs typeface="+mn-cs"/>
              </a:rPr>
              <a:t>仅供</a:t>
            </a:r>
            <a:r>
              <a:rPr kumimoji="0" lang="zh-TW" altLang="en-US" sz="4800" b="0" i="0" u="none" strike="noStrike" kern="1200" cap="none" spc="0" normalizeH="0" baseline="0" noProof="0" dirty="0" smtClean="0">
                <a:ln>
                  <a:noFill/>
                </a:ln>
                <a:solidFill>
                  <a:srgbClr val="D9D9D9">
                    <a:alpha val="50000"/>
                  </a:srgbClr>
                </a:solidFill>
                <a:effectLst/>
                <a:uLnTx/>
                <a:uFillTx/>
                <a:latin typeface="等线" panose="02010600030101010101" charset="-122"/>
                <a:cs typeface="+mn-cs"/>
              </a:rPr>
              <a:t>内使用</a:t>
            </a:r>
            <a:r>
              <a:rPr kumimoji="0" lang="zh-CN" altLang="en-US" sz="4800" b="0" i="0" u="none" strike="noStrike" kern="1200" cap="none" spc="0" normalizeH="0" baseline="0" noProof="0" dirty="0" smtClean="0">
                <a:ln>
                  <a:noFill/>
                </a:ln>
                <a:solidFill>
                  <a:srgbClr val="D9D9D9">
                    <a:alpha val="50000"/>
                  </a:srgbClr>
                </a:solidFill>
                <a:effectLst/>
                <a:uLnTx/>
                <a:uFillTx/>
                <a:latin typeface="等线" panose="02010600030101010101" charset="-122"/>
                <a:ea typeface="等线" panose="02010600030101010101" charset="-122"/>
                <a:cs typeface="+mn-cs"/>
              </a:rPr>
              <a:t>，</a:t>
            </a:r>
            <a:r>
              <a:rPr kumimoji="0" lang="zh-TW" altLang="en-US" sz="4800" b="0" i="0" u="none" strike="noStrike" kern="1200" cap="none" spc="0" normalizeH="0" baseline="0" noProof="0" dirty="0" smtClean="0">
                <a:ln>
                  <a:noFill/>
                </a:ln>
                <a:solidFill>
                  <a:srgbClr val="D9D9D9">
                    <a:alpha val="50000"/>
                  </a:srgbClr>
                </a:solidFill>
                <a:effectLst/>
                <a:uLnTx/>
                <a:uFillTx/>
                <a:latin typeface="等线" panose="02010600030101010101" charset="-122"/>
                <a:cs typeface="+mn-cs"/>
              </a:rPr>
              <a:t>禁止转发</a:t>
            </a:r>
            <a:endParaRPr kumimoji="0" lang="zh-TW" altLang="en-US" sz="4800" b="0" i="0" u="none" strike="noStrike" kern="1200" cap="none" spc="0" normalizeH="0" baseline="0" noProof="0" dirty="0" smtClean="0">
              <a:ln>
                <a:noFill/>
              </a:ln>
              <a:solidFill>
                <a:srgbClr val="D9D9D9">
                  <a:alpha val="50000"/>
                </a:srgbClr>
              </a:solidFill>
              <a:effectLst/>
              <a:uLnTx/>
              <a:uFillTx/>
              <a:latin typeface="等线" panose="02010600030101010101" charset="-122"/>
              <a:cs typeface="+mn-cs"/>
            </a:endParaRPr>
          </a:p>
        </p:txBody>
      </p:sp>
      <p:pic>
        <p:nvPicPr>
          <p:cNvPr id="2" name="图片 1"/>
          <p:cNvPicPr>
            <a:picLocks noChangeAspect="1"/>
          </p:cNvPicPr>
          <p:nvPr/>
        </p:nvPicPr>
        <p:blipFill>
          <a:blip r:embed="rId3"/>
          <a:stretch>
            <a:fillRect/>
          </a:stretch>
        </p:blipFill>
        <p:spPr>
          <a:xfrm>
            <a:off x="6901815" y="2032635"/>
            <a:ext cx="4845050" cy="365252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图表 8"/>
          <p:cNvGraphicFramePr/>
          <p:nvPr/>
        </p:nvGraphicFramePr>
        <p:xfrm>
          <a:off x="344170" y="941070"/>
          <a:ext cx="5993765" cy="3472815"/>
        </p:xfrm>
        <a:graphic>
          <a:graphicData uri="http://schemas.openxmlformats.org/drawingml/2006/chart">
            <c:chart xmlns:c="http://schemas.openxmlformats.org/drawingml/2006/chart" xmlns:r="http://schemas.openxmlformats.org/officeDocument/2006/relationships" r:id="rId1"/>
          </a:graphicData>
        </a:graphic>
      </p:graphicFrame>
      <p:sp>
        <p:nvSpPr>
          <p:cNvPr id="4" name="文本框 3"/>
          <p:cNvSpPr txBox="1"/>
          <p:nvPr/>
        </p:nvSpPr>
        <p:spPr>
          <a:xfrm>
            <a:off x="1282569" y="3437226"/>
            <a:ext cx="1429305" cy="3067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rPr>
              <a:t>通讯服务</a:t>
            </a:r>
            <a:endPar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endParaRPr>
          </a:p>
        </p:txBody>
      </p:sp>
      <p:sp>
        <p:nvSpPr>
          <p:cNvPr id="5" name="文本框 4"/>
          <p:cNvSpPr txBox="1"/>
          <p:nvPr/>
        </p:nvSpPr>
        <p:spPr>
          <a:xfrm>
            <a:off x="1778147" y="2981852"/>
            <a:ext cx="1429305" cy="3067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rPr>
              <a:t>可选消费</a:t>
            </a:r>
            <a:endPar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endParaRPr>
          </a:p>
        </p:txBody>
      </p:sp>
      <p:sp>
        <p:nvSpPr>
          <p:cNvPr id="6" name="文本框 5"/>
          <p:cNvSpPr txBox="1"/>
          <p:nvPr/>
        </p:nvSpPr>
        <p:spPr>
          <a:xfrm>
            <a:off x="2736618" y="2738105"/>
            <a:ext cx="1429305" cy="3067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rPr>
              <a:t>必选消费</a:t>
            </a:r>
            <a:endPar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endParaRPr>
          </a:p>
        </p:txBody>
      </p:sp>
      <p:sp>
        <p:nvSpPr>
          <p:cNvPr id="7" name="文本框 6"/>
          <p:cNvSpPr txBox="1"/>
          <p:nvPr/>
        </p:nvSpPr>
        <p:spPr>
          <a:xfrm>
            <a:off x="4638676" y="1949130"/>
            <a:ext cx="1429305" cy="3067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rPr>
              <a:t>能源</a:t>
            </a:r>
            <a:endPar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endParaRPr>
          </a:p>
        </p:txBody>
      </p:sp>
      <p:sp>
        <p:nvSpPr>
          <p:cNvPr id="13" name="文本框 12"/>
          <p:cNvSpPr txBox="1"/>
          <p:nvPr/>
        </p:nvSpPr>
        <p:spPr>
          <a:xfrm>
            <a:off x="9741663" y="2478258"/>
            <a:ext cx="1387913" cy="3067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rPr>
              <a:t>电信服务</a:t>
            </a:r>
            <a:endPar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endParaRPr>
          </a:p>
        </p:txBody>
      </p:sp>
      <p:sp>
        <p:nvSpPr>
          <p:cNvPr id="14" name="文本框 13"/>
          <p:cNvSpPr txBox="1"/>
          <p:nvPr/>
        </p:nvSpPr>
        <p:spPr>
          <a:xfrm>
            <a:off x="8928349" y="4694798"/>
            <a:ext cx="1387913" cy="3067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rPr>
              <a:t>信息技术</a:t>
            </a:r>
            <a:endPar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endParaRPr>
          </a:p>
        </p:txBody>
      </p:sp>
      <p:sp>
        <p:nvSpPr>
          <p:cNvPr id="15" name="文本框 14"/>
          <p:cNvSpPr txBox="1"/>
          <p:nvPr/>
        </p:nvSpPr>
        <p:spPr>
          <a:xfrm>
            <a:off x="6590597" y="3778829"/>
            <a:ext cx="1387913" cy="3067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rPr>
              <a:t>日常消费</a:t>
            </a:r>
            <a:endPar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endParaRPr>
          </a:p>
        </p:txBody>
      </p:sp>
      <p:sp>
        <p:nvSpPr>
          <p:cNvPr id="16" name="文本框 15"/>
          <p:cNvSpPr txBox="1"/>
          <p:nvPr/>
        </p:nvSpPr>
        <p:spPr>
          <a:xfrm>
            <a:off x="10525692" y="3880902"/>
            <a:ext cx="1387913" cy="3067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rPr>
              <a:t>可选消费</a:t>
            </a:r>
            <a:endPar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endParaRPr>
          </a:p>
        </p:txBody>
      </p:sp>
      <p:sp>
        <p:nvSpPr>
          <p:cNvPr id="17" name="矩形 16"/>
          <p:cNvSpPr/>
          <p:nvPr/>
        </p:nvSpPr>
        <p:spPr>
          <a:xfrm>
            <a:off x="574510" y="278249"/>
            <a:ext cx="3708066" cy="423545"/>
          </a:xfrm>
          <a:prstGeom prst="rect">
            <a:avLst/>
          </a:prstGeom>
          <a:noFill/>
        </p:spPr>
        <p:txBody>
          <a:bodyPr wrap="square" rtlCol="0">
            <a:spAutoFit/>
          </a:bodyPr>
          <a:lstStyle/>
          <a:p>
            <a:pPr lvl="0" algn="l">
              <a:lnSpc>
                <a:spcPct val="90000"/>
              </a:lnSpc>
              <a:spcBef>
                <a:spcPts val="0"/>
              </a:spcBef>
              <a:buClrTx/>
              <a:buSzTx/>
              <a:buFontTx/>
            </a:pPr>
            <a:r>
              <a:rPr lang="zh-CN" altLang="en-US" sz="2400" b="1" dirty="0">
                <a:solidFill>
                  <a:schemeClr val="tx2">
                    <a:lumMod val="75000"/>
                  </a:schemeClr>
                </a:solidFill>
                <a:latin typeface="等线" panose="02010600030101010101" charset="-122"/>
                <a:ea typeface="等线" panose="02010600030101010101" charset="-122"/>
                <a:cs typeface="等线" panose="02010600030101010101" charset="-122"/>
                <a:sym typeface="+mn-ea"/>
              </a:rPr>
              <a:t>行业分布</a:t>
            </a:r>
            <a:endParaRPr lang="zh-CN" altLang="en-US" sz="2400" b="1" dirty="0">
              <a:solidFill>
                <a:schemeClr val="tx2">
                  <a:lumMod val="75000"/>
                </a:schemeClr>
              </a:solidFill>
              <a:latin typeface="等线" panose="02010600030101010101" charset="-122"/>
              <a:ea typeface="等线" panose="02010600030101010101" charset="-122"/>
              <a:cs typeface="等线" panose="02010600030101010101" charset="-122"/>
              <a:sym typeface="+mn-ea"/>
            </a:endParaRPr>
          </a:p>
        </p:txBody>
      </p:sp>
      <p:sp>
        <p:nvSpPr>
          <p:cNvPr id="19" name="文本框 18"/>
          <p:cNvSpPr txBox="1"/>
          <p:nvPr/>
        </p:nvSpPr>
        <p:spPr>
          <a:xfrm>
            <a:off x="133194" y="6641449"/>
            <a:ext cx="4314825" cy="213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数据来源：景林金色中国投资月报、景林价值投资月报、数据截至</a:t>
            </a:r>
            <a:r>
              <a:rPr kumimoji="0" lang="en-US" altLang="zh-CN"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2024/10/31</a:t>
            </a:r>
            <a:endPar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18" name="矩形 17"/>
          <p:cNvSpPr/>
          <p:nvPr/>
        </p:nvSpPr>
        <p:spPr>
          <a:xfrm>
            <a:off x="133194" y="6456010"/>
            <a:ext cx="6972299" cy="21399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备注：根据</a:t>
            </a:r>
            <a:r>
              <a:rPr kumimoji="0" lang="en-US" altLang="zh-CN"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GICS </a:t>
            </a:r>
            <a:r>
              <a:rPr kumimoji="0" lang="en-US" altLang="zh-CN" sz="800" b="0" i="0" u="none" strike="noStrike" kern="1200" cap="none" spc="0" normalizeH="0" baseline="0" noProof="0" dirty="0" err="1">
                <a:ln>
                  <a:noFill/>
                </a:ln>
                <a:solidFill>
                  <a:prstClr val="black"/>
                </a:solidFill>
                <a:effectLst/>
                <a:uLnTx/>
                <a:uFillTx/>
                <a:latin typeface="等线" panose="02010600030101010101" charset="-122"/>
                <a:ea typeface="等线" panose="02010600030101010101" charset="-122"/>
                <a:cs typeface="+mn-cs"/>
              </a:rPr>
              <a:t>Secto</a:t>
            </a:r>
            <a:r>
              <a:rPr kumimoji="0" lang="en-US" altLang="zh-CN"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 - Sub-Industries </a:t>
            </a:r>
            <a:r>
              <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定义；</a:t>
            </a:r>
            <a:endPar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24" name="文本框 23"/>
          <p:cNvSpPr txBox="1"/>
          <p:nvPr/>
        </p:nvSpPr>
        <p:spPr>
          <a:xfrm>
            <a:off x="4282751" y="2310075"/>
            <a:ext cx="1429305" cy="3067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rPr>
              <a:t>信息技术</a:t>
            </a:r>
            <a:endPar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endParaRPr>
          </a:p>
        </p:txBody>
      </p:sp>
      <p:sp>
        <p:nvSpPr>
          <p:cNvPr id="28" name="文本框 27"/>
          <p:cNvSpPr txBox="1"/>
          <p:nvPr/>
        </p:nvSpPr>
        <p:spPr>
          <a:xfrm>
            <a:off x="3344984" y="2430118"/>
            <a:ext cx="1429305" cy="3067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rPr>
              <a:t>工业</a:t>
            </a:r>
            <a:endPar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endParaRPr>
          </a:p>
        </p:txBody>
      </p:sp>
      <p:sp>
        <p:nvSpPr>
          <p:cNvPr id="22" name="文本框 21"/>
          <p:cNvSpPr txBox="1"/>
          <p:nvPr/>
        </p:nvSpPr>
        <p:spPr>
          <a:xfrm>
            <a:off x="9741663" y="3283338"/>
            <a:ext cx="1387913" cy="3067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rPr>
              <a:t>电信服务</a:t>
            </a:r>
            <a:endParaRPr kumimoji="0" lang="zh-CN" altLang="en-US" sz="1400" b="1" i="0" u="none" strike="noStrike" kern="1200" cap="none" spc="0" normalizeH="0" baseline="0" noProof="0" dirty="0">
              <a:ln>
                <a:noFill/>
              </a:ln>
              <a:solidFill>
                <a:prstClr val="white"/>
              </a:solidFill>
              <a:effectLst/>
              <a:uLnTx/>
              <a:uFillTx/>
              <a:latin typeface="等线 Light" panose="02010600030101010101" charset="-122"/>
              <a:ea typeface="等线 Light" panose="02010600030101010101" charset="-122"/>
              <a:cs typeface="+mn-cs"/>
            </a:endParaRPr>
          </a:p>
        </p:txBody>
      </p:sp>
      <p:sp>
        <p:nvSpPr>
          <p:cNvPr id="23" name="矩形 22"/>
          <p:cNvSpPr/>
          <p:nvPr/>
        </p:nvSpPr>
        <p:spPr>
          <a:xfrm>
            <a:off x="8737071" y="1674756"/>
            <a:ext cx="1895475" cy="306705"/>
          </a:xfrm>
          <a:prstGeom prst="rect">
            <a:avLst/>
          </a:prstGeom>
        </p:spPr>
        <p:txBody>
          <a:bodyPr wrap="none">
            <a:sp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2024</a:t>
            </a:r>
            <a:r>
              <a:rPr kumimoji="0" lang="zh-CN" altLang="en-US"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年</a:t>
            </a:r>
            <a:r>
              <a:rPr kumimoji="0" lang="en-US" altLang="zh-CN"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12</a:t>
            </a:r>
            <a:r>
              <a:rPr kumimoji="0" lang="zh-CN" altLang="en-US"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月</a:t>
            </a:r>
            <a:r>
              <a:rPr kumimoji="0" lang="en-US" altLang="zh-CN"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a:t>
            </a:r>
            <a:r>
              <a:rPr kumimoji="0" lang="zh-CN" altLang="en-US" sz="1400" b="1"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行业分布</a:t>
            </a:r>
            <a:endParaRPr kumimoji="0" lang="zh-HK" altLang="en-US" sz="1400" b="1" i="0" u="none" strike="noStrike" kern="1200" cap="none" spc="0" normalizeH="0" baseline="0" noProof="0" dirty="0">
              <a:ln>
                <a:noFill/>
              </a:ln>
              <a:solidFill>
                <a:prstClr val="black"/>
              </a:solidFill>
              <a:effectLst/>
              <a:uLnTx/>
              <a:uFillTx/>
              <a:latin typeface="PMingLiU"/>
              <a:ea typeface="+mj-ea"/>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3D43F66-1552-4AB5-8C73-059430FE9C80}"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21" name="文本框 4"/>
          <p:cNvSpPr txBox="1"/>
          <p:nvPr/>
        </p:nvSpPr>
        <p:spPr>
          <a:xfrm rot="18792261">
            <a:off x="2868108" y="2860347"/>
            <a:ext cx="6278880" cy="8299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TW" altLang="en-US" sz="4800" b="0" i="0" u="none" strike="noStrike" kern="1200" cap="none" spc="0" normalizeH="0" baseline="0" noProof="0" dirty="0">
                <a:ln>
                  <a:noFill/>
                </a:ln>
                <a:solidFill>
                  <a:srgbClr val="D9D9D9">
                    <a:alpha val="50000"/>
                  </a:srgbClr>
                </a:solidFill>
                <a:effectLst/>
                <a:uLnTx/>
                <a:uFillTx/>
                <a:latin typeface="等线" panose="02010600030101010101" charset="-122"/>
                <a:cs typeface="+mn-cs"/>
              </a:rPr>
              <a:t>仅供</a:t>
            </a:r>
            <a:r>
              <a:rPr kumimoji="0" lang="zh-TW" altLang="en-US" sz="4800" b="0" i="0" u="none" strike="noStrike" kern="1200" cap="none" spc="0" normalizeH="0" baseline="0" noProof="0" dirty="0" smtClean="0">
                <a:ln>
                  <a:noFill/>
                </a:ln>
                <a:solidFill>
                  <a:srgbClr val="D9D9D9">
                    <a:alpha val="50000"/>
                  </a:srgbClr>
                </a:solidFill>
                <a:effectLst/>
                <a:uLnTx/>
                <a:uFillTx/>
                <a:latin typeface="等线" panose="02010600030101010101" charset="-122"/>
                <a:cs typeface="+mn-cs"/>
              </a:rPr>
              <a:t>内使用</a:t>
            </a:r>
            <a:r>
              <a:rPr kumimoji="0" lang="zh-CN" altLang="en-US" sz="4800" b="0" i="0" u="none" strike="noStrike" kern="1200" cap="none" spc="0" normalizeH="0" baseline="0" noProof="0" dirty="0" smtClean="0">
                <a:ln>
                  <a:noFill/>
                </a:ln>
                <a:solidFill>
                  <a:srgbClr val="D9D9D9">
                    <a:alpha val="50000"/>
                  </a:srgbClr>
                </a:solidFill>
                <a:effectLst/>
                <a:uLnTx/>
                <a:uFillTx/>
                <a:latin typeface="等线" panose="02010600030101010101" charset="-122"/>
                <a:ea typeface="等线" panose="02010600030101010101" charset="-122"/>
                <a:cs typeface="+mn-cs"/>
              </a:rPr>
              <a:t>，禁止转发</a:t>
            </a:r>
            <a:endParaRPr kumimoji="0" lang="zh-TW" altLang="en-US" sz="4800" b="0" i="0" u="none" strike="noStrike" kern="1200" cap="none" spc="0" normalizeH="0" baseline="0" noProof="0" dirty="0">
              <a:ln>
                <a:noFill/>
              </a:ln>
              <a:solidFill>
                <a:srgbClr val="D9D9D9">
                  <a:alpha val="50000"/>
                </a:srgbClr>
              </a:solidFill>
              <a:effectLst/>
              <a:uLnTx/>
              <a:uFillTx/>
              <a:latin typeface="等线" panose="02010600030101010101" charset="-122"/>
              <a:cs typeface="+mn-cs"/>
            </a:endParaRPr>
          </a:p>
        </p:txBody>
      </p:sp>
      <p:pic>
        <p:nvPicPr>
          <p:cNvPr id="2" name="图片 1"/>
          <p:cNvPicPr>
            <a:picLocks noChangeAspect="1"/>
          </p:cNvPicPr>
          <p:nvPr/>
        </p:nvPicPr>
        <p:blipFill>
          <a:blip r:embed="rId3"/>
          <a:stretch>
            <a:fillRect/>
          </a:stretch>
        </p:blipFill>
        <p:spPr>
          <a:xfrm>
            <a:off x="7013575" y="1981200"/>
            <a:ext cx="4900295" cy="3942715"/>
          </a:xfrm>
          <a:prstGeom prst="rect">
            <a:avLst/>
          </a:prstGeom>
        </p:spPr>
      </p:pic>
      <p:graphicFrame>
        <p:nvGraphicFramePr>
          <p:cNvPr id="10" name="图表 9"/>
          <p:cNvGraphicFramePr/>
          <p:nvPr/>
        </p:nvGraphicFramePr>
        <p:xfrm>
          <a:off x="425450" y="4343400"/>
          <a:ext cx="5913120" cy="176466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2837" y="199821"/>
            <a:ext cx="5135062" cy="423545"/>
          </a:xfrm>
          <a:prstGeom prst="rect">
            <a:avLst/>
          </a:prstGeom>
          <a:noFill/>
        </p:spPr>
        <p:txBody>
          <a:bodyPr wrap="square" rtlCol="0">
            <a:spAutoFit/>
          </a:bodyPr>
          <a:lstStyle/>
          <a:p>
            <a:pPr marL="0" marR="0" lvl="0" algn="l" defTabSz="914400" rtl="0" eaLnBrk="1" fontAlgn="auto" latinLnBrk="0" hangingPunct="1">
              <a:lnSpc>
                <a:spcPct val="90000"/>
              </a:lnSpc>
              <a:spcBef>
                <a:spcPts val="0"/>
              </a:spcBef>
              <a:buClrTx/>
              <a:buSzTx/>
              <a:buFontTx/>
              <a:buNone/>
            </a:pPr>
            <a:r>
              <a:rPr kumimoji="0" lang="zh-CN" altLang="en-US" sz="2400" b="1" i="0" u="none" strike="noStrike" kern="1200" cap="none" spc="0" normalizeH="0" baseline="0" dirty="0">
                <a:solidFill>
                  <a:schemeClr val="tx2">
                    <a:lumMod val="75000"/>
                  </a:schemeClr>
                </a:solidFill>
                <a:latin typeface="等线" panose="02010600030101010101" charset="-122"/>
                <a:ea typeface="等线" panose="02010600030101010101" charset="-122"/>
                <a:cs typeface="等线" panose="02010600030101010101" charset="-122"/>
              </a:rPr>
              <a:t>景林全部基金的美股持仓情况</a:t>
            </a:r>
            <a:endParaRPr kumimoji="0" lang="zh-CN" altLang="en-US" sz="2400" b="1" i="0" u="none" strike="noStrike" kern="1200" cap="none" spc="0" normalizeH="0" baseline="0" dirty="0">
              <a:solidFill>
                <a:schemeClr val="tx2">
                  <a:lumMod val="75000"/>
                </a:schemeClr>
              </a:solidFill>
              <a:latin typeface="等线" panose="02010600030101010101" charset="-122"/>
              <a:ea typeface="等线" panose="02010600030101010101" charset="-122"/>
              <a:cs typeface="等线" panose="02010600030101010101" charset="-122"/>
            </a:endParaRPr>
          </a:p>
        </p:txBody>
      </p:sp>
      <p:graphicFrame>
        <p:nvGraphicFramePr>
          <p:cNvPr id="3" name="表格 2"/>
          <p:cNvGraphicFramePr>
            <a:graphicFrameLocks noGrp="1"/>
          </p:cNvGraphicFramePr>
          <p:nvPr/>
        </p:nvGraphicFramePr>
        <p:xfrm>
          <a:off x="631460" y="770444"/>
          <a:ext cx="4938071" cy="5833449"/>
        </p:xfrm>
        <a:graphic>
          <a:graphicData uri="http://schemas.openxmlformats.org/drawingml/2006/table">
            <a:tbl>
              <a:tblPr firstRow="1">
                <a:tableStyleId>{21E4AEA4-8DFA-4A89-87EB-49C32662AFE0}</a:tableStyleId>
              </a:tblPr>
              <a:tblGrid>
                <a:gridCol w="625952"/>
                <a:gridCol w="2005367"/>
                <a:gridCol w="1078029"/>
                <a:gridCol w="1228723"/>
              </a:tblGrid>
              <a:tr h="134101">
                <a:tc>
                  <a:txBody>
                    <a:bodyPr/>
                    <a:lstStyle/>
                    <a:p>
                      <a:pPr algn="ctr" fontAlgn="ctr"/>
                      <a:r>
                        <a:rPr lang="en-US" sz="1100" b="1" u="none" strike="noStrike" dirty="0">
                          <a:solidFill>
                            <a:schemeClr val="bg1"/>
                          </a:solidFill>
                          <a:effectLst/>
                          <a:latin typeface="等线 Light" panose="02010600030101010101" charset="-122"/>
                          <a:ea typeface="等线 Light" panose="02010600030101010101" charset="-122"/>
                        </a:rPr>
                        <a:t>2021Q1</a:t>
                      </a:r>
                      <a:endParaRPr 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c>
                  <a:txBody>
                    <a:bodyPr/>
                    <a:lstStyle/>
                    <a:p>
                      <a:pPr algn="ctr" fontAlgn="ctr"/>
                      <a:r>
                        <a:rPr lang="zh-CN" altLang="en-US" sz="1100" b="1" u="none" strike="noStrike" dirty="0">
                          <a:solidFill>
                            <a:schemeClr val="bg1"/>
                          </a:solidFill>
                          <a:effectLst/>
                          <a:latin typeface="等线 Light" panose="02010600030101010101" charset="-122"/>
                          <a:ea typeface="等线 Light" panose="02010600030101010101" charset="-122"/>
                        </a:rPr>
                        <a:t>公司名称</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c>
                  <a:txBody>
                    <a:bodyPr/>
                    <a:lstStyle/>
                    <a:p>
                      <a:pPr algn="ctr" fontAlgn="ctr"/>
                      <a:r>
                        <a:rPr lang="zh-CN" altLang="en-US" sz="1100" b="1" u="none" strike="noStrike" dirty="0">
                          <a:solidFill>
                            <a:schemeClr val="bg1"/>
                          </a:solidFill>
                          <a:effectLst/>
                          <a:latin typeface="等线 Light" panose="02010600030101010101" charset="-122"/>
                          <a:ea typeface="等线 Light" panose="02010600030101010101" charset="-122"/>
                        </a:rPr>
                        <a:t>市值（万美元）</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c>
                  <a:txBody>
                    <a:bodyPr/>
                    <a:lstStyle/>
                    <a:p>
                      <a:pPr algn="ctr" fontAlgn="ctr"/>
                      <a:r>
                        <a:rPr lang="zh-CN" altLang="en-US" sz="1100" b="1" u="none" strike="noStrike" dirty="0">
                          <a:solidFill>
                            <a:schemeClr val="bg1"/>
                          </a:solidFill>
                          <a:effectLst/>
                          <a:latin typeface="等线 Light" panose="02010600030101010101" charset="-122"/>
                          <a:ea typeface="等线 Light" panose="02010600030101010101" charset="-122"/>
                        </a:rPr>
                        <a:t>持股数（万股）</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1</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en-US" sz="1100" u="none" strike="noStrike" dirty="0">
                          <a:effectLst/>
                          <a:latin typeface="等线 Light" panose="02010600030101010101" charset="-122"/>
                          <a:ea typeface="等线 Light" panose="02010600030101010101" charset="-122"/>
                        </a:rPr>
                        <a:t>SEA LTD</a:t>
                      </a:r>
                      <a:endParaRPr 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51,081</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229</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2</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拼多多</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35,050</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262</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3</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脸书（</a:t>
                      </a:r>
                      <a:r>
                        <a:rPr lang="en-US" sz="1100" u="none" strike="noStrike" dirty="0">
                          <a:effectLst/>
                          <a:latin typeface="等线 Light" panose="02010600030101010101" charset="-122"/>
                          <a:ea typeface="等线 Light" panose="02010600030101010101" charset="-122"/>
                        </a:rPr>
                        <a:t>Facebook）</a:t>
                      </a:r>
                      <a:endParaRPr 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33,633</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114</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4</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中通快递</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31,213</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1071</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5</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网易</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25,372</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246</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6</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微软（</a:t>
                      </a:r>
                      <a:r>
                        <a:rPr lang="en-US" sz="1100" u="none" strike="noStrike" dirty="0">
                          <a:effectLst/>
                          <a:latin typeface="等线 Light" panose="02010600030101010101" charset="-122"/>
                          <a:ea typeface="等线 Light" panose="02010600030101010101" charset="-122"/>
                        </a:rPr>
                        <a:t>Microsoft）</a:t>
                      </a:r>
                      <a:endParaRPr 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10,407</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44</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7</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en-US" sz="1100" u="none" strike="noStrike" dirty="0">
                          <a:effectLst/>
                          <a:latin typeface="等线 Light" panose="02010600030101010101" charset="-122"/>
                          <a:ea typeface="等线 Light" panose="02010600030101010101" charset="-122"/>
                        </a:rPr>
                        <a:t>360 DIGITECH（</a:t>
                      </a:r>
                      <a:r>
                        <a:rPr lang="zh-CN" altLang="en-US" sz="1100" u="none" strike="noStrike" dirty="0">
                          <a:effectLst/>
                          <a:latin typeface="等线 Light" panose="02010600030101010101" charset="-122"/>
                          <a:ea typeface="等线 Light" panose="02010600030101010101" charset="-122"/>
                        </a:rPr>
                        <a:t>原</a:t>
                      </a:r>
                      <a:r>
                        <a:rPr lang="en-US" altLang="zh-CN" sz="1100" u="none" strike="noStrike" dirty="0">
                          <a:effectLst/>
                          <a:latin typeface="等线 Light" panose="02010600030101010101" charset="-122"/>
                          <a:ea typeface="等线 Light" panose="02010600030101010101" charset="-122"/>
                        </a:rPr>
                        <a:t>360</a:t>
                      </a:r>
                      <a:r>
                        <a:rPr lang="zh-CN" altLang="en-US" sz="1100" u="none" strike="noStrike" dirty="0">
                          <a:effectLst/>
                          <a:latin typeface="等线 Light" panose="02010600030101010101" charset="-122"/>
                          <a:ea typeface="等线 Light" panose="02010600030101010101" charset="-122"/>
                        </a:rPr>
                        <a:t>金融）</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7,550</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290</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8</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京东</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5,818</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69</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9</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谷歌母公司（</a:t>
                      </a:r>
                      <a:r>
                        <a:rPr lang="en-US" sz="1100" u="none" strike="noStrike" dirty="0">
                          <a:effectLst/>
                          <a:latin typeface="等线 Light" panose="02010600030101010101" charset="-122"/>
                          <a:ea typeface="等线 Light" panose="02010600030101010101" charset="-122"/>
                        </a:rPr>
                        <a:t>Alphabet）</a:t>
                      </a:r>
                      <a:endParaRPr 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4,615</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2</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10</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台积电</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4,086</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35</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4101">
                <a:tc>
                  <a:txBody>
                    <a:bodyPr/>
                    <a:lstStyle/>
                    <a:p>
                      <a:pPr algn="ctr" fontAlgn="ctr"/>
                      <a:r>
                        <a:rPr lang="en-US" sz="1100" b="1" u="none" strike="noStrike" dirty="0">
                          <a:solidFill>
                            <a:schemeClr val="bg1"/>
                          </a:solidFill>
                          <a:effectLst/>
                          <a:latin typeface="等线 Light" panose="02010600030101010101" charset="-122"/>
                          <a:ea typeface="等线 Light" panose="02010600030101010101" charset="-122"/>
                        </a:rPr>
                        <a:t>2022Q1</a:t>
                      </a:r>
                      <a:endParaRPr 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c>
                  <a:txBody>
                    <a:bodyPr/>
                    <a:lstStyle/>
                    <a:p>
                      <a:pPr algn="ctr" fontAlgn="ctr"/>
                      <a:r>
                        <a:rPr lang="zh-CN" altLang="en-US" sz="1100" b="1" u="none" strike="noStrike" dirty="0">
                          <a:solidFill>
                            <a:schemeClr val="bg1"/>
                          </a:solidFill>
                          <a:effectLst/>
                          <a:latin typeface="等线 Light" panose="02010600030101010101" charset="-122"/>
                          <a:ea typeface="等线 Light" panose="02010600030101010101" charset="-122"/>
                        </a:rPr>
                        <a:t>公司名称</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c>
                  <a:txBody>
                    <a:bodyPr/>
                    <a:lstStyle/>
                    <a:p>
                      <a:pPr algn="ctr" fontAlgn="ctr"/>
                      <a:r>
                        <a:rPr lang="zh-CN" altLang="en-US" sz="1100" b="1" u="none" strike="noStrike" dirty="0">
                          <a:solidFill>
                            <a:schemeClr val="bg1"/>
                          </a:solidFill>
                          <a:effectLst/>
                          <a:latin typeface="等线 Light" panose="02010600030101010101" charset="-122"/>
                          <a:ea typeface="等线 Light" panose="02010600030101010101" charset="-122"/>
                        </a:rPr>
                        <a:t>市值（万美元）</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c>
                  <a:txBody>
                    <a:bodyPr/>
                    <a:lstStyle/>
                    <a:p>
                      <a:pPr algn="ctr" fontAlgn="ctr"/>
                      <a:r>
                        <a:rPr lang="zh-CN" altLang="en-US" sz="1100" b="1" u="none" strike="noStrike" dirty="0">
                          <a:solidFill>
                            <a:schemeClr val="bg1"/>
                          </a:solidFill>
                          <a:effectLst/>
                          <a:latin typeface="等线 Light" panose="02010600030101010101" charset="-122"/>
                          <a:ea typeface="等线 Light" panose="02010600030101010101" charset="-122"/>
                        </a:rPr>
                        <a:t>持股数（万股）</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1</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网易</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32,293</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360</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2</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贝壳</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25,273</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2043</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3</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京东</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25,184</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435</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4</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en-US" sz="1100" u="none" strike="noStrike" dirty="0">
                          <a:effectLst/>
                          <a:latin typeface="等线 Light" panose="02010600030101010101" charset="-122"/>
                          <a:ea typeface="等线 Light" panose="02010600030101010101" charset="-122"/>
                        </a:rPr>
                        <a:t>SEA LTD</a:t>
                      </a:r>
                      <a:endParaRPr 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20,273</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169</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5</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中概互联网</a:t>
                      </a:r>
                      <a:r>
                        <a:rPr lang="en-US" sz="1100" u="none" strike="noStrike" dirty="0">
                          <a:effectLst/>
                          <a:latin typeface="等线 Light" panose="02010600030101010101" charset="-122"/>
                          <a:ea typeface="等线 Light" panose="02010600030101010101" charset="-122"/>
                        </a:rPr>
                        <a:t>ETF</a:t>
                      </a:r>
                      <a:endParaRPr 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17,495</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614</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6</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谷歌母公司（</a:t>
                      </a:r>
                      <a:r>
                        <a:rPr lang="en-US" sz="1100" u="none" strike="noStrike" dirty="0">
                          <a:effectLst/>
                          <a:latin typeface="等线 Light" panose="02010600030101010101" charset="-122"/>
                          <a:ea typeface="等线 Light" panose="02010600030101010101" charset="-122"/>
                        </a:rPr>
                        <a:t>Alphabet）</a:t>
                      </a:r>
                      <a:endParaRPr 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15,863</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6</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7</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中通快递</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15,611</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624</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8</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en-US" sz="1100" u="none" strike="noStrike" dirty="0">
                          <a:effectLst/>
                          <a:latin typeface="等线 Light" panose="02010600030101010101" charset="-122"/>
                          <a:ea typeface="等线 Light" panose="02010600030101010101" charset="-122"/>
                        </a:rPr>
                        <a:t>META（</a:t>
                      </a:r>
                      <a:r>
                        <a:rPr lang="zh-CN" altLang="en-US" sz="1100" u="none" strike="noStrike" dirty="0">
                          <a:effectLst/>
                          <a:latin typeface="等线 Light" panose="02010600030101010101" charset="-122"/>
                          <a:ea typeface="等线 Light" panose="02010600030101010101" charset="-122"/>
                        </a:rPr>
                        <a:t>原脸书</a:t>
                      </a:r>
                      <a:r>
                        <a:rPr lang="en-US" sz="1100" u="none" strike="noStrike" dirty="0">
                          <a:effectLst/>
                          <a:latin typeface="等线 Light" panose="02010600030101010101" charset="-122"/>
                          <a:ea typeface="等线 Light" panose="02010600030101010101" charset="-122"/>
                        </a:rPr>
                        <a:t>Facebook）</a:t>
                      </a:r>
                      <a:endParaRPr 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13,689</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62</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9</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en-US" sz="1100" u="none" strike="noStrike" dirty="0">
                          <a:effectLst/>
                          <a:latin typeface="等线 Light" panose="02010600030101010101" charset="-122"/>
                          <a:ea typeface="等线 Light" panose="02010600030101010101" charset="-122"/>
                        </a:rPr>
                        <a:t>BOSS</a:t>
                      </a:r>
                      <a:r>
                        <a:rPr lang="zh-CN" altLang="en-US" sz="1100" u="none" strike="noStrike" dirty="0">
                          <a:effectLst/>
                          <a:latin typeface="等线 Light" panose="02010600030101010101" charset="-122"/>
                          <a:ea typeface="等线 Light" panose="02010600030101010101" charset="-122"/>
                        </a:rPr>
                        <a:t>直聘</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8,932</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359</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10</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en-US" sz="1100" u="none" strike="noStrike" dirty="0" err="1">
                          <a:effectLst/>
                          <a:latin typeface="等线 Light" panose="02010600030101010101" charset="-122"/>
                          <a:ea typeface="等线 Light" panose="02010600030101010101" charset="-122"/>
                        </a:rPr>
                        <a:t>DoorDash</a:t>
                      </a:r>
                      <a:r>
                        <a:rPr lang="en-US" sz="1100" u="none" strike="noStrike" dirty="0">
                          <a:effectLst/>
                          <a:latin typeface="等线 Light" panose="02010600030101010101" charset="-122"/>
                          <a:ea typeface="等线 Light" panose="02010600030101010101" charset="-122"/>
                        </a:rPr>
                        <a:t> Inc.</a:t>
                      </a:r>
                      <a:endParaRPr 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8,705</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74</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4101">
                <a:tc>
                  <a:txBody>
                    <a:bodyPr/>
                    <a:lstStyle/>
                    <a:p>
                      <a:pPr algn="ctr" fontAlgn="ctr"/>
                      <a:r>
                        <a:rPr lang="en-US" sz="1100" b="1" u="none" strike="noStrike" dirty="0">
                          <a:solidFill>
                            <a:schemeClr val="bg1"/>
                          </a:solidFill>
                          <a:effectLst/>
                          <a:latin typeface="等线 Light" panose="02010600030101010101" charset="-122"/>
                          <a:ea typeface="等线 Light" panose="02010600030101010101" charset="-122"/>
                        </a:rPr>
                        <a:t>2023Q1</a:t>
                      </a:r>
                      <a:endParaRPr 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c>
                  <a:txBody>
                    <a:bodyPr/>
                    <a:lstStyle/>
                    <a:p>
                      <a:pPr algn="ctr" fontAlgn="ctr"/>
                      <a:r>
                        <a:rPr lang="zh-CN" altLang="en-US" sz="1100" u="none" strike="noStrike" dirty="0">
                          <a:solidFill>
                            <a:schemeClr val="bg1"/>
                          </a:solidFill>
                          <a:effectLst/>
                          <a:latin typeface="等线 Light" panose="02010600030101010101" charset="-122"/>
                          <a:ea typeface="等线 Light" panose="02010600030101010101" charset="-122"/>
                        </a:rPr>
                        <a:t>公司名称</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c>
                  <a:txBody>
                    <a:bodyPr/>
                    <a:lstStyle/>
                    <a:p>
                      <a:pPr algn="ctr" fontAlgn="ctr"/>
                      <a:r>
                        <a:rPr lang="zh-CN" altLang="en-US" sz="1100" u="none" strike="noStrike" dirty="0">
                          <a:solidFill>
                            <a:schemeClr val="bg1"/>
                          </a:solidFill>
                          <a:effectLst/>
                          <a:latin typeface="等线 Light" panose="02010600030101010101" charset="-122"/>
                          <a:ea typeface="等线 Light" panose="02010600030101010101" charset="-122"/>
                        </a:rPr>
                        <a:t>市值（万美元）</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c>
                  <a:txBody>
                    <a:bodyPr/>
                    <a:lstStyle/>
                    <a:p>
                      <a:pPr algn="r" fontAlgn="ctr"/>
                      <a:r>
                        <a:rPr lang="zh-CN" altLang="en-US" sz="1100" u="none" strike="noStrike" dirty="0">
                          <a:solidFill>
                            <a:schemeClr val="bg1"/>
                          </a:solidFill>
                          <a:effectLst/>
                          <a:latin typeface="等线 Light" panose="02010600030101010101" charset="-122"/>
                          <a:ea typeface="等线 Light" panose="02010600030101010101" charset="-122"/>
                        </a:rPr>
                        <a:t>持股数（万股）</a:t>
                      </a:r>
                      <a:endParaRPr lang="zh-CN" altLang="en-US" sz="1100" b="0"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1</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拼多多</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l" fontAlgn="ctr"/>
                      <a:r>
                        <a:rPr lang="zh-CN" altLang="en-US" sz="1100" b="0" i="0" u="none" strike="noStrike" dirty="0">
                          <a:solidFill>
                            <a:srgbClr val="060607"/>
                          </a:solidFill>
                          <a:effectLst/>
                          <a:latin typeface="等线 Light" panose="02010600030101010101" charset="-122"/>
                          <a:ea typeface="等线 Light" panose="02010600030101010101" charset="-122"/>
                        </a:rPr>
                        <a:t>               </a:t>
                      </a:r>
                      <a:r>
                        <a:rPr lang="en-US" altLang="zh-CN" sz="1100" b="0" i="0" u="none" strike="noStrike" dirty="0">
                          <a:solidFill>
                            <a:srgbClr val="060607"/>
                          </a:solidFill>
                          <a:effectLst/>
                          <a:latin typeface="等线 Light" panose="02010600030101010101" charset="-122"/>
                          <a:ea typeface="等线 Light" panose="02010600030101010101" charset="-122"/>
                        </a:rPr>
                        <a:t>32,200 </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423</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2</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新东方</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l" fontAlgn="ctr"/>
                      <a:r>
                        <a:rPr lang="zh-CN" altLang="en-US" sz="1100" b="0" i="0" u="none" strike="noStrike" dirty="0">
                          <a:solidFill>
                            <a:srgbClr val="060607"/>
                          </a:solidFill>
                          <a:effectLst/>
                          <a:latin typeface="等线 Light" panose="02010600030101010101" charset="-122"/>
                          <a:ea typeface="等线 Light" panose="02010600030101010101" charset="-122"/>
                        </a:rPr>
                        <a:t>               </a:t>
                      </a:r>
                      <a:r>
                        <a:rPr lang="en-US" altLang="zh-CN" sz="1100" b="0" i="0" u="none" strike="noStrike" dirty="0">
                          <a:solidFill>
                            <a:srgbClr val="060607"/>
                          </a:solidFill>
                          <a:effectLst/>
                          <a:latin typeface="等线 Light" panose="02010600030101010101" charset="-122"/>
                          <a:ea typeface="等线 Light" panose="02010600030101010101" charset="-122"/>
                        </a:rPr>
                        <a:t>16,604 </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a:solidFill>
                            <a:srgbClr val="060607"/>
                          </a:solidFill>
                          <a:effectLst/>
                          <a:latin typeface="等线 Light" panose="02010600030101010101" charset="-122"/>
                          <a:ea typeface="等线 Light" panose="02010600030101010101" charset="-122"/>
                        </a:rPr>
                        <a:t>430</a:t>
                      </a:r>
                      <a:endParaRPr lang="en-US" altLang="zh-CN" sz="1100" b="0" i="0" u="none" strike="noStrike">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3</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网易</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l" fontAlgn="ctr"/>
                      <a:r>
                        <a:rPr lang="zh-CN" altLang="en-US" sz="1100" b="0" i="0" u="none" strike="noStrike" dirty="0">
                          <a:solidFill>
                            <a:srgbClr val="060607"/>
                          </a:solidFill>
                          <a:effectLst/>
                          <a:latin typeface="等线 Light" panose="02010600030101010101" charset="-122"/>
                          <a:ea typeface="等线 Light" panose="02010600030101010101" charset="-122"/>
                        </a:rPr>
                        <a:t>               </a:t>
                      </a:r>
                      <a:r>
                        <a:rPr lang="en-US" altLang="zh-CN" sz="1100" b="0" i="0" u="none" strike="noStrike" dirty="0">
                          <a:solidFill>
                            <a:srgbClr val="060607"/>
                          </a:solidFill>
                          <a:effectLst/>
                          <a:latin typeface="等线 Light" panose="02010600030101010101" charset="-122"/>
                          <a:ea typeface="等线 Light" panose="02010600030101010101" charset="-122"/>
                        </a:rPr>
                        <a:t>15,800 </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a:solidFill>
                            <a:srgbClr val="060607"/>
                          </a:solidFill>
                          <a:effectLst/>
                          <a:latin typeface="等线 Light" panose="02010600030101010101" charset="-122"/>
                          <a:ea typeface="等线 Light" panose="02010600030101010101" charset="-122"/>
                        </a:rPr>
                        <a:t>179</a:t>
                      </a:r>
                      <a:endParaRPr lang="en-US" altLang="zh-CN" sz="1100" b="0" i="0" u="none" strike="noStrike">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4</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en-US" sz="1100" u="none" strike="noStrike" dirty="0">
                          <a:effectLst/>
                          <a:latin typeface="等线 Light" panose="02010600030101010101" charset="-122"/>
                          <a:ea typeface="等线 Light" panose="02010600030101010101" charset="-122"/>
                        </a:rPr>
                        <a:t>DOORDASH</a:t>
                      </a:r>
                      <a:endParaRPr 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l" fontAlgn="ctr"/>
                      <a:r>
                        <a:rPr lang="zh-CN" altLang="en-US" sz="1100" b="0" i="0" u="none" strike="noStrike" dirty="0">
                          <a:solidFill>
                            <a:srgbClr val="060607"/>
                          </a:solidFill>
                          <a:effectLst/>
                          <a:latin typeface="等线 Light" panose="02010600030101010101" charset="-122"/>
                          <a:ea typeface="等线 Light" panose="02010600030101010101" charset="-122"/>
                        </a:rPr>
                        <a:t>               </a:t>
                      </a:r>
                      <a:r>
                        <a:rPr lang="en-US" altLang="zh-CN" sz="1100" b="0" i="0" u="none" strike="noStrike" dirty="0">
                          <a:solidFill>
                            <a:srgbClr val="060607"/>
                          </a:solidFill>
                          <a:effectLst/>
                          <a:latin typeface="等线 Light" panose="02010600030101010101" charset="-122"/>
                          <a:ea typeface="等线 Light" panose="02010600030101010101" charset="-122"/>
                        </a:rPr>
                        <a:t>14,600 </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a:solidFill>
                            <a:srgbClr val="060607"/>
                          </a:solidFill>
                          <a:effectLst/>
                          <a:latin typeface="等线 Light" panose="02010600030101010101" charset="-122"/>
                          <a:ea typeface="等线 Light" panose="02010600030101010101" charset="-122"/>
                        </a:rPr>
                        <a:t>229</a:t>
                      </a:r>
                      <a:endParaRPr lang="en-US" altLang="zh-CN" sz="1100" b="0" i="0" u="none" strike="noStrike">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5</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a:effectLst/>
                          <a:latin typeface="等线 Light" panose="02010600030101010101" charset="-122"/>
                          <a:ea typeface="等线 Light" panose="02010600030101010101" charset="-122"/>
                        </a:rPr>
                        <a:t>脸书</a:t>
                      </a:r>
                      <a:r>
                        <a:rPr lang="en-US" altLang="zh-CN" sz="1100" u="none" strike="noStrike">
                          <a:effectLst/>
                          <a:latin typeface="等线 Light" panose="02010600030101010101" charset="-122"/>
                          <a:ea typeface="等线 Light" panose="02010600030101010101" charset="-122"/>
                        </a:rPr>
                        <a:t>(</a:t>
                      </a:r>
                      <a:r>
                        <a:rPr lang="en-US" sz="1100" u="none" strike="noStrike">
                          <a:effectLst/>
                          <a:latin typeface="等线 Light" panose="02010600030101010101" charset="-122"/>
                          <a:ea typeface="等线 Light" panose="02010600030101010101" charset="-122"/>
                        </a:rPr>
                        <a:t>META PLATFORMS)</a:t>
                      </a:r>
                      <a:endParaRPr lang="en-US" sz="1100" b="0" i="0" u="none" strike="noStrike">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l" fontAlgn="ctr"/>
                      <a:r>
                        <a:rPr lang="zh-CN" altLang="en-US" sz="1100" b="0" i="0" u="none" strike="noStrike" dirty="0">
                          <a:solidFill>
                            <a:srgbClr val="060607"/>
                          </a:solidFill>
                          <a:effectLst/>
                          <a:latin typeface="等线 Light" panose="02010600030101010101" charset="-122"/>
                          <a:ea typeface="等线 Light" panose="02010600030101010101" charset="-122"/>
                        </a:rPr>
                        <a:t>               </a:t>
                      </a:r>
                      <a:r>
                        <a:rPr lang="en-US" altLang="zh-CN" sz="1100" b="0" i="0" u="none" strike="noStrike" dirty="0">
                          <a:solidFill>
                            <a:srgbClr val="060607"/>
                          </a:solidFill>
                          <a:effectLst/>
                          <a:latin typeface="等线 Light" panose="02010600030101010101" charset="-122"/>
                          <a:ea typeface="等线 Light" panose="02010600030101010101" charset="-122"/>
                        </a:rPr>
                        <a:t>13,342 </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a:solidFill>
                            <a:srgbClr val="060607"/>
                          </a:solidFill>
                          <a:effectLst/>
                          <a:latin typeface="等线 Light" panose="02010600030101010101" charset="-122"/>
                          <a:ea typeface="等线 Light" panose="02010600030101010101" charset="-122"/>
                        </a:rPr>
                        <a:t>63</a:t>
                      </a:r>
                      <a:endParaRPr lang="en-US" altLang="zh-CN" sz="1100" b="0" i="0" u="none" strike="noStrike">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6</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中通快递</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l" fontAlgn="ctr"/>
                      <a:r>
                        <a:rPr lang="zh-CN" altLang="en-US" sz="1100" b="0" i="0" u="none" strike="noStrike" dirty="0">
                          <a:solidFill>
                            <a:srgbClr val="060607"/>
                          </a:solidFill>
                          <a:effectLst/>
                          <a:latin typeface="等线 Light" panose="02010600030101010101" charset="-122"/>
                          <a:ea typeface="等线 Light" panose="02010600030101010101" charset="-122"/>
                        </a:rPr>
                        <a:t>               </a:t>
                      </a:r>
                      <a:r>
                        <a:rPr lang="en-US" altLang="zh-CN" sz="1100" b="0" i="0" u="none" strike="noStrike" dirty="0">
                          <a:solidFill>
                            <a:srgbClr val="060607"/>
                          </a:solidFill>
                          <a:effectLst/>
                          <a:latin typeface="等线 Light" panose="02010600030101010101" charset="-122"/>
                          <a:ea typeface="等线 Light" panose="02010600030101010101" charset="-122"/>
                        </a:rPr>
                        <a:t>11,200 </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391</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7</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英伟达</a:t>
                      </a:r>
                      <a:r>
                        <a:rPr lang="en-US" altLang="zh-CN" sz="1100" u="none" strike="noStrike" dirty="0">
                          <a:effectLst/>
                          <a:latin typeface="等线 Light" panose="02010600030101010101" charset="-122"/>
                          <a:ea typeface="等线 Light" panose="02010600030101010101" charset="-122"/>
                        </a:rPr>
                        <a:t>(</a:t>
                      </a:r>
                      <a:r>
                        <a:rPr lang="en-US" sz="1100" u="none" strike="noStrike" dirty="0">
                          <a:effectLst/>
                          <a:latin typeface="等线 Light" panose="02010600030101010101" charset="-122"/>
                          <a:ea typeface="等线 Light" panose="02010600030101010101" charset="-122"/>
                        </a:rPr>
                        <a:t>NVIDIA)</a:t>
                      </a:r>
                      <a:endParaRPr 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l" fontAlgn="ctr"/>
                      <a:r>
                        <a:rPr lang="zh-CN" altLang="en-US" sz="1100" b="0" i="0" u="none" strike="noStrike" dirty="0">
                          <a:solidFill>
                            <a:srgbClr val="060607"/>
                          </a:solidFill>
                          <a:effectLst/>
                          <a:latin typeface="等线 Light" panose="02010600030101010101" charset="-122"/>
                          <a:ea typeface="等线 Light" panose="02010600030101010101" charset="-122"/>
                        </a:rPr>
                        <a:t>                  </a:t>
                      </a:r>
                      <a:r>
                        <a:rPr lang="en-US" altLang="zh-CN" sz="1100" b="0" i="0" u="none" strike="noStrike" dirty="0">
                          <a:solidFill>
                            <a:srgbClr val="060607"/>
                          </a:solidFill>
                          <a:effectLst/>
                          <a:latin typeface="等线 Light" panose="02010600030101010101" charset="-122"/>
                          <a:ea typeface="等线 Light" panose="02010600030101010101" charset="-122"/>
                        </a:rPr>
                        <a:t>9,000 </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33</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8</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u="none" strike="noStrike" dirty="0">
                          <a:effectLst/>
                          <a:latin typeface="等线 Light" panose="02010600030101010101" charset="-122"/>
                          <a:ea typeface="等线 Light" panose="02010600030101010101" charset="-122"/>
                        </a:rPr>
                        <a:t>微软</a:t>
                      </a:r>
                      <a:r>
                        <a:rPr lang="en-US" altLang="zh-CN" sz="1100" u="none" strike="noStrike" dirty="0">
                          <a:effectLst/>
                          <a:latin typeface="等线 Light" panose="02010600030101010101" charset="-122"/>
                          <a:ea typeface="等线 Light" panose="02010600030101010101" charset="-122"/>
                        </a:rPr>
                        <a:t>(</a:t>
                      </a:r>
                      <a:r>
                        <a:rPr lang="en-US" sz="1100" u="none" strike="noStrike" dirty="0">
                          <a:effectLst/>
                          <a:latin typeface="等线 Light" panose="02010600030101010101" charset="-122"/>
                          <a:ea typeface="等线 Light" panose="02010600030101010101" charset="-122"/>
                        </a:rPr>
                        <a:t>MICROSOFT)</a:t>
                      </a:r>
                      <a:endParaRPr 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l" fontAlgn="ctr"/>
                      <a:r>
                        <a:rPr lang="zh-CN" altLang="en-US" sz="1100" b="0" i="0" u="none" strike="noStrike" dirty="0">
                          <a:solidFill>
                            <a:srgbClr val="060607"/>
                          </a:solidFill>
                          <a:effectLst/>
                          <a:latin typeface="等线 Light" panose="02010600030101010101" charset="-122"/>
                          <a:ea typeface="等线 Light" panose="02010600030101010101" charset="-122"/>
                        </a:rPr>
                        <a:t>                  </a:t>
                      </a:r>
                      <a:r>
                        <a:rPr lang="en-US" altLang="zh-CN" sz="1100" b="0" i="0" u="none" strike="noStrike" dirty="0">
                          <a:solidFill>
                            <a:srgbClr val="060607"/>
                          </a:solidFill>
                          <a:effectLst/>
                          <a:latin typeface="等线 Light" panose="02010600030101010101" charset="-122"/>
                          <a:ea typeface="等线 Light" panose="02010600030101010101" charset="-122"/>
                        </a:rPr>
                        <a:t>8,100 </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28</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9</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en-US" sz="1100" u="none" strike="noStrike" dirty="0">
                          <a:effectLst/>
                          <a:latin typeface="等线 Light" panose="02010600030101010101" charset="-122"/>
                          <a:ea typeface="等线 Light" panose="02010600030101010101" charset="-122"/>
                        </a:rPr>
                        <a:t>BOSS</a:t>
                      </a:r>
                      <a:r>
                        <a:rPr lang="zh-CN" altLang="en-US" sz="1100" u="none" strike="noStrike" dirty="0">
                          <a:effectLst/>
                          <a:latin typeface="等线 Light" panose="02010600030101010101" charset="-122"/>
                          <a:ea typeface="等线 Light" panose="02010600030101010101" charset="-122"/>
                        </a:rPr>
                        <a:t>直聘</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l" fontAlgn="ctr"/>
                      <a:r>
                        <a:rPr lang="zh-CN" altLang="en-US" sz="1100" b="0" i="0" u="none" strike="noStrike">
                          <a:solidFill>
                            <a:srgbClr val="060607"/>
                          </a:solidFill>
                          <a:effectLst/>
                          <a:latin typeface="等线 Light" panose="02010600030101010101" charset="-122"/>
                          <a:ea typeface="等线 Light" panose="02010600030101010101" charset="-122"/>
                        </a:rPr>
                        <a:t>                  </a:t>
                      </a:r>
                      <a:r>
                        <a:rPr lang="en-US" altLang="zh-CN" sz="1100" b="0" i="0" u="none" strike="noStrike">
                          <a:solidFill>
                            <a:srgbClr val="060607"/>
                          </a:solidFill>
                          <a:effectLst/>
                          <a:latin typeface="等线 Light" panose="02010600030101010101" charset="-122"/>
                          <a:ea typeface="等线 Light" panose="02010600030101010101" charset="-122"/>
                        </a:rPr>
                        <a:t>7,500 </a:t>
                      </a:r>
                      <a:endParaRPr lang="en-US" altLang="zh-CN" sz="1100" b="0" i="0" u="none" strike="noStrike">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396</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137462">
                <a:tc>
                  <a:txBody>
                    <a:bodyPr/>
                    <a:lstStyle/>
                    <a:p>
                      <a:pPr algn="ctr" fontAlgn="ctr"/>
                      <a:r>
                        <a:rPr lang="en-US" altLang="zh-CN" sz="1100" b="1" u="none" strike="noStrike" dirty="0">
                          <a:effectLst/>
                          <a:latin typeface="等线 Light" panose="02010600030101010101" charset="-122"/>
                          <a:ea typeface="等线 Light" panose="02010600030101010101" charset="-122"/>
                        </a:rPr>
                        <a:t>10</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100" u="none" strike="noStrike" dirty="0">
                          <a:effectLst/>
                          <a:latin typeface="等线 Light" panose="02010600030101010101" charset="-122"/>
                          <a:ea typeface="等线 Light" panose="02010600030101010101" charset="-122"/>
                        </a:rPr>
                        <a:t>360</a:t>
                      </a:r>
                      <a:r>
                        <a:rPr lang="zh-CN" altLang="en-US" sz="1100" u="none" strike="noStrike" dirty="0">
                          <a:effectLst/>
                          <a:latin typeface="等线 Light" panose="02010600030101010101" charset="-122"/>
                          <a:ea typeface="等线 Light" panose="02010600030101010101" charset="-122"/>
                        </a:rPr>
                        <a:t>数科</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100" b="0" i="0" u="none" strike="noStrike" dirty="0">
                          <a:solidFill>
                            <a:srgbClr val="060607"/>
                          </a:solidFill>
                          <a:effectLst/>
                          <a:latin typeface="等线 Light" panose="02010600030101010101" charset="-122"/>
                          <a:ea typeface="等线 Light" panose="02010600030101010101" charset="-122"/>
                        </a:rPr>
                        <a:t>                  </a:t>
                      </a:r>
                      <a:r>
                        <a:rPr lang="en-US" altLang="zh-CN" sz="1100" b="0" i="0" u="none" strike="noStrike" dirty="0">
                          <a:solidFill>
                            <a:srgbClr val="060607"/>
                          </a:solidFill>
                          <a:effectLst/>
                          <a:latin typeface="等线 Light" panose="02010600030101010101" charset="-122"/>
                          <a:ea typeface="等线 Light" panose="02010600030101010101" charset="-122"/>
                        </a:rPr>
                        <a:t>6,300 </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altLang="zh-CN" sz="1100" b="0" i="0" u="none" strike="noStrike" dirty="0">
                          <a:solidFill>
                            <a:srgbClr val="060607"/>
                          </a:solidFill>
                          <a:effectLst/>
                          <a:latin typeface="等线 Light" panose="02010600030101010101" charset="-122"/>
                          <a:ea typeface="等线 Light" panose="02010600030101010101" charset="-122"/>
                        </a:rPr>
                        <a:t>324</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lnB w="12700" cap="flat" cmpd="sng" algn="ctr">
                      <a:solidFill>
                        <a:schemeClr val="tx1"/>
                      </a:solidFill>
                      <a:prstDash val="solid"/>
                      <a:round/>
                      <a:headEnd type="none" w="med" len="med"/>
                      <a:tailEnd type="none" w="med" len="med"/>
                    </a:lnB>
                    <a:solidFill>
                      <a:schemeClr val="bg1"/>
                    </a:solidFill>
                  </a:tcPr>
                </a:tc>
              </a:tr>
            </a:tbl>
          </a:graphicData>
        </a:graphic>
      </p:graphicFrame>
      <p:graphicFrame>
        <p:nvGraphicFramePr>
          <p:cNvPr id="4" name="表格 3"/>
          <p:cNvGraphicFramePr>
            <a:graphicFrameLocks noGrp="1"/>
          </p:cNvGraphicFramePr>
          <p:nvPr/>
        </p:nvGraphicFramePr>
        <p:xfrm>
          <a:off x="6004442" y="752292"/>
          <a:ext cx="4914447" cy="5910876"/>
        </p:xfrm>
        <a:graphic>
          <a:graphicData uri="http://schemas.openxmlformats.org/drawingml/2006/table">
            <a:tbl>
              <a:tblPr firstRow="1">
                <a:tableStyleId>{21E4AEA4-8DFA-4A89-87EB-49C32662AFE0}</a:tableStyleId>
              </a:tblPr>
              <a:tblGrid>
                <a:gridCol w="616445"/>
                <a:gridCol w="2123316"/>
                <a:gridCol w="1053096"/>
                <a:gridCol w="1121590"/>
              </a:tblGrid>
              <a:tr h="126180">
                <a:tc>
                  <a:txBody>
                    <a:bodyPr/>
                    <a:lstStyle/>
                    <a:p>
                      <a:pPr algn="ctr" fontAlgn="ctr"/>
                      <a:r>
                        <a:rPr lang="en-US" altLang="zh-CN" sz="1100" b="1" u="none" strike="noStrike" dirty="0">
                          <a:solidFill>
                            <a:schemeClr val="bg1"/>
                          </a:solidFill>
                          <a:effectLst/>
                          <a:latin typeface="等线 Light" panose="02010600030101010101" charset="-122"/>
                          <a:ea typeface="等线 Light" panose="02010600030101010101" charset="-122"/>
                        </a:rPr>
                        <a:t>2024Q1</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c>
                  <a:txBody>
                    <a:bodyPr/>
                    <a:lstStyle/>
                    <a:p>
                      <a:pPr algn="ctr" fontAlgn="ctr"/>
                      <a:r>
                        <a:rPr lang="zh-CN" altLang="en-US" sz="1100" b="1" u="none" strike="noStrike" dirty="0">
                          <a:solidFill>
                            <a:schemeClr val="bg1"/>
                          </a:solidFill>
                          <a:effectLst/>
                          <a:latin typeface="等线 Light" panose="02010600030101010101" charset="-122"/>
                          <a:ea typeface="等线 Light" panose="02010600030101010101" charset="-122"/>
                        </a:rPr>
                        <a:t>公司名称</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c>
                  <a:txBody>
                    <a:bodyPr/>
                    <a:lstStyle/>
                    <a:p>
                      <a:pPr algn="r" fontAlgn="ctr"/>
                      <a:r>
                        <a:rPr lang="zh-CN" altLang="en-US" sz="1100" b="1" u="none" strike="noStrike" dirty="0">
                          <a:solidFill>
                            <a:schemeClr val="bg1"/>
                          </a:solidFill>
                          <a:effectLst/>
                          <a:latin typeface="等线 Light" panose="02010600030101010101" charset="-122"/>
                          <a:ea typeface="等线 Light" panose="02010600030101010101" charset="-122"/>
                        </a:rPr>
                        <a:t>市值（万美元）</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c>
                  <a:txBody>
                    <a:bodyPr/>
                    <a:lstStyle/>
                    <a:p>
                      <a:pPr algn="r" fontAlgn="ctr"/>
                      <a:r>
                        <a:rPr lang="zh-CN" altLang="en-US" sz="1100" b="1" u="none" strike="noStrike" dirty="0">
                          <a:solidFill>
                            <a:schemeClr val="bg1"/>
                          </a:solidFill>
                          <a:effectLst/>
                          <a:latin typeface="等线 Light" panose="02010600030101010101" charset="-122"/>
                          <a:ea typeface="等线 Light" panose="02010600030101010101" charset="-122"/>
                        </a:rPr>
                        <a:t>持股数（万股）</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1</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b="0" i="0" u="none" strike="noStrike" dirty="0">
                          <a:solidFill>
                            <a:srgbClr val="060607"/>
                          </a:solidFill>
                          <a:effectLst/>
                          <a:latin typeface="等线 Light" panose="02010600030101010101" charset="-122"/>
                          <a:ea typeface="等线 Light" panose="02010600030101010101" charset="-122"/>
                        </a:rPr>
                        <a:t>脸书</a:t>
                      </a:r>
                      <a:r>
                        <a:rPr lang="en-US" altLang="zh-CN" sz="1100" b="0" i="0" u="none" strike="noStrike" dirty="0">
                          <a:solidFill>
                            <a:srgbClr val="060607"/>
                          </a:solidFill>
                          <a:effectLst/>
                          <a:latin typeface="等线 Light" panose="02010600030101010101" charset="-122"/>
                          <a:ea typeface="等线 Light" panose="02010600030101010101" charset="-122"/>
                        </a:rPr>
                        <a:t>(</a:t>
                      </a:r>
                      <a:r>
                        <a:rPr lang="en-US" sz="1100" b="0" i="0" u="none" strike="noStrike" dirty="0">
                          <a:solidFill>
                            <a:srgbClr val="060607"/>
                          </a:solidFill>
                          <a:effectLst/>
                          <a:latin typeface="等线 Light" panose="02010600030101010101" charset="-122"/>
                          <a:ea typeface="等线 Light" panose="02010600030101010101" charset="-122"/>
                        </a:rPr>
                        <a:t>META PLATFORMS)</a:t>
                      </a:r>
                      <a:endParaRPr lang="en-US"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zh-CN" altLang="en-US" sz="1100" b="0" i="0" u="none" strike="noStrike" dirty="0">
                          <a:solidFill>
                            <a:srgbClr val="060607"/>
                          </a:solidFill>
                          <a:effectLst/>
                          <a:latin typeface="等线 Light" panose="02010600030101010101" charset="-122"/>
                          <a:ea typeface="等线 Light" panose="02010600030101010101" charset="-122"/>
                        </a:rPr>
                        <a:t>                </a:t>
                      </a:r>
                      <a:r>
                        <a:rPr lang="en-US" altLang="zh-CN" sz="1100" b="0" i="0" u="none" strike="noStrike" dirty="0">
                          <a:solidFill>
                            <a:srgbClr val="060607"/>
                          </a:solidFill>
                          <a:effectLst/>
                          <a:latin typeface="等线 Light" panose="02010600030101010101" charset="-122"/>
                          <a:ea typeface="等线 Light" panose="02010600030101010101" charset="-122"/>
                        </a:rPr>
                        <a:t>61,380 </a:t>
                      </a:r>
                      <a:endParaRPr lang="en-US" altLang="zh-CN"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ctr"/>
                      <a:r>
                        <a:rPr lang="zh-CN" altLang="en-US" sz="1100" b="0" i="0" u="none" strike="noStrike">
                          <a:solidFill>
                            <a:srgbClr val="060607"/>
                          </a:solidFill>
                          <a:effectLst/>
                          <a:latin typeface="等线 Light" panose="02010600030101010101" charset="-122"/>
                          <a:ea typeface="等线 Light" panose="02010600030101010101" charset="-122"/>
                        </a:rPr>
                        <a:t>                   </a:t>
                      </a:r>
                      <a:r>
                        <a:rPr lang="en-US" altLang="zh-CN" sz="1100" b="0" i="0" u="none" strike="noStrike">
                          <a:solidFill>
                            <a:srgbClr val="060607"/>
                          </a:solidFill>
                          <a:effectLst/>
                          <a:latin typeface="等线 Light" panose="02010600030101010101" charset="-122"/>
                          <a:ea typeface="等线 Light" panose="02010600030101010101" charset="-122"/>
                        </a:rPr>
                        <a:t>1,264 </a:t>
                      </a:r>
                      <a:endParaRPr lang="en-US" altLang="zh-CN" sz="1100" b="0" i="0" u="none" strike="noStrike">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2</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b="0" i="0" u="none" strike="noStrike" dirty="0">
                          <a:solidFill>
                            <a:srgbClr val="060607"/>
                          </a:solidFill>
                          <a:effectLst/>
                          <a:latin typeface="等线 Light" panose="02010600030101010101" charset="-122"/>
                          <a:ea typeface="等线 Light" panose="02010600030101010101" charset="-122"/>
                        </a:rPr>
                        <a:t>拼多多</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b"/>
                      <a:r>
                        <a:rPr lang="zh-CN" altLang="en-US" sz="1100" b="0" i="0" u="none" strike="noStrike" dirty="0">
                          <a:solidFill>
                            <a:srgbClr val="000000"/>
                          </a:solidFill>
                          <a:effectLst/>
                          <a:latin typeface="等线 Light" panose="02010600030101010101" charset="-122"/>
                          <a:ea typeface="等线 Light" panose="02010600030101010101" charset="-122"/>
                        </a:rPr>
                        <a:t>                </a:t>
                      </a:r>
                      <a:r>
                        <a:rPr lang="en-US" altLang="zh-CN" sz="1100" b="0" i="0" u="none" strike="noStrike" dirty="0">
                          <a:solidFill>
                            <a:srgbClr val="000000"/>
                          </a:solidFill>
                          <a:effectLst/>
                          <a:latin typeface="等线 Light" panose="02010600030101010101" charset="-122"/>
                          <a:ea typeface="等线 Light" panose="02010600030101010101" charset="-122"/>
                        </a:rPr>
                        <a:t>42,253 </a:t>
                      </a:r>
                      <a:endParaRPr lang="en-US" altLang="zh-CN" sz="1100" b="0"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c>
                  <a:txBody>
                    <a:bodyPr/>
                    <a:lstStyle/>
                    <a:p>
                      <a:pPr algn="r" fontAlgn="b"/>
                      <a:r>
                        <a:rPr lang="zh-CN" altLang="en-US" sz="1100" b="0" i="0" u="none" strike="noStrike">
                          <a:solidFill>
                            <a:srgbClr val="000000"/>
                          </a:solidFill>
                          <a:effectLst/>
                          <a:latin typeface="等线 Light" panose="02010600030101010101" charset="-122"/>
                          <a:ea typeface="等线 Light" panose="02010600030101010101" charset="-122"/>
                        </a:rPr>
                        <a:t>                  </a:t>
                      </a:r>
                      <a:r>
                        <a:rPr lang="en-US" altLang="zh-CN" sz="1100" b="0" i="0" u="none" strike="noStrike">
                          <a:solidFill>
                            <a:srgbClr val="000000"/>
                          </a:solidFill>
                          <a:effectLst/>
                          <a:latin typeface="等线 Light" panose="02010600030101010101" charset="-122"/>
                          <a:ea typeface="等线 Light" panose="02010600030101010101" charset="-122"/>
                        </a:rPr>
                        <a:t>363 </a:t>
                      </a:r>
                      <a:endParaRPr lang="en-US" altLang="zh-CN" sz="1100" b="0" i="0" u="none" strike="noStrike">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3</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b="0" i="0" u="none" strike="noStrike" dirty="0">
                          <a:solidFill>
                            <a:srgbClr val="060607"/>
                          </a:solidFill>
                          <a:effectLst/>
                          <a:latin typeface="等线 Light" panose="02010600030101010101" charset="-122"/>
                          <a:ea typeface="等线 Light" panose="02010600030101010101" charset="-122"/>
                        </a:rPr>
                        <a:t>微软</a:t>
                      </a:r>
                      <a:r>
                        <a:rPr lang="en-US" altLang="zh-CN" sz="1100" b="0" i="0" u="none" strike="noStrike" dirty="0">
                          <a:solidFill>
                            <a:srgbClr val="060607"/>
                          </a:solidFill>
                          <a:effectLst/>
                          <a:latin typeface="等线 Light" panose="02010600030101010101" charset="-122"/>
                          <a:ea typeface="等线 Light" panose="02010600030101010101" charset="-122"/>
                        </a:rPr>
                        <a:t>(</a:t>
                      </a:r>
                      <a:r>
                        <a:rPr lang="en-US" sz="1100" b="0" i="0" u="none" strike="noStrike" dirty="0">
                          <a:solidFill>
                            <a:srgbClr val="060607"/>
                          </a:solidFill>
                          <a:effectLst/>
                          <a:latin typeface="等线 Light" panose="02010600030101010101" charset="-122"/>
                          <a:ea typeface="等线 Light" panose="02010600030101010101" charset="-122"/>
                        </a:rPr>
                        <a:t>MICROSOFT)</a:t>
                      </a:r>
                      <a:endParaRPr lang="en-US"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b"/>
                      <a:r>
                        <a:rPr lang="zh-CN" altLang="en-US" sz="1100" b="0" i="0" u="none" strike="noStrike" dirty="0">
                          <a:solidFill>
                            <a:srgbClr val="000000"/>
                          </a:solidFill>
                          <a:effectLst/>
                          <a:latin typeface="等线 Light" panose="02010600030101010101" charset="-122"/>
                          <a:ea typeface="等线 Light" panose="02010600030101010101" charset="-122"/>
                        </a:rPr>
                        <a:t>                </a:t>
                      </a:r>
                      <a:r>
                        <a:rPr lang="en-US" altLang="zh-CN" sz="1100" b="0" i="0" u="none" strike="noStrike" dirty="0">
                          <a:solidFill>
                            <a:srgbClr val="000000"/>
                          </a:solidFill>
                          <a:effectLst/>
                          <a:latin typeface="等线 Light" panose="02010600030101010101" charset="-122"/>
                          <a:ea typeface="等线 Light" panose="02010600030101010101" charset="-122"/>
                        </a:rPr>
                        <a:t>38,065 </a:t>
                      </a:r>
                      <a:endParaRPr lang="en-US" altLang="zh-CN" sz="1100" b="0"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c>
                  <a:txBody>
                    <a:bodyPr/>
                    <a:lstStyle/>
                    <a:p>
                      <a:pPr algn="r" fontAlgn="b"/>
                      <a:r>
                        <a:rPr lang="zh-CN" altLang="en-US" sz="1100" b="0" i="0" u="none" strike="noStrike">
                          <a:solidFill>
                            <a:srgbClr val="000000"/>
                          </a:solidFill>
                          <a:effectLst/>
                          <a:latin typeface="等线 Light" panose="02010600030101010101" charset="-122"/>
                          <a:ea typeface="等线 Light" panose="02010600030101010101" charset="-122"/>
                        </a:rPr>
                        <a:t>                   </a:t>
                      </a:r>
                      <a:r>
                        <a:rPr lang="en-US" altLang="zh-CN" sz="1100" b="0" i="0" u="none" strike="noStrike">
                          <a:solidFill>
                            <a:srgbClr val="000000"/>
                          </a:solidFill>
                          <a:effectLst/>
                          <a:latin typeface="等线 Light" panose="02010600030101010101" charset="-122"/>
                          <a:ea typeface="等线 Light" panose="02010600030101010101" charset="-122"/>
                        </a:rPr>
                        <a:t>90 </a:t>
                      </a:r>
                      <a:endParaRPr lang="en-US" altLang="zh-CN" sz="1100" b="0" i="0" u="none" strike="noStrike">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4</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b="0" i="0" u="none" strike="noStrike" dirty="0">
                          <a:solidFill>
                            <a:srgbClr val="060607"/>
                          </a:solidFill>
                          <a:effectLst/>
                          <a:latin typeface="等线 Light" panose="02010600030101010101" charset="-122"/>
                          <a:ea typeface="等线 Light" panose="02010600030101010101" charset="-122"/>
                        </a:rPr>
                        <a:t>网易</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b"/>
                      <a:r>
                        <a:rPr lang="zh-CN" altLang="en-US" sz="1100" b="0" i="0" u="none" strike="noStrike" dirty="0">
                          <a:solidFill>
                            <a:srgbClr val="000000"/>
                          </a:solidFill>
                          <a:effectLst/>
                          <a:latin typeface="等线 Light" panose="02010600030101010101" charset="-122"/>
                          <a:ea typeface="等线 Light" panose="02010600030101010101" charset="-122"/>
                        </a:rPr>
                        <a:t>                </a:t>
                      </a:r>
                      <a:r>
                        <a:rPr lang="en-US" altLang="zh-CN" sz="1100" b="0" i="0" u="none" strike="noStrike" dirty="0">
                          <a:solidFill>
                            <a:srgbClr val="000000"/>
                          </a:solidFill>
                          <a:effectLst/>
                          <a:latin typeface="等线 Light" panose="02010600030101010101" charset="-122"/>
                          <a:ea typeface="等线 Light" panose="02010600030101010101" charset="-122"/>
                        </a:rPr>
                        <a:t>26,568 </a:t>
                      </a:r>
                      <a:endParaRPr lang="en-US" altLang="zh-CN" sz="1100" b="0"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c>
                  <a:txBody>
                    <a:bodyPr/>
                    <a:lstStyle/>
                    <a:p>
                      <a:pPr algn="r" fontAlgn="b"/>
                      <a:r>
                        <a:rPr lang="zh-CN" altLang="en-US" sz="1100" b="0" i="0" u="none" strike="noStrike">
                          <a:solidFill>
                            <a:srgbClr val="000000"/>
                          </a:solidFill>
                          <a:effectLst/>
                          <a:latin typeface="等线 Light" panose="02010600030101010101" charset="-122"/>
                          <a:ea typeface="等线 Light" panose="02010600030101010101" charset="-122"/>
                        </a:rPr>
                        <a:t>                  </a:t>
                      </a:r>
                      <a:r>
                        <a:rPr lang="en-US" altLang="zh-CN" sz="1100" b="0" i="0" u="none" strike="noStrike">
                          <a:solidFill>
                            <a:srgbClr val="000000"/>
                          </a:solidFill>
                          <a:effectLst/>
                          <a:latin typeface="等线 Light" panose="02010600030101010101" charset="-122"/>
                          <a:ea typeface="等线 Light" panose="02010600030101010101" charset="-122"/>
                        </a:rPr>
                        <a:t>257 </a:t>
                      </a:r>
                      <a:endParaRPr lang="en-US" altLang="zh-CN" sz="1100" b="0" i="0" u="none" strike="noStrike">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5</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en-US" sz="1100" b="0" i="0" u="none" strike="noStrike" dirty="0" err="1">
                          <a:solidFill>
                            <a:srgbClr val="060607"/>
                          </a:solidFill>
                          <a:effectLst/>
                          <a:latin typeface="等线 Light" panose="02010600030101010101" charset="-122"/>
                          <a:ea typeface="等线 Light" panose="02010600030101010101" charset="-122"/>
                        </a:rPr>
                        <a:t>DoorDash</a:t>
                      </a:r>
                      <a:r>
                        <a:rPr lang="en-US" sz="1100" b="0" i="0" u="none" strike="noStrike" dirty="0">
                          <a:solidFill>
                            <a:srgbClr val="060607"/>
                          </a:solidFill>
                          <a:effectLst/>
                          <a:latin typeface="等线 Light" panose="02010600030101010101" charset="-122"/>
                          <a:ea typeface="等线 Light" panose="02010600030101010101" charset="-122"/>
                        </a:rPr>
                        <a:t> Inc.</a:t>
                      </a:r>
                      <a:endParaRPr lang="en-US"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b"/>
                      <a:r>
                        <a:rPr lang="zh-CN" altLang="en-US" sz="1100" b="0" i="0" u="none" strike="noStrike" dirty="0">
                          <a:solidFill>
                            <a:srgbClr val="000000"/>
                          </a:solidFill>
                          <a:effectLst/>
                          <a:latin typeface="等线 Light" panose="02010600030101010101" charset="-122"/>
                          <a:ea typeface="等线 Light" panose="02010600030101010101" charset="-122"/>
                        </a:rPr>
                        <a:t>                </a:t>
                      </a:r>
                      <a:r>
                        <a:rPr lang="en-US" altLang="zh-CN" sz="1100" b="0" i="0" u="none" strike="noStrike" dirty="0">
                          <a:solidFill>
                            <a:srgbClr val="000000"/>
                          </a:solidFill>
                          <a:effectLst/>
                          <a:latin typeface="等线 Light" panose="02010600030101010101" charset="-122"/>
                          <a:ea typeface="等线 Light" panose="02010600030101010101" charset="-122"/>
                        </a:rPr>
                        <a:t>22,271 </a:t>
                      </a:r>
                      <a:endParaRPr lang="en-US" altLang="zh-CN" sz="1100" b="0"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c>
                  <a:txBody>
                    <a:bodyPr/>
                    <a:lstStyle/>
                    <a:p>
                      <a:pPr algn="r" fontAlgn="b"/>
                      <a:r>
                        <a:rPr lang="zh-CN" altLang="en-US" sz="1100" b="0" i="0" u="none" strike="noStrike" dirty="0">
                          <a:solidFill>
                            <a:srgbClr val="000000"/>
                          </a:solidFill>
                          <a:effectLst/>
                          <a:latin typeface="等线 Light" panose="02010600030101010101" charset="-122"/>
                          <a:ea typeface="等线 Light" panose="02010600030101010101" charset="-122"/>
                        </a:rPr>
                        <a:t>                  </a:t>
                      </a:r>
                      <a:r>
                        <a:rPr lang="en-US" altLang="zh-CN" sz="1100" b="0" i="0" u="none" strike="noStrike" dirty="0">
                          <a:solidFill>
                            <a:srgbClr val="000000"/>
                          </a:solidFill>
                          <a:effectLst/>
                          <a:latin typeface="等线 Light" panose="02010600030101010101" charset="-122"/>
                          <a:ea typeface="等线 Light" panose="02010600030101010101" charset="-122"/>
                        </a:rPr>
                        <a:t>162 </a:t>
                      </a:r>
                      <a:endParaRPr lang="en-US" altLang="zh-CN" sz="1100" b="0"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6</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b="0" i="0" u="none" strike="noStrike" dirty="0">
                          <a:solidFill>
                            <a:srgbClr val="060607"/>
                          </a:solidFill>
                          <a:effectLst/>
                          <a:latin typeface="等线 Light" panose="02010600030101010101" charset="-122"/>
                          <a:ea typeface="等线 Light" panose="02010600030101010101" charset="-122"/>
                        </a:rPr>
                        <a:t>台积电</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b"/>
                      <a:r>
                        <a:rPr lang="zh-CN" altLang="en-US" sz="1100" b="0" i="0" u="none" strike="noStrike" dirty="0">
                          <a:solidFill>
                            <a:srgbClr val="000000"/>
                          </a:solidFill>
                          <a:effectLst/>
                          <a:latin typeface="等线 Light" panose="02010600030101010101" charset="-122"/>
                          <a:ea typeface="等线 Light" panose="02010600030101010101" charset="-122"/>
                        </a:rPr>
                        <a:t>                </a:t>
                      </a:r>
                      <a:r>
                        <a:rPr lang="en-US" altLang="zh-CN" sz="1100" b="0" i="0" u="none" strike="noStrike" dirty="0">
                          <a:solidFill>
                            <a:srgbClr val="000000"/>
                          </a:solidFill>
                          <a:effectLst/>
                          <a:latin typeface="等线 Light" panose="02010600030101010101" charset="-122"/>
                          <a:ea typeface="等线 Light" panose="02010600030101010101" charset="-122"/>
                        </a:rPr>
                        <a:t>21,123 </a:t>
                      </a:r>
                      <a:endParaRPr lang="en-US" altLang="zh-CN" sz="1100" b="0"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c>
                  <a:txBody>
                    <a:bodyPr/>
                    <a:lstStyle/>
                    <a:p>
                      <a:pPr algn="r" fontAlgn="b"/>
                      <a:r>
                        <a:rPr lang="zh-CN" altLang="en-US" sz="1100" b="0" i="0" u="none" strike="noStrike" dirty="0">
                          <a:solidFill>
                            <a:srgbClr val="000000"/>
                          </a:solidFill>
                          <a:effectLst/>
                          <a:latin typeface="等线 Light" panose="02010600030101010101" charset="-122"/>
                          <a:ea typeface="等线 Light" panose="02010600030101010101" charset="-122"/>
                        </a:rPr>
                        <a:t>                  </a:t>
                      </a:r>
                      <a:r>
                        <a:rPr lang="en-US" altLang="zh-CN" sz="1100" b="0" i="0" u="none" strike="noStrike" dirty="0">
                          <a:solidFill>
                            <a:srgbClr val="000000"/>
                          </a:solidFill>
                          <a:effectLst/>
                          <a:latin typeface="等线 Light" panose="02010600030101010101" charset="-122"/>
                          <a:ea typeface="等线 Light" panose="02010600030101010101" charset="-122"/>
                        </a:rPr>
                        <a:t>155 </a:t>
                      </a:r>
                      <a:endParaRPr lang="en-US" altLang="zh-CN" sz="1100" b="0"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7</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b="0" i="0" u="none" strike="noStrike" dirty="0">
                          <a:solidFill>
                            <a:srgbClr val="060607"/>
                          </a:solidFill>
                          <a:effectLst/>
                          <a:latin typeface="等线 Light" panose="02010600030101010101" charset="-122"/>
                          <a:ea typeface="等线 Light" panose="02010600030101010101" charset="-122"/>
                        </a:rPr>
                        <a:t>英伟达</a:t>
                      </a:r>
                      <a:r>
                        <a:rPr lang="en-US" altLang="zh-CN" sz="1100" b="0" i="0" u="none" strike="noStrike" dirty="0">
                          <a:solidFill>
                            <a:srgbClr val="060607"/>
                          </a:solidFill>
                          <a:effectLst/>
                          <a:latin typeface="等线 Light" panose="02010600030101010101" charset="-122"/>
                          <a:ea typeface="等线 Light" panose="02010600030101010101" charset="-122"/>
                        </a:rPr>
                        <a:t>(</a:t>
                      </a:r>
                      <a:r>
                        <a:rPr lang="en-US" sz="1100" b="0" i="0" u="none" strike="noStrike" dirty="0">
                          <a:solidFill>
                            <a:srgbClr val="060607"/>
                          </a:solidFill>
                          <a:effectLst/>
                          <a:latin typeface="等线 Light" panose="02010600030101010101" charset="-122"/>
                          <a:ea typeface="等线 Light" panose="02010600030101010101" charset="-122"/>
                        </a:rPr>
                        <a:t>NVIDIA)</a:t>
                      </a:r>
                      <a:endParaRPr lang="en-US"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b"/>
                      <a:r>
                        <a:rPr lang="zh-CN" altLang="en-US" sz="1100" b="0" i="0" u="none" strike="noStrike" dirty="0">
                          <a:solidFill>
                            <a:srgbClr val="000000"/>
                          </a:solidFill>
                          <a:effectLst/>
                          <a:latin typeface="等线 Light" panose="02010600030101010101" charset="-122"/>
                          <a:ea typeface="等线 Light" panose="02010600030101010101" charset="-122"/>
                        </a:rPr>
                        <a:t>                </a:t>
                      </a:r>
                      <a:r>
                        <a:rPr lang="en-US" altLang="zh-CN" sz="1100" b="0" i="0" u="none" strike="noStrike" dirty="0">
                          <a:solidFill>
                            <a:srgbClr val="000000"/>
                          </a:solidFill>
                          <a:effectLst/>
                          <a:latin typeface="等线 Light" panose="02010600030101010101" charset="-122"/>
                          <a:ea typeface="等线 Light" panose="02010600030101010101" charset="-122"/>
                        </a:rPr>
                        <a:t>16,850 </a:t>
                      </a:r>
                      <a:endParaRPr lang="en-US" altLang="zh-CN" sz="1100" b="0"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c>
                  <a:txBody>
                    <a:bodyPr/>
                    <a:lstStyle/>
                    <a:p>
                      <a:pPr algn="r" fontAlgn="b"/>
                      <a:r>
                        <a:rPr lang="zh-CN" altLang="en-US" sz="1100" b="0" i="0" u="none" strike="noStrike" dirty="0">
                          <a:solidFill>
                            <a:srgbClr val="000000"/>
                          </a:solidFill>
                          <a:effectLst/>
                          <a:latin typeface="等线 Light" panose="02010600030101010101" charset="-122"/>
                          <a:ea typeface="等线 Light" panose="02010600030101010101" charset="-122"/>
                        </a:rPr>
                        <a:t>                   </a:t>
                      </a:r>
                      <a:r>
                        <a:rPr lang="en-US" altLang="zh-CN" sz="1100" b="0" i="0" u="none" strike="noStrike" dirty="0">
                          <a:solidFill>
                            <a:srgbClr val="000000"/>
                          </a:solidFill>
                          <a:effectLst/>
                          <a:latin typeface="等线 Light" panose="02010600030101010101" charset="-122"/>
                          <a:ea typeface="等线 Light" panose="02010600030101010101" charset="-122"/>
                        </a:rPr>
                        <a:t>19 </a:t>
                      </a:r>
                      <a:endParaRPr lang="en-US" altLang="zh-CN" sz="1100" b="0"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8</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zh-CN" altLang="en-US" sz="1100" b="0" i="0" u="none" strike="noStrike" dirty="0">
                          <a:solidFill>
                            <a:srgbClr val="000000"/>
                          </a:solidFill>
                          <a:effectLst/>
                          <a:latin typeface="等线 Light" panose="02010600030101010101" charset="-122"/>
                          <a:ea typeface="等线 Light" panose="02010600030101010101" charset="-122"/>
                        </a:rPr>
                        <a:t>新东方</a:t>
                      </a:r>
                      <a:endParaRPr lang="zh-CN" altLang="en-US" sz="1100" b="0"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c>
                  <a:txBody>
                    <a:bodyPr/>
                    <a:lstStyle/>
                    <a:p>
                      <a:pPr algn="r" fontAlgn="b"/>
                      <a:r>
                        <a:rPr lang="zh-CN" altLang="en-US" sz="1100" b="0" i="0" u="none" strike="noStrike" dirty="0">
                          <a:solidFill>
                            <a:srgbClr val="000000"/>
                          </a:solidFill>
                          <a:effectLst/>
                          <a:latin typeface="等线 Light" panose="02010600030101010101" charset="-122"/>
                          <a:ea typeface="等线 Light" panose="02010600030101010101" charset="-122"/>
                        </a:rPr>
                        <a:t>                </a:t>
                      </a:r>
                      <a:r>
                        <a:rPr lang="en-US" altLang="zh-CN" sz="1100" b="0" i="0" u="none" strike="noStrike" dirty="0">
                          <a:solidFill>
                            <a:srgbClr val="000000"/>
                          </a:solidFill>
                          <a:effectLst/>
                          <a:latin typeface="等线 Light" panose="02010600030101010101" charset="-122"/>
                          <a:ea typeface="等线 Light" panose="02010600030101010101" charset="-122"/>
                        </a:rPr>
                        <a:t>16,281 </a:t>
                      </a:r>
                      <a:endParaRPr lang="en-US" altLang="zh-CN" sz="1100" b="0"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c>
                  <a:txBody>
                    <a:bodyPr/>
                    <a:lstStyle/>
                    <a:p>
                      <a:pPr algn="r" fontAlgn="b"/>
                      <a:r>
                        <a:rPr lang="zh-CN" altLang="en-US" sz="1100" b="0" i="0" u="none" strike="noStrike" dirty="0">
                          <a:solidFill>
                            <a:srgbClr val="000000"/>
                          </a:solidFill>
                          <a:effectLst/>
                          <a:latin typeface="等线 Light" panose="02010600030101010101" charset="-122"/>
                          <a:ea typeface="等线 Light" panose="02010600030101010101" charset="-122"/>
                        </a:rPr>
                        <a:t>                  </a:t>
                      </a:r>
                      <a:r>
                        <a:rPr lang="en-US" altLang="zh-CN" sz="1100" b="0" i="0" u="none" strike="noStrike" dirty="0">
                          <a:solidFill>
                            <a:srgbClr val="000000"/>
                          </a:solidFill>
                          <a:effectLst/>
                          <a:latin typeface="等线 Light" panose="02010600030101010101" charset="-122"/>
                          <a:ea typeface="等线 Light" panose="02010600030101010101" charset="-122"/>
                        </a:rPr>
                        <a:t>188 </a:t>
                      </a:r>
                      <a:endParaRPr lang="en-US" altLang="zh-CN" sz="1100" b="0"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9</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b="0" i="0" u="none" strike="noStrike" dirty="0">
                          <a:solidFill>
                            <a:srgbClr val="060607"/>
                          </a:solidFill>
                          <a:effectLst/>
                          <a:latin typeface="等线 Light" panose="02010600030101010101" charset="-122"/>
                          <a:ea typeface="等线 Light" panose="02010600030101010101" charset="-122"/>
                        </a:rPr>
                        <a:t>富途控股</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b"/>
                      <a:r>
                        <a:rPr lang="zh-CN" altLang="en-US" sz="1100" b="0" i="0" u="none" strike="noStrike" dirty="0">
                          <a:solidFill>
                            <a:srgbClr val="000000"/>
                          </a:solidFill>
                          <a:effectLst/>
                          <a:latin typeface="等线 Light" panose="02010600030101010101" charset="-122"/>
                          <a:ea typeface="等线 Light" panose="02010600030101010101" charset="-122"/>
                        </a:rPr>
                        <a:t>                </a:t>
                      </a:r>
                      <a:r>
                        <a:rPr lang="en-US" altLang="zh-CN" sz="1100" b="0" i="0" u="none" strike="noStrike" dirty="0">
                          <a:solidFill>
                            <a:srgbClr val="000000"/>
                          </a:solidFill>
                          <a:effectLst/>
                          <a:latin typeface="等线 Light" panose="02010600030101010101" charset="-122"/>
                          <a:ea typeface="等线 Light" panose="02010600030101010101" charset="-122"/>
                        </a:rPr>
                        <a:t>12,022 </a:t>
                      </a:r>
                      <a:endParaRPr lang="en-US" altLang="zh-CN" sz="1100" b="0"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c>
                  <a:txBody>
                    <a:bodyPr/>
                    <a:lstStyle/>
                    <a:p>
                      <a:pPr algn="r" fontAlgn="b"/>
                      <a:r>
                        <a:rPr lang="zh-CN" altLang="en-US" sz="1100" b="0" i="0" u="none" strike="noStrike" dirty="0">
                          <a:solidFill>
                            <a:srgbClr val="000000"/>
                          </a:solidFill>
                          <a:effectLst/>
                          <a:latin typeface="等线 Light" panose="02010600030101010101" charset="-122"/>
                          <a:ea typeface="等线 Light" panose="02010600030101010101" charset="-122"/>
                        </a:rPr>
                        <a:t>                  </a:t>
                      </a:r>
                      <a:r>
                        <a:rPr lang="en-US" altLang="zh-CN" sz="1100" b="0" i="0" u="none" strike="noStrike" dirty="0">
                          <a:solidFill>
                            <a:srgbClr val="000000"/>
                          </a:solidFill>
                          <a:effectLst/>
                          <a:latin typeface="等线 Light" panose="02010600030101010101" charset="-122"/>
                          <a:ea typeface="等线 Light" panose="02010600030101010101" charset="-122"/>
                        </a:rPr>
                        <a:t>222 </a:t>
                      </a:r>
                      <a:endParaRPr lang="en-US" altLang="zh-CN" sz="1100" b="0"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10</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ctr"/>
                      <a:r>
                        <a:rPr lang="zh-CN" altLang="en-US" sz="1100" b="0" i="0" u="none" strike="noStrike" dirty="0">
                          <a:solidFill>
                            <a:srgbClr val="060607"/>
                          </a:solidFill>
                          <a:effectLst/>
                          <a:latin typeface="等线 Light" panose="02010600030101010101" charset="-122"/>
                          <a:ea typeface="等线 Light" panose="02010600030101010101" charset="-122"/>
                        </a:rPr>
                        <a:t>满帮</a:t>
                      </a:r>
                      <a:endParaRPr lang="zh-CN" altLang="en-US" sz="1100" b="0" i="0" u="none" strike="noStrike" dirty="0">
                        <a:solidFill>
                          <a:srgbClr val="060607"/>
                        </a:solidFill>
                        <a:effectLst/>
                        <a:latin typeface="等线 Light" panose="02010600030101010101" charset="-122"/>
                        <a:ea typeface="等线 Light" panose="02010600030101010101" charset="-122"/>
                      </a:endParaRPr>
                    </a:p>
                  </a:txBody>
                  <a:tcPr marL="9525" marR="9525" marT="9525" marB="0" anchor="ctr">
                    <a:solidFill>
                      <a:schemeClr val="bg1"/>
                    </a:solidFill>
                  </a:tcPr>
                </a:tc>
                <a:tc>
                  <a:txBody>
                    <a:bodyPr/>
                    <a:lstStyle/>
                    <a:p>
                      <a:pPr algn="r" fontAlgn="b"/>
                      <a:r>
                        <a:rPr lang="zh-CN" altLang="en-US" sz="1100" b="0" i="0" u="none" strike="noStrike" dirty="0">
                          <a:solidFill>
                            <a:srgbClr val="000000"/>
                          </a:solidFill>
                          <a:effectLst/>
                          <a:latin typeface="等线 Light" panose="02010600030101010101" charset="-122"/>
                          <a:ea typeface="等线 Light" panose="02010600030101010101" charset="-122"/>
                        </a:rPr>
                        <a:t>                </a:t>
                      </a:r>
                      <a:r>
                        <a:rPr lang="en-US" altLang="zh-CN" sz="1100" b="0" i="0" u="none" strike="noStrike" dirty="0">
                          <a:solidFill>
                            <a:srgbClr val="000000"/>
                          </a:solidFill>
                          <a:effectLst/>
                          <a:latin typeface="等线 Light" panose="02010600030101010101" charset="-122"/>
                          <a:ea typeface="等线 Light" panose="02010600030101010101" charset="-122"/>
                        </a:rPr>
                        <a:t>11,340 </a:t>
                      </a:r>
                      <a:endParaRPr lang="en-US" altLang="zh-CN" sz="1100" b="0"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c>
                  <a:txBody>
                    <a:bodyPr/>
                    <a:lstStyle/>
                    <a:p>
                      <a:pPr algn="r" fontAlgn="b"/>
                      <a:r>
                        <a:rPr lang="zh-CN" altLang="en-US" sz="1100" b="0" i="0" u="none" strike="noStrike" dirty="0">
                          <a:solidFill>
                            <a:srgbClr val="000000"/>
                          </a:solidFill>
                          <a:effectLst/>
                          <a:latin typeface="等线 Light" panose="02010600030101010101" charset="-122"/>
                          <a:ea typeface="等线 Light" panose="02010600030101010101" charset="-122"/>
                        </a:rPr>
                        <a:t>               </a:t>
                      </a:r>
                      <a:r>
                        <a:rPr lang="en-US" altLang="zh-CN" sz="1100" b="0" i="0" u="none" strike="noStrike" dirty="0">
                          <a:solidFill>
                            <a:srgbClr val="000000"/>
                          </a:solidFill>
                          <a:effectLst/>
                          <a:latin typeface="等线 Light" panose="02010600030101010101" charset="-122"/>
                          <a:ea typeface="等线 Light" panose="02010600030101010101" charset="-122"/>
                        </a:rPr>
                        <a:t>1,560 </a:t>
                      </a:r>
                      <a:endParaRPr lang="en-US" altLang="zh-CN" sz="1100" b="0"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b">
                    <a:solidFill>
                      <a:schemeClr val="bg1"/>
                    </a:solidFill>
                  </a:tcPr>
                </a:tc>
              </a:tr>
              <a:tr h="0">
                <a:tc>
                  <a:txBody>
                    <a:bodyPr/>
                    <a:lstStyle/>
                    <a:p>
                      <a:pPr algn="ctr" fontAlgn="ctr"/>
                      <a:r>
                        <a:rPr lang="en-US" altLang="zh-CN" sz="1100" b="1" u="none" strike="noStrike" dirty="0">
                          <a:solidFill>
                            <a:schemeClr val="bg1"/>
                          </a:solidFill>
                          <a:effectLst/>
                          <a:latin typeface="等线 Light" panose="02010600030101010101" charset="-122"/>
                          <a:ea typeface="等线 Light" panose="02010600030101010101" charset="-122"/>
                        </a:rPr>
                        <a:t>2024Q2</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c>
                  <a:txBody>
                    <a:bodyPr/>
                    <a:lstStyle/>
                    <a:p>
                      <a:pPr algn="ctr" fontAlgn="ctr"/>
                      <a:r>
                        <a:rPr lang="zh-CN" altLang="en-US" sz="1100" b="1" u="none" strike="noStrike" dirty="0">
                          <a:solidFill>
                            <a:schemeClr val="bg1"/>
                          </a:solidFill>
                          <a:effectLst/>
                          <a:latin typeface="等线 Light" panose="02010600030101010101" charset="-122"/>
                          <a:ea typeface="等线 Light" panose="02010600030101010101" charset="-122"/>
                        </a:rPr>
                        <a:t>公司名称</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c>
                  <a:txBody>
                    <a:bodyPr/>
                    <a:lstStyle/>
                    <a:p>
                      <a:pPr algn="r" fontAlgn="ctr"/>
                      <a:r>
                        <a:rPr lang="zh-CN" altLang="en-US" sz="1100" b="1" u="none" strike="noStrike" dirty="0">
                          <a:solidFill>
                            <a:schemeClr val="bg1"/>
                          </a:solidFill>
                          <a:effectLst/>
                          <a:latin typeface="等线 Light" panose="02010600030101010101" charset="-122"/>
                          <a:ea typeface="等线 Light" panose="02010600030101010101" charset="-122"/>
                        </a:rPr>
                        <a:t>市值（万美元）</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c>
                  <a:txBody>
                    <a:bodyPr/>
                    <a:lstStyle/>
                    <a:p>
                      <a:pPr algn="r" fontAlgn="ctr"/>
                      <a:r>
                        <a:rPr lang="zh-CN" altLang="en-US" sz="1100" b="1" u="none" strike="noStrike" dirty="0">
                          <a:solidFill>
                            <a:schemeClr val="bg1"/>
                          </a:solidFill>
                          <a:effectLst/>
                          <a:latin typeface="等线 Light" panose="02010600030101010101" charset="-122"/>
                          <a:ea typeface="等线 Light" panose="02010600030101010101" charset="-122"/>
                        </a:rPr>
                        <a:t>持股数（万股）</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r>
              <a:tr h="254592">
                <a:tc>
                  <a:txBody>
                    <a:bodyPr/>
                    <a:lstStyle/>
                    <a:p>
                      <a:pPr algn="ctr" fontAlgn="ctr"/>
                      <a:r>
                        <a:rPr lang="en-US" altLang="zh-CN" sz="1100" b="1" u="none" strike="noStrike" dirty="0">
                          <a:effectLst/>
                          <a:latin typeface="等线 Light" panose="02010600030101010101" charset="-122"/>
                          <a:ea typeface="等线 Light" panose="02010600030101010101" charset="-122"/>
                        </a:rPr>
                        <a:t>1</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拼多多</a:t>
                      </a:r>
                      <a:endParaRPr lang="zh-CN" altLang="en-US"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69,226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521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2</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脸书</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a:t>
                      </a:r>
                      <a:r>
                        <a:rPr lang="en-US" sz="1100" b="0" i="0" u="none" strike="noStrike" kern="1200" dirty="0">
                          <a:solidFill>
                            <a:srgbClr val="060607"/>
                          </a:solidFill>
                          <a:effectLst/>
                          <a:latin typeface="等线 Light" panose="02010600030101010101" charset="-122"/>
                          <a:ea typeface="等线 Light" panose="02010600030101010101" charset="-122"/>
                          <a:cs typeface="+mn-cs"/>
                        </a:rPr>
                        <a:t>META PLATFORMS)</a:t>
                      </a:r>
                      <a:endParaRPr lang="en-US"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58,577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116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3</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台积电</a:t>
                      </a:r>
                      <a:endParaRPr lang="zh-CN" altLang="en-US"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47,234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272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4</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微软</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a:t>
                      </a:r>
                      <a:r>
                        <a:rPr lang="en-US" sz="1100" b="0" i="0" u="none" strike="noStrike" kern="1200" dirty="0">
                          <a:solidFill>
                            <a:srgbClr val="060607"/>
                          </a:solidFill>
                          <a:effectLst/>
                          <a:latin typeface="等线 Light" panose="02010600030101010101" charset="-122"/>
                          <a:ea typeface="等线 Light" panose="02010600030101010101" charset="-122"/>
                          <a:cs typeface="+mn-cs"/>
                        </a:rPr>
                        <a:t>MICROSOFT)</a:t>
                      </a:r>
                      <a:endParaRPr lang="en-US"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40,487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91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5</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网易</a:t>
                      </a:r>
                      <a:endParaRPr lang="zh-CN" altLang="en-US"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36,507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382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6</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满帮</a:t>
                      </a:r>
                      <a:endParaRPr lang="zh-CN" altLang="en-US"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21,696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2,699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7</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新东方</a:t>
                      </a:r>
                      <a:endParaRPr lang="zh-CN" altLang="en-US"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15,569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200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8</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富途控股</a:t>
                      </a:r>
                      <a:endParaRPr lang="zh-CN" altLang="en-US"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15,291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233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9</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en-US" sz="1100" b="0" i="0" u="none" strike="noStrike" kern="1200" dirty="0" err="1">
                          <a:solidFill>
                            <a:srgbClr val="060607"/>
                          </a:solidFill>
                          <a:effectLst/>
                          <a:latin typeface="等线 Light" panose="02010600030101010101" charset="-122"/>
                          <a:ea typeface="等线 Light" panose="02010600030101010101" charset="-122"/>
                          <a:cs typeface="+mn-cs"/>
                        </a:rPr>
                        <a:t>DoorDash</a:t>
                      </a:r>
                      <a:r>
                        <a:rPr lang="en-US" sz="1100" b="0" i="0" u="none" strike="noStrike" kern="1200" dirty="0">
                          <a:solidFill>
                            <a:srgbClr val="060607"/>
                          </a:solidFill>
                          <a:effectLst/>
                          <a:latin typeface="等线 Light" panose="02010600030101010101" charset="-122"/>
                          <a:ea typeface="等线 Light" panose="02010600030101010101" charset="-122"/>
                          <a:cs typeface="+mn-cs"/>
                        </a:rPr>
                        <a:t> Inc.</a:t>
                      </a:r>
                      <a:endParaRPr lang="en-US"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13,772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127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10</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英伟达</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a:t>
                      </a:r>
                      <a:r>
                        <a:rPr lang="en-US" sz="1100" b="0" i="0" u="none" strike="noStrike" kern="1200">
                          <a:solidFill>
                            <a:srgbClr val="060607"/>
                          </a:solidFill>
                          <a:effectLst/>
                          <a:latin typeface="等线 Light" panose="02010600030101010101" charset="-122"/>
                          <a:ea typeface="等线 Light" panose="02010600030101010101" charset="-122"/>
                          <a:cs typeface="+mn-cs"/>
                        </a:rPr>
                        <a:t>NVIDIA)</a:t>
                      </a:r>
                      <a:endParaRPr lang="en-US"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13,467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109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solidFill>
                            <a:schemeClr val="bg1"/>
                          </a:solidFill>
                          <a:effectLst/>
                          <a:latin typeface="等线 Light" panose="02010600030101010101" charset="-122"/>
                          <a:ea typeface="等线 Light" panose="02010600030101010101" charset="-122"/>
                        </a:rPr>
                        <a:t>2024Q4</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c>
                  <a:txBody>
                    <a:bodyPr/>
                    <a:lstStyle/>
                    <a:p>
                      <a:pPr algn="ctr" fontAlgn="ctr"/>
                      <a:r>
                        <a:rPr lang="zh-CN" altLang="en-US" sz="1100" b="1" u="none" strike="noStrike" dirty="0">
                          <a:solidFill>
                            <a:schemeClr val="bg1"/>
                          </a:solidFill>
                          <a:effectLst/>
                          <a:latin typeface="等线 Light" panose="02010600030101010101" charset="-122"/>
                          <a:ea typeface="等线 Light" panose="02010600030101010101" charset="-122"/>
                        </a:rPr>
                        <a:t>公司名称</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c>
                  <a:txBody>
                    <a:bodyPr/>
                    <a:lstStyle/>
                    <a:p>
                      <a:pPr algn="r" fontAlgn="ctr"/>
                      <a:r>
                        <a:rPr lang="zh-CN" altLang="en-US" sz="1100" b="1" u="none" strike="noStrike" dirty="0">
                          <a:solidFill>
                            <a:schemeClr val="bg1"/>
                          </a:solidFill>
                          <a:effectLst/>
                          <a:latin typeface="等线 Light" panose="02010600030101010101" charset="-122"/>
                          <a:ea typeface="等线 Light" panose="02010600030101010101" charset="-122"/>
                        </a:rPr>
                        <a:t>市值（万美元）</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c>
                  <a:txBody>
                    <a:bodyPr/>
                    <a:lstStyle/>
                    <a:p>
                      <a:pPr algn="r" fontAlgn="ctr"/>
                      <a:r>
                        <a:rPr lang="zh-CN" altLang="en-US" sz="1100" b="1" u="none" strike="noStrike" dirty="0">
                          <a:solidFill>
                            <a:schemeClr val="bg1"/>
                          </a:solidFill>
                          <a:effectLst/>
                          <a:latin typeface="等线 Light" panose="02010600030101010101" charset="-122"/>
                          <a:ea typeface="等线 Light" panose="02010600030101010101" charset="-122"/>
                        </a:rPr>
                        <a:t>持股数（万股）</a:t>
                      </a:r>
                      <a:endParaRPr lang="zh-CN" altLang="en-US" sz="1100" b="1" i="0" u="none" strike="noStrike" dirty="0">
                        <a:solidFill>
                          <a:schemeClr val="bg1"/>
                        </a:solidFill>
                        <a:effectLst/>
                        <a:latin typeface="等线 Light" panose="02010600030101010101" charset="-122"/>
                        <a:ea typeface="等线 Light" panose="02010600030101010101" charset="-122"/>
                      </a:endParaRPr>
                    </a:p>
                  </a:txBody>
                  <a:tcPr marL="5193" marR="5193" marT="5193" marB="0" anchor="ctr">
                    <a:solidFill>
                      <a:schemeClr val="accent1">
                        <a:lumMod val="50000"/>
                      </a:schemeClr>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1</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脸书</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a:t>
                      </a:r>
                      <a:r>
                        <a:rPr lang="en-US" sz="1100" b="0" i="0" u="none" strike="noStrike" kern="1200" dirty="0">
                          <a:solidFill>
                            <a:srgbClr val="060607"/>
                          </a:solidFill>
                          <a:effectLst/>
                          <a:latin typeface="等线 Light" panose="02010600030101010101" charset="-122"/>
                          <a:ea typeface="等线 Light" panose="02010600030101010101" charset="-122"/>
                          <a:cs typeface="+mn-cs"/>
                        </a:rPr>
                        <a:t>META PLATFORMS)</a:t>
                      </a:r>
                      <a:endParaRPr lang="en-US"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51,464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88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2</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zh-CN" sz="1100" b="0" i="0" u="none" strike="noStrike" kern="1200" dirty="0">
                          <a:solidFill>
                            <a:srgbClr val="060607"/>
                          </a:solidFill>
                          <a:effectLst/>
                          <a:latin typeface="等线 Light" panose="02010600030101010101" charset="-122"/>
                          <a:ea typeface="等线 Light" panose="02010600030101010101" charset="-122"/>
                          <a:cs typeface="+mn-cs"/>
                        </a:rPr>
                        <a:t>拼多多</a:t>
                      </a:r>
                      <a:endParaRPr 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44,959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463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3</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网易</a:t>
                      </a:r>
                      <a:endParaRPr lang="zh-CN" altLang="en-US"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32,408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363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4</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满帮</a:t>
                      </a:r>
                      <a:endParaRPr lang="zh-CN" altLang="en-US"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28,153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2,602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5</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台积电</a:t>
                      </a:r>
                      <a:endParaRPr lang="zh-CN" altLang="en-US"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24,586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  </a:t>
                      </a:r>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124</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6</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苹果</a:t>
                      </a:r>
                      <a:endParaRPr lang="zh-CN" altLang="en-US"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18,639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74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7</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en-US" sz="1100" b="0" i="0" u="none" strike="noStrike" kern="1200">
                          <a:solidFill>
                            <a:srgbClr val="060607"/>
                          </a:solidFill>
                          <a:effectLst/>
                          <a:latin typeface="等线 Light" panose="02010600030101010101" charset="-122"/>
                          <a:ea typeface="等线 Light" panose="02010600030101010101" charset="-122"/>
                          <a:cs typeface="+mn-cs"/>
                        </a:rPr>
                        <a:t>DoorDash Inc.</a:t>
                      </a:r>
                      <a:endParaRPr lang="en-US"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17,327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103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8</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中通快递</a:t>
                      </a:r>
                      <a:endParaRPr lang="zh-CN" altLang="en-US"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12,936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662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9</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奇富科技</a:t>
                      </a:r>
                      <a:endParaRPr lang="zh-CN" altLang="en-US"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10,320 </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      </a:t>
                      </a:r>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269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solidFill>
                      <a:schemeClr val="bg1"/>
                    </a:solidFill>
                  </a:tcPr>
                </a:tc>
              </a:tr>
              <a:tr h="0">
                <a:tc>
                  <a:txBody>
                    <a:bodyPr/>
                    <a:lstStyle/>
                    <a:p>
                      <a:pPr algn="ctr" fontAlgn="ctr"/>
                      <a:r>
                        <a:rPr lang="en-US" altLang="zh-CN" sz="1100" b="1" u="none" strike="noStrike" dirty="0">
                          <a:effectLst/>
                          <a:latin typeface="等线 Light" panose="02010600030101010101" charset="-122"/>
                          <a:ea typeface="等线 Light" panose="02010600030101010101" charset="-122"/>
                        </a:rPr>
                        <a:t>10</a:t>
                      </a:r>
                      <a:endParaRPr lang="en-US" altLang="zh-CN" sz="1100" b="1" i="0" u="none" strike="noStrike" dirty="0">
                        <a:solidFill>
                          <a:srgbClr val="060607"/>
                        </a:solidFill>
                        <a:effectLst/>
                        <a:latin typeface="等线 Light" panose="02010600030101010101" charset="-122"/>
                        <a:ea typeface="等线 Light" panose="02010600030101010101" charset="-122"/>
                      </a:endParaRPr>
                    </a:p>
                  </a:txBody>
                  <a:tcPr marL="5193" marR="5193" marT="5193" marB="0" anchor="ctr">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富途</a:t>
                      </a:r>
                      <a:endParaRPr lang="zh-CN" altLang="en-US"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zh-CN" altLang="en-US" sz="1100" b="0" i="0" u="none" strike="noStrike" kern="120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a:solidFill>
                            <a:srgbClr val="060607"/>
                          </a:solidFill>
                          <a:effectLst/>
                          <a:latin typeface="等线 Light" panose="02010600030101010101" charset="-122"/>
                          <a:ea typeface="等线 Light" panose="02010600030101010101" charset="-122"/>
                          <a:cs typeface="+mn-cs"/>
                        </a:rPr>
                        <a:t>10,262</a:t>
                      </a:r>
                      <a:endParaRPr lang="en-US" altLang="zh-CN" sz="1100" b="0" i="0" u="none" strike="noStrike" kern="1200">
                        <a:solidFill>
                          <a:srgbClr val="060607"/>
                        </a:solidFill>
                        <a:effectLst/>
                        <a:latin typeface="等线 Light" panose="02010600030101010101" charset="-122"/>
                        <a:ea typeface="等线 Light" panose="02010600030101010101" charset="-122"/>
                        <a:cs typeface="+mn-cs"/>
                      </a:endParaRPr>
                    </a:p>
                  </a:txBody>
                  <a:tcPr marL="9525" marR="9525" marT="9525" marB="0" anchor="b">
                    <a:lnB w="12700" cap="flat" cmpd="sng" algn="ctr">
                      <a:solidFill>
                        <a:schemeClr val="tx1"/>
                      </a:solidFill>
                      <a:prstDash val="solid"/>
                      <a:round/>
                      <a:headEnd type="none" w="med" len="med"/>
                      <a:tailEnd type="none" w="med" len="med"/>
                    </a:lnB>
                    <a:solidFill>
                      <a:schemeClr val="bg1"/>
                    </a:solidFill>
                  </a:tcPr>
                </a:tc>
                <a:tc>
                  <a:txBody>
                    <a:bodyPr/>
                    <a:lstStyle/>
                    <a:p>
                      <a:pPr algn="ctr" fontAlgn="b"/>
                      <a:r>
                        <a:rPr lang="zh-CN" altLang="en-US" sz="1100" b="0" i="0" u="none" strike="noStrike" kern="1200" dirty="0">
                          <a:solidFill>
                            <a:srgbClr val="060607"/>
                          </a:solidFill>
                          <a:effectLst/>
                          <a:latin typeface="等线 Light" panose="02010600030101010101" charset="-122"/>
                          <a:ea typeface="等线 Light" panose="02010600030101010101" charset="-122"/>
                          <a:cs typeface="+mn-cs"/>
                        </a:rPr>
                        <a:t>                  </a:t>
                      </a:r>
                      <a:r>
                        <a:rPr lang="en-US" altLang="zh-CN" sz="1100" b="0" i="0" u="none" strike="noStrike" kern="1200" dirty="0">
                          <a:solidFill>
                            <a:srgbClr val="060607"/>
                          </a:solidFill>
                          <a:effectLst/>
                          <a:latin typeface="等线 Light" panose="02010600030101010101" charset="-122"/>
                          <a:ea typeface="等线 Light" panose="02010600030101010101" charset="-122"/>
                          <a:cs typeface="+mn-cs"/>
                        </a:rPr>
                        <a:t>128 </a:t>
                      </a:r>
                      <a:endParaRPr lang="en-US" altLang="zh-CN" sz="1100" b="0" i="0" u="none" strike="noStrike" kern="1200" dirty="0">
                        <a:solidFill>
                          <a:srgbClr val="060607"/>
                        </a:solidFill>
                        <a:effectLst/>
                        <a:latin typeface="等线 Light" panose="02010600030101010101" charset="-122"/>
                        <a:ea typeface="等线 Light" panose="02010600030101010101" charset="-122"/>
                        <a:cs typeface="+mn-cs"/>
                      </a:endParaRPr>
                    </a:p>
                  </a:txBody>
                  <a:tcPr marL="9525" marR="9525" marT="9525" marB="0" anchor="b">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7" name="文本框 7"/>
          <p:cNvSpPr txBox="1"/>
          <p:nvPr/>
        </p:nvSpPr>
        <p:spPr>
          <a:xfrm>
            <a:off x="153613" y="6637143"/>
            <a:ext cx="5294286" cy="21399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stStyle>
          <a:p>
            <a:pPr marL="0" marR="0" lvl="0" indent="0" algn="l" defTabSz="914400" rtl="0" eaLnBrk="1" fontAlgn="base" latinLnBrk="0" hangingPunct="1">
              <a:lnSpc>
                <a:spcPct val="100000"/>
              </a:lnSpc>
              <a:spcBef>
                <a:spcPct val="50000"/>
              </a:spcBef>
              <a:spcAft>
                <a:spcPct val="0"/>
              </a:spcAft>
              <a:buClr>
                <a:srgbClr val="C12727"/>
              </a:buClr>
              <a:buSzPct val="80000"/>
              <a:buFont typeface="Arial" panose="020B0604020202020204" pitchFamily="34" charset="0"/>
              <a:buNone/>
              <a:defRPr/>
            </a:pPr>
            <a:r>
              <a:rPr kumimoji="0" lang="zh-CN" altLang="en-US" sz="800" b="0" i="0" u="none" strike="noStrike" kern="1200" cap="none" spc="0" normalizeH="0" baseline="0" noProof="0" dirty="0">
                <a:ln>
                  <a:noFill/>
                </a:ln>
                <a:solidFill>
                  <a:srgbClr val="000000"/>
                </a:solidFill>
                <a:effectLst/>
                <a:uLnTx/>
                <a:uFillTx/>
                <a:latin typeface="等线 Light" panose="02010600030101010101" charset="-122"/>
                <a:ea typeface="等线 Light" panose="02010600030101010101" charset="-122"/>
                <a:cs typeface="+mn-cs"/>
              </a:rPr>
              <a:t>信息来源：景林海外披露的美股前十大持仓，为景林旗下基所有在管基金的前十大持仓情况</a:t>
            </a:r>
            <a:endParaRPr kumimoji="0" lang="zh-CN" altLang="en-US" sz="800" b="0" i="0" u="none" strike="noStrike" kern="1200" cap="none" spc="0" normalizeH="0" baseline="0" noProof="0" dirty="0">
              <a:ln>
                <a:noFill/>
              </a:ln>
              <a:solidFill>
                <a:srgbClr val="000000"/>
              </a:solidFill>
              <a:effectLst/>
              <a:uLnTx/>
              <a:uFillTx/>
              <a:latin typeface="等线 Light" panose="02010600030101010101" charset="-122"/>
              <a:ea typeface="等线 Light" panose="02010600030101010101"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3D43F66-1552-4AB5-8C73-059430FE9C80}" type="slidenum">
              <a:rPr kumimoji="0" lang="en-US" altLang="zh-CN"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r>
              <a:rPr kumimoji="0" lang="en-US" altLang="zh-CN"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t> </a:t>
            </a:r>
            <a:fld id="{13D43F66-1552-4AB5-8C73-059430FE9C80}"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8" name="文本框 4"/>
          <p:cNvSpPr txBox="1"/>
          <p:nvPr/>
        </p:nvSpPr>
        <p:spPr>
          <a:xfrm rot="18792261">
            <a:off x="2868108" y="2860347"/>
            <a:ext cx="6278880" cy="8299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TW" altLang="en-US" sz="4800" b="0" i="0" u="none" strike="noStrike" kern="1200" cap="none" spc="0" normalizeH="0" baseline="0" noProof="0" dirty="0">
                <a:ln>
                  <a:noFill/>
                </a:ln>
                <a:solidFill>
                  <a:srgbClr val="D9D9D9">
                    <a:alpha val="50000"/>
                  </a:srgbClr>
                </a:solidFill>
                <a:effectLst/>
                <a:uLnTx/>
                <a:uFillTx/>
                <a:latin typeface="等线" panose="02010600030101010101" charset="-122"/>
                <a:cs typeface="+mn-cs"/>
              </a:rPr>
              <a:t>仅供</a:t>
            </a:r>
            <a:r>
              <a:rPr kumimoji="0" lang="zh-TW" altLang="en-US" sz="4800" b="0" i="0" u="none" strike="noStrike" kern="1200" cap="none" spc="0" normalizeH="0" baseline="0" noProof="0" dirty="0" smtClean="0">
                <a:ln>
                  <a:noFill/>
                </a:ln>
                <a:solidFill>
                  <a:srgbClr val="D9D9D9">
                    <a:alpha val="50000"/>
                  </a:srgbClr>
                </a:solidFill>
                <a:effectLst/>
                <a:uLnTx/>
                <a:uFillTx/>
                <a:latin typeface="等线" panose="02010600030101010101" charset="-122"/>
                <a:cs typeface="+mn-cs"/>
              </a:rPr>
              <a:t>内使用</a:t>
            </a:r>
            <a:r>
              <a:rPr kumimoji="0" lang="zh-CN" altLang="en-US" sz="4800" b="0" i="0" u="none" strike="noStrike" kern="1200" cap="none" spc="0" normalizeH="0" baseline="0" noProof="0" dirty="0" smtClean="0">
                <a:ln>
                  <a:noFill/>
                </a:ln>
                <a:solidFill>
                  <a:srgbClr val="D9D9D9">
                    <a:alpha val="50000"/>
                  </a:srgbClr>
                </a:solidFill>
                <a:effectLst/>
                <a:uLnTx/>
                <a:uFillTx/>
                <a:latin typeface="等线" panose="02010600030101010101" charset="-122"/>
                <a:ea typeface="等线" panose="02010600030101010101" charset="-122"/>
                <a:cs typeface="+mn-cs"/>
              </a:rPr>
              <a:t>，禁止转发</a:t>
            </a:r>
            <a:endParaRPr kumimoji="0" lang="zh-TW" altLang="en-US" sz="4800" b="0" i="0" u="none" strike="noStrike" kern="1200" cap="none" spc="0" normalizeH="0" baseline="0" noProof="0" dirty="0">
              <a:ln>
                <a:noFill/>
              </a:ln>
              <a:solidFill>
                <a:srgbClr val="D9D9D9">
                  <a:alpha val="50000"/>
                </a:srgbClr>
              </a:solidFill>
              <a:effectLst/>
              <a:uLnTx/>
              <a:uFillTx/>
              <a:latin typeface="等线" panose="02010600030101010101" charset="-122"/>
              <a:cs typeface="+mn-cs"/>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9981" y="217056"/>
            <a:ext cx="2992166" cy="423545"/>
          </a:xfrm>
          <a:prstGeom prst="rect">
            <a:avLst/>
          </a:prstGeom>
          <a:noFill/>
        </p:spPr>
        <p:txBody>
          <a:bodyPr wrap="square" rtlCol="0">
            <a:spAutoFit/>
          </a:bodyPr>
          <a:lstStyle/>
          <a:p>
            <a:pPr marL="0" marR="0" lvl="0" algn="l" defTabSz="914400" rtl="0" eaLnBrk="1" fontAlgn="auto" latinLnBrk="0" hangingPunct="1">
              <a:lnSpc>
                <a:spcPct val="90000"/>
              </a:lnSpc>
              <a:spcBef>
                <a:spcPts val="0"/>
              </a:spcBef>
              <a:buClrTx/>
              <a:buSzTx/>
              <a:buFontTx/>
              <a:buNone/>
            </a:pPr>
            <a:r>
              <a:rPr kumimoji="0" lang="zh-CN" altLang="en-US" sz="2400" b="1" i="0" u="none" strike="noStrike" kern="1200" cap="none" spc="0" normalizeH="0" baseline="0" dirty="0">
                <a:solidFill>
                  <a:schemeClr val="tx2">
                    <a:lumMod val="75000"/>
                  </a:schemeClr>
                </a:solidFill>
                <a:latin typeface="等线" panose="02010600030101010101" charset="-122"/>
                <a:ea typeface="等线" panose="02010600030101010101" charset="-122"/>
                <a:cs typeface="等线" panose="02010600030101010101" charset="-122"/>
              </a:rPr>
              <a:t>月报观点总结</a:t>
            </a:r>
            <a:endParaRPr kumimoji="0" lang="zh-CN" altLang="en-US" sz="2400" b="1" i="0" u="none" strike="noStrike" kern="1200" cap="none" spc="0" normalizeH="0" baseline="0" dirty="0">
              <a:solidFill>
                <a:schemeClr val="tx2">
                  <a:lumMod val="75000"/>
                </a:schemeClr>
              </a:solidFill>
              <a:latin typeface="等线" panose="02010600030101010101" charset="-122"/>
              <a:ea typeface="等线" panose="02010600030101010101" charset="-122"/>
              <a:cs typeface="等线" panose="02010600030101010101" charset="-122"/>
            </a:endParaRPr>
          </a:p>
        </p:txBody>
      </p:sp>
      <p:graphicFrame>
        <p:nvGraphicFramePr>
          <p:cNvPr id="3" name="表格 2"/>
          <p:cNvGraphicFramePr>
            <a:graphicFrameLocks noGrp="1"/>
          </p:cNvGraphicFramePr>
          <p:nvPr/>
        </p:nvGraphicFramePr>
        <p:xfrm>
          <a:off x="199981" y="833302"/>
          <a:ext cx="11816615" cy="5710764"/>
        </p:xfrm>
        <a:graphic>
          <a:graphicData uri="http://schemas.openxmlformats.org/drawingml/2006/table">
            <a:tbl>
              <a:tblPr firstRow="1">
                <a:tableStyleId>{21E4AEA4-8DFA-4A89-87EB-49C32662AFE0}</a:tableStyleId>
              </a:tblPr>
              <a:tblGrid>
                <a:gridCol w="1246479"/>
                <a:gridCol w="4992440"/>
                <a:gridCol w="5577696"/>
              </a:tblGrid>
              <a:tr h="181611">
                <a:tc>
                  <a:txBody>
                    <a:bodyPr/>
                    <a:lstStyle/>
                    <a:p>
                      <a:pPr algn="ctr" fontAlgn="ctr"/>
                      <a:endParaRPr lang="zh-CN" altLang="en-US" sz="1100" b="1" i="0" u="none" strike="noStrike" dirty="0">
                        <a:solidFill>
                          <a:srgbClr val="000000"/>
                        </a:solidFill>
                        <a:effectLst/>
                        <a:latin typeface="+mj-ea"/>
                        <a:ea typeface="+mj-ea"/>
                      </a:endParaRPr>
                    </a:p>
                  </a:txBody>
                  <a:tcPr marL="5236" marR="5236" marT="5236" marB="0" anchor="ctr">
                    <a:solidFill>
                      <a:schemeClr val="accent1">
                        <a:lumMod val="50000"/>
                      </a:schemeClr>
                    </a:solidFill>
                  </a:tcPr>
                </a:tc>
                <a:tc>
                  <a:txBody>
                    <a:bodyPr/>
                    <a:lstStyle/>
                    <a:p>
                      <a:pPr algn="ctr" fontAlgn="ctr"/>
                      <a:r>
                        <a:rPr lang="zh-CN" altLang="en-US" sz="1100" u="none" strike="noStrike" dirty="0">
                          <a:effectLst/>
                          <a:latin typeface="+mj-ea"/>
                          <a:ea typeface="+mj-ea"/>
                        </a:rPr>
                        <a:t>市场情况</a:t>
                      </a:r>
                      <a:endParaRPr lang="zh-CN" altLang="en-US" sz="1100" b="1" i="0" u="none" strike="noStrike" dirty="0">
                        <a:solidFill>
                          <a:srgbClr val="000000"/>
                        </a:solidFill>
                        <a:effectLst/>
                        <a:latin typeface="+mj-ea"/>
                        <a:ea typeface="+mj-ea"/>
                      </a:endParaRPr>
                    </a:p>
                  </a:txBody>
                  <a:tcPr marL="5236" marR="5236" marT="5236" marB="0" anchor="ctr">
                    <a:solidFill>
                      <a:schemeClr val="accent1">
                        <a:lumMod val="50000"/>
                      </a:schemeClr>
                    </a:solidFill>
                  </a:tcPr>
                </a:tc>
                <a:tc>
                  <a:txBody>
                    <a:bodyPr/>
                    <a:lstStyle/>
                    <a:p>
                      <a:pPr algn="ctr" fontAlgn="ctr"/>
                      <a:r>
                        <a:rPr lang="zh-CN" altLang="en-US" sz="1100" u="none" strike="noStrike" dirty="0">
                          <a:effectLst/>
                          <a:latin typeface="+mj-ea"/>
                          <a:ea typeface="+mj-ea"/>
                        </a:rPr>
                        <a:t>金色中国观点及操作</a:t>
                      </a:r>
                      <a:endParaRPr lang="zh-CN" altLang="en-US" sz="1100" b="1" i="0" u="none" strike="noStrike" dirty="0">
                        <a:solidFill>
                          <a:srgbClr val="000000"/>
                        </a:solidFill>
                        <a:effectLst/>
                        <a:latin typeface="+mj-ea"/>
                        <a:ea typeface="+mj-ea"/>
                      </a:endParaRPr>
                    </a:p>
                  </a:txBody>
                  <a:tcPr marL="5236" marR="5236" marT="5236" marB="0" anchor="ctr">
                    <a:solidFill>
                      <a:schemeClr val="accent1">
                        <a:lumMod val="50000"/>
                      </a:schemeClr>
                    </a:solidFill>
                  </a:tcPr>
                </a:tc>
              </a:tr>
              <a:tr h="601782">
                <a:tc>
                  <a:txBody>
                    <a:bodyPr/>
                    <a:lstStyle/>
                    <a:p>
                      <a:pPr algn="ctr" fontAlgn="ctr"/>
                      <a:r>
                        <a:rPr lang="en-US" altLang="zh-CN" sz="1100" b="1" u="none" strike="noStrike" dirty="0">
                          <a:effectLst/>
                          <a:latin typeface="+mj-ea"/>
                          <a:ea typeface="+mj-ea"/>
                        </a:rPr>
                        <a:t>2021</a:t>
                      </a:r>
                      <a:r>
                        <a:rPr lang="zh-CN" altLang="en-US" sz="1100" b="1" u="none" strike="noStrike" dirty="0">
                          <a:effectLst/>
                          <a:latin typeface="+mj-ea"/>
                          <a:ea typeface="+mj-ea"/>
                        </a:rPr>
                        <a:t>年</a:t>
                      </a:r>
                      <a:r>
                        <a:rPr lang="en-US" altLang="zh-CN" sz="1100" b="1" u="none" strike="noStrike" dirty="0">
                          <a:effectLst/>
                          <a:latin typeface="+mj-ea"/>
                          <a:ea typeface="+mj-ea"/>
                        </a:rPr>
                        <a:t>1-6</a:t>
                      </a:r>
                      <a:r>
                        <a:rPr lang="zh-CN" altLang="en-US" sz="1100" b="1" u="none" strike="noStrike" dirty="0">
                          <a:effectLst/>
                          <a:latin typeface="+mj-ea"/>
                          <a:ea typeface="+mj-ea"/>
                        </a:rPr>
                        <a:t>月</a:t>
                      </a:r>
                      <a:endParaRPr lang="en-US" sz="1100" b="1" i="0" u="none" strike="noStrike" dirty="0">
                        <a:solidFill>
                          <a:srgbClr val="000000"/>
                        </a:solidFill>
                        <a:effectLst/>
                        <a:latin typeface="+mj-ea"/>
                        <a:ea typeface="+mj-ea"/>
                      </a:endParaRPr>
                    </a:p>
                  </a:txBody>
                  <a:tcPr marL="5236" marR="5236" marT="5236" marB="0" anchor="ctr">
                    <a:solidFill>
                      <a:schemeClr val="bg1">
                        <a:lumMod val="95000"/>
                      </a:schemeClr>
                    </a:solidFill>
                  </a:tcPr>
                </a:tc>
                <a:tc>
                  <a:txBody>
                    <a:bodyPr/>
                    <a:lstStyle/>
                    <a:p>
                      <a:pPr algn="l" fontAlgn="ctr"/>
                      <a:r>
                        <a:rPr lang="zh-CN" altLang="en-US" sz="1100" b="1" u="none" strike="noStrike" dirty="0">
                          <a:effectLst/>
                          <a:latin typeface="+mj-ea"/>
                          <a:ea typeface="+mj-ea"/>
                        </a:rPr>
                        <a:t>金色中国</a:t>
                      </a:r>
                      <a:r>
                        <a:rPr lang="en-US" altLang="zh-CN" sz="1100" b="1" u="none" strike="noStrike" dirty="0">
                          <a:effectLst/>
                          <a:latin typeface="+mj-ea"/>
                          <a:ea typeface="+mj-ea"/>
                        </a:rPr>
                        <a:t>6.2%</a:t>
                      </a:r>
                      <a:r>
                        <a:rPr lang="zh-CN" altLang="en-US" sz="1100" b="1" u="none" strike="noStrike" dirty="0">
                          <a:effectLst/>
                          <a:latin typeface="+mj-ea"/>
                          <a:ea typeface="+mj-ea"/>
                        </a:rPr>
                        <a:t>；</a:t>
                      </a:r>
                      <a:r>
                        <a:rPr lang="en-US" altLang="zh-CN" sz="1100" b="1" u="none" strike="noStrike" dirty="0">
                          <a:effectLst/>
                          <a:latin typeface="+mj-ea"/>
                          <a:ea typeface="+mj-ea"/>
                        </a:rPr>
                        <a:t>MSCI</a:t>
                      </a:r>
                      <a:r>
                        <a:rPr lang="zh-CN" altLang="en-US" sz="1100" b="1" u="none" strike="noStrike" dirty="0">
                          <a:effectLst/>
                          <a:latin typeface="+mj-ea"/>
                          <a:ea typeface="+mj-ea"/>
                        </a:rPr>
                        <a:t>中国</a:t>
                      </a:r>
                      <a:r>
                        <a:rPr lang="en-US" altLang="zh-CN" sz="1100" b="1" u="none" strike="noStrike" dirty="0">
                          <a:effectLst/>
                          <a:latin typeface="+mj-ea"/>
                          <a:ea typeface="+mj-ea"/>
                        </a:rPr>
                        <a:t>1.08%</a:t>
                      </a:r>
                      <a:r>
                        <a:rPr lang="zh-CN" altLang="en-US" sz="1100" b="1" u="none" strike="noStrike" dirty="0">
                          <a:effectLst/>
                          <a:latin typeface="+mj-ea"/>
                          <a:ea typeface="+mj-ea"/>
                        </a:rPr>
                        <a:t>。</a:t>
                      </a:r>
                      <a:br>
                        <a:rPr lang="zh-CN" altLang="en-US" sz="1100" u="none" strike="noStrike" dirty="0">
                          <a:effectLst/>
                          <a:latin typeface="+mj-ea"/>
                          <a:ea typeface="+mj-ea"/>
                        </a:rPr>
                      </a:br>
                      <a:r>
                        <a:rPr lang="zh-CN" altLang="en-US" sz="1100" u="none" strike="noStrike" dirty="0">
                          <a:effectLst/>
                          <a:latin typeface="+mj-ea"/>
                          <a:ea typeface="+mj-ea"/>
                        </a:rPr>
                        <a:t>中国政府开始转向紧货币，抱团股行情开始瓦解。</a:t>
                      </a:r>
                      <a:r>
                        <a:rPr lang="zh-CN" altLang="en-US" sz="1100" b="0" u="none" strike="noStrike" dirty="0">
                          <a:solidFill>
                            <a:schemeClr val="tx1"/>
                          </a:solidFill>
                          <a:effectLst/>
                          <a:latin typeface="+mj-ea"/>
                          <a:ea typeface="+mj-ea"/>
                        </a:rPr>
                        <a:t>教培、互联网行业的政策风险显现，</a:t>
                      </a:r>
                      <a:r>
                        <a:rPr lang="en-US" altLang="zh-CN" sz="1100" b="1" u="none" strike="noStrike" dirty="0">
                          <a:solidFill>
                            <a:srgbClr val="C00000"/>
                          </a:solidFill>
                          <a:effectLst/>
                          <a:latin typeface="+mj-ea"/>
                          <a:ea typeface="+mj-ea"/>
                        </a:rPr>
                        <a:t>4.10</a:t>
                      </a:r>
                      <a:r>
                        <a:rPr lang="zh-CN" altLang="en-US" sz="1100" b="1" u="none" strike="noStrike" dirty="0">
                          <a:solidFill>
                            <a:srgbClr val="C00000"/>
                          </a:solidFill>
                          <a:effectLst/>
                          <a:latin typeface="+mj-ea"/>
                          <a:ea typeface="+mj-ea"/>
                        </a:rPr>
                        <a:t>市场监管总局向阿里开出</a:t>
                      </a:r>
                      <a:r>
                        <a:rPr lang="en-US" altLang="zh-CN" sz="1100" b="1" u="none" strike="noStrike" dirty="0">
                          <a:solidFill>
                            <a:srgbClr val="C00000"/>
                          </a:solidFill>
                          <a:effectLst/>
                          <a:latin typeface="+mj-ea"/>
                          <a:ea typeface="+mj-ea"/>
                        </a:rPr>
                        <a:t>182</a:t>
                      </a:r>
                      <a:r>
                        <a:rPr lang="zh-CN" altLang="en-US" sz="1100" b="1" u="none" strike="noStrike" dirty="0">
                          <a:solidFill>
                            <a:srgbClr val="C00000"/>
                          </a:solidFill>
                          <a:effectLst/>
                          <a:latin typeface="+mj-ea"/>
                          <a:ea typeface="+mj-ea"/>
                        </a:rPr>
                        <a:t>亿罚单，当月中概互联板块大幅回撤。</a:t>
                      </a:r>
                      <a:endParaRPr lang="zh-CN" altLang="en-US" sz="1100" b="1" i="0" u="none" strike="noStrike" dirty="0">
                        <a:solidFill>
                          <a:srgbClr val="C00000"/>
                        </a:solidFill>
                        <a:effectLst/>
                        <a:latin typeface="+mj-ea"/>
                        <a:ea typeface="+mj-ea"/>
                      </a:endParaRPr>
                    </a:p>
                  </a:txBody>
                  <a:tcPr marL="5236" marR="5236" marT="5236" marB="0" anchor="ctr">
                    <a:solidFill>
                      <a:schemeClr val="bg1">
                        <a:lumMod val="95000"/>
                      </a:schemeClr>
                    </a:solidFill>
                  </a:tcPr>
                </a:tc>
                <a:tc>
                  <a:txBody>
                    <a:bodyPr/>
                    <a:lstStyle/>
                    <a:p>
                      <a:pPr marL="0" indent="0" algn="l" fontAlgn="ctr">
                        <a:buFont typeface="Arial" panose="020B0604020202020204" pitchFamily="34" charset="0"/>
                        <a:buNone/>
                      </a:pPr>
                      <a:r>
                        <a:rPr lang="zh-CN" altLang="en-US" sz="1100" b="1" u="none" strike="noStrike" dirty="0">
                          <a:solidFill>
                            <a:srgbClr val="C00000"/>
                          </a:solidFill>
                          <a:effectLst/>
                          <a:latin typeface="+mj-ea"/>
                          <a:ea typeface="+mj-ea"/>
                        </a:rPr>
                        <a:t>降低中概股仓位，教培行业获利了结。</a:t>
                      </a:r>
                      <a:endParaRPr lang="en-US" altLang="zh-CN" sz="1100" b="1" u="none" strike="noStrike" dirty="0">
                        <a:solidFill>
                          <a:srgbClr val="C00000"/>
                        </a:solidFill>
                        <a:effectLst/>
                        <a:latin typeface="+mj-ea"/>
                        <a:ea typeface="+mj-ea"/>
                      </a:endParaRPr>
                    </a:p>
                    <a:p>
                      <a:pPr algn="l" fontAlgn="ctr"/>
                      <a:r>
                        <a:rPr lang="zh-CN" altLang="en-US" sz="1100" b="0" i="0" u="none" strike="noStrike" dirty="0">
                          <a:solidFill>
                            <a:srgbClr val="000000"/>
                          </a:solidFill>
                          <a:effectLst/>
                          <a:latin typeface="+mj-ea"/>
                          <a:ea typeface="+mj-ea"/>
                        </a:rPr>
                        <a:t>中国政府近期对互联网平台公司持续监管审查符合我们之前的预期。为此，</a:t>
                      </a:r>
                      <a:r>
                        <a:rPr lang="zh-CN" altLang="en-US" sz="1100" b="1" i="0" u="none" strike="noStrike" dirty="0">
                          <a:solidFill>
                            <a:srgbClr val="C00000"/>
                          </a:solidFill>
                          <a:effectLst/>
                          <a:latin typeface="+mj-ea"/>
                          <a:ea typeface="+mj-ea"/>
                        </a:rPr>
                        <a:t>我们前期已经降低一些电商平台的仓位。</a:t>
                      </a:r>
                      <a:endParaRPr lang="zh-CN" altLang="en-US" sz="1100" b="1" i="0" u="none" strike="noStrike" dirty="0">
                        <a:solidFill>
                          <a:srgbClr val="C00000"/>
                        </a:solidFill>
                        <a:effectLst/>
                        <a:latin typeface="+mj-ea"/>
                        <a:ea typeface="+mj-ea"/>
                      </a:endParaRPr>
                    </a:p>
                  </a:txBody>
                  <a:tcPr marL="5236" marR="5236" marT="5236" marB="0" anchor="ctr">
                    <a:solidFill>
                      <a:schemeClr val="bg1">
                        <a:lumMod val="95000"/>
                      </a:schemeClr>
                    </a:solidFill>
                  </a:tcPr>
                </a:tc>
              </a:tr>
              <a:tr h="452502">
                <a:tc>
                  <a:txBody>
                    <a:bodyPr/>
                    <a:lstStyle/>
                    <a:p>
                      <a:pPr algn="ctr" fontAlgn="ctr"/>
                      <a:r>
                        <a:rPr lang="en-US" altLang="zh-CN" sz="1100" b="1" u="none" strike="noStrike" dirty="0">
                          <a:effectLst/>
                          <a:latin typeface="+mj-ea"/>
                          <a:ea typeface="+mj-ea"/>
                        </a:rPr>
                        <a:t>2021</a:t>
                      </a:r>
                      <a:r>
                        <a:rPr lang="zh-CN" altLang="en-US" sz="1100" b="1" u="none" strike="noStrike" dirty="0">
                          <a:effectLst/>
                          <a:latin typeface="+mj-ea"/>
                          <a:ea typeface="+mj-ea"/>
                        </a:rPr>
                        <a:t>年</a:t>
                      </a:r>
                      <a:r>
                        <a:rPr lang="en-US" altLang="zh-CN" sz="1100" b="1" u="none" strike="noStrike" dirty="0">
                          <a:effectLst/>
                          <a:latin typeface="+mj-ea"/>
                          <a:ea typeface="+mj-ea"/>
                        </a:rPr>
                        <a:t>7</a:t>
                      </a:r>
                      <a:r>
                        <a:rPr lang="zh-CN" altLang="en-US" sz="1100" b="1" u="none" strike="noStrike" dirty="0">
                          <a:effectLst/>
                          <a:latin typeface="+mj-ea"/>
                          <a:ea typeface="+mj-ea"/>
                        </a:rPr>
                        <a:t>月</a:t>
                      </a:r>
                      <a:endParaRPr lang="zh-CN" altLang="en-US" sz="1100" b="1" i="0" u="none" strike="noStrike" dirty="0">
                        <a:solidFill>
                          <a:srgbClr val="000000"/>
                        </a:solidFill>
                        <a:effectLst/>
                        <a:latin typeface="+mj-ea"/>
                        <a:ea typeface="+mj-ea"/>
                      </a:endParaRPr>
                    </a:p>
                  </a:txBody>
                  <a:tcPr marL="5236" marR="5236" marT="5236" marB="0" anchor="ctr">
                    <a:solidFill>
                      <a:schemeClr val="bg1">
                        <a:lumMod val="95000"/>
                      </a:schemeClr>
                    </a:solidFill>
                  </a:tcPr>
                </a:tc>
                <a:tc>
                  <a:txBody>
                    <a:bodyPr/>
                    <a:lstStyle/>
                    <a:p>
                      <a:pPr algn="l" fontAlgn="ctr"/>
                      <a:r>
                        <a:rPr lang="zh-CN" altLang="en-US" sz="1100" b="1" u="none" strike="noStrike" dirty="0">
                          <a:effectLst/>
                          <a:latin typeface="+mj-ea"/>
                          <a:ea typeface="+mj-ea"/>
                        </a:rPr>
                        <a:t>金色中国</a:t>
                      </a:r>
                      <a:r>
                        <a:rPr lang="en-US" altLang="zh-CN" sz="1100" b="1" u="none" strike="noStrike" dirty="0">
                          <a:effectLst/>
                          <a:latin typeface="+mj-ea"/>
                          <a:ea typeface="+mj-ea"/>
                        </a:rPr>
                        <a:t>-10%</a:t>
                      </a:r>
                      <a:r>
                        <a:rPr lang="zh-CN" altLang="en-US" sz="1100" b="1" u="none" strike="noStrike" dirty="0">
                          <a:effectLst/>
                          <a:latin typeface="+mj-ea"/>
                          <a:ea typeface="+mj-ea"/>
                        </a:rPr>
                        <a:t>；</a:t>
                      </a:r>
                      <a:r>
                        <a:rPr lang="en-US" altLang="zh-CN" sz="1100" b="1" u="none" strike="noStrike" dirty="0">
                          <a:effectLst/>
                          <a:latin typeface="+mj-ea"/>
                          <a:ea typeface="+mj-ea"/>
                        </a:rPr>
                        <a:t>MSCI</a:t>
                      </a:r>
                      <a:r>
                        <a:rPr lang="zh-CN" altLang="en-US" sz="1100" b="1" u="none" strike="noStrike" dirty="0">
                          <a:effectLst/>
                          <a:latin typeface="+mj-ea"/>
                          <a:ea typeface="+mj-ea"/>
                        </a:rPr>
                        <a:t>中国</a:t>
                      </a:r>
                      <a:r>
                        <a:rPr lang="en-US" altLang="zh-CN" sz="1100" b="1" u="none" strike="noStrike" dirty="0">
                          <a:effectLst/>
                          <a:latin typeface="+mj-ea"/>
                          <a:ea typeface="+mj-ea"/>
                        </a:rPr>
                        <a:t>-14%</a:t>
                      </a:r>
                      <a:r>
                        <a:rPr lang="zh-CN" altLang="en-US" sz="1100" b="1" u="none" strike="noStrike" dirty="0">
                          <a:effectLst/>
                          <a:latin typeface="+mj-ea"/>
                          <a:ea typeface="+mj-ea"/>
                        </a:rPr>
                        <a:t>。</a:t>
                      </a:r>
                      <a:br>
                        <a:rPr lang="zh-CN" altLang="en-US" sz="1100" u="none" strike="noStrike" dirty="0">
                          <a:effectLst/>
                          <a:latin typeface="+mj-ea"/>
                          <a:ea typeface="+mj-ea"/>
                        </a:rPr>
                      </a:br>
                      <a:r>
                        <a:rPr lang="en-US" altLang="zh-CN" sz="1100" b="1" u="none" strike="noStrike" dirty="0">
                          <a:solidFill>
                            <a:srgbClr val="C00000"/>
                          </a:solidFill>
                          <a:effectLst/>
                          <a:latin typeface="+mj-ea"/>
                          <a:ea typeface="+mj-ea"/>
                        </a:rPr>
                        <a:t>7.2</a:t>
                      </a:r>
                      <a:r>
                        <a:rPr lang="zh-CN" altLang="en-US" sz="1100" b="1" u="none" strike="noStrike" dirty="0">
                          <a:solidFill>
                            <a:srgbClr val="C00000"/>
                          </a:solidFill>
                          <a:effectLst/>
                          <a:latin typeface="+mj-ea"/>
                          <a:ea typeface="+mj-ea"/>
                        </a:rPr>
                        <a:t>滴滴事件、</a:t>
                      </a:r>
                      <a:r>
                        <a:rPr lang="en-US" altLang="zh-CN" sz="1100" b="1" u="none" strike="noStrike" dirty="0">
                          <a:solidFill>
                            <a:srgbClr val="C00000"/>
                          </a:solidFill>
                          <a:effectLst/>
                          <a:latin typeface="+mj-ea"/>
                          <a:ea typeface="+mj-ea"/>
                        </a:rPr>
                        <a:t>7.23</a:t>
                      </a:r>
                      <a:r>
                        <a:rPr lang="zh-CN" altLang="en-US" sz="1100" b="1" u="none" strike="noStrike" dirty="0">
                          <a:solidFill>
                            <a:srgbClr val="C00000"/>
                          </a:solidFill>
                          <a:effectLst/>
                          <a:latin typeface="+mj-ea"/>
                          <a:ea typeface="+mj-ea"/>
                        </a:rPr>
                        <a:t>教育政策落地</a:t>
                      </a:r>
                      <a:r>
                        <a:rPr lang="zh-CN" altLang="en-US" sz="1100" u="none" strike="noStrike" dirty="0">
                          <a:effectLst/>
                          <a:latin typeface="+mj-ea"/>
                          <a:ea typeface="+mj-ea"/>
                        </a:rPr>
                        <a:t>，中概股、港股出现了自</a:t>
                      </a:r>
                      <a:r>
                        <a:rPr lang="en-US" altLang="zh-CN" sz="1100" u="none" strike="noStrike" dirty="0">
                          <a:effectLst/>
                          <a:latin typeface="+mj-ea"/>
                          <a:ea typeface="+mj-ea"/>
                        </a:rPr>
                        <a:t>2018</a:t>
                      </a:r>
                      <a:r>
                        <a:rPr lang="zh-CN" altLang="en-US" sz="1100" u="none" strike="noStrike" dirty="0">
                          <a:effectLst/>
                          <a:latin typeface="+mj-ea"/>
                          <a:ea typeface="+mj-ea"/>
                        </a:rPr>
                        <a:t>年以来的最大抛售。</a:t>
                      </a:r>
                      <a:endParaRPr lang="zh-CN" altLang="en-US" sz="1100" b="0" i="0" u="none" strike="noStrike" dirty="0">
                        <a:solidFill>
                          <a:srgbClr val="000000"/>
                        </a:solidFill>
                        <a:effectLst/>
                        <a:latin typeface="+mj-ea"/>
                        <a:ea typeface="+mj-ea"/>
                      </a:endParaRPr>
                    </a:p>
                  </a:txBody>
                  <a:tcPr marL="5236" marR="5236" marT="5236" marB="0" anchor="ctr">
                    <a:solidFill>
                      <a:schemeClr val="bg1">
                        <a:lumMod val="95000"/>
                      </a:schemeClr>
                    </a:solidFill>
                  </a:tcPr>
                </a:tc>
                <a:tc>
                  <a:txBody>
                    <a:bodyPr/>
                    <a:lstStyle/>
                    <a:p>
                      <a:pPr algn="l" fontAlgn="ctr"/>
                      <a:r>
                        <a:rPr lang="zh-CN" altLang="en-US" sz="1100" u="none" strike="noStrike" dirty="0">
                          <a:effectLst/>
                          <a:latin typeface="+mj-ea"/>
                          <a:ea typeface="+mj-ea"/>
                        </a:rPr>
                        <a:t>投资者不应对互联网</a:t>
                      </a:r>
                      <a:r>
                        <a:rPr lang="en-US" altLang="zh-CN" sz="1100" u="none" strike="noStrike" dirty="0">
                          <a:effectLst/>
                          <a:latin typeface="+mj-ea"/>
                          <a:ea typeface="+mj-ea"/>
                        </a:rPr>
                        <a:t>/</a:t>
                      </a:r>
                      <a:r>
                        <a:rPr lang="zh-CN" altLang="en-US" sz="1100" u="none" strike="noStrike" dirty="0">
                          <a:effectLst/>
                          <a:latin typeface="+mj-ea"/>
                          <a:ea typeface="+mj-ea"/>
                        </a:rPr>
                        <a:t>科技行业过于悲观，龙头企业的估值合理、基本面夯实。</a:t>
                      </a:r>
                      <a:endParaRPr lang="en-US" altLang="zh-CN" sz="1100" u="none" strike="noStrike" dirty="0">
                        <a:effectLst/>
                        <a:latin typeface="+mj-ea"/>
                        <a:ea typeface="+mj-ea"/>
                      </a:endParaRPr>
                    </a:p>
                    <a:p>
                      <a:pPr algn="l" fontAlgn="ctr"/>
                      <a:r>
                        <a:rPr lang="zh-CN" altLang="en-US" sz="1100" b="1" i="0" u="none" strike="noStrike" dirty="0">
                          <a:solidFill>
                            <a:srgbClr val="C00000"/>
                          </a:solidFill>
                          <a:effectLst/>
                          <a:latin typeface="+mj-ea"/>
                          <a:ea typeface="+mj-ea"/>
                        </a:rPr>
                        <a:t>利用 </a:t>
                      </a:r>
                      <a:r>
                        <a:rPr lang="en-US" altLang="zh-CN" sz="1100" b="1" i="0" u="none" strike="noStrike" dirty="0">
                          <a:solidFill>
                            <a:srgbClr val="C00000"/>
                          </a:solidFill>
                          <a:effectLst/>
                          <a:latin typeface="+mj-ea"/>
                          <a:ea typeface="+mj-ea"/>
                        </a:rPr>
                        <a:t>7 </a:t>
                      </a:r>
                      <a:r>
                        <a:rPr lang="zh-CN" altLang="en-US" sz="1100" b="1" i="0" u="none" strike="noStrike" dirty="0">
                          <a:solidFill>
                            <a:srgbClr val="C00000"/>
                          </a:solidFill>
                          <a:effectLst/>
                          <a:latin typeface="+mj-ea"/>
                          <a:ea typeface="+mj-ea"/>
                        </a:rPr>
                        <a:t>月市场的大幅抛售，对几家基本面强劲、具可持续成长性且估值极具吸引力的公司加仓或开始建仓。</a:t>
                      </a:r>
                      <a:endParaRPr lang="zh-CN" altLang="en-US" sz="1100" b="1" i="0" u="none" strike="noStrike" dirty="0">
                        <a:solidFill>
                          <a:srgbClr val="C00000"/>
                        </a:solidFill>
                        <a:effectLst/>
                        <a:latin typeface="+mj-ea"/>
                        <a:ea typeface="+mj-ea"/>
                      </a:endParaRPr>
                    </a:p>
                  </a:txBody>
                  <a:tcPr marL="5236" marR="5236" marT="5236" marB="0" anchor="ctr">
                    <a:solidFill>
                      <a:schemeClr val="bg1">
                        <a:lumMod val="95000"/>
                      </a:schemeClr>
                    </a:solidFill>
                  </a:tcPr>
                </a:tc>
              </a:tr>
              <a:tr h="452502">
                <a:tc>
                  <a:txBody>
                    <a:bodyPr/>
                    <a:lstStyle/>
                    <a:p>
                      <a:pPr algn="ctr" fontAlgn="ctr"/>
                      <a:r>
                        <a:rPr lang="en-US" altLang="zh-CN" sz="1100" b="1" u="none" strike="noStrike" dirty="0">
                          <a:effectLst/>
                          <a:latin typeface="+mj-ea"/>
                          <a:ea typeface="+mj-ea"/>
                        </a:rPr>
                        <a:t>2022</a:t>
                      </a:r>
                      <a:r>
                        <a:rPr lang="zh-CN" altLang="en-US" sz="1100" b="1" u="none" strike="noStrike" dirty="0">
                          <a:effectLst/>
                          <a:latin typeface="+mj-ea"/>
                          <a:ea typeface="+mj-ea"/>
                        </a:rPr>
                        <a:t>年</a:t>
                      </a:r>
                      <a:r>
                        <a:rPr lang="en-US" sz="1100" b="1" u="none" strike="noStrike" dirty="0">
                          <a:effectLst/>
                          <a:latin typeface="+mj-ea"/>
                          <a:ea typeface="+mj-ea"/>
                        </a:rPr>
                        <a:t>Q1</a:t>
                      </a:r>
                      <a:endParaRPr lang="en-US" sz="1100" b="1" i="0" u="none" strike="noStrike" dirty="0">
                        <a:solidFill>
                          <a:srgbClr val="000000"/>
                        </a:solidFill>
                        <a:effectLst/>
                        <a:latin typeface="+mj-ea"/>
                        <a:ea typeface="+mj-ea"/>
                      </a:endParaRPr>
                    </a:p>
                  </a:txBody>
                  <a:tcPr marL="5236" marR="5236" marT="5236" marB="0" anchor="ctr">
                    <a:solidFill>
                      <a:schemeClr val="bg1"/>
                    </a:solidFill>
                  </a:tcPr>
                </a:tc>
                <a:tc>
                  <a:txBody>
                    <a:bodyPr/>
                    <a:lstStyle/>
                    <a:p>
                      <a:pPr algn="l" fontAlgn="ctr"/>
                      <a:r>
                        <a:rPr lang="zh-CN" altLang="en-US" sz="1100" b="1" u="none" strike="noStrike" dirty="0">
                          <a:solidFill>
                            <a:schemeClr val="tx1"/>
                          </a:solidFill>
                          <a:effectLst/>
                          <a:latin typeface="+mj-ea"/>
                          <a:ea typeface="+mj-ea"/>
                        </a:rPr>
                        <a:t>金色中国</a:t>
                      </a:r>
                      <a:r>
                        <a:rPr lang="en-US" altLang="zh-CN" sz="1100" b="1" u="none" strike="noStrike" dirty="0">
                          <a:solidFill>
                            <a:schemeClr val="tx1"/>
                          </a:solidFill>
                          <a:effectLst/>
                          <a:latin typeface="+mj-ea"/>
                          <a:ea typeface="+mj-ea"/>
                        </a:rPr>
                        <a:t>-24%</a:t>
                      </a:r>
                      <a:r>
                        <a:rPr lang="zh-CN" altLang="en-US" sz="1100" b="1" u="none" strike="noStrike" dirty="0">
                          <a:solidFill>
                            <a:schemeClr val="tx1"/>
                          </a:solidFill>
                          <a:effectLst/>
                          <a:latin typeface="+mj-ea"/>
                          <a:ea typeface="+mj-ea"/>
                        </a:rPr>
                        <a:t>；</a:t>
                      </a:r>
                      <a:r>
                        <a:rPr lang="en-US" altLang="zh-CN" sz="1100" b="1" u="none" strike="noStrike" dirty="0">
                          <a:solidFill>
                            <a:schemeClr val="tx1"/>
                          </a:solidFill>
                          <a:effectLst/>
                          <a:latin typeface="+mj-ea"/>
                          <a:ea typeface="+mj-ea"/>
                        </a:rPr>
                        <a:t>MSCI</a:t>
                      </a:r>
                      <a:r>
                        <a:rPr lang="zh-CN" altLang="en-US" sz="1100" b="1" u="none" strike="noStrike" dirty="0">
                          <a:solidFill>
                            <a:schemeClr val="tx1"/>
                          </a:solidFill>
                          <a:effectLst/>
                          <a:latin typeface="+mj-ea"/>
                          <a:ea typeface="+mj-ea"/>
                        </a:rPr>
                        <a:t>中国</a:t>
                      </a:r>
                      <a:r>
                        <a:rPr lang="en-US" altLang="zh-CN" sz="1100" b="1" u="none" strike="noStrike" dirty="0">
                          <a:solidFill>
                            <a:schemeClr val="tx1"/>
                          </a:solidFill>
                          <a:effectLst/>
                          <a:latin typeface="+mj-ea"/>
                          <a:ea typeface="+mj-ea"/>
                        </a:rPr>
                        <a:t>-14%</a:t>
                      </a:r>
                      <a:r>
                        <a:rPr lang="zh-CN" altLang="en-US" sz="1100" b="1" u="none" strike="noStrike" dirty="0">
                          <a:solidFill>
                            <a:schemeClr val="tx1"/>
                          </a:solidFill>
                          <a:effectLst/>
                          <a:latin typeface="+mj-ea"/>
                          <a:ea typeface="+mj-ea"/>
                        </a:rPr>
                        <a:t>。</a:t>
                      </a:r>
                      <a:br>
                        <a:rPr lang="zh-CN" altLang="en-US" sz="1100" b="1" u="none" strike="noStrike" dirty="0">
                          <a:solidFill>
                            <a:srgbClr val="C00000"/>
                          </a:solidFill>
                          <a:effectLst/>
                          <a:latin typeface="+mj-ea"/>
                          <a:ea typeface="+mj-ea"/>
                        </a:rPr>
                      </a:br>
                      <a:r>
                        <a:rPr lang="zh-CN" altLang="en-US" sz="1100" u="none" strike="noStrike" dirty="0">
                          <a:effectLst/>
                          <a:latin typeface="+mj-ea"/>
                          <a:ea typeface="+mj-ea"/>
                        </a:rPr>
                        <a:t>俄乌冲突加剧地缘政治风险担忧、新一轮疫情爆发迫使上海封城，中概股退市担忧重燃，全球避险情绪加剧，中概股遭市场恐慌性抛售。</a:t>
                      </a:r>
                      <a:endParaRPr lang="zh-CN" altLang="en-US" sz="1100" b="0" i="0" u="none" strike="noStrike" dirty="0">
                        <a:solidFill>
                          <a:srgbClr val="000000"/>
                        </a:solidFill>
                        <a:effectLst/>
                        <a:latin typeface="+mj-ea"/>
                        <a:ea typeface="+mj-ea"/>
                      </a:endParaRPr>
                    </a:p>
                  </a:txBody>
                  <a:tcPr marL="5236" marR="5236" marT="5236" marB="0" anchor="ctr">
                    <a:solidFill>
                      <a:schemeClr val="bg1"/>
                    </a:solidFill>
                  </a:tcPr>
                </a:tc>
                <a:tc>
                  <a:txBody>
                    <a:bodyPr/>
                    <a:lstStyle/>
                    <a:p>
                      <a:pPr algn="l" fontAlgn="ctr"/>
                      <a:r>
                        <a:rPr lang="zh-CN" altLang="en-US" sz="1100" u="none" strike="noStrike" dirty="0">
                          <a:effectLst/>
                          <a:latin typeface="+mj-ea"/>
                          <a:ea typeface="+mj-ea"/>
                        </a:rPr>
                        <a:t>中国政府发出积极的政策信号，</a:t>
                      </a:r>
                      <a:r>
                        <a:rPr lang="zh-CN" altLang="en-US" sz="1100" b="1" u="none" strike="noStrike" dirty="0">
                          <a:solidFill>
                            <a:srgbClr val="C00000"/>
                          </a:solidFill>
                          <a:effectLst/>
                          <a:latin typeface="+mj-ea"/>
                          <a:ea typeface="+mj-ea"/>
                        </a:rPr>
                        <a:t>政策底显现，净仓位增加至到</a:t>
                      </a:r>
                      <a:r>
                        <a:rPr lang="en-US" altLang="zh-CN" sz="1100" b="1" u="none" strike="noStrike" dirty="0">
                          <a:solidFill>
                            <a:srgbClr val="C00000"/>
                          </a:solidFill>
                          <a:effectLst/>
                          <a:latin typeface="+mj-ea"/>
                          <a:ea typeface="+mj-ea"/>
                        </a:rPr>
                        <a:t>101%</a:t>
                      </a:r>
                      <a:r>
                        <a:rPr lang="zh-CN" altLang="en-US" sz="1100" u="none" strike="noStrike" dirty="0">
                          <a:effectLst/>
                          <a:latin typeface="+mj-ea"/>
                          <a:ea typeface="+mj-ea"/>
                        </a:rPr>
                        <a:t>，</a:t>
                      </a:r>
                      <a:r>
                        <a:rPr lang="zh-CN" altLang="en-US" sz="1100" u="none" strike="noStrike" kern="1200" dirty="0">
                          <a:solidFill>
                            <a:schemeClr val="dk1"/>
                          </a:solidFill>
                          <a:effectLst/>
                          <a:latin typeface="+mj-ea"/>
                          <a:ea typeface="+mj-ea"/>
                          <a:cs typeface="+mn-cs"/>
                        </a:rPr>
                        <a:t>加仓中国</a:t>
                      </a:r>
                      <a:r>
                        <a:rPr lang="en-US" altLang="zh-CN" sz="1100" u="none" strike="noStrike" kern="1200" dirty="0">
                          <a:solidFill>
                            <a:schemeClr val="dk1"/>
                          </a:solidFill>
                          <a:effectLst/>
                          <a:latin typeface="+mj-ea"/>
                          <a:ea typeface="+mj-ea"/>
                          <a:cs typeface="+mn-cs"/>
                        </a:rPr>
                        <a:t>TMT</a:t>
                      </a:r>
                      <a:r>
                        <a:rPr lang="zh-CN" altLang="en-US" sz="1100" u="none" strike="noStrike" kern="1200" dirty="0">
                          <a:solidFill>
                            <a:schemeClr val="dk1"/>
                          </a:solidFill>
                          <a:effectLst/>
                          <a:latin typeface="+mj-ea"/>
                          <a:ea typeface="+mj-ea"/>
                          <a:cs typeface="+mn-cs"/>
                        </a:rPr>
                        <a:t>板块和在线零售</a:t>
                      </a:r>
                      <a:r>
                        <a:rPr lang="en-US" altLang="zh-CN" sz="1100" u="none" strike="noStrike" kern="1200" dirty="0">
                          <a:solidFill>
                            <a:schemeClr val="dk1"/>
                          </a:solidFill>
                          <a:effectLst/>
                          <a:latin typeface="+mj-ea"/>
                          <a:ea typeface="+mj-ea"/>
                          <a:cs typeface="+mn-cs"/>
                        </a:rPr>
                        <a:t>/</a:t>
                      </a:r>
                      <a:r>
                        <a:rPr lang="zh-CN" altLang="en-US" sz="1100" u="none" strike="noStrike" kern="1200" dirty="0">
                          <a:solidFill>
                            <a:schemeClr val="dk1"/>
                          </a:solidFill>
                          <a:effectLst/>
                          <a:latin typeface="+mj-ea"/>
                          <a:ea typeface="+mj-ea"/>
                          <a:cs typeface="+mn-cs"/>
                        </a:rPr>
                        <a:t>消费类公司的配置。因此科技、消费、房地产（港股物业）的多头仓位贡献</a:t>
                      </a:r>
                      <a:r>
                        <a:rPr lang="en-US" altLang="zh-CN" sz="1100" u="none" strike="noStrike" kern="1200" dirty="0">
                          <a:solidFill>
                            <a:schemeClr val="dk1"/>
                          </a:solidFill>
                          <a:effectLst/>
                          <a:latin typeface="+mj-ea"/>
                          <a:ea typeface="+mj-ea"/>
                          <a:cs typeface="+mn-cs"/>
                        </a:rPr>
                        <a:t>1</a:t>
                      </a:r>
                      <a:r>
                        <a:rPr lang="zh-CN" altLang="en-US" sz="1100" u="none" strike="noStrike" kern="1200" dirty="0">
                          <a:solidFill>
                            <a:schemeClr val="dk1"/>
                          </a:solidFill>
                          <a:effectLst/>
                          <a:latin typeface="+mj-ea"/>
                          <a:ea typeface="+mj-ea"/>
                          <a:cs typeface="+mn-cs"/>
                        </a:rPr>
                        <a:t>季度主要亏损。</a:t>
                      </a:r>
                      <a:endParaRPr lang="zh-CN" altLang="en-US" sz="1100" u="none" strike="noStrike" kern="1200" dirty="0">
                        <a:solidFill>
                          <a:schemeClr val="dk1"/>
                        </a:solidFill>
                        <a:effectLst/>
                        <a:latin typeface="+mj-ea"/>
                        <a:ea typeface="+mj-ea"/>
                        <a:cs typeface="+mn-cs"/>
                      </a:endParaRPr>
                    </a:p>
                  </a:txBody>
                  <a:tcPr marL="5236" marR="5236" marT="5236" marB="0" anchor="ctr">
                    <a:solidFill>
                      <a:schemeClr val="bg1"/>
                    </a:solidFill>
                  </a:tcPr>
                </a:tc>
              </a:tr>
              <a:tr h="601782">
                <a:tc>
                  <a:txBody>
                    <a:bodyPr/>
                    <a:lstStyle/>
                    <a:p>
                      <a:pPr algn="ctr" fontAlgn="ctr"/>
                      <a:r>
                        <a:rPr lang="en-US" altLang="zh-CN" sz="1100" b="1" u="none" strike="noStrike" dirty="0">
                          <a:effectLst/>
                          <a:latin typeface="+mj-ea"/>
                          <a:ea typeface="+mj-ea"/>
                        </a:rPr>
                        <a:t>2022</a:t>
                      </a:r>
                      <a:r>
                        <a:rPr lang="zh-CN" altLang="en-US" sz="1100" b="1" u="none" strike="noStrike" dirty="0">
                          <a:effectLst/>
                          <a:latin typeface="+mj-ea"/>
                          <a:ea typeface="+mj-ea"/>
                        </a:rPr>
                        <a:t>年</a:t>
                      </a:r>
                      <a:r>
                        <a:rPr lang="en-US" altLang="zh-CN" sz="1100" b="1" u="none" strike="noStrike" dirty="0">
                          <a:effectLst/>
                          <a:latin typeface="+mj-ea"/>
                          <a:ea typeface="+mj-ea"/>
                        </a:rPr>
                        <a:t>6</a:t>
                      </a:r>
                      <a:r>
                        <a:rPr lang="zh-CN" altLang="en-US" sz="1100" b="1" u="none" strike="noStrike" dirty="0">
                          <a:effectLst/>
                          <a:latin typeface="+mj-ea"/>
                          <a:ea typeface="+mj-ea"/>
                        </a:rPr>
                        <a:t>月</a:t>
                      </a:r>
                      <a:endParaRPr lang="zh-CN" altLang="en-US" sz="1100" b="1" i="0" u="none" strike="noStrike" dirty="0">
                        <a:solidFill>
                          <a:srgbClr val="000000"/>
                        </a:solidFill>
                        <a:effectLst/>
                        <a:latin typeface="+mj-ea"/>
                        <a:ea typeface="+mj-ea"/>
                      </a:endParaRPr>
                    </a:p>
                  </a:txBody>
                  <a:tcPr marL="5236" marR="5236" marT="5236" marB="0" anchor="ctr">
                    <a:solidFill>
                      <a:schemeClr val="bg1"/>
                    </a:solidFill>
                  </a:tcPr>
                </a:tc>
                <a:tc>
                  <a:txBody>
                    <a:bodyPr/>
                    <a:lstStyle/>
                    <a:p>
                      <a:pPr algn="l" fontAlgn="ctr"/>
                      <a:r>
                        <a:rPr lang="zh-CN" altLang="en-US" sz="1100" b="1" u="none" strike="noStrike" dirty="0">
                          <a:effectLst/>
                          <a:latin typeface="+mj-ea"/>
                          <a:ea typeface="+mj-ea"/>
                        </a:rPr>
                        <a:t>金色中国</a:t>
                      </a:r>
                      <a:r>
                        <a:rPr lang="en-US" altLang="zh-CN" sz="1100" b="1" u="none" strike="noStrike" dirty="0">
                          <a:effectLst/>
                          <a:latin typeface="+mj-ea"/>
                          <a:ea typeface="+mj-ea"/>
                        </a:rPr>
                        <a:t>6.5%</a:t>
                      </a:r>
                      <a:r>
                        <a:rPr lang="zh-CN" altLang="en-US" sz="1100" b="1" u="none" strike="noStrike" dirty="0">
                          <a:effectLst/>
                          <a:latin typeface="+mj-ea"/>
                          <a:ea typeface="+mj-ea"/>
                        </a:rPr>
                        <a:t>；</a:t>
                      </a:r>
                      <a:r>
                        <a:rPr lang="en-US" altLang="zh-CN" sz="1100" b="1" u="none" strike="noStrike" dirty="0">
                          <a:effectLst/>
                          <a:latin typeface="+mj-ea"/>
                          <a:ea typeface="+mj-ea"/>
                        </a:rPr>
                        <a:t>MSCI</a:t>
                      </a:r>
                      <a:r>
                        <a:rPr lang="zh-CN" altLang="en-US" sz="1100" b="1" u="none" strike="noStrike" dirty="0">
                          <a:effectLst/>
                          <a:latin typeface="+mj-ea"/>
                          <a:ea typeface="+mj-ea"/>
                        </a:rPr>
                        <a:t>中国</a:t>
                      </a:r>
                      <a:r>
                        <a:rPr lang="en-US" altLang="zh-CN" sz="1100" b="1" u="none" strike="noStrike" dirty="0">
                          <a:effectLst/>
                          <a:latin typeface="+mj-ea"/>
                          <a:ea typeface="+mj-ea"/>
                        </a:rPr>
                        <a:t>5.7%</a:t>
                      </a:r>
                      <a:r>
                        <a:rPr lang="zh-CN" altLang="en-US" sz="1100" b="1" u="none" strike="noStrike" dirty="0">
                          <a:effectLst/>
                          <a:latin typeface="+mj-ea"/>
                          <a:ea typeface="+mj-ea"/>
                        </a:rPr>
                        <a:t>。</a:t>
                      </a:r>
                      <a:br>
                        <a:rPr lang="zh-CN" altLang="en-US" sz="1100" u="none" strike="noStrike" dirty="0">
                          <a:effectLst/>
                          <a:latin typeface="+mj-ea"/>
                          <a:ea typeface="+mj-ea"/>
                        </a:rPr>
                      </a:br>
                      <a:r>
                        <a:rPr lang="zh-CN" altLang="en-US" sz="1100" u="none" strike="noStrike" dirty="0">
                          <a:effectLst/>
                          <a:latin typeface="+mj-ea"/>
                          <a:ea typeface="+mj-ea"/>
                        </a:rPr>
                        <a:t>上海重新开放，房地产销售、</a:t>
                      </a:r>
                      <a:r>
                        <a:rPr lang="en-US" altLang="zh-CN" sz="1100" u="none" strike="noStrike" dirty="0">
                          <a:effectLst/>
                          <a:latin typeface="+mj-ea"/>
                          <a:ea typeface="+mj-ea"/>
                        </a:rPr>
                        <a:t>PMI</a:t>
                      </a:r>
                      <a:r>
                        <a:rPr lang="zh-CN" altLang="en-US" sz="1100" u="none" strike="noStrike" dirty="0">
                          <a:effectLst/>
                          <a:latin typeface="+mj-ea"/>
                          <a:ea typeface="+mj-ea"/>
                        </a:rPr>
                        <a:t>指数、汽车销售等一系列宏观高频指标有所改善，叠加更明朗化的宏观逆周期调控与行业监管政策，海外中国股票和国内</a:t>
                      </a:r>
                      <a:r>
                        <a:rPr lang="en-US" altLang="zh-CN" sz="1100" u="none" strike="noStrike" dirty="0">
                          <a:effectLst/>
                          <a:latin typeface="+mj-ea"/>
                          <a:ea typeface="+mj-ea"/>
                        </a:rPr>
                        <a:t>A</a:t>
                      </a:r>
                      <a:r>
                        <a:rPr lang="zh-CN" altLang="en-US" sz="1100" u="none" strike="noStrike" dirty="0">
                          <a:effectLst/>
                          <a:latin typeface="+mj-ea"/>
                          <a:ea typeface="+mj-ea"/>
                        </a:rPr>
                        <a:t>股市场跑赢全球其他市场</a:t>
                      </a:r>
                      <a:endParaRPr lang="zh-CN" altLang="en-US" sz="1100" b="0" i="0" u="none" strike="noStrike" dirty="0">
                        <a:solidFill>
                          <a:srgbClr val="000000"/>
                        </a:solidFill>
                        <a:effectLst/>
                        <a:latin typeface="+mj-ea"/>
                        <a:ea typeface="+mj-ea"/>
                      </a:endParaRPr>
                    </a:p>
                  </a:txBody>
                  <a:tcPr marL="5236" marR="5236" marT="5236" marB="0" anchor="ctr">
                    <a:solidFill>
                      <a:schemeClr val="bg1"/>
                    </a:solidFill>
                  </a:tcPr>
                </a:tc>
                <a:tc>
                  <a:txBody>
                    <a:bodyPr/>
                    <a:lstStyle/>
                    <a:p>
                      <a:pPr algn="l" fontAlgn="ctr"/>
                      <a:r>
                        <a:rPr lang="zh-CN" altLang="en-US" sz="1100" b="1" u="none" strike="noStrike" kern="1200" dirty="0">
                          <a:solidFill>
                            <a:srgbClr val="C00000"/>
                          </a:solidFill>
                          <a:effectLst/>
                          <a:latin typeface="+mj-ea"/>
                          <a:ea typeface="+mj-ea"/>
                          <a:cs typeface="+mn-cs"/>
                        </a:rPr>
                        <a:t>认为中国股市最糟糕的时期已经过去</a:t>
                      </a:r>
                      <a:r>
                        <a:rPr lang="zh-CN" altLang="en-US" sz="1100" u="none" strike="noStrike" dirty="0">
                          <a:effectLst/>
                          <a:latin typeface="+mj-ea"/>
                          <a:ea typeface="+mj-ea"/>
                        </a:rPr>
                        <a:t>，主要源于：</a:t>
                      </a:r>
                      <a:r>
                        <a:rPr lang="en-US" altLang="zh-CN" sz="1100" u="none" strike="noStrike" dirty="0">
                          <a:effectLst/>
                          <a:latin typeface="+mj-ea"/>
                          <a:ea typeface="+mj-ea"/>
                        </a:rPr>
                        <a:t>1</a:t>
                      </a:r>
                      <a:r>
                        <a:rPr lang="zh-CN" altLang="en-US" sz="1100" u="none" strike="noStrike" dirty="0">
                          <a:effectLst/>
                          <a:latin typeface="+mj-ea"/>
                          <a:ea typeface="+mj-ea"/>
                        </a:rPr>
                        <a:t>）当前具有吸引力的估值（尤其是中概股）；</a:t>
                      </a:r>
                      <a:r>
                        <a:rPr lang="en-US" altLang="zh-CN" sz="1100" u="none" strike="noStrike" dirty="0">
                          <a:effectLst/>
                          <a:latin typeface="+mj-ea"/>
                          <a:ea typeface="+mj-ea"/>
                        </a:rPr>
                        <a:t>2</a:t>
                      </a:r>
                      <a:r>
                        <a:rPr lang="zh-CN" altLang="en-US" sz="1100" u="none" strike="noStrike" dirty="0">
                          <a:effectLst/>
                          <a:latin typeface="+mj-ea"/>
                          <a:ea typeface="+mj-ea"/>
                        </a:rPr>
                        <a:t>）中国的宏观经济、企业盈利和政策监管将在</a:t>
                      </a:r>
                      <a:r>
                        <a:rPr lang="en-US" altLang="zh-CN" sz="1100" u="none" strike="noStrike" dirty="0">
                          <a:effectLst/>
                          <a:latin typeface="+mj-ea"/>
                          <a:ea typeface="+mj-ea"/>
                        </a:rPr>
                        <a:t>2022</a:t>
                      </a:r>
                      <a:r>
                        <a:rPr lang="zh-CN" altLang="en-US" sz="1100" u="none" strike="noStrike" dirty="0">
                          <a:effectLst/>
                          <a:latin typeface="+mj-ea"/>
                          <a:ea typeface="+mj-ea"/>
                        </a:rPr>
                        <a:t>年下半年有所改善；</a:t>
                      </a:r>
                      <a:r>
                        <a:rPr lang="en-US" altLang="zh-CN" sz="1100" u="none" strike="noStrike" dirty="0">
                          <a:effectLst/>
                          <a:latin typeface="+mj-ea"/>
                          <a:ea typeface="+mj-ea"/>
                        </a:rPr>
                        <a:t>3</a:t>
                      </a:r>
                      <a:r>
                        <a:rPr lang="zh-CN" altLang="en-US" sz="1100" u="none" strike="noStrike" dirty="0">
                          <a:effectLst/>
                          <a:latin typeface="+mj-ea"/>
                          <a:ea typeface="+mj-ea"/>
                        </a:rPr>
                        <a:t>）中国的货币和财政政策将保持宽松，与美国对抗高通胀的紧缩政策周期相反。</a:t>
                      </a:r>
                      <a:r>
                        <a:rPr lang="zh-CN" altLang="en-US" sz="1100" b="1" u="none" strike="noStrike" dirty="0">
                          <a:solidFill>
                            <a:srgbClr val="C00000"/>
                          </a:solidFill>
                          <a:effectLst/>
                          <a:latin typeface="+mj-ea"/>
                          <a:ea typeface="+mj-ea"/>
                        </a:rPr>
                        <a:t>因此，我们对后市保持谨慎乐观。净仓位维持在</a:t>
                      </a:r>
                      <a:r>
                        <a:rPr lang="en-US" altLang="zh-CN" sz="1100" b="1" u="none" strike="noStrike" dirty="0">
                          <a:solidFill>
                            <a:srgbClr val="C00000"/>
                          </a:solidFill>
                          <a:effectLst/>
                          <a:latin typeface="+mj-ea"/>
                          <a:ea typeface="+mj-ea"/>
                        </a:rPr>
                        <a:t>97%</a:t>
                      </a:r>
                      <a:r>
                        <a:rPr lang="zh-CN" altLang="en-US" sz="1100" b="1" u="none" strike="noStrike" dirty="0">
                          <a:solidFill>
                            <a:srgbClr val="C00000"/>
                          </a:solidFill>
                          <a:effectLst/>
                          <a:latin typeface="+mj-ea"/>
                          <a:ea typeface="+mj-ea"/>
                        </a:rPr>
                        <a:t>较高水平。</a:t>
                      </a:r>
                      <a:endParaRPr lang="zh-CN" altLang="en-US" sz="1100" b="1" i="0" u="none" strike="noStrike" dirty="0">
                        <a:solidFill>
                          <a:srgbClr val="C00000"/>
                        </a:solidFill>
                        <a:effectLst/>
                        <a:latin typeface="+mj-ea"/>
                        <a:ea typeface="+mj-ea"/>
                      </a:endParaRPr>
                    </a:p>
                  </a:txBody>
                  <a:tcPr marL="5236" marR="5236" marT="5236" marB="0" anchor="ctr">
                    <a:solidFill>
                      <a:schemeClr val="bg1"/>
                    </a:solidFill>
                  </a:tcPr>
                </a:tc>
              </a:tr>
              <a:tr h="704955">
                <a:tc>
                  <a:txBody>
                    <a:bodyPr/>
                    <a:lstStyle/>
                    <a:p>
                      <a:pPr algn="ctr" fontAlgn="ctr"/>
                      <a:r>
                        <a:rPr lang="en-US" altLang="zh-CN" sz="1100" b="1" u="none" strike="noStrike" dirty="0">
                          <a:effectLst/>
                          <a:latin typeface="+mj-ea"/>
                          <a:ea typeface="+mj-ea"/>
                        </a:rPr>
                        <a:t>2022</a:t>
                      </a:r>
                      <a:r>
                        <a:rPr lang="zh-CN" altLang="en-US" sz="1100" b="1" u="none" strike="noStrike" dirty="0">
                          <a:effectLst/>
                          <a:latin typeface="+mj-ea"/>
                          <a:ea typeface="+mj-ea"/>
                        </a:rPr>
                        <a:t>年</a:t>
                      </a:r>
                      <a:r>
                        <a:rPr lang="en-US" sz="1100" b="1" u="none" strike="noStrike" dirty="0">
                          <a:effectLst/>
                          <a:latin typeface="+mj-ea"/>
                          <a:ea typeface="+mj-ea"/>
                        </a:rPr>
                        <a:t>Q4</a:t>
                      </a:r>
                      <a:endParaRPr lang="en-US" sz="1100" b="1" i="0" u="none" strike="noStrike" dirty="0">
                        <a:solidFill>
                          <a:srgbClr val="000000"/>
                        </a:solidFill>
                        <a:effectLst/>
                        <a:latin typeface="+mj-ea"/>
                        <a:ea typeface="+mj-ea"/>
                      </a:endParaRPr>
                    </a:p>
                  </a:txBody>
                  <a:tcPr marL="5236" marR="5236" marT="5236" marB="0" anchor="ctr">
                    <a:solidFill>
                      <a:schemeClr val="bg1"/>
                    </a:solidFill>
                  </a:tcPr>
                </a:tc>
                <a:tc>
                  <a:txBody>
                    <a:bodyPr/>
                    <a:lstStyle/>
                    <a:p>
                      <a:pPr algn="l" fontAlgn="ctr"/>
                      <a:r>
                        <a:rPr lang="zh-CN" altLang="en-US" sz="1100" b="1" u="none" strike="noStrike" dirty="0">
                          <a:solidFill>
                            <a:schemeClr val="tx1"/>
                          </a:solidFill>
                          <a:effectLst/>
                          <a:latin typeface="+mj-ea"/>
                          <a:ea typeface="+mj-ea"/>
                        </a:rPr>
                        <a:t>金色中国</a:t>
                      </a:r>
                      <a:r>
                        <a:rPr lang="en-US" altLang="zh-CN" sz="1100" b="1" u="none" strike="noStrike" dirty="0">
                          <a:solidFill>
                            <a:schemeClr val="tx1"/>
                          </a:solidFill>
                          <a:effectLst/>
                          <a:latin typeface="+mj-ea"/>
                          <a:ea typeface="+mj-ea"/>
                        </a:rPr>
                        <a:t>22%</a:t>
                      </a:r>
                      <a:r>
                        <a:rPr lang="zh-CN" altLang="en-US" sz="1100" b="1" u="none" strike="noStrike" dirty="0">
                          <a:solidFill>
                            <a:schemeClr val="tx1"/>
                          </a:solidFill>
                          <a:effectLst/>
                          <a:latin typeface="+mj-ea"/>
                          <a:ea typeface="+mj-ea"/>
                        </a:rPr>
                        <a:t>；</a:t>
                      </a:r>
                      <a:r>
                        <a:rPr lang="en-US" altLang="zh-CN" sz="1100" b="1" u="none" strike="noStrike" dirty="0">
                          <a:solidFill>
                            <a:schemeClr val="tx1"/>
                          </a:solidFill>
                          <a:effectLst/>
                          <a:latin typeface="+mj-ea"/>
                          <a:ea typeface="+mj-ea"/>
                        </a:rPr>
                        <a:t>MSCI</a:t>
                      </a:r>
                      <a:r>
                        <a:rPr lang="zh-CN" altLang="en-US" sz="1100" b="1" u="none" strike="noStrike" dirty="0">
                          <a:solidFill>
                            <a:schemeClr val="tx1"/>
                          </a:solidFill>
                          <a:effectLst/>
                          <a:latin typeface="+mj-ea"/>
                          <a:ea typeface="+mj-ea"/>
                        </a:rPr>
                        <a:t>中国</a:t>
                      </a:r>
                      <a:r>
                        <a:rPr lang="en-US" altLang="zh-CN" sz="1100" b="1" u="none" strike="noStrike" dirty="0">
                          <a:solidFill>
                            <a:schemeClr val="tx1"/>
                          </a:solidFill>
                          <a:effectLst/>
                          <a:latin typeface="+mj-ea"/>
                          <a:ea typeface="+mj-ea"/>
                        </a:rPr>
                        <a:t>13%</a:t>
                      </a:r>
                      <a:r>
                        <a:rPr lang="zh-CN" altLang="en-US" sz="1100" b="1" u="none" strike="noStrike" dirty="0">
                          <a:solidFill>
                            <a:schemeClr val="tx1"/>
                          </a:solidFill>
                          <a:effectLst/>
                          <a:latin typeface="+mj-ea"/>
                          <a:ea typeface="+mj-ea"/>
                        </a:rPr>
                        <a:t>；</a:t>
                      </a:r>
                      <a:br>
                        <a:rPr lang="zh-CN" altLang="en-US" sz="1100" b="1" u="none" strike="noStrike" dirty="0">
                          <a:solidFill>
                            <a:srgbClr val="C00000"/>
                          </a:solidFill>
                          <a:effectLst/>
                          <a:latin typeface="+mj-ea"/>
                          <a:ea typeface="+mj-ea"/>
                        </a:rPr>
                      </a:br>
                      <a:r>
                        <a:rPr lang="zh-CN" altLang="en-US" sz="1100" u="none" strike="noStrike" dirty="0">
                          <a:effectLst/>
                          <a:latin typeface="+mj-ea"/>
                          <a:ea typeface="+mj-ea"/>
                        </a:rPr>
                        <a:t>市场先抑后扬，</a:t>
                      </a:r>
                      <a:r>
                        <a:rPr lang="en-US" altLang="zh-CN" sz="1100" u="none" strike="noStrike" dirty="0">
                          <a:effectLst/>
                          <a:latin typeface="+mj-ea"/>
                          <a:ea typeface="+mj-ea"/>
                        </a:rPr>
                        <a:t>10</a:t>
                      </a:r>
                      <a:r>
                        <a:rPr lang="zh-CN" altLang="en-US" sz="1100" u="none" strike="noStrike" dirty="0">
                          <a:effectLst/>
                          <a:latin typeface="+mj-ea"/>
                          <a:ea typeface="+mj-ea"/>
                        </a:rPr>
                        <a:t>月股市极速下跌后，市场底出现，</a:t>
                      </a:r>
                      <a:r>
                        <a:rPr lang="en-US" altLang="zh-CN" sz="1100" u="none" strike="noStrike" dirty="0">
                          <a:effectLst/>
                          <a:latin typeface="+mj-ea"/>
                          <a:ea typeface="+mj-ea"/>
                        </a:rPr>
                        <a:t>11-12</a:t>
                      </a:r>
                      <a:r>
                        <a:rPr lang="zh-CN" altLang="en-US" sz="1100" u="none" strike="noStrike" dirty="0">
                          <a:effectLst/>
                          <a:latin typeface="+mj-ea"/>
                          <a:ea typeface="+mj-ea"/>
                        </a:rPr>
                        <a:t>月随着防疫政策和地产政策边际改善，出现大幅反弹。</a:t>
                      </a:r>
                      <a:endParaRPr lang="zh-CN" altLang="en-US" sz="1100" b="0" i="0" u="none" strike="noStrike" dirty="0">
                        <a:solidFill>
                          <a:srgbClr val="000000"/>
                        </a:solidFill>
                        <a:effectLst/>
                        <a:latin typeface="+mj-ea"/>
                        <a:ea typeface="+mj-ea"/>
                      </a:endParaRPr>
                    </a:p>
                  </a:txBody>
                  <a:tcPr marL="5236" marR="5236" marT="5236" marB="0" anchor="ctr">
                    <a:solidFill>
                      <a:schemeClr val="bg1"/>
                    </a:solidFill>
                  </a:tcPr>
                </a:tc>
                <a:tc>
                  <a:txBody>
                    <a:bodyPr/>
                    <a:lstStyle/>
                    <a:p>
                      <a:pPr algn="l" fontAlgn="ctr"/>
                      <a:r>
                        <a:rPr lang="zh-CN" altLang="en-US" sz="1100" b="1" u="none" strike="noStrike" dirty="0">
                          <a:solidFill>
                            <a:srgbClr val="C00000"/>
                          </a:solidFill>
                          <a:effectLst/>
                          <a:latin typeface="+mj-ea"/>
                          <a:ea typeface="+mj-ea"/>
                        </a:rPr>
                        <a:t>维持</a:t>
                      </a:r>
                      <a:r>
                        <a:rPr lang="en-US" altLang="zh-CN" sz="1100" b="1" u="none" strike="noStrike" dirty="0">
                          <a:solidFill>
                            <a:srgbClr val="C00000"/>
                          </a:solidFill>
                          <a:effectLst/>
                          <a:latin typeface="+mj-ea"/>
                          <a:ea typeface="+mj-ea"/>
                        </a:rPr>
                        <a:t>100%</a:t>
                      </a:r>
                      <a:r>
                        <a:rPr lang="zh-CN" altLang="en-US" sz="1100" b="1" u="none" strike="noStrike" dirty="0">
                          <a:solidFill>
                            <a:srgbClr val="C00000"/>
                          </a:solidFill>
                          <a:effectLst/>
                          <a:latin typeface="+mj-ea"/>
                          <a:ea typeface="+mj-ea"/>
                        </a:rPr>
                        <a:t>左右的净仓位，在市场底部抗住了，抓住了市场</a:t>
                      </a:r>
                      <a:r>
                        <a:rPr lang="en-US" altLang="zh-CN" sz="1100" b="1" u="none" strike="noStrike" dirty="0">
                          <a:solidFill>
                            <a:srgbClr val="C00000"/>
                          </a:solidFill>
                          <a:effectLst/>
                          <a:latin typeface="+mj-ea"/>
                          <a:ea typeface="+mj-ea"/>
                        </a:rPr>
                        <a:t>11-12</a:t>
                      </a:r>
                      <a:r>
                        <a:rPr lang="zh-CN" altLang="en-US" sz="1100" b="1" u="none" strike="noStrike" dirty="0">
                          <a:solidFill>
                            <a:srgbClr val="C00000"/>
                          </a:solidFill>
                          <a:effectLst/>
                          <a:latin typeface="+mj-ea"/>
                          <a:ea typeface="+mj-ea"/>
                        </a:rPr>
                        <a:t>月的反弹，修复部分净值。</a:t>
                      </a:r>
                      <a:br>
                        <a:rPr lang="zh-CN" altLang="en-US" sz="1100" u="none" strike="noStrike" dirty="0">
                          <a:effectLst/>
                          <a:latin typeface="+mj-ea"/>
                          <a:ea typeface="+mj-ea"/>
                        </a:rPr>
                      </a:br>
                      <a:r>
                        <a:rPr lang="zh-CN" altLang="en-US" sz="1100" u="none" strike="noStrike" dirty="0">
                          <a:effectLst/>
                          <a:latin typeface="+mj-ea"/>
                          <a:ea typeface="+mj-ea"/>
                        </a:rPr>
                        <a:t>展望</a:t>
                      </a:r>
                      <a:r>
                        <a:rPr lang="en-US" altLang="zh-CN" sz="1100" u="none" strike="noStrike" dirty="0">
                          <a:effectLst/>
                          <a:latin typeface="+mj-ea"/>
                          <a:ea typeface="+mj-ea"/>
                        </a:rPr>
                        <a:t>2023</a:t>
                      </a:r>
                      <a:r>
                        <a:rPr lang="zh-CN" altLang="en-US" sz="1100" u="none" strike="noStrike" dirty="0">
                          <a:effectLst/>
                          <a:latin typeface="+mj-ea"/>
                          <a:ea typeface="+mj-ea"/>
                        </a:rPr>
                        <a:t>年，对中国经济复苏充满期待，但是不宜过度乐观，布局方向上，看好以下机会：</a:t>
                      </a:r>
                      <a:r>
                        <a:rPr lang="en-US" altLang="zh-CN" sz="1100" u="none" strike="noStrike" dirty="0">
                          <a:effectLst/>
                          <a:latin typeface="+mj-ea"/>
                          <a:ea typeface="+mj-ea"/>
                        </a:rPr>
                        <a:t>1</a:t>
                      </a:r>
                      <a:r>
                        <a:rPr lang="zh-CN" altLang="en-US" sz="1100" u="none" strike="noStrike" dirty="0">
                          <a:effectLst/>
                          <a:latin typeface="+mj-ea"/>
                          <a:ea typeface="+mj-ea"/>
                        </a:rPr>
                        <a:t>）消费复苏；</a:t>
                      </a:r>
                      <a:r>
                        <a:rPr lang="en-US" altLang="zh-CN" sz="1100" u="none" strike="noStrike" dirty="0">
                          <a:effectLst/>
                          <a:latin typeface="+mj-ea"/>
                          <a:ea typeface="+mj-ea"/>
                        </a:rPr>
                        <a:t>2</a:t>
                      </a:r>
                      <a:r>
                        <a:rPr lang="zh-CN" altLang="en-US" sz="1100" u="none" strike="noStrike" dirty="0">
                          <a:effectLst/>
                          <a:latin typeface="+mj-ea"/>
                          <a:ea typeface="+mj-ea"/>
                        </a:rPr>
                        <a:t>）业务在全球具备竞争力的公司；</a:t>
                      </a:r>
                      <a:r>
                        <a:rPr lang="en-US" altLang="zh-CN" sz="1100" u="none" strike="noStrike" dirty="0">
                          <a:effectLst/>
                          <a:latin typeface="+mj-ea"/>
                          <a:ea typeface="+mj-ea"/>
                        </a:rPr>
                        <a:t>3</a:t>
                      </a:r>
                      <a:r>
                        <a:rPr lang="zh-CN" altLang="en-US" sz="1100" u="none" strike="noStrike" dirty="0">
                          <a:effectLst/>
                          <a:latin typeface="+mj-ea"/>
                          <a:ea typeface="+mj-ea"/>
                        </a:rPr>
                        <a:t>）治理改善、竞争格局优化的互联网公司；</a:t>
                      </a:r>
                      <a:r>
                        <a:rPr lang="en-US" altLang="zh-CN" sz="1100" u="none" strike="noStrike" dirty="0">
                          <a:effectLst/>
                          <a:latin typeface="+mj-ea"/>
                          <a:ea typeface="+mj-ea"/>
                        </a:rPr>
                        <a:t>4</a:t>
                      </a:r>
                      <a:r>
                        <a:rPr lang="zh-CN" altLang="en-US" sz="1100" u="none" strike="noStrike" dirty="0">
                          <a:effectLst/>
                          <a:latin typeface="+mj-ea"/>
                          <a:ea typeface="+mj-ea"/>
                        </a:rPr>
                        <a:t>）其它受益于</a:t>
                      </a:r>
                      <a:r>
                        <a:rPr lang="en-US" altLang="zh-CN" sz="1100" u="none" strike="noStrike" dirty="0">
                          <a:effectLst/>
                          <a:latin typeface="+mj-ea"/>
                          <a:ea typeface="+mj-ea"/>
                        </a:rPr>
                        <a:t>reopen</a:t>
                      </a:r>
                      <a:r>
                        <a:rPr lang="zh-CN" altLang="en-US" sz="1100" u="none" strike="noStrike" dirty="0">
                          <a:effectLst/>
                          <a:latin typeface="+mj-ea"/>
                          <a:ea typeface="+mj-ea"/>
                        </a:rPr>
                        <a:t>的公司，择机做空受损于</a:t>
                      </a:r>
                      <a:r>
                        <a:rPr lang="en-US" altLang="zh-CN" sz="1100" u="none" strike="noStrike" dirty="0">
                          <a:effectLst/>
                          <a:latin typeface="+mj-ea"/>
                          <a:ea typeface="+mj-ea"/>
                        </a:rPr>
                        <a:t>reopen</a:t>
                      </a:r>
                      <a:r>
                        <a:rPr lang="zh-CN" altLang="en-US" sz="1100" u="none" strike="noStrike" dirty="0">
                          <a:effectLst/>
                          <a:latin typeface="+mj-ea"/>
                          <a:ea typeface="+mj-ea"/>
                        </a:rPr>
                        <a:t>的公司。</a:t>
                      </a:r>
                      <a:endParaRPr lang="zh-CN" altLang="en-US" sz="1100" b="0" i="0" u="none" strike="noStrike" dirty="0">
                        <a:solidFill>
                          <a:srgbClr val="000000"/>
                        </a:solidFill>
                        <a:effectLst/>
                        <a:latin typeface="+mj-ea"/>
                        <a:ea typeface="+mj-ea"/>
                      </a:endParaRPr>
                    </a:p>
                  </a:txBody>
                  <a:tcPr marL="5236" marR="5236" marT="5236" marB="0" anchor="ctr">
                    <a:solidFill>
                      <a:schemeClr val="bg1"/>
                    </a:solidFill>
                  </a:tcPr>
                </a:tc>
              </a:tr>
              <a:tr h="751062">
                <a:tc>
                  <a:txBody>
                    <a:bodyPr/>
                    <a:lstStyle/>
                    <a:p>
                      <a:pPr algn="ctr" fontAlgn="ctr"/>
                      <a:r>
                        <a:rPr lang="en-US" altLang="zh-CN" sz="1100" b="1" u="none" strike="noStrike" dirty="0">
                          <a:effectLst/>
                          <a:latin typeface="+mj-ea"/>
                          <a:ea typeface="+mj-ea"/>
                        </a:rPr>
                        <a:t>2023</a:t>
                      </a:r>
                      <a:r>
                        <a:rPr lang="zh-CN" altLang="en-US" sz="1100" b="1" u="none" strike="noStrike" dirty="0">
                          <a:effectLst/>
                          <a:latin typeface="+mj-ea"/>
                          <a:ea typeface="+mj-ea"/>
                        </a:rPr>
                        <a:t>年</a:t>
                      </a:r>
                      <a:r>
                        <a:rPr lang="en-US" sz="1100" b="1" u="none" strike="noStrike" dirty="0">
                          <a:effectLst/>
                          <a:latin typeface="+mj-ea"/>
                          <a:ea typeface="+mj-ea"/>
                        </a:rPr>
                        <a:t>Q1</a:t>
                      </a:r>
                      <a:endParaRPr lang="en-US" sz="1100" b="1" i="0" u="none" strike="noStrike" dirty="0">
                        <a:solidFill>
                          <a:srgbClr val="000000"/>
                        </a:solidFill>
                        <a:effectLst/>
                        <a:latin typeface="+mj-ea"/>
                        <a:ea typeface="+mj-ea"/>
                      </a:endParaRPr>
                    </a:p>
                  </a:txBody>
                  <a:tcPr marL="5236" marR="5236" marT="5236" marB="0" anchor="ctr">
                    <a:solidFill>
                      <a:schemeClr val="bg1">
                        <a:lumMod val="95000"/>
                      </a:schemeClr>
                    </a:solidFill>
                  </a:tcPr>
                </a:tc>
                <a:tc>
                  <a:txBody>
                    <a:bodyPr/>
                    <a:lstStyle/>
                    <a:p>
                      <a:pPr algn="l" fontAlgn="ctr"/>
                      <a:r>
                        <a:rPr lang="zh-CN" altLang="en-US" sz="1100" b="1" u="none" strike="noStrike" dirty="0">
                          <a:effectLst/>
                          <a:latin typeface="+mj-ea"/>
                          <a:ea typeface="+mj-ea"/>
                        </a:rPr>
                        <a:t>金色中国</a:t>
                      </a:r>
                      <a:r>
                        <a:rPr lang="en-US" altLang="zh-CN" sz="1100" b="1" u="none" strike="noStrike" dirty="0">
                          <a:effectLst/>
                          <a:latin typeface="+mj-ea"/>
                          <a:ea typeface="+mj-ea"/>
                        </a:rPr>
                        <a:t>4.4%</a:t>
                      </a:r>
                      <a:r>
                        <a:rPr lang="zh-CN" altLang="en-US" sz="1100" b="1" u="none" strike="noStrike" dirty="0">
                          <a:effectLst/>
                          <a:latin typeface="+mj-ea"/>
                          <a:ea typeface="+mj-ea"/>
                        </a:rPr>
                        <a:t>；</a:t>
                      </a:r>
                      <a:r>
                        <a:rPr lang="en-US" altLang="zh-CN" sz="1100" b="1" u="none" strike="noStrike" dirty="0">
                          <a:effectLst/>
                          <a:latin typeface="+mj-ea"/>
                          <a:ea typeface="+mj-ea"/>
                        </a:rPr>
                        <a:t>MSCI</a:t>
                      </a:r>
                      <a:r>
                        <a:rPr lang="zh-CN" altLang="en-US" sz="1100" b="1" u="none" strike="noStrike" dirty="0">
                          <a:effectLst/>
                          <a:latin typeface="+mj-ea"/>
                          <a:ea typeface="+mj-ea"/>
                        </a:rPr>
                        <a:t>中国</a:t>
                      </a:r>
                      <a:r>
                        <a:rPr lang="en-US" altLang="zh-CN" sz="1100" b="1" u="none" strike="noStrike" dirty="0">
                          <a:effectLst/>
                          <a:latin typeface="+mj-ea"/>
                          <a:ea typeface="+mj-ea"/>
                        </a:rPr>
                        <a:t>4.7%</a:t>
                      </a:r>
                      <a:r>
                        <a:rPr lang="zh-CN" altLang="en-US" sz="1100" b="1" u="none" strike="noStrike" dirty="0">
                          <a:effectLst/>
                          <a:latin typeface="+mj-ea"/>
                          <a:ea typeface="+mj-ea"/>
                        </a:rPr>
                        <a:t>；</a:t>
                      </a:r>
                      <a:br>
                        <a:rPr lang="zh-CN" altLang="en-US" sz="1100" b="1" u="none" strike="noStrike" dirty="0">
                          <a:effectLst/>
                          <a:latin typeface="+mj-ea"/>
                          <a:ea typeface="+mj-ea"/>
                        </a:rPr>
                      </a:br>
                      <a:r>
                        <a:rPr lang="en-US" altLang="zh-CN" sz="1100" u="none" strike="noStrike" dirty="0">
                          <a:effectLst/>
                          <a:latin typeface="+mj-ea"/>
                          <a:ea typeface="+mj-ea"/>
                        </a:rPr>
                        <a:t>1 </a:t>
                      </a:r>
                      <a:r>
                        <a:rPr lang="zh-CN" altLang="en-US" sz="1100" u="none" strike="noStrike" dirty="0">
                          <a:effectLst/>
                          <a:latin typeface="+mj-ea"/>
                          <a:ea typeface="+mj-ea"/>
                        </a:rPr>
                        <a:t>月的强劲开局后，</a:t>
                      </a:r>
                      <a:r>
                        <a:rPr lang="en-US" altLang="zh-CN" sz="1100" u="none" strike="noStrike" dirty="0">
                          <a:effectLst/>
                          <a:latin typeface="+mj-ea"/>
                          <a:ea typeface="+mj-ea"/>
                        </a:rPr>
                        <a:t>2</a:t>
                      </a:r>
                      <a:r>
                        <a:rPr lang="zh-CN" altLang="en-US" sz="1100" u="none" strike="noStrike" dirty="0">
                          <a:effectLst/>
                          <a:latin typeface="+mj-ea"/>
                          <a:ea typeface="+mj-ea"/>
                        </a:rPr>
                        <a:t>月由于市场对美联储进一步收紧政策的预期以及中美紧张局势再度升级的担忧，</a:t>
                      </a:r>
                      <a:r>
                        <a:rPr lang="en-US" altLang="zh-CN" sz="1100" u="none" strike="noStrike" dirty="0">
                          <a:effectLst/>
                          <a:latin typeface="+mj-ea"/>
                          <a:ea typeface="+mj-ea"/>
                        </a:rPr>
                        <a:t>2</a:t>
                      </a:r>
                      <a:r>
                        <a:rPr lang="zh-CN" altLang="en-US" sz="1100" u="none" strike="noStrike" dirty="0">
                          <a:effectLst/>
                          <a:latin typeface="+mj-ea"/>
                          <a:ea typeface="+mj-ea"/>
                        </a:rPr>
                        <a:t>月份风险资产明显承压，中国离岸股票因此回吐了年初大部分涨幅，而国内 </a:t>
                      </a:r>
                      <a:r>
                        <a:rPr lang="en-US" altLang="zh-CN" sz="1100" u="none" strike="noStrike" dirty="0">
                          <a:effectLst/>
                          <a:latin typeface="+mj-ea"/>
                          <a:ea typeface="+mj-ea"/>
                        </a:rPr>
                        <a:t>A </a:t>
                      </a:r>
                      <a:r>
                        <a:rPr lang="zh-CN" altLang="en-US" sz="1100" u="none" strike="noStrike" dirty="0">
                          <a:effectLst/>
                          <a:latin typeface="+mj-ea"/>
                          <a:ea typeface="+mj-ea"/>
                        </a:rPr>
                        <a:t>股表现则相对更具韧性。</a:t>
                      </a:r>
                      <a:r>
                        <a:rPr lang="en-US" altLang="zh-CN" sz="1100" u="none" strike="noStrike" dirty="0">
                          <a:effectLst/>
                          <a:latin typeface="+mj-ea"/>
                          <a:ea typeface="+mj-ea"/>
                        </a:rPr>
                        <a:t>3</a:t>
                      </a:r>
                      <a:r>
                        <a:rPr lang="zh-CN" altLang="en-US" sz="1100" u="none" strike="noStrike" dirty="0">
                          <a:effectLst/>
                          <a:latin typeface="+mj-ea"/>
                          <a:ea typeface="+mj-ea"/>
                        </a:rPr>
                        <a:t>月末，随着美国银行业问题解决，市场风险偏好回升。</a:t>
                      </a:r>
                      <a:endParaRPr lang="zh-CN" altLang="en-US" sz="1100" b="0" i="0" u="none" strike="noStrike" dirty="0">
                        <a:solidFill>
                          <a:srgbClr val="000000"/>
                        </a:solidFill>
                        <a:effectLst/>
                        <a:latin typeface="+mj-ea"/>
                        <a:ea typeface="+mj-ea"/>
                      </a:endParaRPr>
                    </a:p>
                  </a:txBody>
                  <a:tcPr marL="5236" marR="5236" marT="5236" marB="0" anchor="ctr">
                    <a:solidFill>
                      <a:schemeClr val="bg1">
                        <a:lumMod val="95000"/>
                      </a:schemeClr>
                    </a:solidFill>
                  </a:tcPr>
                </a:tc>
                <a:tc>
                  <a:txBody>
                    <a:bodyPr/>
                    <a:lstStyle/>
                    <a:p>
                      <a:pPr algn="l" fontAlgn="ctr"/>
                      <a:r>
                        <a:rPr lang="zh-CN" altLang="en-US" sz="1100" u="none" strike="noStrike" dirty="0">
                          <a:effectLst/>
                          <a:latin typeface="+mj-ea"/>
                          <a:ea typeface="+mj-ea"/>
                        </a:rPr>
                        <a:t>由于“疫后重新开放” 所带来的市场反弹已经结束，</a:t>
                      </a:r>
                      <a:r>
                        <a:rPr lang="zh-CN" altLang="en-US" sz="1100" b="1" u="none" strike="noStrike" dirty="0">
                          <a:solidFill>
                            <a:srgbClr val="C00000"/>
                          </a:solidFill>
                          <a:effectLst/>
                          <a:latin typeface="+mj-ea"/>
                          <a:ea typeface="+mj-ea"/>
                        </a:rPr>
                        <a:t>一季度对总仓位和净仓位下调至</a:t>
                      </a:r>
                      <a:r>
                        <a:rPr lang="en-US" altLang="zh-CN" sz="1100" b="1" u="none" strike="noStrike" dirty="0">
                          <a:solidFill>
                            <a:srgbClr val="C00000"/>
                          </a:solidFill>
                          <a:effectLst/>
                          <a:latin typeface="+mj-ea"/>
                          <a:ea typeface="+mj-ea"/>
                        </a:rPr>
                        <a:t>69%</a:t>
                      </a:r>
                      <a:r>
                        <a:rPr lang="zh-CN" altLang="en-US" sz="1100" b="1" u="none" strike="noStrike" dirty="0">
                          <a:solidFill>
                            <a:srgbClr val="C00000"/>
                          </a:solidFill>
                          <a:effectLst/>
                          <a:latin typeface="+mj-ea"/>
                          <a:ea typeface="+mj-ea"/>
                        </a:rPr>
                        <a:t>。对中国经济复苏保持谨慎乐观，结构上增配其它市场，行业上更加多元化。</a:t>
                      </a:r>
                      <a:endParaRPr lang="zh-CN" altLang="en-US" sz="1100" b="1" i="0" u="none" strike="noStrike" dirty="0">
                        <a:solidFill>
                          <a:srgbClr val="C00000"/>
                        </a:solidFill>
                        <a:effectLst/>
                        <a:latin typeface="+mj-ea"/>
                        <a:ea typeface="+mj-ea"/>
                      </a:endParaRPr>
                    </a:p>
                  </a:txBody>
                  <a:tcPr marL="5236" marR="5236" marT="5236" marB="0" anchor="ctr">
                    <a:solidFill>
                      <a:schemeClr val="bg1">
                        <a:lumMod val="95000"/>
                      </a:schemeClr>
                    </a:solidFill>
                  </a:tcPr>
                </a:tc>
              </a:tr>
              <a:tr h="452502">
                <a:tc>
                  <a:txBody>
                    <a:bodyPr/>
                    <a:lstStyle/>
                    <a:p>
                      <a:pPr algn="ctr" fontAlgn="ctr"/>
                      <a:r>
                        <a:rPr lang="en-US" altLang="zh-CN" sz="1100" b="1" u="none" strike="noStrike" dirty="0">
                          <a:effectLst/>
                          <a:latin typeface="+mj-ea"/>
                          <a:ea typeface="+mj-ea"/>
                        </a:rPr>
                        <a:t>2023</a:t>
                      </a:r>
                      <a:r>
                        <a:rPr lang="zh-CN" altLang="en-US" sz="1100" b="1" u="none" strike="noStrike" dirty="0">
                          <a:effectLst/>
                          <a:latin typeface="+mj-ea"/>
                          <a:ea typeface="+mj-ea"/>
                        </a:rPr>
                        <a:t>年</a:t>
                      </a:r>
                      <a:r>
                        <a:rPr lang="en-US" sz="1100" b="1" u="none" strike="noStrike" dirty="0">
                          <a:effectLst/>
                          <a:latin typeface="+mj-ea"/>
                          <a:ea typeface="+mj-ea"/>
                        </a:rPr>
                        <a:t>Q4</a:t>
                      </a:r>
                      <a:endParaRPr lang="en-US" sz="1100" b="1" i="0" u="none" strike="noStrike" dirty="0">
                        <a:solidFill>
                          <a:srgbClr val="000000"/>
                        </a:solidFill>
                        <a:effectLst/>
                        <a:latin typeface="+mj-ea"/>
                        <a:ea typeface="+mj-ea"/>
                      </a:endParaRPr>
                    </a:p>
                  </a:txBody>
                  <a:tcPr marL="5236" marR="5236" marT="5236" marB="0" anchor="ctr">
                    <a:solidFill>
                      <a:schemeClr val="bg1">
                        <a:lumMod val="95000"/>
                      </a:schemeClr>
                    </a:solidFill>
                  </a:tcPr>
                </a:tc>
                <a:tc>
                  <a:txBody>
                    <a:bodyPr/>
                    <a:lstStyle/>
                    <a:p>
                      <a:pPr algn="l" fontAlgn="ctr"/>
                      <a:r>
                        <a:rPr lang="zh-CN" altLang="en-US" sz="1100" b="1" u="none" strike="noStrike" dirty="0">
                          <a:effectLst/>
                          <a:latin typeface="+mj-ea"/>
                          <a:ea typeface="+mj-ea"/>
                        </a:rPr>
                        <a:t>金色中国</a:t>
                      </a:r>
                      <a:r>
                        <a:rPr lang="en-US" altLang="zh-CN" sz="1100" b="1" u="none" strike="noStrike" dirty="0">
                          <a:effectLst/>
                          <a:latin typeface="+mj-ea"/>
                          <a:ea typeface="+mj-ea"/>
                        </a:rPr>
                        <a:t>4%</a:t>
                      </a:r>
                      <a:r>
                        <a:rPr lang="zh-CN" altLang="en-US" sz="1100" b="1" u="none" strike="noStrike" dirty="0">
                          <a:effectLst/>
                          <a:latin typeface="+mj-ea"/>
                          <a:ea typeface="+mj-ea"/>
                        </a:rPr>
                        <a:t>，</a:t>
                      </a:r>
                      <a:r>
                        <a:rPr lang="en-US" altLang="zh-CN" sz="1100" b="1" u="none" strike="noStrike" dirty="0">
                          <a:effectLst/>
                          <a:latin typeface="+mj-ea"/>
                          <a:ea typeface="+mj-ea"/>
                        </a:rPr>
                        <a:t>MSCI</a:t>
                      </a:r>
                      <a:r>
                        <a:rPr lang="zh-CN" altLang="en-US" sz="1100" b="1" u="none" strike="noStrike" dirty="0">
                          <a:effectLst/>
                          <a:latin typeface="+mj-ea"/>
                          <a:ea typeface="+mj-ea"/>
                        </a:rPr>
                        <a:t>中国</a:t>
                      </a:r>
                      <a:r>
                        <a:rPr lang="en-US" altLang="zh-CN" sz="1100" b="1" u="none" strike="noStrike" dirty="0">
                          <a:effectLst/>
                          <a:latin typeface="+mj-ea"/>
                          <a:ea typeface="+mj-ea"/>
                        </a:rPr>
                        <a:t>-4%</a:t>
                      </a:r>
                      <a:r>
                        <a:rPr lang="zh-CN" altLang="en-US" sz="1100" b="1" u="none" strike="noStrike" dirty="0">
                          <a:effectLst/>
                          <a:latin typeface="+mj-ea"/>
                          <a:ea typeface="+mj-ea"/>
                        </a:rPr>
                        <a:t>；</a:t>
                      </a:r>
                      <a:br>
                        <a:rPr lang="zh-CN" altLang="en-US" sz="1100" u="none" strike="noStrike" dirty="0">
                          <a:effectLst/>
                          <a:latin typeface="+mj-ea"/>
                          <a:ea typeface="+mj-ea"/>
                        </a:rPr>
                      </a:br>
                      <a:r>
                        <a:rPr lang="zh-CN" altLang="en-US" sz="1100" u="none" strike="noStrike" dirty="0">
                          <a:effectLst/>
                          <a:latin typeface="+mj-ea"/>
                          <a:ea typeface="+mj-ea"/>
                        </a:rPr>
                        <a:t>欧美交易降息预期，风险资产回升，中国受地产疲软影响，股市反弹疲软。</a:t>
                      </a:r>
                      <a:endParaRPr lang="zh-CN" altLang="en-US" sz="1100" b="0" i="0" u="none" strike="noStrike" dirty="0">
                        <a:solidFill>
                          <a:srgbClr val="000000"/>
                        </a:solidFill>
                        <a:effectLst/>
                        <a:latin typeface="+mj-ea"/>
                        <a:ea typeface="+mj-ea"/>
                      </a:endParaRPr>
                    </a:p>
                  </a:txBody>
                  <a:tcPr marL="5236" marR="5236" marT="5236" marB="0" anchor="ctr">
                    <a:solidFill>
                      <a:schemeClr val="bg1">
                        <a:lumMod val="95000"/>
                      </a:schemeClr>
                    </a:solidFill>
                  </a:tcPr>
                </a:tc>
                <a:tc>
                  <a:txBody>
                    <a:bodyPr/>
                    <a:lstStyle/>
                    <a:p>
                      <a:pPr algn="l" fontAlgn="ctr"/>
                      <a:r>
                        <a:rPr lang="zh-CN" altLang="en-US" sz="1100" u="none" strike="noStrike" dirty="0">
                          <a:effectLst/>
                          <a:latin typeface="+mj-ea"/>
                          <a:ea typeface="+mj-ea"/>
                        </a:rPr>
                        <a:t>往后看，认为当下中国股市的低估值已经反映市场的悲观预期，国内政策和海外地缘政治可能是决定 </a:t>
                      </a:r>
                      <a:r>
                        <a:rPr lang="en-US" altLang="zh-CN" sz="1100" u="none" strike="noStrike" dirty="0">
                          <a:effectLst/>
                          <a:latin typeface="+mj-ea"/>
                          <a:ea typeface="+mj-ea"/>
                        </a:rPr>
                        <a:t>2024 </a:t>
                      </a:r>
                      <a:r>
                        <a:rPr lang="zh-CN" altLang="en-US" sz="1100" u="none" strike="noStrike" dirty="0">
                          <a:effectLst/>
                          <a:latin typeface="+mj-ea"/>
                          <a:ea typeface="+mj-ea"/>
                        </a:rPr>
                        <a:t>年市场波动的关键因素。策略上，聚焦中国企业出海这条主线，自下而上挖掘优质个股。</a:t>
                      </a:r>
                      <a:endParaRPr lang="zh-CN" altLang="en-US" sz="1100" b="0" i="0" u="none" strike="noStrike" dirty="0">
                        <a:solidFill>
                          <a:srgbClr val="000000"/>
                        </a:solidFill>
                        <a:effectLst/>
                        <a:latin typeface="+mj-ea"/>
                        <a:ea typeface="+mj-ea"/>
                      </a:endParaRPr>
                    </a:p>
                  </a:txBody>
                  <a:tcPr marL="5236" marR="5236" marT="5236" marB="0" anchor="ctr">
                    <a:solidFill>
                      <a:schemeClr val="bg1">
                        <a:lumMod val="95000"/>
                      </a:schemeClr>
                    </a:solidFill>
                  </a:tcPr>
                </a:tc>
              </a:tr>
              <a:tr h="1049622">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altLang="zh-CN" sz="1100" b="1" u="none" strike="noStrike" kern="1200" dirty="0">
                          <a:solidFill>
                            <a:schemeClr val="dk1"/>
                          </a:solidFill>
                          <a:effectLst/>
                          <a:latin typeface="+mj-ea"/>
                          <a:ea typeface="+mj-ea"/>
                          <a:cs typeface="+mn-cs"/>
                        </a:rPr>
                        <a:t>2024</a:t>
                      </a:r>
                      <a:r>
                        <a:rPr lang="zh-CN" altLang="en-US" sz="1100" b="1" u="none" strike="noStrike" kern="1200" dirty="0">
                          <a:solidFill>
                            <a:schemeClr val="dk1"/>
                          </a:solidFill>
                          <a:effectLst/>
                          <a:latin typeface="+mj-ea"/>
                          <a:ea typeface="+mj-ea"/>
                          <a:cs typeface="+mn-cs"/>
                        </a:rPr>
                        <a:t>年</a:t>
                      </a:r>
                      <a:r>
                        <a:rPr lang="en-US" altLang="zh-CN" sz="1100" b="1" u="none" strike="noStrike" kern="1200" dirty="0">
                          <a:solidFill>
                            <a:schemeClr val="dk1"/>
                          </a:solidFill>
                          <a:effectLst/>
                          <a:latin typeface="+mj-ea"/>
                          <a:ea typeface="+mj-ea"/>
                          <a:cs typeface="+mn-cs"/>
                        </a:rPr>
                        <a:t>1-10</a:t>
                      </a:r>
                      <a:r>
                        <a:rPr lang="zh-CN" altLang="en-US" sz="1100" b="1" u="none" strike="noStrike" kern="1200" dirty="0">
                          <a:solidFill>
                            <a:schemeClr val="dk1"/>
                          </a:solidFill>
                          <a:effectLst/>
                          <a:latin typeface="+mj-ea"/>
                          <a:ea typeface="+mj-ea"/>
                          <a:cs typeface="+mn-cs"/>
                        </a:rPr>
                        <a:t>月</a:t>
                      </a:r>
                      <a:endParaRPr lang="en-US" altLang="zh-CN" sz="1100" b="1" i="0" u="none" strike="noStrike" kern="1200" dirty="0">
                        <a:solidFill>
                          <a:srgbClr val="000000"/>
                        </a:solidFill>
                        <a:effectLst/>
                        <a:latin typeface="+mj-ea"/>
                        <a:ea typeface="+mj-ea"/>
                        <a:cs typeface="+mn-cs"/>
                      </a:endParaRPr>
                    </a:p>
                  </a:txBody>
                  <a:tcPr marL="5236" marR="5236" marT="5236" marB="0" anchor="ctr">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zh-CN" altLang="en-US" sz="1100" b="1" u="none" strike="noStrike" kern="1200" dirty="0">
                          <a:solidFill>
                            <a:schemeClr val="dk1"/>
                          </a:solidFill>
                          <a:effectLst/>
                          <a:latin typeface="+mj-ea"/>
                          <a:ea typeface="+mj-ea"/>
                          <a:cs typeface="+mn-cs"/>
                        </a:rPr>
                        <a:t>金色中国</a:t>
                      </a:r>
                      <a:r>
                        <a:rPr lang="en-US" altLang="zh-CN" sz="1100" b="1" u="none" strike="noStrike" kern="1200" dirty="0">
                          <a:solidFill>
                            <a:schemeClr val="dk1"/>
                          </a:solidFill>
                          <a:effectLst/>
                          <a:latin typeface="+mj-ea"/>
                          <a:ea typeface="+mj-ea"/>
                          <a:cs typeface="+mn-cs"/>
                        </a:rPr>
                        <a:t>23%</a:t>
                      </a:r>
                      <a:r>
                        <a:rPr lang="zh-CN" altLang="en-US" sz="1100" b="1" u="none" strike="noStrike" kern="1200" dirty="0">
                          <a:solidFill>
                            <a:schemeClr val="dk1"/>
                          </a:solidFill>
                          <a:effectLst/>
                          <a:latin typeface="+mj-ea"/>
                          <a:ea typeface="+mj-ea"/>
                          <a:cs typeface="+mn-cs"/>
                        </a:rPr>
                        <a:t>，</a:t>
                      </a:r>
                      <a:r>
                        <a:rPr lang="en-US" altLang="zh-CN" sz="1100" b="1" u="none" strike="noStrike" kern="1200" dirty="0">
                          <a:solidFill>
                            <a:schemeClr val="dk1"/>
                          </a:solidFill>
                          <a:effectLst/>
                          <a:latin typeface="+mj-ea"/>
                          <a:ea typeface="+mj-ea"/>
                          <a:cs typeface="+mn-cs"/>
                        </a:rPr>
                        <a:t>MSCI</a:t>
                      </a:r>
                      <a:r>
                        <a:rPr lang="zh-CN" altLang="en-US" sz="1100" b="1" u="none" strike="noStrike" kern="1200" dirty="0">
                          <a:solidFill>
                            <a:schemeClr val="dk1"/>
                          </a:solidFill>
                          <a:effectLst/>
                          <a:latin typeface="+mj-ea"/>
                          <a:ea typeface="+mj-ea"/>
                          <a:cs typeface="+mn-cs"/>
                        </a:rPr>
                        <a:t>中国</a:t>
                      </a:r>
                      <a:r>
                        <a:rPr lang="en-US" altLang="zh-CN" sz="1100" b="1" u="none" strike="noStrike" kern="1200" dirty="0">
                          <a:solidFill>
                            <a:schemeClr val="dk1"/>
                          </a:solidFill>
                          <a:effectLst/>
                          <a:latin typeface="+mj-ea"/>
                          <a:ea typeface="+mj-ea"/>
                          <a:cs typeface="+mn-cs"/>
                        </a:rPr>
                        <a:t>26%</a:t>
                      </a:r>
                      <a:r>
                        <a:rPr lang="zh-CN" altLang="en-US" sz="1100" b="1" u="none" strike="noStrike" kern="1200" dirty="0">
                          <a:solidFill>
                            <a:schemeClr val="dk1"/>
                          </a:solidFill>
                          <a:effectLst/>
                          <a:latin typeface="+mj-ea"/>
                          <a:ea typeface="+mj-ea"/>
                          <a:cs typeface="+mn-cs"/>
                        </a:rPr>
                        <a:t>；</a:t>
                      </a:r>
                      <a:endParaRPr lang="en-US" altLang="zh-CN" sz="1100" b="1" u="none" strike="noStrike" kern="1200" dirty="0">
                        <a:solidFill>
                          <a:schemeClr val="dk1"/>
                        </a:solidFill>
                        <a:effectLst/>
                        <a:latin typeface="+mj-ea"/>
                        <a:ea typeface="+mj-ea"/>
                        <a:cs typeface="+mn-cs"/>
                      </a:endParaRPr>
                    </a:p>
                    <a:p>
                      <a:pPr algn="l" fontAlgn="ctr"/>
                      <a:r>
                        <a:rPr lang="zh-CN" altLang="en-US" sz="1100" b="1" u="none" strike="noStrike" kern="1200" dirty="0">
                          <a:solidFill>
                            <a:schemeClr val="dk1"/>
                          </a:solidFill>
                          <a:effectLst/>
                          <a:latin typeface="+mj-ea"/>
                          <a:ea typeface="+mj-ea"/>
                          <a:cs typeface="+mn-cs"/>
                        </a:rPr>
                        <a:t>国内：</a:t>
                      </a:r>
                      <a:r>
                        <a:rPr lang="en-US" altLang="zh-CN" sz="1100" b="0" u="none" strike="noStrike" kern="1200" dirty="0">
                          <a:solidFill>
                            <a:schemeClr val="dk1"/>
                          </a:solidFill>
                          <a:effectLst/>
                          <a:latin typeface="+mj-ea"/>
                          <a:ea typeface="+mj-ea"/>
                          <a:cs typeface="+mn-cs"/>
                        </a:rPr>
                        <a:t>9</a:t>
                      </a:r>
                      <a:r>
                        <a:rPr lang="zh-CN" altLang="en-US" sz="1100" b="0" u="none" strike="noStrike" kern="1200" dirty="0">
                          <a:solidFill>
                            <a:schemeClr val="dk1"/>
                          </a:solidFill>
                          <a:effectLst/>
                          <a:latin typeface="+mj-ea"/>
                          <a:ea typeface="+mj-ea"/>
                          <a:cs typeface="+mn-cs"/>
                        </a:rPr>
                        <a:t>月下旬，国内推出的最有力的刺激政策“组合拳”，国内市场将迎来政府政策思路明显转变的局面，尽管部分投资者仍处于观望态度，景林认为，随着美元资金成本下降，中国明确的政策转向和许多优质中国公司的良好基本面，中国股票的投资机会无疑将显而易见。 </a:t>
                      </a:r>
                      <a:br>
                        <a:rPr lang="zh-CN" altLang="en-US" sz="1100" b="0" u="none" strike="noStrike" kern="1200" dirty="0">
                          <a:solidFill>
                            <a:schemeClr val="dk1"/>
                          </a:solidFill>
                          <a:effectLst/>
                          <a:latin typeface="+mj-ea"/>
                          <a:ea typeface="+mj-ea"/>
                          <a:cs typeface="+mn-cs"/>
                        </a:rPr>
                      </a:br>
                      <a:r>
                        <a:rPr lang="zh-CN" altLang="en-US" sz="1100" b="1" u="none" strike="noStrike" kern="1200" dirty="0">
                          <a:solidFill>
                            <a:schemeClr val="dk1"/>
                          </a:solidFill>
                          <a:effectLst/>
                          <a:latin typeface="+mj-ea"/>
                          <a:ea typeface="+mj-ea"/>
                          <a:cs typeface="+mn-cs"/>
                        </a:rPr>
                        <a:t>海外：</a:t>
                      </a:r>
                      <a:r>
                        <a:rPr lang="zh-CN" altLang="en-US" sz="1100" b="0" u="none" strike="noStrike" kern="1200" dirty="0">
                          <a:solidFill>
                            <a:schemeClr val="dk1"/>
                          </a:solidFill>
                          <a:effectLst/>
                          <a:latin typeface="+mj-ea"/>
                          <a:ea typeface="+mj-ea"/>
                          <a:cs typeface="+mn-cs"/>
                        </a:rPr>
                        <a:t>美国启动期待已久的降息周期，非农就业数据大幅超预期，美国劳动力市场依然强劲，软着陆迹象明显。</a:t>
                      </a:r>
                      <a:endParaRPr lang="en-US" altLang="zh-CN" sz="1100" b="0" u="none" strike="noStrike" kern="1200" dirty="0">
                        <a:solidFill>
                          <a:schemeClr val="dk1"/>
                        </a:solidFill>
                        <a:effectLst/>
                        <a:latin typeface="+mj-ea"/>
                        <a:ea typeface="+mj-ea"/>
                        <a:cs typeface="+mn-cs"/>
                      </a:endParaRPr>
                    </a:p>
                  </a:txBody>
                  <a:tcPr marL="5236" marR="5236" marT="5236" marB="0" anchor="ctr">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defRPr/>
                      </a:pPr>
                      <a:r>
                        <a:rPr lang="zh-CN" altLang="en-US" sz="1100" b="0" i="0" u="none" strike="noStrike" dirty="0">
                          <a:solidFill>
                            <a:schemeClr val="tx1"/>
                          </a:solidFill>
                          <a:effectLst/>
                          <a:latin typeface="+mj-ea"/>
                          <a:ea typeface="+mj-ea"/>
                        </a:rPr>
                        <a:t>金色中国上半年的业绩主要得益于能源、</a:t>
                      </a:r>
                      <a:r>
                        <a:rPr lang="en-US" altLang="zh-CN" sz="1100" b="0" i="0" u="none" strike="noStrike" dirty="0">
                          <a:solidFill>
                            <a:schemeClr val="tx1"/>
                          </a:solidFill>
                          <a:effectLst/>
                          <a:latin typeface="+mj-ea"/>
                          <a:ea typeface="+mj-ea"/>
                        </a:rPr>
                        <a:t>TMT</a:t>
                      </a:r>
                      <a:r>
                        <a:rPr lang="zh-CN" altLang="en-US" sz="1100" b="0" i="0" u="none" strike="noStrike" dirty="0">
                          <a:solidFill>
                            <a:schemeClr val="tx1"/>
                          </a:solidFill>
                          <a:effectLst/>
                          <a:latin typeface="+mj-ea"/>
                          <a:ea typeface="+mj-ea"/>
                        </a:rPr>
                        <a:t>和材料板块多仓的表现，同时空仓组合的表现也非常强劲，而消费品和电商板块的表现相对落后，是主要的拖累因素。</a:t>
                      </a:r>
                      <a:r>
                        <a:rPr lang="en-US" altLang="zh-CN" sz="1100" b="1" i="0" u="none" strike="noStrike" dirty="0">
                          <a:solidFill>
                            <a:srgbClr val="C00000"/>
                          </a:solidFill>
                          <a:effectLst/>
                          <a:latin typeface="+mj-ea"/>
                          <a:ea typeface="+mj-ea"/>
                        </a:rPr>
                        <a:t>7</a:t>
                      </a:r>
                      <a:r>
                        <a:rPr lang="zh-CN" altLang="en-US" sz="1100" b="1" i="0" u="none" strike="noStrike" dirty="0">
                          <a:solidFill>
                            <a:srgbClr val="C00000"/>
                          </a:solidFill>
                          <a:effectLst/>
                          <a:latin typeface="+mj-ea"/>
                          <a:ea typeface="+mj-ea"/>
                        </a:rPr>
                        <a:t>月受全球宏观因素负面影响，组合布局的多头头寸有回撤；</a:t>
                      </a:r>
                      <a:r>
                        <a:rPr lang="en-US" altLang="zh-CN" sz="1100" b="1" i="0" u="none" strike="noStrike" dirty="0">
                          <a:solidFill>
                            <a:srgbClr val="C00000"/>
                          </a:solidFill>
                          <a:effectLst/>
                          <a:latin typeface="+mj-ea"/>
                          <a:ea typeface="+mj-ea"/>
                        </a:rPr>
                        <a:t>8</a:t>
                      </a:r>
                      <a:r>
                        <a:rPr lang="zh-CN" altLang="en-US" sz="1100" b="1" i="0" u="none" strike="noStrike" dirty="0">
                          <a:solidFill>
                            <a:srgbClr val="C00000"/>
                          </a:solidFill>
                          <a:effectLst/>
                          <a:latin typeface="+mj-ea"/>
                          <a:ea typeface="+mj-ea"/>
                        </a:rPr>
                        <a:t>月则是受某电商板块的多仓拖累；</a:t>
                      </a:r>
                      <a:r>
                        <a:rPr lang="en-US" altLang="zh-CN" sz="1100" b="1" i="0" u="none" strike="noStrike" dirty="0">
                          <a:solidFill>
                            <a:srgbClr val="C00000"/>
                          </a:solidFill>
                          <a:effectLst/>
                          <a:latin typeface="+mj-ea"/>
                          <a:ea typeface="+mj-ea"/>
                        </a:rPr>
                        <a:t>9</a:t>
                      </a:r>
                      <a:r>
                        <a:rPr lang="zh-CN" altLang="en-US" sz="1100" b="1" i="0" u="none" strike="noStrike" dirty="0">
                          <a:solidFill>
                            <a:srgbClr val="C00000"/>
                          </a:solidFill>
                          <a:effectLst/>
                          <a:latin typeface="+mj-ea"/>
                          <a:ea typeface="+mj-ea"/>
                        </a:rPr>
                        <a:t>月伴随中国刺激政策组合拳出台，基金净值大幅反弹。</a:t>
                      </a:r>
                      <a:endParaRPr lang="en-US" altLang="zh-CN" sz="1100" b="1" i="0" u="none" strike="noStrike" dirty="0">
                        <a:solidFill>
                          <a:srgbClr val="C00000"/>
                        </a:solidFill>
                        <a:effectLst/>
                        <a:latin typeface="+mj-ea"/>
                        <a:ea typeface="+mj-ea"/>
                      </a:endParaRPr>
                    </a:p>
                    <a:p>
                      <a:pPr marL="0" marR="0" lvl="0" indent="0" algn="l" defTabSz="914400" rtl="0" eaLnBrk="1" fontAlgn="ctr" latinLnBrk="0" hangingPunct="1">
                        <a:lnSpc>
                          <a:spcPct val="100000"/>
                        </a:lnSpc>
                        <a:spcBef>
                          <a:spcPts val="0"/>
                        </a:spcBef>
                        <a:spcAft>
                          <a:spcPts val="0"/>
                        </a:spcAft>
                        <a:buClrTx/>
                        <a:buSzTx/>
                        <a:buFontTx/>
                        <a:buNone/>
                        <a:defRPr/>
                      </a:pPr>
                      <a:r>
                        <a:rPr lang="zh-CN" altLang="en-US" sz="1100" b="1" i="0" u="none" strike="noStrike" dirty="0">
                          <a:solidFill>
                            <a:srgbClr val="C00000"/>
                          </a:solidFill>
                          <a:effectLst/>
                          <a:latin typeface="+mj-ea"/>
                          <a:ea typeface="+mj-ea"/>
                        </a:rPr>
                        <a:t>目前，投资组合的预期每股盈利增长率为 </a:t>
                      </a:r>
                      <a:r>
                        <a:rPr lang="en-US" altLang="zh-CN" sz="1100" b="1" i="0" u="none" strike="noStrike" dirty="0">
                          <a:solidFill>
                            <a:srgbClr val="C00000"/>
                          </a:solidFill>
                          <a:effectLst/>
                          <a:latin typeface="+mj-ea"/>
                          <a:ea typeface="+mj-ea"/>
                        </a:rPr>
                        <a:t>20%</a:t>
                      </a:r>
                      <a:r>
                        <a:rPr lang="zh-CN" altLang="en-US" sz="1100" b="1" i="0" u="none" strike="noStrike" dirty="0">
                          <a:solidFill>
                            <a:srgbClr val="C00000"/>
                          </a:solidFill>
                          <a:effectLst/>
                          <a:latin typeface="+mj-ea"/>
                          <a:ea typeface="+mj-ea"/>
                        </a:rPr>
                        <a:t>，净资产收益率为</a:t>
                      </a:r>
                      <a:r>
                        <a:rPr lang="en-US" altLang="zh-CN" sz="1100" b="1" i="0" u="none" strike="noStrike" dirty="0">
                          <a:solidFill>
                            <a:srgbClr val="C00000"/>
                          </a:solidFill>
                          <a:effectLst/>
                          <a:latin typeface="+mj-ea"/>
                          <a:ea typeface="+mj-ea"/>
                        </a:rPr>
                        <a:t>19%</a:t>
                      </a:r>
                      <a:r>
                        <a:rPr lang="zh-CN" altLang="en-US" sz="1100" b="1" i="0" u="none" strike="noStrike" dirty="0">
                          <a:solidFill>
                            <a:srgbClr val="C00000"/>
                          </a:solidFill>
                          <a:effectLst/>
                          <a:latin typeface="+mj-ea"/>
                          <a:ea typeface="+mj-ea"/>
                        </a:rPr>
                        <a:t>，股息收益率为</a:t>
                      </a:r>
                      <a:r>
                        <a:rPr lang="en-US" altLang="zh-CN" sz="1100" b="1" i="0" u="none" strike="noStrike" dirty="0">
                          <a:solidFill>
                            <a:srgbClr val="C00000"/>
                          </a:solidFill>
                          <a:effectLst/>
                          <a:latin typeface="+mj-ea"/>
                          <a:ea typeface="+mj-ea"/>
                        </a:rPr>
                        <a:t>3%</a:t>
                      </a:r>
                      <a:r>
                        <a:rPr lang="zh-CN" altLang="en-US" sz="1100" b="1" i="0" u="none" strike="noStrike" dirty="0">
                          <a:solidFill>
                            <a:srgbClr val="C00000"/>
                          </a:solidFill>
                          <a:effectLst/>
                          <a:latin typeface="+mj-ea"/>
                          <a:ea typeface="+mj-ea"/>
                        </a:rPr>
                        <a:t>，市盈率为 </a:t>
                      </a:r>
                      <a:r>
                        <a:rPr lang="en-US" altLang="zh-CN" sz="1100" b="1" i="0" u="none" strike="noStrike" dirty="0">
                          <a:solidFill>
                            <a:srgbClr val="C00000"/>
                          </a:solidFill>
                          <a:effectLst/>
                          <a:latin typeface="+mj-ea"/>
                          <a:ea typeface="+mj-ea"/>
                        </a:rPr>
                        <a:t>14.5x</a:t>
                      </a:r>
                      <a:r>
                        <a:rPr lang="zh-CN" altLang="en-US" sz="1100" b="1" i="0" u="none" strike="noStrike" dirty="0">
                          <a:solidFill>
                            <a:srgbClr val="C00000"/>
                          </a:solidFill>
                          <a:effectLst/>
                          <a:latin typeface="+mj-ea"/>
                          <a:ea typeface="+mj-ea"/>
                        </a:rPr>
                        <a:t>。长期来看，我们对于我们的投资组合获得可观的绝对超额收益充满信心。</a:t>
                      </a:r>
                      <a:endParaRPr lang="en-US" altLang="zh-CN" sz="1100" b="1" i="0" u="none" strike="noStrike" dirty="0">
                        <a:solidFill>
                          <a:srgbClr val="C00000"/>
                        </a:solidFill>
                        <a:effectLst/>
                        <a:latin typeface="+mj-ea"/>
                        <a:ea typeface="+mj-ea"/>
                      </a:endParaRPr>
                    </a:p>
                  </a:txBody>
                  <a:tcPr marL="5236" marR="5236" marT="5236" marB="0" anchor="ctr">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5" name="矩形 4"/>
          <p:cNvSpPr/>
          <p:nvPr/>
        </p:nvSpPr>
        <p:spPr>
          <a:xfrm>
            <a:off x="130131" y="6613753"/>
            <a:ext cx="1723549" cy="21399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Segoe UI" panose="020B0502040204020203" pitchFamily="34" charset="0"/>
              </a:rPr>
              <a:t>数据来源：根据基金月报信息整理</a:t>
            </a:r>
            <a:endParaRPr kumimoji="0" lang="zh-CN" altLang="en-US" sz="8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Segoe UI" panose="020B0502040204020203" pitchFamily="34" charset="0"/>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3D43F66-1552-4AB5-8C73-059430FE9C80}"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7" name="文本框 4"/>
          <p:cNvSpPr txBox="1"/>
          <p:nvPr/>
        </p:nvSpPr>
        <p:spPr>
          <a:xfrm rot="18792261">
            <a:off x="2868108" y="2860347"/>
            <a:ext cx="6278880" cy="8299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TW" altLang="en-US" sz="4800" b="0" i="0" u="none" strike="noStrike" kern="1200" cap="none" spc="0" normalizeH="0" baseline="0" noProof="0" dirty="0">
                <a:ln>
                  <a:noFill/>
                </a:ln>
                <a:solidFill>
                  <a:srgbClr val="D9D9D9">
                    <a:alpha val="50000"/>
                  </a:srgbClr>
                </a:solidFill>
                <a:effectLst/>
                <a:uLnTx/>
                <a:uFillTx/>
                <a:latin typeface="等线" panose="02010600030101010101" charset="-122"/>
                <a:cs typeface="+mn-cs"/>
              </a:rPr>
              <a:t>仅供</a:t>
            </a:r>
            <a:r>
              <a:rPr kumimoji="0" lang="zh-TW" altLang="en-US" sz="4800" b="0" i="0" u="none" strike="noStrike" kern="1200" cap="none" spc="0" normalizeH="0" baseline="0" noProof="0" dirty="0" smtClean="0">
                <a:ln>
                  <a:noFill/>
                </a:ln>
                <a:solidFill>
                  <a:srgbClr val="D9D9D9">
                    <a:alpha val="50000"/>
                  </a:srgbClr>
                </a:solidFill>
                <a:effectLst/>
                <a:uLnTx/>
                <a:uFillTx/>
                <a:latin typeface="等线" panose="02010600030101010101" charset="-122"/>
                <a:cs typeface="+mn-cs"/>
              </a:rPr>
              <a:t>内使用</a:t>
            </a:r>
            <a:r>
              <a:rPr kumimoji="0" lang="zh-CN" altLang="en-US" sz="4800" b="0" i="0" u="none" strike="noStrike" kern="1200" cap="none" spc="0" normalizeH="0" baseline="0" noProof="0" dirty="0" smtClean="0">
                <a:ln>
                  <a:noFill/>
                </a:ln>
                <a:solidFill>
                  <a:srgbClr val="D9D9D9">
                    <a:alpha val="50000"/>
                  </a:srgbClr>
                </a:solidFill>
                <a:effectLst/>
                <a:uLnTx/>
                <a:uFillTx/>
                <a:latin typeface="等线" panose="02010600030101010101" charset="-122"/>
                <a:ea typeface="等线" panose="02010600030101010101" charset="-122"/>
                <a:cs typeface="+mn-cs"/>
              </a:rPr>
              <a:t>，禁止转发</a:t>
            </a:r>
            <a:endParaRPr kumimoji="0" lang="zh-TW" altLang="en-US" sz="4800" b="0" i="0" u="none" strike="noStrike" kern="1200" cap="none" spc="0" normalizeH="0" baseline="0" noProof="0" dirty="0">
              <a:ln>
                <a:noFill/>
              </a:ln>
              <a:solidFill>
                <a:srgbClr val="D9D9D9">
                  <a:alpha val="50000"/>
                </a:srgbClr>
              </a:solidFill>
              <a:effectLst/>
              <a:uLnTx/>
              <a:uFillTx/>
              <a:latin typeface="等线" panose="02010600030101010101" charset="-122"/>
              <a:cs typeface="+mn-cs"/>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5354955" y="2854960"/>
            <a:ext cx="2225040" cy="3114040"/>
          </a:xfrm>
          <a:prstGeom prst="rect">
            <a:avLst/>
          </a:prstGeom>
          <a:solidFill>
            <a:schemeClr val="accent1">
              <a:lumMod val="20000"/>
              <a:lumOff val="80000"/>
            </a:schemeClr>
          </a:solid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graphicFrame>
        <p:nvGraphicFramePr>
          <p:cNvPr id="5" name="图表 4"/>
          <p:cNvGraphicFramePr/>
          <p:nvPr/>
        </p:nvGraphicFramePr>
        <p:xfrm>
          <a:off x="262255" y="2098675"/>
          <a:ext cx="7903210" cy="4318000"/>
        </p:xfrm>
        <a:graphic>
          <a:graphicData uri="http://schemas.openxmlformats.org/drawingml/2006/chart">
            <c:chart xmlns:c="http://schemas.openxmlformats.org/drawingml/2006/chart" xmlns:r="http://schemas.openxmlformats.org/officeDocument/2006/relationships" r:id="rId1"/>
          </a:graphicData>
        </a:graphic>
      </p:graphicFrame>
      <p:sp>
        <p:nvSpPr>
          <p:cNvPr id="4" name="矩形 3"/>
          <p:cNvSpPr/>
          <p:nvPr/>
        </p:nvSpPr>
        <p:spPr>
          <a:xfrm>
            <a:off x="262255" y="255905"/>
            <a:ext cx="6215380" cy="423545"/>
          </a:xfrm>
          <a:prstGeom prst="rect">
            <a:avLst/>
          </a:prstGeom>
          <a:noFill/>
        </p:spPr>
        <p:txBody>
          <a:bodyPr wrap="square" rtlCol="0">
            <a:spAutoFit/>
          </a:bodyPr>
          <a:lstStyle/>
          <a:p>
            <a:pPr marL="0" marR="0" lvl="0" algn="l" defTabSz="914400" rtl="0" eaLnBrk="1" fontAlgn="auto" latinLnBrk="0" hangingPunct="1">
              <a:lnSpc>
                <a:spcPct val="90000"/>
              </a:lnSpc>
              <a:spcBef>
                <a:spcPts val="0"/>
              </a:spcBef>
              <a:buClrTx/>
              <a:buSzTx/>
              <a:buFontTx/>
              <a:buNone/>
            </a:pPr>
            <a:r>
              <a:rPr kumimoji="0" lang="zh-CN" altLang="en-US" sz="2400" b="1" i="0" u="none" strike="noStrike" kern="1200" cap="none" spc="0" normalizeH="0" baseline="0" dirty="0">
                <a:solidFill>
                  <a:schemeClr val="tx2">
                    <a:lumMod val="75000"/>
                  </a:schemeClr>
                </a:solidFill>
                <a:latin typeface="等线" panose="02010600030101010101" charset="-122"/>
                <a:ea typeface="等线" panose="02010600030101010101" charset="-122"/>
                <a:cs typeface="等线" panose="02010600030101010101" charset="-122"/>
              </a:rPr>
              <a:t>景林中国医药健康基金-2015年成立以来</a:t>
            </a:r>
            <a:endParaRPr kumimoji="0" lang="zh-CN" altLang="en-US" sz="2400" b="1" i="0" u="none" strike="noStrike" kern="1200" cap="none" spc="0" normalizeH="0" baseline="0" dirty="0">
              <a:solidFill>
                <a:schemeClr val="tx2">
                  <a:lumMod val="75000"/>
                </a:schemeClr>
              </a:solidFill>
              <a:latin typeface="等线" panose="02010600030101010101" charset="-122"/>
              <a:ea typeface="等线" panose="02010600030101010101" charset="-122"/>
              <a:cs typeface="等线" panose="02010600030101010101" charset="-122"/>
            </a:endParaRPr>
          </a:p>
        </p:txBody>
      </p:sp>
      <p:graphicFrame>
        <p:nvGraphicFramePr>
          <p:cNvPr id="6" name="表格 5"/>
          <p:cNvGraphicFramePr>
            <a:graphicFrameLocks noGrp="1"/>
          </p:cNvGraphicFramePr>
          <p:nvPr/>
        </p:nvGraphicFramePr>
        <p:xfrm>
          <a:off x="8291142" y="2682376"/>
          <a:ext cx="3630904" cy="3609485"/>
        </p:xfrm>
        <a:graphic>
          <a:graphicData uri="http://schemas.openxmlformats.org/drawingml/2006/table">
            <a:tbl>
              <a:tblPr firstRow="1">
                <a:tableStyleId>{616DA210-FB5B-4158-B5E0-FEB733F419BA}</a:tableStyleId>
              </a:tblPr>
              <a:tblGrid>
                <a:gridCol w="1189546"/>
                <a:gridCol w="1038892"/>
                <a:gridCol w="701233"/>
                <a:gridCol w="701233"/>
              </a:tblGrid>
              <a:tr h="569917">
                <a:tc>
                  <a:txBody>
                    <a:bodyPr/>
                    <a:lstStyle/>
                    <a:p>
                      <a:pPr algn="ctr" fontAlgn="ctr"/>
                      <a:endParaRPr lang="zh-CN" altLang="en-US" sz="1000" b="1"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ctr"/>
                </a:tc>
                <a:tc>
                  <a:txBody>
                    <a:bodyPr/>
                    <a:lstStyle/>
                    <a:p>
                      <a:pPr algn="ctr" fontAlgn="ctr"/>
                      <a:r>
                        <a:rPr lang="zh-CN" altLang="en-US" sz="1000" u="none" strike="noStrike">
                          <a:effectLst/>
                          <a:latin typeface="等线 Light" panose="02010600030101010101" charset="-122"/>
                          <a:ea typeface="等线 Light" panose="02010600030101010101" charset="-122"/>
                        </a:rPr>
                        <a:t>景林医药健康</a:t>
                      </a:r>
                      <a:endParaRPr lang="zh-CN" altLang="en-US" sz="1000" u="none" strike="noStrike">
                        <a:effectLst/>
                        <a:latin typeface="等线 Light" panose="02010600030101010101" charset="-122"/>
                        <a:ea typeface="等线 Light" panose="02010600030101010101" charset="-122"/>
                      </a:endParaRPr>
                    </a:p>
                    <a:p>
                      <a:pPr algn="ctr" fontAlgn="ctr"/>
                      <a:r>
                        <a:rPr lang="zh-CN" altLang="en-US" sz="1000" u="none" strike="noStrike">
                          <a:effectLst/>
                          <a:latin typeface="等线 Light" panose="02010600030101010101" charset="-122"/>
                          <a:ea typeface="等线 Light" panose="02010600030101010101" charset="-122"/>
                        </a:rPr>
                        <a:t>基金</a:t>
                      </a:r>
                      <a:endParaRPr lang="zh-CN" altLang="en-US" sz="1000" b="1" i="0" u="none" strike="noStrike">
                        <a:solidFill>
                          <a:srgbClr val="000000"/>
                        </a:solidFill>
                        <a:effectLst/>
                        <a:latin typeface="等线 Light" panose="02010600030101010101" charset="-122"/>
                        <a:ea typeface="等线 Light" panose="02010600030101010101" charset="-122"/>
                      </a:endParaRPr>
                    </a:p>
                  </a:txBody>
                  <a:tcPr marL="9525" marR="9525" marT="9525" marB="0" anchor="ctr"/>
                </a:tc>
                <a:tc>
                  <a:txBody>
                    <a:bodyPr/>
                    <a:lstStyle/>
                    <a:p>
                      <a:pPr algn="ctr" fontAlgn="ctr"/>
                      <a:r>
                        <a:rPr lang="zh-CN" altLang="en-US" sz="1000" u="none" strike="noStrike">
                          <a:effectLst/>
                          <a:latin typeface="等线 Light" panose="02010600030101010101" charset="-122"/>
                          <a:ea typeface="等线 Light" panose="02010600030101010101" charset="-122"/>
                        </a:rPr>
                        <a:t>恒生医疗保健指数</a:t>
                      </a:r>
                      <a:endParaRPr lang="zh-CN" altLang="en-US" sz="1000" b="1" i="0" u="none" strike="noStrike">
                        <a:solidFill>
                          <a:srgbClr val="000000"/>
                        </a:solidFill>
                        <a:effectLst/>
                        <a:latin typeface="等线 Light" panose="02010600030101010101" charset="-122"/>
                        <a:ea typeface="等线 Light" panose="02010600030101010101" charset="-122"/>
                      </a:endParaRPr>
                    </a:p>
                  </a:txBody>
                  <a:tcPr marL="9525" marR="9525" marT="9525" marB="0" anchor="ctr"/>
                </a:tc>
                <a:tc>
                  <a:txBody>
                    <a:bodyPr/>
                    <a:lstStyle/>
                    <a:p>
                      <a:pPr algn="ctr" fontAlgn="ctr"/>
                      <a:r>
                        <a:rPr lang="zh-CN" altLang="en-US" sz="1000" u="none" strike="noStrike">
                          <a:effectLst/>
                          <a:latin typeface="等线 Light" panose="02010600030101010101" charset="-122"/>
                          <a:ea typeface="等线 Light" panose="02010600030101010101" charset="-122"/>
                        </a:rPr>
                        <a:t>申万医药生物指数</a:t>
                      </a:r>
                      <a:endParaRPr lang="zh-CN" altLang="en-US" sz="1000" b="1" i="0" u="none" strike="noStrike">
                        <a:solidFill>
                          <a:srgbClr val="000000"/>
                        </a:solidFill>
                        <a:effectLst/>
                        <a:latin typeface="等线 Light" panose="02010600030101010101" charset="-122"/>
                        <a:ea typeface="等线 Light" panose="02010600030101010101" charset="-122"/>
                      </a:endParaRPr>
                    </a:p>
                  </a:txBody>
                  <a:tcPr marL="9525" marR="9525" marT="9525" marB="0" anchor="ctr"/>
                </a:tc>
              </a:tr>
              <a:tr h="189973">
                <a:tc>
                  <a:txBody>
                    <a:bodyPr/>
                    <a:lstStyle/>
                    <a:p>
                      <a:pPr algn="ctr" fontAlgn="b"/>
                      <a:r>
                        <a:rPr lang="zh-CN" altLang="en-US" sz="1000" b="1" u="none" strike="noStrike" dirty="0">
                          <a:effectLst/>
                          <a:latin typeface="等线 Light" panose="02010600030101010101" charset="-122"/>
                          <a:ea typeface="等线 Light" panose="02010600030101010101" charset="-122"/>
                        </a:rPr>
                        <a:t>成立日期</a:t>
                      </a:r>
                      <a:endParaRPr lang="zh-CN" altLang="en-US" sz="1000" b="1"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b"/>
                </a:tc>
                <a:tc>
                  <a:txBody>
                    <a:bodyPr/>
                    <a:lstStyle/>
                    <a:p>
                      <a:pPr algn="ctr" fontAlgn="b"/>
                      <a:r>
                        <a:rPr lang="en-US" altLang="zh-CN" sz="1000" u="none" strike="noStrike" dirty="0">
                          <a:effectLst/>
                          <a:latin typeface="等线 Light" panose="02010600030101010101" charset="-122"/>
                          <a:ea typeface="等线 Light" panose="02010600030101010101" charset="-122"/>
                        </a:rPr>
                        <a:t>2015/6/1</a:t>
                      </a:r>
                      <a:endParaRPr lang="en-US" altLang="zh-CN" sz="1000" b="0" i="0" u="none" strike="noStrike" dirty="0">
                        <a:solidFill>
                          <a:srgbClr val="000000"/>
                        </a:solidFill>
                        <a:effectLst/>
                        <a:latin typeface="等线 Light" panose="02010600030101010101" charset="-122"/>
                        <a:ea typeface="等线 Light" panose="02010600030101010101" charset="-122"/>
                      </a:endParaRPr>
                    </a:p>
                  </a:txBody>
                  <a:tcPr marL="9525" marR="9525" marT="9525" marB="0" anchor="b"/>
                </a:tc>
                <a:tc>
                  <a:txBody>
                    <a:bodyPr/>
                    <a:lstStyle/>
                    <a:p>
                      <a:pPr algn="l" fontAlgn="b"/>
                      <a:endParaRPr lang="zh-CN" altLang="en-US" sz="1000" b="0" i="0" u="none" strike="noStrike">
                        <a:solidFill>
                          <a:srgbClr val="000000"/>
                        </a:solidFill>
                        <a:effectLst/>
                        <a:latin typeface="等线 Light" panose="02010600030101010101" charset="-122"/>
                        <a:ea typeface="等线 Light" panose="02010600030101010101" charset="-122"/>
                      </a:endParaRPr>
                    </a:p>
                  </a:txBody>
                  <a:tcPr marL="9525" marR="9525" marT="9525" marB="0" anchor="b"/>
                </a:tc>
                <a:tc>
                  <a:txBody>
                    <a:bodyPr/>
                    <a:lstStyle/>
                    <a:p>
                      <a:pPr algn="l" fontAlgn="b"/>
                      <a:endParaRPr lang="zh-CN" altLang="en-US" sz="1000" b="0" i="0" u="none" strike="noStrike">
                        <a:solidFill>
                          <a:srgbClr val="000000"/>
                        </a:solidFill>
                        <a:effectLst/>
                        <a:latin typeface="等线 Light" panose="02010600030101010101" charset="-122"/>
                        <a:ea typeface="等线 Light" panose="02010600030101010101" charset="-122"/>
                      </a:endParaRPr>
                    </a:p>
                  </a:txBody>
                  <a:tcPr marL="9525" marR="9525" marT="9525" marB="0" anchor="b"/>
                </a:tc>
              </a:tr>
              <a:tr h="189973">
                <a:tc>
                  <a:txBody>
                    <a:bodyPr/>
                    <a:lstStyle/>
                    <a:p>
                      <a:pPr algn="ctr" fontAlgn="b"/>
                      <a:r>
                        <a:rPr lang="zh-CN" altLang="en-US" sz="1000" b="1" i="0" u="none" strike="noStrike" dirty="0">
                          <a:solidFill>
                            <a:srgbClr val="000000"/>
                          </a:solidFill>
                          <a:effectLst/>
                          <a:latin typeface="+mj-ea"/>
                          <a:ea typeface="+mj-ea"/>
                        </a:rPr>
                        <a:t>成立以来收益率</a:t>
                      </a:r>
                      <a:endParaRPr lang="zh-CN" altLang="en-US" sz="1000" b="1" i="0" u="none" strike="noStrike" dirty="0">
                        <a:solidFill>
                          <a:srgbClr val="000000"/>
                        </a:solidFill>
                        <a:effectLst/>
                        <a:latin typeface="+mj-ea"/>
                        <a:ea typeface="+mj-ea"/>
                      </a:endParaRPr>
                    </a:p>
                  </a:txBody>
                  <a:tcPr marL="9525" marR="9525" marT="9525" marB="0" anchor="b"/>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64.2%</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-30.7%</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-37.4%</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r>
              <a:tr h="189973">
                <a:tc>
                  <a:txBody>
                    <a:bodyPr/>
                    <a:lstStyle/>
                    <a:p>
                      <a:pPr algn="ctr" fontAlgn="b"/>
                      <a:r>
                        <a:rPr lang="zh-CN" altLang="en-US" sz="1000" b="1" i="0" u="none" strike="noStrike">
                          <a:solidFill>
                            <a:srgbClr val="000000"/>
                          </a:solidFill>
                          <a:effectLst/>
                          <a:latin typeface="+mj-ea"/>
                          <a:ea typeface="+mj-ea"/>
                        </a:rPr>
                        <a:t>年化收益率</a:t>
                      </a:r>
                      <a:endParaRPr lang="zh-CN" altLang="en-US" sz="1000" b="1" i="0" u="none" strike="noStrike">
                        <a:solidFill>
                          <a:srgbClr val="000000"/>
                        </a:solidFill>
                        <a:effectLst/>
                        <a:latin typeface="+mj-ea"/>
                        <a:ea typeface="+mj-ea"/>
                      </a:endParaRPr>
                    </a:p>
                  </a:txBody>
                  <a:tcPr marL="9525" marR="9525" marT="9525" marB="0" anchor="b"/>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5.3%</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-3.7%</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-4.8%</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r>
              <a:tr h="189973">
                <a:tc>
                  <a:txBody>
                    <a:bodyPr/>
                    <a:lstStyle/>
                    <a:p>
                      <a:pPr algn="ctr" fontAlgn="b"/>
                      <a:r>
                        <a:rPr lang="zh-CN" altLang="en-US" sz="1000" b="1" i="0" u="none" strike="noStrike">
                          <a:solidFill>
                            <a:srgbClr val="000000"/>
                          </a:solidFill>
                          <a:effectLst/>
                          <a:latin typeface="+mj-ea"/>
                          <a:ea typeface="+mj-ea"/>
                        </a:rPr>
                        <a:t>最大回撤（月度）</a:t>
                      </a:r>
                      <a:endParaRPr lang="zh-CN" altLang="en-US" sz="1000" b="1" i="0" u="none" strike="noStrike">
                        <a:solidFill>
                          <a:srgbClr val="000000"/>
                        </a:solidFill>
                        <a:effectLst/>
                        <a:latin typeface="+mj-ea"/>
                        <a:ea typeface="+mj-ea"/>
                      </a:endParaRPr>
                    </a:p>
                  </a:txBody>
                  <a:tcPr marL="9525" marR="9525" marT="9525" marB="0" anchor="b"/>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-42.1%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-74.5%</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-51.3%</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r>
              <a:tr h="189973">
                <a:tc>
                  <a:txBody>
                    <a:bodyPr/>
                    <a:lstStyle/>
                    <a:p>
                      <a:pPr algn="ctr" fontAlgn="b"/>
                      <a:r>
                        <a:rPr lang="zh-CN" altLang="en-US" sz="1000" b="1" i="0" u="none" strike="noStrike">
                          <a:solidFill>
                            <a:srgbClr val="000000"/>
                          </a:solidFill>
                          <a:effectLst/>
                          <a:latin typeface="+mj-ea"/>
                          <a:ea typeface="+mj-ea"/>
                        </a:rPr>
                        <a:t>波动率</a:t>
                      </a:r>
                      <a:endParaRPr lang="zh-CN" altLang="en-US" sz="1000" b="1" i="0" u="none" strike="noStrike">
                        <a:solidFill>
                          <a:srgbClr val="000000"/>
                        </a:solidFill>
                        <a:effectLst/>
                        <a:latin typeface="+mj-ea"/>
                        <a:ea typeface="+mj-ea"/>
                      </a:endParaRPr>
                    </a:p>
                  </a:txBody>
                  <a:tcPr marL="9525" marR="9525" marT="9525" marB="0" anchor="b"/>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21.3%</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29.4%</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26.0%</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r>
              <a:tr h="189973">
                <a:tc>
                  <a:txBody>
                    <a:bodyPr/>
                    <a:lstStyle/>
                    <a:p>
                      <a:pPr algn="ctr" fontAlgn="b"/>
                      <a:r>
                        <a:rPr lang="zh-CN" altLang="en-US" sz="1000" b="1" i="0" u="none" strike="noStrike">
                          <a:solidFill>
                            <a:srgbClr val="000000"/>
                          </a:solidFill>
                          <a:effectLst/>
                          <a:latin typeface="+mj-ea"/>
                          <a:ea typeface="+mj-ea"/>
                        </a:rPr>
                        <a:t>夏普比例</a:t>
                      </a:r>
                      <a:endParaRPr lang="zh-CN" altLang="en-US" sz="1000" b="1" i="0" u="none" strike="noStrike">
                        <a:solidFill>
                          <a:srgbClr val="000000"/>
                        </a:solidFill>
                        <a:effectLst/>
                        <a:latin typeface="+mj-ea"/>
                        <a:ea typeface="+mj-ea"/>
                      </a:endParaRPr>
                    </a:p>
                  </a:txBody>
                  <a:tcPr marL="9525" marR="9525" marT="9525" marB="0" anchor="b"/>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0.18 </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FF0000"/>
                          </a:solidFill>
                          <a:latin typeface="微软雅黑" panose="020B0503020204020204" charset="-122"/>
                          <a:ea typeface="微软雅黑" panose="020B0503020204020204" charset="-122"/>
                        </a:rPr>
                        <a:t>(0.18)</a:t>
                      </a:r>
                      <a:endParaRPr lang="en-US" altLang="zh-CN" sz="1000" b="0" i="0">
                        <a:solidFill>
                          <a:srgbClr val="FF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FF0000"/>
                          </a:solidFill>
                          <a:latin typeface="微软雅黑" panose="020B0503020204020204" charset="-122"/>
                          <a:ea typeface="微软雅黑" panose="020B0503020204020204" charset="-122"/>
                        </a:rPr>
                        <a:t>(0.24)</a:t>
                      </a:r>
                      <a:endParaRPr lang="en-US" altLang="zh-CN" sz="1000" b="0" i="0">
                        <a:solidFill>
                          <a:srgbClr val="FF0000"/>
                        </a:solidFill>
                        <a:latin typeface="微软雅黑" panose="020B0503020204020204" charset="-122"/>
                        <a:ea typeface="微软雅黑" panose="020B0503020204020204" charset="-122"/>
                      </a:endParaRPr>
                    </a:p>
                  </a:txBody>
                  <a:tcPr marL="9842" marR="9842" marT="9842" marB="0" anchor="b" anchorCtr="0"/>
                </a:tc>
              </a:tr>
              <a:tr h="189973">
                <a:tc>
                  <a:txBody>
                    <a:bodyPr/>
                    <a:lstStyle/>
                    <a:p>
                      <a:pPr algn="ctr" fontAlgn="b"/>
                      <a:r>
                        <a:rPr lang="en-US" altLang="zh-CN" sz="1000" b="1" i="0" u="none" strike="noStrike">
                          <a:solidFill>
                            <a:srgbClr val="000000"/>
                          </a:solidFill>
                          <a:effectLst/>
                          <a:latin typeface="+mj-ea"/>
                          <a:ea typeface="+mj-ea"/>
                        </a:rPr>
                        <a:t>2015</a:t>
                      </a:r>
                      <a:endParaRPr lang="en-US" altLang="zh-CN" sz="1000" b="1" i="0" u="none" strike="noStrike">
                        <a:solidFill>
                          <a:srgbClr val="000000"/>
                        </a:solidFill>
                        <a:effectLst/>
                        <a:latin typeface="+mj-ea"/>
                        <a:ea typeface="+mj-ea"/>
                      </a:endParaRPr>
                    </a:p>
                  </a:txBody>
                  <a:tcPr marL="9525" marR="9525" marT="9525" marB="0" anchor="b"/>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1.48%</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10.50%</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-21.86%</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r>
              <a:tr h="189973">
                <a:tc>
                  <a:txBody>
                    <a:bodyPr/>
                    <a:lstStyle/>
                    <a:p>
                      <a:pPr algn="ctr" fontAlgn="b"/>
                      <a:r>
                        <a:rPr lang="en-US" altLang="zh-CN" sz="1000" b="1" i="0" u="none" strike="noStrike">
                          <a:solidFill>
                            <a:srgbClr val="000000"/>
                          </a:solidFill>
                          <a:effectLst/>
                          <a:latin typeface="+mj-ea"/>
                          <a:ea typeface="+mj-ea"/>
                        </a:rPr>
                        <a:t>2016</a:t>
                      </a:r>
                      <a:endParaRPr lang="en-US" altLang="zh-CN" sz="1000" b="1" i="0" u="none" strike="noStrike">
                        <a:solidFill>
                          <a:srgbClr val="000000"/>
                        </a:solidFill>
                        <a:effectLst/>
                        <a:latin typeface="+mj-ea"/>
                        <a:ea typeface="+mj-ea"/>
                      </a:endParaRPr>
                    </a:p>
                  </a:txBody>
                  <a:tcPr marL="9525" marR="9525" marT="9525" marB="0" anchor="b"/>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-7.24%</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-11.06%</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-13.46%</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r>
              <a:tr h="189973">
                <a:tc>
                  <a:txBody>
                    <a:bodyPr/>
                    <a:lstStyle/>
                    <a:p>
                      <a:pPr algn="ctr" fontAlgn="b"/>
                      <a:r>
                        <a:rPr lang="en-US" altLang="zh-CN" sz="1000" b="1" i="0" u="none" strike="noStrike">
                          <a:solidFill>
                            <a:srgbClr val="000000"/>
                          </a:solidFill>
                          <a:effectLst/>
                          <a:latin typeface="+mj-ea"/>
                          <a:ea typeface="+mj-ea"/>
                        </a:rPr>
                        <a:t>2017</a:t>
                      </a:r>
                      <a:endParaRPr lang="en-US" altLang="zh-CN" sz="1000" b="1" i="0" u="none" strike="noStrike">
                        <a:solidFill>
                          <a:srgbClr val="000000"/>
                        </a:solidFill>
                        <a:effectLst/>
                        <a:latin typeface="+mj-ea"/>
                        <a:ea typeface="+mj-ea"/>
                      </a:endParaRPr>
                    </a:p>
                  </a:txBody>
                  <a:tcPr marL="9525" marR="9525" marT="9525" marB="0" anchor="b"/>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57.75%</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43.23%</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3.56%</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r>
              <a:tr h="189973">
                <a:tc>
                  <a:txBody>
                    <a:bodyPr/>
                    <a:lstStyle/>
                    <a:p>
                      <a:pPr algn="ctr" fontAlgn="b"/>
                      <a:r>
                        <a:rPr lang="en-US" altLang="zh-CN" sz="1000" b="1" i="0" u="none" strike="noStrike">
                          <a:solidFill>
                            <a:srgbClr val="000000"/>
                          </a:solidFill>
                          <a:effectLst/>
                          <a:latin typeface="+mj-ea"/>
                          <a:ea typeface="+mj-ea"/>
                        </a:rPr>
                        <a:t>2018</a:t>
                      </a:r>
                      <a:endParaRPr lang="en-US" altLang="zh-CN" sz="1000" b="1" i="0" u="none" strike="noStrike">
                        <a:solidFill>
                          <a:srgbClr val="000000"/>
                        </a:solidFill>
                        <a:effectLst/>
                        <a:latin typeface="+mj-ea"/>
                        <a:ea typeface="+mj-ea"/>
                      </a:endParaRPr>
                    </a:p>
                  </a:txBody>
                  <a:tcPr marL="9525" marR="9525" marT="9525" marB="0" anchor="b"/>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12.73%</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-25.52%</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-27.67%</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r>
              <a:tr h="189973">
                <a:tc>
                  <a:txBody>
                    <a:bodyPr/>
                    <a:lstStyle/>
                    <a:p>
                      <a:pPr algn="ctr" fontAlgn="b"/>
                      <a:r>
                        <a:rPr lang="en-US" altLang="zh-CN" sz="1000" b="1" i="0" u="none" strike="noStrike">
                          <a:solidFill>
                            <a:srgbClr val="000000"/>
                          </a:solidFill>
                          <a:effectLst/>
                          <a:latin typeface="+mj-ea"/>
                          <a:ea typeface="+mj-ea"/>
                        </a:rPr>
                        <a:t>2019</a:t>
                      </a:r>
                      <a:endParaRPr lang="en-US" altLang="zh-CN" sz="1000" b="1" i="0" u="none" strike="noStrike">
                        <a:solidFill>
                          <a:srgbClr val="000000"/>
                        </a:solidFill>
                        <a:effectLst/>
                        <a:latin typeface="+mj-ea"/>
                        <a:ea typeface="+mj-ea"/>
                      </a:endParaRPr>
                    </a:p>
                  </a:txBody>
                  <a:tcPr marL="9525" marR="9525" marT="9525" marB="0" anchor="b"/>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34.69%</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34.20%</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36.85%</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r>
              <a:tr h="189973">
                <a:tc>
                  <a:txBody>
                    <a:bodyPr/>
                    <a:lstStyle/>
                    <a:p>
                      <a:pPr algn="ctr" fontAlgn="b"/>
                      <a:r>
                        <a:rPr lang="en-US" altLang="zh-CN" sz="1000" b="1" i="0" u="none" strike="noStrike">
                          <a:solidFill>
                            <a:srgbClr val="000000"/>
                          </a:solidFill>
                          <a:effectLst/>
                          <a:latin typeface="+mj-ea"/>
                          <a:ea typeface="+mj-ea"/>
                        </a:rPr>
                        <a:t>2020</a:t>
                      </a:r>
                      <a:endParaRPr lang="en-US" altLang="zh-CN" sz="1000" b="1" i="0" u="none" strike="noStrike">
                        <a:solidFill>
                          <a:srgbClr val="000000"/>
                        </a:solidFill>
                        <a:effectLst/>
                        <a:latin typeface="+mj-ea"/>
                        <a:ea typeface="+mj-ea"/>
                      </a:endParaRPr>
                    </a:p>
                  </a:txBody>
                  <a:tcPr marL="9525" marR="9525" marT="9525" marB="0" anchor="b"/>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22.51%</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41.85%</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51.10%</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r>
              <a:tr h="189973">
                <a:tc>
                  <a:txBody>
                    <a:bodyPr/>
                    <a:lstStyle/>
                    <a:p>
                      <a:pPr algn="ctr" fontAlgn="b"/>
                      <a:r>
                        <a:rPr lang="en-US" altLang="zh-CN" sz="1000" b="1" i="0" u="none" strike="noStrike">
                          <a:solidFill>
                            <a:srgbClr val="000000"/>
                          </a:solidFill>
                          <a:effectLst/>
                          <a:latin typeface="+mj-ea"/>
                          <a:ea typeface="+mj-ea"/>
                        </a:rPr>
                        <a:t>2021</a:t>
                      </a:r>
                      <a:endParaRPr lang="en-US" altLang="zh-CN" sz="1000" b="1" i="0" u="none" strike="noStrike">
                        <a:solidFill>
                          <a:srgbClr val="000000"/>
                        </a:solidFill>
                        <a:effectLst/>
                        <a:latin typeface="+mj-ea"/>
                        <a:ea typeface="+mj-ea"/>
                      </a:endParaRPr>
                    </a:p>
                  </a:txBody>
                  <a:tcPr marL="9525" marR="9525" marT="9525" marB="0" anchor="b"/>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-7.19%</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-29.63%</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-5.73%</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r>
              <a:tr h="189973">
                <a:tc>
                  <a:txBody>
                    <a:bodyPr/>
                    <a:lstStyle/>
                    <a:p>
                      <a:pPr algn="ctr" fontAlgn="b"/>
                      <a:r>
                        <a:rPr lang="en-US" altLang="zh-CN" sz="1000" b="1" i="0" u="none" strike="noStrike">
                          <a:solidFill>
                            <a:srgbClr val="000000"/>
                          </a:solidFill>
                          <a:effectLst/>
                          <a:latin typeface="+mj-ea"/>
                          <a:ea typeface="+mj-ea"/>
                        </a:rPr>
                        <a:t>2022</a:t>
                      </a:r>
                      <a:endParaRPr lang="en-US" altLang="zh-CN" sz="1000" b="1" i="0" u="none" strike="noStrike">
                        <a:solidFill>
                          <a:srgbClr val="000000"/>
                        </a:solidFill>
                        <a:effectLst/>
                        <a:latin typeface="+mj-ea"/>
                        <a:ea typeface="+mj-ea"/>
                      </a:endParaRPr>
                    </a:p>
                  </a:txBody>
                  <a:tcPr marL="9525" marR="9525" marT="9525" marB="0" anchor="b"/>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-0.20%</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-19.34%</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-20.34%</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r>
              <a:tr h="189973">
                <a:tc>
                  <a:txBody>
                    <a:bodyPr/>
                    <a:lstStyle/>
                    <a:p>
                      <a:pPr algn="ctr" fontAlgn="b"/>
                      <a:r>
                        <a:rPr lang="en-US" altLang="zh-CN" sz="1000" b="1" i="0" u="none" strike="noStrike">
                          <a:solidFill>
                            <a:srgbClr val="000000"/>
                          </a:solidFill>
                          <a:effectLst/>
                          <a:latin typeface="+mj-ea"/>
                          <a:ea typeface="+mj-ea"/>
                        </a:rPr>
                        <a:t>2023</a:t>
                      </a:r>
                      <a:endParaRPr lang="en-US" altLang="zh-CN" sz="1000" b="1" i="0" u="none" strike="noStrike">
                        <a:solidFill>
                          <a:srgbClr val="000000"/>
                        </a:solidFill>
                        <a:effectLst/>
                        <a:latin typeface="+mj-ea"/>
                        <a:ea typeface="+mj-ea"/>
                      </a:endParaRPr>
                    </a:p>
                  </a:txBody>
                  <a:tcPr marL="9525" marR="9525" marT="9525" marB="0" anchor="b"/>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-24.35%</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-24.52%</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-7.05%</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r>
              <a:tr h="189973">
                <a:tc>
                  <a:txBody>
                    <a:bodyPr/>
                    <a:lstStyle/>
                    <a:p>
                      <a:pPr algn="ctr" fontAlgn="b"/>
                      <a:r>
                        <a:rPr lang="en-US" altLang="zh-CN" sz="1000" b="1" i="0" u="none" strike="noStrike">
                          <a:solidFill>
                            <a:srgbClr val="000000"/>
                          </a:solidFill>
                          <a:effectLst/>
                          <a:latin typeface="+mj-ea"/>
                          <a:ea typeface="+mj-ea"/>
                        </a:rPr>
                        <a:t>2024</a:t>
                      </a:r>
                      <a:endParaRPr lang="en-US" altLang="zh-CN" sz="1000" b="1" i="0" u="none" strike="noStrike">
                        <a:solidFill>
                          <a:srgbClr val="000000"/>
                        </a:solidFill>
                        <a:effectLst/>
                        <a:latin typeface="+mj-ea"/>
                        <a:ea typeface="+mj-ea"/>
                      </a:endParaRPr>
                    </a:p>
                  </a:txBody>
                  <a:tcPr marL="9525" marR="9525" marT="9525" marB="0" anchor="b"/>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-15.19%</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-18.93%</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c>
                  <a:txBody>
                    <a:bodyPr/>
                    <a:lstStyle/>
                    <a:p>
                      <a:pPr algn="ctr" fontAlgn="b"/>
                      <a:r>
                        <a:rPr lang="en-US" altLang="zh-CN" sz="1000" b="0" i="0">
                          <a:solidFill>
                            <a:srgbClr val="000000"/>
                          </a:solidFill>
                          <a:latin typeface="微软雅黑" panose="020B0503020204020204" charset="-122"/>
                          <a:ea typeface="微软雅黑" panose="020B0503020204020204" charset="-122"/>
                        </a:rPr>
                        <a:t>-14.33%</a:t>
                      </a:r>
                      <a:endParaRPr lang="en-US" altLang="zh-CN" sz="1000" b="0" i="0">
                        <a:solidFill>
                          <a:srgbClr val="000000"/>
                        </a:solidFill>
                        <a:latin typeface="微软雅黑" panose="020B0503020204020204" charset="-122"/>
                        <a:ea typeface="微软雅黑" panose="020B0503020204020204" charset="-122"/>
                      </a:endParaRPr>
                    </a:p>
                  </a:txBody>
                  <a:tcPr marL="9842" marR="9842" marT="9842" marB="0" anchor="b" anchorCtr="0"/>
                </a:tc>
              </a:tr>
            </a:tbl>
          </a:graphicData>
        </a:graphic>
      </p:graphicFrame>
      <p:sp>
        <p:nvSpPr>
          <p:cNvPr id="7" name="文本框 6"/>
          <p:cNvSpPr txBox="1"/>
          <p:nvPr/>
        </p:nvSpPr>
        <p:spPr>
          <a:xfrm>
            <a:off x="110831" y="6666874"/>
            <a:ext cx="7628318" cy="213995"/>
          </a:xfrm>
          <a:prstGeom prst="rect">
            <a:avLst/>
          </a:prstGeom>
          <a:noFill/>
          <a:ln w="9525">
            <a:noFill/>
          </a:ln>
        </p:spPr>
        <p:txBody>
          <a:bodyPr wrap="square">
            <a:spAutoFit/>
          </a:bodyPr>
          <a:lstStyle>
            <a:defPPr>
              <a:defRPr lang="zh-CN"/>
            </a:defPPr>
            <a:lvl1pPr marR="0" lvl="0" indent="0" fontAlgn="base">
              <a:lnSpc>
                <a:spcPct val="100000"/>
              </a:lnSpc>
              <a:spcBef>
                <a:spcPct val="50000"/>
              </a:spcBef>
              <a:spcAft>
                <a:spcPct val="0"/>
              </a:spcAft>
              <a:buClr>
                <a:srgbClr val="C12727"/>
              </a:buClr>
              <a:buSzPct val="80000"/>
              <a:buFont typeface="Arial" panose="020B0604020202020204" pitchFamily="34" charset="0"/>
              <a:buNone/>
              <a:defRPr kumimoji="0" sz="800" b="0" i="0" u="none" strike="noStrike" cap="none" spc="0" normalizeH="0" baseline="0">
                <a:ln>
                  <a:noFill/>
                </a:ln>
                <a:solidFill>
                  <a:srgbClr val="000000"/>
                </a:solidFill>
                <a:effectLst/>
                <a:uLnTx/>
                <a:uFillTx/>
                <a:latin typeface="+mj-ea"/>
                <a:ea typeface="+mj-ea"/>
              </a:defRPr>
            </a:lvl1pPr>
            <a:lvl2pPr marL="742950" indent="-285750" eaLnBrk="0" fontAlgn="base" hangingPunct="0">
              <a:spcBef>
                <a:spcPct val="20000"/>
              </a:spcBef>
              <a:spcAft>
                <a:spcPct val="0"/>
              </a:spcAft>
              <a:buFont typeface="Arial" panose="020B0604020202020204" pitchFamily="34" charset="0"/>
              <a:buChar char="–"/>
              <a:defRPr sz="2800"/>
            </a:lvl2pPr>
            <a:lvl3pPr marL="1143000" indent="-228600" eaLnBrk="0" fontAlgn="base" hangingPunct="0">
              <a:spcBef>
                <a:spcPct val="20000"/>
              </a:spcBef>
              <a:spcAft>
                <a:spcPct val="0"/>
              </a:spcAft>
              <a:buFont typeface="Arial" panose="020B0604020202020204" pitchFamily="34" charset="0"/>
              <a:buChar char="•"/>
              <a:defRPr sz="2400"/>
            </a:lvl3pPr>
            <a:lvl4pPr marL="1600200" indent="-228600" eaLnBrk="0" fontAlgn="base" hangingPunct="0">
              <a:spcBef>
                <a:spcPct val="20000"/>
              </a:spcBef>
              <a:spcAft>
                <a:spcPct val="0"/>
              </a:spcAft>
              <a:buFont typeface="Arial" panose="020B0604020202020204" pitchFamily="34" charset="0"/>
              <a:buChar char="–"/>
              <a:defRPr sz="2000"/>
            </a:lvl4pPr>
            <a:lvl5pPr marL="2057400" indent="-228600" eaLnBrk="0" fontAlgn="base" hangingPunct="0">
              <a:spcBef>
                <a:spcPct val="20000"/>
              </a:spcBef>
              <a:spcAft>
                <a:spcPct val="0"/>
              </a:spcAft>
              <a:buFont typeface="Arial" panose="020B0604020202020204" pitchFamily="34" charset="0"/>
              <a:buChar char="»"/>
              <a:defRPr sz="2000"/>
            </a:lvl5pPr>
          </a:lstStyle>
          <a:p>
            <a:pPr marL="0" marR="0" lvl="0" indent="0" algn="l" defTabSz="914400" rtl="0" eaLnBrk="1" fontAlgn="base" latinLnBrk="0" hangingPunct="1">
              <a:lnSpc>
                <a:spcPct val="100000"/>
              </a:lnSpc>
              <a:spcBef>
                <a:spcPct val="50000"/>
              </a:spcBef>
              <a:spcAft>
                <a:spcPct val="0"/>
              </a:spcAft>
              <a:buClr>
                <a:srgbClr val="C12727"/>
              </a:buClr>
              <a:buSzPct val="80000"/>
              <a:buFont typeface="Arial" panose="020B0604020202020204" pitchFamily="34" charset="0"/>
              <a:buNone/>
              <a:defRPr/>
            </a:pPr>
            <a:r>
              <a:rPr kumimoji="0" lang="zh-CN" altLang="en-US" sz="800" b="0" i="0" u="none" strike="noStrike" kern="1200" cap="none" spc="0" normalizeH="0" baseline="0" noProof="0" dirty="0">
                <a:ln>
                  <a:noFill/>
                </a:ln>
                <a:solidFill>
                  <a:srgbClr val="000000"/>
                </a:solidFill>
                <a:effectLst/>
                <a:uLnTx/>
                <a:uFillTx/>
                <a:latin typeface="等线 Light" panose="02010600030101010101" charset="-122"/>
                <a:ea typeface="等线 Light" panose="02010600030101010101" charset="-122"/>
                <a:cs typeface="+mn-cs"/>
              </a:rPr>
              <a:t>数据来源：景林、诺亚产品中心、</a:t>
            </a:r>
            <a:r>
              <a:rPr kumimoji="0" lang="en-US" altLang="zh-CN" sz="800" b="0" i="0" u="none" strike="noStrike" kern="1200" cap="none" spc="0" normalizeH="0" baseline="0" noProof="0" dirty="0">
                <a:ln>
                  <a:noFill/>
                </a:ln>
                <a:solidFill>
                  <a:srgbClr val="000000"/>
                </a:solidFill>
                <a:effectLst/>
                <a:uLnTx/>
                <a:uFillTx/>
                <a:latin typeface="等线 Light" panose="02010600030101010101" charset="-122"/>
                <a:ea typeface="等线 Light" panose="02010600030101010101" charset="-122"/>
                <a:cs typeface="+mn-cs"/>
              </a:rPr>
              <a:t>wind</a:t>
            </a:r>
            <a:r>
              <a:rPr kumimoji="0" lang="zh-CN" altLang="en-US" sz="800" b="0" i="0" u="none" strike="noStrike" kern="1200" cap="none" spc="0" normalizeH="0" baseline="0" noProof="0" dirty="0">
                <a:ln>
                  <a:noFill/>
                </a:ln>
                <a:solidFill>
                  <a:srgbClr val="000000"/>
                </a:solidFill>
                <a:effectLst/>
                <a:uLnTx/>
                <a:uFillTx/>
                <a:latin typeface="等线 Light" panose="02010600030101010101" charset="-122"/>
                <a:ea typeface="等线 Light" panose="02010600030101010101" charset="-122"/>
                <a:cs typeface="+mn-cs"/>
              </a:rPr>
              <a:t>、数据截至</a:t>
            </a:r>
            <a:r>
              <a:rPr kumimoji="0" lang="en-US" altLang="zh-CN" sz="800" b="0" i="0" u="none" strike="noStrike" kern="1200" cap="none" spc="0" normalizeH="0" baseline="0" noProof="0" dirty="0" smtClean="0">
                <a:ln>
                  <a:noFill/>
                </a:ln>
                <a:solidFill>
                  <a:srgbClr val="000000"/>
                </a:solidFill>
                <a:effectLst/>
                <a:uLnTx/>
                <a:uFillTx/>
                <a:latin typeface="等线 Light" panose="02010600030101010101" charset="-122"/>
                <a:ea typeface="等线 Light" panose="02010600030101010101" charset="-122"/>
                <a:cs typeface="+mn-cs"/>
              </a:rPr>
              <a:t>2024/12/31</a:t>
            </a:r>
            <a:r>
              <a:rPr kumimoji="0" lang="zh-CN" altLang="en-US" sz="800" b="0" i="0" u="none" strike="noStrike" kern="1200" cap="none" spc="0" normalizeH="0" baseline="0" noProof="0" dirty="0" smtClean="0">
                <a:ln>
                  <a:noFill/>
                </a:ln>
                <a:solidFill>
                  <a:srgbClr val="000000"/>
                </a:solidFill>
                <a:effectLst/>
                <a:uLnTx/>
                <a:uFillTx/>
                <a:latin typeface="等线 Light" panose="02010600030101010101" charset="-122"/>
                <a:ea typeface="等线 Light" panose="02010600030101010101" charset="-122"/>
                <a:cs typeface="+mn-cs"/>
              </a:rPr>
              <a:t>；</a:t>
            </a:r>
            <a:r>
              <a:rPr kumimoji="0" lang="zh-CN" altLang="en-US" sz="800" b="0" i="0" u="none" strike="noStrike" kern="1200" cap="none" spc="0" normalizeH="0" baseline="0" noProof="0" dirty="0">
                <a:ln>
                  <a:noFill/>
                </a:ln>
                <a:solidFill>
                  <a:srgbClr val="000000"/>
                </a:solidFill>
                <a:effectLst/>
                <a:uLnTx/>
                <a:uFillTx/>
                <a:latin typeface="等线 Light" panose="02010600030101010101" charset="-122"/>
                <a:ea typeface="等线 Light" panose="02010600030101010101" charset="-122"/>
                <a:cs typeface="+mn-cs"/>
              </a:rPr>
              <a:t>展示端做了净值归</a:t>
            </a:r>
            <a:r>
              <a:rPr kumimoji="0" lang="en-US" altLang="zh-CN" sz="800" b="0" i="0" u="none" strike="noStrike" kern="1200" cap="none" spc="0" normalizeH="0" baseline="0" noProof="0" dirty="0">
                <a:ln>
                  <a:noFill/>
                </a:ln>
                <a:solidFill>
                  <a:srgbClr val="000000"/>
                </a:solidFill>
                <a:effectLst/>
                <a:uLnTx/>
                <a:uFillTx/>
                <a:latin typeface="等线 Light" panose="02010600030101010101" charset="-122"/>
                <a:ea typeface="等线 Light" panose="02010600030101010101" charset="-122"/>
                <a:cs typeface="+mn-cs"/>
              </a:rPr>
              <a:t>1</a:t>
            </a:r>
            <a:r>
              <a:rPr kumimoji="0" lang="zh-CN" altLang="en-US" sz="800" b="0" i="0" u="none" strike="noStrike" kern="1200" cap="none" spc="0" normalizeH="0" baseline="0" noProof="0" dirty="0">
                <a:ln>
                  <a:noFill/>
                </a:ln>
                <a:solidFill>
                  <a:srgbClr val="000000"/>
                </a:solidFill>
                <a:effectLst/>
                <a:uLnTx/>
                <a:uFillTx/>
                <a:latin typeface="等线 Light" panose="02010600030101010101" charset="-122"/>
                <a:ea typeface="等线 Light" panose="02010600030101010101" charset="-122"/>
                <a:cs typeface="+mn-cs"/>
              </a:rPr>
              <a:t>处理；收益率扣除</a:t>
            </a:r>
            <a:r>
              <a:rPr kumimoji="0" lang="en-US" altLang="zh-CN" sz="800" b="0" i="0" u="none" strike="noStrike" kern="1200" cap="none" spc="0" normalizeH="0" baseline="0" noProof="0" dirty="0">
                <a:ln>
                  <a:noFill/>
                </a:ln>
                <a:solidFill>
                  <a:srgbClr val="000000"/>
                </a:solidFill>
                <a:effectLst/>
                <a:uLnTx/>
                <a:uFillTx/>
                <a:latin typeface="等线 Light" panose="02010600030101010101" charset="-122"/>
                <a:ea typeface="等线 Light" panose="02010600030101010101" charset="-122"/>
                <a:cs typeface="+mn-cs"/>
              </a:rPr>
              <a:t>2.0%/</a:t>
            </a:r>
            <a:r>
              <a:rPr kumimoji="0" lang="zh-CN" altLang="en-US" sz="800" b="0" i="0" u="none" strike="noStrike" kern="1200" cap="none" spc="0" normalizeH="0" baseline="0" noProof="0" dirty="0">
                <a:ln>
                  <a:noFill/>
                </a:ln>
                <a:solidFill>
                  <a:srgbClr val="000000"/>
                </a:solidFill>
                <a:effectLst/>
                <a:uLnTx/>
                <a:uFillTx/>
                <a:latin typeface="等线 Light" panose="02010600030101010101" charset="-122"/>
                <a:ea typeface="等线 Light" panose="02010600030101010101" charset="-122"/>
                <a:cs typeface="+mn-cs"/>
              </a:rPr>
              <a:t>年管理费和</a:t>
            </a:r>
            <a:r>
              <a:rPr kumimoji="0" lang="en-US" altLang="zh-CN" sz="800" b="0" i="0" u="none" strike="noStrike" kern="1200" cap="none" spc="0" normalizeH="0" baseline="0" noProof="0" dirty="0">
                <a:ln>
                  <a:noFill/>
                </a:ln>
                <a:solidFill>
                  <a:srgbClr val="000000"/>
                </a:solidFill>
                <a:effectLst/>
                <a:uLnTx/>
                <a:uFillTx/>
                <a:latin typeface="等线 Light" panose="02010600030101010101" charset="-122"/>
                <a:ea typeface="等线 Light" panose="02010600030101010101" charset="-122"/>
                <a:cs typeface="+mn-cs"/>
              </a:rPr>
              <a:t>20%</a:t>
            </a:r>
            <a:r>
              <a:rPr kumimoji="0" lang="zh-CN" altLang="en-US" sz="800" b="0" i="0" u="none" strike="noStrike" kern="1200" cap="none" spc="0" normalizeH="0" baseline="0" noProof="0" dirty="0">
                <a:ln>
                  <a:noFill/>
                </a:ln>
                <a:solidFill>
                  <a:srgbClr val="000000"/>
                </a:solidFill>
                <a:effectLst/>
                <a:uLnTx/>
                <a:uFillTx/>
                <a:latin typeface="等线 Light" panose="02010600030101010101" charset="-122"/>
                <a:ea typeface="等线 Light" panose="02010600030101010101" charset="-122"/>
                <a:cs typeface="+mn-cs"/>
              </a:rPr>
              <a:t>的业绩报酬</a:t>
            </a:r>
            <a:endParaRPr kumimoji="0" lang="zh-CN" altLang="en-US" sz="800" b="0" i="0" u="none" strike="noStrike" kern="1200" cap="none" spc="0" normalizeH="0" baseline="0" noProof="0" dirty="0">
              <a:ln>
                <a:noFill/>
              </a:ln>
              <a:solidFill>
                <a:srgbClr val="000000"/>
              </a:solidFill>
              <a:effectLst/>
              <a:uLnTx/>
              <a:uFillTx/>
              <a:latin typeface="等线 Light" panose="02010600030101010101" charset="-122"/>
              <a:ea typeface="等线 Light" panose="02010600030101010101" charset="-122"/>
              <a:cs typeface="+mn-cs"/>
            </a:endParaRPr>
          </a:p>
        </p:txBody>
      </p:sp>
      <p:sp>
        <p:nvSpPr>
          <p:cNvPr id="11" name="矩形 10"/>
          <p:cNvSpPr/>
          <p:nvPr/>
        </p:nvSpPr>
        <p:spPr>
          <a:xfrm>
            <a:off x="314694" y="904721"/>
            <a:ext cx="9718600" cy="968313"/>
          </a:xfrm>
          <a:prstGeom prst="rect">
            <a:avLst/>
          </a:prstGeom>
          <a:solidFill>
            <a:schemeClr val="bg1">
              <a:lumMod val="95000"/>
            </a:schemeClr>
          </a:solidFill>
        </p:spPr>
        <p:txBody>
          <a:bodyPr wrap="square">
            <a:noAutofit/>
          </a:bodyPr>
          <a:lstStyle/>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altLang="zh-CN"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2023</a:t>
            </a:r>
            <a:r>
              <a:rPr kumimoji="0" lang="zh-CN" altLang="en-US"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年之前，表现可圈可点，回撤可控（看仓位分布主要原因可能在于有做空仓位保护），在</a:t>
            </a:r>
            <a:r>
              <a:rPr kumimoji="0" lang="en-US" altLang="zh-CN"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2023</a:t>
            </a:r>
            <a:r>
              <a:rPr kumimoji="0" lang="zh-CN" altLang="en-US"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年</a:t>
            </a:r>
            <a:r>
              <a:rPr kumimoji="0" lang="en-US" altLang="zh-CN"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Q1</a:t>
            </a:r>
            <a:r>
              <a:rPr kumimoji="0" lang="zh-CN" altLang="en-US"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净值一度阶段性新高。</a:t>
            </a:r>
            <a:endParaRPr kumimoji="0" lang="en-US" altLang="zh-CN"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altLang="zh-CN"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2023 </a:t>
            </a:r>
            <a:r>
              <a:rPr kumimoji="0" lang="zh-CN" altLang="en-US"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年下跌主要反映宏观环境不确定性以及医药行业内的反腐影响。</a:t>
            </a:r>
            <a:endParaRPr kumimoji="0" lang="en-US" altLang="zh-CN"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endParaRPr>
          </a:p>
          <a:p>
            <a:pPr marL="342900" marR="0" lvl="0"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kumimoji="0" lang="en-US" altLang="zh-TW"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2024</a:t>
            </a:r>
            <a:r>
              <a:rPr kumimoji="0" lang="zh-TW" altLang="en-US"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年</a:t>
            </a:r>
            <a:r>
              <a:rPr kumimoji="0" lang="en-US" altLang="zh-TW"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1</a:t>
            </a:r>
            <a:r>
              <a:rPr kumimoji="0" lang="zh-TW" altLang="en-US"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月医药板块大幅回撤后，</a:t>
            </a:r>
            <a:r>
              <a:rPr kumimoji="0" lang="zh-CN" altLang="en-US"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景林维持</a:t>
            </a:r>
            <a:r>
              <a:rPr kumimoji="0" lang="en-US" altLang="zh-CN"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6</a:t>
            </a:r>
            <a:r>
              <a:rPr kumimoji="0" lang="zh-CN" altLang="en-US"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成净仓位做防守；</a:t>
            </a:r>
            <a:r>
              <a:rPr kumimoji="0" lang="en-US" altLang="zh-TW"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2</a:t>
            </a:r>
            <a:r>
              <a:rPr kumimoji="0" lang="zh-TW" altLang="en-US"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月</a:t>
            </a:r>
            <a:r>
              <a:rPr kumimoji="0" lang="zh-CN" altLang="en-US"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开始</a:t>
            </a:r>
            <a:r>
              <a:rPr kumimoji="0" lang="zh-TW" altLang="en-US"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降低空头仓位，组合净仓位保持在</a:t>
            </a:r>
            <a:r>
              <a:rPr kumimoji="0" lang="en-US" altLang="zh-TW"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8</a:t>
            </a:r>
            <a:r>
              <a:rPr kumimoji="0" lang="zh-TW" altLang="en-US"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成以上，</a:t>
            </a:r>
            <a:r>
              <a:rPr kumimoji="0" lang="zh-TW" altLang="en-US" sz="1200" b="1" i="0" u="none" strike="noStrike" kern="1200" cap="none" spc="0" normalizeH="0" baseline="0" noProof="0" dirty="0">
                <a:ln>
                  <a:noFill/>
                </a:ln>
                <a:solidFill>
                  <a:srgbClr val="C00000"/>
                </a:solidFill>
                <a:effectLst/>
                <a:uLnTx/>
                <a:uFillTx/>
                <a:latin typeface="等线 Light" panose="02010600030101010101" charset="-122"/>
                <a:ea typeface="等线 Light" panose="02010600030101010101" charset="-122"/>
                <a:cs typeface="+mn-cs"/>
              </a:rPr>
              <a:t>结构上向美股倾斜</a:t>
            </a:r>
            <a:r>
              <a:rPr kumimoji="0" lang="zh-TW" altLang="en-US"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rPr>
              <a:t>。</a:t>
            </a:r>
            <a:endParaRPr kumimoji="0" lang="zh-TW" altLang="en-US" sz="1200" b="0" i="0" u="none" strike="noStrike" kern="1200" cap="none" spc="0" normalizeH="0" baseline="0" noProof="0" dirty="0">
              <a:ln>
                <a:noFill/>
              </a:ln>
              <a:solidFill>
                <a:prstClr val="black"/>
              </a:solidFill>
              <a:effectLst/>
              <a:uLnTx/>
              <a:uFillTx/>
              <a:latin typeface="等线 Light" panose="02010600030101010101" charset="-122"/>
              <a:ea typeface="等线 Light" panose="02010600030101010101" charset="-122"/>
              <a:cs typeface="+mn-cs"/>
            </a:endParaRPr>
          </a:p>
        </p:txBody>
      </p:sp>
      <p:sp>
        <p:nvSpPr>
          <p:cNvPr id="10" name="文本框 1"/>
          <p:cNvSpPr txBox="1"/>
          <p:nvPr/>
        </p:nvSpPr>
        <p:spPr>
          <a:xfrm>
            <a:off x="5984220" y="4630720"/>
            <a:ext cx="5252759" cy="285282"/>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1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最大回撤：</a:t>
            </a:r>
            <a:r>
              <a:rPr kumimoji="0" lang="en-US" altLang="zh-CN" sz="11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2021.06-2024.6</a:t>
            </a:r>
            <a:endParaRPr kumimoji="0" lang="zh-CN" altLang="en-US" sz="11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3D43F66-1552-4AB5-8C73-059430FE9C80}"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13" name="文本框 4"/>
          <p:cNvSpPr txBox="1"/>
          <p:nvPr/>
        </p:nvSpPr>
        <p:spPr>
          <a:xfrm rot="18792261">
            <a:off x="2868108" y="2860347"/>
            <a:ext cx="6278880" cy="8299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TW" altLang="en-US" sz="4800" b="0" i="0" u="none" strike="noStrike" kern="1200" cap="none" spc="0" normalizeH="0" baseline="0" noProof="0" dirty="0">
                <a:ln>
                  <a:noFill/>
                </a:ln>
                <a:solidFill>
                  <a:srgbClr val="D9D9D9">
                    <a:alpha val="50000"/>
                  </a:srgbClr>
                </a:solidFill>
                <a:effectLst/>
                <a:uLnTx/>
                <a:uFillTx/>
                <a:latin typeface="等线" panose="02010600030101010101" charset="-122"/>
                <a:cs typeface="+mn-cs"/>
              </a:rPr>
              <a:t>仅供</a:t>
            </a:r>
            <a:r>
              <a:rPr kumimoji="0" lang="zh-TW" altLang="en-US" sz="4800" b="0" i="0" u="none" strike="noStrike" kern="1200" cap="none" spc="0" normalizeH="0" baseline="0" noProof="0" dirty="0" smtClean="0">
                <a:ln>
                  <a:noFill/>
                </a:ln>
                <a:solidFill>
                  <a:srgbClr val="D9D9D9">
                    <a:alpha val="50000"/>
                  </a:srgbClr>
                </a:solidFill>
                <a:effectLst/>
                <a:uLnTx/>
                <a:uFillTx/>
                <a:latin typeface="等线" panose="02010600030101010101" charset="-122"/>
                <a:cs typeface="+mn-cs"/>
              </a:rPr>
              <a:t>内使用</a:t>
            </a:r>
            <a:r>
              <a:rPr kumimoji="0" lang="zh-CN" altLang="en-US" sz="4800" b="0" i="0" u="none" strike="noStrike" kern="1200" cap="none" spc="0" normalizeH="0" baseline="0" noProof="0" dirty="0" smtClean="0">
                <a:ln>
                  <a:noFill/>
                </a:ln>
                <a:solidFill>
                  <a:srgbClr val="D9D9D9">
                    <a:alpha val="50000"/>
                  </a:srgbClr>
                </a:solidFill>
                <a:effectLst/>
                <a:uLnTx/>
                <a:uFillTx/>
                <a:latin typeface="等线" panose="02010600030101010101" charset="-122"/>
                <a:ea typeface="等线" panose="02010600030101010101" charset="-122"/>
                <a:cs typeface="+mn-cs"/>
              </a:rPr>
              <a:t>，禁止转发</a:t>
            </a:r>
            <a:endParaRPr kumimoji="0" lang="zh-TW" altLang="en-US" sz="4800" b="0" i="0" u="none" strike="noStrike" kern="1200" cap="none" spc="0" normalizeH="0" baseline="0" noProof="0" dirty="0">
              <a:ln>
                <a:noFill/>
              </a:ln>
              <a:solidFill>
                <a:srgbClr val="D9D9D9">
                  <a:alpha val="50000"/>
                </a:srgbClr>
              </a:solidFill>
              <a:effectLst/>
              <a:uLnTx/>
              <a:uFillTx/>
              <a:latin typeface="等线" panose="02010600030101010101" charset="-122"/>
              <a:cs typeface="+mn-cs"/>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txBox="1"/>
          <p:nvPr/>
        </p:nvSpPr>
        <p:spPr>
          <a:xfrm>
            <a:off x="1072662" y="4814398"/>
            <a:ext cx="2017712" cy="62229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sz="2000" dirty="0">
              <a:latin typeface="等线" panose="02010600030101010101" charset="-122"/>
              <a:ea typeface="等线" panose="02010600030101010101" charset="-122"/>
              <a:cs typeface="等线" panose="02010600030101010101" charset="-122"/>
            </a:endParaRPr>
          </a:p>
        </p:txBody>
      </p:sp>
      <p:sp>
        <p:nvSpPr>
          <p:cNvPr id="3" name="文本占位符 2"/>
          <p:cNvSpPr txBox="1"/>
          <p:nvPr/>
        </p:nvSpPr>
        <p:spPr>
          <a:xfrm>
            <a:off x="956309" y="2637848"/>
            <a:ext cx="10454468" cy="30460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sz="3200" b="1" dirty="0">
                <a:latin typeface="等线" panose="02010600030101010101" charset="-122"/>
                <a:ea typeface="等线" panose="02010600030101010101" charset="-122"/>
                <a:cs typeface="等线" panose="02010600030101010101" charset="-122"/>
              </a:rPr>
              <a:t>二、新老基金对比</a:t>
            </a:r>
            <a:endParaRPr lang="zh-CN" sz="3200" b="1" dirty="0">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
          <p:cNvSpPr txBox="1"/>
          <p:nvPr/>
        </p:nvSpPr>
        <p:spPr>
          <a:xfrm>
            <a:off x="511755" y="256039"/>
            <a:ext cx="8229600" cy="423545"/>
          </a:xfrm>
          <a:prstGeom prst="rect">
            <a:avLst/>
          </a:prstGeom>
          <a:noFill/>
        </p:spPr>
        <p:txBody>
          <a:bodyPr vert="horz" wrap="square" lIns="91440" tIns="45720" rIns="91440" bIns="45720" rtlCol="0" anchor="ctr">
            <a:spAutoFit/>
          </a:bodyPr>
          <a:lstStyle>
            <a:defPPr>
              <a:defRPr lang="en-US"/>
            </a:defPPr>
            <a:lvl1pPr>
              <a:lnSpc>
                <a:spcPct val="90000"/>
              </a:lnSpc>
              <a:spcBef>
                <a:spcPct val="0"/>
              </a:spcBef>
              <a:buNone/>
              <a:defRPr sz="2800" b="1">
                <a:solidFill>
                  <a:srgbClr val="002B82"/>
                </a:solidFill>
                <a:latin typeface="微软雅黑" panose="020B0503020204020204" charset="-122"/>
                <a:ea typeface="微软雅黑" panose="020B0503020204020204" charset="-122"/>
              </a:defRPr>
            </a:lvl1pPr>
          </a:lstStyle>
          <a:p>
            <a:r>
              <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景林</a:t>
            </a:r>
            <a:r>
              <a:rPr lang="zh-CN"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新老产品要素对比</a:t>
            </a:r>
            <a:endParaRPr lang="zh-CN" sz="2400" dirty="0">
              <a:solidFill>
                <a:schemeClr val="tx2">
                  <a:lumMod val="75000"/>
                </a:schemeClr>
              </a:solidFill>
              <a:latin typeface="等线" panose="02010600030101010101" charset="-122"/>
              <a:ea typeface="等线" panose="02010600030101010101" charset="-122"/>
              <a:cs typeface="等线" panose="02010600030101010101" charset="-122"/>
              <a:sym typeface="+mn-lt"/>
            </a:endParaRPr>
          </a:p>
        </p:txBody>
      </p:sp>
      <p:sp>
        <p:nvSpPr>
          <p:cNvPr id="10" name="文本框 9"/>
          <p:cNvSpPr txBox="1"/>
          <p:nvPr/>
        </p:nvSpPr>
        <p:spPr>
          <a:xfrm>
            <a:off x="1060450" y="6289040"/>
            <a:ext cx="9668510" cy="553085"/>
          </a:xfrm>
          <a:prstGeom prst="rect">
            <a:avLst/>
          </a:prstGeom>
          <a:noFill/>
        </p:spPr>
        <p:txBody>
          <a:bodyPr wrap="square" rtlCol="0" anchor="t">
            <a:spAutoFit/>
          </a:bodyPr>
          <a:lstStyle/>
          <a:p>
            <a:r>
              <a:rPr lang="en-US" altLang="zh-CN" sz="1000" dirty="0">
                <a:solidFill>
                  <a:srgbClr val="000000"/>
                </a:solidFill>
                <a:effectLst/>
                <a:latin typeface="+mn-ea"/>
                <a:sym typeface="+mn-ea"/>
              </a:rPr>
              <a:t>*</a:t>
            </a:r>
            <a:r>
              <a:rPr lang="zh-CN" altLang="en-US" sz="1000" dirty="0">
                <a:solidFill>
                  <a:srgbClr val="000000"/>
                </a:solidFill>
                <a:effectLst/>
                <a:latin typeface="+mn-ea"/>
                <a:sym typeface="+mn-ea"/>
              </a:rPr>
              <a:t>注：</a:t>
            </a:r>
            <a:r>
              <a:rPr lang="en-US" altLang="zh-TW" sz="1000" dirty="0">
                <a:latin typeface="+mn-ea"/>
                <a:sym typeface="+mn-ea"/>
              </a:rPr>
              <a:t>E</a:t>
            </a:r>
            <a:r>
              <a:rPr lang="zh-CN" altLang="en-US" sz="1000" dirty="0">
                <a:latin typeface="+mn-ea"/>
                <a:sym typeface="+mn-ea"/>
              </a:rPr>
              <a:t>类份额：</a:t>
            </a:r>
            <a:r>
              <a:rPr lang="zh-TW" altLang="en-US" sz="1000" dirty="0">
                <a:latin typeface="+mn-ea"/>
                <a:sym typeface="+mn-ea"/>
              </a:rPr>
              <a:t>锁定期</a:t>
            </a:r>
            <a:r>
              <a:rPr lang="en-US" altLang="zh-TW" sz="1000" dirty="0">
                <a:latin typeface="+mn-ea"/>
                <a:sym typeface="+mn-ea"/>
              </a:rPr>
              <a:t>36</a:t>
            </a:r>
            <a:r>
              <a:rPr lang="zh-TW" altLang="en-US" sz="1000" dirty="0">
                <a:latin typeface="+mn-ea"/>
                <a:sym typeface="+mn-ea"/>
              </a:rPr>
              <a:t>个月，锁定期内不能赎回。</a:t>
            </a:r>
            <a:r>
              <a:rPr lang="en-US" altLang="zh-TW" sz="1000" dirty="0">
                <a:latin typeface="+mn-ea"/>
                <a:sym typeface="+mn-ea"/>
              </a:rPr>
              <a:t>36</a:t>
            </a:r>
            <a:r>
              <a:rPr lang="zh-TW" altLang="en-US" sz="1000" dirty="0">
                <a:latin typeface="+mn-ea"/>
                <a:sym typeface="+mn-ea"/>
              </a:rPr>
              <a:t>个月后，将被自动转入</a:t>
            </a:r>
            <a:r>
              <a:rPr lang="en-US" altLang="zh-TW" sz="1000" dirty="0">
                <a:latin typeface="+mn-ea"/>
                <a:sym typeface="+mn-ea"/>
              </a:rPr>
              <a:t>D</a:t>
            </a:r>
            <a:r>
              <a:rPr lang="zh-TW" altLang="en-US" sz="1000" dirty="0">
                <a:latin typeface="+mn-ea"/>
                <a:sym typeface="+mn-ea"/>
              </a:rPr>
              <a:t>类基金份额（年管理费</a:t>
            </a:r>
            <a:r>
              <a:rPr lang="en-US" altLang="zh-TW" sz="1000" dirty="0">
                <a:latin typeface="+mn-ea"/>
                <a:sym typeface="+mn-ea"/>
              </a:rPr>
              <a:t>2%</a:t>
            </a:r>
            <a:r>
              <a:rPr lang="zh-TW" altLang="en-US" sz="1000" dirty="0">
                <a:latin typeface="+mn-ea"/>
                <a:sym typeface="+mn-ea"/>
              </a:rPr>
              <a:t>，表现费</a:t>
            </a:r>
            <a:r>
              <a:rPr lang="en-US" altLang="zh-TW" sz="1000" dirty="0">
                <a:latin typeface="+mn-ea"/>
                <a:sym typeface="+mn-ea"/>
              </a:rPr>
              <a:t>20%</a:t>
            </a:r>
            <a:r>
              <a:rPr lang="zh-TW" altLang="en-US" sz="1000" dirty="0">
                <a:latin typeface="+mn-ea"/>
                <a:sym typeface="+mn-ea"/>
              </a:rPr>
              <a:t>，豁免</a:t>
            </a:r>
            <a:r>
              <a:rPr lang="en-US" altLang="zh-TW" sz="1000" dirty="0">
                <a:latin typeface="+mn-ea"/>
                <a:sym typeface="+mn-ea"/>
              </a:rPr>
              <a:t>12</a:t>
            </a:r>
            <a:r>
              <a:rPr lang="zh-TW" altLang="en-US" sz="1000" dirty="0">
                <a:latin typeface="+mn-ea"/>
                <a:sym typeface="+mn-ea"/>
              </a:rPr>
              <a:t>个月锁定期）</a:t>
            </a:r>
            <a:r>
              <a:rPr lang="en-US" altLang="zh-TW" sz="1000" dirty="0">
                <a:latin typeface="+mn-ea"/>
                <a:sym typeface="+mn-ea"/>
              </a:rPr>
              <a:t>, </a:t>
            </a:r>
            <a:r>
              <a:rPr lang="zh-TW" altLang="en-US" sz="1000" dirty="0">
                <a:latin typeface="+mn-ea"/>
                <a:sym typeface="+mn-ea"/>
              </a:rPr>
              <a:t>除非届时提前</a:t>
            </a:r>
            <a:r>
              <a:rPr lang="en-US" altLang="zh-TW" sz="1000" dirty="0">
                <a:latin typeface="+mn-ea"/>
                <a:sym typeface="+mn-ea"/>
              </a:rPr>
              <a:t>35</a:t>
            </a:r>
            <a:r>
              <a:rPr lang="zh-TW" altLang="en-US" sz="1000" dirty="0">
                <a:latin typeface="+mn-ea"/>
                <a:sym typeface="+mn-ea"/>
              </a:rPr>
              <a:t>天通知可选择以下三个选项</a:t>
            </a:r>
            <a:r>
              <a:rPr lang="en-US" altLang="zh-TW" sz="1000" dirty="0">
                <a:latin typeface="+mn-ea"/>
                <a:sym typeface="+mn-ea"/>
              </a:rPr>
              <a:t>:</a:t>
            </a:r>
            <a:r>
              <a:rPr lang="zh-TW" altLang="en-US" sz="1000" dirty="0">
                <a:latin typeface="+mn-ea"/>
                <a:sym typeface="+mn-ea"/>
              </a:rPr>
              <a:t>（</a:t>
            </a:r>
            <a:r>
              <a:rPr lang="en-US" altLang="zh-TW" sz="1000" dirty="0">
                <a:latin typeface="+mn-ea"/>
                <a:sym typeface="+mn-ea"/>
              </a:rPr>
              <a:t>1</a:t>
            </a:r>
            <a:r>
              <a:rPr lang="zh-TW" altLang="en-US" sz="1000" dirty="0">
                <a:latin typeface="+mn-ea"/>
                <a:sym typeface="+mn-ea"/>
              </a:rPr>
              <a:t>）全部赎回；或（</a:t>
            </a:r>
            <a:r>
              <a:rPr lang="en-US" altLang="zh-TW" sz="1000" dirty="0">
                <a:latin typeface="+mn-ea"/>
                <a:sym typeface="+mn-ea"/>
              </a:rPr>
              <a:t>2</a:t>
            </a:r>
            <a:r>
              <a:rPr lang="zh-TW" altLang="en-US" sz="1000" dirty="0">
                <a:latin typeface="+mn-ea"/>
                <a:sym typeface="+mn-ea"/>
              </a:rPr>
              <a:t>）留在</a:t>
            </a:r>
            <a:r>
              <a:rPr lang="en-US" altLang="zh-TW" sz="1000" dirty="0">
                <a:latin typeface="+mn-ea"/>
                <a:sym typeface="+mn-ea"/>
              </a:rPr>
              <a:t>E</a:t>
            </a:r>
            <a:r>
              <a:rPr lang="zh-TW" altLang="en-US" sz="1000" dirty="0">
                <a:latin typeface="+mn-ea"/>
                <a:sym typeface="+mn-ea"/>
              </a:rPr>
              <a:t>类基金份额重新锁定</a:t>
            </a:r>
            <a:r>
              <a:rPr lang="en-US" altLang="zh-TW" sz="1000" dirty="0">
                <a:latin typeface="+mn-ea"/>
                <a:sym typeface="+mn-ea"/>
              </a:rPr>
              <a:t>36</a:t>
            </a:r>
            <a:r>
              <a:rPr lang="zh-TW" altLang="en-US" sz="1000" dirty="0">
                <a:latin typeface="+mn-ea"/>
                <a:sym typeface="+mn-ea"/>
              </a:rPr>
              <a:t>个月；或（</a:t>
            </a:r>
            <a:r>
              <a:rPr lang="en-US" altLang="zh-TW" sz="1000" dirty="0">
                <a:latin typeface="+mn-ea"/>
                <a:sym typeface="+mn-ea"/>
              </a:rPr>
              <a:t>3</a:t>
            </a:r>
            <a:r>
              <a:rPr lang="zh-TW" altLang="en-US" sz="1000" dirty="0">
                <a:latin typeface="+mn-ea"/>
                <a:sym typeface="+mn-ea"/>
              </a:rPr>
              <a:t>）若在</a:t>
            </a:r>
            <a:r>
              <a:rPr lang="en-US" altLang="zh-TW" sz="1000" dirty="0">
                <a:latin typeface="+mn-ea"/>
                <a:sym typeface="+mn-ea"/>
              </a:rPr>
              <a:t>A</a:t>
            </a:r>
            <a:r>
              <a:rPr lang="zh-TW" altLang="en-US" sz="1000" dirty="0">
                <a:latin typeface="+mn-ea"/>
                <a:sym typeface="+mn-ea"/>
              </a:rPr>
              <a:t>类基金份额保留最低</a:t>
            </a:r>
            <a:r>
              <a:rPr lang="en-US" altLang="zh-TW" sz="1000" dirty="0">
                <a:latin typeface="+mn-ea"/>
                <a:sym typeface="+mn-ea"/>
              </a:rPr>
              <a:t>25</a:t>
            </a:r>
            <a:r>
              <a:rPr lang="zh-TW" altLang="en-US" sz="1000" dirty="0">
                <a:latin typeface="+mn-ea"/>
                <a:sym typeface="+mn-ea"/>
              </a:rPr>
              <a:t>万美元，可从</a:t>
            </a:r>
            <a:r>
              <a:rPr lang="en-US" altLang="zh-TW" sz="1000" dirty="0">
                <a:latin typeface="+mn-ea"/>
                <a:sym typeface="+mn-ea"/>
              </a:rPr>
              <a:t>E</a:t>
            </a:r>
            <a:r>
              <a:rPr lang="zh-TW" altLang="en-US" sz="1000" dirty="0">
                <a:latin typeface="+mn-ea"/>
                <a:sym typeface="+mn-ea"/>
              </a:rPr>
              <a:t>类基金份额转回</a:t>
            </a:r>
            <a:r>
              <a:rPr lang="en-US" altLang="zh-TW" sz="1000" dirty="0">
                <a:latin typeface="+mn-ea"/>
                <a:sym typeface="+mn-ea"/>
              </a:rPr>
              <a:t>A</a:t>
            </a:r>
            <a:r>
              <a:rPr lang="zh-TW" altLang="en-US" sz="1000" dirty="0">
                <a:latin typeface="+mn-ea"/>
                <a:sym typeface="+mn-ea"/>
              </a:rPr>
              <a:t>类基金份额。</a:t>
            </a:r>
            <a:endParaRPr lang="zh-TW" altLang="en-US" sz="1000" b="0" dirty="0">
              <a:latin typeface="+mn-ea"/>
            </a:endParaRPr>
          </a:p>
          <a:p>
            <a:endParaRPr lang="zh-CN" altLang="en-US" sz="1000" dirty="0">
              <a:solidFill>
                <a:srgbClr val="000000"/>
              </a:solidFill>
              <a:effectLst/>
              <a:latin typeface="+mn-ea"/>
              <a:sym typeface="+mn-ea"/>
            </a:endParaRPr>
          </a:p>
        </p:txBody>
      </p:sp>
      <p:graphicFrame>
        <p:nvGraphicFramePr>
          <p:cNvPr id="3" name="Table 2"/>
          <p:cNvGraphicFramePr>
            <a:graphicFrameLocks noGrp="1"/>
          </p:cNvGraphicFramePr>
          <p:nvPr/>
        </p:nvGraphicFramePr>
        <p:xfrm>
          <a:off x="609022" y="835299"/>
          <a:ext cx="10400665" cy="5303520"/>
        </p:xfrm>
        <a:graphic>
          <a:graphicData uri="http://schemas.openxmlformats.org/drawingml/2006/table">
            <a:tbl>
              <a:tblPr/>
              <a:tblGrid>
                <a:gridCol w="1688430"/>
                <a:gridCol w="2904098"/>
                <a:gridCol w="2904098"/>
                <a:gridCol w="2904098"/>
              </a:tblGrid>
              <a:tr h="234927">
                <a:tc rowSpan="3">
                  <a:txBody>
                    <a:bodyPr/>
                    <a:lstStyle/>
                    <a:p>
                      <a:pPr algn="ctr" fontAlgn="ctr"/>
                      <a:r>
                        <a:rPr lang="zh-HK" altLang="en-US" sz="2000" b="0" i="0" u="none" strike="noStrike" dirty="0">
                          <a:solidFill>
                            <a:srgbClr val="000000"/>
                          </a:solidFill>
                          <a:effectLst/>
                          <a:latin typeface="Arial" panose="020B0604020202020204" pitchFamily="34" charset="0"/>
                        </a:rPr>
                        <a:t>　</a:t>
                      </a:r>
                      <a:endParaRPr lang="zh-HK" altLang="en-US" sz="2000" b="0" i="0" u="none" strike="noStrike" dirty="0">
                        <a:solidFill>
                          <a:srgbClr val="000000"/>
                        </a:solidFill>
                        <a:effectLst/>
                        <a:latin typeface="Arial" panose="020B060402020202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ctr" rtl="0" fontAlgn="ctr"/>
                      <a:r>
                        <a:rPr lang="zh-CN" altLang="en-US" sz="1200" b="1" i="0" u="none" strike="noStrike" dirty="0">
                          <a:solidFill>
                            <a:srgbClr val="000000"/>
                          </a:solidFill>
                          <a:effectLst/>
                          <a:latin typeface="等线" panose="02010600030101010101" charset="-122"/>
                          <a:ea typeface="等线" panose="02010600030101010101" charset="-122"/>
                        </a:rPr>
                        <a:t>景林金色中国</a:t>
                      </a:r>
                      <a:endParaRPr lang="zh-CN" altLang="en-US" sz="1200" b="1" i="0" u="none" strike="noStrike" dirty="0">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hMerge="1">
                  <a:tcPr/>
                </a:tc>
                <a:tc>
                  <a:txBody>
                    <a:bodyPr/>
                    <a:lstStyle/>
                    <a:p>
                      <a:pPr algn="ctr" rtl="0" fontAlgn="ctr"/>
                      <a:r>
                        <a:rPr lang="zh-CN" altLang="en-US" sz="1200" b="1" i="0" u="none" strike="noStrike" dirty="0">
                          <a:solidFill>
                            <a:srgbClr val="000000"/>
                          </a:solidFill>
                          <a:effectLst/>
                          <a:latin typeface="等线" panose="02010600030101010101" charset="-122"/>
                          <a:ea typeface="等线" panose="02010600030101010101" charset="-122"/>
                        </a:rPr>
                        <a:t>景林环球基金</a:t>
                      </a:r>
                      <a:endParaRPr lang="zh-CN" altLang="en-US" sz="1200" b="1" i="0" u="none" strike="noStrike" dirty="0">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r>
              <a:tr h="234927">
                <a:tc vMerge="1">
                  <a:tcPr/>
                </a:tc>
                <a:tc gridSpan="2">
                  <a:txBody>
                    <a:bodyPr/>
                    <a:lstStyle/>
                    <a:p>
                      <a:pPr algn="ctr" rtl="0" fontAlgn="ctr"/>
                      <a:r>
                        <a:rPr lang="zh-CN" altLang="en-US" sz="1200" b="1" i="0" u="none" strike="noStrike" dirty="0">
                          <a:solidFill>
                            <a:srgbClr val="000000"/>
                          </a:solidFill>
                          <a:effectLst/>
                          <a:latin typeface="等线" panose="02010600030101010101" charset="-122"/>
                          <a:ea typeface="等线" panose="02010600030101010101" charset="-122"/>
                        </a:rPr>
                        <a:t>（存续老产品）</a:t>
                      </a:r>
                      <a:endParaRPr lang="zh-CN" altLang="en-US" sz="1200" b="1" i="0" u="none" strike="noStrike" dirty="0">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hMerge="1">
                  <a:tcPr/>
                </a:tc>
                <a:tc>
                  <a:txBody>
                    <a:bodyPr/>
                    <a:lstStyle/>
                    <a:p>
                      <a:pPr algn="ctr" rtl="0" fontAlgn="ctr"/>
                      <a:r>
                        <a:rPr lang="zh-CN" altLang="en-US" sz="1200" b="1" i="0" u="none" strike="noStrike" dirty="0">
                          <a:solidFill>
                            <a:srgbClr val="FF0000"/>
                          </a:solidFill>
                          <a:effectLst/>
                          <a:latin typeface="等线" panose="02010600030101010101" charset="-122"/>
                          <a:ea typeface="等线" panose="02010600030101010101" charset="-122"/>
                        </a:rPr>
                        <a:t>（本次拟上线，档期</a:t>
                      </a:r>
                      <a:r>
                        <a:rPr lang="en-US" altLang="zh-CN" sz="1200" b="1" i="0" u="none" strike="noStrike" dirty="0">
                          <a:solidFill>
                            <a:srgbClr val="FF0000"/>
                          </a:solidFill>
                          <a:effectLst/>
                          <a:latin typeface="等线" panose="02010600030101010101" charset="-122"/>
                          <a:ea typeface="等线" panose="02010600030101010101" charset="-122"/>
                        </a:rPr>
                        <a:t>3.17-3.28</a:t>
                      </a:r>
                      <a:r>
                        <a:rPr lang="zh-CN" altLang="en-US" sz="1200" b="1" i="0" u="none" strike="noStrike" dirty="0">
                          <a:solidFill>
                            <a:srgbClr val="FF0000"/>
                          </a:solidFill>
                          <a:effectLst/>
                          <a:latin typeface="等线" panose="02010600030101010101" charset="-122"/>
                          <a:ea typeface="等线" panose="02010600030101010101" charset="-122"/>
                        </a:rPr>
                        <a:t>）</a:t>
                      </a:r>
                      <a:endParaRPr lang="zh-CN" altLang="en-US" sz="1200" b="1" i="0" u="none" strike="noStrike" dirty="0">
                        <a:solidFill>
                          <a:srgbClr val="FF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r>
              <a:tr h="262255">
                <a:tc vMerge="1">
                  <a:tcPr/>
                </a:tc>
                <a:tc>
                  <a:txBody>
                    <a:bodyPr/>
                    <a:lstStyle/>
                    <a:p>
                      <a:pPr algn="ctr" rtl="0" fontAlgn="ctr"/>
                      <a:r>
                        <a:rPr lang="en-US" sz="1100" b="1" i="0" u="none" strike="noStrike">
                          <a:solidFill>
                            <a:srgbClr val="000000"/>
                          </a:solidFill>
                          <a:effectLst/>
                          <a:latin typeface="等线" panose="02010600030101010101" charset="-122"/>
                          <a:ea typeface="等线" panose="02010600030101010101" charset="-122"/>
                        </a:rPr>
                        <a:t>A</a:t>
                      </a:r>
                      <a:r>
                        <a:rPr lang="zh-HK" altLang="en-US" sz="1100" b="1" i="0" u="none" strike="noStrike">
                          <a:solidFill>
                            <a:srgbClr val="000000"/>
                          </a:solidFill>
                          <a:effectLst/>
                          <a:latin typeface="等线" panose="02010600030101010101" charset="-122"/>
                          <a:ea typeface="等线" panose="02010600030101010101" charset="-122"/>
                        </a:rPr>
                        <a:t>份额</a:t>
                      </a:r>
                      <a:endParaRPr lang="zh-HK" altLang="en-US" sz="1100" b="1" i="0" u="none" strike="noStrike">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sz="1100" b="1" i="0" u="none" strike="noStrike" dirty="0">
                          <a:solidFill>
                            <a:srgbClr val="000000"/>
                          </a:solidFill>
                          <a:effectLst/>
                          <a:latin typeface="等线" panose="02010600030101010101" charset="-122"/>
                          <a:ea typeface="等线" panose="02010600030101010101" charset="-122"/>
                        </a:rPr>
                        <a:t>E</a:t>
                      </a:r>
                      <a:r>
                        <a:rPr lang="zh-HK" altLang="en-US" sz="1100" b="1" i="0" u="none" strike="noStrike" dirty="0">
                          <a:solidFill>
                            <a:srgbClr val="000000"/>
                          </a:solidFill>
                          <a:effectLst/>
                          <a:latin typeface="等线" panose="02010600030101010101" charset="-122"/>
                          <a:ea typeface="等线" panose="02010600030101010101" charset="-122"/>
                        </a:rPr>
                        <a:t>份额</a:t>
                      </a:r>
                      <a:endParaRPr lang="zh-HK" altLang="en-US" sz="1100" b="1" i="0" u="none" strike="noStrike" dirty="0">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altLang="zh-CN" sz="1100" b="1" i="0" u="none" strike="noStrike" dirty="0">
                          <a:solidFill>
                            <a:srgbClr val="000000"/>
                          </a:solidFill>
                          <a:effectLst/>
                          <a:latin typeface="等线" panose="02010600030101010101" charset="-122"/>
                          <a:ea typeface="等线" panose="02010600030101010101" charset="-122"/>
                        </a:rPr>
                        <a:t>A</a:t>
                      </a:r>
                      <a:r>
                        <a:rPr lang="zh-CN" altLang="en-US" sz="1100" b="1" i="0" u="none" strike="noStrike" dirty="0" smtClean="0">
                          <a:solidFill>
                            <a:srgbClr val="000000"/>
                          </a:solidFill>
                          <a:effectLst/>
                          <a:latin typeface="等线" panose="02010600030101010101" charset="-122"/>
                          <a:ea typeface="等线" panose="02010600030101010101" charset="-122"/>
                        </a:rPr>
                        <a:t>份额</a:t>
                      </a:r>
                      <a:endParaRPr lang="zh-CN" altLang="en-US" sz="1100" b="1" i="0" u="none" strike="noStrike" dirty="0">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r>
              <a:tr h="234927">
                <a:tc>
                  <a:txBody>
                    <a:bodyPr/>
                    <a:lstStyle/>
                    <a:p>
                      <a:pPr algn="ctr" rtl="0" fontAlgn="ctr"/>
                      <a:r>
                        <a:rPr lang="zh-CN" altLang="en-US" sz="1100" b="1" i="0" u="none" strike="noStrike">
                          <a:solidFill>
                            <a:srgbClr val="000000"/>
                          </a:solidFill>
                          <a:effectLst/>
                          <a:latin typeface="等线" panose="02010600030101010101" charset="-122"/>
                          <a:ea typeface="等线" panose="02010600030101010101" charset="-122"/>
                        </a:rPr>
                        <a:t>起投</a:t>
                      </a:r>
                      <a:r>
                        <a:rPr lang="en-US" altLang="zh-CN" sz="1100" b="1" i="0" u="none" strike="noStrike">
                          <a:solidFill>
                            <a:srgbClr val="000000"/>
                          </a:solidFill>
                          <a:effectLst/>
                          <a:latin typeface="等线" panose="02010600030101010101" charset="-122"/>
                          <a:ea typeface="等线" panose="02010600030101010101" charset="-122"/>
                        </a:rPr>
                        <a:t>/</a:t>
                      </a:r>
                      <a:r>
                        <a:rPr lang="zh-CN" altLang="en-US" sz="1100" b="1" i="0" u="none" strike="noStrike">
                          <a:solidFill>
                            <a:srgbClr val="000000"/>
                          </a:solidFill>
                          <a:effectLst/>
                          <a:latin typeface="等线" panose="02010600030101010101" charset="-122"/>
                          <a:ea typeface="等线" panose="02010600030101010101" charset="-122"/>
                        </a:rPr>
                        <a:t>追加金额</a:t>
                      </a:r>
                      <a:endParaRPr lang="zh-CN" altLang="en-US" sz="1100" b="1" i="0" u="none" strike="noStrike">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HK" sz="1100" b="1" i="0" u="none" strike="noStrike">
                          <a:solidFill>
                            <a:srgbClr val="000000"/>
                          </a:solidFill>
                          <a:effectLst/>
                          <a:latin typeface="等线" panose="02010600030101010101" charset="-122"/>
                          <a:ea typeface="等线" panose="02010600030101010101" charset="-122"/>
                        </a:rPr>
                        <a:t>$ 50</a:t>
                      </a:r>
                      <a:r>
                        <a:rPr lang="zh-HK" altLang="en-US" sz="1100" b="1" i="0" u="none" strike="noStrike">
                          <a:solidFill>
                            <a:srgbClr val="000000"/>
                          </a:solidFill>
                          <a:effectLst/>
                          <a:latin typeface="等线" panose="02010600030101010101" charset="-122"/>
                          <a:ea typeface="等线" panose="02010600030101010101" charset="-122"/>
                        </a:rPr>
                        <a:t>万</a:t>
                      </a:r>
                      <a:r>
                        <a:rPr lang="en-US" altLang="zh-HK" sz="1100" b="1" i="0" u="none" strike="noStrike">
                          <a:solidFill>
                            <a:srgbClr val="000000"/>
                          </a:solidFill>
                          <a:effectLst/>
                          <a:latin typeface="等线" panose="02010600030101010101" charset="-122"/>
                          <a:ea typeface="等线" panose="02010600030101010101" charset="-122"/>
                        </a:rPr>
                        <a:t>/10</a:t>
                      </a:r>
                      <a:r>
                        <a:rPr lang="zh-HK" altLang="en-US" sz="1100" b="1" i="0" u="none" strike="noStrike">
                          <a:solidFill>
                            <a:srgbClr val="000000"/>
                          </a:solidFill>
                          <a:effectLst/>
                          <a:latin typeface="等线" panose="02010600030101010101" charset="-122"/>
                          <a:ea typeface="等线" panose="02010600030101010101" charset="-122"/>
                        </a:rPr>
                        <a:t>万</a:t>
                      </a:r>
                      <a:endParaRPr lang="zh-HK" altLang="en-US" sz="1100" b="1" i="0" u="none" strike="noStrike">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altLang="zh-HK" sz="1100" b="1" i="0" u="none" strike="noStrike" dirty="0">
                          <a:solidFill>
                            <a:srgbClr val="000000"/>
                          </a:solidFill>
                          <a:effectLst/>
                          <a:latin typeface="等线" panose="02010600030101010101" charset="-122"/>
                          <a:ea typeface="等线" panose="02010600030101010101" charset="-122"/>
                        </a:rPr>
                        <a:t>$ 105</a:t>
                      </a:r>
                      <a:r>
                        <a:rPr lang="zh-HK" altLang="en-US" sz="1100" b="1" i="0" u="none" strike="noStrike" dirty="0">
                          <a:solidFill>
                            <a:srgbClr val="000000"/>
                          </a:solidFill>
                          <a:effectLst/>
                          <a:latin typeface="等线" panose="02010600030101010101" charset="-122"/>
                          <a:ea typeface="等线" panose="02010600030101010101" charset="-122"/>
                        </a:rPr>
                        <a:t>万</a:t>
                      </a:r>
                      <a:r>
                        <a:rPr lang="en-US" altLang="zh-HK" sz="1100" b="1" i="0" u="none" strike="noStrike" dirty="0">
                          <a:solidFill>
                            <a:srgbClr val="000000"/>
                          </a:solidFill>
                          <a:effectLst/>
                          <a:latin typeface="等线" panose="02010600030101010101" charset="-122"/>
                          <a:ea typeface="等线" panose="02010600030101010101" charset="-122"/>
                        </a:rPr>
                        <a:t>/10</a:t>
                      </a:r>
                      <a:r>
                        <a:rPr lang="zh-HK" altLang="en-US" sz="1100" b="1" i="0" u="none" strike="noStrike" dirty="0">
                          <a:solidFill>
                            <a:srgbClr val="000000"/>
                          </a:solidFill>
                          <a:effectLst/>
                          <a:latin typeface="等线" panose="02010600030101010101" charset="-122"/>
                          <a:ea typeface="等线" panose="02010600030101010101" charset="-122"/>
                        </a:rPr>
                        <a:t>万</a:t>
                      </a:r>
                      <a:endParaRPr lang="zh-HK" altLang="en-US" sz="1100" b="1" i="0" u="none" strike="noStrike" dirty="0">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altLang="zh-HK" sz="1100" b="1" i="0" u="none" strike="noStrike" dirty="0">
                          <a:solidFill>
                            <a:srgbClr val="000000"/>
                          </a:solidFill>
                          <a:effectLst/>
                          <a:latin typeface="等线" panose="02010600030101010101" charset="-122"/>
                          <a:ea typeface="等线" panose="02010600030101010101" charset="-122"/>
                        </a:rPr>
                        <a:t>$ </a:t>
                      </a:r>
                      <a:r>
                        <a:rPr lang="en-US" altLang="zh-HK" sz="1100" b="1" i="0" u="none" strike="noStrike" dirty="0" smtClean="0">
                          <a:solidFill>
                            <a:srgbClr val="000000"/>
                          </a:solidFill>
                          <a:effectLst/>
                          <a:latin typeface="等线" panose="02010600030101010101" charset="-122"/>
                          <a:ea typeface="等线" panose="02010600030101010101" charset="-122"/>
                        </a:rPr>
                        <a:t>25</a:t>
                      </a:r>
                      <a:r>
                        <a:rPr lang="zh-HK" altLang="en-US" sz="1100" b="1" i="0" u="none" strike="noStrike" dirty="0">
                          <a:solidFill>
                            <a:srgbClr val="000000"/>
                          </a:solidFill>
                          <a:effectLst/>
                          <a:latin typeface="等线" panose="02010600030101010101" charset="-122"/>
                          <a:ea typeface="等线" panose="02010600030101010101" charset="-122"/>
                        </a:rPr>
                        <a:t>万</a:t>
                      </a:r>
                      <a:r>
                        <a:rPr lang="en-US" altLang="zh-HK" sz="1100" b="1" i="0" u="none" strike="noStrike" dirty="0">
                          <a:solidFill>
                            <a:srgbClr val="000000"/>
                          </a:solidFill>
                          <a:effectLst/>
                          <a:latin typeface="等线" panose="02010600030101010101" charset="-122"/>
                          <a:ea typeface="等线" panose="02010600030101010101" charset="-122"/>
                        </a:rPr>
                        <a:t>/</a:t>
                      </a:r>
                      <a:r>
                        <a:rPr lang="en-US" altLang="zh-HK" sz="1100" b="1" i="0" u="none" strike="noStrike" dirty="0" smtClean="0">
                          <a:solidFill>
                            <a:srgbClr val="000000"/>
                          </a:solidFill>
                          <a:effectLst/>
                          <a:latin typeface="等线" panose="02010600030101010101" charset="-122"/>
                          <a:ea typeface="等线" panose="02010600030101010101" charset="-122"/>
                        </a:rPr>
                        <a:t>1</a:t>
                      </a:r>
                      <a:r>
                        <a:rPr lang="zh-HK" altLang="en-US" sz="1100" b="1" i="0" u="none" strike="noStrike" dirty="0" smtClean="0">
                          <a:solidFill>
                            <a:srgbClr val="000000"/>
                          </a:solidFill>
                          <a:effectLst/>
                          <a:latin typeface="等线" panose="02010600030101010101" charset="-122"/>
                          <a:ea typeface="等线" panose="02010600030101010101" charset="-122"/>
                        </a:rPr>
                        <a:t>万</a:t>
                      </a:r>
                      <a:endParaRPr lang="zh-HK" altLang="en-US" sz="1100" b="1" i="0" u="none" strike="noStrike" dirty="0">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r>
              <a:tr h="442595">
                <a:tc rowSpan="3">
                  <a:txBody>
                    <a:bodyPr/>
                    <a:lstStyle/>
                    <a:p>
                      <a:pPr algn="ctr" rtl="0" fontAlgn="ctr"/>
                      <a:r>
                        <a:rPr lang="zh-HK" altLang="en-US" sz="1100" b="1" i="0" u="none" strike="noStrike">
                          <a:solidFill>
                            <a:srgbClr val="000000"/>
                          </a:solidFill>
                          <a:effectLst/>
                          <a:latin typeface="等线" panose="02010600030101010101" charset="-122"/>
                          <a:ea typeface="等线" panose="02010600030101010101" charset="-122"/>
                        </a:rPr>
                        <a:t>费率</a:t>
                      </a:r>
                      <a:endParaRPr lang="zh-HK" altLang="en-US" sz="1100" b="1" i="0" u="none" strike="noStrike">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r>
                        <a:rPr lang="en-US" altLang="zh-CN" sz="1100" b="0" i="0" u="none" strike="noStrike">
                          <a:solidFill>
                            <a:srgbClr val="000000"/>
                          </a:solidFill>
                          <a:effectLst/>
                          <a:latin typeface="Arial" panose="020B0604020202020204" pitchFamily="34" charset="0"/>
                        </a:rPr>
                        <a:t>•</a:t>
                      </a:r>
                      <a:r>
                        <a:rPr lang="zh-CN" altLang="en-US" sz="1100" b="1" i="0" u="none" strike="noStrike">
                          <a:solidFill>
                            <a:srgbClr val="000000"/>
                          </a:solidFill>
                          <a:effectLst/>
                          <a:latin typeface="等线" panose="02010600030101010101" charset="-122"/>
                          <a:ea typeface="等线" panose="02010600030101010101" charset="-122"/>
                        </a:rPr>
                        <a:t>认购费</a:t>
                      </a:r>
                      <a:r>
                        <a:rPr lang="en-US" altLang="zh-CN" sz="1100" b="1" i="0" u="none" strike="noStrike">
                          <a:solidFill>
                            <a:srgbClr val="000000"/>
                          </a:solidFill>
                          <a:effectLst/>
                          <a:latin typeface="等线" panose="02010600030101010101" charset="-122"/>
                          <a:ea typeface="等线" panose="02010600030101010101" charset="-122"/>
                        </a:rPr>
                        <a:t>1%</a:t>
                      </a:r>
                      <a:r>
                        <a:rPr lang="zh-CN" altLang="en-US" sz="1100" b="0" i="0" u="none" strike="noStrike">
                          <a:solidFill>
                            <a:srgbClr val="000000"/>
                          </a:solidFill>
                          <a:effectLst/>
                          <a:latin typeface="等线" panose="02010600030101010101" charset="-122"/>
                          <a:ea typeface="等线" panose="02010600030101010101" charset="-122"/>
                        </a:rPr>
                        <a:t>（</a:t>
                      </a:r>
                      <a:r>
                        <a:rPr lang="en-US" altLang="zh-CN" sz="1100" b="0" i="0" u="none" strike="noStrike">
                          <a:solidFill>
                            <a:srgbClr val="000000"/>
                          </a:solidFill>
                          <a:effectLst/>
                          <a:latin typeface="等线" panose="02010600030101010101" charset="-122"/>
                          <a:ea typeface="等线" panose="02010600030101010101" charset="-122"/>
                        </a:rPr>
                        <a:t>ARK </a:t>
                      </a:r>
                      <a:r>
                        <a:rPr lang="zh-CN" altLang="en-US" sz="1100" b="0" i="0" u="none" strike="noStrike">
                          <a:solidFill>
                            <a:srgbClr val="000000"/>
                          </a:solidFill>
                          <a:effectLst/>
                          <a:latin typeface="等线" panose="02010600030101010101" charset="-122"/>
                          <a:ea typeface="等线" panose="02010600030101010101" charset="-122"/>
                        </a:rPr>
                        <a:t>收取）</a:t>
                      </a:r>
                      <a:endParaRPr lang="zh-CN" altLang="en-US" sz="1100" b="0" i="0" u="none" strike="noStrike">
                        <a:solidFill>
                          <a:srgbClr val="000000"/>
                        </a:solidFill>
                        <a:effectLst/>
                        <a:latin typeface="Arial" panose="020B0604020202020204" pitchFamily="34" charset="0"/>
                      </a:endParaRPr>
                    </a:p>
                  </a:txBody>
                  <a:tcPr marL="1143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ctr"/>
                      <a:r>
                        <a:rPr lang="en-US" altLang="zh-CN" sz="1100" b="0" i="0" u="none" strike="noStrike">
                          <a:solidFill>
                            <a:srgbClr val="000000"/>
                          </a:solidFill>
                          <a:effectLst/>
                          <a:latin typeface="Arial" panose="020B0604020202020204" pitchFamily="34" charset="0"/>
                        </a:rPr>
                        <a:t>•</a:t>
                      </a:r>
                      <a:r>
                        <a:rPr lang="zh-CN" altLang="en-US" sz="1100" b="1" i="0" u="none" strike="noStrike">
                          <a:solidFill>
                            <a:srgbClr val="000000"/>
                          </a:solidFill>
                          <a:effectLst/>
                          <a:latin typeface="等线" panose="02010600030101010101" charset="-122"/>
                          <a:ea typeface="等线" panose="02010600030101010101" charset="-122"/>
                        </a:rPr>
                        <a:t>认购费</a:t>
                      </a:r>
                      <a:r>
                        <a:rPr lang="en-US" altLang="zh-CN" sz="1100" b="1" i="0" u="none" strike="noStrike">
                          <a:solidFill>
                            <a:srgbClr val="000000"/>
                          </a:solidFill>
                          <a:effectLst/>
                          <a:latin typeface="等线" panose="02010600030101010101" charset="-122"/>
                          <a:ea typeface="等线" panose="02010600030101010101" charset="-122"/>
                        </a:rPr>
                        <a:t>1%</a:t>
                      </a:r>
                      <a:r>
                        <a:rPr lang="zh-CN" altLang="en-US" sz="1100" b="0" i="0" u="none" strike="noStrike">
                          <a:solidFill>
                            <a:srgbClr val="000000"/>
                          </a:solidFill>
                          <a:effectLst/>
                          <a:latin typeface="等线" panose="02010600030101010101" charset="-122"/>
                          <a:ea typeface="等线" panose="02010600030101010101" charset="-122"/>
                        </a:rPr>
                        <a:t>（</a:t>
                      </a:r>
                      <a:r>
                        <a:rPr lang="en-US" altLang="zh-CN" sz="1100" b="0" i="0" u="none" strike="noStrike">
                          <a:solidFill>
                            <a:srgbClr val="000000"/>
                          </a:solidFill>
                          <a:effectLst/>
                          <a:latin typeface="等线" panose="02010600030101010101" charset="-122"/>
                          <a:ea typeface="等线" panose="02010600030101010101" charset="-122"/>
                        </a:rPr>
                        <a:t>ARK </a:t>
                      </a:r>
                      <a:r>
                        <a:rPr lang="zh-CN" altLang="en-US" sz="1100" b="0" i="0" u="none" strike="noStrike">
                          <a:solidFill>
                            <a:srgbClr val="000000"/>
                          </a:solidFill>
                          <a:effectLst/>
                          <a:latin typeface="等线" panose="02010600030101010101" charset="-122"/>
                          <a:ea typeface="等线" panose="02010600030101010101" charset="-122"/>
                        </a:rPr>
                        <a:t>收取）</a:t>
                      </a:r>
                      <a:endParaRPr lang="zh-CN" altLang="en-US" sz="1100" b="0" i="0" u="none" strike="noStrike">
                        <a:solidFill>
                          <a:srgbClr val="000000"/>
                        </a:solidFill>
                        <a:effectLst/>
                        <a:latin typeface="Arial" panose="020B0604020202020204" pitchFamily="34" charset="0"/>
                      </a:endParaRPr>
                    </a:p>
                  </a:txBody>
                  <a:tcPr marL="1143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ctr">
                        <a:buClrTx/>
                        <a:buSzTx/>
                        <a:buFontTx/>
                      </a:pPr>
                      <a:r>
                        <a:rPr lang="zh-CN" altLang="en-US" sz="1100" b="1" i="0" u="none" strike="noStrike">
                          <a:solidFill>
                            <a:srgbClr val="000000"/>
                          </a:solidFill>
                          <a:effectLst/>
                          <a:latin typeface="等线" panose="02010600030101010101" charset="-122"/>
                          <a:ea typeface="等线" panose="02010600030101010101" charset="-122"/>
                        </a:rPr>
                        <a:t>•</a:t>
                      </a:r>
                      <a:r>
                        <a:rPr lang="en-US" altLang="zh-CN" sz="1100" b="1" i="0" u="none" strike="noStrike">
                          <a:solidFill>
                            <a:srgbClr val="000000"/>
                          </a:solidFill>
                          <a:effectLst/>
                          <a:latin typeface="等线" panose="02010600030101010101" charset="-122"/>
                          <a:ea typeface="等线" panose="02010600030101010101" charset="-122"/>
                        </a:rPr>
                        <a:t> </a:t>
                      </a:r>
                      <a:r>
                        <a:rPr lang="zh-CN" altLang="en-US" sz="1100" b="1" i="0" u="none" strike="noStrike">
                          <a:solidFill>
                            <a:srgbClr val="000000"/>
                          </a:solidFill>
                          <a:effectLst/>
                          <a:latin typeface="等线" panose="02010600030101010101" charset="-122"/>
                          <a:ea typeface="等线" panose="02010600030101010101" charset="-122"/>
                        </a:rPr>
                        <a:t>新客户：认购费1%</a:t>
                      </a:r>
                      <a:r>
                        <a:rPr lang="zh-CN" altLang="en-US" sz="1100" b="0" i="0" u="none" strike="noStrike">
                          <a:solidFill>
                            <a:srgbClr val="000000"/>
                          </a:solidFill>
                          <a:effectLst/>
                          <a:latin typeface="等线" panose="02010600030101010101" charset="-122"/>
                          <a:ea typeface="等线" panose="02010600030101010101" charset="-122"/>
                        </a:rPr>
                        <a:t>（ARK 收取）</a:t>
                      </a:r>
                      <a:endParaRPr lang="zh-CN" altLang="en-US" sz="1100" b="0" i="0" u="none" strike="noStrike">
                        <a:solidFill>
                          <a:srgbClr val="000000"/>
                        </a:solidFill>
                        <a:effectLst/>
                        <a:latin typeface="等线" panose="02010600030101010101" charset="-122"/>
                        <a:ea typeface="等线" panose="02010600030101010101" charset="-122"/>
                      </a:endParaRPr>
                    </a:p>
                    <a:p>
                      <a:pPr algn="l" rtl="0" fontAlgn="ctr">
                        <a:buClrTx/>
                        <a:buSzTx/>
                        <a:buFontTx/>
                      </a:pPr>
                      <a:r>
                        <a:rPr lang="zh-CN" altLang="en-US" sz="1100" b="1">
                          <a:solidFill>
                            <a:srgbClr val="000000"/>
                          </a:solidFill>
                          <a:effectLst/>
                          <a:latin typeface="等线" panose="02010600030101010101" charset="-122"/>
                          <a:ea typeface="等线" panose="02010600030101010101" charset="-122"/>
                          <a:sym typeface="+mn-ea"/>
                        </a:rPr>
                        <a:t>•</a:t>
                      </a:r>
                      <a:r>
                        <a:rPr lang="en-US" altLang="zh-CN" sz="1100" b="1">
                          <a:solidFill>
                            <a:srgbClr val="000000"/>
                          </a:solidFill>
                          <a:effectLst/>
                          <a:latin typeface="等线" panose="02010600030101010101" charset="-122"/>
                          <a:ea typeface="等线" panose="02010600030101010101" charset="-122"/>
                          <a:sym typeface="+mn-ea"/>
                        </a:rPr>
                        <a:t> </a:t>
                      </a:r>
                      <a:r>
                        <a:rPr lang="zh-CN" altLang="en-US" sz="1100" b="1">
                          <a:solidFill>
                            <a:srgbClr val="000000"/>
                          </a:solidFill>
                          <a:effectLst/>
                          <a:latin typeface="等线" panose="02010600030101010101" charset="-122"/>
                          <a:ea typeface="等线" panose="02010600030101010101" charset="-122"/>
                          <a:sym typeface="+mn-ea"/>
                        </a:rPr>
                        <a:t>老客户：</a:t>
                      </a:r>
                      <a:r>
                        <a:rPr lang="zh-CN" altLang="en-US" sz="1100" b="1" i="0" u="none" strike="noStrike">
                          <a:solidFill>
                            <a:srgbClr val="000000"/>
                          </a:solidFill>
                          <a:effectLst/>
                          <a:latin typeface="等线" panose="02010600030101010101" charset="-122"/>
                          <a:ea typeface="等线" panose="02010600030101010101" charset="-122"/>
                        </a:rPr>
                        <a:t>转换交易费0.5%</a:t>
                      </a:r>
                      <a:r>
                        <a:rPr lang="zh-CN" altLang="en-US" sz="1100" b="0" i="0" u="none" strike="noStrike">
                          <a:solidFill>
                            <a:srgbClr val="000000"/>
                          </a:solidFill>
                          <a:effectLst/>
                          <a:latin typeface="等线" panose="02010600030101010101" charset="-122"/>
                          <a:ea typeface="等线" panose="02010600030101010101" charset="-122"/>
                        </a:rPr>
                        <a:t>（</a:t>
                      </a:r>
                      <a:r>
                        <a:rPr lang="zh-CN" altLang="en-US" sz="1100" b="0">
                          <a:solidFill>
                            <a:srgbClr val="000000"/>
                          </a:solidFill>
                          <a:effectLst/>
                          <a:latin typeface="等线" panose="02010600030101010101" charset="-122"/>
                          <a:ea typeface="等线" panose="02010600030101010101" charset="-122"/>
                          <a:sym typeface="+mn-ea"/>
                        </a:rPr>
                        <a:t>ARK 收取</a:t>
                      </a:r>
                      <a:r>
                        <a:rPr lang="zh-CN" altLang="en-US" sz="1100" b="0" i="0" u="none" strike="noStrike">
                          <a:solidFill>
                            <a:srgbClr val="000000"/>
                          </a:solidFill>
                          <a:effectLst/>
                          <a:latin typeface="等线" panose="02010600030101010101" charset="-122"/>
                          <a:ea typeface="等线" panose="02010600030101010101" charset="-122"/>
                        </a:rPr>
                        <a:t>）</a:t>
                      </a:r>
                      <a:endParaRPr lang="zh-CN" altLang="en-US" sz="1100" b="0" i="0" u="none" strike="noStrike">
                        <a:solidFill>
                          <a:srgbClr val="000000"/>
                        </a:solidFill>
                        <a:effectLst/>
                        <a:latin typeface="等线" panose="02010600030101010101" charset="-122"/>
                        <a:ea typeface="等线" panose="02010600030101010101" charset="-122"/>
                      </a:endParaRPr>
                    </a:p>
                  </a:txBody>
                  <a:tcPr marL="1143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r>
              <a:tr h="732155">
                <a:tc vMerge="1">
                  <a:tcPr/>
                </a:tc>
                <a:tc>
                  <a:txBody>
                    <a:bodyPr/>
                    <a:lstStyle/>
                    <a:p>
                      <a:pPr algn="l" rtl="0" fontAlgn="ctr"/>
                      <a:r>
                        <a:rPr lang="en-US" altLang="zh-CN" sz="1100" b="0" i="0" u="none" strike="noStrike">
                          <a:solidFill>
                            <a:srgbClr val="000000"/>
                          </a:solidFill>
                          <a:effectLst/>
                          <a:latin typeface="Arial" panose="020B0604020202020204" pitchFamily="34" charset="0"/>
                        </a:rPr>
                        <a:t>•</a:t>
                      </a:r>
                      <a:r>
                        <a:rPr lang="zh-CN" altLang="en-US" sz="1100" b="1" i="0" u="none" strike="noStrike">
                          <a:solidFill>
                            <a:srgbClr val="000000"/>
                          </a:solidFill>
                          <a:effectLst/>
                          <a:latin typeface="等线" panose="02010600030101010101" charset="-122"/>
                          <a:ea typeface="等线" panose="02010600030101010101" charset="-122"/>
                        </a:rPr>
                        <a:t>管理费</a:t>
                      </a:r>
                      <a:r>
                        <a:rPr lang="en-US" altLang="zh-CN" sz="1100" b="1" i="0" u="none" strike="noStrike">
                          <a:solidFill>
                            <a:srgbClr val="000000"/>
                          </a:solidFill>
                          <a:effectLst/>
                          <a:latin typeface="等线" panose="02010600030101010101" charset="-122"/>
                          <a:ea typeface="等线" panose="02010600030101010101" charset="-122"/>
                        </a:rPr>
                        <a:t>1.5%/</a:t>
                      </a:r>
                      <a:r>
                        <a:rPr lang="zh-CN" altLang="en-US" sz="1100" b="1" i="0" u="none" strike="noStrike">
                          <a:solidFill>
                            <a:srgbClr val="000000"/>
                          </a:solidFill>
                          <a:effectLst/>
                          <a:latin typeface="等线" panose="02010600030101010101" charset="-122"/>
                          <a:ea typeface="等线" panose="02010600030101010101" charset="-122"/>
                        </a:rPr>
                        <a:t>年</a:t>
                      </a:r>
                      <a:r>
                        <a:rPr lang="zh-CN" altLang="en-US" sz="1100" b="0" i="0" u="none" strike="noStrike">
                          <a:solidFill>
                            <a:srgbClr val="000000"/>
                          </a:solidFill>
                          <a:effectLst/>
                          <a:latin typeface="等线" panose="02010600030101010101" charset="-122"/>
                          <a:ea typeface="等线" panose="02010600030101010101" charset="-122"/>
                        </a:rPr>
                        <a:t>（管理人收取，每笔认购之日起的</a:t>
                      </a:r>
                      <a:r>
                        <a:rPr lang="en-US" altLang="zh-CN" sz="1100" b="0" i="0" u="none" strike="noStrike">
                          <a:solidFill>
                            <a:srgbClr val="000000"/>
                          </a:solidFill>
                          <a:effectLst/>
                          <a:latin typeface="等线" panose="02010600030101010101" charset="-122"/>
                          <a:ea typeface="等线" panose="02010600030101010101" charset="-122"/>
                        </a:rPr>
                        <a:t>36</a:t>
                      </a:r>
                      <a:r>
                        <a:rPr lang="zh-CN" altLang="en-US" sz="1100" b="0" i="0" u="none" strike="noStrike">
                          <a:solidFill>
                            <a:srgbClr val="000000"/>
                          </a:solidFill>
                          <a:effectLst/>
                          <a:latin typeface="等线" panose="02010600030101010101" charset="-122"/>
                          <a:ea typeface="等线" panose="02010600030101010101" charset="-122"/>
                        </a:rPr>
                        <a:t>个月内返费 </a:t>
                      </a:r>
                      <a:r>
                        <a:rPr lang="en-US" altLang="zh-CN" sz="1100" b="0" i="0" u="none" strike="noStrike">
                          <a:solidFill>
                            <a:srgbClr val="000000"/>
                          </a:solidFill>
                          <a:effectLst/>
                          <a:latin typeface="等线" panose="02010600030101010101" charset="-122"/>
                          <a:ea typeface="等线" panose="02010600030101010101" charset="-122"/>
                        </a:rPr>
                        <a:t>0.75%/</a:t>
                      </a:r>
                      <a:r>
                        <a:rPr lang="zh-CN" altLang="en-US" sz="1100" b="0" i="0" u="none" strike="noStrike">
                          <a:solidFill>
                            <a:srgbClr val="000000"/>
                          </a:solidFill>
                          <a:effectLst/>
                          <a:latin typeface="等线" panose="02010600030101010101" charset="-122"/>
                          <a:ea typeface="等线" panose="02010600030101010101" charset="-122"/>
                        </a:rPr>
                        <a:t>年）</a:t>
                      </a:r>
                      <a:endParaRPr lang="zh-CN" altLang="en-US" sz="1100" b="0" i="0" u="none" strike="noStrike">
                        <a:solidFill>
                          <a:srgbClr val="000000"/>
                        </a:solidFill>
                        <a:effectLst/>
                        <a:latin typeface="Arial" panose="020B0604020202020204" pitchFamily="34" charset="0"/>
                      </a:endParaRPr>
                    </a:p>
                  </a:txBody>
                  <a:tcPr marL="1143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ctr"/>
                      <a:r>
                        <a:rPr lang="en-US" altLang="zh-CN" sz="1100" b="0" i="0" u="none" strike="noStrike" dirty="0">
                          <a:solidFill>
                            <a:srgbClr val="000000"/>
                          </a:solidFill>
                          <a:effectLst/>
                          <a:latin typeface="Arial" panose="020B0604020202020204" pitchFamily="34" charset="0"/>
                        </a:rPr>
                        <a:t>•</a:t>
                      </a:r>
                      <a:r>
                        <a:rPr lang="zh-CN" altLang="en-US" sz="1100" b="1" i="0" u="none" strike="noStrike" dirty="0">
                          <a:solidFill>
                            <a:srgbClr val="000000"/>
                          </a:solidFill>
                          <a:effectLst/>
                          <a:latin typeface="等线" panose="02010600030101010101" charset="-122"/>
                          <a:ea typeface="等线" panose="02010600030101010101" charset="-122"/>
                        </a:rPr>
                        <a:t>管理费</a:t>
                      </a:r>
                      <a:r>
                        <a:rPr lang="en-US" altLang="zh-CN" sz="1100" b="1" i="0" u="none" strike="noStrike" dirty="0">
                          <a:solidFill>
                            <a:srgbClr val="000000"/>
                          </a:solidFill>
                          <a:effectLst/>
                          <a:latin typeface="等线" panose="02010600030101010101" charset="-122"/>
                          <a:ea typeface="等线" panose="02010600030101010101" charset="-122"/>
                        </a:rPr>
                        <a:t>1.5%/</a:t>
                      </a:r>
                      <a:r>
                        <a:rPr lang="zh-CN" altLang="en-US" sz="1100" b="1" i="0" u="none" strike="noStrike" dirty="0">
                          <a:solidFill>
                            <a:srgbClr val="000000"/>
                          </a:solidFill>
                          <a:effectLst/>
                          <a:latin typeface="等线" panose="02010600030101010101" charset="-122"/>
                          <a:ea typeface="等线" panose="02010600030101010101" charset="-122"/>
                        </a:rPr>
                        <a:t>年</a:t>
                      </a:r>
                      <a:r>
                        <a:rPr lang="zh-CN" altLang="en-US" sz="1100" b="0" i="0" u="none" strike="noStrike" dirty="0">
                          <a:solidFill>
                            <a:srgbClr val="000000"/>
                          </a:solidFill>
                          <a:effectLst/>
                          <a:latin typeface="等线" panose="02010600030101010101" charset="-122"/>
                          <a:ea typeface="等线" panose="02010600030101010101" charset="-122"/>
                        </a:rPr>
                        <a:t>（管理人收取，每笔认购之日起的</a:t>
                      </a:r>
                      <a:r>
                        <a:rPr lang="en-US" altLang="zh-CN" sz="1100" b="0" i="0" u="none" strike="noStrike" dirty="0">
                          <a:solidFill>
                            <a:srgbClr val="000000"/>
                          </a:solidFill>
                          <a:effectLst/>
                          <a:latin typeface="等线" panose="02010600030101010101" charset="-122"/>
                          <a:ea typeface="等线" panose="02010600030101010101" charset="-122"/>
                        </a:rPr>
                        <a:t>36</a:t>
                      </a:r>
                      <a:r>
                        <a:rPr lang="zh-CN" altLang="en-US" sz="1100" b="0" i="0" u="none" strike="noStrike" dirty="0">
                          <a:solidFill>
                            <a:srgbClr val="000000"/>
                          </a:solidFill>
                          <a:effectLst/>
                          <a:latin typeface="等线" panose="02010600030101010101" charset="-122"/>
                          <a:ea typeface="等线" panose="02010600030101010101" charset="-122"/>
                        </a:rPr>
                        <a:t>个月内返费 </a:t>
                      </a:r>
                      <a:r>
                        <a:rPr lang="en-US" altLang="zh-CN" sz="1100" b="0" i="0" u="none" strike="noStrike" dirty="0">
                          <a:solidFill>
                            <a:srgbClr val="000000"/>
                          </a:solidFill>
                          <a:effectLst/>
                          <a:latin typeface="等线" panose="02010600030101010101" charset="-122"/>
                          <a:ea typeface="等线" panose="02010600030101010101" charset="-122"/>
                        </a:rPr>
                        <a:t>0.75%/</a:t>
                      </a:r>
                      <a:r>
                        <a:rPr lang="zh-CN" altLang="en-US" sz="1100" b="0" i="0" u="none" strike="noStrike" dirty="0">
                          <a:solidFill>
                            <a:srgbClr val="000000"/>
                          </a:solidFill>
                          <a:effectLst/>
                          <a:latin typeface="等线" panose="02010600030101010101" charset="-122"/>
                          <a:ea typeface="等线" panose="02010600030101010101" charset="-122"/>
                        </a:rPr>
                        <a:t>年）</a:t>
                      </a:r>
                      <a:endParaRPr lang="zh-CN" altLang="en-US" sz="1100" b="0" i="0" u="none" strike="noStrike" dirty="0">
                        <a:solidFill>
                          <a:srgbClr val="000000"/>
                        </a:solidFill>
                        <a:effectLst/>
                        <a:latin typeface="Arial" panose="020B0604020202020204" pitchFamily="34" charset="0"/>
                      </a:endParaRPr>
                    </a:p>
                  </a:txBody>
                  <a:tcPr marL="1143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ctr"/>
                      <a:r>
                        <a:rPr lang="en-US" altLang="zh-CN" sz="1100" b="0" i="0" u="none" strike="noStrike" dirty="0">
                          <a:solidFill>
                            <a:srgbClr val="000000"/>
                          </a:solidFill>
                          <a:effectLst/>
                          <a:latin typeface="Arial" panose="020B0604020202020204" pitchFamily="34" charset="0"/>
                        </a:rPr>
                        <a:t>•</a:t>
                      </a:r>
                      <a:r>
                        <a:rPr lang="zh-CN" altLang="en-US" sz="1100" b="1" i="0" u="none" strike="noStrike" dirty="0">
                          <a:solidFill>
                            <a:srgbClr val="000000"/>
                          </a:solidFill>
                          <a:effectLst/>
                          <a:latin typeface="等线" panose="02010600030101010101" charset="-122"/>
                          <a:ea typeface="等线" panose="02010600030101010101" charset="-122"/>
                        </a:rPr>
                        <a:t>管理费</a:t>
                      </a:r>
                      <a:r>
                        <a:rPr lang="en-US" altLang="zh-CN" sz="1100" b="1" i="0" u="none" strike="noStrike" dirty="0">
                          <a:solidFill>
                            <a:srgbClr val="000000"/>
                          </a:solidFill>
                          <a:effectLst/>
                          <a:latin typeface="等线" panose="02010600030101010101" charset="-122"/>
                          <a:ea typeface="等线" panose="02010600030101010101" charset="-122"/>
                        </a:rPr>
                        <a:t>1.5%/</a:t>
                      </a:r>
                      <a:r>
                        <a:rPr lang="zh-CN" altLang="en-US" sz="1100" b="1" i="0" u="none" strike="noStrike" dirty="0">
                          <a:solidFill>
                            <a:srgbClr val="000000"/>
                          </a:solidFill>
                          <a:effectLst/>
                          <a:latin typeface="等线" panose="02010600030101010101" charset="-122"/>
                          <a:ea typeface="等线" panose="02010600030101010101" charset="-122"/>
                        </a:rPr>
                        <a:t>年</a:t>
                      </a:r>
                      <a:r>
                        <a:rPr lang="zh-CN" altLang="en-US" sz="1100" b="0" i="0" u="none" strike="noStrike" dirty="0">
                          <a:solidFill>
                            <a:srgbClr val="000000"/>
                          </a:solidFill>
                          <a:effectLst/>
                          <a:latin typeface="等线" panose="02010600030101010101" charset="-122"/>
                          <a:ea typeface="等线" panose="02010600030101010101" charset="-122"/>
                        </a:rPr>
                        <a:t>（管理人收取，返费</a:t>
                      </a:r>
                      <a:r>
                        <a:rPr lang="en-US" altLang="zh-CN" sz="1100" b="0" i="0" u="none" strike="noStrike" dirty="0">
                          <a:solidFill>
                            <a:srgbClr val="000000"/>
                          </a:solidFill>
                          <a:effectLst/>
                          <a:latin typeface="等线" panose="02010600030101010101" charset="-122"/>
                          <a:ea typeface="等线" panose="02010600030101010101" charset="-122"/>
                        </a:rPr>
                        <a:t>ARK 0.75%/</a:t>
                      </a:r>
                      <a:r>
                        <a:rPr lang="zh-CN" altLang="en-US" sz="1100" b="0" i="0" u="none" strike="noStrike" dirty="0">
                          <a:solidFill>
                            <a:srgbClr val="000000"/>
                          </a:solidFill>
                          <a:effectLst/>
                          <a:latin typeface="等线" panose="02010600030101010101" charset="-122"/>
                          <a:ea typeface="等线" panose="02010600030101010101" charset="-122"/>
                        </a:rPr>
                        <a:t>年）</a:t>
                      </a:r>
                      <a:endParaRPr lang="zh-CN" altLang="en-US" sz="1100" b="0" i="0" u="none" strike="noStrike" dirty="0">
                        <a:solidFill>
                          <a:srgbClr val="000000"/>
                        </a:solidFill>
                        <a:effectLst/>
                        <a:latin typeface="Arial" panose="020B0604020202020204" pitchFamily="34" charset="0"/>
                      </a:endParaRPr>
                    </a:p>
                  </a:txBody>
                  <a:tcPr marL="1143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r>
              <a:tr h="906147">
                <a:tc vMerge="1">
                  <a:tcPr/>
                </a:tc>
                <a:tc>
                  <a:txBody>
                    <a:bodyPr/>
                    <a:lstStyle/>
                    <a:p>
                      <a:pPr algn="l" rtl="0" fontAlgn="ctr"/>
                      <a:r>
                        <a:rPr lang="en-US" altLang="zh-CN" sz="1100" b="0" i="0" u="none" strike="noStrike">
                          <a:solidFill>
                            <a:srgbClr val="000000"/>
                          </a:solidFill>
                          <a:effectLst/>
                          <a:latin typeface="Arial" panose="020B0604020202020204" pitchFamily="34" charset="0"/>
                        </a:rPr>
                        <a:t>•</a:t>
                      </a:r>
                      <a:r>
                        <a:rPr lang="zh-CN" altLang="en-US" sz="1100" b="1" i="0" u="none" strike="noStrike">
                          <a:solidFill>
                            <a:srgbClr val="000000"/>
                          </a:solidFill>
                          <a:effectLst/>
                          <a:latin typeface="等线" panose="02010600030101010101" charset="-122"/>
                          <a:ea typeface="等线" panose="02010600030101010101" charset="-122"/>
                        </a:rPr>
                        <a:t>业绩报酬</a:t>
                      </a:r>
                      <a:r>
                        <a:rPr lang="en-US" altLang="zh-CN" sz="1100" b="1" i="0" u="none" strike="noStrike">
                          <a:solidFill>
                            <a:srgbClr val="000000"/>
                          </a:solidFill>
                          <a:effectLst/>
                          <a:latin typeface="等线" panose="02010600030101010101" charset="-122"/>
                          <a:ea typeface="等线" panose="02010600030101010101" charset="-122"/>
                        </a:rPr>
                        <a:t>20%</a:t>
                      </a:r>
                      <a:r>
                        <a:rPr lang="zh-CN" altLang="en-US" sz="1100" b="0" i="0" u="none" strike="noStrike">
                          <a:solidFill>
                            <a:srgbClr val="000000"/>
                          </a:solidFill>
                          <a:effectLst/>
                          <a:latin typeface="PMingLiU"/>
                        </a:rPr>
                        <a:t>（管理人收取</a:t>
                      </a:r>
                      <a:r>
                        <a:rPr lang="zh-CN" altLang="en-US" sz="1100" b="0" i="0" u="none" strike="noStrike">
                          <a:solidFill>
                            <a:srgbClr val="000000"/>
                          </a:solidFill>
                          <a:effectLst/>
                          <a:latin typeface="等线" panose="02010600030101010101" charset="-122"/>
                          <a:ea typeface="等线" panose="02010600030101010101" charset="-122"/>
                        </a:rPr>
                        <a:t>，投资后的</a:t>
                      </a:r>
                      <a:r>
                        <a:rPr lang="en-US" altLang="zh-CN" sz="1100" b="0" i="0" u="none" strike="noStrike">
                          <a:solidFill>
                            <a:srgbClr val="000000"/>
                          </a:solidFill>
                          <a:effectLst/>
                          <a:latin typeface="等线" panose="02010600030101010101" charset="-122"/>
                          <a:ea typeface="等线" panose="02010600030101010101" charset="-122"/>
                        </a:rPr>
                        <a:t>36</a:t>
                      </a:r>
                      <a:r>
                        <a:rPr lang="zh-CN" altLang="en-US" sz="1100" b="0" i="0" u="none" strike="noStrike">
                          <a:solidFill>
                            <a:srgbClr val="000000"/>
                          </a:solidFill>
                          <a:effectLst/>
                          <a:latin typeface="等线" panose="02010600030101010101" charset="-122"/>
                          <a:ea typeface="等线" panose="02010600030101010101" charset="-122"/>
                        </a:rPr>
                        <a:t>个月底返还业绩表现费的</a:t>
                      </a:r>
                      <a:r>
                        <a:rPr lang="en-US" altLang="zh-CN" sz="1100" b="0" i="0" u="none" strike="noStrike">
                          <a:solidFill>
                            <a:srgbClr val="000000"/>
                          </a:solidFill>
                          <a:effectLst/>
                          <a:latin typeface="等线" panose="02010600030101010101" charset="-122"/>
                          <a:ea typeface="等线" panose="02010600030101010101" charset="-122"/>
                        </a:rPr>
                        <a:t>5%</a:t>
                      </a:r>
                      <a:r>
                        <a:rPr lang="zh-CN" altLang="en-US" sz="1100" b="0" i="0" u="none" strike="noStrike">
                          <a:solidFill>
                            <a:srgbClr val="000000"/>
                          </a:solidFill>
                          <a:effectLst/>
                          <a:latin typeface="PMingLiU"/>
                        </a:rPr>
                        <a:t>）</a:t>
                      </a:r>
                      <a:endParaRPr lang="zh-CN" altLang="en-US" sz="1100" b="0" i="0" u="none" strike="noStrike">
                        <a:solidFill>
                          <a:srgbClr val="000000"/>
                        </a:solidFill>
                        <a:effectLst/>
                        <a:latin typeface="Arial" panose="020B0604020202020204" pitchFamily="34" charset="0"/>
                      </a:endParaRPr>
                    </a:p>
                  </a:txBody>
                  <a:tcPr marL="1143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ctr"/>
                      <a:r>
                        <a:rPr lang="en-US" altLang="zh-CN" sz="1100" b="0" i="0" u="none" strike="noStrike">
                          <a:solidFill>
                            <a:srgbClr val="000000"/>
                          </a:solidFill>
                          <a:effectLst/>
                          <a:latin typeface="Arial" panose="020B0604020202020204" pitchFamily="34" charset="0"/>
                        </a:rPr>
                        <a:t>•</a:t>
                      </a:r>
                      <a:r>
                        <a:rPr lang="zh-CN" altLang="en-US" sz="1100" b="1" i="0" u="none" strike="noStrike">
                          <a:solidFill>
                            <a:srgbClr val="000000"/>
                          </a:solidFill>
                          <a:effectLst/>
                          <a:latin typeface="等线" panose="02010600030101010101" charset="-122"/>
                          <a:ea typeface="等线" panose="02010600030101010101" charset="-122"/>
                        </a:rPr>
                        <a:t>业绩报酬</a:t>
                      </a:r>
                      <a:r>
                        <a:rPr lang="en-US" altLang="zh-CN" sz="1100" b="1" i="0" u="none" strike="noStrike">
                          <a:solidFill>
                            <a:srgbClr val="000000"/>
                          </a:solidFill>
                          <a:effectLst/>
                          <a:latin typeface="等线" panose="02010600030101010101" charset="-122"/>
                          <a:ea typeface="等线" panose="02010600030101010101" charset="-122"/>
                        </a:rPr>
                        <a:t>17.5%</a:t>
                      </a:r>
                      <a:r>
                        <a:rPr lang="zh-CN" altLang="en-US" sz="1100" b="0" i="0" u="none" strike="noStrike">
                          <a:solidFill>
                            <a:srgbClr val="000000"/>
                          </a:solidFill>
                          <a:effectLst/>
                          <a:latin typeface="PMingLiU"/>
                        </a:rPr>
                        <a:t>（管理人收取</a:t>
                      </a:r>
                      <a:r>
                        <a:rPr lang="zh-CN" altLang="en-US" sz="1100" b="0" i="0" u="none" strike="noStrike">
                          <a:solidFill>
                            <a:srgbClr val="000000"/>
                          </a:solidFill>
                          <a:effectLst/>
                          <a:latin typeface="等线" panose="02010600030101010101" charset="-122"/>
                          <a:ea typeface="等线" panose="02010600030101010101" charset="-122"/>
                        </a:rPr>
                        <a:t>，投资后的</a:t>
                      </a:r>
                      <a:r>
                        <a:rPr lang="en-US" altLang="zh-CN" sz="1100" b="0" i="0" u="none" strike="noStrike">
                          <a:solidFill>
                            <a:srgbClr val="000000"/>
                          </a:solidFill>
                          <a:effectLst/>
                          <a:latin typeface="等线" panose="02010600030101010101" charset="-122"/>
                          <a:ea typeface="等线" panose="02010600030101010101" charset="-122"/>
                        </a:rPr>
                        <a:t>36</a:t>
                      </a:r>
                      <a:r>
                        <a:rPr lang="zh-CN" altLang="en-US" sz="1100" b="0" i="0" u="none" strike="noStrike">
                          <a:solidFill>
                            <a:srgbClr val="000000"/>
                          </a:solidFill>
                          <a:effectLst/>
                          <a:latin typeface="等线" panose="02010600030101010101" charset="-122"/>
                          <a:ea typeface="等线" panose="02010600030101010101" charset="-122"/>
                        </a:rPr>
                        <a:t>个月底返还业绩表现费的</a:t>
                      </a:r>
                      <a:r>
                        <a:rPr lang="en-US" altLang="zh-CN" sz="1100" b="0" i="0" u="none" strike="noStrike">
                          <a:solidFill>
                            <a:srgbClr val="000000"/>
                          </a:solidFill>
                          <a:effectLst/>
                          <a:latin typeface="等线" panose="02010600030101010101" charset="-122"/>
                          <a:ea typeface="等线" panose="02010600030101010101" charset="-122"/>
                        </a:rPr>
                        <a:t>5%</a:t>
                      </a:r>
                      <a:r>
                        <a:rPr lang="zh-CN" altLang="en-US" sz="1100" b="0" i="0" u="none" strike="noStrike">
                          <a:solidFill>
                            <a:srgbClr val="000000"/>
                          </a:solidFill>
                          <a:effectLst/>
                          <a:latin typeface="PMingLiU"/>
                        </a:rPr>
                        <a:t>）</a:t>
                      </a:r>
                      <a:endParaRPr lang="zh-CN" altLang="en-US" sz="1100" b="0" i="0" u="none" strike="noStrike">
                        <a:solidFill>
                          <a:srgbClr val="000000"/>
                        </a:solidFill>
                        <a:effectLst/>
                        <a:latin typeface="Arial" panose="020B0604020202020204" pitchFamily="34" charset="0"/>
                      </a:endParaRPr>
                    </a:p>
                  </a:txBody>
                  <a:tcPr marL="1143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ctr"/>
                      <a:r>
                        <a:rPr lang="en-US" altLang="zh-CN" sz="1100" b="0" i="0" u="none" strike="noStrike" dirty="0">
                          <a:solidFill>
                            <a:srgbClr val="000000"/>
                          </a:solidFill>
                          <a:effectLst/>
                          <a:latin typeface="Arial" panose="020B0604020202020204" pitchFamily="34" charset="0"/>
                        </a:rPr>
                        <a:t>•</a:t>
                      </a:r>
                      <a:r>
                        <a:rPr lang="zh-CN" altLang="en-US" sz="1100" b="1" i="0" u="none" strike="noStrike" dirty="0">
                          <a:solidFill>
                            <a:srgbClr val="000000"/>
                          </a:solidFill>
                          <a:effectLst/>
                          <a:latin typeface="等线" panose="02010600030101010101" charset="-122"/>
                          <a:ea typeface="等线" panose="02010600030101010101" charset="-122"/>
                        </a:rPr>
                        <a:t>业绩报酬</a:t>
                      </a:r>
                      <a:r>
                        <a:rPr lang="en-US" altLang="zh-CN" sz="1100" b="1" i="0" u="none" strike="noStrike" dirty="0">
                          <a:solidFill>
                            <a:srgbClr val="000000"/>
                          </a:solidFill>
                          <a:effectLst/>
                          <a:latin typeface="等线" panose="02010600030101010101" charset="-122"/>
                          <a:ea typeface="等线" panose="02010600030101010101" charset="-122"/>
                        </a:rPr>
                        <a:t>20%</a:t>
                      </a:r>
                      <a:r>
                        <a:rPr lang="zh-CN" altLang="en-US" sz="1100" b="0" i="0" u="none" strike="noStrike" dirty="0">
                          <a:solidFill>
                            <a:srgbClr val="000000"/>
                          </a:solidFill>
                          <a:effectLst/>
                          <a:latin typeface="等线" panose="02010600030101010101" charset="-122"/>
                          <a:ea typeface="等线" panose="02010600030101010101" charset="-122"/>
                        </a:rPr>
                        <a:t>（管理人收取）</a:t>
                      </a:r>
                      <a:endParaRPr lang="zh-CN" altLang="en-US" sz="1100" b="0" i="0" u="none" strike="noStrike" dirty="0">
                        <a:solidFill>
                          <a:srgbClr val="000000"/>
                        </a:solidFill>
                        <a:effectLst/>
                        <a:latin typeface="Arial" panose="020B0604020202020204" pitchFamily="34" charset="0"/>
                      </a:endParaRPr>
                    </a:p>
                  </a:txBody>
                  <a:tcPr marL="11430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r>
              <a:tr h="234927">
                <a:tc rowSpan="2">
                  <a:txBody>
                    <a:bodyPr/>
                    <a:lstStyle/>
                    <a:p>
                      <a:pPr algn="ctr" rtl="0" fontAlgn="ctr"/>
                      <a:r>
                        <a:rPr lang="zh-HK" altLang="en-US" sz="1100" b="1" i="0" u="none" strike="noStrike">
                          <a:solidFill>
                            <a:srgbClr val="000000"/>
                          </a:solidFill>
                          <a:effectLst/>
                          <a:latin typeface="等线" panose="02010600030101010101" charset="-122"/>
                          <a:ea typeface="等线" panose="02010600030101010101" charset="-122"/>
                        </a:rPr>
                        <a:t>锁定期</a:t>
                      </a:r>
                      <a:endParaRPr lang="zh-HK" altLang="en-US" sz="1100" b="1" i="0" u="none" strike="noStrike">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en-US" altLang="zh-HK" sz="1100" b="0" i="0" u="none" strike="noStrike">
                          <a:solidFill>
                            <a:srgbClr val="000000"/>
                          </a:solidFill>
                          <a:effectLst/>
                          <a:latin typeface="等线" panose="02010600030101010101" charset="-122"/>
                          <a:ea typeface="等线" panose="02010600030101010101" charset="-122"/>
                        </a:rPr>
                        <a:t>12</a:t>
                      </a:r>
                      <a:r>
                        <a:rPr lang="zh-HK" altLang="en-US" sz="1100" b="0" i="0" u="none" strike="noStrike">
                          <a:solidFill>
                            <a:srgbClr val="000000"/>
                          </a:solidFill>
                          <a:effectLst/>
                          <a:latin typeface="等线" panose="02010600030101010101" charset="-122"/>
                          <a:ea typeface="等线" panose="02010600030101010101" charset="-122"/>
                        </a:rPr>
                        <a:t>个月软锁</a:t>
                      </a:r>
                      <a:endParaRPr lang="zh-HK" altLang="en-US" sz="1100" b="0" i="0" u="none" strike="noStrike">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altLang="zh-HK" sz="1100" b="0" i="0" u="none" strike="noStrike">
                          <a:solidFill>
                            <a:srgbClr val="000000"/>
                          </a:solidFill>
                          <a:effectLst/>
                          <a:latin typeface="等线" panose="02010600030101010101" charset="-122"/>
                          <a:ea typeface="等线" panose="02010600030101010101" charset="-122"/>
                        </a:rPr>
                        <a:t>36</a:t>
                      </a:r>
                      <a:r>
                        <a:rPr lang="zh-HK" altLang="en-US" sz="1100" b="0" i="0" u="none" strike="noStrike">
                          <a:solidFill>
                            <a:srgbClr val="000000"/>
                          </a:solidFill>
                          <a:effectLst/>
                          <a:latin typeface="等线" panose="02010600030101010101" charset="-122"/>
                          <a:ea typeface="等线" panose="02010600030101010101" charset="-122"/>
                        </a:rPr>
                        <a:t>个月硬锁</a:t>
                      </a:r>
                      <a:endParaRPr lang="zh-HK" altLang="en-US" sz="1100" b="0" i="0" u="none" strike="noStrike">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altLang="zh-HK" sz="1100" b="0" i="0" u="none" strike="noStrike">
                          <a:solidFill>
                            <a:srgbClr val="000000"/>
                          </a:solidFill>
                          <a:effectLst/>
                          <a:latin typeface="等线" panose="02010600030101010101" charset="-122"/>
                          <a:ea typeface="等线" panose="02010600030101010101" charset="-122"/>
                        </a:rPr>
                        <a:t>12</a:t>
                      </a:r>
                      <a:r>
                        <a:rPr lang="zh-HK" altLang="en-US" sz="1100" b="0" i="0" u="none" strike="noStrike">
                          <a:solidFill>
                            <a:srgbClr val="000000"/>
                          </a:solidFill>
                          <a:effectLst/>
                          <a:latin typeface="等线" panose="02010600030101010101" charset="-122"/>
                          <a:ea typeface="等线" panose="02010600030101010101" charset="-122"/>
                        </a:rPr>
                        <a:t>个月软锁</a:t>
                      </a:r>
                      <a:endParaRPr lang="zh-HK" altLang="en-US" sz="1100" b="0" i="0" u="none" strike="noStrike">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r>
              <a:tr h="234927">
                <a:tc vMerge="1">
                  <a:tcPr/>
                </a:tc>
                <a:tc>
                  <a:txBody>
                    <a:bodyPr/>
                    <a:lstStyle/>
                    <a:p>
                      <a:pPr algn="ctr" rtl="0" fontAlgn="ctr"/>
                      <a:r>
                        <a:rPr lang="zh-HK" altLang="en-US" sz="1100" b="0" i="0" u="none" strike="noStrike">
                          <a:solidFill>
                            <a:srgbClr val="000000"/>
                          </a:solidFill>
                          <a:effectLst/>
                          <a:latin typeface="等线" panose="02010600030101010101" charset="-122"/>
                          <a:ea typeface="等线" panose="02010600030101010101" charset="-122"/>
                        </a:rPr>
                        <a:t>赎回费</a:t>
                      </a:r>
                      <a:r>
                        <a:rPr lang="en-US" altLang="zh-HK" sz="1100" b="0" i="0" u="none" strike="noStrike">
                          <a:solidFill>
                            <a:srgbClr val="000000"/>
                          </a:solidFill>
                          <a:effectLst/>
                          <a:latin typeface="等线" panose="02010600030101010101" charset="-122"/>
                          <a:ea typeface="等线" panose="02010600030101010101" charset="-122"/>
                        </a:rPr>
                        <a:t>2%</a:t>
                      </a:r>
                      <a:endParaRPr lang="en-US" altLang="zh-HK" sz="1100" b="0" i="0" u="none" strike="noStrike">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en-US" altLang="zh-CN" sz="1100" b="0" i="0" u="none" strike="noStrike">
                          <a:solidFill>
                            <a:srgbClr val="000000"/>
                          </a:solidFill>
                          <a:effectLst/>
                          <a:latin typeface="等线" panose="02010600030101010101" charset="-122"/>
                          <a:ea typeface="等线" panose="02010600030101010101" charset="-122"/>
                        </a:rPr>
                        <a:t>36</a:t>
                      </a:r>
                      <a:r>
                        <a:rPr lang="zh-CN" altLang="en-US" sz="1100" b="0" i="0" u="none" strike="noStrike">
                          <a:solidFill>
                            <a:srgbClr val="000000"/>
                          </a:solidFill>
                          <a:effectLst/>
                          <a:latin typeface="等线" panose="02010600030101010101" charset="-122"/>
                          <a:ea typeface="等线" panose="02010600030101010101" charset="-122"/>
                        </a:rPr>
                        <a:t>个月后转入</a:t>
                      </a:r>
                      <a:r>
                        <a:rPr lang="en-US" altLang="zh-CN" sz="1100" b="0" i="0" u="none" strike="noStrike">
                          <a:solidFill>
                            <a:srgbClr val="000000"/>
                          </a:solidFill>
                          <a:effectLst/>
                          <a:latin typeface="等线" panose="02010600030101010101" charset="-122"/>
                          <a:ea typeface="等线" panose="02010600030101010101" charset="-122"/>
                        </a:rPr>
                        <a:t>D</a:t>
                      </a:r>
                      <a:r>
                        <a:rPr lang="zh-CN" altLang="en-US" sz="1100" b="0" i="0" u="none" strike="noStrike">
                          <a:solidFill>
                            <a:srgbClr val="000000"/>
                          </a:solidFill>
                          <a:effectLst/>
                          <a:latin typeface="等线" panose="02010600030101010101" charset="-122"/>
                          <a:ea typeface="等线" panose="02010600030101010101" charset="-122"/>
                        </a:rPr>
                        <a:t>类份额*</a:t>
                      </a:r>
                      <a:endParaRPr lang="zh-CN" altLang="en-US" sz="1100" b="0" i="0" u="none" strike="noStrike">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zh-HK" altLang="en-US" sz="1100" b="0" i="0" u="none" strike="noStrike" dirty="0">
                          <a:solidFill>
                            <a:srgbClr val="000000"/>
                          </a:solidFill>
                          <a:effectLst/>
                          <a:latin typeface="等线" panose="02010600030101010101" charset="-122"/>
                          <a:ea typeface="等线" panose="02010600030101010101" charset="-122"/>
                        </a:rPr>
                        <a:t>赎回费</a:t>
                      </a:r>
                      <a:r>
                        <a:rPr lang="en-US" altLang="zh-HK" sz="1100" b="0" i="0" u="none" strike="noStrike" dirty="0">
                          <a:solidFill>
                            <a:srgbClr val="000000"/>
                          </a:solidFill>
                          <a:effectLst/>
                          <a:latin typeface="等线" panose="02010600030101010101" charset="-122"/>
                          <a:ea typeface="等线" panose="02010600030101010101" charset="-122"/>
                        </a:rPr>
                        <a:t>3%</a:t>
                      </a:r>
                      <a:endParaRPr lang="en-US" altLang="zh-HK" sz="1100" b="0" i="0" u="none" strike="noStrike" dirty="0">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r>
              <a:tr h="234927">
                <a:tc>
                  <a:txBody>
                    <a:bodyPr/>
                    <a:lstStyle/>
                    <a:p>
                      <a:pPr algn="ctr" rtl="0" fontAlgn="ctr"/>
                      <a:r>
                        <a:rPr lang="zh-HK" altLang="en-US" sz="1100" b="1" i="0" u="none" strike="noStrike">
                          <a:solidFill>
                            <a:srgbClr val="000000"/>
                          </a:solidFill>
                          <a:effectLst/>
                          <a:latin typeface="等线" panose="02010600030101010101" charset="-122"/>
                          <a:ea typeface="等线" panose="02010600030101010101" charset="-122"/>
                        </a:rPr>
                        <a:t>流动性安排</a:t>
                      </a:r>
                      <a:endParaRPr lang="zh-HK" altLang="en-US" sz="1100" b="1" i="0" u="none" strike="noStrike">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rtl="0" fontAlgn="ctr"/>
                      <a:r>
                        <a:rPr lang="zh-HK" altLang="en-US" sz="1100" b="0" i="0" u="none" strike="noStrike">
                          <a:solidFill>
                            <a:srgbClr val="000000"/>
                          </a:solidFill>
                          <a:effectLst/>
                          <a:latin typeface="等线" panose="02010600030101010101" charset="-122"/>
                          <a:ea typeface="等线" panose="02010600030101010101" charset="-122"/>
                        </a:rPr>
                        <a:t>月度申赎</a:t>
                      </a:r>
                      <a:endParaRPr lang="zh-HK" altLang="en-US" sz="1100" b="0" i="0" u="none" strike="noStrike">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zh-HK" altLang="en-US" sz="1100" b="0" i="0" u="none" strike="noStrike">
                          <a:solidFill>
                            <a:srgbClr val="000000"/>
                          </a:solidFill>
                          <a:effectLst/>
                          <a:latin typeface="等线" panose="02010600030101010101" charset="-122"/>
                          <a:ea typeface="等线" panose="02010600030101010101" charset="-122"/>
                        </a:rPr>
                        <a:t>月度申赎</a:t>
                      </a:r>
                      <a:endParaRPr lang="zh-HK" altLang="en-US" sz="1100" b="0" i="0" u="none" strike="noStrike">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0" fontAlgn="ctr"/>
                      <a:r>
                        <a:rPr lang="zh-HK" altLang="en-US" sz="1100" b="0" i="0" u="none" strike="noStrike" dirty="0">
                          <a:solidFill>
                            <a:srgbClr val="000000"/>
                          </a:solidFill>
                          <a:effectLst/>
                          <a:latin typeface="等线" panose="02010600030101010101" charset="-122"/>
                          <a:ea typeface="等线" panose="02010600030101010101" charset="-122"/>
                        </a:rPr>
                        <a:t>月度申赎</a:t>
                      </a:r>
                      <a:endParaRPr lang="zh-HK" altLang="en-US" sz="1100" b="0" i="0" u="none" strike="noStrike" dirty="0">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r>
              <a:tr h="234927">
                <a:tc>
                  <a:txBody>
                    <a:bodyPr/>
                    <a:lstStyle/>
                    <a:p>
                      <a:pPr algn="ctr" rtl="0" fontAlgn="ctr"/>
                      <a:r>
                        <a:rPr lang="zh-HK" altLang="en-US" sz="1100" b="1" i="0" u="none" strike="noStrike">
                          <a:solidFill>
                            <a:srgbClr val="000000"/>
                          </a:solidFill>
                          <a:effectLst/>
                          <a:latin typeface="等线" panose="02010600030101010101" charset="-122"/>
                          <a:ea typeface="等线" panose="02010600030101010101" charset="-122"/>
                        </a:rPr>
                        <a:t>投资目标</a:t>
                      </a:r>
                      <a:endParaRPr lang="zh-HK" altLang="en-US" sz="1100" b="1" i="0" u="none" strike="noStrike">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ctr" rtl="0" fontAlgn="ctr"/>
                      <a:r>
                        <a:rPr lang="zh-CN" altLang="en-US" sz="1100" b="1" i="0" u="none" strike="noStrike">
                          <a:solidFill>
                            <a:srgbClr val="000000"/>
                          </a:solidFill>
                          <a:effectLst/>
                          <a:latin typeface="等线" panose="02010600030101010101" charset="-122"/>
                          <a:ea typeface="等线" panose="02010600030101010101" charset="-122"/>
                        </a:rPr>
                        <a:t>主要投资于境外或中国上市的中国相关证券</a:t>
                      </a:r>
                      <a:endParaRPr lang="zh-CN" altLang="en-US" sz="1100" b="1" i="0" u="none" strike="noStrike">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hMerge="1">
                  <a:tcPr/>
                </a:tc>
                <a:tc>
                  <a:txBody>
                    <a:bodyPr/>
                    <a:lstStyle/>
                    <a:p>
                      <a:pPr algn="ctr" rtl="0" fontAlgn="ctr"/>
                      <a:r>
                        <a:rPr lang="zh-CN" altLang="en-US" sz="1100" b="1" i="0" u="none" strike="noStrike" dirty="0">
                          <a:solidFill>
                            <a:srgbClr val="000000"/>
                          </a:solidFill>
                          <a:effectLst/>
                          <a:latin typeface="等线" panose="02010600030101010101" charset="-122"/>
                          <a:ea typeface="等线" panose="02010600030101010101" charset="-122"/>
                        </a:rPr>
                        <a:t>全球投资布局</a:t>
                      </a:r>
                      <a:endParaRPr lang="zh-CN" altLang="en-US" sz="1100" b="1" i="0" u="none" strike="noStrike" dirty="0">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r>
              <a:tr h="453073">
                <a:tc>
                  <a:txBody>
                    <a:bodyPr/>
                    <a:lstStyle/>
                    <a:p>
                      <a:pPr algn="ctr" rtl="0" fontAlgn="ctr"/>
                      <a:r>
                        <a:rPr lang="en-US" altLang="zh-CN" sz="1100" b="1" i="0" u="none" strike="noStrike">
                          <a:solidFill>
                            <a:srgbClr val="FF0000"/>
                          </a:solidFill>
                          <a:effectLst/>
                          <a:latin typeface="等线" panose="02010600030101010101" charset="-122"/>
                          <a:ea typeface="等线" panose="02010600030101010101" charset="-122"/>
                        </a:rPr>
                        <a:t>24</a:t>
                      </a:r>
                      <a:r>
                        <a:rPr lang="zh-CN" altLang="en-US" sz="1100" b="1" i="0" u="none" strike="noStrike">
                          <a:solidFill>
                            <a:srgbClr val="FF0000"/>
                          </a:solidFill>
                          <a:effectLst/>
                          <a:latin typeface="等线" panose="02010600030101010101" charset="-122"/>
                          <a:ea typeface="等线" panose="02010600030101010101" charset="-122"/>
                        </a:rPr>
                        <a:t>年底持仓（净敞口）</a:t>
                      </a:r>
                      <a:endParaRPr lang="zh-CN" altLang="en-US" sz="1100" b="1" i="0" u="none" strike="noStrike">
                        <a:solidFill>
                          <a:srgbClr val="FF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ctr" rtl="0" fontAlgn="ctr"/>
                      <a:r>
                        <a:rPr lang="zh-CN" altLang="en-US" sz="1100" b="1" i="0" u="none" strike="noStrike">
                          <a:solidFill>
                            <a:srgbClr val="FF0000"/>
                          </a:solidFill>
                          <a:effectLst/>
                          <a:latin typeface="等线" panose="02010600030101010101" charset="-122"/>
                          <a:ea typeface="等线" panose="02010600030101010101" charset="-122"/>
                        </a:rPr>
                        <a:t>港股</a:t>
                      </a:r>
                      <a:r>
                        <a:rPr lang="en-US" altLang="zh-CN" sz="1100" b="1" i="0" u="none" strike="noStrike">
                          <a:solidFill>
                            <a:srgbClr val="FF0000"/>
                          </a:solidFill>
                          <a:effectLst/>
                          <a:latin typeface="等线" panose="02010600030101010101" charset="-122"/>
                          <a:ea typeface="等线" panose="02010600030101010101" charset="-122"/>
                        </a:rPr>
                        <a:t>7</a:t>
                      </a:r>
                      <a:r>
                        <a:rPr lang="zh-CN" altLang="en-US" sz="1100" b="1" i="0" u="none" strike="noStrike">
                          <a:solidFill>
                            <a:srgbClr val="FF0000"/>
                          </a:solidFill>
                          <a:effectLst/>
                          <a:latin typeface="等线" panose="02010600030101010101" charset="-122"/>
                          <a:ea typeface="等线" panose="02010600030101010101" charset="-122"/>
                        </a:rPr>
                        <a:t>成、中概股</a:t>
                      </a:r>
                      <a:r>
                        <a:rPr lang="en-US" altLang="zh-CN" sz="1100" b="1" i="0" u="none" strike="noStrike">
                          <a:solidFill>
                            <a:srgbClr val="FF0000"/>
                          </a:solidFill>
                          <a:effectLst/>
                          <a:latin typeface="等线" panose="02010600030101010101" charset="-122"/>
                          <a:ea typeface="等线" panose="02010600030101010101" charset="-122"/>
                        </a:rPr>
                        <a:t>3</a:t>
                      </a:r>
                      <a:r>
                        <a:rPr lang="zh-CN" altLang="en-US" sz="1100" b="1" i="0" u="none" strike="noStrike">
                          <a:solidFill>
                            <a:srgbClr val="FF0000"/>
                          </a:solidFill>
                          <a:effectLst/>
                          <a:latin typeface="等线" panose="02010600030101010101" charset="-122"/>
                          <a:ea typeface="等线" panose="02010600030101010101" charset="-122"/>
                        </a:rPr>
                        <a:t>成、纯美股及其他市场</a:t>
                      </a:r>
                      <a:endParaRPr lang="zh-CN" altLang="en-US" sz="1100" b="1" i="0" u="none" strike="noStrike">
                        <a:solidFill>
                          <a:srgbClr val="FF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hMerge="1">
                  <a:tcPr/>
                </a:tc>
                <a:tc>
                  <a:txBody>
                    <a:bodyPr/>
                    <a:lstStyle/>
                    <a:p>
                      <a:pPr algn="ctr" rtl="0" fontAlgn="ctr"/>
                      <a:r>
                        <a:rPr lang="zh-CN" altLang="en-US" sz="1100" b="1" dirty="0">
                          <a:solidFill>
                            <a:srgbClr val="FF0000"/>
                          </a:solidFill>
                          <a:effectLst/>
                          <a:latin typeface="等线" panose="02010600030101010101" charset="-122"/>
                          <a:ea typeface="等线" panose="02010600030101010101" charset="-122"/>
                          <a:sym typeface="+mn-ea"/>
                        </a:rPr>
                        <a:t>港股</a:t>
                      </a:r>
                      <a:r>
                        <a:rPr lang="en-US" altLang="zh-CN" sz="1100" b="1" dirty="0">
                          <a:solidFill>
                            <a:srgbClr val="FF0000"/>
                          </a:solidFill>
                          <a:effectLst/>
                          <a:latin typeface="等线" panose="02010600030101010101" charset="-122"/>
                          <a:ea typeface="等线" panose="02010600030101010101" charset="-122"/>
                          <a:sym typeface="+mn-ea"/>
                        </a:rPr>
                        <a:t>4</a:t>
                      </a:r>
                      <a:r>
                        <a:rPr lang="zh-CN" altLang="en-US" sz="1100" b="1" dirty="0">
                          <a:solidFill>
                            <a:srgbClr val="FF0000"/>
                          </a:solidFill>
                          <a:effectLst/>
                          <a:latin typeface="等线" panose="02010600030101010101" charset="-122"/>
                          <a:ea typeface="等线" panose="02010600030101010101" charset="-122"/>
                          <a:sym typeface="+mn-ea"/>
                        </a:rPr>
                        <a:t>成、中概股</a:t>
                      </a:r>
                      <a:r>
                        <a:rPr lang="en-US" altLang="zh-CN" sz="1100" b="1" dirty="0">
                          <a:solidFill>
                            <a:srgbClr val="FF0000"/>
                          </a:solidFill>
                          <a:effectLst/>
                          <a:latin typeface="等线" panose="02010600030101010101" charset="-122"/>
                          <a:ea typeface="等线" panose="02010600030101010101" charset="-122"/>
                          <a:sym typeface="+mn-ea"/>
                        </a:rPr>
                        <a:t>1</a:t>
                      </a:r>
                      <a:r>
                        <a:rPr lang="zh-CN" altLang="en-US" sz="1100" b="1" dirty="0">
                          <a:solidFill>
                            <a:srgbClr val="FF0000"/>
                          </a:solidFill>
                          <a:effectLst/>
                          <a:latin typeface="等线" panose="02010600030101010101" charset="-122"/>
                          <a:ea typeface="等线" panose="02010600030101010101" charset="-122"/>
                          <a:sym typeface="+mn-ea"/>
                        </a:rPr>
                        <a:t>成、</a:t>
                      </a:r>
                      <a:r>
                        <a:rPr lang="zh-CN" altLang="en-US" sz="1100" b="1">
                          <a:solidFill>
                            <a:srgbClr val="FF0000"/>
                          </a:solidFill>
                          <a:effectLst/>
                          <a:latin typeface="等线" panose="02010600030101010101" charset="-122"/>
                          <a:ea typeface="等线" panose="02010600030101010101" charset="-122"/>
                          <a:sym typeface="+mn-ea"/>
                        </a:rPr>
                        <a:t>纯美股</a:t>
                      </a:r>
                      <a:r>
                        <a:rPr lang="en-US" altLang="zh-CN" sz="1100" b="1">
                          <a:solidFill>
                            <a:srgbClr val="FF0000"/>
                          </a:solidFill>
                          <a:effectLst/>
                          <a:latin typeface="等线" panose="02010600030101010101" charset="-122"/>
                          <a:ea typeface="等线" panose="02010600030101010101" charset="-122"/>
                          <a:sym typeface="+mn-ea"/>
                        </a:rPr>
                        <a:t>2</a:t>
                      </a:r>
                      <a:r>
                        <a:rPr lang="zh-CN" altLang="en-US" sz="1100" b="1">
                          <a:solidFill>
                            <a:srgbClr val="FF0000"/>
                          </a:solidFill>
                          <a:effectLst/>
                          <a:latin typeface="等线" panose="02010600030101010101" charset="-122"/>
                          <a:ea typeface="等线" panose="02010600030101010101" charset="-122"/>
                          <a:sym typeface="+mn-ea"/>
                        </a:rPr>
                        <a:t>成、其他</a:t>
                      </a:r>
                      <a:r>
                        <a:rPr lang="en-US" altLang="zh-CN" sz="1100" b="1">
                          <a:solidFill>
                            <a:srgbClr val="FF0000"/>
                          </a:solidFill>
                          <a:effectLst/>
                          <a:latin typeface="等线" panose="02010600030101010101" charset="-122"/>
                          <a:ea typeface="等线" panose="02010600030101010101" charset="-122"/>
                          <a:sym typeface="+mn-ea"/>
                        </a:rPr>
                        <a:t>2</a:t>
                      </a:r>
                      <a:r>
                        <a:rPr lang="zh-CN" altLang="en-US" sz="1100" b="1" dirty="0">
                          <a:solidFill>
                            <a:srgbClr val="FF0000"/>
                          </a:solidFill>
                          <a:effectLst/>
                          <a:latin typeface="等线" panose="02010600030101010101" charset="-122"/>
                          <a:ea typeface="等线" panose="02010600030101010101" charset="-122"/>
                          <a:sym typeface="+mn-ea"/>
                        </a:rPr>
                        <a:t>成</a:t>
                      </a:r>
                      <a:endParaRPr lang="zh-CN" altLang="en-US" sz="1100" b="1" i="0" u="none" strike="noStrike" dirty="0">
                        <a:solidFill>
                          <a:srgbClr val="FF0000"/>
                        </a:solidFill>
                        <a:effectLst/>
                        <a:latin typeface="等线" panose="02010600030101010101" charset="-122"/>
                        <a:ea typeface="等线" panose="02010600030101010101" charset="-122"/>
                        <a:sym typeface="+mn-ea"/>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r>
              <a:tr h="431259">
                <a:tc rowSpan="2">
                  <a:txBody>
                    <a:bodyPr/>
                    <a:lstStyle/>
                    <a:p>
                      <a:pPr algn="ctr" rtl="0" fontAlgn="ctr"/>
                      <a:r>
                        <a:rPr lang="zh-CN" altLang="en-US" sz="1100" b="1" i="0" u="none" strike="noStrike">
                          <a:solidFill>
                            <a:srgbClr val="000000"/>
                          </a:solidFill>
                          <a:effectLst/>
                          <a:latin typeface="等线" panose="02010600030101010101" charset="-122"/>
                          <a:ea typeface="等线" panose="02010600030101010101" charset="-122"/>
                        </a:rPr>
                        <a:t>多空仓位比例</a:t>
                      </a:r>
                      <a:endParaRPr lang="zh-CN" altLang="en-US" sz="1100" b="1" i="0" u="none" strike="noStrike">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ctr" rtl="0" fontAlgn="ctr"/>
                      <a:r>
                        <a:rPr lang="zh-TW" altLang="en-US" sz="1100" b="0" i="0" u="none" strike="noStrike">
                          <a:solidFill>
                            <a:srgbClr val="000000"/>
                          </a:solidFill>
                          <a:effectLst/>
                          <a:latin typeface="等线" panose="02010600030101010101" charset="-122"/>
                          <a:ea typeface="等线" panose="02010600030101010101" charset="-122"/>
                        </a:rPr>
                        <a:t>长仓：平均</a:t>
                      </a:r>
                      <a:r>
                        <a:rPr lang="en-US" altLang="zh-TW" sz="1100" b="0" i="0" u="none" strike="noStrike">
                          <a:solidFill>
                            <a:srgbClr val="000000"/>
                          </a:solidFill>
                          <a:effectLst/>
                          <a:latin typeface="等线" panose="02010600030101010101" charset="-122"/>
                          <a:ea typeface="等线" panose="02010600030101010101" charset="-122"/>
                        </a:rPr>
                        <a:t>105%</a:t>
                      </a:r>
                      <a:r>
                        <a:rPr lang="zh-TW" altLang="en-US" sz="1100" b="0" i="0" u="none" strike="noStrike">
                          <a:solidFill>
                            <a:srgbClr val="000000"/>
                          </a:solidFill>
                          <a:effectLst/>
                          <a:latin typeface="等线" panose="02010600030101010101" charset="-122"/>
                          <a:ea typeface="等线" panose="02010600030101010101" charset="-122"/>
                        </a:rPr>
                        <a:t>；短仓：平均</a:t>
                      </a:r>
                      <a:r>
                        <a:rPr lang="en-US" altLang="zh-TW" sz="1100" b="0" i="0" u="none" strike="noStrike">
                          <a:solidFill>
                            <a:srgbClr val="000000"/>
                          </a:solidFill>
                          <a:effectLst/>
                          <a:latin typeface="等线" panose="02010600030101010101" charset="-122"/>
                          <a:ea typeface="等线" panose="02010600030101010101" charset="-122"/>
                        </a:rPr>
                        <a:t>20%</a:t>
                      </a:r>
                      <a:endParaRPr lang="en-US" altLang="zh-TW" sz="1100" b="0" i="0" u="none" strike="noStrike">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hMerge="1">
                  <a:tcPr/>
                </a:tc>
                <a:tc>
                  <a:txBody>
                    <a:bodyPr/>
                    <a:lstStyle/>
                    <a:p>
                      <a:pPr algn="ctr" rtl="0" fontAlgn="ctr"/>
                      <a:r>
                        <a:rPr lang="zh-TW" altLang="en-US" sz="1100" b="0" i="0" u="none" strike="noStrike" dirty="0">
                          <a:solidFill>
                            <a:srgbClr val="000000"/>
                          </a:solidFill>
                          <a:effectLst/>
                          <a:latin typeface="等线" panose="02010600030101010101" charset="-122"/>
                          <a:ea typeface="等线" panose="02010600030101010101" charset="-122"/>
                        </a:rPr>
                        <a:t>长仓：平均</a:t>
                      </a:r>
                      <a:r>
                        <a:rPr lang="en-US" altLang="zh-TW" sz="1100" b="0" i="0" u="none" strike="noStrike" dirty="0">
                          <a:solidFill>
                            <a:srgbClr val="000000"/>
                          </a:solidFill>
                          <a:effectLst/>
                          <a:latin typeface="等线" panose="02010600030101010101" charset="-122"/>
                          <a:ea typeface="等线" panose="02010600030101010101" charset="-122"/>
                        </a:rPr>
                        <a:t>100%</a:t>
                      </a:r>
                      <a:r>
                        <a:rPr lang="zh-TW" altLang="en-US" sz="1100" b="0" i="0" u="none" strike="noStrike" dirty="0">
                          <a:solidFill>
                            <a:srgbClr val="000000"/>
                          </a:solidFill>
                          <a:effectLst/>
                          <a:latin typeface="等线" panose="02010600030101010101" charset="-122"/>
                          <a:ea typeface="等线" panose="02010600030101010101" charset="-122"/>
                        </a:rPr>
                        <a:t>；短仓：平均</a:t>
                      </a:r>
                      <a:r>
                        <a:rPr lang="en-US" altLang="zh-TW" sz="1100" b="0" i="0" u="none" strike="noStrike" dirty="0">
                          <a:solidFill>
                            <a:srgbClr val="000000"/>
                          </a:solidFill>
                          <a:effectLst/>
                          <a:latin typeface="等线" panose="02010600030101010101" charset="-122"/>
                          <a:ea typeface="等线" panose="02010600030101010101" charset="-122"/>
                        </a:rPr>
                        <a:t>20%</a:t>
                      </a:r>
                      <a:endParaRPr lang="en-US" altLang="zh-TW" sz="1100" b="0" i="0" u="none" strike="noStrike" dirty="0">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r>
              <a:tr h="431259">
                <a:tc vMerge="1">
                  <a:tcPr/>
                </a:tc>
                <a:tc gridSpan="2">
                  <a:txBody>
                    <a:bodyPr/>
                    <a:lstStyle/>
                    <a:p>
                      <a:pPr algn="ctr" rtl="0" fontAlgn="ctr"/>
                      <a:r>
                        <a:rPr lang="zh-TW" altLang="en-US" sz="1100" b="0" i="0" u="none" strike="noStrike">
                          <a:solidFill>
                            <a:srgbClr val="000000"/>
                          </a:solidFill>
                          <a:effectLst/>
                          <a:latin typeface="等线" panose="02010600030101010101" charset="-122"/>
                          <a:ea typeface="等线" panose="02010600030101010101" charset="-122"/>
                        </a:rPr>
                        <a:t>总仓位：平均</a:t>
                      </a:r>
                      <a:r>
                        <a:rPr lang="en-US" altLang="zh-TW" sz="1100" b="0" i="0" u="none" strike="noStrike">
                          <a:solidFill>
                            <a:srgbClr val="000000"/>
                          </a:solidFill>
                          <a:effectLst/>
                          <a:latin typeface="等线" panose="02010600030101010101" charset="-122"/>
                          <a:ea typeface="等线" panose="02010600030101010101" charset="-122"/>
                        </a:rPr>
                        <a:t>125%</a:t>
                      </a:r>
                      <a:r>
                        <a:rPr lang="zh-TW" altLang="en-US" sz="1100" b="0" i="0" u="none" strike="noStrike">
                          <a:solidFill>
                            <a:srgbClr val="000000"/>
                          </a:solidFill>
                          <a:effectLst/>
                          <a:latin typeface="等线" panose="02010600030101010101" charset="-122"/>
                          <a:ea typeface="等线" panose="02010600030101010101" charset="-122"/>
                        </a:rPr>
                        <a:t>；净仓位：平均</a:t>
                      </a:r>
                      <a:r>
                        <a:rPr lang="en-US" altLang="zh-TW" sz="1100" b="0" i="0" u="none" strike="noStrike">
                          <a:solidFill>
                            <a:srgbClr val="000000"/>
                          </a:solidFill>
                          <a:effectLst/>
                          <a:latin typeface="等线" panose="02010600030101010101" charset="-122"/>
                          <a:ea typeface="等线" panose="02010600030101010101" charset="-122"/>
                        </a:rPr>
                        <a:t>85%</a:t>
                      </a:r>
                      <a:endParaRPr lang="en-US" altLang="zh-TW" sz="1100" b="0" i="0" u="none" strike="noStrike">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hMerge="1">
                  <a:tcPr/>
                </a:tc>
                <a:tc>
                  <a:txBody>
                    <a:bodyPr/>
                    <a:lstStyle/>
                    <a:p>
                      <a:pPr algn="ctr" rtl="0" fontAlgn="ctr"/>
                      <a:r>
                        <a:rPr lang="zh-TW" altLang="en-US" sz="1100" b="0" i="0" u="none" strike="noStrike" dirty="0">
                          <a:solidFill>
                            <a:srgbClr val="000000"/>
                          </a:solidFill>
                          <a:effectLst/>
                          <a:latin typeface="等线" panose="02010600030101010101" charset="-122"/>
                          <a:ea typeface="等线" panose="02010600030101010101" charset="-122"/>
                        </a:rPr>
                        <a:t>总仓位：平均</a:t>
                      </a:r>
                      <a:r>
                        <a:rPr lang="en-US" altLang="zh-TW" sz="1100" b="0" i="0" u="none" strike="noStrike" dirty="0">
                          <a:solidFill>
                            <a:srgbClr val="000000"/>
                          </a:solidFill>
                          <a:effectLst/>
                          <a:latin typeface="等线" panose="02010600030101010101" charset="-122"/>
                          <a:ea typeface="等线" panose="02010600030101010101" charset="-122"/>
                        </a:rPr>
                        <a:t>120%</a:t>
                      </a:r>
                      <a:r>
                        <a:rPr lang="zh-TW" altLang="en-US" sz="1100" b="0" i="0" u="none" strike="noStrike" dirty="0">
                          <a:solidFill>
                            <a:srgbClr val="000000"/>
                          </a:solidFill>
                          <a:effectLst/>
                          <a:latin typeface="等线" panose="02010600030101010101" charset="-122"/>
                          <a:ea typeface="等线" panose="02010600030101010101" charset="-122"/>
                        </a:rPr>
                        <a:t>；净仓位：平均</a:t>
                      </a:r>
                      <a:r>
                        <a:rPr lang="en-US" altLang="zh-TW" sz="1100" b="0" i="0" u="none" strike="noStrike" dirty="0">
                          <a:solidFill>
                            <a:srgbClr val="000000"/>
                          </a:solidFill>
                          <a:effectLst/>
                          <a:latin typeface="等线" panose="02010600030101010101" charset="-122"/>
                          <a:ea typeface="等线" panose="02010600030101010101" charset="-122"/>
                        </a:rPr>
                        <a:t>80%</a:t>
                      </a:r>
                      <a:endParaRPr lang="en-US" altLang="zh-TW" sz="1100" b="0" i="0" u="none" strike="noStrike" dirty="0">
                        <a:solidFill>
                          <a:srgbClr val="000000"/>
                        </a:solidFill>
                        <a:effectLst/>
                        <a:latin typeface="等线" panose="02010600030101010101" charset="-122"/>
                        <a:ea typeface="等线" panose="02010600030101010101"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txBox="1"/>
          <p:nvPr/>
        </p:nvSpPr>
        <p:spPr>
          <a:xfrm>
            <a:off x="492936" y="304343"/>
            <a:ext cx="8229600" cy="423545"/>
          </a:xfrm>
          <a:prstGeom prst="rect">
            <a:avLst/>
          </a:prstGeom>
          <a:noFill/>
        </p:spPr>
        <p:txBody>
          <a:bodyPr vert="horz" wrap="square" lIns="91440" tIns="45720" rIns="91440" bIns="45720" rtlCol="0" anchor="ctr">
            <a:spAutoFit/>
          </a:bodyPr>
          <a:lstStyle>
            <a:defPPr>
              <a:defRPr lang="en-US"/>
            </a:defPPr>
            <a:lvl1pPr>
              <a:lnSpc>
                <a:spcPct val="90000"/>
              </a:lnSpc>
              <a:spcBef>
                <a:spcPct val="0"/>
              </a:spcBef>
              <a:buNone/>
              <a:defRPr sz="2800" b="1">
                <a:solidFill>
                  <a:srgbClr val="002B82"/>
                </a:solidFill>
                <a:latin typeface="微软雅黑" panose="020B0503020204020204" charset="-122"/>
                <a:ea typeface="微软雅黑" panose="020B0503020204020204" charset="-122"/>
              </a:defRPr>
            </a:lvl1pPr>
          </a:lstStyle>
          <a:p>
            <a:r>
              <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两者区别一：投资范围更全面</a:t>
            </a:r>
            <a:endPar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endParaRPr>
          </a:p>
        </p:txBody>
      </p:sp>
      <p:graphicFrame>
        <p:nvGraphicFramePr>
          <p:cNvPr id="28" name="图表 27"/>
          <p:cNvGraphicFramePr/>
          <p:nvPr/>
        </p:nvGraphicFramePr>
        <p:xfrm>
          <a:off x="394335" y="4300220"/>
          <a:ext cx="5384800" cy="186563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29" name="图表 28"/>
          <p:cNvGraphicFramePr/>
          <p:nvPr/>
        </p:nvGraphicFramePr>
        <p:xfrm>
          <a:off x="312420" y="897890"/>
          <a:ext cx="5466080" cy="3377565"/>
        </p:xfrm>
        <a:graphic>
          <a:graphicData uri="http://schemas.openxmlformats.org/drawingml/2006/chart">
            <c:chart xmlns:c="http://schemas.openxmlformats.org/drawingml/2006/chart" xmlns:r="http://schemas.openxmlformats.org/officeDocument/2006/relationships" r:id="rId2"/>
          </a:graphicData>
        </a:graphic>
      </p:graphicFrame>
      <p:sp>
        <p:nvSpPr>
          <p:cNvPr id="30" name="文本框 29"/>
          <p:cNvSpPr txBox="1"/>
          <p:nvPr/>
        </p:nvSpPr>
        <p:spPr>
          <a:xfrm>
            <a:off x="2567029" y="2817168"/>
            <a:ext cx="1197531" cy="2755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港股（多）</a:t>
            </a:r>
            <a:endParaRPr kumimoji="0" lang="zh-CN" altLang="en-US" sz="12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sp>
        <p:nvSpPr>
          <p:cNvPr id="31" name="文本框 30"/>
          <p:cNvSpPr txBox="1"/>
          <p:nvPr/>
        </p:nvSpPr>
        <p:spPr>
          <a:xfrm>
            <a:off x="2295958" y="1476292"/>
            <a:ext cx="1567990" cy="2755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中国股票（多）</a:t>
            </a:r>
            <a:endParaRPr kumimoji="0" lang="zh-CN" altLang="en-US" sz="12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sp>
        <p:nvSpPr>
          <p:cNvPr id="33" name="文本框 32"/>
          <p:cNvSpPr txBox="1"/>
          <p:nvPr/>
        </p:nvSpPr>
        <p:spPr>
          <a:xfrm>
            <a:off x="4049427" y="2032440"/>
            <a:ext cx="1729274" cy="2755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美股中概股（多）</a:t>
            </a:r>
            <a:endParaRPr kumimoji="0" lang="zh-CN" altLang="en-US" sz="12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sp>
        <p:nvSpPr>
          <p:cNvPr id="34" name="文本框 33"/>
          <p:cNvSpPr txBox="1"/>
          <p:nvPr/>
        </p:nvSpPr>
        <p:spPr>
          <a:xfrm>
            <a:off x="3273632" y="1664725"/>
            <a:ext cx="1818370"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纯美股</a:t>
            </a:r>
            <a:r>
              <a:rPr kumimoji="0" lang="en-US" altLang="zh-CN" sz="1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r>
              <a:rPr kumimoji="0" lang="zh-CN" altLang="en-US" sz="1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其它市场（多）</a:t>
            </a:r>
            <a:endParaRPr kumimoji="0" lang="zh-CN" altLang="en-US" sz="1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35" name="文本框 34"/>
          <p:cNvSpPr txBox="1"/>
          <p:nvPr/>
        </p:nvSpPr>
        <p:spPr>
          <a:xfrm>
            <a:off x="280916" y="6398308"/>
            <a:ext cx="4314825" cy="213995"/>
          </a:xfrm>
          <a:prstGeom prst="rect">
            <a:avLst/>
          </a:prstGeom>
          <a:noFill/>
        </p:spPr>
        <p:txBody>
          <a:bodyPr wrap="square" rtlCol="0">
            <a:spAutoFit/>
          </a:bodyPr>
          <a:lstStyle>
            <a:defPPr>
              <a:defRPr lang="zh-CN"/>
            </a:defPPr>
            <a:lvl1pPr>
              <a:defRPr sz="800">
                <a:latin typeface="微软雅黑" panose="020B0503020204020204" charset="-122"/>
                <a:ea typeface="微软雅黑" panose="020B050302020402020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备注：其它市场包括纯美股、加拿大、澳洲等</a:t>
            </a:r>
            <a:endParaRPr kumimoji="0" lang="zh-CN" altLang="en-US" sz="800" b="0"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36" name="文本框 35"/>
          <p:cNvSpPr txBox="1"/>
          <p:nvPr/>
        </p:nvSpPr>
        <p:spPr>
          <a:xfrm>
            <a:off x="2337169" y="4452096"/>
            <a:ext cx="1197531" cy="2755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港股（空）</a:t>
            </a:r>
            <a:endParaRPr kumimoji="0" lang="zh-CN" altLang="en-US" sz="120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sp>
        <p:nvSpPr>
          <p:cNvPr id="37" name="文本框 36"/>
          <p:cNvSpPr txBox="1"/>
          <p:nvPr/>
        </p:nvSpPr>
        <p:spPr>
          <a:xfrm>
            <a:off x="1061082" y="4623535"/>
            <a:ext cx="1832197" cy="2527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美股中概股（空）</a:t>
            </a:r>
            <a:endParaRPr kumimoji="0" lang="zh-CN" altLang="en-US" sz="105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sp>
        <p:nvSpPr>
          <p:cNvPr id="38" name="文本框 37"/>
          <p:cNvSpPr txBox="1"/>
          <p:nvPr/>
        </p:nvSpPr>
        <p:spPr>
          <a:xfrm>
            <a:off x="2196580" y="5585805"/>
            <a:ext cx="1567990" cy="2527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5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rPr>
              <a:t>中国股票（空）</a:t>
            </a:r>
            <a:endParaRPr kumimoji="0" lang="zh-CN" altLang="en-US" sz="1050" b="1" i="0" u="none" strike="noStrike" kern="1200" cap="none" spc="0" normalizeH="0" baseline="0" noProof="0" dirty="0">
              <a:ln>
                <a:noFill/>
              </a:ln>
              <a:solidFill>
                <a:srgbClr val="C00000"/>
              </a:solidFill>
              <a:effectLst/>
              <a:uLnTx/>
              <a:uFillTx/>
              <a:latin typeface="等线" panose="02010600030101010101" charset="-122"/>
              <a:ea typeface="等线" panose="02010600030101010101" charset="-122"/>
              <a:cs typeface="+mn-cs"/>
            </a:endParaRPr>
          </a:p>
        </p:txBody>
      </p:sp>
      <p:sp>
        <p:nvSpPr>
          <p:cNvPr id="39" name="文本框 38"/>
          <p:cNvSpPr txBox="1"/>
          <p:nvPr/>
        </p:nvSpPr>
        <p:spPr>
          <a:xfrm>
            <a:off x="4499206" y="4790077"/>
            <a:ext cx="1818370" cy="245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纯美股</a:t>
            </a:r>
            <a:r>
              <a:rPr kumimoji="0" lang="en-US" altLang="zh-CN" sz="1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a:t>
            </a:r>
            <a:r>
              <a:rPr kumimoji="0" lang="zh-CN" altLang="en-US" sz="1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其它市场（空）</a:t>
            </a:r>
            <a:endParaRPr kumimoji="0" lang="zh-CN" altLang="en-US" sz="1000" b="1"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graphicFrame>
        <p:nvGraphicFramePr>
          <p:cNvPr id="40" name="图表 39"/>
          <p:cNvGraphicFramePr/>
          <p:nvPr/>
        </p:nvGraphicFramePr>
        <p:xfrm>
          <a:off x="5941695" y="897890"/>
          <a:ext cx="6052820" cy="3013710"/>
        </p:xfrm>
        <a:graphic>
          <a:graphicData uri="http://schemas.openxmlformats.org/drawingml/2006/chart">
            <c:chart xmlns:c="http://schemas.openxmlformats.org/drawingml/2006/chart" xmlns:r="http://schemas.openxmlformats.org/officeDocument/2006/relationships" r:id="rId3"/>
          </a:graphicData>
        </a:graphic>
      </p:graphicFrame>
      <p:sp>
        <p:nvSpPr>
          <p:cNvPr id="41" name="文本框 40"/>
          <p:cNvSpPr txBox="1"/>
          <p:nvPr/>
        </p:nvSpPr>
        <p:spPr>
          <a:xfrm>
            <a:off x="8126590" y="2926831"/>
            <a:ext cx="1197531" cy="306705"/>
          </a:xfrm>
          <a:prstGeom prst="rect">
            <a:avLst/>
          </a:prstGeom>
          <a:noFill/>
        </p:spPr>
        <p:txBody>
          <a:bodyPr wrap="square" rtlCol="0">
            <a:spAutoFit/>
          </a:bodyPr>
          <a:p>
            <a:r>
              <a:rPr lang="zh-CN" altLang="en-US" sz="1400" b="1" dirty="0" smtClean="0">
                <a:solidFill>
                  <a:schemeClr val="bg1"/>
                </a:solidFill>
                <a:latin typeface="等线" panose="02010600030101010101" charset="-122"/>
                <a:ea typeface="等线" panose="02010600030101010101" charset="-122"/>
              </a:rPr>
              <a:t>港股</a:t>
            </a:r>
            <a:endParaRPr lang="zh-CN" altLang="en-US" sz="1400" b="1" dirty="0" smtClean="0">
              <a:solidFill>
                <a:schemeClr val="bg1"/>
              </a:solidFill>
              <a:latin typeface="等线" panose="02010600030101010101" charset="-122"/>
              <a:ea typeface="等线" panose="02010600030101010101" charset="-122"/>
            </a:endParaRPr>
          </a:p>
        </p:txBody>
      </p:sp>
      <p:sp>
        <p:nvSpPr>
          <p:cNvPr id="42" name="文本框 41"/>
          <p:cNvSpPr txBox="1"/>
          <p:nvPr/>
        </p:nvSpPr>
        <p:spPr>
          <a:xfrm>
            <a:off x="8744655" y="2536652"/>
            <a:ext cx="1729274" cy="306705"/>
          </a:xfrm>
          <a:prstGeom prst="rect">
            <a:avLst/>
          </a:prstGeom>
          <a:noFill/>
        </p:spPr>
        <p:txBody>
          <a:bodyPr wrap="square" rtlCol="0">
            <a:spAutoFit/>
          </a:bodyPr>
          <a:p>
            <a:r>
              <a:rPr lang="zh-CN" altLang="en-US" sz="1400" b="1" dirty="0" smtClean="0">
                <a:solidFill>
                  <a:schemeClr val="bg1"/>
                </a:solidFill>
                <a:latin typeface="等线" panose="02010600030101010101" charset="-122"/>
                <a:ea typeface="等线" panose="02010600030101010101" charset="-122"/>
                <a:cs typeface="等线" panose="02010600030101010101" charset="-122"/>
              </a:rPr>
              <a:t>中概股</a:t>
            </a:r>
            <a:r>
              <a:rPr lang="en-US" altLang="zh-CN" sz="1400" b="1" dirty="0" smtClean="0">
                <a:solidFill>
                  <a:schemeClr val="bg1"/>
                </a:solidFill>
                <a:latin typeface="等线" panose="02010600030101010101" charset="-122"/>
                <a:ea typeface="等线" panose="02010600030101010101" charset="-122"/>
                <a:cs typeface="等线" panose="02010600030101010101" charset="-122"/>
              </a:rPr>
              <a:t>ADR</a:t>
            </a:r>
            <a:endParaRPr lang="zh-CN" altLang="en-US" sz="1400" b="1" dirty="0" smtClean="0">
              <a:solidFill>
                <a:schemeClr val="bg1"/>
              </a:solidFill>
              <a:latin typeface="等线" panose="02010600030101010101" charset="-122"/>
              <a:ea typeface="等线" panose="02010600030101010101" charset="-122"/>
              <a:cs typeface="等线" panose="02010600030101010101" charset="-122"/>
            </a:endParaRPr>
          </a:p>
        </p:txBody>
      </p:sp>
      <p:sp>
        <p:nvSpPr>
          <p:cNvPr id="43" name="文本框 42"/>
          <p:cNvSpPr txBox="1"/>
          <p:nvPr/>
        </p:nvSpPr>
        <p:spPr>
          <a:xfrm>
            <a:off x="9451410" y="1939117"/>
            <a:ext cx="1729274" cy="306705"/>
          </a:xfrm>
          <a:prstGeom prst="rect">
            <a:avLst/>
          </a:prstGeom>
          <a:noFill/>
        </p:spPr>
        <p:txBody>
          <a:bodyPr wrap="square" rtlCol="0">
            <a:spAutoFit/>
          </a:bodyPr>
          <a:p>
            <a:r>
              <a:rPr lang="zh-CN" sz="1400" b="1" dirty="0" smtClean="0">
                <a:solidFill>
                  <a:schemeClr val="bg1"/>
                </a:solidFill>
                <a:latin typeface="等线" panose="02010600030101010101" charset="-122"/>
                <a:ea typeface="等线" panose="02010600030101010101" charset="-122"/>
              </a:rPr>
              <a:t>美股及其他</a:t>
            </a:r>
            <a:endParaRPr lang="zh-CN" sz="1400" b="1" dirty="0" smtClean="0">
              <a:solidFill>
                <a:schemeClr val="bg1"/>
              </a:solidFill>
              <a:latin typeface="等线" panose="02010600030101010101" charset="-122"/>
              <a:ea typeface="等线" panose="02010600030101010101" charset="-122"/>
            </a:endParaRPr>
          </a:p>
        </p:txBody>
      </p:sp>
      <p:sp>
        <p:nvSpPr>
          <p:cNvPr id="44" name="文本框 43"/>
          <p:cNvSpPr txBox="1"/>
          <p:nvPr/>
        </p:nvSpPr>
        <p:spPr>
          <a:xfrm>
            <a:off x="6108700" y="1058545"/>
            <a:ext cx="952500" cy="318135"/>
          </a:xfrm>
          <a:prstGeom prst="rect">
            <a:avLst/>
          </a:prstGeom>
          <a:noFill/>
        </p:spPr>
        <p:txBody>
          <a:bodyPr wrap="square" rtlCol="0" anchor="t">
            <a:noAutofit/>
          </a:bodyPr>
          <a:p>
            <a:pPr algn="ctr"/>
            <a:r>
              <a:rPr lang="zh-CN" altLang="en-US" sz="1200" b="1" dirty="0" smtClean="0">
                <a:solidFill>
                  <a:srgbClr val="FF0000"/>
                </a:solidFill>
                <a:latin typeface="等线" panose="02010600030101010101" charset="-122"/>
                <a:ea typeface="等线" panose="02010600030101010101" charset="-122"/>
                <a:cs typeface="等线" panose="02010600030101010101" charset="-122"/>
                <a:sym typeface="+mn-ea"/>
              </a:rPr>
              <a:t>多头部分</a:t>
            </a:r>
            <a:endParaRPr lang="zh-CN" altLang="en-US" sz="1200" b="1" dirty="0" smtClean="0">
              <a:solidFill>
                <a:srgbClr val="FF0000"/>
              </a:solidFill>
              <a:latin typeface="等线" panose="02010600030101010101" charset="-122"/>
              <a:ea typeface="等线" panose="02010600030101010101" charset="-122"/>
              <a:cs typeface="等线" panose="02010600030101010101" charset="-122"/>
              <a:sym typeface="+mn-ea"/>
            </a:endParaRPr>
          </a:p>
        </p:txBody>
      </p:sp>
      <p:graphicFrame>
        <p:nvGraphicFramePr>
          <p:cNvPr id="45" name="图表 44"/>
          <p:cNvGraphicFramePr/>
          <p:nvPr/>
        </p:nvGraphicFramePr>
        <p:xfrm>
          <a:off x="5778500" y="4064635"/>
          <a:ext cx="6124575" cy="1971040"/>
        </p:xfrm>
        <a:graphic>
          <a:graphicData uri="http://schemas.openxmlformats.org/drawingml/2006/chart">
            <c:chart xmlns:c="http://schemas.openxmlformats.org/drawingml/2006/chart" xmlns:r="http://schemas.openxmlformats.org/officeDocument/2006/relationships" r:id="rId4"/>
          </a:graphicData>
        </a:graphic>
      </p:graphicFrame>
      <p:sp>
        <p:nvSpPr>
          <p:cNvPr id="46" name="文本框 45"/>
          <p:cNvSpPr txBox="1"/>
          <p:nvPr/>
        </p:nvSpPr>
        <p:spPr>
          <a:xfrm>
            <a:off x="6108700" y="5648960"/>
            <a:ext cx="952500" cy="318135"/>
          </a:xfrm>
          <a:prstGeom prst="rect">
            <a:avLst/>
          </a:prstGeom>
          <a:noFill/>
        </p:spPr>
        <p:txBody>
          <a:bodyPr wrap="square" rtlCol="0" anchor="t">
            <a:noAutofit/>
          </a:bodyPr>
          <a:p>
            <a:pPr algn="ctr"/>
            <a:r>
              <a:rPr lang="zh-CN" altLang="en-US" sz="1200" b="1" dirty="0" smtClean="0">
                <a:solidFill>
                  <a:srgbClr val="FF0000"/>
                </a:solidFill>
                <a:latin typeface="等线" panose="02010600030101010101" charset="-122"/>
                <a:ea typeface="等线" panose="02010600030101010101" charset="-122"/>
                <a:cs typeface="等线" panose="02010600030101010101" charset="-122"/>
                <a:sym typeface="+mn-ea"/>
              </a:rPr>
              <a:t>空头部分</a:t>
            </a:r>
            <a:endParaRPr lang="zh-CN" altLang="en-US" sz="1200" b="1" dirty="0" smtClean="0">
              <a:solidFill>
                <a:srgbClr val="FF0000"/>
              </a:solidFill>
              <a:latin typeface="等线" panose="02010600030101010101" charset="-122"/>
              <a:ea typeface="等线" panose="02010600030101010101" charset="-122"/>
              <a:cs typeface="等线" panose="02010600030101010101" charset="-122"/>
              <a:sym typeface="+mn-ea"/>
            </a:endParaRPr>
          </a:p>
        </p:txBody>
      </p:sp>
      <p:sp>
        <p:nvSpPr>
          <p:cNvPr id="47" name="文本框 46"/>
          <p:cNvSpPr txBox="1"/>
          <p:nvPr/>
        </p:nvSpPr>
        <p:spPr>
          <a:xfrm>
            <a:off x="8126590" y="4168256"/>
            <a:ext cx="1197531" cy="306705"/>
          </a:xfrm>
          <a:prstGeom prst="rect">
            <a:avLst/>
          </a:prstGeom>
          <a:noFill/>
        </p:spPr>
        <p:txBody>
          <a:bodyPr wrap="square" rtlCol="0">
            <a:spAutoFit/>
          </a:bodyPr>
          <a:p>
            <a:r>
              <a:rPr lang="zh-CN" altLang="en-US" sz="1400" b="1" dirty="0" smtClean="0">
                <a:solidFill>
                  <a:schemeClr val="bg1"/>
                </a:solidFill>
                <a:latin typeface="等线" panose="02010600030101010101" charset="-122"/>
                <a:ea typeface="等线" panose="02010600030101010101" charset="-122"/>
              </a:rPr>
              <a:t>港股</a:t>
            </a:r>
            <a:endParaRPr lang="zh-CN" altLang="en-US" sz="1400" b="1" dirty="0" smtClean="0">
              <a:solidFill>
                <a:schemeClr val="bg1"/>
              </a:solidFill>
              <a:latin typeface="等线" panose="02010600030101010101" charset="-122"/>
              <a:ea typeface="等线" panose="02010600030101010101" charset="-122"/>
            </a:endParaRPr>
          </a:p>
        </p:txBody>
      </p:sp>
      <p:sp>
        <p:nvSpPr>
          <p:cNvPr id="48" name="文本框 47"/>
          <p:cNvSpPr txBox="1"/>
          <p:nvPr/>
        </p:nvSpPr>
        <p:spPr>
          <a:xfrm>
            <a:off x="8567490" y="4366087"/>
            <a:ext cx="1729274" cy="306705"/>
          </a:xfrm>
          <a:prstGeom prst="rect">
            <a:avLst/>
          </a:prstGeom>
          <a:noFill/>
        </p:spPr>
        <p:txBody>
          <a:bodyPr wrap="square" rtlCol="0">
            <a:spAutoFit/>
          </a:bodyPr>
          <a:p>
            <a:r>
              <a:rPr lang="zh-CN" altLang="en-US" sz="1400" b="1" dirty="0" smtClean="0">
                <a:solidFill>
                  <a:schemeClr val="bg1"/>
                </a:solidFill>
                <a:latin typeface="等线" panose="02010600030101010101" charset="-122"/>
                <a:ea typeface="等线" panose="02010600030101010101" charset="-122"/>
                <a:cs typeface="等线" panose="02010600030101010101" charset="-122"/>
              </a:rPr>
              <a:t>中概股</a:t>
            </a:r>
            <a:r>
              <a:rPr lang="en-US" altLang="zh-CN" sz="1400" b="1" dirty="0" smtClean="0">
                <a:solidFill>
                  <a:schemeClr val="bg1"/>
                </a:solidFill>
                <a:latin typeface="等线" panose="02010600030101010101" charset="-122"/>
                <a:ea typeface="等线" panose="02010600030101010101" charset="-122"/>
                <a:cs typeface="等线" panose="02010600030101010101" charset="-122"/>
              </a:rPr>
              <a:t>ADR</a:t>
            </a:r>
            <a:endParaRPr lang="zh-CN" altLang="en-US" sz="1400" b="1" dirty="0" smtClean="0">
              <a:solidFill>
                <a:schemeClr val="bg1"/>
              </a:solidFill>
              <a:latin typeface="等线" panose="02010600030101010101" charset="-122"/>
              <a:ea typeface="等线" panose="02010600030101010101" charset="-122"/>
              <a:cs typeface="等线" panose="02010600030101010101" charset="-122"/>
            </a:endParaRPr>
          </a:p>
        </p:txBody>
      </p:sp>
      <p:sp>
        <p:nvSpPr>
          <p:cNvPr id="49" name="文本框 48"/>
          <p:cNvSpPr txBox="1"/>
          <p:nvPr/>
        </p:nvSpPr>
        <p:spPr>
          <a:xfrm>
            <a:off x="8335080" y="4731212"/>
            <a:ext cx="1729274" cy="306705"/>
          </a:xfrm>
          <a:prstGeom prst="rect">
            <a:avLst/>
          </a:prstGeom>
          <a:noFill/>
        </p:spPr>
        <p:txBody>
          <a:bodyPr wrap="square" rtlCol="0">
            <a:spAutoFit/>
          </a:bodyPr>
          <a:p>
            <a:r>
              <a:rPr lang="zh-CN" sz="1400" b="1" dirty="0" smtClean="0">
                <a:solidFill>
                  <a:schemeClr val="bg1"/>
                </a:solidFill>
                <a:latin typeface="等线" panose="02010600030101010101" charset="-122"/>
                <a:ea typeface="等线" panose="02010600030101010101" charset="-122"/>
              </a:rPr>
              <a:t>美股及其他</a:t>
            </a:r>
            <a:endParaRPr lang="zh-CN" sz="1400" b="1" dirty="0" smtClean="0">
              <a:solidFill>
                <a:schemeClr val="bg1"/>
              </a:solidFill>
              <a:latin typeface="等线" panose="02010600030101010101" charset="-122"/>
              <a:ea typeface="等线" panose="02010600030101010101" charset="-122"/>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511755" y="6160108"/>
            <a:ext cx="9620250" cy="229870"/>
          </a:xfrm>
          <a:prstGeom prst="rect">
            <a:avLst/>
          </a:prstGeom>
          <a:noFill/>
        </p:spPr>
        <p:txBody>
          <a:bodyPr wrap="square" rtlCol="0">
            <a:spAutoFit/>
          </a:bodyPr>
          <a:lstStyle/>
          <a:p>
            <a:r>
              <a:rPr lang="zh-CN" altLang="en-US" sz="900" i="1" dirty="0">
                <a:latin typeface="+mn-ea"/>
                <a:cs typeface="Segoe UI" panose="020B0502040204020203" pitchFamily="34" charset="0"/>
              </a:rPr>
              <a:t>资料来源：景林、诺亚产品中心、</a:t>
            </a:r>
            <a:r>
              <a:rPr lang="en-US" altLang="zh-CN" sz="900" i="1" dirty="0">
                <a:latin typeface="+mn-ea"/>
                <a:cs typeface="Segoe UI" panose="020B0502040204020203" pitchFamily="34" charset="0"/>
              </a:rPr>
              <a:t>wind</a:t>
            </a:r>
            <a:r>
              <a:rPr lang="zh-CN" altLang="en-US" sz="900" i="1" dirty="0">
                <a:latin typeface="+mn-ea"/>
                <a:cs typeface="Segoe UI" panose="020B0502040204020203" pitchFamily="34" charset="0"/>
              </a:rPr>
              <a:t>、资料截至</a:t>
            </a:r>
            <a:r>
              <a:rPr lang="en-US" altLang="zh-CN" sz="900" i="1" dirty="0">
                <a:latin typeface="+mn-ea"/>
                <a:cs typeface="Segoe UI" panose="020B0502040204020203" pitchFamily="34" charset="0"/>
              </a:rPr>
              <a:t>2024/12/31</a:t>
            </a:r>
            <a:r>
              <a:rPr lang="zh-CN" altLang="en-US" sz="900" i="1" dirty="0">
                <a:latin typeface="+mn-ea"/>
                <a:cs typeface="Segoe UI" panose="020B0502040204020203" pitchFamily="34" charset="0"/>
              </a:rPr>
              <a:t>；展示端做了净值归</a:t>
            </a:r>
            <a:r>
              <a:rPr lang="en-US" altLang="zh-CN" sz="900" i="1" dirty="0">
                <a:latin typeface="+mn-ea"/>
                <a:cs typeface="Segoe UI" panose="020B0502040204020203" pitchFamily="34" charset="0"/>
              </a:rPr>
              <a:t>1</a:t>
            </a:r>
            <a:r>
              <a:rPr lang="zh-CN" altLang="en-US" sz="900" i="1" dirty="0">
                <a:latin typeface="+mn-ea"/>
                <a:cs typeface="Segoe UI" panose="020B0502040204020203" pitchFamily="34" charset="0"/>
              </a:rPr>
              <a:t>处理；景林价值选取人民币产品景林价值诺亚</a:t>
            </a:r>
            <a:r>
              <a:rPr lang="en-US" altLang="zh-CN" sz="900" i="1" dirty="0">
                <a:latin typeface="+mn-ea"/>
                <a:cs typeface="Segoe UI" panose="020B0502040204020203" pitchFamily="34" charset="0"/>
              </a:rPr>
              <a:t>1</a:t>
            </a:r>
            <a:r>
              <a:rPr lang="zh-CN" altLang="en-US" sz="900" i="1" dirty="0">
                <a:latin typeface="+mn-ea"/>
                <a:cs typeface="Segoe UI" panose="020B0502040204020203" pitchFamily="34" charset="0"/>
              </a:rPr>
              <a:t>号，景林环球、景林金色中国为美元产品业绩。</a:t>
            </a:r>
            <a:endParaRPr lang="zh-CN" altLang="en-US" sz="900" i="1" dirty="0">
              <a:latin typeface="+mn-ea"/>
              <a:cs typeface="Segoe UI" panose="020B0502040204020203" pitchFamily="34" charset="0"/>
            </a:endParaRPr>
          </a:p>
        </p:txBody>
      </p:sp>
      <p:pic>
        <p:nvPicPr>
          <p:cNvPr id="15" name="图片 14"/>
          <p:cNvPicPr>
            <a:picLocks noChangeAspect="1"/>
          </p:cNvPicPr>
          <p:nvPr/>
        </p:nvPicPr>
        <p:blipFill>
          <a:blip r:embed="rId2"/>
          <a:stretch>
            <a:fillRect/>
          </a:stretch>
        </p:blipFill>
        <p:spPr>
          <a:xfrm>
            <a:off x="6905625" y="4342130"/>
            <a:ext cx="5135880" cy="1292860"/>
          </a:xfrm>
          <a:prstGeom prst="rect">
            <a:avLst/>
          </a:prstGeom>
        </p:spPr>
      </p:pic>
      <p:graphicFrame>
        <p:nvGraphicFramePr>
          <p:cNvPr id="8" name="图表 3"/>
          <p:cNvGraphicFramePr/>
          <p:nvPr/>
        </p:nvGraphicFramePr>
        <p:xfrm>
          <a:off x="512024" y="1582898"/>
          <a:ext cx="6009293" cy="4449066"/>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10" name="表格 5"/>
          <p:cNvGraphicFramePr>
            <a:graphicFrameLocks noGrp="1"/>
          </p:cNvGraphicFramePr>
          <p:nvPr>
            <p:custDataLst>
              <p:tags r:id="rId3"/>
            </p:custDataLst>
          </p:nvPr>
        </p:nvGraphicFramePr>
        <p:xfrm>
          <a:off x="6905625" y="1583189"/>
          <a:ext cx="5135881" cy="2647942"/>
        </p:xfrm>
        <a:graphic>
          <a:graphicData uri="http://schemas.openxmlformats.org/drawingml/2006/table">
            <a:tbl>
              <a:tblPr firstRow="1">
                <a:tableStyleId>{21E4AEA4-8DFA-4A89-87EB-49C32662AFE0}</a:tableStyleId>
              </a:tblPr>
              <a:tblGrid>
                <a:gridCol w="1903353"/>
                <a:gridCol w="1616264"/>
                <a:gridCol w="1616264"/>
              </a:tblGrid>
              <a:tr h="407334">
                <a:tc>
                  <a:txBody>
                    <a:bodyPr/>
                    <a:lstStyle/>
                    <a:p>
                      <a:pPr algn="ctr" fontAlgn="ctr"/>
                      <a:endParaRPr lang="zh-CN" altLang="en-US" sz="1000" b="1" i="0" u="none" strike="noStrike" dirty="0">
                        <a:solidFill>
                          <a:sysClr val="windowText" lastClr="000000"/>
                        </a:solidFill>
                        <a:effectLst/>
                        <a:latin typeface="等线 Light" panose="02010600030101010101" charset="-122"/>
                        <a:ea typeface="等线 Light" panose="02010600030101010101" charset="-122"/>
                      </a:endParaRPr>
                    </a:p>
                  </a:txBody>
                  <a:tcPr marL="9175" marR="9175" marT="9175" marB="0"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000" u="none" strike="noStrike" dirty="0">
                          <a:solidFill>
                            <a:sysClr val="windowText" lastClr="000000"/>
                          </a:solidFill>
                          <a:effectLst/>
                          <a:latin typeface="等线 Light" panose="02010600030101010101" charset="-122"/>
                          <a:ea typeface="等线 Light" panose="02010600030101010101" charset="-122"/>
                        </a:rPr>
                        <a:t>景林环球</a:t>
                      </a:r>
                      <a:endParaRPr lang="zh-CN" altLang="en-US" sz="1000" b="1" i="0" u="none" strike="noStrike" dirty="0">
                        <a:solidFill>
                          <a:sysClr val="windowText" lastClr="000000"/>
                        </a:solidFill>
                        <a:effectLst/>
                        <a:latin typeface="等线 Light" panose="02010600030101010101" charset="-122"/>
                        <a:ea typeface="等线 Light" panose="02010600030101010101" charset="-122"/>
                      </a:endParaRPr>
                    </a:p>
                  </a:txBody>
                  <a:tcPr marL="9175" marR="9175" marT="9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zh-CN" altLang="en-US" sz="1000" u="none" strike="noStrike" dirty="0">
                          <a:solidFill>
                            <a:sysClr val="windowText" lastClr="000000"/>
                          </a:solidFill>
                          <a:effectLst/>
                          <a:latin typeface="等线 Light" panose="02010600030101010101" charset="-122"/>
                          <a:ea typeface="等线 Light" panose="02010600030101010101" charset="-122"/>
                        </a:rPr>
                        <a:t>景林金色中国</a:t>
                      </a:r>
                      <a:endParaRPr lang="zh-CN" altLang="en-US" sz="1000" b="1" i="0" u="none" strike="noStrike" dirty="0">
                        <a:solidFill>
                          <a:sysClr val="windowText" lastClr="000000"/>
                        </a:solidFill>
                        <a:effectLst/>
                        <a:latin typeface="等线 Light" panose="02010600030101010101" charset="-122"/>
                        <a:ea typeface="等线 Light" panose="02010600030101010101" charset="-122"/>
                      </a:endParaRPr>
                    </a:p>
                  </a:txBody>
                  <a:tcPr marL="9175" marR="9175" marT="9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03933">
                <a:tc>
                  <a:txBody>
                    <a:bodyPr/>
                    <a:lstStyle/>
                    <a:p>
                      <a:pPr algn="ctr" fontAlgn="b"/>
                      <a:r>
                        <a:rPr lang="zh-CN" altLang="en-US" sz="1000" b="1" u="none" strike="noStrike" dirty="0">
                          <a:solidFill>
                            <a:sysClr val="windowText" lastClr="000000"/>
                          </a:solidFill>
                          <a:effectLst/>
                          <a:latin typeface="等线 Light" panose="02010600030101010101" charset="-122"/>
                          <a:ea typeface="等线 Light" panose="02010600030101010101" charset="-122"/>
                        </a:rPr>
                        <a:t>对比区间</a:t>
                      </a:r>
                      <a:endParaRPr lang="zh-CN" altLang="en-US" sz="1000" b="1" i="0" u="none" strike="noStrike" dirty="0">
                        <a:solidFill>
                          <a:sysClr val="windowText" lastClr="000000"/>
                        </a:solidFill>
                        <a:effectLst/>
                        <a:latin typeface="等线 Light" panose="02010600030101010101" charset="-122"/>
                        <a:ea typeface="等线 Light" panose="02010600030101010101" charset="-122"/>
                      </a:endParaRPr>
                    </a:p>
                  </a:txBody>
                  <a:tcPr marL="9175" marR="9175" marT="9175" marB="0"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fontAlgn="b"/>
                      <a:r>
                        <a:rPr lang="en-US" altLang="zh-CN" sz="1000" u="none" strike="noStrike" dirty="0">
                          <a:solidFill>
                            <a:sysClr val="windowText" lastClr="000000"/>
                          </a:solidFill>
                          <a:effectLst/>
                          <a:latin typeface="等线 Light" panose="02010600030101010101" charset="-122"/>
                          <a:ea typeface="等线 Light" panose="02010600030101010101" charset="-122"/>
                        </a:rPr>
                        <a:t>2020</a:t>
                      </a:r>
                      <a:r>
                        <a:rPr lang="zh-CN" altLang="en-US" sz="1000" u="none" strike="noStrike" dirty="0">
                          <a:solidFill>
                            <a:sysClr val="windowText" lastClr="000000"/>
                          </a:solidFill>
                          <a:effectLst/>
                          <a:latin typeface="等线 Light" panose="02010600030101010101" charset="-122"/>
                          <a:ea typeface="等线 Light" panose="02010600030101010101" charset="-122"/>
                        </a:rPr>
                        <a:t>年</a:t>
                      </a:r>
                      <a:r>
                        <a:rPr lang="en-US" altLang="zh-CN" sz="1000" u="none" strike="noStrike" dirty="0">
                          <a:solidFill>
                            <a:sysClr val="windowText" lastClr="000000"/>
                          </a:solidFill>
                          <a:effectLst/>
                          <a:latin typeface="等线 Light" panose="02010600030101010101" charset="-122"/>
                          <a:ea typeface="等线 Light" panose="02010600030101010101" charset="-122"/>
                        </a:rPr>
                        <a:t>8</a:t>
                      </a:r>
                      <a:r>
                        <a:rPr lang="zh-CN" altLang="en-US" sz="1000" u="none" strike="noStrike" dirty="0">
                          <a:solidFill>
                            <a:sysClr val="windowText" lastClr="000000"/>
                          </a:solidFill>
                          <a:effectLst/>
                          <a:latin typeface="等线 Light" panose="02010600030101010101" charset="-122"/>
                          <a:ea typeface="等线 Light" panose="02010600030101010101" charset="-122"/>
                        </a:rPr>
                        <a:t>月</a:t>
                      </a:r>
                      <a:r>
                        <a:rPr lang="en-US" altLang="zh-CN" sz="1000" u="none" strike="noStrike" dirty="0">
                          <a:solidFill>
                            <a:sysClr val="windowText" lastClr="000000"/>
                          </a:solidFill>
                          <a:effectLst/>
                          <a:latin typeface="等线 Light" panose="02010600030101010101" charset="-122"/>
                          <a:ea typeface="等线 Light" panose="02010600030101010101" charset="-122"/>
                        </a:rPr>
                        <a:t>-2024</a:t>
                      </a:r>
                      <a:r>
                        <a:rPr lang="zh-CN" altLang="en-US" sz="1000" u="none" strike="noStrike" dirty="0">
                          <a:solidFill>
                            <a:sysClr val="windowText" lastClr="000000"/>
                          </a:solidFill>
                          <a:effectLst/>
                          <a:latin typeface="等线 Light" panose="02010600030101010101" charset="-122"/>
                          <a:ea typeface="等线 Light" panose="02010600030101010101" charset="-122"/>
                        </a:rPr>
                        <a:t>年</a:t>
                      </a:r>
                      <a:r>
                        <a:rPr lang="en-US" altLang="zh-CN" sz="1000" u="none" strike="noStrike" dirty="0">
                          <a:solidFill>
                            <a:sysClr val="windowText" lastClr="000000"/>
                          </a:solidFill>
                          <a:effectLst/>
                          <a:latin typeface="等线 Light" panose="02010600030101010101" charset="-122"/>
                          <a:ea typeface="等线 Light" panose="02010600030101010101" charset="-122"/>
                        </a:rPr>
                        <a:t>12</a:t>
                      </a:r>
                      <a:r>
                        <a:rPr lang="zh-CN" altLang="en-US" sz="1000" u="none" strike="noStrike" dirty="0">
                          <a:solidFill>
                            <a:sysClr val="windowText" lastClr="000000"/>
                          </a:solidFill>
                          <a:effectLst/>
                          <a:latin typeface="等线 Light" panose="02010600030101010101" charset="-122"/>
                          <a:ea typeface="等线 Light" panose="02010600030101010101" charset="-122"/>
                        </a:rPr>
                        <a:t>月</a:t>
                      </a:r>
                      <a:endParaRPr lang="zh-CN" altLang="en-US" sz="1000" u="none" strike="noStrike" dirty="0">
                        <a:solidFill>
                          <a:sysClr val="windowText" lastClr="000000"/>
                        </a:solidFill>
                        <a:effectLst/>
                        <a:latin typeface="等线 Light" panose="02010600030101010101" charset="-122"/>
                        <a:ea typeface="等线 Light" panose="02010600030101010101" charset="-122"/>
                      </a:endParaRPr>
                    </a:p>
                  </a:txBody>
                  <a:tcPr marL="9175" marR="9175" marT="91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cPr marL="9175" marR="9175" marT="917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03933">
                <a:tc>
                  <a:txBody>
                    <a:bodyPr/>
                    <a:lstStyle/>
                    <a:p>
                      <a:pPr algn="ctr" fontAlgn="b"/>
                      <a:r>
                        <a:rPr lang="zh-CN" altLang="en-US" sz="1000" b="1" u="none" strike="noStrike" dirty="0">
                          <a:solidFill>
                            <a:sysClr val="windowText" lastClr="000000"/>
                          </a:solidFill>
                          <a:effectLst/>
                          <a:latin typeface="等线 Light" panose="02010600030101010101" charset="-122"/>
                          <a:ea typeface="等线 Light" panose="02010600030101010101" charset="-122"/>
                        </a:rPr>
                        <a:t>累计收益率</a:t>
                      </a:r>
                      <a:endParaRPr lang="zh-CN" altLang="en-US" sz="1000" b="1" i="0" u="none" strike="noStrike" dirty="0">
                        <a:solidFill>
                          <a:sysClr val="windowText" lastClr="000000"/>
                        </a:solidFill>
                        <a:effectLst/>
                        <a:latin typeface="等线 Light" panose="02010600030101010101" charset="-122"/>
                        <a:ea typeface="等线 Light" panose="02010600030101010101" charset="-122"/>
                      </a:endParaRPr>
                    </a:p>
                  </a:txBody>
                  <a:tcPr marL="9175" marR="9175" marT="9175" marB="0"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000" b="0" i="0" dirty="0">
                          <a:solidFill>
                            <a:srgbClr val="000000"/>
                          </a:solidFill>
                          <a:latin typeface="等线" panose="02010600030101010101" charset="-122"/>
                          <a:ea typeface="等线" panose="02010600030101010101" charset="-122"/>
                        </a:rPr>
                        <a:t>104.36%</a:t>
                      </a:r>
                      <a:endParaRPr lang="en-US" altLang="zh-CN" sz="1000" b="0" i="0" dirty="0">
                        <a:solidFill>
                          <a:srgbClr val="000000"/>
                        </a:solidFill>
                        <a:latin typeface="等线" panose="02010600030101010101" charset="-122"/>
                        <a:ea typeface="等线" panose="02010600030101010101" charset="-122"/>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000" b="0" i="0" dirty="0">
                          <a:solidFill>
                            <a:srgbClr val="000000"/>
                          </a:solidFill>
                          <a:latin typeface="等线" panose="02010600030101010101" charset="-122"/>
                          <a:ea typeface="等线" panose="02010600030101010101" charset="-122"/>
                        </a:rPr>
                        <a:t>1.86%</a:t>
                      </a:r>
                      <a:endParaRPr lang="en-US" altLang="zh-CN" sz="1000" b="0" i="0" dirty="0">
                        <a:solidFill>
                          <a:srgbClr val="000000"/>
                        </a:solidFill>
                        <a:latin typeface="等线" panose="02010600030101010101" charset="-122"/>
                        <a:ea typeface="等线" panose="02010600030101010101" charset="-122"/>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02871">
                <a:tc>
                  <a:txBody>
                    <a:bodyPr/>
                    <a:lstStyle/>
                    <a:p>
                      <a:pPr algn="ctr" fontAlgn="b"/>
                      <a:r>
                        <a:rPr lang="zh-CN" altLang="en-US" sz="1000" b="1" u="none" strike="noStrike" dirty="0">
                          <a:solidFill>
                            <a:sysClr val="windowText" lastClr="000000"/>
                          </a:solidFill>
                          <a:effectLst/>
                          <a:latin typeface="等线 Light" panose="02010600030101010101" charset="-122"/>
                          <a:ea typeface="等线 Light" panose="02010600030101010101" charset="-122"/>
                        </a:rPr>
                        <a:t>年化收益率</a:t>
                      </a:r>
                      <a:endParaRPr lang="zh-CN" altLang="en-US" sz="1000" b="1" i="0" u="none" strike="noStrike" dirty="0">
                        <a:solidFill>
                          <a:sysClr val="windowText" lastClr="000000"/>
                        </a:solidFill>
                        <a:effectLst/>
                        <a:latin typeface="等线 Light" panose="02010600030101010101" charset="-122"/>
                        <a:ea typeface="等线 Light" panose="02010600030101010101" charset="-122"/>
                      </a:endParaRPr>
                    </a:p>
                  </a:txBody>
                  <a:tcPr marL="9175" marR="9175" marT="9175" marB="0"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000" b="1" i="0" dirty="0">
                          <a:solidFill>
                            <a:srgbClr val="C00000"/>
                          </a:solidFill>
                          <a:latin typeface="等线" panose="02010600030101010101" charset="-122"/>
                          <a:ea typeface="等线" panose="02010600030101010101" charset="-122"/>
                        </a:rPr>
                        <a:t>17.55%</a:t>
                      </a:r>
                      <a:endParaRPr lang="en-US" altLang="zh-CN" sz="1000" b="1" i="0" dirty="0">
                        <a:solidFill>
                          <a:srgbClr val="C00000"/>
                        </a:solidFill>
                        <a:latin typeface="等线" panose="02010600030101010101" charset="-122"/>
                        <a:ea typeface="等线" panose="02010600030101010101" charset="-122"/>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000" b="1" i="0" dirty="0">
                          <a:solidFill>
                            <a:srgbClr val="C00000"/>
                          </a:solidFill>
                          <a:latin typeface="等线" panose="02010600030101010101" charset="-122"/>
                          <a:ea typeface="等线" panose="02010600030101010101" charset="-122"/>
                        </a:rPr>
                        <a:t>0.42%</a:t>
                      </a:r>
                      <a:endParaRPr lang="en-US" altLang="zh-CN" sz="1000" b="1" i="0" dirty="0">
                        <a:solidFill>
                          <a:srgbClr val="C00000"/>
                        </a:solidFill>
                        <a:latin typeface="等线" panose="02010600030101010101" charset="-122"/>
                        <a:ea typeface="等线" panose="02010600030101010101" charset="-122"/>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03933">
                <a:tc>
                  <a:txBody>
                    <a:bodyPr/>
                    <a:lstStyle/>
                    <a:p>
                      <a:pPr algn="ctr" fontAlgn="b"/>
                      <a:r>
                        <a:rPr lang="zh-CN" altLang="en-US" sz="1000" b="1" u="none" strike="noStrike" dirty="0">
                          <a:solidFill>
                            <a:sysClr val="windowText" lastClr="000000"/>
                          </a:solidFill>
                          <a:effectLst/>
                          <a:latin typeface="等线 Light" panose="02010600030101010101" charset="-122"/>
                          <a:ea typeface="等线 Light" panose="02010600030101010101" charset="-122"/>
                        </a:rPr>
                        <a:t>最大回撤（月度）</a:t>
                      </a:r>
                      <a:endParaRPr lang="zh-CN" altLang="en-US" sz="1000" b="1" i="0" u="none" strike="noStrike" dirty="0">
                        <a:solidFill>
                          <a:sysClr val="windowText" lastClr="000000"/>
                        </a:solidFill>
                        <a:effectLst/>
                        <a:latin typeface="等线 Light" panose="02010600030101010101" charset="-122"/>
                        <a:ea typeface="等线 Light" panose="02010600030101010101" charset="-122"/>
                      </a:endParaRPr>
                    </a:p>
                  </a:txBody>
                  <a:tcPr marL="9175" marR="9175" marT="9175" marB="0"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000" b="0" i="0" dirty="0">
                          <a:solidFill>
                            <a:srgbClr val="000000"/>
                          </a:solidFill>
                          <a:latin typeface="等线" panose="02010600030101010101" charset="-122"/>
                          <a:ea typeface="等线" panose="02010600030101010101" charset="-122"/>
                        </a:rPr>
                        <a:t>-40.76%</a:t>
                      </a:r>
                      <a:endParaRPr lang="en-US" altLang="zh-CN" sz="1000" b="0" i="0" dirty="0">
                        <a:solidFill>
                          <a:srgbClr val="000000"/>
                        </a:solidFill>
                        <a:latin typeface="等线" panose="02010600030101010101" charset="-122"/>
                        <a:ea typeface="等线" panose="02010600030101010101" charset="-122"/>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000" b="0" i="0" dirty="0">
                          <a:solidFill>
                            <a:srgbClr val="000000"/>
                          </a:solidFill>
                          <a:latin typeface="等线" panose="02010600030101010101" charset="-122"/>
                          <a:ea typeface="等线" panose="02010600030101010101" charset="-122"/>
                        </a:rPr>
                        <a:t>-46.72%</a:t>
                      </a:r>
                      <a:endParaRPr lang="en-US" altLang="zh-CN" sz="1000" b="0" i="0" dirty="0">
                        <a:solidFill>
                          <a:srgbClr val="000000"/>
                        </a:solidFill>
                        <a:latin typeface="等线" panose="02010600030101010101" charset="-122"/>
                        <a:ea typeface="等线" panose="02010600030101010101" charset="-122"/>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03933">
                <a:tc>
                  <a:txBody>
                    <a:bodyPr/>
                    <a:lstStyle/>
                    <a:p>
                      <a:pPr algn="ctr" fontAlgn="b"/>
                      <a:r>
                        <a:rPr lang="zh-CN" altLang="en-US" sz="1000" b="1" u="none" strike="noStrike" dirty="0">
                          <a:solidFill>
                            <a:sysClr val="windowText" lastClr="000000"/>
                          </a:solidFill>
                          <a:effectLst/>
                          <a:latin typeface="等线 Light" panose="02010600030101010101" charset="-122"/>
                          <a:ea typeface="等线 Light" panose="02010600030101010101" charset="-122"/>
                        </a:rPr>
                        <a:t>年化波动率</a:t>
                      </a:r>
                      <a:endParaRPr lang="zh-CN" altLang="en-US" sz="1000" b="1" i="0" u="none" strike="noStrike" dirty="0">
                        <a:solidFill>
                          <a:sysClr val="windowText" lastClr="000000"/>
                        </a:solidFill>
                        <a:effectLst/>
                        <a:latin typeface="等线 Light" panose="02010600030101010101" charset="-122"/>
                        <a:ea typeface="等线 Light" panose="02010600030101010101" charset="-122"/>
                      </a:endParaRPr>
                    </a:p>
                  </a:txBody>
                  <a:tcPr marL="9175" marR="9175" marT="9175" marB="0"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000" b="0" i="0" dirty="0">
                          <a:solidFill>
                            <a:srgbClr val="000000"/>
                          </a:solidFill>
                          <a:latin typeface="等线" panose="02010600030101010101" charset="-122"/>
                          <a:ea typeface="等线" panose="02010600030101010101" charset="-122"/>
                        </a:rPr>
                        <a:t>18.22%</a:t>
                      </a:r>
                      <a:endParaRPr lang="en-US" altLang="zh-CN" sz="1000" b="0" i="0" dirty="0">
                        <a:solidFill>
                          <a:srgbClr val="000000"/>
                        </a:solidFill>
                        <a:latin typeface="等线" panose="02010600030101010101" charset="-122"/>
                        <a:ea typeface="等线" panose="02010600030101010101" charset="-122"/>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000" b="0" i="0" dirty="0">
                          <a:solidFill>
                            <a:srgbClr val="000000"/>
                          </a:solidFill>
                          <a:latin typeface="等线" panose="02010600030101010101" charset="-122"/>
                          <a:ea typeface="等线" panose="02010600030101010101" charset="-122"/>
                        </a:rPr>
                        <a:t>25.63%</a:t>
                      </a:r>
                      <a:endParaRPr lang="en-US" altLang="zh-CN" sz="1000" b="0" i="0" dirty="0">
                        <a:solidFill>
                          <a:srgbClr val="000000"/>
                        </a:solidFill>
                        <a:latin typeface="等线" panose="02010600030101010101" charset="-122"/>
                        <a:ea typeface="等线" panose="02010600030101010101" charset="-122"/>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03933">
                <a:tc>
                  <a:txBody>
                    <a:bodyPr/>
                    <a:lstStyle/>
                    <a:p>
                      <a:pPr algn="ctr" fontAlgn="b"/>
                      <a:r>
                        <a:rPr lang="zh-CN" altLang="en-US" sz="1000" b="1" u="none" strike="noStrike" dirty="0">
                          <a:solidFill>
                            <a:sysClr val="windowText" lastClr="000000"/>
                          </a:solidFill>
                          <a:effectLst/>
                          <a:latin typeface="等线 Light" panose="02010600030101010101" charset="-122"/>
                          <a:ea typeface="等线 Light" panose="02010600030101010101" charset="-122"/>
                        </a:rPr>
                        <a:t>风险收益比</a:t>
                      </a:r>
                      <a:endParaRPr lang="zh-CN" altLang="en-US" sz="1000" b="1" i="0" u="none" strike="noStrike" dirty="0">
                        <a:solidFill>
                          <a:sysClr val="windowText" lastClr="000000"/>
                        </a:solidFill>
                        <a:effectLst/>
                        <a:latin typeface="等线 Light" panose="02010600030101010101" charset="-122"/>
                        <a:ea typeface="等线 Light" panose="02010600030101010101" charset="-122"/>
                      </a:endParaRPr>
                    </a:p>
                  </a:txBody>
                  <a:tcPr marL="9175" marR="9175" marT="9175" marB="0"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000" b="1" i="0" dirty="0">
                          <a:solidFill>
                            <a:srgbClr val="C00000"/>
                          </a:solidFill>
                          <a:latin typeface="等线" panose="02010600030101010101" charset="-122"/>
                          <a:ea typeface="等线" panose="02010600030101010101" charset="-122"/>
                        </a:rPr>
                        <a:t>0.96 </a:t>
                      </a:r>
                      <a:endParaRPr lang="en-US" altLang="zh-CN" sz="1000" b="1" i="0" dirty="0">
                        <a:solidFill>
                          <a:srgbClr val="C00000"/>
                        </a:solidFill>
                        <a:latin typeface="等线" panose="02010600030101010101" charset="-122"/>
                        <a:ea typeface="等线" panose="02010600030101010101" charset="-122"/>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000" b="1" i="0" dirty="0">
                          <a:solidFill>
                            <a:srgbClr val="C00000"/>
                          </a:solidFill>
                          <a:latin typeface="等线" panose="02010600030101010101" charset="-122"/>
                          <a:ea typeface="等线" panose="02010600030101010101" charset="-122"/>
                        </a:rPr>
                        <a:t>0.02</a:t>
                      </a:r>
                      <a:endParaRPr lang="en-US" altLang="zh-CN" sz="1000" b="1" i="0" dirty="0">
                        <a:solidFill>
                          <a:srgbClr val="C00000"/>
                        </a:solidFill>
                        <a:latin typeface="等线" panose="02010600030101010101" charset="-122"/>
                        <a:ea typeface="等线" panose="02010600030101010101" charset="-122"/>
                      </a:endParaRPr>
                    </a:p>
                  </a:txBody>
                  <a:tcPr marL="9842" marR="9842" marT="984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03402">
                <a:tc>
                  <a:txBody>
                    <a:bodyPr/>
                    <a:lstStyle/>
                    <a:p>
                      <a:pPr algn="ctr" fontAlgn="b"/>
                      <a:r>
                        <a:rPr lang="en-US" altLang="zh-CN" sz="1000" b="1" u="none" strike="noStrike" dirty="0">
                          <a:solidFill>
                            <a:sysClr val="windowText" lastClr="000000"/>
                          </a:solidFill>
                          <a:effectLst/>
                          <a:latin typeface="等线 Light" panose="02010600030101010101" charset="-122"/>
                          <a:ea typeface="等线 Light" panose="02010600030101010101" charset="-122"/>
                        </a:rPr>
                        <a:t>2020</a:t>
                      </a:r>
                      <a:r>
                        <a:rPr lang="zh-CN" altLang="en-US" sz="1000" b="1" u="none" strike="noStrike" dirty="0">
                          <a:solidFill>
                            <a:sysClr val="windowText" lastClr="000000"/>
                          </a:solidFill>
                          <a:effectLst/>
                          <a:latin typeface="等线 Light" panose="02010600030101010101" charset="-122"/>
                          <a:ea typeface="等线 Light" panose="02010600030101010101" charset="-122"/>
                        </a:rPr>
                        <a:t>年</a:t>
                      </a:r>
                      <a:r>
                        <a:rPr lang="en-US" altLang="zh-CN" sz="1000" b="1" u="none" strike="noStrike" dirty="0">
                          <a:solidFill>
                            <a:sysClr val="windowText" lastClr="000000"/>
                          </a:solidFill>
                          <a:effectLst/>
                          <a:latin typeface="等线 Light" panose="02010600030101010101" charset="-122"/>
                          <a:ea typeface="等线 Light" panose="02010600030101010101" charset="-122"/>
                        </a:rPr>
                        <a:t>8-12</a:t>
                      </a:r>
                      <a:r>
                        <a:rPr lang="zh-CN" altLang="en-US" sz="1000" b="1" u="none" strike="noStrike" dirty="0">
                          <a:solidFill>
                            <a:sysClr val="windowText" lastClr="000000"/>
                          </a:solidFill>
                          <a:effectLst/>
                          <a:latin typeface="等线 Light" panose="02010600030101010101" charset="-122"/>
                          <a:ea typeface="等线 Light" panose="02010600030101010101" charset="-122"/>
                        </a:rPr>
                        <a:t>月</a:t>
                      </a:r>
                      <a:endParaRPr lang="zh-CN" altLang="en-US" sz="1000" b="1" i="0" u="none" strike="noStrike" dirty="0">
                        <a:solidFill>
                          <a:sysClr val="windowText" lastClr="000000"/>
                        </a:solidFill>
                        <a:effectLst/>
                        <a:latin typeface="等线 Light" panose="02010600030101010101" charset="-122"/>
                        <a:ea typeface="等线 Light" panose="02010600030101010101" charset="-122"/>
                      </a:endParaRPr>
                    </a:p>
                  </a:txBody>
                  <a:tcPr marL="9175" marR="9175" marT="9175" marB="0"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altLang="zh-CN" sz="1000" b="0" i="0" u="none" strike="noStrike" dirty="0">
                          <a:solidFill>
                            <a:srgbClr val="000000"/>
                          </a:solidFill>
                          <a:effectLst/>
                          <a:latin typeface="等线" panose="02010600030101010101" charset="-122"/>
                          <a:ea typeface="等线" panose="02010600030101010101" charset="-122"/>
                        </a:rPr>
                        <a:t>20.15%</a:t>
                      </a:r>
                      <a:endParaRPr lang="en-US" altLang="zh-CN" sz="10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buClrTx/>
                        <a:buSzTx/>
                        <a:buFontTx/>
                      </a:pPr>
                      <a:r>
                        <a:rPr lang="en-US" altLang="zh-CN" sz="1000" b="0" i="0" dirty="0">
                          <a:solidFill>
                            <a:srgbClr val="000000"/>
                          </a:solidFill>
                          <a:effectLst/>
                          <a:latin typeface="等线" panose="02010600030101010101" charset="-122"/>
                          <a:ea typeface="等线" panose="02010600030101010101" charset="-122"/>
                        </a:rPr>
                        <a:t>7.65%</a:t>
                      </a:r>
                      <a:endParaRPr lang="en-US" altLang="zh-CN" sz="1000" b="0" i="0" dirty="0">
                        <a:solidFill>
                          <a:srgbClr val="000000"/>
                        </a:solidFill>
                        <a:effectLst/>
                        <a:latin typeface="等线" panose="02010600030101010101" charset="-122"/>
                        <a:ea typeface="等线" panose="02010600030101010101" charset="-122"/>
                      </a:endParaRPr>
                    </a:p>
                  </a:txBody>
                  <a:tcPr marL="9842" marR="9842" marT="9842" marB="0" anchor="b"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03933">
                <a:tc>
                  <a:txBody>
                    <a:bodyPr/>
                    <a:lstStyle/>
                    <a:p>
                      <a:pPr algn="ctr" fontAlgn="b"/>
                      <a:r>
                        <a:rPr lang="en-US" altLang="zh-CN" sz="1000" b="1" u="none" strike="noStrike" dirty="0">
                          <a:solidFill>
                            <a:sysClr val="windowText" lastClr="000000"/>
                          </a:solidFill>
                          <a:effectLst/>
                          <a:latin typeface="等线 Light" panose="02010600030101010101" charset="-122"/>
                          <a:ea typeface="等线 Light" panose="02010600030101010101" charset="-122"/>
                        </a:rPr>
                        <a:t>2021</a:t>
                      </a:r>
                      <a:endParaRPr lang="en-US" altLang="zh-CN" sz="1000" b="1" i="0" u="none" strike="noStrike" dirty="0">
                        <a:solidFill>
                          <a:sysClr val="windowText" lastClr="000000"/>
                        </a:solidFill>
                        <a:effectLst/>
                        <a:latin typeface="等线 Light" panose="02010600030101010101" charset="-122"/>
                        <a:ea typeface="等线 Light" panose="02010600030101010101" charset="-122"/>
                      </a:endParaRPr>
                    </a:p>
                  </a:txBody>
                  <a:tcPr marL="9175" marR="9175" marT="9175" marB="0"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altLang="zh-CN" sz="1000" b="0" i="0" u="none" strike="noStrike" dirty="0">
                          <a:solidFill>
                            <a:srgbClr val="000000"/>
                          </a:solidFill>
                          <a:effectLst/>
                          <a:latin typeface="等线" panose="02010600030101010101" charset="-122"/>
                          <a:ea typeface="等线" panose="02010600030101010101" charset="-122"/>
                        </a:rPr>
                        <a:t>6.31%</a:t>
                      </a:r>
                      <a:endParaRPr lang="en-US" altLang="zh-CN" sz="10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buClrTx/>
                        <a:buSzTx/>
                        <a:buFontTx/>
                      </a:pPr>
                      <a:r>
                        <a:rPr lang="en-US" altLang="zh-CN" sz="1000" b="0" i="0" dirty="0">
                          <a:solidFill>
                            <a:srgbClr val="000000"/>
                          </a:solidFill>
                          <a:effectLst/>
                          <a:latin typeface="等线" panose="02010600030101010101" charset="-122"/>
                          <a:ea typeface="等线" panose="02010600030101010101" charset="-122"/>
                        </a:rPr>
                        <a:t>-7.41%</a:t>
                      </a:r>
                      <a:endParaRPr lang="en-US" altLang="zh-CN" sz="1000" b="0" i="0" dirty="0">
                        <a:solidFill>
                          <a:srgbClr val="000000"/>
                        </a:solidFill>
                        <a:effectLst/>
                        <a:latin typeface="等线" panose="02010600030101010101" charset="-122"/>
                        <a:ea typeface="等线" panose="02010600030101010101" charset="-122"/>
                      </a:endParaRPr>
                    </a:p>
                  </a:txBody>
                  <a:tcPr marL="9842" marR="9842" marT="9842" marB="0" anchor="b"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03933">
                <a:tc>
                  <a:txBody>
                    <a:bodyPr/>
                    <a:lstStyle/>
                    <a:p>
                      <a:pPr algn="ctr" fontAlgn="b"/>
                      <a:r>
                        <a:rPr lang="en-US" altLang="zh-CN" sz="1000" b="1" u="none" strike="noStrike" dirty="0">
                          <a:solidFill>
                            <a:sysClr val="windowText" lastClr="000000"/>
                          </a:solidFill>
                          <a:effectLst/>
                          <a:latin typeface="等线 Light" panose="02010600030101010101" charset="-122"/>
                          <a:ea typeface="等线 Light" panose="02010600030101010101" charset="-122"/>
                        </a:rPr>
                        <a:t>2022</a:t>
                      </a:r>
                      <a:endParaRPr lang="en-US" altLang="zh-CN" sz="1000" b="1" i="0" u="none" strike="noStrike" dirty="0">
                        <a:solidFill>
                          <a:sysClr val="windowText" lastClr="000000"/>
                        </a:solidFill>
                        <a:effectLst/>
                        <a:latin typeface="等线 Light" panose="02010600030101010101" charset="-122"/>
                        <a:ea typeface="等线 Light" panose="02010600030101010101" charset="-122"/>
                      </a:endParaRPr>
                    </a:p>
                  </a:txBody>
                  <a:tcPr marL="9175" marR="9175" marT="9175" marB="0"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altLang="zh-CN" sz="1000" b="0" i="0" u="none" strike="noStrike" dirty="0">
                          <a:solidFill>
                            <a:srgbClr val="000000"/>
                          </a:solidFill>
                          <a:effectLst/>
                          <a:latin typeface="等线" panose="02010600030101010101" charset="-122"/>
                          <a:ea typeface="等线" panose="02010600030101010101" charset="-122"/>
                        </a:rPr>
                        <a:t>-16.96%</a:t>
                      </a:r>
                      <a:endParaRPr lang="en-US" altLang="zh-CN" sz="10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buClrTx/>
                        <a:buSzTx/>
                        <a:buFontTx/>
                      </a:pPr>
                      <a:r>
                        <a:rPr lang="en-US" altLang="zh-CN" sz="1000" b="0" i="0" dirty="0">
                          <a:solidFill>
                            <a:srgbClr val="000000"/>
                          </a:solidFill>
                          <a:effectLst/>
                          <a:latin typeface="等线" panose="02010600030101010101" charset="-122"/>
                          <a:ea typeface="等线" panose="02010600030101010101" charset="-122"/>
                        </a:rPr>
                        <a:t>-20.64%</a:t>
                      </a:r>
                      <a:endParaRPr lang="en-US" altLang="zh-CN" sz="1000" b="0" i="0" dirty="0">
                        <a:solidFill>
                          <a:srgbClr val="000000"/>
                        </a:solidFill>
                        <a:effectLst/>
                        <a:latin typeface="等线" panose="02010600030101010101" charset="-122"/>
                        <a:ea typeface="等线" panose="02010600030101010101" charset="-122"/>
                      </a:endParaRPr>
                    </a:p>
                  </a:txBody>
                  <a:tcPr marL="9842" marR="9842" marT="9842" marB="0" anchor="b"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03402">
                <a:tc>
                  <a:txBody>
                    <a:bodyPr/>
                    <a:lstStyle/>
                    <a:p>
                      <a:pPr algn="ctr" fontAlgn="b"/>
                      <a:r>
                        <a:rPr lang="en-US" altLang="zh-CN" sz="1000" b="1" u="none" strike="noStrike" dirty="0">
                          <a:solidFill>
                            <a:sysClr val="windowText" lastClr="000000"/>
                          </a:solidFill>
                          <a:effectLst/>
                          <a:latin typeface="等线 Light" panose="02010600030101010101" charset="-122"/>
                          <a:ea typeface="等线 Light" panose="02010600030101010101" charset="-122"/>
                        </a:rPr>
                        <a:t>2023</a:t>
                      </a:r>
                      <a:endParaRPr lang="en-US" altLang="zh-CN" sz="1000" b="1" i="0" u="none" strike="noStrike" dirty="0">
                        <a:solidFill>
                          <a:sysClr val="windowText" lastClr="000000"/>
                        </a:solidFill>
                        <a:effectLst/>
                        <a:latin typeface="等线 Light" panose="02010600030101010101" charset="-122"/>
                        <a:ea typeface="等线 Light" panose="02010600030101010101" charset="-122"/>
                      </a:endParaRPr>
                    </a:p>
                  </a:txBody>
                  <a:tcPr marL="9175" marR="9175" marT="9175" marB="0"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altLang="zh-CN" sz="1000" b="0" i="0" u="none" strike="noStrike" dirty="0">
                          <a:solidFill>
                            <a:srgbClr val="000000"/>
                          </a:solidFill>
                          <a:effectLst/>
                          <a:latin typeface="等线" panose="02010600030101010101" charset="-122"/>
                          <a:ea typeface="等线" panose="02010600030101010101" charset="-122"/>
                        </a:rPr>
                        <a:t>42.16%</a:t>
                      </a:r>
                      <a:endParaRPr lang="en-US" altLang="zh-CN" sz="10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buClrTx/>
                        <a:buSzTx/>
                        <a:buFontTx/>
                      </a:pPr>
                      <a:r>
                        <a:rPr lang="en-US" altLang="zh-CN" sz="1000" b="0" i="0" dirty="0">
                          <a:solidFill>
                            <a:srgbClr val="000000"/>
                          </a:solidFill>
                          <a:effectLst/>
                          <a:latin typeface="等线" panose="02010600030101010101" charset="-122"/>
                          <a:ea typeface="等线" panose="02010600030101010101" charset="-122"/>
                        </a:rPr>
                        <a:t>6.98%</a:t>
                      </a:r>
                      <a:endParaRPr lang="en-US" altLang="zh-CN" sz="1000" b="0" i="0" dirty="0">
                        <a:solidFill>
                          <a:srgbClr val="000000"/>
                        </a:solidFill>
                        <a:effectLst/>
                        <a:latin typeface="等线" panose="02010600030101010101" charset="-122"/>
                        <a:ea typeface="等线" panose="02010600030101010101" charset="-122"/>
                      </a:endParaRPr>
                    </a:p>
                  </a:txBody>
                  <a:tcPr marL="9842" marR="9842" marT="9842" marB="0" anchor="b"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203402">
                <a:tc>
                  <a:txBody>
                    <a:bodyPr/>
                    <a:lstStyle/>
                    <a:p>
                      <a:pPr algn="ctr" fontAlgn="b"/>
                      <a:r>
                        <a:rPr lang="en-US" altLang="zh-CN" sz="1000" b="1" u="none" strike="noStrike" dirty="0">
                          <a:solidFill>
                            <a:sysClr val="windowText" lastClr="000000"/>
                          </a:solidFill>
                          <a:effectLst/>
                          <a:latin typeface="等线 Light" panose="02010600030101010101" charset="-122"/>
                          <a:ea typeface="等线 Light" panose="02010600030101010101" charset="-122"/>
                        </a:rPr>
                        <a:t>2024</a:t>
                      </a:r>
                      <a:endParaRPr lang="zh-CN" altLang="en-US" sz="1000" b="1" i="0" u="none" strike="noStrike" dirty="0">
                        <a:solidFill>
                          <a:sysClr val="windowText" lastClr="000000"/>
                        </a:solidFill>
                        <a:effectLst/>
                        <a:latin typeface="等线 Light" panose="02010600030101010101" charset="-122"/>
                        <a:ea typeface="等线 Light" panose="02010600030101010101" charset="-122"/>
                      </a:endParaRPr>
                    </a:p>
                  </a:txBody>
                  <a:tcPr marL="9175" marR="9175" marT="9175" marB="0" anchor="ct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rtl="0" fontAlgn="b"/>
                      <a:r>
                        <a:rPr lang="en-US" altLang="zh-CN" sz="1000" b="0" i="0" u="none" strike="noStrike" dirty="0">
                          <a:solidFill>
                            <a:srgbClr val="000000"/>
                          </a:solidFill>
                          <a:effectLst/>
                          <a:latin typeface="等线" panose="02010600030101010101" charset="-122"/>
                          <a:ea typeface="等线" panose="02010600030101010101" charset="-122"/>
                        </a:rPr>
                        <a:t>35.52%</a:t>
                      </a:r>
                      <a:endParaRPr lang="en-US" altLang="zh-CN" sz="10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buClrTx/>
                        <a:buSzTx/>
                        <a:buFontTx/>
                      </a:pPr>
                      <a:r>
                        <a:rPr lang="en-US" altLang="zh-CN" sz="1000" b="0" i="0" dirty="0">
                          <a:solidFill>
                            <a:srgbClr val="000000"/>
                          </a:solidFill>
                          <a:effectLst/>
                          <a:latin typeface="等线" panose="02010600030101010101" charset="-122"/>
                          <a:ea typeface="等线" panose="02010600030101010101" charset="-122"/>
                        </a:rPr>
                        <a:t>20.36%</a:t>
                      </a:r>
                      <a:endParaRPr lang="en-US" altLang="zh-CN" sz="1000" b="0" i="0" dirty="0">
                        <a:solidFill>
                          <a:srgbClr val="000000"/>
                        </a:solidFill>
                        <a:effectLst/>
                        <a:latin typeface="等线" panose="02010600030101010101" charset="-122"/>
                        <a:ea typeface="等线" panose="02010600030101010101" charset="-122"/>
                      </a:endParaRPr>
                    </a:p>
                  </a:txBody>
                  <a:tcPr marL="9842" marR="9842" marT="9842" marB="0" anchor="b" anchorCt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11" name="标题 1"/>
          <p:cNvSpPr txBox="1"/>
          <p:nvPr/>
        </p:nvSpPr>
        <p:spPr>
          <a:xfrm>
            <a:off x="492936" y="304343"/>
            <a:ext cx="8229600" cy="423545"/>
          </a:xfrm>
          <a:prstGeom prst="rect">
            <a:avLst/>
          </a:prstGeom>
          <a:noFill/>
        </p:spPr>
        <p:txBody>
          <a:bodyPr vert="horz" wrap="square" lIns="91440" tIns="45720" rIns="91440" bIns="45720" rtlCol="0" anchor="ctr">
            <a:spAutoFit/>
          </a:bodyPr>
          <a:lstStyle>
            <a:defPPr>
              <a:defRPr lang="en-US"/>
            </a:defPPr>
            <a:lvl1pPr>
              <a:lnSpc>
                <a:spcPct val="90000"/>
              </a:lnSpc>
              <a:spcBef>
                <a:spcPct val="0"/>
              </a:spcBef>
              <a:buNone/>
              <a:defRPr sz="2800" b="1">
                <a:solidFill>
                  <a:srgbClr val="002B82"/>
                </a:solidFill>
                <a:latin typeface="微软雅黑" panose="020B0503020204020204" charset="-122"/>
                <a:ea typeface="微软雅黑" panose="020B0503020204020204" charset="-122"/>
              </a:defRPr>
            </a:lvl1pPr>
          </a:lstStyle>
          <a:p>
            <a:r>
              <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两者区别二：投资业绩更优秀</a:t>
            </a:r>
            <a:endPar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
          <p:cNvSpPr txBox="1"/>
          <p:nvPr/>
        </p:nvSpPr>
        <p:spPr>
          <a:xfrm>
            <a:off x="511755" y="256039"/>
            <a:ext cx="8229600" cy="423545"/>
          </a:xfrm>
          <a:prstGeom prst="rect">
            <a:avLst/>
          </a:prstGeom>
          <a:noFill/>
        </p:spPr>
        <p:txBody>
          <a:bodyPr vert="horz" wrap="square" lIns="91440" tIns="45720" rIns="91440" bIns="45720" rtlCol="0" anchor="ctr">
            <a:spAutoFit/>
          </a:bodyPr>
          <a:lstStyle>
            <a:defPPr>
              <a:defRPr lang="en-US"/>
            </a:defPPr>
            <a:lvl1pPr>
              <a:lnSpc>
                <a:spcPct val="90000"/>
              </a:lnSpc>
              <a:spcBef>
                <a:spcPct val="0"/>
              </a:spcBef>
              <a:buNone/>
              <a:defRPr sz="2800" b="1">
                <a:solidFill>
                  <a:srgbClr val="002B82"/>
                </a:solidFill>
                <a:latin typeface="微软雅黑" panose="020B0503020204020204" charset="-122"/>
                <a:ea typeface="微软雅黑" panose="020B0503020204020204" charset="-122"/>
              </a:defRPr>
            </a:lvl1pPr>
          </a:lstStyle>
          <a:p>
            <a:r>
              <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景林环球基金</a:t>
            </a:r>
            <a:r>
              <a:rPr lang="en-US" altLang="zh-CN"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 - </a:t>
            </a:r>
            <a:r>
              <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历史业绩</a:t>
            </a:r>
            <a:endPar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endParaRPr>
          </a:p>
        </p:txBody>
      </p:sp>
      <p:sp>
        <p:nvSpPr>
          <p:cNvPr id="6" name="object 3"/>
          <p:cNvSpPr txBox="1"/>
          <p:nvPr/>
        </p:nvSpPr>
        <p:spPr>
          <a:xfrm>
            <a:off x="689346" y="4083479"/>
            <a:ext cx="3065780" cy="283845"/>
          </a:xfrm>
          <a:prstGeom prst="rect">
            <a:avLst/>
          </a:prstGeom>
        </p:spPr>
        <p:txBody>
          <a:bodyPr vert="horz" wrap="square" lIns="0" tIns="14605" rIns="0" bIns="0" rtlCol="0">
            <a:spAutoFit/>
          </a:bodyPr>
          <a:lstStyle/>
          <a:p>
            <a:pPr marL="12700">
              <a:lnSpc>
                <a:spcPct val="100000"/>
              </a:lnSpc>
              <a:spcBef>
                <a:spcPts val="115"/>
              </a:spcBef>
            </a:pPr>
            <a:r>
              <a:rPr sz="1750" b="1" u="sng" spc="25" dirty="0" err="1">
                <a:solidFill>
                  <a:srgbClr val="001F60"/>
                </a:solidFill>
                <a:uFill>
                  <a:solidFill>
                    <a:srgbClr val="001F60"/>
                  </a:solidFill>
                </a:uFill>
                <a:latin typeface="等线" panose="02010600030101010101" charset="-122"/>
                <a:ea typeface="等线" panose="02010600030101010101" charset="-122"/>
                <a:cs typeface="等线" panose="02010600030101010101" charset="-122"/>
              </a:rPr>
              <a:t>景林</a:t>
            </a:r>
            <a:r>
              <a:rPr sz="1750" b="1" u="sng" spc="10" dirty="0" err="1">
                <a:solidFill>
                  <a:srgbClr val="001F60"/>
                </a:solidFill>
                <a:uFill>
                  <a:solidFill>
                    <a:srgbClr val="001F60"/>
                  </a:solidFill>
                </a:uFill>
                <a:latin typeface="等线" panose="02010600030101010101" charset="-122"/>
                <a:ea typeface="等线" panose="02010600030101010101" charset="-122"/>
                <a:cs typeface="等线" panose="02010600030101010101" charset="-122"/>
              </a:rPr>
              <a:t>环</a:t>
            </a:r>
            <a:r>
              <a:rPr sz="1750" b="1" u="sng" spc="25" dirty="0" err="1">
                <a:solidFill>
                  <a:srgbClr val="001F60"/>
                </a:solidFill>
                <a:uFill>
                  <a:solidFill>
                    <a:srgbClr val="001F60"/>
                  </a:solidFill>
                </a:uFill>
                <a:latin typeface="等线" panose="02010600030101010101" charset="-122"/>
                <a:ea typeface="等线" panose="02010600030101010101" charset="-122"/>
                <a:cs typeface="等线" panose="02010600030101010101" charset="-122"/>
              </a:rPr>
              <a:t>球基</a:t>
            </a:r>
            <a:r>
              <a:rPr sz="1750" b="1" u="sng" spc="10" dirty="0" err="1">
                <a:solidFill>
                  <a:srgbClr val="001F60"/>
                </a:solidFill>
                <a:uFill>
                  <a:solidFill>
                    <a:srgbClr val="001F60"/>
                  </a:solidFill>
                </a:uFill>
                <a:latin typeface="等线" panose="02010600030101010101" charset="-122"/>
                <a:ea typeface="等线" panose="02010600030101010101" charset="-122"/>
                <a:cs typeface="等线" panose="02010600030101010101" charset="-122"/>
              </a:rPr>
              <a:t>金</a:t>
            </a:r>
            <a:r>
              <a:rPr sz="1750" b="1" u="sng" spc="265" dirty="0">
                <a:solidFill>
                  <a:srgbClr val="001F60"/>
                </a:solidFill>
                <a:uFill>
                  <a:solidFill>
                    <a:srgbClr val="001F60"/>
                  </a:solidFill>
                </a:uFill>
                <a:latin typeface="等线" panose="02010600030101010101" charset="-122"/>
                <a:ea typeface="等线" panose="02010600030101010101" charset="-122"/>
                <a:cs typeface="等线" panose="02010600030101010101" charset="-122"/>
              </a:rPr>
              <a:t>(</a:t>
            </a:r>
            <a:r>
              <a:rPr sz="1750" b="1" u="sng" spc="10" dirty="0" err="1">
                <a:solidFill>
                  <a:srgbClr val="001F60"/>
                </a:solidFill>
                <a:uFill>
                  <a:solidFill>
                    <a:srgbClr val="001F60"/>
                  </a:solidFill>
                </a:uFill>
                <a:latin typeface="等线" panose="02010600030101010101" charset="-122"/>
                <a:ea typeface="等线" panose="02010600030101010101" charset="-122"/>
                <a:cs typeface="等线" panose="02010600030101010101" charset="-122"/>
              </a:rPr>
              <a:t>月</a:t>
            </a:r>
            <a:r>
              <a:rPr sz="1750" b="1" u="sng" spc="25" dirty="0" err="1">
                <a:solidFill>
                  <a:srgbClr val="001F60"/>
                </a:solidFill>
                <a:uFill>
                  <a:solidFill>
                    <a:srgbClr val="001F60"/>
                  </a:solidFill>
                </a:uFill>
                <a:latin typeface="等线" panose="02010600030101010101" charset="-122"/>
                <a:ea typeface="等线" panose="02010600030101010101" charset="-122"/>
                <a:cs typeface="等线" panose="02010600030101010101" charset="-122"/>
              </a:rPr>
              <a:t>度净</a:t>
            </a:r>
            <a:r>
              <a:rPr lang="en-US" altLang="zh-TW" sz="1750" b="1" u="sng" spc="25" dirty="0">
                <a:solidFill>
                  <a:srgbClr val="001F60"/>
                </a:solidFill>
                <a:uFill>
                  <a:solidFill>
                    <a:srgbClr val="001F60"/>
                  </a:solidFill>
                </a:uFill>
                <a:latin typeface="等线" panose="02010600030101010101" charset="-122"/>
                <a:ea typeface="等线" panose="02010600030101010101" charset="-122"/>
                <a:cs typeface="Microsoft JhengHei" panose="020B0604030504040204" charset="-120"/>
              </a:rPr>
              <a:t>收益率</a:t>
            </a:r>
            <a:r>
              <a:rPr sz="1750" b="1" u="sng" spc="-225" dirty="0">
                <a:solidFill>
                  <a:srgbClr val="001F60"/>
                </a:solidFill>
                <a:uFill>
                  <a:solidFill>
                    <a:srgbClr val="001F60"/>
                  </a:solidFill>
                </a:uFill>
                <a:latin typeface="等线" panose="02010600030101010101" charset="-122"/>
                <a:ea typeface="等线" panose="02010600030101010101" charset="-122"/>
                <a:cs typeface="等线" panose="02010600030101010101" charset="-122"/>
              </a:rPr>
              <a:t>%)</a:t>
            </a:r>
            <a:endParaRPr sz="1750" dirty="0">
              <a:latin typeface="等线" panose="02010600030101010101" charset="-122"/>
              <a:ea typeface="等线" panose="02010600030101010101" charset="-122"/>
              <a:cs typeface="等线" panose="02010600030101010101" charset="-122"/>
            </a:endParaRPr>
          </a:p>
        </p:txBody>
      </p:sp>
      <p:graphicFrame>
        <p:nvGraphicFramePr>
          <p:cNvPr id="8" name="object 5"/>
          <p:cNvGraphicFramePr>
            <a:graphicFrameLocks noGrp="1"/>
          </p:cNvGraphicFramePr>
          <p:nvPr>
            <p:custDataLst>
              <p:tags r:id="rId2"/>
            </p:custDataLst>
          </p:nvPr>
        </p:nvGraphicFramePr>
        <p:xfrm>
          <a:off x="689346" y="4367085"/>
          <a:ext cx="10523855" cy="1800860"/>
        </p:xfrm>
        <a:graphic>
          <a:graphicData uri="http://schemas.openxmlformats.org/drawingml/2006/table">
            <a:tbl>
              <a:tblPr firstRow="1" bandRow="1">
                <a:tableStyleId>{2D5ABB26-0587-4C30-8999-92F81FD0307C}</a:tableStyleId>
              </a:tblPr>
              <a:tblGrid>
                <a:gridCol w="643255"/>
                <a:gridCol w="603250"/>
                <a:gridCol w="535940"/>
                <a:gridCol w="536575"/>
                <a:gridCol w="564515"/>
                <a:gridCol w="551180"/>
                <a:gridCol w="518160"/>
                <a:gridCol w="572770"/>
                <a:gridCol w="518160"/>
                <a:gridCol w="558800"/>
                <a:gridCol w="538480"/>
                <a:gridCol w="554355"/>
                <a:gridCol w="647065"/>
                <a:gridCol w="1060450"/>
                <a:gridCol w="1190625"/>
                <a:gridCol w="930275"/>
              </a:tblGrid>
              <a:tr h="541020">
                <a:tc>
                  <a:txBody>
                    <a:bodyPr/>
                    <a:lstStyle/>
                    <a:p>
                      <a:pPr>
                        <a:lnSpc>
                          <a:spcPct val="100000"/>
                        </a:lnSpc>
                      </a:pPr>
                      <a:endParaRPr sz="1100" dirty="0">
                        <a:latin typeface="等线" panose="02010600030101010101" charset="-122"/>
                        <a:ea typeface="等线" panose="02010600030101010101" charset="-122"/>
                        <a:cs typeface="Times New Roman" panose="02020603050405020304"/>
                      </a:endParaRPr>
                    </a:p>
                  </a:txBody>
                  <a:tcPr marL="0" marR="0" marT="0" marB="0" anchor="ctr">
                    <a:lnT w="28575">
                      <a:solidFill>
                        <a:srgbClr val="000000"/>
                      </a:solidFill>
                      <a:prstDash val="solid"/>
                    </a:lnT>
                    <a:lnB w="28575">
                      <a:solidFill>
                        <a:srgbClr val="000000"/>
                      </a:solidFill>
                      <a:prstDash val="solid"/>
                    </a:lnB>
                  </a:tcPr>
                </a:tc>
                <a:tc>
                  <a:txBody>
                    <a:bodyPr/>
                    <a:lstStyle/>
                    <a:p>
                      <a:pPr algn="ctr">
                        <a:lnSpc>
                          <a:spcPct val="100000"/>
                        </a:lnSpc>
                        <a:spcBef>
                          <a:spcPts val="5"/>
                        </a:spcBef>
                      </a:pPr>
                      <a:endParaRPr sz="1100" dirty="0">
                        <a:latin typeface="等线" panose="02010600030101010101" charset="-122"/>
                        <a:ea typeface="等线" panose="02010600030101010101" charset="-122"/>
                        <a:cs typeface="等线" panose="02010600030101010101" charset="-122"/>
                      </a:endParaRPr>
                    </a:p>
                    <a:p>
                      <a:pPr marL="143510" algn="ctr">
                        <a:lnSpc>
                          <a:spcPct val="100000"/>
                        </a:lnSpc>
                      </a:pPr>
                      <a:r>
                        <a:rPr sz="1100" b="1" spc="-5" dirty="0">
                          <a:latin typeface="等线" panose="02010600030101010101" charset="-122"/>
                          <a:ea typeface="等线" panose="02010600030101010101" charset="-122"/>
                          <a:cs typeface="等线" panose="02010600030101010101" charset="-122"/>
                        </a:rPr>
                        <a:t>1月</a:t>
                      </a:r>
                      <a:endParaRPr sz="1100" dirty="0">
                        <a:latin typeface="等线" panose="02010600030101010101" charset="-122"/>
                        <a:ea typeface="等线" panose="02010600030101010101" charset="-122"/>
                        <a:cs typeface="等线" panose="02010600030101010101" charset="-122"/>
                      </a:endParaRPr>
                    </a:p>
                  </a:txBody>
                  <a:tcPr marL="0" marR="0" marT="635" marB="0" anchor="ctr">
                    <a:lnT w="28575">
                      <a:solidFill>
                        <a:srgbClr val="000000"/>
                      </a:solidFill>
                      <a:prstDash val="solid"/>
                    </a:lnT>
                    <a:lnB w="28575">
                      <a:solidFill>
                        <a:srgbClr val="000000"/>
                      </a:solidFill>
                      <a:prstDash val="solid"/>
                    </a:lnB>
                  </a:tcPr>
                </a:tc>
                <a:tc>
                  <a:txBody>
                    <a:bodyPr/>
                    <a:lstStyle/>
                    <a:p>
                      <a:pPr algn="ctr">
                        <a:lnSpc>
                          <a:spcPct val="100000"/>
                        </a:lnSpc>
                        <a:spcBef>
                          <a:spcPts val="5"/>
                        </a:spcBef>
                      </a:pPr>
                      <a:endParaRPr sz="1100" dirty="0">
                        <a:latin typeface="等线" panose="02010600030101010101" charset="-122"/>
                        <a:ea typeface="等线" panose="02010600030101010101" charset="-122"/>
                        <a:cs typeface="等线" panose="02010600030101010101" charset="-122"/>
                      </a:endParaRPr>
                    </a:p>
                    <a:p>
                      <a:pPr marL="100330" algn="ctr">
                        <a:lnSpc>
                          <a:spcPct val="100000"/>
                        </a:lnSpc>
                      </a:pPr>
                      <a:r>
                        <a:rPr sz="1100" b="1" spc="-5" dirty="0">
                          <a:latin typeface="等线" panose="02010600030101010101" charset="-122"/>
                          <a:ea typeface="等线" panose="02010600030101010101" charset="-122"/>
                          <a:cs typeface="等线" panose="02010600030101010101" charset="-122"/>
                        </a:rPr>
                        <a:t>2月</a:t>
                      </a:r>
                      <a:endParaRPr sz="1100" dirty="0">
                        <a:latin typeface="等线" panose="02010600030101010101" charset="-122"/>
                        <a:ea typeface="等线" panose="02010600030101010101" charset="-122"/>
                        <a:cs typeface="等线" panose="02010600030101010101" charset="-122"/>
                      </a:endParaRPr>
                    </a:p>
                  </a:txBody>
                  <a:tcPr marL="0" marR="0" marT="635" marB="0" anchor="ctr">
                    <a:lnT w="28575">
                      <a:solidFill>
                        <a:srgbClr val="000000"/>
                      </a:solidFill>
                      <a:prstDash val="solid"/>
                    </a:lnT>
                    <a:lnB w="28575">
                      <a:solidFill>
                        <a:srgbClr val="000000"/>
                      </a:solidFill>
                      <a:prstDash val="solid"/>
                    </a:lnB>
                  </a:tcPr>
                </a:tc>
                <a:tc>
                  <a:txBody>
                    <a:bodyPr/>
                    <a:lstStyle/>
                    <a:p>
                      <a:pPr algn="ctr">
                        <a:lnSpc>
                          <a:spcPct val="100000"/>
                        </a:lnSpc>
                        <a:spcBef>
                          <a:spcPts val="5"/>
                        </a:spcBef>
                      </a:pPr>
                      <a:endParaRPr sz="1100" dirty="0">
                        <a:latin typeface="等线" panose="02010600030101010101" charset="-122"/>
                        <a:ea typeface="等线" panose="02010600030101010101" charset="-122"/>
                        <a:cs typeface="等线" panose="02010600030101010101" charset="-122"/>
                      </a:endParaRPr>
                    </a:p>
                    <a:p>
                      <a:pPr marL="107315" algn="ctr">
                        <a:lnSpc>
                          <a:spcPct val="100000"/>
                        </a:lnSpc>
                      </a:pPr>
                      <a:r>
                        <a:rPr sz="1100" b="1" spc="-10" dirty="0">
                          <a:latin typeface="等线" panose="02010600030101010101" charset="-122"/>
                          <a:ea typeface="等线" panose="02010600030101010101" charset="-122"/>
                          <a:cs typeface="等线" panose="02010600030101010101" charset="-122"/>
                        </a:rPr>
                        <a:t>3</a:t>
                      </a:r>
                      <a:r>
                        <a:rPr sz="1100" b="1" spc="-5" dirty="0">
                          <a:latin typeface="等线" panose="02010600030101010101" charset="-122"/>
                          <a:ea typeface="等线" panose="02010600030101010101" charset="-122"/>
                          <a:cs typeface="等线" panose="02010600030101010101" charset="-122"/>
                        </a:rPr>
                        <a:t>月</a:t>
                      </a:r>
                      <a:endParaRPr sz="1100" dirty="0">
                        <a:latin typeface="等线" panose="02010600030101010101" charset="-122"/>
                        <a:ea typeface="等线" panose="02010600030101010101" charset="-122"/>
                        <a:cs typeface="等线" panose="02010600030101010101" charset="-122"/>
                      </a:endParaRPr>
                    </a:p>
                  </a:txBody>
                  <a:tcPr marL="0" marR="0" marT="635" marB="0" anchor="ctr">
                    <a:lnT w="28575">
                      <a:solidFill>
                        <a:srgbClr val="000000"/>
                      </a:solidFill>
                      <a:prstDash val="solid"/>
                    </a:lnT>
                    <a:lnB w="28575">
                      <a:solidFill>
                        <a:srgbClr val="000000"/>
                      </a:solidFill>
                      <a:prstDash val="solid"/>
                    </a:lnB>
                  </a:tcPr>
                </a:tc>
                <a:tc>
                  <a:txBody>
                    <a:bodyPr/>
                    <a:lstStyle/>
                    <a:p>
                      <a:pPr algn="ctr">
                        <a:lnSpc>
                          <a:spcPct val="100000"/>
                        </a:lnSpc>
                        <a:spcBef>
                          <a:spcPts val="5"/>
                        </a:spcBef>
                      </a:pPr>
                      <a:endParaRPr sz="1100" dirty="0">
                        <a:latin typeface="等线" panose="02010600030101010101" charset="-122"/>
                        <a:ea typeface="等线" panose="02010600030101010101" charset="-122"/>
                        <a:cs typeface="等线" panose="02010600030101010101" charset="-122"/>
                      </a:endParaRPr>
                    </a:p>
                    <a:p>
                      <a:pPr algn="ctr">
                        <a:lnSpc>
                          <a:spcPct val="100000"/>
                        </a:lnSpc>
                      </a:pPr>
                      <a:r>
                        <a:rPr sz="1100" b="1" spc="-10" dirty="0">
                          <a:latin typeface="等线" panose="02010600030101010101" charset="-122"/>
                          <a:ea typeface="等线" panose="02010600030101010101" charset="-122"/>
                          <a:cs typeface="等线" panose="02010600030101010101" charset="-122"/>
                        </a:rPr>
                        <a:t>4</a:t>
                      </a:r>
                      <a:r>
                        <a:rPr sz="1100" b="1" spc="-5" dirty="0">
                          <a:latin typeface="等线" panose="02010600030101010101" charset="-122"/>
                          <a:ea typeface="等线" panose="02010600030101010101" charset="-122"/>
                          <a:cs typeface="等线" panose="02010600030101010101" charset="-122"/>
                        </a:rPr>
                        <a:t>月</a:t>
                      </a:r>
                      <a:endParaRPr sz="1100" dirty="0">
                        <a:latin typeface="等线" panose="02010600030101010101" charset="-122"/>
                        <a:ea typeface="等线" panose="02010600030101010101" charset="-122"/>
                        <a:cs typeface="等线" panose="02010600030101010101" charset="-122"/>
                      </a:endParaRPr>
                    </a:p>
                  </a:txBody>
                  <a:tcPr marL="0" marR="0" marT="635" marB="0" anchor="ctr">
                    <a:lnT w="28575">
                      <a:solidFill>
                        <a:srgbClr val="000000"/>
                      </a:solidFill>
                      <a:prstDash val="solid"/>
                    </a:lnT>
                    <a:lnB w="28575">
                      <a:solidFill>
                        <a:srgbClr val="000000"/>
                      </a:solidFill>
                      <a:prstDash val="solid"/>
                    </a:lnB>
                  </a:tcPr>
                </a:tc>
                <a:tc>
                  <a:txBody>
                    <a:bodyPr/>
                    <a:lstStyle/>
                    <a:p>
                      <a:pPr algn="ctr">
                        <a:lnSpc>
                          <a:spcPct val="100000"/>
                        </a:lnSpc>
                        <a:spcBef>
                          <a:spcPts val="5"/>
                        </a:spcBef>
                      </a:pPr>
                      <a:endParaRPr sz="1100" dirty="0">
                        <a:latin typeface="等线" panose="02010600030101010101" charset="-122"/>
                        <a:ea typeface="等线" panose="02010600030101010101" charset="-122"/>
                        <a:cs typeface="等线" panose="02010600030101010101" charset="-122"/>
                      </a:endParaRPr>
                    </a:p>
                    <a:p>
                      <a:pPr marR="113665" algn="ctr">
                        <a:lnSpc>
                          <a:spcPct val="100000"/>
                        </a:lnSpc>
                      </a:pPr>
                      <a:r>
                        <a:rPr sz="1100" b="1" spc="-5" dirty="0">
                          <a:latin typeface="等线" panose="02010600030101010101" charset="-122"/>
                          <a:ea typeface="等线" panose="02010600030101010101" charset="-122"/>
                          <a:cs typeface="等线" panose="02010600030101010101" charset="-122"/>
                        </a:rPr>
                        <a:t>5</a:t>
                      </a:r>
                      <a:r>
                        <a:rPr sz="1100" b="1" dirty="0">
                          <a:latin typeface="等线" panose="02010600030101010101" charset="-122"/>
                          <a:ea typeface="等线" panose="02010600030101010101" charset="-122"/>
                          <a:cs typeface="等线" panose="02010600030101010101" charset="-122"/>
                        </a:rPr>
                        <a:t>月</a:t>
                      </a:r>
                      <a:endParaRPr sz="1100" dirty="0">
                        <a:latin typeface="等线" panose="02010600030101010101" charset="-122"/>
                        <a:ea typeface="等线" panose="02010600030101010101" charset="-122"/>
                        <a:cs typeface="等线" panose="02010600030101010101" charset="-122"/>
                      </a:endParaRPr>
                    </a:p>
                  </a:txBody>
                  <a:tcPr marL="0" marR="0" marT="635" marB="0" anchor="ctr">
                    <a:lnT w="28575">
                      <a:solidFill>
                        <a:srgbClr val="000000"/>
                      </a:solidFill>
                      <a:prstDash val="solid"/>
                    </a:lnT>
                    <a:lnB w="28575">
                      <a:solidFill>
                        <a:srgbClr val="000000"/>
                      </a:solidFill>
                      <a:prstDash val="solid"/>
                    </a:lnB>
                  </a:tcPr>
                </a:tc>
                <a:tc>
                  <a:txBody>
                    <a:bodyPr/>
                    <a:lstStyle/>
                    <a:p>
                      <a:pPr algn="ctr">
                        <a:lnSpc>
                          <a:spcPct val="100000"/>
                        </a:lnSpc>
                        <a:spcBef>
                          <a:spcPts val="5"/>
                        </a:spcBef>
                      </a:pPr>
                      <a:endParaRPr sz="1100" dirty="0">
                        <a:latin typeface="等线" panose="02010600030101010101" charset="-122"/>
                        <a:ea typeface="等线" panose="02010600030101010101" charset="-122"/>
                        <a:cs typeface="等线" panose="02010600030101010101" charset="-122"/>
                      </a:endParaRPr>
                    </a:p>
                    <a:p>
                      <a:pPr algn="ctr">
                        <a:lnSpc>
                          <a:spcPct val="100000"/>
                        </a:lnSpc>
                      </a:pPr>
                      <a:r>
                        <a:rPr sz="1100" b="1" spc="-10" dirty="0">
                          <a:latin typeface="等线" panose="02010600030101010101" charset="-122"/>
                          <a:ea typeface="等线" panose="02010600030101010101" charset="-122"/>
                          <a:cs typeface="等线" panose="02010600030101010101" charset="-122"/>
                        </a:rPr>
                        <a:t>6</a:t>
                      </a:r>
                      <a:r>
                        <a:rPr sz="1100" b="1" spc="-5" dirty="0">
                          <a:latin typeface="等线" panose="02010600030101010101" charset="-122"/>
                          <a:ea typeface="等线" panose="02010600030101010101" charset="-122"/>
                          <a:cs typeface="等线" panose="02010600030101010101" charset="-122"/>
                        </a:rPr>
                        <a:t>月</a:t>
                      </a:r>
                      <a:endParaRPr sz="1100" dirty="0">
                        <a:latin typeface="等线" panose="02010600030101010101" charset="-122"/>
                        <a:ea typeface="等线" panose="02010600030101010101" charset="-122"/>
                        <a:cs typeface="等线" panose="02010600030101010101" charset="-122"/>
                      </a:endParaRPr>
                    </a:p>
                  </a:txBody>
                  <a:tcPr marL="0" marR="0" marT="635" marB="0" anchor="ctr">
                    <a:lnT w="28575">
                      <a:solidFill>
                        <a:srgbClr val="000000"/>
                      </a:solidFill>
                      <a:prstDash val="solid"/>
                    </a:lnT>
                    <a:lnB w="28575">
                      <a:solidFill>
                        <a:srgbClr val="000000"/>
                      </a:solidFill>
                      <a:prstDash val="solid"/>
                    </a:lnB>
                  </a:tcPr>
                </a:tc>
                <a:tc>
                  <a:txBody>
                    <a:bodyPr/>
                    <a:lstStyle/>
                    <a:p>
                      <a:pPr algn="ctr">
                        <a:lnSpc>
                          <a:spcPct val="100000"/>
                        </a:lnSpc>
                        <a:spcBef>
                          <a:spcPts val="5"/>
                        </a:spcBef>
                      </a:pPr>
                      <a:endParaRPr sz="1100" dirty="0">
                        <a:latin typeface="等线" panose="02010600030101010101" charset="-122"/>
                        <a:ea typeface="等线" panose="02010600030101010101" charset="-122"/>
                        <a:cs typeface="等线" panose="02010600030101010101" charset="-122"/>
                      </a:endParaRPr>
                    </a:p>
                    <a:p>
                      <a:pPr algn="ctr">
                        <a:lnSpc>
                          <a:spcPct val="100000"/>
                        </a:lnSpc>
                      </a:pPr>
                      <a:r>
                        <a:rPr sz="1100" b="1" spc="-10" dirty="0">
                          <a:latin typeface="等线" panose="02010600030101010101" charset="-122"/>
                          <a:ea typeface="等线" panose="02010600030101010101" charset="-122"/>
                          <a:cs typeface="等线" panose="02010600030101010101" charset="-122"/>
                        </a:rPr>
                        <a:t>7</a:t>
                      </a:r>
                      <a:r>
                        <a:rPr sz="1100" b="1" spc="-5" dirty="0">
                          <a:latin typeface="等线" panose="02010600030101010101" charset="-122"/>
                          <a:ea typeface="等线" panose="02010600030101010101" charset="-122"/>
                          <a:cs typeface="等线" panose="02010600030101010101" charset="-122"/>
                        </a:rPr>
                        <a:t>月</a:t>
                      </a:r>
                      <a:endParaRPr sz="1100" dirty="0">
                        <a:latin typeface="等线" panose="02010600030101010101" charset="-122"/>
                        <a:ea typeface="等线" panose="02010600030101010101" charset="-122"/>
                        <a:cs typeface="等线" panose="02010600030101010101" charset="-122"/>
                      </a:endParaRPr>
                    </a:p>
                  </a:txBody>
                  <a:tcPr marL="0" marR="0" marT="635" marB="0" anchor="ctr">
                    <a:lnT w="28575">
                      <a:solidFill>
                        <a:srgbClr val="000000"/>
                      </a:solidFill>
                      <a:prstDash val="solid"/>
                    </a:lnT>
                    <a:lnB w="28575">
                      <a:solidFill>
                        <a:srgbClr val="000000"/>
                      </a:solidFill>
                      <a:prstDash val="solid"/>
                    </a:lnB>
                  </a:tcPr>
                </a:tc>
                <a:tc>
                  <a:txBody>
                    <a:bodyPr/>
                    <a:lstStyle/>
                    <a:p>
                      <a:pPr algn="ctr">
                        <a:lnSpc>
                          <a:spcPct val="100000"/>
                        </a:lnSpc>
                        <a:spcBef>
                          <a:spcPts val="5"/>
                        </a:spcBef>
                      </a:pPr>
                      <a:endParaRPr sz="1100" dirty="0">
                        <a:latin typeface="等线" panose="02010600030101010101" charset="-122"/>
                        <a:ea typeface="等线" panose="02010600030101010101" charset="-122"/>
                        <a:cs typeface="等线" panose="02010600030101010101" charset="-122"/>
                      </a:endParaRPr>
                    </a:p>
                    <a:p>
                      <a:pPr algn="ctr">
                        <a:lnSpc>
                          <a:spcPct val="100000"/>
                        </a:lnSpc>
                      </a:pPr>
                      <a:r>
                        <a:rPr sz="1100" b="1" spc="-10" dirty="0">
                          <a:latin typeface="等线" panose="02010600030101010101" charset="-122"/>
                          <a:ea typeface="等线" panose="02010600030101010101" charset="-122"/>
                          <a:cs typeface="等线" panose="02010600030101010101" charset="-122"/>
                        </a:rPr>
                        <a:t>8</a:t>
                      </a:r>
                      <a:r>
                        <a:rPr sz="1100" b="1" spc="-5" dirty="0">
                          <a:latin typeface="等线" panose="02010600030101010101" charset="-122"/>
                          <a:ea typeface="等线" panose="02010600030101010101" charset="-122"/>
                          <a:cs typeface="等线" panose="02010600030101010101" charset="-122"/>
                        </a:rPr>
                        <a:t>月</a:t>
                      </a:r>
                      <a:endParaRPr sz="1100" dirty="0">
                        <a:latin typeface="等线" panose="02010600030101010101" charset="-122"/>
                        <a:ea typeface="等线" panose="02010600030101010101" charset="-122"/>
                        <a:cs typeface="等线" panose="02010600030101010101" charset="-122"/>
                      </a:endParaRPr>
                    </a:p>
                  </a:txBody>
                  <a:tcPr marL="0" marR="0" marT="635" marB="0" anchor="ctr">
                    <a:lnT w="28575">
                      <a:solidFill>
                        <a:srgbClr val="000000"/>
                      </a:solidFill>
                      <a:prstDash val="solid"/>
                    </a:lnT>
                    <a:lnB w="28575">
                      <a:solidFill>
                        <a:srgbClr val="000000"/>
                      </a:solidFill>
                      <a:prstDash val="solid"/>
                    </a:lnB>
                  </a:tcPr>
                </a:tc>
                <a:tc>
                  <a:txBody>
                    <a:bodyPr/>
                    <a:lstStyle/>
                    <a:p>
                      <a:pPr algn="ctr">
                        <a:lnSpc>
                          <a:spcPct val="100000"/>
                        </a:lnSpc>
                        <a:spcBef>
                          <a:spcPts val="5"/>
                        </a:spcBef>
                      </a:pPr>
                      <a:endParaRPr sz="1100" dirty="0">
                        <a:latin typeface="等线" panose="02010600030101010101" charset="-122"/>
                        <a:ea typeface="等线" panose="02010600030101010101" charset="-122"/>
                        <a:cs typeface="等线" panose="02010600030101010101" charset="-122"/>
                      </a:endParaRPr>
                    </a:p>
                    <a:p>
                      <a:pPr marL="6985" algn="ctr">
                        <a:lnSpc>
                          <a:spcPct val="100000"/>
                        </a:lnSpc>
                      </a:pPr>
                      <a:r>
                        <a:rPr sz="1100" b="1" spc="-10" dirty="0">
                          <a:latin typeface="等线" panose="02010600030101010101" charset="-122"/>
                          <a:ea typeface="等线" panose="02010600030101010101" charset="-122"/>
                          <a:cs typeface="等线" panose="02010600030101010101" charset="-122"/>
                        </a:rPr>
                        <a:t>9</a:t>
                      </a:r>
                      <a:r>
                        <a:rPr sz="1100" b="1" spc="-5" dirty="0">
                          <a:latin typeface="等线" panose="02010600030101010101" charset="-122"/>
                          <a:ea typeface="等线" panose="02010600030101010101" charset="-122"/>
                          <a:cs typeface="等线" panose="02010600030101010101" charset="-122"/>
                        </a:rPr>
                        <a:t>月</a:t>
                      </a:r>
                      <a:endParaRPr sz="1100" dirty="0">
                        <a:latin typeface="等线" panose="02010600030101010101" charset="-122"/>
                        <a:ea typeface="等线" panose="02010600030101010101" charset="-122"/>
                        <a:cs typeface="等线" panose="02010600030101010101" charset="-122"/>
                      </a:endParaRPr>
                    </a:p>
                  </a:txBody>
                  <a:tcPr marL="0" marR="0" marT="635" marB="0" anchor="ctr">
                    <a:lnT w="28575">
                      <a:solidFill>
                        <a:srgbClr val="000000"/>
                      </a:solidFill>
                      <a:prstDash val="solid"/>
                    </a:lnT>
                    <a:lnB w="28575">
                      <a:solidFill>
                        <a:srgbClr val="000000"/>
                      </a:solidFill>
                      <a:prstDash val="solid"/>
                    </a:lnB>
                  </a:tcPr>
                </a:tc>
                <a:tc>
                  <a:txBody>
                    <a:bodyPr/>
                    <a:lstStyle/>
                    <a:p>
                      <a:pPr algn="ctr">
                        <a:lnSpc>
                          <a:spcPct val="100000"/>
                        </a:lnSpc>
                        <a:spcBef>
                          <a:spcPts val="5"/>
                        </a:spcBef>
                      </a:pPr>
                      <a:endParaRPr sz="1100" dirty="0">
                        <a:latin typeface="等线" panose="02010600030101010101" charset="-122"/>
                        <a:ea typeface="等线" panose="02010600030101010101" charset="-122"/>
                        <a:cs typeface="等线" panose="02010600030101010101" charset="-122"/>
                      </a:endParaRPr>
                    </a:p>
                    <a:p>
                      <a:pPr marL="72390" algn="ctr">
                        <a:lnSpc>
                          <a:spcPct val="100000"/>
                        </a:lnSpc>
                      </a:pPr>
                      <a:r>
                        <a:rPr sz="1100" b="1" spc="-10" dirty="0">
                          <a:latin typeface="等线" panose="02010600030101010101" charset="-122"/>
                          <a:ea typeface="等线" panose="02010600030101010101" charset="-122"/>
                          <a:cs typeface="等线" panose="02010600030101010101" charset="-122"/>
                        </a:rPr>
                        <a:t>10</a:t>
                      </a:r>
                      <a:r>
                        <a:rPr sz="1100" b="1" spc="-5" dirty="0">
                          <a:latin typeface="等线" panose="02010600030101010101" charset="-122"/>
                          <a:ea typeface="等线" panose="02010600030101010101" charset="-122"/>
                          <a:cs typeface="等线" panose="02010600030101010101" charset="-122"/>
                        </a:rPr>
                        <a:t>月</a:t>
                      </a:r>
                      <a:endParaRPr sz="1100" dirty="0">
                        <a:latin typeface="等线" panose="02010600030101010101" charset="-122"/>
                        <a:ea typeface="等线" panose="02010600030101010101" charset="-122"/>
                        <a:cs typeface="等线" panose="02010600030101010101" charset="-122"/>
                      </a:endParaRPr>
                    </a:p>
                  </a:txBody>
                  <a:tcPr marL="0" marR="0" marT="635" marB="0" anchor="ctr">
                    <a:lnT w="28575">
                      <a:solidFill>
                        <a:srgbClr val="000000"/>
                      </a:solidFill>
                      <a:prstDash val="solid"/>
                    </a:lnT>
                    <a:lnB w="28575">
                      <a:solidFill>
                        <a:srgbClr val="000000"/>
                      </a:solidFill>
                      <a:prstDash val="solid"/>
                    </a:lnB>
                  </a:tcPr>
                </a:tc>
                <a:tc>
                  <a:txBody>
                    <a:bodyPr/>
                    <a:lstStyle/>
                    <a:p>
                      <a:pPr algn="ctr">
                        <a:lnSpc>
                          <a:spcPct val="100000"/>
                        </a:lnSpc>
                        <a:spcBef>
                          <a:spcPts val="5"/>
                        </a:spcBef>
                      </a:pPr>
                      <a:endParaRPr sz="1100" dirty="0">
                        <a:latin typeface="等线" panose="02010600030101010101" charset="-122"/>
                        <a:ea typeface="等线" panose="02010600030101010101" charset="-122"/>
                        <a:cs typeface="等线" panose="02010600030101010101" charset="-122"/>
                      </a:endParaRPr>
                    </a:p>
                    <a:p>
                      <a:pPr marL="1905" algn="ctr">
                        <a:lnSpc>
                          <a:spcPct val="100000"/>
                        </a:lnSpc>
                      </a:pPr>
                      <a:r>
                        <a:rPr sz="1100" b="1" spc="-10" dirty="0">
                          <a:latin typeface="等线" panose="02010600030101010101" charset="-122"/>
                          <a:ea typeface="等线" panose="02010600030101010101" charset="-122"/>
                          <a:cs typeface="等线" panose="02010600030101010101" charset="-122"/>
                        </a:rPr>
                        <a:t>11</a:t>
                      </a:r>
                      <a:r>
                        <a:rPr sz="1100" b="1" spc="-5" dirty="0">
                          <a:latin typeface="等线" panose="02010600030101010101" charset="-122"/>
                          <a:ea typeface="等线" panose="02010600030101010101" charset="-122"/>
                          <a:cs typeface="等线" panose="02010600030101010101" charset="-122"/>
                        </a:rPr>
                        <a:t>月</a:t>
                      </a:r>
                      <a:endParaRPr sz="1100" dirty="0">
                        <a:latin typeface="等线" panose="02010600030101010101" charset="-122"/>
                        <a:ea typeface="等线" panose="02010600030101010101" charset="-122"/>
                        <a:cs typeface="等线" panose="02010600030101010101" charset="-122"/>
                      </a:endParaRPr>
                    </a:p>
                  </a:txBody>
                  <a:tcPr marL="0" marR="0" marT="635" marB="0" anchor="ctr">
                    <a:lnT w="28575">
                      <a:solidFill>
                        <a:srgbClr val="000000"/>
                      </a:solidFill>
                      <a:prstDash val="solid"/>
                    </a:lnT>
                    <a:lnB w="28575">
                      <a:solidFill>
                        <a:srgbClr val="000000"/>
                      </a:solidFill>
                      <a:prstDash val="solid"/>
                    </a:lnB>
                  </a:tcPr>
                </a:tc>
                <a:tc>
                  <a:txBody>
                    <a:bodyPr/>
                    <a:lstStyle/>
                    <a:p>
                      <a:pPr algn="ctr">
                        <a:lnSpc>
                          <a:spcPct val="100000"/>
                        </a:lnSpc>
                        <a:spcBef>
                          <a:spcPts val="5"/>
                        </a:spcBef>
                      </a:pPr>
                      <a:endParaRPr sz="1100" dirty="0">
                        <a:latin typeface="等线" panose="02010600030101010101" charset="-122"/>
                        <a:ea typeface="等线" panose="02010600030101010101" charset="-122"/>
                        <a:cs typeface="等线" panose="02010600030101010101" charset="-122"/>
                      </a:endParaRPr>
                    </a:p>
                    <a:p>
                      <a:pPr marL="71755" algn="ctr">
                        <a:lnSpc>
                          <a:spcPct val="100000"/>
                        </a:lnSpc>
                      </a:pPr>
                      <a:r>
                        <a:rPr sz="1100" b="1" spc="-10" dirty="0">
                          <a:latin typeface="等线" panose="02010600030101010101" charset="-122"/>
                          <a:ea typeface="等线" panose="02010600030101010101" charset="-122"/>
                          <a:cs typeface="等线" panose="02010600030101010101" charset="-122"/>
                        </a:rPr>
                        <a:t>12</a:t>
                      </a:r>
                      <a:r>
                        <a:rPr sz="1100" b="1" spc="-5" dirty="0">
                          <a:latin typeface="等线" panose="02010600030101010101" charset="-122"/>
                          <a:ea typeface="等线" panose="02010600030101010101" charset="-122"/>
                          <a:cs typeface="等线" panose="02010600030101010101" charset="-122"/>
                        </a:rPr>
                        <a:t>月</a:t>
                      </a:r>
                      <a:endParaRPr sz="1100" dirty="0">
                        <a:latin typeface="等线" panose="02010600030101010101" charset="-122"/>
                        <a:ea typeface="等线" panose="02010600030101010101" charset="-122"/>
                        <a:cs typeface="等线" panose="02010600030101010101" charset="-122"/>
                      </a:endParaRPr>
                    </a:p>
                  </a:txBody>
                  <a:tcPr marL="0" marR="0" marT="635" marB="0" anchor="ctr">
                    <a:lnT w="28575">
                      <a:solidFill>
                        <a:srgbClr val="000000"/>
                      </a:solidFill>
                      <a:prstDash val="solid"/>
                    </a:lnT>
                    <a:lnB w="28575">
                      <a:solidFill>
                        <a:srgbClr val="000000"/>
                      </a:solidFill>
                      <a:prstDash val="solid"/>
                    </a:lnB>
                  </a:tcPr>
                </a:tc>
                <a:tc>
                  <a:txBody>
                    <a:bodyPr/>
                    <a:lstStyle/>
                    <a:p>
                      <a:pPr algn="ctr">
                        <a:lnSpc>
                          <a:spcPct val="100000"/>
                        </a:lnSpc>
                        <a:spcBef>
                          <a:spcPts val="50"/>
                        </a:spcBef>
                      </a:pPr>
                      <a:r>
                        <a:rPr lang="zh-CN" sz="1100" b="1" kern="1200" dirty="0" smtClean="0">
                          <a:solidFill>
                            <a:schemeClr val="tx1"/>
                          </a:solidFill>
                          <a:latin typeface="等线" panose="02010600030101010101" charset="-122"/>
                          <a:ea typeface="等线" panose="02010600030101010101" charset="-122"/>
                          <a:cs typeface="Times New Roman" panose="02020603050405020304"/>
                        </a:rPr>
                        <a:t>景</a:t>
                      </a:r>
                      <a:r>
                        <a:rPr lang="zh-CN" sz="1100" b="1" kern="1200" dirty="0">
                          <a:solidFill>
                            <a:schemeClr val="tx1"/>
                          </a:solidFill>
                          <a:latin typeface="等线" panose="02010600030101010101" charset="-122"/>
                          <a:ea typeface="等线" panose="02010600030101010101" charset="-122"/>
                          <a:cs typeface="Times New Roman" panose="02020603050405020304"/>
                        </a:rPr>
                        <a:t>林环球</a:t>
                      </a:r>
                      <a:r>
                        <a:rPr lang="zh-CN" sz="1100" b="1" kern="1200" dirty="0" smtClean="0">
                          <a:solidFill>
                            <a:schemeClr val="tx1"/>
                          </a:solidFill>
                          <a:latin typeface="等线" panose="02010600030101010101" charset="-122"/>
                          <a:ea typeface="等线" panose="02010600030101010101" charset="-122"/>
                          <a:cs typeface="Times New Roman" panose="02020603050405020304"/>
                        </a:rPr>
                        <a:t>基金</a:t>
                      </a:r>
                      <a:endParaRPr sz="1100" b="1" kern="1200" dirty="0">
                        <a:solidFill>
                          <a:schemeClr val="tx1"/>
                        </a:solidFill>
                        <a:latin typeface="等线" panose="02010600030101010101" charset="-122"/>
                        <a:ea typeface="等线" panose="02010600030101010101" charset="-122"/>
                        <a:cs typeface="Times New Roman" panose="02020603050405020304"/>
                      </a:endParaRPr>
                    </a:p>
                    <a:p>
                      <a:pPr algn="ctr">
                        <a:lnSpc>
                          <a:spcPct val="100000"/>
                        </a:lnSpc>
                        <a:spcBef>
                          <a:spcPts val="50"/>
                        </a:spcBef>
                      </a:pPr>
                      <a:r>
                        <a:rPr lang="zh-CN" altLang="en-US" sz="1100" b="1" kern="1200" dirty="0" smtClean="0">
                          <a:solidFill>
                            <a:schemeClr val="tx1"/>
                          </a:solidFill>
                          <a:latin typeface="等线" panose="02010600030101010101" charset="-122"/>
                          <a:ea typeface="等线" panose="02010600030101010101" charset="-122"/>
                          <a:cs typeface="Times New Roman" panose="02020603050405020304"/>
                        </a:rPr>
                        <a:t>年初至今</a:t>
                      </a:r>
                      <a:endParaRPr lang="zh-CN" altLang="en-US" sz="1100" b="1" kern="1200" dirty="0">
                        <a:solidFill>
                          <a:schemeClr val="tx1"/>
                        </a:solidFill>
                        <a:latin typeface="等线" panose="02010600030101010101" charset="-122"/>
                        <a:ea typeface="等线" panose="02010600030101010101" charset="-122"/>
                        <a:cs typeface="Times New Roman" panose="02020603050405020304"/>
                      </a:endParaRPr>
                    </a:p>
                  </a:txBody>
                  <a:tcPr marL="0" marR="0" marT="6350" marB="0" anchor="ctr">
                    <a:lnT w="28575">
                      <a:solidFill>
                        <a:srgbClr val="000000"/>
                      </a:solidFill>
                      <a:prstDash val="solid"/>
                    </a:lnT>
                    <a:lnB w="28575">
                      <a:solidFill>
                        <a:srgbClr val="000000"/>
                      </a:solidFill>
                      <a:prstDash val="solid"/>
                    </a:lnB>
                  </a:tcPr>
                </a:tc>
                <a:tc>
                  <a:txBody>
                    <a:bodyPr/>
                    <a:lstStyle/>
                    <a:p>
                      <a:pPr algn="ctr">
                        <a:lnSpc>
                          <a:spcPct val="100000"/>
                        </a:lnSpc>
                        <a:spcBef>
                          <a:spcPts val="50"/>
                        </a:spcBef>
                      </a:pPr>
                      <a:r>
                        <a:rPr sz="1100" b="1" kern="1200" dirty="0" smtClean="0">
                          <a:solidFill>
                            <a:schemeClr val="tx1"/>
                          </a:solidFill>
                          <a:latin typeface="等线" panose="02010600030101010101" charset="-122"/>
                          <a:ea typeface="等线" panose="02010600030101010101" charset="-122"/>
                          <a:cs typeface="Times New Roman" panose="02020603050405020304"/>
                        </a:rPr>
                        <a:t>MSCI World</a:t>
                      </a:r>
                      <a:endParaRPr lang="en-US" sz="1100" b="1" kern="1200" dirty="0" smtClean="0">
                        <a:solidFill>
                          <a:schemeClr val="tx1"/>
                        </a:solidFill>
                        <a:latin typeface="等线" panose="02010600030101010101" charset="-122"/>
                        <a:ea typeface="等线" panose="02010600030101010101" charset="-122"/>
                        <a:cs typeface="Times New Roman" panose="02020603050405020304"/>
                      </a:endParaRPr>
                    </a:p>
                    <a:p>
                      <a:pPr algn="ctr">
                        <a:lnSpc>
                          <a:spcPct val="100000"/>
                        </a:lnSpc>
                        <a:spcBef>
                          <a:spcPts val="50"/>
                        </a:spcBef>
                      </a:pPr>
                      <a:r>
                        <a:rPr lang="zh-CN" altLang="en-US" sz="1100" b="1" kern="1200" dirty="0" smtClean="0">
                          <a:solidFill>
                            <a:schemeClr val="tx1"/>
                          </a:solidFill>
                          <a:latin typeface="等线" panose="02010600030101010101" charset="-122"/>
                          <a:ea typeface="等线" panose="02010600030101010101" charset="-122"/>
                          <a:cs typeface="Times New Roman" panose="02020603050405020304"/>
                        </a:rPr>
                        <a:t>年初至今</a:t>
                      </a:r>
                      <a:endParaRPr lang="zh-CN" altLang="en-US" sz="1100" b="1" kern="1200" dirty="0">
                        <a:solidFill>
                          <a:schemeClr val="tx1"/>
                        </a:solidFill>
                        <a:latin typeface="等线" panose="02010600030101010101" charset="-122"/>
                        <a:ea typeface="等线" panose="02010600030101010101" charset="-122"/>
                        <a:cs typeface="Times New Roman" panose="02020603050405020304"/>
                      </a:endParaRPr>
                    </a:p>
                  </a:txBody>
                  <a:tcPr marL="0" marR="0" marT="48895" marB="0" anchor="ctr">
                    <a:lnT w="28575">
                      <a:solidFill>
                        <a:srgbClr val="000000"/>
                      </a:solidFill>
                      <a:prstDash val="solid"/>
                    </a:lnT>
                    <a:lnB w="28575">
                      <a:solidFill>
                        <a:srgbClr val="000000"/>
                      </a:solidFill>
                      <a:prstDash val="solid"/>
                    </a:lnB>
                  </a:tcPr>
                </a:tc>
                <a:tc>
                  <a:txBody>
                    <a:bodyPr/>
                    <a:lstStyle/>
                    <a:p>
                      <a:pPr marL="33020" algn="ctr">
                        <a:lnSpc>
                          <a:spcPct val="100000"/>
                        </a:lnSpc>
                        <a:spcBef>
                          <a:spcPts val="50"/>
                        </a:spcBef>
                        <a:buNone/>
                      </a:pPr>
                      <a:r>
                        <a:rPr lang="zh-CN" altLang="en-US" sz="1100" b="1" kern="1200" dirty="0">
                          <a:solidFill>
                            <a:schemeClr val="tx1"/>
                          </a:solidFill>
                          <a:latin typeface="等线" panose="02010600030101010101" charset="-122"/>
                          <a:ea typeface="等线" panose="02010600030101010101" charset="-122"/>
                          <a:cs typeface="Times New Roman" panose="02020603050405020304"/>
                        </a:rPr>
                        <a:t>超额收益</a:t>
                      </a:r>
                      <a:r>
                        <a:rPr lang="en-US" altLang="zh-CN" sz="1100" b="1" kern="1200" dirty="0">
                          <a:solidFill>
                            <a:schemeClr val="tx1"/>
                          </a:solidFill>
                          <a:latin typeface="等线" panose="02010600030101010101" charset="-122"/>
                          <a:ea typeface="等线" panose="02010600030101010101" charset="-122"/>
                          <a:cs typeface="Times New Roman" panose="02020603050405020304"/>
                        </a:rPr>
                        <a:t>*</a:t>
                      </a:r>
                      <a:endParaRPr lang="zh-CN" altLang="en-US" sz="1100" b="1" kern="1200" dirty="0">
                        <a:solidFill>
                          <a:schemeClr val="tx1"/>
                        </a:solidFill>
                        <a:latin typeface="等线" panose="02010600030101010101" charset="-122"/>
                        <a:ea typeface="等线" panose="02010600030101010101" charset="-122"/>
                        <a:cs typeface="Times New Roman" panose="02020603050405020304"/>
                      </a:endParaRPr>
                    </a:p>
                  </a:txBody>
                  <a:tcPr marL="0" marR="0" marT="48895" marB="0" anchor="ctr">
                    <a:lnT w="28575">
                      <a:solidFill>
                        <a:srgbClr val="000000"/>
                      </a:solidFill>
                      <a:prstDash val="solid"/>
                    </a:lnT>
                    <a:lnB w="28575">
                      <a:solidFill>
                        <a:srgbClr val="000000"/>
                      </a:solidFill>
                      <a:prstDash val="solid"/>
                    </a:lnB>
                  </a:tcPr>
                </a:tc>
              </a:tr>
              <a:tr h="238760">
                <a:tc>
                  <a:txBody>
                    <a:bodyPr/>
                    <a:lstStyle/>
                    <a:p>
                      <a:pPr marL="35560" algn="ctr">
                        <a:lnSpc>
                          <a:spcPct val="100000"/>
                        </a:lnSpc>
                        <a:spcBef>
                          <a:spcPts val="415"/>
                        </a:spcBef>
                      </a:pPr>
                      <a:r>
                        <a:rPr sz="1100" b="1" spc="-10" dirty="0">
                          <a:latin typeface="等线" panose="02010600030101010101" charset="-122"/>
                          <a:ea typeface="等线" panose="02010600030101010101" charset="-122"/>
                          <a:cs typeface="Arial" panose="020B0604020202020204"/>
                        </a:rPr>
                        <a:t>2024</a:t>
                      </a:r>
                      <a:endParaRPr sz="1100" b="1" spc="-10" dirty="0">
                        <a:latin typeface="等线" panose="02010600030101010101" charset="-122"/>
                        <a:ea typeface="等线" panose="02010600030101010101" charset="-122"/>
                        <a:cs typeface="Arial" panose="020B0604020202020204"/>
                      </a:endParaRPr>
                    </a:p>
                  </a:txBody>
                  <a:tcPr marL="0" marR="0" marT="52705" marB="0" anchor="ctr">
                    <a:lnT w="28575">
                      <a:solidFill>
                        <a:srgbClr val="000000"/>
                      </a:solidFill>
                      <a:prstDash val="solid"/>
                    </a:lnT>
                    <a:solidFill>
                      <a:srgbClr val="E6E6E6"/>
                    </a:solidFill>
                  </a:tcPr>
                </a:tc>
                <a:tc>
                  <a:txBody>
                    <a:bodyPr/>
                    <a:lstStyle/>
                    <a:p>
                      <a:pPr marR="82550" algn="ctr">
                        <a:lnSpc>
                          <a:spcPct val="100000"/>
                        </a:lnSpc>
                        <a:spcBef>
                          <a:spcPts val="415"/>
                        </a:spcBef>
                      </a:pPr>
                      <a:r>
                        <a:rPr sz="1100" spc="-10" dirty="0">
                          <a:latin typeface="等线" panose="02010600030101010101" charset="-122"/>
                          <a:ea typeface="等线" panose="02010600030101010101" charset="-122"/>
                          <a:cs typeface="Arial" panose="020B0604020202020204"/>
                        </a:rPr>
                        <a:t>3</a:t>
                      </a:r>
                      <a:r>
                        <a:rPr sz="1100" dirty="0">
                          <a:latin typeface="等线" panose="02010600030101010101" charset="-122"/>
                          <a:ea typeface="等线" panose="02010600030101010101" charset="-122"/>
                          <a:cs typeface="Arial" panose="020B0604020202020204"/>
                        </a:rPr>
                        <a:t>.04</a:t>
                      </a:r>
                      <a:endParaRPr sz="1100" dirty="0">
                        <a:latin typeface="等线" panose="02010600030101010101" charset="-122"/>
                        <a:ea typeface="等线" panose="02010600030101010101" charset="-122"/>
                        <a:cs typeface="Arial" panose="020B0604020202020204"/>
                      </a:endParaRPr>
                    </a:p>
                  </a:txBody>
                  <a:tcPr marL="0" marR="0" marT="52705" marB="0" anchor="ctr">
                    <a:lnT w="28575">
                      <a:solidFill>
                        <a:srgbClr val="000000"/>
                      </a:solidFill>
                      <a:prstDash val="solid"/>
                    </a:lnT>
                    <a:solidFill>
                      <a:srgbClr val="E6E6E6"/>
                    </a:solidFill>
                  </a:tcPr>
                </a:tc>
                <a:tc>
                  <a:txBody>
                    <a:bodyPr/>
                    <a:lstStyle/>
                    <a:p>
                      <a:pPr marL="77470" algn="ctr">
                        <a:lnSpc>
                          <a:spcPct val="100000"/>
                        </a:lnSpc>
                        <a:spcBef>
                          <a:spcPts val="415"/>
                        </a:spcBef>
                      </a:pPr>
                      <a:r>
                        <a:rPr sz="1100" spc="-5" dirty="0">
                          <a:latin typeface="等线" panose="02010600030101010101" charset="-122"/>
                          <a:ea typeface="等线" panose="02010600030101010101" charset="-122"/>
                          <a:cs typeface="Arial" panose="020B0604020202020204"/>
                        </a:rPr>
                        <a:t>8.34</a:t>
                      </a:r>
                      <a:endParaRPr sz="1100" spc="-5" dirty="0">
                        <a:latin typeface="等线" panose="02010600030101010101" charset="-122"/>
                        <a:ea typeface="等线" panose="02010600030101010101" charset="-122"/>
                        <a:cs typeface="Arial" panose="020B0604020202020204"/>
                      </a:endParaRPr>
                    </a:p>
                  </a:txBody>
                  <a:tcPr marL="0" marR="0" marT="52705" marB="0" anchor="ctr">
                    <a:lnT w="28575">
                      <a:solidFill>
                        <a:srgbClr val="000000"/>
                      </a:solidFill>
                      <a:prstDash val="solid"/>
                    </a:lnT>
                    <a:solidFill>
                      <a:srgbClr val="E6E6E6"/>
                    </a:solidFill>
                  </a:tcPr>
                </a:tc>
                <a:tc>
                  <a:txBody>
                    <a:bodyPr/>
                    <a:lstStyle/>
                    <a:p>
                      <a:pPr marL="84455" algn="ctr">
                        <a:lnSpc>
                          <a:spcPct val="100000"/>
                        </a:lnSpc>
                        <a:spcBef>
                          <a:spcPts val="415"/>
                        </a:spcBef>
                      </a:pPr>
                      <a:r>
                        <a:rPr sz="1100" spc="-5" dirty="0">
                          <a:latin typeface="等线" panose="02010600030101010101" charset="-122"/>
                          <a:ea typeface="等线" panose="02010600030101010101" charset="-122"/>
                          <a:cs typeface="Arial" panose="020B0604020202020204"/>
                        </a:rPr>
                        <a:t>4.24</a:t>
                      </a:r>
                      <a:endParaRPr sz="1100" spc="-5" dirty="0">
                        <a:latin typeface="等线" panose="02010600030101010101" charset="-122"/>
                        <a:ea typeface="等线" panose="02010600030101010101" charset="-122"/>
                        <a:cs typeface="Arial" panose="020B0604020202020204"/>
                      </a:endParaRPr>
                    </a:p>
                  </a:txBody>
                  <a:tcPr marL="0" marR="0" marT="52705" marB="0" anchor="ctr">
                    <a:lnT w="28575">
                      <a:solidFill>
                        <a:srgbClr val="000000"/>
                      </a:solidFill>
                      <a:prstDash val="solid"/>
                    </a:lnT>
                    <a:solidFill>
                      <a:srgbClr val="E6E6E6"/>
                    </a:solidFill>
                  </a:tcPr>
                </a:tc>
                <a:tc>
                  <a:txBody>
                    <a:bodyPr/>
                    <a:lstStyle/>
                    <a:p>
                      <a:pPr algn="ctr">
                        <a:lnSpc>
                          <a:spcPct val="100000"/>
                        </a:lnSpc>
                        <a:spcBef>
                          <a:spcPts val="415"/>
                        </a:spcBef>
                      </a:pPr>
                      <a:r>
                        <a:rPr sz="1100" spc="-5" dirty="0">
                          <a:latin typeface="等线" panose="02010600030101010101" charset="-122"/>
                          <a:ea typeface="等线" panose="02010600030101010101" charset="-122"/>
                          <a:cs typeface="Arial" panose="020B0604020202020204"/>
                        </a:rPr>
                        <a:t>0.02</a:t>
                      </a:r>
                      <a:endParaRPr sz="1100" spc="-5" dirty="0">
                        <a:latin typeface="等线" panose="02010600030101010101" charset="-122"/>
                        <a:ea typeface="等线" panose="02010600030101010101" charset="-122"/>
                        <a:cs typeface="Arial" panose="020B0604020202020204"/>
                      </a:endParaRPr>
                    </a:p>
                  </a:txBody>
                  <a:tcPr marL="0" marR="0" marT="52705" marB="0" anchor="ctr">
                    <a:lnT w="28575">
                      <a:solidFill>
                        <a:srgbClr val="000000"/>
                      </a:solidFill>
                      <a:prstDash val="solid"/>
                    </a:lnT>
                    <a:solidFill>
                      <a:srgbClr val="E6E6E6"/>
                    </a:solidFill>
                  </a:tcPr>
                </a:tc>
                <a:tc>
                  <a:txBody>
                    <a:bodyPr/>
                    <a:lstStyle/>
                    <a:p>
                      <a:pPr marR="86360" algn="ctr">
                        <a:lnSpc>
                          <a:spcPct val="100000"/>
                        </a:lnSpc>
                        <a:spcBef>
                          <a:spcPts val="415"/>
                        </a:spcBef>
                      </a:pPr>
                      <a:r>
                        <a:rPr sz="1100" spc="-10" dirty="0">
                          <a:latin typeface="等线" panose="02010600030101010101" charset="-122"/>
                          <a:ea typeface="等线" panose="02010600030101010101" charset="-122"/>
                          <a:cs typeface="Arial" panose="020B0604020202020204"/>
                        </a:rPr>
                        <a:t>3</a:t>
                      </a:r>
                      <a:r>
                        <a:rPr sz="1100" dirty="0">
                          <a:latin typeface="等线" panose="02010600030101010101" charset="-122"/>
                          <a:ea typeface="等线" panose="02010600030101010101" charset="-122"/>
                          <a:cs typeface="Arial" panose="020B0604020202020204"/>
                        </a:rPr>
                        <a:t>.50</a:t>
                      </a:r>
                      <a:endParaRPr sz="1100" dirty="0">
                        <a:latin typeface="等线" panose="02010600030101010101" charset="-122"/>
                        <a:ea typeface="等线" panose="02010600030101010101" charset="-122"/>
                        <a:cs typeface="Arial" panose="020B0604020202020204"/>
                      </a:endParaRPr>
                    </a:p>
                  </a:txBody>
                  <a:tcPr marL="0" marR="0" marT="52705" marB="0" anchor="ctr">
                    <a:lnT w="28575">
                      <a:solidFill>
                        <a:srgbClr val="000000"/>
                      </a:solidFill>
                      <a:prstDash val="solid"/>
                    </a:lnT>
                    <a:solidFill>
                      <a:srgbClr val="E6E6E6"/>
                    </a:solidFill>
                  </a:tcPr>
                </a:tc>
                <a:tc>
                  <a:txBody>
                    <a:bodyPr/>
                    <a:lstStyle/>
                    <a:p>
                      <a:pPr algn="ctr">
                        <a:lnSpc>
                          <a:spcPct val="100000"/>
                        </a:lnSpc>
                        <a:spcBef>
                          <a:spcPts val="415"/>
                        </a:spcBef>
                      </a:pPr>
                      <a:r>
                        <a:rPr sz="1100" spc="-5" dirty="0">
                          <a:latin typeface="等线" panose="02010600030101010101" charset="-122"/>
                          <a:ea typeface="等线" panose="02010600030101010101" charset="-122"/>
                          <a:cs typeface="Arial" panose="020B0604020202020204"/>
                        </a:rPr>
                        <a:t>1.34</a:t>
                      </a:r>
                      <a:endParaRPr sz="1100" spc="-5" dirty="0">
                        <a:latin typeface="等线" panose="02010600030101010101" charset="-122"/>
                        <a:ea typeface="等线" panose="02010600030101010101" charset="-122"/>
                        <a:cs typeface="Arial" panose="020B0604020202020204"/>
                      </a:endParaRPr>
                    </a:p>
                  </a:txBody>
                  <a:tcPr marL="0" marR="0" marT="52705" marB="0" anchor="ctr">
                    <a:lnT w="28575">
                      <a:solidFill>
                        <a:srgbClr val="000000"/>
                      </a:solidFill>
                      <a:prstDash val="solid"/>
                    </a:lnT>
                    <a:solidFill>
                      <a:srgbClr val="E6E6E6"/>
                    </a:solidFill>
                  </a:tcPr>
                </a:tc>
                <a:tc>
                  <a:txBody>
                    <a:bodyPr/>
                    <a:lstStyle/>
                    <a:p>
                      <a:pPr algn="ctr">
                        <a:lnSpc>
                          <a:spcPct val="100000"/>
                        </a:lnSpc>
                        <a:spcBef>
                          <a:spcPts val="415"/>
                        </a:spcBef>
                      </a:pPr>
                      <a:r>
                        <a:rPr sz="1100" spc="-5" dirty="0">
                          <a:latin typeface="等线" panose="02010600030101010101" charset="-122"/>
                          <a:ea typeface="等线" panose="02010600030101010101" charset="-122"/>
                          <a:cs typeface="Arial" panose="020B0604020202020204"/>
                        </a:rPr>
                        <a:t>-4.28</a:t>
                      </a:r>
                      <a:endParaRPr sz="1100" spc="-5" dirty="0">
                        <a:latin typeface="等线" panose="02010600030101010101" charset="-122"/>
                        <a:ea typeface="等线" panose="02010600030101010101" charset="-122"/>
                        <a:cs typeface="Arial" panose="020B0604020202020204"/>
                      </a:endParaRPr>
                    </a:p>
                  </a:txBody>
                  <a:tcPr marL="0" marR="0" marT="52705" marB="0" anchor="ctr">
                    <a:lnT w="28575">
                      <a:solidFill>
                        <a:srgbClr val="000000"/>
                      </a:solidFill>
                      <a:prstDash val="solid"/>
                    </a:lnT>
                    <a:solidFill>
                      <a:srgbClr val="E6E6E6"/>
                    </a:solidFill>
                  </a:tcPr>
                </a:tc>
                <a:tc>
                  <a:txBody>
                    <a:bodyPr/>
                    <a:lstStyle/>
                    <a:p>
                      <a:pPr algn="ctr">
                        <a:lnSpc>
                          <a:spcPct val="100000"/>
                        </a:lnSpc>
                        <a:spcBef>
                          <a:spcPts val="415"/>
                        </a:spcBef>
                      </a:pPr>
                      <a:r>
                        <a:rPr sz="1100" spc="-5" dirty="0">
                          <a:latin typeface="等线" panose="02010600030101010101" charset="-122"/>
                          <a:ea typeface="等线" panose="02010600030101010101" charset="-122"/>
                          <a:cs typeface="Arial" panose="020B0604020202020204"/>
                        </a:rPr>
                        <a:t>0.35</a:t>
                      </a:r>
                      <a:endParaRPr sz="1100" spc="-5" dirty="0">
                        <a:latin typeface="等线" panose="02010600030101010101" charset="-122"/>
                        <a:ea typeface="等线" panose="02010600030101010101" charset="-122"/>
                        <a:cs typeface="Arial" panose="020B0604020202020204"/>
                      </a:endParaRPr>
                    </a:p>
                  </a:txBody>
                  <a:tcPr marL="0" marR="0" marT="52705" marB="0" anchor="ctr">
                    <a:lnT w="28575">
                      <a:solidFill>
                        <a:srgbClr val="000000"/>
                      </a:solidFill>
                      <a:prstDash val="solid"/>
                    </a:lnT>
                    <a:solidFill>
                      <a:srgbClr val="E6E6E6"/>
                    </a:solidFill>
                  </a:tcPr>
                </a:tc>
                <a:tc>
                  <a:txBody>
                    <a:bodyPr/>
                    <a:lstStyle/>
                    <a:p>
                      <a:pPr marL="10795" algn="ctr">
                        <a:lnSpc>
                          <a:spcPct val="100000"/>
                        </a:lnSpc>
                        <a:spcBef>
                          <a:spcPts val="415"/>
                        </a:spcBef>
                      </a:pPr>
                      <a:r>
                        <a:rPr sz="1100" spc="-5" dirty="0">
                          <a:latin typeface="等线" panose="02010600030101010101" charset="-122"/>
                          <a:ea typeface="等线" panose="02010600030101010101" charset="-122"/>
                          <a:cs typeface="Arial" panose="020B0604020202020204"/>
                        </a:rPr>
                        <a:t>8.16</a:t>
                      </a:r>
                      <a:endParaRPr sz="1100" spc="-5" dirty="0">
                        <a:latin typeface="等线" panose="02010600030101010101" charset="-122"/>
                        <a:ea typeface="等线" panose="02010600030101010101" charset="-122"/>
                        <a:cs typeface="Arial" panose="020B0604020202020204"/>
                      </a:endParaRPr>
                    </a:p>
                  </a:txBody>
                  <a:tcPr marL="0" marR="0" marT="52705" marB="0" anchor="ctr">
                    <a:lnT w="28575">
                      <a:solidFill>
                        <a:srgbClr val="000000"/>
                      </a:solidFill>
                      <a:prstDash val="solid"/>
                    </a:lnT>
                    <a:solidFill>
                      <a:srgbClr val="E6E6E6"/>
                    </a:solidFill>
                  </a:tcPr>
                </a:tc>
                <a:tc>
                  <a:txBody>
                    <a:bodyPr/>
                    <a:lstStyle/>
                    <a:p>
                      <a:pPr marL="62865" algn="ctr">
                        <a:lnSpc>
                          <a:spcPct val="100000"/>
                        </a:lnSpc>
                        <a:spcBef>
                          <a:spcPts val="415"/>
                        </a:spcBef>
                      </a:pPr>
                      <a:r>
                        <a:rPr sz="1100" spc="-5" dirty="0">
                          <a:latin typeface="等线" panose="02010600030101010101" charset="-122"/>
                          <a:ea typeface="等线" panose="02010600030101010101" charset="-122"/>
                          <a:cs typeface="Arial" panose="020B0604020202020204"/>
                        </a:rPr>
                        <a:t>-0.09</a:t>
                      </a:r>
                      <a:endParaRPr sz="1100" spc="-5" dirty="0">
                        <a:latin typeface="等线" panose="02010600030101010101" charset="-122"/>
                        <a:ea typeface="等线" panose="02010600030101010101" charset="-122"/>
                        <a:cs typeface="Arial" panose="020B0604020202020204"/>
                      </a:endParaRPr>
                    </a:p>
                  </a:txBody>
                  <a:tcPr marL="0" marR="0" marT="52705" marB="0" anchor="ctr">
                    <a:lnT w="28575">
                      <a:solidFill>
                        <a:srgbClr val="000000"/>
                      </a:solidFill>
                      <a:prstDash val="solid"/>
                    </a:lnT>
                    <a:solidFill>
                      <a:srgbClr val="E6E6E6"/>
                    </a:solidFill>
                  </a:tcPr>
                </a:tc>
                <a:tc>
                  <a:txBody>
                    <a:bodyPr/>
                    <a:lstStyle/>
                    <a:p>
                      <a:pPr marL="5715" algn="ctr">
                        <a:lnSpc>
                          <a:spcPct val="100000"/>
                        </a:lnSpc>
                        <a:spcBef>
                          <a:spcPts val="415"/>
                        </a:spcBef>
                      </a:pPr>
                      <a:r>
                        <a:rPr sz="1100" spc="-5" dirty="0">
                          <a:latin typeface="等线" panose="02010600030101010101" charset="-122"/>
                          <a:ea typeface="等线" panose="02010600030101010101" charset="-122"/>
                          <a:cs typeface="Arial" panose="020B0604020202020204"/>
                        </a:rPr>
                        <a:t>1.44</a:t>
                      </a:r>
                      <a:endParaRPr sz="1100" spc="-5" dirty="0">
                        <a:latin typeface="等线" panose="02010600030101010101" charset="-122"/>
                        <a:ea typeface="等线" panose="02010600030101010101" charset="-122"/>
                        <a:cs typeface="Arial" panose="020B0604020202020204"/>
                      </a:endParaRPr>
                    </a:p>
                  </a:txBody>
                  <a:tcPr marL="0" marR="0" marT="52705" marB="0" anchor="ctr">
                    <a:lnT w="28575">
                      <a:solidFill>
                        <a:srgbClr val="000000"/>
                      </a:solidFill>
                      <a:prstDash val="solid"/>
                    </a:lnT>
                    <a:solidFill>
                      <a:srgbClr val="E6E6E6"/>
                    </a:solidFill>
                  </a:tcPr>
                </a:tc>
                <a:tc>
                  <a:txBody>
                    <a:bodyPr/>
                    <a:lstStyle/>
                    <a:p>
                      <a:pPr algn="ctr">
                        <a:lnSpc>
                          <a:spcPct val="100000"/>
                        </a:lnSpc>
                      </a:pPr>
                      <a:r>
                        <a:rPr lang="en-US" sz="1100">
                          <a:latin typeface="等线" panose="02010600030101010101" charset="-122"/>
                          <a:ea typeface="等线" panose="02010600030101010101" charset="-122"/>
                          <a:cs typeface="Times New Roman" panose="02020603050405020304"/>
                        </a:rPr>
                        <a:t>5.43</a:t>
                      </a:r>
                      <a:endParaRPr lang="en-US" sz="1100">
                        <a:latin typeface="等线" panose="02010600030101010101" charset="-122"/>
                        <a:ea typeface="等线" panose="02010600030101010101" charset="-122"/>
                        <a:cs typeface="Times New Roman" panose="02020603050405020304"/>
                      </a:endParaRPr>
                    </a:p>
                  </a:txBody>
                  <a:tcPr marL="0" marR="0" marT="0" marB="0" anchor="ctr">
                    <a:lnT w="28575">
                      <a:solidFill>
                        <a:srgbClr val="000000"/>
                      </a:solidFill>
                      <a:prstDash val="solid"/>
                    </a:lnT>
                    <a:solidFill>
                      <a:srgbClr val="E6E6E6"/>
                    </a:solidFill>
                  </a:tcPr>
                </a:tc>
                <a:tc>
                  <a:txBody>
                    <a:bodyPr/>
                    <a:lstStyle/>
                    <a:p>
                      <a:pPr marR="24765" algn="ctr">
                        <a:lnSpc>
                          <a:spcPct val="100000"/>
                        </a:lnSpc>
                        <a:spcBef>
                          <a:spcPts val="415"/>
                        </a:spcBef>
                        <a:buClrTx/>
                        <a:buSzTx/>
                        <a:buFontTx/>
                      </a:pPr>
                      <a:r>
                        <a:rPr lang="en-US" sz="1100" b="1" spc="-10" dirty="0">
                          <a:solidFill>
                            <a:srgbClr val="FF0000"/>
                          </a:solidFill>
                          <a:latin typeface="等线" panose="02010600030101010101" charset="-122"/>
                          <a:ea typeface="等线" panose="02010600030101010101" charset="-122"/>
                          <a:cs typeface="Arial" panose="020B0604020202020204"/>
                        </a:rPr>
                        <a:t>35.52</a:t>
                      </a:r>
                      <a:endParaRPr lang="en-US" sz="1100" b="1" spc="-10" dirty="0">
                        <a:solidFill>
                          <a:srgbClr val="FF0000"/>
                        </a:solidFill>
                        <a:latin typeface="等线" panose="02010600030101010101" charset="-122"/>
                        <a:ea typeface="等线" panose="02010600030101010101" charset="-122"/>
                        <a:cs typeface="Arial" panose="020B0604020202020204"/>
                      </a:endParaRPr>
                    </a:p>
                  </a:txBody>
                  <a:tcPr marL="0" marR="0" marT="52705" marB="0" anchor="ctr">
                    <a:lnT w="28575">
                      <a:solidFill>
                        <a:srgbClr val="000000"/>
                      </a:solidFill>
                      <a:prstDash val="solid"/>
                    </a:lnT>
                    <a:solidFill>
                      <a:srgbClr val="E6E6E6"/>
                    </a:solidFill>
                  </a:tcPr>
                </a:tc>
                <a:tc>
                  <a:txBody>
                    <a:bodyPr/>
                    <a:lstStyle/>
                    <a:p>
                      <a:pPr marL="1270" algn="ctr">
                        <a:lnSpc>
                          <a:spcPct val="100000"/>
                        </a:lnSpc>
                        <a:spcBef>
                          <a:spcPts val="415"/>
                        </a:spcBef>
                      </a:pPr>
                      <a:r>
                        <a:rPr lang="en-US" sz="1100" b="1" spc="-10" dirty="0">
                          <a:latin typeface="等线" panose="02010600030101010101" charset="-122"/>
                          <a:ea typeface="等线" panose="02010600030101010101" charset="-122"/>
                          <a:cs typeface="Arial" panose="020B0604020202020204"/>
                        </a:rPr>
                        <a:t>17.00</a:t>
                      </a:r>
                      <a:endParaRPr lang="en-US" sz="1100" b="1" spc="-10" dirty="0">
                        <a:latin typeface="等线" panose="02010600030101010101" charset="-122"/>
                        <a:ea typeface="等线" panose="02010600030101010101" charset="-122"/>
                        <a:cs typeface="Arial" panose="020B0604020202020204"/>
                      </a:endParaRPr>
                    </a:p>
                  </a:txBody>
                  <a:tcPr marL="0" marR="0" marT="52705" marB="0" anchor="ctr">
                    <a:lnT w="28575">
                      <a:solidFill>
                        <a:srgbClr val="000000"/>
                      </a:solidFill>
                      <a:prstDash val="solid"/>
                    </a:lnT>
                    <a:solidFill>
                      <a:srgbClr val="E6E6E6"/>
                    </a:solidFill>
                  </a:tcPr>
                </a:tc>
                <a:tc>
                  <a:txBody>
                    <a:bodyPr/>
                    <a:lstStyle/>
                    <a:p>
                      <a:pPr marR="24765" algn="ctr">
                        <a:spcBef>
                          <a:spcPts val="415"/>
                        </a:spcBef>
                        <a:buClrTx/>
                        <a:buSzTx/>
                        <a:buFontTx/>
                      </a:pPr>
                      <a:r>
                        <a:rPr lang="en-US" sz="1100" b="1" i="0" spc="-10" dirty="0">
                          <a:solidFill>
                            <a:srgbClr val="FF0000"/>
                          </a:solidFill>
                          <a:latin typeface="等线" panose="02010600030101010101" charset="-122"/>
                          <a:ea typeface="等线" panose="02010600030101010101" charset="-122"/>
                          <a:cs typeface="Arial" panose="020B0604020202020204"/>
                        </a:rPr>
                        <a:t>+18</a:t>
                      </a:r>
                      <a:r>
                        <a:rPr sz="1100" b="1" i="0" spc="-10" dirty="0">
                          <a:solidFill>
                            <a:srgbClr val="FF0000"/>
                          </a:solidFill>
                          <a:latin typeface="等线" panose="02010600030101010101" charset="-122"/>
                          <a:ea typeface="等线" panose="02010600030101010101" charset="-122"/>
                          <a:cs typeface="Arial" panose="020B0604020202020204"/>
                        </a:rPr>
                        <a:t>.</a:t>
                      </a:r>
                      <a:r>
                        <a:rPr lang="en-US" sz="1100" b="1" i="0" spc="-10" dirty="0">
                          <a:solidFill>
                            <a:srgbClr val="FF0000"/>
                          </a:solidFill>
                          <a:latin typeface="等线" panose="02010600030101010101" charset="-122"/>
                          <a:ea typeface="等线" panose="02010600030101010101" charset="-122"/>
                          <a:cs typeface="Arial" panose="020B0604020202020204"/>
                        </a:rPr>
                        <a:t>5</a:t>
                      </a:r>
                      <a:r>
                        <a:rPr sz="1100" b="1" i="0" spc="-10" dirty="0">
                          <a:solidFill>
                            <a:srgbClr val="FF0000"/>
                          </a:solidFill>
                          <a:latin typeface="等线" panose="02010600030101010101" charset="-122"/>
                          <a:ea typeface="等线" panose="02010600030101010101" charset="-122"/>
                          <a:cs typeface="Arial" panose="020B0604020202020204"/>
                        </a:rPr>
                        <a:t>2</a:t>
                      </a:r>
                      <a:endParaRPr sz="1100" b="1" i="0" spc="-10" dirty="0">
                        <a:solidFill>
                          <a:srgbClr val="FF0000"/>
                        </a:solidFill>
                        <a:latin typeface="等线" panose="02010600030101010101" charset="-122"/>
                        <a:ea typeface="等线" panose="02010600030101010101" charset="-122"/>
                        <a:cs typeface="Arial" panose="020B0604020202020204"/>
                      </a:endParaRPr>
                    </a:p>
                  </a:txBody>
                  <a:tcPr marL="9842" marR="9842" marT="9842" marB="0" anchor="ctr">
                    <a:lnT w="28575">
                      <a:solidFill>
                        <a:srgbClr val="000000"/>
                      </a:solidFill>
                      <a:prstDash val="solid"/>
                    </a:lnT>
                    <a:solidFill>
                      <a:srgbClr val="E6E6E6"/>
                    </a:solidFill>
                  </a:tcPr>
                </a:tc>
              </a:tr>
              <a:tr h="235585">
                <a:tc>
                  <a:txBody>
                    <a:bodyPr/>
                    <a:lstStyle/>
                    <a:p>
                      <a:pPr marL="35560" algn="ctr">
                        <a:lnSpc>
                          <a:spcPct val="100000"/>
                        </a:lnSpc>
                        <a:spcBef>
                          <a:spcPts val="390"/>
                        </a:spcBef>
                      </a:pPr>
                      <a:r>
                        <a:rPr sz="1100" b="1" spc="-10" dirty="0">
                          <a:latin typeface="等线" panose="02010600030101010101" charset="-122"/>
                          <a:ea typeface="等线" panose="02010600030101010101" charset="-122"/>
                          <a:cs typeface="Arial" panose="020B0604020202020204"/>
                        </a:rPr>
                        <a:t>2023</a:t>
                      </a:r>
                      <a:endParaRPr sz="1100" b="1" spc="-10" dirty="0">
                        <a:latin typeface="等线" panose="02010600030101010101" charset="-122"/>
                        <a:ea typeface="等线" panose="02010600030101010101" charset="-122"/>
                        <a:cs typeface="Arial" panose="020B0604020202020204"/>
                      </a:endParaRPr>
                    </a:p>
                  </a:txBody>
                  <a:tcPr marL="0" marR="0" marT="49530" marB="0" anchor="ctr"/>
                </a:tc>
                <a:tc>
                  <a:txBody>
                    <a:bodyPr/>
                    <a:lstStyle/>
                    <a:p>
                      <a:pPr marR="48260" algn="ctr">
                        <a:lnSpc>
                          <a:spcPct val="100000"/>
                        </a:lnSpc>
                        <a:spcBef>
                          <a:spcPts val="390"/>
                        </a:spcBef>
                      </a:pPr>
                      <a:r>
                        <a:rPr sz="1100" spc="-10" dirty="0">
                          <a:latin typeface="等线" panose="02010600030101010101" charset="-122"/>
                          <a:ea typeface="等线" panose="02010600030101010101" charset="-122"/>
                          <a:cs typeface="Arial" panose="020B0604020202020204"/>
                        </a:rPr>
                        <a:t>1</a:t>
                      </a:r>
                      <a:r>
                        <a:rPr sz="1100" dirty="0">
                          <a:latin typeface="等线" panose="02010600030101010101" charset="-122"/>
                          <a:ea typeface="等线" panose="02010600030101010101" charset="-122"/>
                          <a:cs typeface="Arial" panose="020B0604020202020204"/>
                        </a:rPr>
                        <a:t>1.</a:t>
                      </a:r>
                      <a:r>
                        <a:rPr sz="1100" spc="-10" dirty="0">
                          <a:latin typeface="等线" panose="02010600030101010101" charset="-122"/>
                          <a:ea typeface="等线" panose="02010600030101010101" charset="-122"/>
                          <a:cs typeface="Arial" panose="020B0604020202020204"/>
                        </a:rPr>
                        <a:t>7</a:t>
                      </a:r>
                      <a:r>
                        <a:rPr sz="1100" dirty="0">
                          <a:latin typeface="等线" panose="02010600030101010101" charset="-122"/>
                          <a:ea typeface="等线" panose="02010600030101010101" charset="-122"/>
                          <a:cs typeface="Arial" panose="020B0604020202020204"/>
                        </a:rPr>
                        <a:t>4</a:t>
                      </a:r>
                      <a:endParaRPr sz="1100" dirty="0">
                        <a:latin typeface="等线" panose="02010600030101010101" charset="-122"/>
                        <a:ea typeface="等线" panose="02010600030101010101" charset="-122"/>
                        <a:cs typeface="Arial" panose="020B0604020202020204"/>
                      </a:endParaRPr>
                    </a:p>
                  </a:txBody>
                  <a:tcPr marL="0" marR="0" marT="49530" marB="0" anchor="ctr"/>
                </a:tc>
                <a:tc>
                  <a:txBody>
                    <a:bodyPr/>
                    <a:lstStyle/>
                    <a:p>
                      <a:pPr marL="55880" algn="ctr">
                        <a:lnSpc>
                          <a:spcPct val="100000"/>
                        </a:lnSpc>
                        <a:spcBef>
                          <a:spcPts val="390"/>
                        </a:spcBef>
                      </a:pPr>
                      <a:r>
                        <a:rPr sz="1100" spc="-5" dirty="0">
                          <a:latin typeface="等线" panose="02010600030101010101" charset="-122"/>
                          <a:ea typeface="等线" panose="02010600030101010101" charset="-122"/>
                          <a:cs typeface="Arial" panose="020B0604020202020204"/>
                        </a:rPr>
                        <a:t>-3.38</a:t>
                      </a:r>
                      <a:endParaRPr sz="1100" spc="-5" dirty="0">
                        <a:latin typeface="等线" panose="02010600030101010101" charset="-122"/>
                        <a:ea typeface="等线" panose="02010600030101010101" charset="-122"/>
                        <a:cs typeface="Arial" panose="020B0604020202020204"/>
                      </a:endParaRPr>
                    </a:p>
                  </a:txBody>
                  <a:tcPr marL="0" marR="0" marT="49530" marB="0" anchor="ctr"/>
                </a:tc>
                <a:tc>
                  <a:txBody>
                    <a:bodyPr/>
                    <a:lstStyle/>
                    <a:p>
                      <a:pPr marL="84455" algn="ctr">
                        <a:lnSpc>
                          <a:spcPct val="100000"/>
                        </a:lnSpc>
                        <a:spcBef>
                          <a:spcPts val="390"/>
                        </a:spcBef>
                      </a:pPr>
                      <a:r>
                        <a:rPr sz="1100" spc="-5" dirty="0">
                          <a:latin typeface="等线" panose="02010600030101010101" charset="-122"/>
                          <a:ea typeface="等线" panose="02010600030101010101" charset="-122"/>
                          <a:cs typeface="Arial" panose="020B0604020202020204"/>
                        </a:rPr>
                        <a:t>6.66</a:t>
                      </a:r>
                      <a:endParaRPr sz="1100" spc="-5" dirty="0">
                        <a:latin typeface="等线" panose="02010600030101010101" charset="-122"/>
                        <a:ea typeface="等线" panose="02010600030101010101" charset="-122"/>
                        <a:cs typeface="Arial" panose="020B0604020202020204"/>
                      </a:endParaRPr>
                    </a:p>
                  </a:txBody>
                  <a:tcPr marL="0" marR="0" marT="49530" marB="0" anchor="ctr"/>
                </a:tc>
                <a:tc>
                  <a:txBody>
                    <a:bodyPr/>
                    <a:lstStyle/>
                    <a:p>
                      <a:pPr algn="ctr">
                        <a:lnSpc>
                          <a:spcPct val="100000"/>
                        </a:lnSpc>
                        <a:spcBef>
                          <a:spcPts val="390"/>
                        </a:spcBef>
                      </a:pPr>
                      <a:r>
                        <a:rPr sz="1100" spc="-5" dirty="0">
                          <a:latin typeface="等线" panose="02010600030101010101" charset="-122"/>
                          <a:ea typeface="等线" panose="02010600030101010101" charset="-122"/>
                          <a:cs typeface="Arial" panose="020B0604020202020204"/>
                        </a:rPr>
                        <a:t>1.82</a:t>
                      </a:r>
                      <a:endParaRPr sz="1100" spc="-5" dirty="0">
                        <a:latin typeface="等线" panose="02010600030101010101" charset="-122"/>
                        <a:ea typeface="等线" panose="02010600030101010101" charset="-122"/>
                        <a:cs typeface="Arial" panose="020B0604020202020204"/>
                      </a:endParaRPr>
                    </a:p>
                  </a:txBody>
                  <a:tcPr marL="0" marR="0" marT="49530" marB="0" anchor="ctr"/>
                </a:tc>
                <a:tc>
                  <a:txBody>
                    <a:bodyPr/>
                    <a:lstStyle/>
                    <a:p>
                      <a:pPr marR="66040" algn="ctr">
                        <a:lnSpc>
                          <a:spcPct val="100000"/>
                        </a:lnSpc>
                        <a:spcBef>
                          <a:spcPts val="390"/>
                        </a:spcBef>
                      </a:pPr>
                      <a:r>
                        <a:rPr sz="1100" spc="5" dirty="0">
                          <a:latin typeface="等线" panose="02010600030101010101" charset="-122"/>
                          <a:ea typeface="等线" panose="02010600030101010101" charset="-122"/>
                          <a:cs typeface="Arial" panose="020B0604020202020204"/>
                        </a:rPr>
                        <a:t>-</a:t>
                      </a:r>
                      <a:r>
                        <a:rPr sz="1100" spc="-10" dirty="0">
                          <a:latin typeface="等线" panose="02010600030101010101" charset="-122"/>
                          <a:ea typeface="等线" panose="02010600030101010101" charset="-122"/>
                          <a:cs typeface="Arial" panose="020B0604020202020204"/>
                        </a:rPr>
                        <a:t>2</a:t>
                      </a:r>
                      <a:r>
                        <a:rPr sz="1100" dirty="0">
                          <a:latin typeface="等线" panose="02010600030101010101" charset="-122"/>
                          <a:ea typeface="等线" panose="02010600030101010101" charset="-122"/>
                          <a:cs typeface="Arial" panose="020B0604020202020204"/>
                        </a:rPr>
                        <a:t>.</a:t>
                      </a:r>
                      <a:r>
                        <a:rPr sz="1100" spc="-10" dirty="0">
                          <a:latin typeface="等线" panose="02010600030101010101" charset="-122"/>
                          <a:ea typeface="等线" panose="02010600030101010101" charset="-122"/>
                          <a:cs typeface="Arial" panose="020B0604020202020204"/>
                        </a:rPr>
                        <a:t>2</a:t>
                      </a:r>
                      <a:r>
                        <a:rPr sz="1100" dirty="0">
                          <a:latin typeface="等线" panose="02010600030101010101" charset="-122"/>
                          <a:ea typeface="等线" panose="02010600030101010101" charset="-122"/>
                          <a:cs typeface="Arial" panose="020B0604020202020204"/>
                        </a:rPr>
                        <a:t>0</a:t>
                      </a:r>
                      <a:endParaRPr sz="1100" dirty="0">
                        <a:latin typeface="等线" panose="02010600030101010101" charset="-122"/>
                        <a:ea typeface="等线" panose="02010600030101010101" charset="-122"/>
                        <a:cs typeface="Arial" panose="020B0604020202020204"/>
                      </a:endParaRPr>
                    </a:p>
                  </a:txBody>
                  <a:tcPr marL="0" marR="0" marT="49530" marB="0" anchor="ctr"/>
                </a:tc>
                <a:tc>
                  <a:txBody>
                    <a:bodyPr/>
                    <a:lstStyle/>
                    <a:p>
                      <a:pPr algn="ctr">
                        <a:lnSpc>
                          <a:spcPct val="100000"/>
                        </a:lnSpc>
                        <a:spcBef>
                          <a:spcPts val="390"/>
                        </a:spcBef>
                      </a:pPr>
                      <a:r>
                        <a:rPr sz="1100" spc="-5" dirty="0">
                          <a:latin typeface="等线" panose="02010600030101010101" charset="-122"/>
                          <a:ea typeface="等线" panose="02010600030101010101" charset="-122"/>
                          <a:cs typeface="Arial" panose="020B0604020202020204"/>
                        </a:rPr>
                        <a:t>7.15</a:t>
                      </a:r>
                      <a:endParaRPr sz="1100" spc="-5" dirty="0">
                        <a:latin typeface="等线" panose="02010600030101010101" charset="-122"/>
                        <a:ea typeface="等线" panose="02010600030101010101" charset="-122"/>
                        <a:cs typeface="Arial" panose="020B0604020202020204"/>
                      </a:endParaRPr>
                    </a:p>
                  </a:txBody>
                  <a:tcPr marL="0" marR="0" marT="49530" marB="0" anchor="ctr"/>
                </a:tc>
                <a:tc>
                  <a:txBody>
                    <a:bodyPr/>
                    <a:lstStyle/>
                    <a:p>
                      <a:pPr algn="ctr">
                        <a:lnSpc>
                          <a:spcPct val="100000"/>
                        </a:lnSpc>
                        <a:spcBef>
                          <a:spcPts val="390"/>
                        </a:spcBef>
                      </a:pPr>
                      <a:r>
                        <a:rPr sz="1100" spc="-5" dirty="0">
                          <a:latin typeface="等线" panose="02010600030101010101" charset="-122"/>
                          <a:ea typeface="等线" panose="02010600030101010101" charset="-122"/>
                          <a:cs typeface="Arial" panose="020B0604020202020204"/>
                        </a:rPr>
                        <a:t>2.94</a:t>
                      </a:r>
                      <a:endParaRPr sz="1100" spc="-5" dirty="0">
                        <a:latin typeface="等线" panose="02010600030101010101" charset="-122"/>
                        <a:ea typeface="等线" panose="02010600030101010101" charset="-122"/>
                        <a:cs typeface="Arial" panose="020B0604020202020204"/>
                      </a:endParaRPr>
                    </a:p>
                  </a:txBody>
                  <a:tcPr marL="0" marR="0" marT="49530" marB="0" anchor="ctr"/>
                </a:tc>
                <a:tc>
                  <a:txBody>
                    <a:bodyPr/>
                    <a:lstStyle/>
                    <a:p>
                      <a:pPr algn="ctr">
                        <a:lnSpc>
                          <a:spcPct val="100000"/>
                        </a:lnSpc>
                        <a:spcBef>
                          <a:spcPts val="390"/>
                        </a:spcBef>
                      </a:pPr>
                      <a:r>
                        <a:rPr sz="1100" spc="-5" dirty="0">
                          <a:latin typeface="等线" panose="02010600030101010101" charset="-122"/>
                          <a:ea typeface="等线" panose="02010600030101010101" charset="-122"/>
                          <a:cs typeface="Arial" panose="020B0604020202020204"/>
                        </a:rPr>
                        <a:t>0.41</a:t>
                      </a:r>
                      <a:endParaRPr sz="1100" spc="-5" dirty="0">
                        <a:latin typeface="等线" panose="02010600030101010101" charset="-122"/>
                        <a:ea typeface="等线" panose="02010600030101010101" charset="-122"/>
                        <a:cs typeface="Arial" panose="020B0604020202020204"/>
                      </a:endParaRPr>
                    </a:p>
                  </a:txBody>
                  <a:tcPr marL="0" marR="0" marT="49530" marB="0" anchor="ctr"/>
                </a:tc>
                <a:tc>
                  <a:txBody>
                    <a:bodyPr/>
                    <a:lstStyle/>
                    <a:p>
                      <a:pPr marL="10795" algn="ctr">
                        <a:lnSpc>
                          <a:spcPct val="100000"/>
                        </a:lnSpc>
                        <a:spcBef>
                          <a:spcPts val="390"/>
                        </a:spcBef>
                      </a:pPr>
                      <a:r>
                        <a:rPr sz="1100" spc="-5" dirty="0">
                          <a:latin typeface="等线" panose="02010600030101010101" charset="-122"/>
                          <a:ea typeface="等线" panose="02010600030101010101" charset="-122"/>
                          <a:cs typeface="Arial" panose="020B0604020202020204"/>
                        </a:rPr>
                        <a:t>1.77</a:t>
                      </a:r>
                      <a:endParaRPr sz="1100" spc="-5" dirty="0">
                        <a:latin typeface="等线" panose="02010600030101010101" charset="-122"/>
                        <a:ea typeface="等线" panose="02010600030101010101" charset="-122"/>
                        <a:cs typeface="Arial" panose="020B0604020202020204"/>
                      </a:endParaRPr>
                    </a:p>
                  </a:txBody>
                  <a:tcPr marL="0" marR="0" marT="49530" marB="0" anchor="ctr"/>
                </a:tc>
                <a:tc>
                  <a:txBody>
                    <a:bodyPr/>
                    <a:lstStyle/>
                    <a:p>
                      <a:pPr marL="84455" algn="ctr">
                        <a:lnSpc>
                          <a:spcPct val="100000"/>
                        </a:lnSpc>
                        <a:spcBef>
                          <a:spcPts val="390"/>
                        </a:spcBef>
                      </a:pPr>
                      <a:r>
                        <a:rPr sz="1100" spc="-5" dirty="0">
                          <a:latin typeface="等线" panose="02010600030101010101" charset="-122"/>
                          <a:ea typeface="等线" panose="02010600030101010101" charset="-122"/>
                          <a:cs typeface="Arial" panose="020B0604020202020204"/>
                        </a:rPr>
                        <a:t>1.35</a:t>
                      </a:r>
                      <a:endParaRPr sz="1100" spc="-5" dirty="0">
                        <a:latin typeface="等线" panose="02010600030101010101" charset="-122"/>
                        <a:ea typeface="等线" panose="02010600030101010101" charset="-122"/>
                        <a:cs typeface="Arial" panose="020B0604020202020204"/>
                      </a:endParaRPr>
                    </a:p>
                  </a:txBody>
                  <a:tcPr marL="0" marR="0" marT="49530" marB="0" anchor="ctr"/>
                </a:tc>
                <a:tc>
                  <a:txBody>
                    <a:bodyPr/>
                    <a:lstStyle/>
                    <a:p>
                      <a:pPr marR="19685" algn="ctr">
                        <a:lnSpc>
                          <a:spcPct val="100000"/>
                        </a:lnSpc>
                        <a:spcBef>
                          <a:spcPts val="390"/>
                        </a:spcBef>
                      </a:pPr>
                      <a:r>
                        <a:rPr sz="1100" spc="-5" dirty="0">
                          <a:latin typeface="等线" panose="02010600030101010101" charset="-122"/>
                          <a:ea typeface="等线" panose="02010600030101010101" charset="-122"/>
                          <a:cs typeface="Arial" panose="020B0604020202020204"/>
                        </a:rPr>
                        <a:t>7.51</a:t>
                      </a:r>
                      <a:endParaRPr sz="1100" spc="-5" dirty="0">
                        <a:latin typeface="等线" panose="02010600030101010101" charset="-122"/>
                        <a:ea typeface="等线" panose="02010600030101010101" charset="-122"/>
                        <a:cs typeface="Arial" panose="020B0604020202020204"/>
                      </a:endParaRPr>
                    </a:p>
                  </a:txBody>
                  <a:tcPr marL="0" marR="0" marT="49530" marB="0" anchor="ctr"/>
                </a:tc>
                <a:tc>
                  <a:txBody>
                    <a:bodyPr/>
                    <a:lstStyle/>
                    <a:p>
                      <a:pPr marL="67310" algn="ctr">
                        <a:lnSpc>
                          <a:spcPct val="100000"/>
                        </a:lnSpc>
                        <a:spcBef>
                          <a:spcPts val="390"/>
                        </a:spcBef>
                      </a:pPr>
                      <a:r>
                        <a:rPr sz="1100" spc="-5" dirty="0">
                          <a:latin typeface="等线" panose="02010600030101010101" charset="-122"/>
                          <a:ea typeface="等线" panose="02010600030101010101" charset="-122"/>
                          <a:cs typeface="Arial" panose="020B0604020202020204"/>
                        </a:rPr>
                        <a:t>0.94</a:t>
                      </a:r>
                      <a:endParaRPr sz="1100" spc="-5" dirty="0">
                        <a:latin typeface="等线" panose="02010600030101010101" charset="-122"/>
                        <a:ea typeface="等线" panose="02010600030101010101" charset="-122"/>
                        <a:cs typeface="Arial" panose="020B0604020202020204"/>
                      </a:endParaRPr>
                    </a:p>
                  </a:txBody>
                  <a:tcPr marL="0" marR="0" marT="49530" marB="0" anchor="ctr"/>
                </a:tc>
                <a:tc>
                  <a:txBody>
                    <a:bodyPr/>
                    <a:lstStyle/>
                    <a:p>
                      <a:pPr marR="24765" algn="ctr">
                        <a:lnSpc>
                          <a:spcPct val="100000"/>
                        </a:lnSpc>
                        <a:spcBef>
                          <a:spcPts val="415"/>
                        </a:spcBef>
                        <a:buClrTx/>
                        <a:buSzTx/>
                        <a:buFontTx/>
                      </a:pPr>
                      <a:r>
                        <a:rPr lang="en-US" sz="1100" b="1" spc="-10" dirty="0">
                          <a:solidFill>
                            <a:srgbClr val="FF0000"/>
                          </a:solidFill>
                          <a:latin typeface="等线" panose="02010600030101010101" charset="-122"/>
                          <a:ea typeface="等线" panose="02010600030101010101" charset="-122"/>
                          <a:cs typeface="Arial" panose="020B0604020202020204"/>
                        </a:rPr>
                        <a:t>42.16</a:t>
                      </a:r>
                      <a:endParaRPr lang="en-US" sz="1100" b="1" spc="-10" dirty="0">
                        <a:solidFill>
                          <a:srgbClr val="FF0000"/>
                        </a:solidFill>
                        <a:latin typeface="等线" panose="02010600030101010101" charset="-122"/>
                        <a:ea typeface="等线" panose="02010600030101010101" charset="-122"/>
                        <a:cs typeface="Arial" panose="020B0604020202020204"/>
                      </a:endParaRPr>
                    </a:p>
                  </a:txBody>
                  <a:tcPr marL="0" marR="0" marT="49530" marB="0" anchor="ctr"/>
                </a:tc>
                <a:tc>
                  <a:txBody>
                    <a:bodyPr/>
                    <a:lstStyle/>
                    <a:p>
                      <a:pPr marL="1270" algn="ctr">
                        <a:lnSpc>
                          <a:spcPct val="100000"/>
                        </a:lnSpc>
                        <a:spcBef>
                          <a:spcPts val="390"/>
                        </a:spcBef>
                      </a:pPr>
                      <a:r>
                        <a:rPr sz="1100" spc="-10" dirty="0">
                          <a:latin typeface="等线" panose="02010600030101010101" charset="-122"/>
                          <a:ea typeface="等线" panose="02010600030101010101" charset="-122"/>
                          <a:cs typeface="Arial" panose="020B0604020202020204"/>
                        </a:rPr>
                        <a:t>21.77</a:t>
                      </a:r>
                      <a:endParaRPr sz="1100" spc="-10" dirty="0">
                        <a:latin typeface="等线" panose="02010600030101010101" charset="-122"/>
                        <a:ea typeface="等线" panose="02010600030101010101" charset="-122"/>
                        <a:cs typeface="Arial" panose="020B0604020202020204"/>
                      </a:endParaRPr>
                    </a:p>
                  </a:txBody>
                  <a:tcPr marL="0" marR="0" marT="49530" marB="0" anchor="ctr"/>
                </a:tc>
                <a:tc>
                  <a:txBody>
                    <a:bodyPr/>
                    <a:lstStyle/>
                    <a:p>
                      <a:pPr marR="24765" algn="ctr">
                        <a:spcBef>
                          <a:spcPts val="415"/>
                        </a:spcBef>
                        <a:buClrTx/>
                        <a:buSzTx/>
                        <a:buFontTx/>
                      </a:pPr>
                      <a:r>
                        <a:rPr lang="en-US" sz="1100" b="1" i="0" spc="-10" dirty="0">
                          <a:solidFill>
                            <a:srgbClr val="FF0000"/>
                          </a:solidFill>
                          <a:latin typeface="等线" panose="02010600030101010101" charset="-122"/>
                          <a:ea typeface="等线" panose="02010600030101010101" charset="-122"/>
                          <a:cs typeface="Arial" panose="020B0604020202020204"/>
                        </a:rPr>
                        <a:t>+</a:t>
                      </a:r>
                      <a:r>
                        <a:rPr sz="1100" b="1" i="0" spc="-10" dirty="0">
                          <a:solidFill>
                            <a:srgbClr val="FF0000"/>
                          </a:solidFill>
                          <a:latin typeface="等线" panose="02010600030101010101" charset="-122"/>
                          <a:ea typeface="等线" panose="02010600030101010101" charset="-122"/>
                          <a:cs typeface="Arial" panose="020B0604020202020204"/>
                        </a:rPr>
                        <a:t>20.39</a:t>
                      </a:r>
                      <a:endParaRPr sz="1100" b="1" i="0" spc="-10" dirty="0">
                        <a:solidFill>
                          <a:srgbClr val="FF0000"/>
                        </a:solidFill>
                        <a:latin typeface="等线" panose="02010600030101010101" charset="-122"/>
                        <a:ea typeface="等线" panose="02010600030101010101" charset="-122"/>
                        <a:cs typeface="Arial" panose="020B0604020202020204"/>
                      </a:endParaRPr>
                    </a:p>
                  </a:txBody>
                  <a:tcPr marL="9842" marR="9842" marT="9842" marB="0" anchor="ctr"/>
                </a:tc>
              </a:tr>
              <a:tr h="312420">
                <a:tc>
                  <a:txBody>
                    <a:bodyPr/>
                    <a:lstStyle/>
                    <a:p>
                      <a:pPr marL="35560" algn="ctr">
                        <a:lnSpc>
                          <a:spcPct val="100000"/>
                        </a:lnSpc>
                        <a:spcBef>
                          <a:spcPts val="545"/>
                        </a:spcBef>
                      </a:pPr>
                      <a:r>
                        <a:rPr sz="1100" b="1" spc="-10" dirty="0">
                          <a:latin typeface="等线" panose="02010600030101010101" charset="-122"/>
                          <a:ea typeface="等线" panose="02010600030101010101" charset="-122"/>
                          <a:cs typeface="Arial" panose="020B0604020202020204"/>
                        </a:rPr>
                        <a:t>2022</a:t>
                      </a:r>
                      <a:endParaRPr sz="1100" b="1" spc="-10" dirty="0">
                        <a:latin typeface="等线" panose="02010600030101010101" charset="-122"/>
                        <a:ea typeface="等线" panose="02010600030101010101" charset="-122"/>
                        <a:cs typeface="Arial" panose="020B0604020202020204"/>
                      </a:endParaRPr>
                    </a:p>
                  </a:txBody>
                  <a:tcPr marL="0" marR="0" marT="69215" marB="0" anchor="ctr">
                    <a:solidFill>
                      <a:srgbClr val="E6E6E6"/>
                    </a:solidFill>
                  </a:tcPr>
                </a:tc>
                <a:tc>
                  <a:txBody>
                    <a:bodyPr/>
                    <a:lstStyle/>
                    <a:p>
                      <a:pPr marR="62230" algn="ctr">
                        <a:lnSpc>
                          <a:spcPct val="100000"/>
                        </a:lnSpc>
                        <a:spcBef>
                          <a:spcPts val="545"/>
                        </a:spcBef>
                      </a:pPr>
                      <a:r>
                        <a:rPr sz="1100" spc="5" dirty="0">
                          <a:latin typeface="等线" panose="02010600030101010101" charset="-122"/>
                          <a:ea typeface="等线" panose="02010600030101010101" charset="-122"/>
                          <a:cs typeface="Arial" panose="020B0604020202020204"/>
                        </a:rPr>
                        <a:t>-</a:t>
                      </a:r>
                      <a:r>
                        <a:rPr sz="1100" spc="-10" dirty="0">
                          <a:latin typeface="等线" panose="02010600030101010101" charset="-122"/>
                          <a:ea typeface="等线" panose="02010600030101010101" charset="-122"/>
                          <a:cs typeface="Arial" panose="020B0604020202020204"/>
                        </a:rPr>
                        <a:t>7</a:t>
                      </a:r>
                      <a:r>
                        <a:rPr sz="1100" dirty="0">
                          <a:latin typeface="等线" panose="02010600030101010101" charset="-122"/>
                          <a:ea typeface="等线" panose="02010600030101010101" charset="-122"/>
                          <a:cs typeface="Arial" panose="020B0604020202020204"/>
                        </a:rPr>
                        <a:t>.</a:t>
                      </a:r>
                      <a:r>
                        <a:rPr sz="1100" spc="-10" dirty="0">
                          <a:latin typeface="等线" panose="02010600030101010101" charset="-122"/>
                          <a:ea typeface="等线" panose="02010600030101010101" charset="-122"/>
                          <a:cs typeface="Arial" panose="020B0604020202020204"/>
                        </a:rPr>
                        <a:t>5</a:t>
                      </a:r>
                      <a:r>
                        <a:rPr sz="1100" dirty="0">
                          <a:latin typeface="等线" panose="02010600030101010101" charset="-122"/>
                          <a:ea typeface="等线" panose="02010600030101010101" charset="-122"/>
                          <a:cs typeface="Arial" panose="020B0604020202020204"/>
                        </a:rPr>
                        <a:t>1</a:t>
                      </a:r>
                      <a:endParaRPr sz="1100" dirty="0">
                        <a:latin typeface="等线" panose="02010600030101010101" charset="-122"/>
                        <a:ea typeface="等线" panose="02010600030101010101" charset="-122"/>
                        <a:cs typeface="Arial" panose="020B0604020202020204"/>
                      </a:endParaRPr>
                    </a:p>
                  </a:txBody>
                  <a:tcPr marL="0" marR="0" marT="69215" marB="0" anchor="ctr">
                    <a:solidFill>
                      <a:srgbClr val="E6E6E6"/>
                    </a:solidFill>
                  </a:tcPr>
                </a:tc>
                <a:tc>
                  <a:txBody>
                    <a:bodyPr/>
                    <a:lstStyle/>
                    <a:p>
                      <a:pPr marL="55880" algn="ctr">
                        <a:lnSpc>
                          <a:spcPct val="100000"/>
                        </a:lnSpc>
                        <a:spcBef>
                          <a:spcPts val="545"/>
                        </a:spcBef>
                      </a:pPr>
                      <a:r>
                        <a:rPr sz="1100" spc="-5" dirty="0">
                          <a:latin typeface="等线" panose="02010600030101010101" charset="-122"/>
                          <a:ea typeface="等线" panose="02010600030101010101" charset="-122"/>
                          <a:cs typeface="Arial" panose="020B0604020202020204"/>
                        </a:rPr>
                        <a:t>-5.83</a:t>
                      </a:r>
                      <a:endParaRPr sz="1100" spc="-5" dirty="0">
                        <a:latin typeface="等线" panose="02010600030101010101" charset="-122"/>
                        <a:ea typeface="等线" panose="02010600030101010101" charset="-122"/>
                        <a:cs typeface="Arial" panose="020B0604020202020204"/>
                      </a:endParaRPr>
                    </a:p>
                  </a:txBody>
                  <a:tcPr marL="0" marR="0" marT="69215" marB="0" anchor="ctr">
                    <a:solidFill>
                      <a:srgbClr val="E6E6E6"/>
                    </a:solidFill>
                  </a:tcPr>
                </a:tc>
                <a:tc>
                  <a:txBody>
                    <a:bodyPr/>
                    <a:lstStyle/>
                    <a:p>
                      <a:pPr marL="62865" algn="ctr">
                        <a:lnSpc>
                          <a:spcPct val="100000"/>
                        </a:lnSpc>
                        <a:spcBef>
                          <a:spcPts val="545"/>
                        </a:spcBef>
                      </a:pPr>
                      <a:r>
                        <a:rPr sz="1100" spc="-5" dirty="0">
                          <a:latin typeface="等线" panose="02010600030101010101" charset="-122"/>
                          <a:ea typeface="等线" panose="02010600030101010101" charset="-122"/>
                          <a:cs typeface="Arial" panose="020B0604020202020204"/>
                        </a:rPr>
                        <a:t>-3.72</a:t>
                      </a:r>
                      <a:endParaRPr sz="1100" spc="-5" dirty="0">
                        <a:latin typeface="等线" panose="02010600030101010101" charset="-122"/>
                        <a:ea typeface="等线" panose="02010600030101010101" charset="-122"/>
                        <a:cs typeface="Arial" panose="020B0604020202020204"/>
                      </a:endParaRPr>
                    </a:p>
                  </a:txBody>
                  <a:tcPr marL="0" marR="0" marT="69215" marB="0" anchor="ctr">
                    <a:solidFill>
                      <a:srgbClr val="E6E6E6"/>
                    </a:solidFill>
                  </a:tcPr>
                </a:tc>
                <a:tc>
                  <a:txBody>
                    <a:bodyPr/>
                    <a:lstStyle/>
                    <a:p>
                      <a:pPr algn="ctr">
                        <a:lnSpc>
                          <a:spcPts val="1140"/>
                        </a:lnSpc>
                      </a:pPr>
                      <a:r>
                        <a:rPr sz="1100" dirty="0">
                          <a:latin typeface="等线" panose="02010600030101010101" charset="-122"/>
                          <a:ea typeface="等线" panose="02010600030101010101" charset="-122"/>
                          <a:cs typeface="Arial" panose="020B0604020202020204"/>
                        </a:rPr>
                        <a:t>-</a:t>
                      </a:r>
                      <a:endParaRPr sz="1100" dirty="0">
                        <a:latin typeface="等线" panose="02010600030101010101" charset="-122"/>
                        <a:ea typeface="等线" panose="02010600030101010101" charset="-122"/>
                        <a:cs typeface="Arial" panose="020B0604020202020204"/>
                      </a:endParaRPr>
                    </a:p>
                    <a:p>
                      <a:pPr algn="ctr">
                        <a:lnSpc>
                          <a:spcPts val="1135"/>
                        </a:lnSpc>
                      </a:pPr>
                      <a:r>
                        <a:rPr sz="1100" spc="-10" dirty="0">
                          <a:latin typeface="等线" panose="02010600030101010101" charset="-122"/>
                          <a:ea typeface="等线" panose="02010600030101010101" charset="-122"/>
                          <a:cs typeface="Arial" panose="020B0604020202020204"/>
                        </a:rPr>
                        <a:t>10.91</a:t>
                      </a:r>
                      <a:endParaRPr sz="1100" dirty="0">
                        <a:latin typeface="等线" panose="02010600030101010101" charset="-122"/>
                        <a:ea typeface="等线" panose="02010600030101010101" charset="-122"/>
                        <a:cs typeface="Arial" panose="020B0604020202020204"/>
                      </a:endParaRPr>
                    </a:p>
                  </a:txBody>
                  <a:tcPr marL="0" marR="0" marT="0" marB="0" anchor="ctr">
                    <a:solidFill>
                      <a:srgbClr val="E6E6E6"/>
                    </a:solidFill>
                  </a:tcPr>
                </a:tc>
                <a:tc>
                  <a:txBody>
                    <a:bodyPr/>
                    <a:lstStyle/>
                    <a:p>
                      <a:pPr marR="66040" algn="ctr">
                        <a:lnSpc>
                          <a:spcPct val="100000"/>
                        </a:lnSpc>
                        <a:spcBef>
                          <a:spcPts val="545"/>
                        </a:spcBef>
                      </a:pPr>
                      <a:r>
                        <a:rPr sz="1100" spc="5" dirty="0">
                          <a:latin typeface="等线" panose="02010600030101010101" charset="-122"/>
                          <a:ea typeface="等线" panose="02010600030101010101" charset="-122"/>
                          <a:cs typeface="Arial" panose="020B0604020202020204"/>
                        </a:rPr>
                        <a:t>-</a:t>
                      </a:r>
                      <a:r>
                        <a:rPr sz="1100" spc="-10" dirty="0">
                          <a:latin typeface="等线" panose="02010600030101010101" charset="-122"/>
                          <a:ea typeface="等线" panose="02010600030101010101" charset="-122"/>
                          <a:cs typeface="Arial" panose="020B0604020202020204"/>
                        </a:rPr>
                        <a:t>3</a:t>
                      </a:r>
                      <a:r>
                        <a:rPr sz="1100" dirty="0">
                          <a:latin typeface="等线" panose="02010600030101010101" charset="-122"/>
                          <a:ea typeface="等线" panose="02010600030101010101" charset="-122"/>
                          <a:cs typeface="Arial" panose="020B0604020202020204"/>
                        </a:rPr>
                        <a:t>.</a:t>
                      </a:r>
                      <a:r>
                        <a:rPr sz="1100" spc="-10" dirty="0">
                          <a:latin typeface="等线" panose="02010600030101010101" charset="-122"/>
                          <a:ea typeface="等线" panose="02010600030101010101" charset="-122"/>
                          <a:cs typeface="Arial" panose="020B0604020202020204"/>
                        </a:rPr>
                        <a:t>3</a:t>
                      </a:r>
                      <a:r>
                        <a:rPr sz="1100" dirty="0">
                          <a:latin typeface="等线" panose="02010600030101010101" charset="-122"/>
                          <a:ea typeface="等线" panose="02010600030101010101" charset="-122"/>
                          <a:cs typeface="Arial" panose="020B0604020202020204"/>
                        </a:rPr>
                        <a:t>4</a:t>
                      </a:r>
                      <a:endParaRPr sz="1100" dirty="0">
                        <a:latin typeface="等线" panose="02010600030101010101" charset="-122"/>
                        <a:ea typeface="等线" panose="02010600030101010101" charset="-122"/>
                        <a:cs typeface="Arial" panose="020B0604020202020204"/>
                      </a:endParaRPr>
                    </a:p>
                  </a:txBody>
                  <a:tcPr marL="0" marR="0" marT="69215" marB="0" anchor="ctr">
                    <a:solidFill>
                      <a:srgbClr val="E6E6E6"/>
                    </a:solidFill>
                  </a:tcPr>
                </a:tc>
                <a:tc>
                  <a:txBody>
                    <a:bodyPr/>
                    <a:lstStyle/>
                    <a:p>
                      <a:pPr algn="ctr">
                        <a:lnSpc>
                          <a:spcPct val="100000"/>
                        </a:lnSpc>
                        <a:spcBef>
                          <a:spcPts val="545"/>
                        </a:spcBef>
                      </a:pPr>
                      <a:r>
                        <a:rPr sz="1100" spc="-5" dirty="0">
                          <a:latin typeface="等线" panose="02010600030101010101" charset="-122"/>
                          <a:ea typeface="等线" panose="02010600030101010101" charset="-122"/>
                          <a:cs typeface="Arial" panose="020B0604020202020204"/>
                        </a:rPr>
                        <a:t>-0.47</a:t>
                      </a:r>
                      <a:endParaRPr sz="1100" spc="-5" dirty="0">
                        <a:latin typeface="等线" panose="02010600030101010101" charset="-122"/>
                        <a:ea typeface="等线" panose="02010600030101010101" charset="-122"/>
                        <a:cs typeface="Arial" panose="020B0604020202020204"/>
                      </a:endParaRPr>
                    </a:p>
                  </a:txBody>
                  <a:tcPr marL="0" marR="0" marT="69215" marB="0" anchor="ctr">
                    <a:solidFill>
                      <a:srgbClr val="E6E6E6"/>
                    </a:solidFill>
                  </a:tcPr>
                </a:tc>
                <a:tc>
                  <a:txBody>
                    <a:bodyPr/>
                    <a:lstStyle/>
                    <a:p>
                      <a:pPr algn="ctr">
                        <a:lnSpc>
                          <a:spcPct val="100000"/>
                        </a:lnSpc>
                        <a:spcBef>
                          <a:spcPts val="545"/>
                        </a:spcBef>
                      </a:pPr>
                      <a:r>
                        <a:rPr sz="1100" spc="-5" dirty="0">
                          <a:latin typeface="等线" panose="02010600030101010101" charset="-122"/>
                          <a:ea typeface="等线" panose="02010600030101010101" charset="-122"/>
                          <a:cs typeface="Arial" panose="020B0604020202020204"/>
                        </a:rPr>
                        <a:t>0.19</a:t>
                      </a:r>
                      <a:endParaRPr sz="1100" spc="-5" dirty="0">
                        <a:latin typeface="等线" panose="02010600030101010101" charset="-122"/>
                        <a:ea typeface="等线" panose="02010600030101010101" charset="-122"/>
                        <a:cs typeface="Arial" panose="020B0604020202020204"/>
                      </a:endParaRPr>
                    </a:p>
                  </a:txBody>
                  <a:tcPr marL="0" marR="0" marT="69215" marB="0" anchor="ctr">
                    <a:solidFill>
                      <a:srgbClr val="E6E6E6"/>
                    </a:solidFill>
                  </a:tcPr>
                </a:tc>
                <a:tc>
                  <a:txBody>
                    <a:bodyPr/>
                    <a:lstStyle/>
                    <a:p>
                      <a:pPr algn="ctr">
                        <a:lnSpc>
                          <a:spcPct val="100000"/>
                        </a:lnSpc>
                        <a:spcBef>
                          <a:spcPts val="545"/>
                        </a:spcBef>
                      </a:pPr>
                      <a:r>
                        <a:rPr sz="1100" spc="-5" dirty="0">
                          <a:latin typeface="等线" panose="02010600030101010101" charset="-122"/>
                          <a:ea typeface="等线" panose="02010600030101010101" charset="-122"/>
                          <a:cs typeface="Arial" panose="020B0604020202020204"/>
                        </a:rPr>
                        <a:t>-0.63</a:t>
                      </a:r>
                      <a:endParaRPr sz="1100" spc="-5" dirty="0">
                        <a:latin typeface="等线" panose="02010600030101010101" charset="-122"/>
                        <a:ea typeface="等线" panose="02010600030101010101" charset="-122"/>
                        <a:cs typeface="Arial" panose="020B0604020202020204"/>
                      </a:endParaRPr>
                    </a:p>
                  </a:txBody>
                  <a:tcPr marL="0" marR="0" marT="69215" marB="0" anchor="ctr">
                    <a:solidFill>
                      <a:srgbClr val="E6E6E6"/>
                    </a:solidFill>
                  </a:tcPr>
                </a:tc>
                <a:tc>
                  <a:txBody>
                    <a:bodyPr/>
                    <a:lstStyle/>
                    <a:p>
                      <a:pPr marL="10160" algn="ctr">
                        <a:lnSpc>
                          <a:spcPct val="100000"/>
                        </a:lnSpc>
                        <a:spcBef>
                          <a:spcPts val="545"/>
                        </a:spcBef>
                      </a:pPr>
                      <a:r>
                        <a:rPr sz="1100" spc="-5" dirty="0">
                          <a:latin typeface="等线" panose="02010600030101010101" charset="-122"/>
                          <a:ea typeface="等线" panose="02010600030101010101" charset="-122"/>
                          <a:cs typeface="Arial" panose="020B0604020202020204"/>
                        </a:rPr>
                        <a:t>-5.43</a:t>
                      </a:r>
                      <a:endParaRPr sz="1100" spc="-5" dirty="0">
                        <a:latin typeface="等线" panose="02010600030101010101" charset="-122"/>
                        <a:ea typeface="等线" panose="02010600030101010101" charset="-122"/>
                        <a:cs typeface="Arial" panose="020B0604020202020204"/>
                      </a:endParaRPr>
                    </a:p>
                  </a:txBody>
                  <a:tcPr marL="0" marR="0" marT="69215" marB="0" anchor="ctr">
                    <a:solidFill>
                      <a:srgbClr val="E6E6E6"/>
                    </a:solidFill>
                  </a:tcPr>
                </a:tc>
                <a:tc>
                  <a:txBody>
                    <a:bodyPr/>
                    <a:lstStyle/>
                    <a:p>
                      <a:pPr marL="62865" algn="ctr">
                        <a:lnSpc>
                          <a:spcPct val="100000"/>
                        </a:lnSpc>
                        <a:spcBef>
                          <a:spcPts val="545"/>
                        </a:spcBef>
                      </a:pPr>
                      <a:r>
                        <a:rPr sz="1100" spc="-5" dirty="0">
                          <a:latin typeface="等线" panose="02010600030101010101" charset="-122"/>
                          <a:ea typeface="等线" panose="02010600030101010101" charset="-122"/>
                          <a:cs typeface="Arial" panose="020B0604020202020204"/>
                        </a:rPr>
                        <a:t>-4.30</a:t>
                      </a:r>
                      <a:endParaRPr sz="1100" spc="-5" dirty="0">
                        <a:latin typeface="等线" panose="02010600030101010101" charset="-122"/>
                        <a:ea typeface="等线" panose="02010600030101010101" charset="-122"/>
                        <a:cs typeface="Arial" panose="020B0604020202020204"/>
                      </a:endParaRPr>
                    </a:p>
                  </a:txBody>
                  <a:tcPr marL="0" marR="0" marT="69215" marB="0" anchor="ctr">
                    <a:solidFill>
                      <a:srgbClr val="E6E6E6"/>
                    </a:solidFill>
                  </a:tcPr>
                </a:tc>
                <a:tc>
                  <a:txBody>
                    <a:bodyPr/>
                    <a:lstStyle/>
                    <a:p>
                      <a:pPr marL="5080" algn="ctr">
                        <a:lnSpc>
                          <a:spcPct val="100000"/>
                        </a:lnSpc>
                        <a:spcBef>
                          <a:spcPts val="545"/>
                        </a:spcBef>
                      </a:pPr>
                      <a:r>
                        <a:rPr sz="1100" spc="-10" dirty="0">
                          <a:latin typeface="等线" panose="02010600030101010101" charset="-122"/>
                          <a:ea typeface="等线" panose="02010600030101010101" charset="-122"/>
                          <a:cs typeface="Arial" panose="020B0604020202020204"/>
                        </a:rPr>
                        <a:t>21.15</a:t>
                      </a:r>
                      <a:endParaRPr sz="1100" spc="-10" dirty="0">
                        <a:latin typeface="等线" panose="02010600030101010101" charset="-122"/>
                        <a:ea typeface="等线" panose="02010600030101010101" charset="-122"/>
                        <a:cs typeface="Arial" panose="020B0604020202020204"/>
                      </a:endParaRPr>
                    </a:p>
                  </a:txBody>
                  <a:tcPr marL="0" marR="0" marT="69215" marB="0" anchor="ctr">
                    <a:solidFill>
                      <a:srgbClr val="E6E6E6"/>
                    </a:solidFill>
                  </a:tcPr>
                </a:tc>
                <a:tc>
                  <a:txBody>
                    <a:bodyPr/>
                    <a:lstStyle/>
                    <a:p>
                      <a:pPr marL="83820" algn="ctr">
                        <a:lnSpc>
                          <a:spcPct val="100000"/>
                        </a:lnSpc>
                        <a:spcBef>
                          <a:spcPts val="545"/>
                        </a:spcBef>
                      </a:pPr>
                      <a:r>
                        <a:rPr sz="1100" spc="-5" dirty="0">
                          <a:latin typeface="等线" panose="02010600030101010101" charset="-122"/>
                          <a:ea typeface="等线" panose="02010600030101010101" charset="-122"/>
                          <a:cs typeface="Arial" panose="020B0604020202020204"/>
                        </a:rPr>
                        <a:t>5.83</a:t>
                      </a:r>
                      <a:endParaRPr sz="1100" spc="-5" dirty="0">
                        <a:latin typeface="等线" panose="02010600030101010101" charset="-122"/>
                        <a:ea typeface="等线" panose="02010600030101010101" charset="-122"/>
                        <a:cs typeface="Arial" panose="020B0604020202020204"/>
                      </a:endParaRPr>
                    </a:p>
                  </a:txBody>
                  <a:tcPr marL="0" marR="0" marT="69215" marB="0" anchor="ctr">
                    <a:solidFill>
                      <a:srgbClr val="E6E6E6"/>
                    </a:solidFill>
                  </a:tcPr>
                </a:tc>
                <a:tc>
                  <a:txBody>
                    <a:bodyPr/>
                    <a:lstStyle/>
                    <a:p>
                      <a:pPr marR="24765" algn="ctr">
                        <a:lnSpc>
                          <a:spcPct val="100000"/>
                        </a:lnSpc>
                        <a:spcBef>
                          <a:spcPts val="545"/>
                        </a:spcBef>
                      </a:pPr>
                      <a:r>
                        <a:rPr sz="1100" spc="-5" dirty="0">
                          <a:solidFill>
                            <a:schemeClr val="accent6"/>
                          </a:solidFill>
                          <a:latin typeface="等线" panose="02010600030101010101" charset="-122"/>
                          <a:ea typeface="等线" panose="02010600030101010101" charset="-122"/>
                          <a:cs typeface="Arial" panose="020B0604020202020204"/>
                        </a:rPr>
                        <a:t>-16.96</a:t>
                      </a:r>
                      <a:endParaRPr sz="1100" spc="-5" dirty="0">
                        <a:solidFill>
                          <a:schemeClr val="accent6"/>
                        </a:solidFill>
                        <a:latin typeface="等线" panose="02010600030101010101" charset="-122"/>
                        <a:ea typeface="等线" panose="02010600030101010101" charset="-122"/>
                        <a:cs typeface="Arial" panose="020B0604020202020204"/>
                      </a:endParaRPr>
                    </a:p>
                  </a:txBody>
                  <a:tcPr marL="0" marR="0" marT="69215" marB="0" anchor="ctr">
                    <a:solidFill>
                      <a:srgbClr val="E6E6E6"/>
                    </a:solidFill>
                  </a:tcPr>
                </a:tc>
                <a:tc>
                  <a:txBody>
                    <a:bodyPr/>
                    <a:lstStyle/>
                    <a:p>
                      <a:pPr marL="1270" algn="ctr">
                        <a:lnSpc>
                          <a:spcPct val="100000"/>
                        </a:lnSpc>
                        <a:spcBef>
                          <a:spcPts val="545"/>
                        </a:spcBef>
                      </a:pPr>
                      <a:r>
                        <a:rPr sz="1100" spc="-5" dirty="0">
                          <a:latin typeface="等线" panose="02010600030101010101" charset="-122"/>
                          <a:ea typeface="等线" panose="02010600030101010101" charset="-122"/>
                          <a:cs typeface="Arial" panose="020B0604020202020204"/>
                        </a:rPr>
                        <a:t>-19.46</a:t>
                      </a:r>
                      <a:endParaRPr sz="1100" spc="-5" dirty="0">
                        <a:latin typeface="等线" panose="02010600030101010101" charset="-122"/>
                        <a:ea typeface="等线" panose="02010600030101010101" charset="-122"/>
                        <a:cs typeface="Arial" panose="020B0604020202020204"/>
                      </a:endParaRPr>
                    </a:p>
                  </a:txBody>
                  <a:tcPr marL="0" marR="0" marT="69215" marB="0" anchor="ctr">
                    <a:solidFill>
                      <a:srgbClr val="E6E6E6"/>
                    </a:solidFill>
                  </a:tcPr>
                </a:tc>
                <a:tc>
                  <a:txBody>
                    <a:bodyPr/>
                    <a:lstStyle/>
                    <a:p>
                      <a:pPr marR="24765" algn="ctr">
                        <a:spcBef>
                          <a:spcPts val="415"/>
                        </a:spcBef>
                        <a:buClrTx/>
                        <a:buSzTx/>
                        <a:buFontTx/>
                      </a:pPr>
                      <a:r>
                        <a:rPr lang="en-US" sz="1100" b="1" i="0" spc="-10" dirty="0">
                          <a:solidFill>
                            <a:srgbClr val="FF0000"/>
                          </a:solidFill>
                          <a:latin typeface="等线" panose="02010600030101010101" charset="-122"/>
                          <a:ea typeface="等线" panose="02010600030101010101" charset="-122"/>
                          <a:cs typeface="Arial" panose="020B0604020202020204"/>
                        </a:rPr>
                        <a:t>+</a:t>
                      </a:r>
                      <a:r>
                        <a:rPr sz="1100" b="1" i="0" spc="-10" dirty="0">
                          <a:solidFill>
                            <a:srgbClr val="FF0000"/>
                          </a:solidFill>
                          <a:latin typeface="等线" panose="02010600030101010101" charset="-122"/>
                          <a:ea typeface="等线" panose="02010600030101010101" charset="-122"/>
                          <a:cs typeface="Arial" panose="020B0604020202020204"/>
                        </a:rPr>
                        <a:t>2.5</a:t>
                      </a:r>
                      <a:endParaRPr sz="1100" b="1" i="0" spc="-10" dirty="0">
                        <a:solidFill>
                          <a:srgbClr val="FF0000"/>
                        </a:solidFill>
                        <a:latin typeface="等线" panose="02010600030101010101" charset="-122"/>
                        <a:ea typeface="等线" panose="02010600030101010101" charset="-122"/>
                        <a:cs typeface="Arial" panose="020B0604020202020204"/>
                      </a:endParaRPr>
                    </a:p>
                  </a:txBody>
                  <a:tcPr marL="9842" marR="9842" marT="9842" marB="0" anchor="ctr">
                    <a:solidFill>
                      <a:srgbClr val="E6E6E6"/>
                    </a:solidFill>
                  </a:tcPr>
                </a:tc>
              </a:tr>
              <a:tr h="238125">
                <a:tc>
                  <a:txBody>
                    <a:bodyPr/>
                    <a:lstStyle/>
                    <a:p>
                      <a:pPr marL="35560" algn="ctr">
                        <a:lnSpc>
                          <a:spcPct val="100000"/>
                        </a:lnSpc>
                        <a:spcBef>
                          <a:spcPts val="390"/>
                        </a:spcBef>
                      </a:pPr>
                      <a:r>
                        <a:rPr sz="1100" b="1" spc="-10" dirty="0">
                          <a:latin typeface="等线" panose="02010600030101010101" charset="-122"/>
                          <a:ea typeface="等线" panose="02010600030101010101" charset="-122"/>
                          <a:cs typeface="Arial" panose="020B0604020202020204"/>
                        </a:rPr>
                        <a:t>2021</a:t>
                      </a:r>
                      <a:endParaRPr sz="1100" b="1" spc="-10" dirty="0">
                        <a:latin typeface="等线" panose="02010600030101010101" charset="-122"/>
                        <a:ea typeface="等线" panose="02010600030101010101" charset="-122"/>
                        <a:cs typeface="Arial" panose="020B0604020202020204"/>
                      </a:endParaRPr>
                    </a:p>
                  </a:txBody>
                  <a:tcPr marL="0" marR="0" marT="49530" marB="0" anchor="ctr"/>
                </a:tc>
                <a:tc>
                  <a:txBody>
                    <a:bodyPr/>
                    <a:lstStyle/>
                    <a:p>
                      <a:pPr marR="82550" algn="ctr">
                        <a:lnSpc>
                          <a:spcPct val="100000"/>
                        </a:lnSpc>
                        <a:spcBef>
                          <a:spcPts val="390"/>
                        </a:spcBef>
                      </a:pPr>
                      <a:r>
                        <a:rPr sz="1100" spc="-10" dirty="0">
                          <a:latin typeface="等线" panose="02010600030101010101" charset="-122"/>
                          <a:ea typeface="等线" panose="02010600030101010101" charset="-122"/>
                          <a:cs typeface="Arial" panose="020B0604020202020204"/>
                        </a:rPr>
                        <a:t>3</a:t>
                      </a:r>
                      <a:r>
                        <a:rPr sz="1100" dirty="0">
                          <a:latin typeface="等线" panose="02010600030101010101" charset="-122"/>
                          <a:ea typeface="等线" panose="02010600030101010101" charset="-122"/>
                          <a:cs typeface="Arial" panose="020B0604020202020204"/>
                        </a:rPr>
                        <a:t>.63</a:t>
                      </a:r>
                      <a:endParaRPr sz="1100" dirty="0">
                        <a:latin typeface="等线" panose="02010600030101010101" charset="-122"/>
                        <a:ea typeface="等线" panose="02010600030101010101" charset="-122"/>
                        <a:cs typeface="Arial" panose="020B0604020202020204"/>
                      </a:endParaRPr>
                    </a:p>
                  </a:txBody>
                  <a:tcPr marL="0" marR="0" marT="49530" marB="0" anchor="ctr"/>
                </a:tc>
                <a:tc>
                  <a:txBody>
                    <a:bodyPr/>
                    <a:lstStyle/>
                    <a:p>
                      <a:pPr marL="77470" algn="ctr">
                        <a:lnSpc>
                          <a:spcPct val="100000"/>
                        </a:lnSpc>
                        <a:spcBef>
                          <a:spcPts val="390"/>
                        </a:spcBef>
                      </a:pPr>
                      <a:r>
                        <a:rPr sz="1100" spc="-5" dirty="0">
                          <a:latin typeface="等线" panose="02010600030101010101" charset="-122"/>
                          <a:ea typeface="等线" panose="02010600030101010101" charset="-122"/>
                          <a:cs typeface="Arial" panose="020B0604020202020204"/>
                        </a:rPr>
                        <a:t>4.22</a:t>
                      </a:r>
                      <a:endParaRPr sz="1100" spc="-5" dirty="0">
                        <a:latin typeface="等线" panose="02010600030101010101" charset="-122"/>
                        <a:ea typeface="等线" panose="02010600030101010101" charset="-122"/>
                        <a:cs typeface="Arial" panose="020B0604020202020204"/>
                      </a:endParaRPr>
                    </a:p>
                  </a:txBody>
                  <a:tcPr marL="0" marR="0" marT="49530" marB="0" anchor="ctr"/>
                </a:tc>
                <a:tc>
                  <a:txBody>
                    <a:bodyPr/>
                    <a:lstStyle/>
                    <a:p>
                      <a:pPr marL="62865" algn="ctr">
                        <a:lnSpc>
                          <a:spcPct val="100000"/>
                        </a:lnSpc>
                        <a:spcBef>
                          <a:spcPts val="390"/>
                        </a:spcBef>
                      </a:pPr>
                      <a:r>
                        <a:rPr sz="1100" spc="-5" dirty="0">
                          <a:latin typeface="等线" panose="02010600030101010101" charset="-122"/>
                          <a:ea typeface="等线" panose="02010600030101010101" charset="-122"/>
                          <a:cs typeface="Arial" panose="020B0604020202020204"/>
                        </a:rPr>
                        <a:t>-2.37</a:t>
                      </a:r>
                      <a:endParaRPr sz="1100" spc="-5" dirty="0">
                        <a:latin typeface="等线" panose="02010600030101010101" charset="-122"/>
                        <a:ea typeface="等线" panose="02010600030101010101" charset="-122"/>
                        <a:cs typeface="Arial" panose="020B0604020202020204"/>
                      </a:endParaRPr>
                    </a:p>
                  </a:txBody>
                  <a:tcPr marL="0" marR="0" marT="49530" marB="0" anchor="ctr"/>
                </a:tc>
                <a:tc>
                  <a:txBody>
                    <a:bodyPr/>
                    <a:lstStyle/>
                    <a:p>
                      <a:pPr algn="ctr">
                        <a:lnSpc>
                          <a:spcPct val="100000"/>
                        </a:lnSpc>
                        <a:spcBef>
                          <a:spcPts val="390"/>
                        </a:spcBef>
                      </a:pPr>
                      <a:r>
                        <a:rPr sz="1100" spc="-5" dirty="0">
                          <a:latin typeface="等线" panose="02010600030101010101" charset="-122"/>
                          <a:ea typeface="等线" panose="02010600030101010101" charset="-122"/>
                          <a:cs typeface="Arial" panose="020B0604020202020204"/>
                        </a:rPr>
                        <a:t>3.67</a:t>
                      </a:r>
                      <a:endParaRPr sz="1100" spc="-5" dirty="0">
                        <a:latin typeface="等线" panose="02010600030101010101" charset="-122"/>
                        <a:ea typeface="等线" panose="02010600030101010101" charset="-122"/>
                        <a:cs typeface="Arial" panose="020B0604020202020204"/>
                      </a:endParaRPr>
                    </a:p>
                  </a:txBody>
                  <a:tcPr marL="0" marR="0" marT="49530" marB="0" anchor="ctr"/>
                </a:tc>
                <a:tc>
                  <a:txBody>
                    <a:bodyPr/>
                    <a:lstStyle/>
                    <a:p>
                      <a:pPr marR="86360" algn="ctr">
                        <a:lnSpc>
                          <a:spcPct val="100000"/>
                        </a:lnSpc>
                        <a:spcBef>
                          <a:spcPts val="390"/>
                        </a:spcBef>
                      </a:pPr>
                      <a:r>
                        <a:rPr sz="1100" spc="-10" dirty="0">
                          <a:latin typeface="等线" panose="02010600030101010101" charset="-122"/>
                          <a:ea typeface="等线" panose="02010600030101010101" charset="-122"/>
                          <a:cs typeface="Arial" panose="020B0604020202020204"/>
                        </a:rPr>
                        <a:t>0</a:t>
                      </a:r>
                      <a:r>
                        <a:rPr sz="1100" dirty="0">
                          <a:latin typeface="等线" panose="02010600030101010101" charset="-122"/>
                          <a:ea typeface="等线" panose="02010600030101010101" charset="-122"/>
                          <a:cs typeface="Arial" panose="020B0604020202020204"/>
                        </a:rPr>
                        <a:t>.22</a:t>
                      </a:r>
                      <a:endParaRPr sz="1100" dirty="0">
                        <a:latin typeface="等线" panose="02010600030101010101" charset="-122"/>
                        <a:ea typeface="等线" panose="02010600030101010101" charset="-122"/>
                        <a:cs typeface="Arial" panose="020B0604020202020204"/>
                      </a:endParaRPr>
                    </a:p>
                  </a:txBody>
                  <a:tcPr marL="0" marR="0" marT="49530" marB="0" anchor="ctr"/>
                </a:tc>
                <a:tc>
                  <a:txBody>
                    <a:bodyPr/>
                    <a:lstStyle/>
                    <a:p>
                      <a:pPr algn="ctr">
                        <a:lnSpc>
                          <a:spcPct val="100000"/>
                        </a:lnSpc>
                        <a:spcBef>
                          <a:spcPts val="390"/>
                        </a:spcBef>
                      </a:pPr>
                      <a:r>
                        <a:rPr sz="1100" spc="-5" dirty="0">
                          <a:latin typeface="等线" panose="02010600030101010101" charset="-122"/>
                          <a:ea typeface="等线" panose="02010600030101010101" charset="-122"/>
                          <a:cs typeface="Arial" panose="020B0604020202020204"/>
                        </a:rPr>
                        <a:t>2.60</a:t>
                      </a:r>
                      <a:endParaRPr sz="1100" spc="-5" dirty="0">
                        <a:latin typeface="等线" panose="02010600030101010101" charset="-122"/>
                        <a:ea typeface="等线" panose="02010600030101010101" charset="-122"/>
                        <a:cs typeface="Arial" panose="020B0604020202020204"/>
                      </a:endParaRPr>
                    </a:p>
                  </a:txBody>
                  <a:tcPr marL="0" marR="0" marT="49530" marB="0" anchor="ctr"/>
                </a:tc>
                <a:tc>
                  <a:txBody>
                    <a:bodyPr/>
                    <a:lstStyle/>
                    <a:p>
                      <a:pPr algn="ctr">
                        <a:lnSpc>
                          <a:spcPct val="100000"/>
                        </a:lnSpc>
                        <a:spcBef>
                          <a:spcPts val="390"/>
                        </a:spcBef>
                      </a:pPr>
                      <a:r>
                        <a:rPr sz="1100" spc="-5" dirty="0">
                          <a:latin typeface="等线" panose="02010600030101010101" charset="-122"/>
                          <a:ea typeface="等线" panose="02010600030101010101" charset="-122"/>
                          <a:cs typeface="Arial" panose="020B0604020202020204"/>
                        </a:rPr>
                        <a:t>-0.74</a:t>
                      </a:r>
                      <a:endParaRPr sz="1100" spc="-5" dirty="0">
                        <a:latin typeface="等线" panose="02010600030101010101" charset="-122"/>
                        <a:ea typeface="等线" panose="02010600030101010101" charset="-122"/>
                        <a:cs typeface="Arial" panose="020B0604020202020204"/>
                      </a:endParaRPr>
                    </a:p>
                  </a:txBody>
                  <a:tcPr marL="0" marR="0" marT="49530" marB="0" anchor="ctr"/>
                </a:tc>
                <a:tc>
                  <a:txBody>
                    <a:bodyPr/>
                    <a:lstStyle/>
                    <a:p>
                      <a:pPr algn="ctr">
                        <a:lnSpc>
                          <a:spcPct val="100000"/>
                        </a:lnSpc>
                        <a:spcBef>
                          <a:spcPts val="390"/>
                        </a:spcBef>
                      </a:pPr>
                      <a:r>
                        <a:rPr sz="1100" spc="-5" dirty="0">
                          <a:latin typeface="等线" panose="02010600030101010101" charset="-122"/>
                          <a:ea typeface="等线" panose="02010600030101010101" charset="-122"/>
                          <a:cs typeface="Arial" panose="020B0604020202020204"/>
                        </a:rPr>
                        <a:t>4.11</a:t>
                      </a:r>
                      <a:endParaRPr sz="1100" spc="-5" dirty="0">
                        <a:latin typeface="等线" panose="02010600030101010101" charset="-122"/>
                        <a:ea typeface="等线" panose="02010600030101010101" charset="-122"/>
                        <a:cs typeface="Arial" panose="020B0604020202020204"/>
                      </a:endParaRPr>
                    </a:p>
                  </a:txBody>
                  <a:tcPr marL="0" marR="0" marT="49530" marB="0" anchor="ctr"/>
                </a:tc>
                <a:tc>
                  <a:txBody>
                    <a:bodyPr/>
                    <a:lstStyle/>
                    <a:p>
                      <a:pPr marL="10160" algn="ctr">
                        <a:lnSpc>
                          <a:spcPct val="100000"/>
                        </a:lnSpc>
                        <a:spcBef>
                          <a:spcPts val="390"/>
                        </a:spcBef>
                      </a:pPr>
                      <a:r>
                        <a:rPr sz="1100" spc="-5" dirty="0">
                          <a:latin typeface="等线" panose="02010600030101010101" charset="-122"/>
                          <a:ea typeface="等线" panose="02010600030101010101" charset="-122"/>
                          <a:cs typeface="Arial" panose="020B0604020202020204"/>
                        </a:rPr>
                        <a:t>-4.03</a:t>
                      </a:r>
                      <a:endParaRPr sz="1100" spc="-5" dirty="0">
                        <a:latin typeface="等线" panose="02010600030101010101" charset="-122"/>
                        <a:ea typeface="等线" panose="02010600030101010101" charset="-122"/>
                        <a:cs typeface="Arial" panose="020B0604020202020204"/>
                      </a:endParaRPr>
                    </a:p>
                  </a:txBody>
                  <a:tcPr marL="0" marR="0" marT="49530" marB="0" anchor="ctr"/>
                </a:tc>
                <a:tc>
                  <a:txBody>
                    <a:bodyPr/>
                    <a:lstStyle/>
                    <a:p>
                      <a:pPr marL="84455" algn="ctr">
                        <a:lnSpc>
                          <a:spcPct val="100000"/>
                        </a:lnSpc>
                        <a:spcBef>
                          <a:spcPts val="390"/>
                        </a:spcBef>
                      </a:pPr>
                      <a:r>
                        <a:rPr sz="1100" spc="-5" dirty="0">
                          <a:latin typeface="等线" panose="02010600030101010101" charset="-122"/>
                          <a:ea typeface="等线" panose="02010600030101010101" charset="-122"/>
                          <a:cs typeface="Arial" panose="020B0604020202020204"/>
                        </a:rPr>
                        <a:t>4.26</a:t>
                      </a:r>
                      <a:endParaRPr sz="1100" spc="-5" dirty="0">
                        <a:latin typeface="等线" panose="02010600030101010101" charset="-122"/>
                        <a:ea typeface="等线" panose="02010600030101010101" charset="-122"/>
                        <a:cs typeface="Arial" panose="020B0604020202020204"/>
                      </a:endParaRPr>
                    </a:p>
                  </a:txBody>
                  <a:tcPr marL="0" marR="0" marT="49530" marB="0" anchor="ctr"/>
                </a:tc>
                <a:tc>
                  <a:txBody>
                    <a:bodyPr/>
                    <a:lstStyle/>
                    <a:p>
                      <a:pPr marL="5715" algn="ctr">
                        <a:lnSpc>
                          <a:spcPct val="100000"/>
                        </a:lnSpc>
                        <a:spcBef>
                          <a:spcPts val="405"/>
                        </a:spcBef>
                      </a:pPr>
                      <a:r>
                        <a:rPr sz="1100" spc="-5" dirty="0">
                          <a:latin typeface="等线" panose="02010600030101010101" charset="-122"/>
                          <a:ea typeface="等线" panose="02010600030101010101" charset="-122"/>
                          <a:cs typeface="宋体" panose="02010600030101010101" pitchFamily="2" charset="-122"/>
                        </a:rPr>
                        <a:t>-</a:t>
                      </a:r>
                      <a:r>
                        <a:rPr sz="1100" spc="-5" dirty="0">
                          <a:latin typeface="等线" panose="02010600030101010101" charset="-122"/>
                          <a:ea typeface="等线" panose="02010600030101010101" charset="-122"/>
                          <a:cs typeface="Arial" panose="020B0604020202020204"/>
                        </a:rPr>
                        <a:t>4.63</a:t>
                      </a:r>
                      <a:endParaRPr sz="1100" spc="-5" dirty="0">
                        <a:latin typeface="等线" panose="02010600030101010101" charset="-122"/>
                        <a:ea typeface="等线" panose="02010600030101010101" charset="-122"/>
                        <a:cs typeface="Arial" panose="020B0604020202020204"/>
                      </a:endParaRPr>
                    </a:p>
                  </a:txBody>
                  <a:tcPr marL="0" marR="0" marT="51435" marB="0" anchor="ctr"/>
                </a:tc>
                <a:tc>
                  <a:txBody>
                    <a:bodyPr/>
                    <a:lstStyle/>
                    <a:p>
                      <a:pPr marL="52070" algn="ctr">
                        <a:lnSpc>
                          <a:spcPct val="100000"/>
                        </a:lnSpc>
                        <a:spcBef>
                          <a:spcPts val="405"/>
                        </a:spcBef>
                      </a:pPr>
                      <a:r>
                        <a:rPr sz="1100" spc="-5" dirty="0">
                          <a:latin typeface="等线" panose="02010600030101010101" charset="-122"/>
                          <a:ea typeface="等线" panose="02010600030101010101" charset="-122"/>
                          <a:cs typeface="宋体" panose="02010600030101010101" pitchFamily="2" charset="-122"/>
                        </a:rPr>
                        <a:t>-</a:t>
                      </a:r>
                      <a:r>
                        <a:rPr sz="1100" spc="-5" dirty="0">
                          <a:latin typeface="等线" panose="02010600030101010101" charset="-122"/>
                          <a:ea typeface="等线" panose="02010600030101010101" charset="-122"/>
                          <a:cs typeface="Arial" panose="020B0604020202020204"/>
                        </a:rPr>
                        <a:t>4.09</a:t>
                      </a:r>
                      <a:endParaRPr sz="1100" spc="-5" dirty="0">
                        <a:latin typeface="等线" panose="02010600030101010101" charset="-122"/>
                        <a:ea typeface="等线" panose="02010600030101010101" charset="-122"/>
                        <a:cs typeface="Arial" panose="020B0604020202020204"/>
                      </a:endParaRPr>
                    </a:p>
                  </a:txBody>
                  <a:tcPr marL="0" marR="0" marT="51435" marB="0" anchor="ctr"/>
                </a:tc>
                <a:tc>
                  <a:txBody>
                    <a:bodyPr/>
                    <a:lstStyle/>
                    <a:p>
                      <a:pPr marR="24765" algn="ctr">
                        <a:lnSpc>
                          <a:spcPct val="100000"/>
                        </a:lnSpc>
                        <a:spcBef>
                          <a:spcPts val="415"/>
                        </a:spcBef>
                        <a:buClrTx/>
                        <a:buSzTx/>
                        <a:buFontTx/>
                      </a:pPr>
                      <a:r>
                        <a:rPr lang="en-US" sz="1100" b="1" spc="-10" dirty="0">
                          <a:solidFill>
                            <a:srgbClr val="FF0000"/>
                          </a:solidFill>
                          <a:latin typeface="等线" panose="02010600030101010101" charset="-122"/>
                          <a:ea typeface="等线" panose="02010600030101010101" charset="-122"/>
                          <a:cs typeface="Arial" panose="020B0604020202020204"/>
                        </a:rPr>
                        <a:t>6.31</a:t>
                      </a:r>
                      <a:endParaRPr lang="en-US" sz="1100" b="1" spc="-10" dirty="0">
                        <a:solidFill>
                          <a:srgbClr val="FF0000"/>
                        </a:solidFill>
                        <a:latin typeface="等线" panose="02010600030101010101" charset="-122"/>
                        <a:ea typeface="等线" panose="02010600030101010101" charset="-122"/>
                        <a:cs typeface="Arial" panose="020B0604020202020204"/>
                      </a:endParaRPr>
                    </a:p>
                  </a:txBody>
                  <a:tcPr marL="0" marR="0" marT="49530" marB="0" anchor="ctr"/>
                </a:tc>
                <a:tc>
                  <a:txBody>
                    <a:bodyPr/>
                    <a:lstStyle/>
                    <a:p>
                      <a:pPr marL="1270" algn="ctr">
                        <a:lnSpc>
                          <a:spcPct val="100000"/>
                        </a:lnSpc>
                        <a:spcBef>
                          <a:spcPts val="390"/>
                        </a:spcBef>
                      </a:pPr>
                      <a:r>
                        <a:rPr sz="1100" spc="-10" dirty="0">
                          <a:latin typeface="等线" panose="02010600030101010101" charset="-122"/>
                          <a:ea typeface="等线" panose="02010600030101010101" charset="-122"/>
                          <a:cs typeface="Arial" panose="020B0604020202020204"/>
                        </a:rPr>
                        <a:t>20.14</a:t>
                      </a:r>
                      <a:endParaRPr sz="1100" spc="-10" dirty="0">
                        <a:latin typeface="等线" panose="02010600030101010101" charset="-122"/>
                        <a:ea typeface="等线" panose="02010600030101010101" charset="-122"/>
                        <a:cs typeface="Arial" panose="020B0604020202020204"/>
                      </a:endParaRPr>
                    </a:p>
                  </a:txBody>
                  <a:tcPr marL="0" marR="0" marT="49530" marB="0" anchor="ctr"/>
                </a:tc>
                <a:tc>
                  <a:txBody>
                    <a:bodyPr/>
                    <a:lstStyle/>
                    <a:p>
                      <a:pPr marR="24765" algn="ctr">
                        <a:spcBef>
                          <a:spcPts val="415"/>
                        </a:spcBef>
                        <a:buClrTx/>
                        <a:buSzTx/>
                        <a:buFontTx/>
                      </a:pPr>
                      <a:r>
                        <a:rPr sz="1100" b="1" i="0" spc="-10" dirty="0">
                          <a:solidFill>
                            <a:schemeClr val="accent6"/>
                          </a:solidFill>
                          <a:latin typeface="等线" panose="02010600030101010101" charset="-122"/>
                          <a:ea typeface="等线" panose="02010600030101010101" charset="-122"/>
                          <a:cs typeface="Arial" panose="020B0604020202020204"/>
                        </a:rPr>
                        <a:t>-13.83</a:t>
                      </a:r>
                      <a:endParaRPr sz="1100" b="1" i="0" spc="-10" dirty="0">
                        <a:solidFill>
                          <a:schemeClr val="accent6"/>
                        </a:solidFill>
                        <a:latin typeface="等线" panose="02010600030101010101" charset="-122"/>
                        <a:ea typeface="等线" panose="02010600030101010101" charset="-122"/>
                        <a:cs typeface="Arial" panose="020B0604020202020204"/>
                      </a:endParaRPr>
                    </a:p>
                  </a:txBody>
                  <a:tcPr marL="9842" marR="9842" marT="9842" marB="0" anchor="ctr"/>
                </a:tc>
              </a:tr>
              <a:tr h="234950">
                <a:tc>
                  <a:txBody>
                    <a:bodyPr/>
                    <a:lstStyle/>
                    <a:p>
                      <a:pPr marL="35560" algn="ctr">
                        <a:lnSpc>
                          <a:spcPct val="100000"/>
                        </a:lnSpc>
                        <a:spcBef>
                          <a:spcPts val="390"/>
                        </a:spcBef>
                      </a:pPr>
                      <a:r>
                        <a:rPr sz="1100" b="1" spc="-10" dirty="0">
                          <a:latin typeface="等线" panose="02010600030101010101" charset="-122"/>
                          <a:ea typeface="等线" panose="02010600030101010101" charset="-122"/>
                          <a:cs typeface="Arial" panose="020B0604020202020204"/>
                        </a:rPr>
                        <a:t>2020</a:t>
                      </a:r>
                      <a:endParaRPr sz="1100" b="1" spc="-10" dirty="0">
                        <a:latin typeface="等线" panose="02010600030101010101" charset="-122"/>
                        <a:ea typeface="等线" panose="02010600030101010101" charset="-122"/>
                        <a:cs typeface="Arial" panose="020B0604020202020204"/>
                      </a:endParaRPr>
                    </a:p>
                  </a:txBody>
                  <a:tcPr marL="0" marR="0" marT="49530" marB="0" anchor="ctr">
                    <a:lnB w="28575">
                      <a:solidFill>
                        <a:srgbClr val="000000"/>
                      </a:solidFill>
                      <a:prstDash val="solid"/>
                    </a:lnB>
                    <a:solidFill>
                      <a:srgbClr val="E6E6E6"/>
                    </a:solidFill>
                  </a:tcPr>
                </a:tc>
                <a:tc>
                  <a:txBody>
                    <a:bodyPr/>
                    <a:lstStyle/>
                    <a:p>
                      <a:pPr algn="ctr">
                        <a:lnSpc>
                          <a:spcPct val="100000"/>
                        </a:lnSpc>
                      </a:pPr>
                      <a:endParaRPr sz="1100">
                        <a:latin typeface="等线" panose="02010600030101010101" charset="-122"/>
                        <a:ea typeface="等线" panose="02010600030101010101" charset="-122"/>
                        <a:cs typeface="Times New Roman" panose="02020603050405020304"/>
                      </a:endParaRPr>
                    </a:p>
                  </a:txBody>
                  <a:tcPr marL="0" marR="0" marT="0" marB="0" anchor="ctr">
                    <a:lnB w="28575">
                      <a:solidFill>
                        <a:srgbClr val="000000"/>
                      </a:solidFill>
                      <a:prstDash val="solid"/>
                    </a:lnB>
                    <a:solidFill>
                      <a:srgbClr val="E6E6E6"/>
                    </a:solidFill>
                  </a:tcPr>
                </a:tc>
                <a:tc>
                  <a:txBody>
                    <a:bodyPr/>
                    <a:lstStyle/>
                    <a:p>
                      <a:pPr algn="ctr">
                        <a:lnSpc>
                          <a:spcPct val="100000"/>
                        </a:lnSpc>
                      </a:pPr>
                      <a:endParaRPr sz="1100">
                        <a:latin typeface="等线" panose="02010600030101010101" charset="-122"/>
                        <a:ea typeface="等线" panose="02010600030101010101" charset="-122"/>
                        <a:cs typeface="Times New Roman" panose="02020603050405020304"/>
                      </a:endParaRPr>
                    </a:p>
                  </a:txBody>
                  <a:tcPr marL="0" marR="0" marT="0" marB="0" anchor="ctr">
                    <a:lnB w="28575">
                      <a:solidFill>
                        <a:srgbClr val="000000"/>
                      </a:solidFill>
                      <a:prstDash val="solid"/>
                    </a:lnB>
                    <a:solidFill>
                      <a:srgbClr val="E6E6E6"/>
                    </a:solidFill>
                  </a:tcPr>
                </a:tc>
                <a:tc>
                  <a:txBody>
                    <a:bodyPr/>
                    <a:lstStyle/>
                    <a:p>
                      <a:pPr algn="ctr">
                        <a:lnSpc>
                          <a:spcPct val="100000"/>
                        </a:lnSpc>
                      </a:pPr>
                      <a:endParaRPr sz="1100">
                        <a:latin typeface="等线" panose="02010600030101010101" charset="-122"/>
                        <a:ea typeface="等线" panose="02010600030101010101" charset="-122"/>
                        <a:cs typeface="Times New Roman" panose="02020603050405020304"/>
                      </a:endParaRPr>
                    </a:p>
                  </a:txBody>
                  <a:tcPr marL="0" marR="0" marT="0" marB="0" anchor="ctr">
                    <a:lnB w="28575">
                      <a:solidFill>
                        <a:srgbClr val="000000"/>
                      </a:solidFill>
                      <a:prstDash val="solid"/>
                    </a:lnB>
                    <a:solidFill>
                      <a:srgbClr val="E6E6E6"/>
                    </a:solidFill>
                  </a:tcPr>
                </a:tc>
                <a:tc>
                  <a:txBody>
                    <a:bodyPr/>
                    <a:lstStyle/>
                    <a:p>
                      <a:pPr algn="ctr">
                        <a:lnSpc>
                          <a:spcPct val="100000"/>
                        </a:lnSpc>
                      </a:pPr>
                      <a:endParaRPr sz="1100">
                        <a:latin typeface="等线" panose="02010600030101010101" charset="-122"/>
                        <a:ea typeface="等线" panose="02010600030101010101" charset="-122"/>
                        <a:cs typeface="Times New Roman" panose="02020603050405020304"/>
                      </a:endParaRPr>
                    </a:p>
                  </a:txBody>
                  <a:tcPr marL="0" marR="0" marT="0" marB="0" anchor="ctr">
                    <a:lnB w="28575">
                      <a:solidFill>
                        <a:srgbClr val="000000"/>
                      </a:solidFill>
                      <a:prstDash val="solid"/>
                    </a:lnB>
                    <a:solidFill>
                      <a:srgbClr val="E6E6E6"/>
                    </a:solidFill>
                  </a:tcPr>
                </a:tc>
                <a:tc>
                  <a:txBody>
                    <a:bodyPr/>
                    <a:lstStyle/>
                    <a:p>
                      <a:pPr algn="ctr">
                        <a:lnSpc>
                          <a:spcPct val="100000"/>
                        </a:lnSpc>
                      </a:pPr>
                      <a:endParaRPr sz="1100">
                        <a:latin typeface="等线" panose="02010600030101010101" charset="-122"/>
                        <a:ea typeface="等线" panose="02010600030101010101" charset="-122"/>
                        <a:cs typeface="Times New Roman" panose="02020603050405020304"/>
                      </a:endParaRPr>
                    </a:p>
                  </a:txBody>
                  <a:tcPr marL="0" marR="0" marT="0" marB="0" anchor="ctr">
                    <a:lnB w="28575">
                      <a:solidFill>
                        <a:srgbClr val="000000"/>
                      </a:solidFill>
                      <a:prstDash val="solid"/>
                    </a:lnB>
                    <a:solidFill>
                      <a:srgbClr val="E6E6E6"/>
                    </a:solidFill>
                  </a:tcPr>
                </a:tc>
                <a:tc>
                  <a:txBody>
                    <a:bodyPr/>
                    <a:lstStyle/>
                    <a:p>
                      <a:pPr algn="ctr">
                        <a:lnSpc>
                          <a:spcPct val="100000"/>
                        </a:lnSpc>
                      </a:pPr>
                      <a:endParaRPr sz="1100">
                        <a:latin typeface="等线" panose="02010600030101010101" charset="-122"/>
                        <a:ea typeface="等线" panose="02010600030101010101" charset="-122"/>
                        <a:cs typeface="Times New Roman" panose="02020603050405020304"/>
                      </a:endParaRPr>
                    </a:p>
                  </a:txBody>
                  <a:tcPr marL="0" marR="0" marT="0" marB="0" anchor="ctr">
                    <a:lnB w="28575">
                      <a:solidFill>
                        <a:srgbClr val="000000"/>
                      </a:solidFill>
                      <a:prstDash val="solid"/>
                    </a:lnB>
                    <a:solidFill>
                      <a:srgbClr val="E6E6E6"/>
                    </a:solidFill>
                  </a:tcPr>
                </a:tc>
                <a:tc>
                  <a:txBody>
                    <a:bodyPr/>
                    <a:lstStyle/>
                    <a:p>
                      <a:pPr algn="ctr">
                        <a:lnSpc>
                          <a:spcPct val="100000"/>
                        </a:lnSpc>
                      </a:pPr>
                      <a:endParaRPr sz="1100">
                        <a:latin typeface="等线" panose="02010600030101010101" charset="-122"/>
                        <a:ea typeface="等线" panose="02010600030101010101" charset="-122"/>
                        <a:cs typeface="Times New Roman" panose="02020603050405020304"/>
                      </a:endParaRPr>
                    </a:p>
                  </a:txBody>
                  <a:tcPr marL="0" marR="0" marT="0" marB="0" anchor="ctr">
                    <a:lnB w="28575">
                      <a:solidFill>
                        <a:srgbClr val="000000"/>
                      </a:solidFill>
                      <a:prstDash val="solid"/>
                    </a:lnB>
                    <a:solidFill>
                      <a:srgbClr val="E6E6E6"/>
                    </a:solidFill>
                  </a:tcPr>
                </a:tc>
                <a:tc>
                  <a:txBody>
                    <a:bodyPr/>
                    <a:lstStyle/>
                    <a:p>
                      <a:pPr algn="ctr">
                        <a:lnSpc>
                          <a:spcPct val="100000"/>
                        </a:lnSpc>
                        <a:spcBef>
                          <a:spcPts val="390"/>
                        </a:spcBef>
                      </a:pPr>
                      <a:r>
                        <a:rPr sz="1100" spc="-5" dirty="0">
                          <a:latin typeface="等线" panose="02010600030101010101" charset="-122"/>
                          <a:ea typeface="等线" panose="02010600030101010101" charset="-122"/>
                          <a:cs typeface="Arial" panose="020B0604020202020204"/>
                        </a:rPr>
                        <a:t>5.73</a:t>
                      </a:r>
                      <a:endParaRPr sz="1100" spc="-5" dirty="0">
                        <a:latin typeface="等线" panose="02010600030101010101" charset="-122"/>
                        <a:ea typeface="等线" panose="02010600030101010101" charset="-122"/>
                        <a:cs typeface="Arial" panose="020B0604020202020204"/>
                      </a:endParaRPr>
                    </a:p>
                  </a:txBody>
                  <a:tcPr marL="0" marR="0" marT="49530" marB="0" anchor="ctr">
                    <a:lnB w="28575">
                      <a:solidFill>
                        <a:srgbClr val="000000"/>
                      </a:solidFill>
                      <a:prstDash val="solid"/>
                    </a:lnB>
                    <a:solidFill>
                      <a:srgbClr val="E6E6E6"/>
                    </a:solidFill>
                  </a:tcPr>
                </a:tc>
                <a:tc>
                  <a:txBody>
                    <a:bodyPr/>
                    <a:lstStyle/>
                    <a:p>
                      <a:pPr marL="10160" algn="ctr">
                        <a:lnSpc>
                          <a:spcPct val="100000"/>
                        </a:lnSpc>
                        <a:spcBef>
                          <a:spcPts val="390"/>
                        </a:spcBef>
                      </a:pPr>
                      <a:r>
                        <a:rPr sz="1100" spc="-5" dirty="0">
                          <a:latin typeface="等线" panose="02010600030101010101" charset="-122"/>
                          <a:ea typeface="等线" panose="02010600030101010101" charset="-122"/>
                          <a:cs typeface="Arial" panose="020B0604020202020204"/>
                        </a:rPr>
                        <a:t>-0.78</a:t>
                      </a:r>
                      <a:endParaRPr sz="1100" spc="-5" dirty="0">
                        <a:latin typeface="等线" panose="02010600030101010101" charset="-122"/>
                        <a:ea typeface="等线" panose="02010600030101010101" charset="-122"/>
                        <a:cs typeface="Arial" panose="020B0604020202020204"/>
                      </a:endParaRPr>
                    </a:p>
                  </a:txBody>
                  <a:tcPr marL="0" marR="0" marT="49530" marB="0" anchor="ctr">
                    <a:lnB w="28575">
                      <a:solidFill>
                        <a:srgbClr val="000000"/>
                      </a:solidFill>
                      <a:prstDash val="solid"/>
                    </a:lnB>
                    <a:solidFill>
                      <a:srgbClr val="E6E6E6"/>
                    </a:solidFill>
                  </a:tcPr>
                </a:tc>
                <a:tc>
                  <a:txBody>
                    <a:bodyPr/>
                    <a:lstStyle/>
                    <a:p>
                      <a:pPr marL="84455" algn="ctr">
                        <a:lnSpc>
                          <a:spcPct val="100000"/>
                        </a:lnSpc>
                        <a:spcBef>
                          <a:spcPts val="390"/>
                        </a:spcBef>
                      </a:pPr>
                      <a:r>
                        <a:rPr sz="1100" spc="-5" dirty="0">
                          <a:latin typeface="等线" panose="02010600030101010101" charset="-122"/>
                          <a:ea typeface="等线" panose="02010600030101010101" charset="-122"/>
                          <a:cs typeface="Arial" panose="020B0604020202020204"/>
                        </a:rPr>
                        <a:t>1.01</a:t>
                      </a:r>
                      <a:endParaRPr sz="1100" spc="-5" dirty="0">
                        <a:latin typeface="等线" panose="02010600030101010101" charset="-122"/>
                        <a:ea typeface="等线" panose="02010600030101010101" charset="-122"/>
                        <a:cs typeface="Arial" panose="020B0604020202020204"/>
                      </a:endParaRPr>
                    </a:p>
                  </a:txBody>
                  <a:tcPr marL="0" marR="0" marT="49530" marB="0" anchor="ctr">
                    <a:lnB w="28575">
                      <a:solidFill>
                        <a:srgbClr val="000000"/>
                      </a:solidFill>
                      <a:prstDash val="solid"/>
                    </a:lnB>
                    <a:solidFill>
                      <a:srgbClr val="E6E6E6"/>
                    </a:solidFill>
                  </a:tcPr>
                </a:tc>
                <a:tc>
                  <a:txBody>
                    <a:bodyPr/>
                    <a:lstStyle/>
                    <a:p>
                      <a:pPr marL="5715" algn="ctr">
                        <a:lnSpc>
                          <a:spcPct val="100000"/>
                        </a:lnSpc>
                        <a:spcBef>
                          <a:spcPts val="390"/>
                        </a:spcBef>
                      </a:pPr>
                      <a:r>
                        <a:rPr sz="1100" spc="-5" dirty="0">
                          <a:latin typeface="等线" panose="02010600030101010101" charset="-122"/>
                          <a:ea typeface="等线" panose="02010600030101010101" charset="-122"/>
                          <a:cs typeface="Arial" panose="020B0604020202020204"/>
                        </a:rPr>
                        <a:t>7.68</a:t>
                      </a:r>
                      <a:endParaRPr sz="1100" spc="-5" dirty="0">
                        <a:latin typeface="等线" panose="02010600030101010101" charset="-122"/>
                        <a:ea typeface="等线" panose="02010600030101010101" charset="-122"/>
                        <a:cs typeface="Arial" panose="020B0604020202020204"/>
                      </a:endParaRPr>
                    </a:p>
                  </a:txBody>
                  <a:tcPr marL="0" marR="0" marT="49530" marB="0" anchor="ctr">
                    <a:lnB w="28575">
                      <a:solidFill>
                        <a:srgbClr val="000000"/>
                      </a:solidFill>
                      <a:prstDash val="solid"/>
                    </a:lnB>
                    <a:solidFill>
                      <a:srgbClr val="E6E6E6"/>
                    </a:solidFill>
                  </a:tcPr>
                </a:tc>
                <a:tc>
                  <a:txBody>
                    <a:bodyPr/>
                    <a:lstStyle/>
                    <a:p>
                      <a:pPr marL="83820" algn="ctr">
                        <a:lnSpc>
                          <a:spcPct val="100000"/>
                        </a:lnSpc>
                        <a:spcBef>
                          <a:spcPts val="390"/>
                        </a:spcBef>
                      </a:pPr>
                      <a:r>
                        <a:rPr sz="1100" spc="-5" dirty="0">
                          <a:latin typeface="等线" panose="02010600030101010101" charset="-122"/>
                          <a:ea typeface="等线" panose="02010600030101010101" charset="-122"/>
                          <a:cs typeface="Arial" panose="020B0604020202020204"/>
                        </a:rPr>
                        <a:t>5.30</a:t>
                      </a:r>
                      <a:endParaRPr sz="1100" spc="-5" dirty="0">
                        <a:latin typeface="等线" panose="02010600030101010101" charset="-122"/>
                        <a:ea typeface="等线" panose="02010600030101010101" charset="-122"/>
                        <a:cs typeface="Arial" panose="020B0604020202020204"/>
                      </a:endParaRPr>
                    </a:p>
                  </a:txBody>
                  <a:tcPr marL="0" marR="0" marT="49530" marB="0" anchor="ctr">
                    <a:lnB w="28575">
                      <a:solidFill>
                        <a:srgbClr val="000000"/>
                      </a:solidFill>
                      <a:prstDash val="solid"/>
                    </a:lnB>
                    <a:solidFill>
                      <a:srgbClr val="E6E6E6"/>
                    </a:solidFill>
                  </a:tcPr>
                </a:tc>
                <a:tc>
                  <a:txBody>
                    <a:bodyPr/>
                    <a:lstStyle/>
                    <a:p>
                      <a:pPr marR="24765" algn="ctr">
                        <a:lnSpc>
                          <a:spcPct val="100000"/>
                        </a:lnSpc>
                        <a:spcBef>
                          <a:spcPts val="415"/>
                        </a:spcBef>
                        <a:buClrTx/>
                        <a:buSzTx/>
                        <a:buFontTx/>
                      </a:pPr>
                      <a:r>
                        <a:rPr lang="en-US" sz="1100" b="1" spc="-10" dirty="0">
                          <a:solidFill>
                            <a:srgbClr val="FF0000"/>
                          </a:solidFill>
                          <a:latin typeface="等线" panose="02010600030101010101" charset="-122"/>
                          <a:ea typeface="等线" panose="02010600030101010101" charset="-122"/>
                          <a:cs typeface="Arial" panose="020B0604020202020204"/>
                        </a:rPr>
                        <a:t>20.15</a:t>
                      </a:r>
                      <a:endParaRPr lang="en-US" sz="1100" b="1" spc="-10" dirty="0">
                        <a:solidFill>
                          <a:srgbClr val="FF0000"/>
                        </a:solidFill>
                        <a:latin typeface="等线" panose="02010600030101010101" charset="-122"/>
                        <a:ea typeface="等线" panose="02010600030101010101" charset="-122"/>
                        <a:cs typeface="Arial" panose="020B0604020202020204"/>
                      </a:endParaRPr>
                    </a:p>
                  </a:txBody>
                  <a:tcPr marL="0" marR="0" marT="49530" marB="0" anchor="ctr">
                    <a:lnB w="28575">
                      <a:solidFill>
                        <a:srgbClr val="000000"/>
                      </a:solidFill>
                      <a:prstDash val="solid"/>
                    </a:lnB>
                    <a:solidFill>
                      <a:srgbClr val="E6E6E6"/>
                    </a:solidFill>
                  </a:tcPr>
                </a:tc>
                <a:tc>
                  <a:txBody>
                    <a:bodyPr/>
                    <a:lstStyle/>
                    <a:p>
                      <a:pPr marL="1270" algn="ctr">
                        <a:lnSpc>
                          <a:spcPct val="100000"/>
                        </a:lnSpc>
                        <a:spcBef>
                          <a:spcPts val="390"/>
                        </a:spcBef>
                      </a:pPr>
                      <a:r>
                        <a:rPr sz="1100" spc="-10" dirty="0">
                          <a:latin typeface="等线" panose="02010600030101010101" charset="-122"/>
                          <a:ea typeface="等线" panose="02010600030101010101" charset="-122"/>
                          <a:cs typeface="Arial" panose="020B0604020202020204"/>
                        </a:rPr>
                        <a:t>16.71</a:t>
                      </a:r>
                      <a:endParaRPr sz="1100" spc="-10" dirty="0">
                        <a:latin typeface="等线" panose="02010600030101010101" charset="-122"/>
                        <a:ea typeface="等线" panose="02010600030101010101" charset="-122"/>
                        <a:cs typeface="Arial" panose="020B0604020202020204"/>
                      </a:endParaRPr>
                    </a:p>
                  </a:txBody>
                  <a:tcPr marL="0" marR="0" marT="49530" marB="0" anchor="ctr">
                    <a:lnB w="28575">
                      <a:solidFill>
                        <a:srgbClr val="000000"/>
                      </a:solidFill>
                      <a:prstDash val="solid"/>
                    </a:lnB>
                    <a:solidFill>
                      <a:srgbClr val="E6E6E6"/>
                    </a:solidFill>
                  </a:tcPr>
                </a:tc>
                <a:tc>
                  <a:txBody>
                    <a:bodyPr/>
                    <a:lstStyle/>
                    <a:p>
                      <a:pPr marR="24765" algn="ctr">
                        <a:spcBef>
                          <a:spcPts val="415"/>
                        </a:spcBef>
                        <a:buClrTx/>
                        <a:buSzTx/>
                        <a:buFontTx/>
                      </a:pPr>
                      <a:r>
                        <a:rPr lang="en-US" sz="1100" b="1" i="0" spc="-10" dirty="0">
                          <a:solidFill>
                            <a:srgbClr val="FF0000"/>
                          </a:solidFill>
                          <a:latin typeface="等线" panose="02010600030101010101" charset="-122"/>
                          <a:ea typeface="等线" panose="02010600030101010101" charset="-122"/>
                          <a:cs typeface="Arial" panose="020B0604020202020204"/>
                        </a:rPr>
                        <a:t>+</a:t>
                      </a:r>
                      <a:r>
                        <a:rPr sz="1100" b="1" i="0" spc="-10" dirty="0">
                          <a:solidFill>
                            <a:srgbClr val="FF0000"/>
                          </a:solidFill>
                          <a:latin typeface="等线" panose="02010600030101010101" charset="-122"/>
                          <a:ea typeface="等线" panose="02010600030101010101" charset="-122"/>
                          <a:cs typeface="Arial" panose="020B0604020202020204"/>
                        </a:rPr>
                        <a:t>3.44</a:t>
                      </a:r>
                      <a:endParaRPr sz="1100" b="1" i="0" spc="-10" dirty="0">
                        <a:solidFill>
                          <a:srgbClr val="FF0000"/>
                        </a:solidFill>
                        <a:latin typeface="等线" panose="02010600030101010101" charset="-122"/>
                        <a:ea typeface="等线" panose="02010600030101010101" charset="-122"/>
                        <a:cs typeface="Arial" panose="020B0604020202020204"/>
                      </a:endParaRPr>
                    </a:p>
                  </a:txBody>
                  <a:tcPr marL="9842" marR="9842" marT="9842" marB="0" anchor="ctr">
                    <a:lnB w="28575">
                      <a:solidFill>
                        <a:srgbClr val="000000"/>
                      </a:solidFill>
                      <a:prstDash val="solid"/>
                    </a:lnB>
                    <a:solidFill>
                      <a:srgbClr val="E6E6E6"/>
                    </a:solidFill>
                  </a:tcPr>
                </a:tc>
              </a:tr>
            </a:tbl>
          </a:graphicData>
        </a:graphic>
      </p:graphicFrame>
      <p:sp>
        <p:nvSpPr>
          <p:cNvPr id="11" name="object 8"/>
          <p:cNvSpPr txBox="1"/>
          <p:nvPr/>
        </p:nvSpPr>
        <p:spPr>
          <a:xfrm>
            <a:off x="614695" y="819281"/>
            <a:ext cx="5863257" cy="567690"/>
          </a:xfrm>
          <a:prstGeom prst="rect">
            <a:avLst/>
          </a:prstGeom>
        </p:spPr>
        <p:txBody>
          <a:bodyPr vert="horz" wrap="square" lIns="0" tIns="14605" rIns="0" bIns="0" rtlCol="0">
            <a:spAutoFit/>
          </a:bodyPr>
          <a:lstStyle/>
          <a:p>
            <a:pPr marL="12700">
              <a:lnSpc>
                <a:spcPct val="100000"/>
              </a:lnSpc>
              <a:spcBef>
                <a:spcPts val="115"/>
              </a:spcBef>
            </a:pPr>
            <a:r>
              <a:rPr sz="1750" b="1" u="sng" spc="25" dirty="0" err="1">
                <a:solidFill>
                  <a:srgbClr val="001F60"/>
                </a:solidFill>
                <a:uFill>
                  <a:solidFill>
                    <a:srgbClr val="001F60"/>
                  </a:solidFill>
                </a:uFill>
                <a:latin typeface="等线" panose="02010600030101010101" charset="-122"/>
                <a:ea typeface="等线" panose="02010600030101010101" charset="-122"/>
                <a:cs typeface="Microsoft JhengHei" panose="020B0604030504040204" charset="-120"/>
              </a:rPr>
              <a:t>景林环球基金</a:t>
            </a:r>
            <a:r>
              <a:rPr lang="zh-TW" altLang="en-US" sz="1750" b="1" u="sng" spc="25" dirty="0">
                <a:solidFill>
                  <a:srgbClr val="001F60"/>
                </a:solidFill>
                <a:uFill>
                  <a:solidFill>
                    <a:srgbClr val="001F60"/>
                  </a:solidFill>
                </a:uFill>
                <a:latin typeface="等线" panose="02010600030101010101" charset="-122"/>
                <a:ea typeface="等线" panose="02010600030101010101" charset="-122"/>
                <a:cs typeface="Microsoft JhengHei" panose="020B0604030504040204" charset="-120"/>
              </a:rPr>
              <a:t>与</a:t>
            </a:r>
            <a:r>
              <a:rPr lang="en-US" altLang="zh-TW" sz="1750" b="1" u="sng" spc="25" dirty="0">
                <a:solidFill>
                  <a:srgbClr val="001F60"/>
                </a:solidFill>
                <a:uFill>
                  <a:solidFill>
                    <a:srgbClr val="001F60"/>
                  </a:solidFill>
                </a:uFill>
                <a:latin typeface="等线" panose="02010600030101010101" charset="-122"/>
                <a:ea typeface="等线" panose="02010600030101010101" charset="-122"/>
                <a:cs typeface="Microsoft JhengHei" panose="020B0604030504040204" charset="-120"/>
              </a:rPr>
              <a:t>MSCI</a:t>
            </a:r>
            <a:r>
              <a:rPr lang="zh-TW" altLang="en-US" sz="1750" b="1" u="sng" spc="25" dirty="0">
                <a:solidFill>
                  <a:srgbClr val="001F60"/>
                </a:solidFill>
                <a:uFill>
                  <a:solidFill>
                    <a:srgbClr val="001F60"/>
                  </a:solidFill>
                </a:uFill>
                <a:latin typeface="等线" panose="02010600030101010101" charset="-122"/>
                <a:ea typeface="等线" panose="02010600030101010101" charset="-122"/>
                <a:cs typeface="Microsoft JhengHei" panose="020B0604030504040204" charset="-120"/>
              </a:rPr>
              <a:t>全球指数的相对表现</a:t>
            </a:r>
            <a:endParaRPr lang="zh-TW" altLang="en-US" sz="1750" b="1" u="sng" spc="25" dirty="0">
              <a:solidFill>
                <a:srgbClr val="001F60"/>
              </a:solidFill>
              <a:uFill>
                <a:solidFill>
                  <a:srgbClr val="001F60"/>
                </a:solidFill>
              </a:uFill>
              <a:latin typeface="等线" panose="02010600030101010101" charset="-122"/>
              <a:ea typeface="等线" panose="02010600030101010101" charset="-122"/>
              <a:cs typeface="Microsoft JhengHei" panose="020B0604030504040204" charset="-120"/>
            </a:endParaRPr>
          </a:p>
          <a:p>
            <a:pPr marL="12700">
              <a:lnSpc>
                <a:spcPct val="100000"/>
              </a:lnSpc>
              <a:spcBef>
                <a:spcPts val="115"/>
              </a:spcBef>
            </a:pPr>
            <a:r>
              <a:rPr lang="zh-TW" altLang="en-US" sz="1750" b="1" u="sng" spc="25" dirty="0">
                <a:solidFill>
                  <a:srgbClr val="001F60"/>
                </a:solidFill>
                <a:uFill>
                  <a:solidFill>
                    <a:srgbClr val="001F60"/>
                  </a:solidFill>
                </a:uFill>
                <a:latin typeface="等线" panose="02010600030101010101" charset="-122"/>
                <a:ea typeface="等线" panose="02010600030101010101" charset="-122"/>
                <a:cs typeface="Microsoft JhengHei" panose="020B0604030504040204" charset="-120"/>
              </a:rPr>
              <a:t>（</a:t>
            </a:r>
            <a:r>
              <a:rPr lang="en-US" altLang="zh-TW" sz="1750" b="1" u="sng" spc="25" dirty="0">
                <a:solidFill>
                  <a:srgbClr val="001F60"/>
                </a:solidFill>
                <a:uFill>
                  <a:solidFill>
                    <a:srgbClr val="001F60"/>
                  </a:solidFill>
                </a:uFill>
                <a:latin typeface="等线" panose="02010600030101010101" charset="-122"/>
                <a:ea typeface="等线" panose="02010600030101010101" charset="-122"/>
                <a:cs typeface="Microsoft JhengHei" panose="020B0604030504040204" charset="-120"/>
              </a:rPr>
              <a:t>08/2020</a:t>
            </a:r>
            <a:r>
              <a:rPr lang="zh-TW" altLang="en-US" sz="1750" b="1" u="sng" spc="25" dirty="0">
                <a:solidFill>
                  <a:srgbClr val="001F60"/>
                </a:solidFill>
                <a:uFill>
                  <a:solidFill>
                    <a:srgbClr val="001F60"/>
                  </a:solidFill>
                </a:uFill>
                <a:latin typeface="等线" panose="02010600030101010101" charset="-122"/>
                <a:ea typeface="等线" panose="02010600030101010101" charset="-122"/>
                <a:cs typeface="Microsoft JhengHei" panose="020B0604030504040204" charset="-120"/>
              </a:rPr>
              <a:t>至</a:t>
            </a:r>
            <a:r>
              <a:rPr lang="en-US" altLang="zh-TW" sz="1750" b="1" u="sng" spc="25" dirty="0">
                <a:solidFill>
                  <a:srgbClr val="001F60"/>
                </a:solidFill>
                <a:uFill>
                  <a:solidFill>
                    <a:srgbClr val="001F60"/>
                  </a:solidFill>
                </a:uFill>
                <a:latin typeface="等线" panose="02010600030101010101" charset="-122"/>
                <a:ea typeface="等线" panose="02010600030101010101" charset="-122"/>
                <a:cs typeface="Microsoft JhengHei" panose="020B0604030504040204" charset="-120"/>
              </a:rPr>
              <a:t>12/2024)</a:t>
            </a:r>
            <a:endParaRPr sz="1750" b="1" u="sng" spc="25" dirty="0">
              <a:solidFill>
                <a:srgbClr val="001F60"/>
              </a:solidFill>
              <a:uFill>
                <a:solidFill>
                  <a:srgbClr val="001F60"/>
                </a:solidFill>
              </a:uFill>
              <a:latin typeface="等线" panose="02010600030101010101" charset="-122"/>
              <a:ea typeface="等线" panose="02010600030101010101" charset="-122"/>
              <a:cs typeface="Microsoft JhengHei" panose="020B0604030504040204" charset="-120"/>
            </a:endParaRPr>
          </a:p>
        </p:txBody>
      </p:sp>
      <p:graphicFrame>
        <p:nvGraphicFramePr>
          <p:cNvPr id="2" name="表格 1"/>
          <p:cNvGraphicFramePr>
            <a:graphicFrameLocks noGrp="1"/>
          </p:cNvGraphicFramePr>
          <p:nvPr>
            <p:custDataLst>
              <p:tags r:id="rId3"/>
            </p:custDataLst>
          </p:nvPr>
        </p:nvGraphicFramePr>
        <p:xfrm>
          <a:off x="6827520" y="1030569"/>
          <a:ext cx="3518535" cy="2706370"/>
        </p:xfrm>
        <a:graphic>
          <a:graphicData uri="http://schemas.openxmlformats.org/drawingml/2006/table">
            <a:tbl>
              <a:tblPr/>
              <a:tblGrid>
                <a:gridCol w="1452880"/>
                <a:gridCol w="1032510"/>
                <a:gridCol w="1033145"/>
              </a:tblGrid>
              <a:tr h="365760">
                <a:tc>
                  <a:txBody>
                    <a:bodyPr/>
                    <a:lstStyle/>
                    <a:p>
                      <a:pPr algn="ctr" fontAlgn="ctr"/>
                      <a:r>
                        <a:rPr lang="zh-CN" altLang="en-US" sz="1800" b="0" i="0" u="none" strike="noStrike" dirty="0">
                          <a:solidFill>
                            <a:srgbClr val="000000"/>
                          </a:solidFill>
                          <a:effectLst/>
                          <a:latin typeface="等线" panose="02010600030101010101" charset="-122"/>
                          <a:ea typeface="等线" panose="02010600030101010101" charset="-122"/>
                        </a:rPr>
                        <a:t>　</a:t>
                      </a:r>
                      <a:endParaRPr lang="zh-CN" altLang="en-US" sz="18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3F7F"/>
                    </a:solidFill>
                  </a:tcPr>
                </a:tc>
                <a:tc>
                  <a:txBody>
                    <a:bodyPr/>
                    <a:lstStyle/>
                    <a:p>
                      <a:pPr algn="ctr" rtl="0" fontAlgn="ctr"/>
                      <a:r>
                        <a:rPr lang="zh-CN" altLang="en-US" sz="1000" b="1" i="0" u="none" strike="noStrike" dirty="0">
                          <a:solidFill>
                            <a:srgbClr val="FFFFFF"/>
                          </a:solidFill>
                          <a:effectLst/>
                          <a:latin typeface="等线" panose="02010600030101010101" charset="-122"/>
                          <a:ea typeface="等线" panose="02010600030101010101" charset="-122"/>
                          <a:cs typeface="等线" panose="02010600030101010101" charset="-122"/>
                        </a:rPr>
                        <a:t>景林环球基金</a:t>
                      </a:r>
                      <a:endParaRPr lang="zh-CN" altLang="en-US" sz="1000" b="1" i="0" u="none" strike="noStrike" dirty="0">
                        <a:solidFill>
                          <a:srgbClr val="FFFFFF"/>
                        </a:solidFill>
                        <a:effectLst/>
                        <a:latin typeface="等线" panose="02010600030101010101" charset="-122"/>
                        <a:ea typeface="等线" panose="02010600030101010101" charset="-122"/>
                        <a:cs typeface="等线" panose="02010600030101010101" charset="-122"/>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3F7F"/>
                    </a:solidFill>
                  </a:tcPr>
                </a:tc>
                <a:tc>
                  <a:txBody>
                    <a:bodyPr/>
                    <a:lstStyle/>
                    <a:p>
                      <a:pPr algn="ctr" rtl="0" fontAlgn="ctr">
                        <a:buNone/>
                      </a:pPr>
                      <a:r>
                        <a:rPr lang="en-US" altLang="zh-CN" sz="1000" b="1" i="0" u="none" strike="noStrike" dirty="0">
                          <a:solidFill>
                            <a:srgbClr val="FFFFFF"/>
                          </a:solidFill>
                          <a:effectLst/>
                          <a:latin typeface="等线" panose="02010600030101010101" charset="-122"/>
                          <a:ea typeface="等线" panose="02010600030101010101" charset="-122"/>
                          <a:cs typeface="等线" panose="02010600030101010101" charset="-122"/>
                        </a:rPr>
                        <a:t>MSCI </a:t>
                      </a:r>
                      <a:r>
                        <a:rPr lang="en-US" altLang="zh-CN" sz="1000" b="1" i="0" u="none" strike="noStrike" dirty="0" smtClean="0">
                          <a:solidFill>
                            <a:srgbClr val="FFFFFF"/>
                          </a:solidFill>
                          <a:effectLst/>
                          <a:latin typeface="等线" panose="02010600030101010101" charset="-122"/>
                          <a:ea typeface="等线" panose="02010600030101010101" charset="-122"/>
                          <a:cs typeface="等线" panose="02010600030101010101" charset="-122"/>
                        </a:rPr>
                        <a:t>World</a:t>
                      </a:r>
                      <a:endParaRPr lang="en-US" altLang="zh-CN" sz="1000" b="1" i="0" u="none" strike="noStrike" dirty="0">
                        <a:solidFill>
                          <a:srgbClr val="FFFFFF"/>
                        </a:solidFill>
                        <a:effectLst/>
                        <a:latin typeface="等线" panose="02010600030101010101" charset="-122"/>
                        <a:ea typeface="等线" panose="02010600030101010101" charset="-122"/>
                        <a:cs typeface="等线" panose="02010600030101010101" charset="-122"/>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3F7F"/>
                    </a:solidFill>
                  </a:tcPr>
                </a:tc>
              </a:tr>
              <a:tr h="208280">
                <a:tc>
                  <a:txBody>
                    <a:bodyPr/>
                    <a:lstStyle/>
                    <a:p>
                      <a:pPr algn="ctr" rtl="0" fontAlgn="b"/>
                      <a:r>
                        <a:rPr lang="zh-CN" altLang="en-US" sz="1000" b="1" i="0" u="none" strike="noStrike" dirty="0">
                          <a:solidFill>
                            <a:srgbClr val="000000"/>
                          </a:solidFill>
                          <a:effectLst/>
                          <a:latin typeface="等线" panose="02010600030101010101" charset="-122"/>
                          <a:ea typeface="等线" panose="02010600030101010101" charset="-122"/>
                        </a:rPr>
                        <a:t>成立以来收益率</a:t>
                      </a:r>
                      <a:endParaRPr lang="zh-CN" altLang="en-US" sz="1000" b="1"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等线" panose="02010600030101010101" charset="-122"/>
                          <a:ea typeface="等线" panose="02010600030101010101" charset="-122"/>
                        </a:rPr>
                        <a:t>104.36%</a:t>
                      </a:r>
                      <a:endParaRPr lang="en-US" altLang="zh-CN" sz="1000" b="0" i="0">
                        <a:solidFill>
                          <a:srgbClr val="0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等线" panose="02010600030101010101" charset="-122"/>
                          <a:ea typeface="等线" panose="02010600030101010101" charset="-122"/>
                        </a:rPr>
                        <a:t>59.54%</a:t>
                      </a:r>
                      <a:endParaRPr lang="en-US" altLang="zh-CN" sz="1000" b="0" i="0">
                        <a:solidFill>
                          <a:srgbClr val="0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208280">
                <a:tc>
                  <a:txBody>
                    <a:bodyPr/>
                    <a:lstStyle/>
                    <a:p>
                      <a:pPr algn="ctr" rtl="0" fontAlgn="b"/>
                      <a:r>
                        <a:rPr lang="zh-CN" altLang="en-US" sz="1000" b="1" i="0" u="none" strike="noStrike" dirty="0">
                          <a:solidFill>
                            <a:srgbClr val="C00000"/>
                          </a:solidFill>
                          <a:effectLst/>
                          <a:latin typeface="等线" panose="02010600030101010101" charset="-122"/>
                          <a:ea typeface="等线" panose="02010600030101010101" charset="-122"/>
                        </a:rPr>
                        <a:t>年化收益率</a:t>
                      </a:r>
                      <a:endParaRPr lang="zh-CN" altLang="en-US" sz="1000" b="1" i="0" u="none" strike="noStrike" dirty="0">
                        <a:solidFill>
                          <a:srgbClr val="C00000"/>
                        </a:solidFill>
                        <a:effectLst/>
                        <a:latin typeface="等线" panose="02010600030101010101" charset="-122"/>
                        <a:ea typeface="等线" panose="02010600030101010101" charset="-122"/>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1" i="0">
                          <a:solidFill>
                            <a:srgbClr val="C00000"/>
                          </a:solidFill>
                          <a:latin typeface="等线" panose="02010600030101010101" charset="-122"/>
                          <a:ea typeface="等线" panose="02010600030101010101" charset="-122"/>
                        </a:rPr>
                        <a:t>17.55%</a:t>
                      </a:r>
                      <a:endParaRPr lang="en-US" altLang="zh-CN" sz="1000" b="1" i="0">
                        <a:solidFill>
                          <a:srgbClr val="C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1" i="0">
                          <a:solidFill>
                            <a:srgbClr val="C00000"/>
                          </a:solidFill>
                          <a:latin typeface="等线" panose="02010600030101010101" charset="-122"/>
                          <a:ea typeface="等线" panose="02010600030101010101" charset="-122"/>
                        </a:rPr>
                        <a:t>11.16%</a:t>
                      </a:r>
                      <a:endParaRPr lang="en-US" altLang="zh-CN" sz="1000" b="1" i="0">
                        <a:solidFill>
                          <a:srgbClr val="C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208915">
                <a:tc>
                  <a:txBody>
                    <a:bodyPr/>
                    <a:lstStyle/>
                    <a:p>
                      <a:pPr algn="ctr" rtl="0" fontAlgn="b"/>
                      <a:r>
                        <a:rPr lang="zh-CN" altLang="en-US" sz="1000" b="1" i="0" u="none" strike="noStrike" dirty="0">
                          <a:solidFill>
                            <a:srgbClr val="000000"/>
                          </a:solidFill>
                          <a:effectLst/>
                          <a:latin typeface="等线" panose="02010600030101010101" charset="-122"/>
                          <a:ea typeface="等线" panose="02010600030101010101" charset="-122"/>
                        </a:rPr>
                        <a:t>最大回撤</a:t>
                      </a:r>
                      <a:endParaRPr lang="zh-CN" altLang="en-US" sz="1000" b="1"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等线" panose="02010600030101010101" charset="-122"/>
                          <a:ea typeface="等线" panose="02010600030101010101" charset="-122"/>
                        </a:rPr>
                        <a:t>-40.76%</a:t>
                      </a:r>
                      <a:endParaRPr lang="en-US" altLang="zh-CN" sz="1000" b="0" i="0">
                        <a:solidFill>
                          <a:srgbClr val="0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等线" panose="02010600030101010101" charset="-122"/>
                          <a:ea typeface="等线" panose="02010600030101010101" charset="-122"/>
                        </a:rPr>
                        <a:t>-26.40%</a:t>
                      </a:r>
                      <a:endParaRPr lang="en-US" altLang="zh-CN" sz="1000" b="0" i="0">
                        <a:solidFill>
                          <a:srgbClr val="0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255905">
                <a:tc>
                  <a:txBody>
                    <a:bodyPr/>
                    <a:lstStyle/>
                    <a:p>
                      <a:pPr algn="ctr" rtl="0" fontAlgn="b">
                        <a:buNone/>
                      </a:pPr>
                      <a:r>
                        <a:rPr lang="zh-CN" altLang="en-US" sz="1000" b="1" i="0" u="none" strike="noStrike" dirty="0">
                          <a:solidFill>
                            <a:srgbClr val="000000"/>
                          </a:solidFill>
                          <a:effectLst/>
                          <a:latin typeface="等线" panose="02010600030101010101" charset="-122"/>
                          <a:ea typeface="等线" panose="02010600030101010101" charset="-122"/>
                        </a:rPr>
                        <a:t>最大回撤时间</a:t>
                      </a:r>
                      <a:endParaRPr lang="zh-CN" altLang="en-US" sz="1000" b="1"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等线" panose="02010600030101010101" charset="-122"/>
                          <a:ea typeface="等线" panose="02010600030101010101" charset="-122"/>
                        </a:rPr>
                        <a:t>2021.10-2022.10</a:t>
                      </a:r>
                      <a:endParaRPr lang="en-US" altLang="zh-CN" sz="1000" b="0" i="0">
                        <a:solidFill>
                          <a:srgbClr val="0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等线" panose="02010600030101010101" charset="-122"/>
                          <a:ea typeface="等线" panose="02010600030101010101" charset="-122"/>
                        </a:rPr>
                        <a:t>2022.1-2022.9</a:t>
                      </a:r>
                      <a:endParaRPr lang="en-US" altLang="zh-CN" sz="1000" b="0" i="0">
                        <a:solidFill>
                          <a:srgbClr val="0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208280">
                <a:tc>
                  <a:txBody>
                    <a:bodyPr/>
                    <a:lstStyle/>
                    <a:p>
                      <a:pPr algn="ctr" rtl="0" fontAlgn="b"/>
                      <a:r>
                        <a:rPr lang="zh-CN" altLang="en-US" sz="1000" b="1" i="0" u="none" strike="noStrike" dirty="0">
                          <a:solidFill>
                            <a:srgbClr val="000000"/>
                          </a:solidFill>
                          <a:effectLst/>
                          <a:latin typeface="等线" panose="02010600030101010101" charset="-122"/>
                          <a:ea typeface="等线" panose="02010600030101010101" charset="-122"/>
                        </a:rPr>
                        <a:t>年化波动率</a:t>
                      </a:r>
                      <a:endParaRPr lang="zh-CN" altLang="en-US" sz="1000" b="1"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等线" panose="02010600030101010101" charset="-122"/>
                          <a:ea typeface="等线" panose="02010600030101010101" charset="-122"/>
                        </a:rPr>
                        <a:t>18.22%</a:t>
                      </a:r>
                      <a:endParaRPr lang="en-US" altLang="zh-CN" sz="1000" b="0" i="0">
                        <a:solidFill>
                          <a:srgbClr val="0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等线" panose="02010600030101010101" charset="-122"/>
                          <a:ea typeface="等线" panose="02010600030101010101" charset="-122"/>
                        </a:rPr>
                        <a:t>16.10%</a:t>
                      </a:r>
                      <a:endParaRPr lang="en-US" altLang="zh-CN" sz="1000" b="0" i="0">
                        <a:solidFill>
                          <a:srgbClr val="0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208280">
                <a:tc>
                  <a:txBody>
                    <a:bodyPr/>
                    <a:lstStyle/>
                    <a:p>
                      <a:pPr algn="ctr" rtl="0" fontAlgn="b"/>
                      <a:r>
                        <a:rPr lang="zh-CN" altLang="en-US" sz="1000" b="1" i="0" u="none" strike="noStrike" dirty="0">
                          <a:solidFill>
                            <a:srgbClr val="C00000"/>
                          </a:solidFill>
                          <a:effectLst/>
                          <a:latin typeface="等线" panose="02010600030101010101" charset="-122"/>
                          <a:ea typeface="等线" panose="02010600030101010101" charset="-122"/>
                        </a:rPr>
                        <a:t>风险收益比</a:t>
                      </a:r>
                      <a:endParaRPr lang="zh-CN" altLang="en-US" sz="1000" b="1" i="0" u="none" strike="noStrike" dirty="0">
                        <a:solidFill>
                          <a:srgbClr val="C00000"/>
                        </a:solidFill>
                        <a:effectLst/>
                        <a:latin typeface="等线" panose="02010600030101010101" charset="-122"/>
                        <a:ea typeface="等线" panose="02010600030101010101" charset="-122"/>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1" i="0">
                          <a:solidFill>
                            <a:srgbClr val="C00000"/>
                          </a:solidFill>
                          <a:latin typeface="等线" panose="02010600030101010101" charset="-122"/>
                          <a:ea typeface="等线" panose="02010600030101010101" charset="-122"/>
                        </a:rPr>
                        <a:t>0.96 </a:t>
                      </a:r>
                      <a:endParaRPr lang="en-US" altLang="zh-CN" sz="1000" b="1" i="0">
                        <a:solidFill>
                          <a:srgbClr val="C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1" i="0">
                          <a:solidFill>
                            <a:srgbClr val="C00000"/>
                          </a:solidFill>
                          <a:latin typeface="等线" panose="02010600030101010101" charset="-122"/>
                          <a:ea typeface="等线" panose="02010600030101010101" charset="-122"/>
                        </a:rPr>
                        <a:t>0.69 </a:t>
                      </a:r>
                      <a:endParaRPr lang="en-US" altLang="zh-CN" sz="1000" b="1" i="0">
                        <a:solidFill>
                          <a:srgbClr val="C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208915">
                <a:tc>
                  <a:txBody>
                    <a:bodyPr/>
                    <a:lstStyle/>
                    <a:p>
                      <a:pPr algn="ctr" rtl="0" fontAlgn="b"/>
                      <a:r>
                        <a:rPr lang="en-US" altLang="zh-CN" sz="1000" b="1" i="0" u="none" strike="noStrike" dirty="0">
                          <a:solidFill>
                            <a:srgbClr val="000000"/>
                          </a:solidFill>
                          <a:effectLst/>
                          <a:latin typeface="等线" panose="02010600030101010101" charset="-122"/>
                          <a:ea typeface="等线" panose="02010600030101010101" charset="-122"/>
                          <a:cs typeface="微软雅黑" panose="020B0503020204020204" charset="-122"/>
                        </a:rPr>
                        <a:t>2020</a:t>
                      </a:r>
                      <a:r>
                        <a:rPr lang="zh-CN" altLang="en-US" sz="1000" b="1" i="0" u="none" strike="noStrike" dirty="0">
                          <a:solidFill>
                            <a:srgbClr val="000000"/>
                          </a:solidFill>
                          <a:effectLst/>
                          <a:latin typeface="等线" panose="02010600030101010101" charset="-122"/>
                          <a:ea typeface="等线" panose="02010600030101010101" charset="-122"/>
                          <a:cs typeface="微软雅黑" panose="020B0503020204020204" charset="-122"/>
                        </a:rPr>
                        <a:t>年</a:t>
                      </a:r>
                      <a:r>
                        <a:rPr lang="en-US" altLang="zh-CN" sz="1000" b="1" i="0" u="none" strike="noStrike" dirty="0">
                          <a:solidFill>
                            <a:srgbClr val="000000"/>
                          </a:solidFill>
                          <a:effectLst/>
                          <a:latin typeface="等线" panose="02010600030101010101" charset="-122"/>
                          <a:ea typeface="等线" panose="02010600030101010101" charset="-122"/>
                          <a:cs typeface="微软雅黑" panose="020B0503020204020204" charset="-122"/>
                        </a:rPr>
                        <a:t>8-12</a:t>
                      </a:r>
                      <a:r>
                        <a:rPr lang="zh-CN" altLang="en-US" sz="1000" b="1" i="0" u="none" strike="noStrike" dirty="0">
                          <a:solidFill>
                            <a:srgbClr val="000000"/>
                          </a:solidFill>
                          <a:effectLst/>
                          <a:latin typeface="等线" panose="02010600030101010101" charset="-122"/>
                          <a:ea typeface="等线" panose="02010600030101010101" charset="-122"/>
                          <a:cs typeface="微软雅黑" panose="020B0503020204020204" charset="-122"/>
                        </a:rPr>
                        <a:t>月</a:t>
                      </a:r>
                      <a:endParaRPr lang="zh-CN" altLang="en-US" sz="1000" b="1" i="0" u="none" strike="noStrike" dirty="0">
                        <a:solidFill>
                          <a:srgbClr val="000000"/>
                        </a:solidFill>
                        <a:effectLst/>
                        <a:latin typeface="等线" panose="02010600030101010101" charset="-122"/>
                        <a:ea typeface="等线" panose="02010600030101010101" charset="-122"/>
                        <a:cs typeface="微软雅黑" panose="020B0503020204020204" charset="-122"/>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等线" panose="02010600030101010101" charset="-122"/>
                          <a:ea typeface="等线" panose="02010600030101010101" charset="-122"/>
                        </a:rPr>
                        <a:t>20.15%</a:t>
                      </a:r>
                      <a:endParaRPr lang="en-US" altLang="zh-CN" sz="1000" b="0" i="0">
                        <a:solidFill>
                          <a:srgbClr val="0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等线" panose="02010600030101010101" charset="-122"/>
                          <a:ea typeface="等线" panose="02010600030101010101" charset="-122"/>
                        </a:rPr>
                        <a:t>16.71%</a:t>
                      </a:r>
                      <a:endParaRPr lang="en-US" altLang="zh-CN" sz="1000" b="0" i="0">
                        <a:solidFill>
                          <a:srgbClr val="0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208280">
                <a:tc>
                  <a:txBody>
                    <a:bodyPr/>
                    <a:lstStyle/>
                    <a:p>
                      <a:pPr algn="ctr" rtl="0" fontAlgn="b"/>
                      <a:r>
                        <a:rPr lang="en-US" altLang="zh-CN" sz="1000" b="1" i="0" u="none" strike="noStrike" dirty="0">
                          <a:solidFill>
                            <a:srgbClr val="000000"/>
                          </a:solidFill>
                          <a:effectLst/>
                          <a:latin typeface="等线" panose="02010600030101010101" charset="-122"/>
                          <a:ea typeface="等线" panose="02010600030101010101" charset="-122"/>
                          <a:cs typeface="微软雅黑" panose="020B0503020204020204" charset="-122"/>
                        </a:rPr>
                        <a:t>2021</a:t>
                      </a:r>
                      <a:endParaRPr lang="en-US" altLang="zh-CN" sz="1000" b="1" i="0" u="none" strike="noStrike" dirty="0">
                        <a:solidFill>
                          <a:srgbClr val="000000"/>
                        </a:solidFill>
                        <a:effectLst/>
                        <a:latin typeface="等线" panose="02010600030101010101" charset="-122"/>
                        <a:ea typeface="等线" panose="02010600030101010101" charset="-122"/>
                        <a:cs typeface="微软雅黑" panose="020B0503020204020204" charset="-122"/>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等线" panose="02010600030101010101" charset="-122"/>
                          <a:ea typeface="等线" panose="02010600030101010101" charset="-122"/>
                        </a:rPr>
                        <a:t>6.31%</a:t>
                      </a:r>
                      <a:endParaRPr lang="en-US" altLang="zh-CN" sz="1000" b="0" i="0">
                        <a:solidFill>
                          <a:srgbClr val="0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等线" panose="02010600030101010101" charset="-122"/>
                          <a:ea typeface="等线" panose="02010600030101010101" charset="-122"/>
                        </a:rPr>
                        <a:t>20.14%</a:t>
                      </a:r>
                      <a:endParaRPr lang="en-US" altLang="zh-CN" sz="1000" b="0" i="0">
                        <a:solidFill>
                          <a:srgbClr val="0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208280">
                <a:tc>
                  <a:txBody>
                    <a:bodyPr/>
                    <a:lstStyle/>
                    <a:p>
                      <a:pPr algn="ctr" rtl="0" fontAlgn="b"/>
                      <a:r>
                        <a:rPr lang="en-US" altLang="zh-CN" sz="1000" b="1" i="0" u="none" strike="noStrike" dirty="0">
                          <a:solidFill>
                            <a:srgbClr val="000000"/>
                          </a:solidFill>
                          <a:effectLst/>
                          <a:latin typeface="等线" panose="02010600030101010101" charset="-122"/>
                          <a:ea typeface="等线" panose="02010600030101010101" charset="-122"/>
                        </a:rPr>
                        <a:t>2022</a:t>
                      </a:r>
                      <a:endParaRPr lang="en-US" altLang="zh-CN" sz="1000" b="1"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等线" panose="02010600030101010101" charset="-122"/>
                          <a:ea typeface="等线" panose="02010600030101010101" charset="-122"/>
                        </a:rPr>
                        <a:t>-16.96%</a:t>
                      </a:r>
                      <a:endParaRPr lang="en-US" altLang="zh-CN" sz="1000" b="0" i="0">
                        <a:solidFill>
                          <a:srgbClr val="0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等线" panose="02010600030101010101" charset="-122"/>
                          <a:ea typeface="等线" panose="02010600030101010101" charset="-122"/>
                        </a:rPr>
                        <a:t>-19.46%</a:t>
                      </a:r>
                      <a:endParaRPr lang="en-US" altLang="zh-CN" sz="1000" b="0" i="0">
                        <a:solidFill>
                          <a:srgbClr val="0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208915">
                <a:tc>
                  <a:txBody>
                    <a:bodyPr/>
                    <a:lstStyle/>
                    <a:p>
                      <a:pPr algn="ctr" rtl="0" fontAlgn="b"/>
                      <a:r>
                        <a:rPr lang="en-US" altLang="zh-CN" sz="1000" b="1" i="0" u="none" strike="noStrike" dirty="0">
                          <a:solidFill>
                            <a:srgbClr val="000000"/>
                          </a:solidFill>
                          <a:effectLst/>
                          <a:latin typeface="等线" panose="02010600030101010101" charset="-122"/>
                          <a:ea typeface="等线" panose="02010600030101010101" charset="-122"/>
                        </a:rPr>
                        <a:t>2023</a:t>
                      </a:r>
                      <a:endParaRPr lang="en-US" altLang="zh-CN" sz="1000" b="1"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等线" panose="02010600030101010101" charset="-122"/>
                          <a:ea typeface="等线" panose="02010600030101010101" charset="-122"/>
                        </a:rPr>
                        <a:t>42.16%</a:t>
                      </a:r>
                      <a:endParaRPr lang="en-US" altLang="zh-CN" sz="1000" b="0" i="0">
                        <a:solidFill>
                          <a:srgbClr val="0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fontAlgn="ctr"/>
                      <a:r>
                        <a:rPr lang="en-US" altLang="zh-CN" sz="1000" b="0" i="0">
                          <a:solidFill>
                            <a:srgbClr val="000000"/>
                          </a:solidFill>
                          <a:latin typeface="等线" panose="02010600030101010101" charset="-122"/>
                          <a:ea typeface="等线" panose="02010600030101010101" charset="-122"/>
                        </a:rPr>
                        <a:t>21.77%</a:t>
                      </a:r>
                      <a:endParaRPr lang="en-US" altLang="zh-CN" sz="1000" b="0" i="0">
                        <a:solidFill>
                          <a:srgbClr val="000000"/>
                        </a:solidFill>
                        <a:latin typeface="等线" panose="02010600030101010101" charset="-122"/>
                        <a:ea typeface="等线" panose="02010600030101010101" charset="-122"/>
                      </a:endParaRPr>
                    </a:p>
                  </a:txBody>
                  <a:tcPr marL="9842" marR="9842" marT="9842" marB="0" anchor="ctr" anchorCtr="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r h="208280">
                <a:tc>
                  <a:txBody>
                    <a:bodyPr/>
                    <a:lstStyle/>
                    <a:p>
                      <a:pPr algn="ctr" rtl="0" fontAlgn="b"/>
                      <a:r>
                        <a:rPr lang="en-US" sz="1000" b="1" i="0" u="none" strike="noStrike" dirty="0">
                          <a:solidFill>
                            <a:srgbClr val="000000"/>
                          </a:solidFill>
                          <a:effectLst/>
                          <a:latin typeface="等线" panose="02010600030101010101" charset="-122"/>
                          <a:ea typeface="等线" panose="02010600030101010101" charset="-122"/>
                        </a:rPr>
                        <a:t>2024</a:t>
                      </a:r>
                      <a:endParaRPr lang="zh-CN" altLang="en-US" sz="1000" b="1"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rtl="0" fontAlgn="b"/>
                      <a:r>
                        <a:rPr lang="en-US" altLang="zh-CN" sz="1000" b="0" i="0" u="none" strike="noStrike" dirty="0">
                          <a:solidFill>
                            <a:srgbClr val="000000"/>
                          </a:solidFill>
                          <a:effectLst/>
                          <a:latin typeface="等线" panose="02010600030101010101" charset="-122"/>
                          <a:ea typeface="等线" panose="02010600030101010101" charset="-122"/>
                        </a:rPr>
                        <a:t>35.52%</a:t>
                      </a:r>
                      <a:endParaRPr lang="en-US" altLang="zh-CN" sz="10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rtl="0" fontAlgn="b">
                        <a:buNone/>
                      </a:pPr>
                      <a:r>
                        <a:rPr lang="en-US" altLang="zh-CN" sz="1000" b="0" i="0" u="none" strike="noStrike" dirty="0">
                          <a:solidFill>
                            <a:srgbClr val="000000"/>
                          </a:solidFill>
                          <a:effectLst/>
                          <a:latin typeface="等线" panose="02010600030101010101" charset="-122"/>
                          <a:ea typeface="等线" panose="02010600030101010101" charset="-122"/>
                        </a:rPr>
                        <a:t>17.00%</a:t>
                      </a:r>
                      <a:endParaRPr lang="en-US" altLang="zh-CN" sz="1000" b="0" i="0" u="none" strike="noStrike" dirty="0">
                        <a:solidFill>
                          <a:srgbClr val="000000"/>
                        </a:solidFill>
                        <a:effectLst/>
                        <a:latin typeface="等线" panose="02010600030101010101" charset="-122"/>
                        <a:ea typeface="等线" panose="02010600030101010101" charset="-122"/>
                      </a:endParaRPr>
                    </a:p>
                  </a:txBody>
                  <a:tcPr marL="9525" marR="9525"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r>
            </a:tbl>
          </a:graphicData>
        </a:graphic>
      </p:graphicFrame>
      <p:sp>
        <p:nvSpPr>
          <p:cNvPr id="7" name="文本框 6"/>
          <p:cNvSpPr txBox="1"/>
          <p:nvPr/>
        </p:nvSpPr>
        <p:spPr>
          <a:xfrm>
            <a:off x="511755" y="6230752"/>
            <a:ext cx="6918293" cy="229870"/>
          </a:xfrm>
          <a:prstGeom prst="rect">
            <a:avLst/>
          </a:prstGeom>
          <a:noFill/>
        </p:spPr>
        <p:txBody>
          <a:bodyPr wrap="square" rtlCol="0">
            <a:spAutoFit/>
          </a:bodyPr>
          <a:lstStyle/>
          <a:p>
            <a:pPr algn="l">
              <a:buClrTx/>
              <a:buSzTx/>
              <a:buFontTx/>
            </a:pPr>
            <a:r>
              <a:rPr lang="zh-CN" altLang="en-US" sz="900" i="1" spc="-65" dirty="0">
                <a:latin typeface="等线" panose="02010600030101010101" charset="-122"/>
                <a:ea typeface="等线" panose="02010600030101010101" charset="-122"/>
                <a:cs typeface="等线" panose="02010600030101010101" charset="-122"/>
                <a:sym typeface="+mn-lt"/>
              </a:rPr>
              <a:t>资料来源：</a:t>
            </a:r>
            <a:r>
              <a:rPr lang="en-US" altLang="zh-CN" sz="900" i="1" spc="-65" dirty="0">
                <a:latin typeface="等线" panose="02010600030101010101" charset="-122"/>
                <a:ea typeface="等线" panose="02010600030101010101" charset="-122"/>
                <a:cs typeface="等线" panose="02010600030101010101" charset="-122"/>
                <a:sym typeface="+mn-lt"/>
              </a:rPr>
              <a:t>Greenwoods</a:t>
            </a:r>
            <a:r>
              <a:rPr lang="zh-CN" altLang="en-US" sz="900" i="1" spc="-65" dirty="0">
                <a:latin typeface="等线" panose="02010600030101010101" charset="-122"/>
                <a:ea typeface="等线" panose="02010600030101010101" charset="-122"/>
                <a:cs typeface="等线" panose="02010600030101010101" charset="-122"/>
                <a:sym typeface="+mn-lt"/>
              </a:rPr>
              <a:t>。截至</a:t>
            </a:r>
            <a:r>
              <a:rPr lang="en-US" altLang="zh-CN" sz="900" i="1" spc="-20" dirty="0">
                <a:latin typeface="等线" panose="02010600030101010101" charset="-122"/>
                <a:ea typeface="等线" panose="02010600030101010101" charset="-122"/>
                <a:cs typeface="等线" panose="02010600030101010101" charset="-122"/>
                <a:sym typeface="+mn-lt"/>
              </a:rPr>
              <a:t>2024</a:t>
            </a:r>
            <a:r>
              <a:rPr lang="zh-CN" altLang="en-US" sz="900" i="1" spc="-20" dirty="0">
                <a:latin typeface="等线" panose="02010600030101010101" charset="-122"/>
                <a:ea typeface="等线" panose="02010600030101010101" charset="-122"/>
                <a:cs typeface="等线" panose="02010600030101010101" charset="-122"/>
                <a:sym typeface="+mn-lt"/>
              </a:rPr>
              <a:t>年</a:t>
            </a:r>
            <a:r>
              <a:rPr lang="en-US" altLang="zh-CN" sz="900" i="1" spc="-20" dirty="0">
                <a:latin typeface="等线" panose="02010600030101010101" charset="-122"/>
                <a:ea typeface="等线" panose="02010600030101010101" charset="-122"/>
                <a:cs typeface="等线" panose="02010600030101010101" charset="-122"/>
                <a:sym typeface="+mn-lt"/>
              </a:rPr>
              <a:t>12</a:t>
            </a:r>
            <a:r>
              <a:rPr lang="zh-CN" altLang="en-US" sz="900" i="1" spc="-20" dirty="0">
                <a:latin typeface="等线" panose="02010600030101010101" charset="-122"/>
                <a:ea typeface="等线" panose="02010600030101010101" charset="-122"/>
                <a:cs typeface="等线" panose="02010600030101010101" charset="-122"/>
                <a:sym typeface="+mn-lt"/>
              </a:rPr>
              <a:t>月</a:t>
            </a:r>
            <a:r>
              <a:rPr lang="en-US" altLang="zh-CN" sz="900" i="1" spc="-20" dirty="0">
                <a:latin typeface="等线" panose="02010600030101010101" charset="-122"/>
                <a:ea typeface="等线" panose="02010600030101010101" charset="-122"/>
                <a:cs typeface="等线" panose="02010600030101010101" charset="-122"/>
                <a:sym typeface="+mn-lt"/>
              </a:rPr>
              <a:t>31</a:t>
            </a:r>
            <a:r>
              <a:rPr lang="zh-CN" altLang="en-US" sz="900" i="1" spc="-20" dirty="0">
                <a:latin typeface="等线" panose="02010600030101010101" charset="-122"/>
                <a:ea typeface="等线" panose="02010600030101010101" charset="-122"/>
                <a:cs typeface="等线" panose="02010600030101010101" charset="-122"/>
                <a:sym typeface="+mn-lt"/>
              </a:rPr>
              <a:t>日</a:t>
            </a:r>
            <a:r>
              <a:rPr lang="zh-CN" altLang="en-US" sz="900" i="1" spc="-65" dirty="0">
                <a:latin typeface="等线" panose="02010600030101010101" charset="-122"/>
                <a:ea typeface="等线" panose="02010600030101010101" charset="-122"/>
                <a:cs typeface="等线" panose="02010600030101010101" charset="-122"/>
                <a:sym typeface="+mn-lt"/>
              </a:rPr>
              <a:t>。所示净值为</a:t>
            </a:r>
            <a:r>
              <a:rPr lang="en-US" altLang="zh-CN" sz="900" i="1" spc="-65" dirty="0">
                <a:latin typeface="等线" panose="02010600030101010101" charset="-122"/>
                <a:ea typeface="等线" panose="02010600030101010101" charset="-122"/>
                <a:cs typeface="等线" panose="02010600030101010101" charset="-122"/>
                <a:sym typeface="+mn-lt"/>
              </a:rPr>
              <a:t>A</a:t>
            </a:r>
            <a:r>
              <a:rPr lang="zh-CN" altLang="en-US" sz="900" i="1" spc="-65" dirty="0">
                <a:latin typeface="等线" panose="02010600030101010101" charset="-122"/>
                <a:ea typeface="等线" panose="02010600030101010101" charset="-122"/>
                <a:cs typeface="等线" panose="02010600030101010101" charset="-122"/>
                <a:sym typeface="+mn-lt"/>
              </a:rPr>
              <a:t>份额（管理费</a:t>
            </a:r>
            <a:r>
              <a:rPr lang="en-US" altLang="zh-CN" sz="900" i="1" spc="-65" dirty="0">
                <a:latin typeface="等线" panose="02010600030101010101" charset="-122"/>
                <a:ea typeface="等线" panose="02010600030101010101" charset="-122"/>
                <a:cs typeface="等线" panose="02010600030101010101" charset="-122"/>
                <a:sym typeface="+mn-lt"/>
              </a:rPr>
              <a:t>1.5%/</a:t>
            </a:r>
            <a:r>
              <a:rPr lang="zh-CN" altLang="en-US" sz="900" i="1" spc="-65" dirty="0">
                <a:latin typeface="等线" panose="02010600030101010101" charset="-122"/>
                <a:ea typeface="等线" panose="02010600030101010101" charset="-122"/>
                <a:cs typeface="等线" panose="02010600030101010101" charset="-122"/>
                <a:sym typeface="+mn-lt"/>
              </a:rPr>
              <a:t>年</a:t>
            </a:r>
            <a:r>
              <a:rPr lang="en-US" altLang="zh-CN" sz="900" i="1" spc="-65" dirty="0">
                <a:latin typeface="等线" panose="02010600030101010101" charset="-122"/>
                <a:ea typeface="等线" panose="02010600030101010101" charset="-122"/>
                <a:cs typeface="等线" panose="02010600030101010101" charset="-122"/>
                <a:sym typeface="+mn-lt"/>
              </a:rPr>
              <a:t>, </a:t>
            </a:r>
            <a:r>
              <a:rPr lang="zh-CN" altLang="en-US" sz="900" i="1" spc="-65" dirty="0">
                <a:latin typeface="等线" panose="02010600030101010101" charset="-122"/>
                <a:ea typeface="等线" panose="02010600030101010101" charset="-122"/>
                <a:cs typeface="等线" panose="02010600030101010101" charset="-122"/>
                <a:sym typeface="+mn-lt"/>
              </a:rPr>
              <a:t>业绩报酬</a:t>
            </a:r>
            <a:r>
              <a:rPr lang="en-US" altLang="zh-CN" sz="900" i="1" spc="-65" dirty="0">
                <a:latin typeface="等线" panose="02010600030101010101" charset="-122"/>
                <a:ea typeface="等线" panose="02010600030101010101" charset="-122"/>
                <a:cs typeface="等线" panose="02010600030101010101" charset="-122"/>
                <a:sym typeface="+mn-lt"/>
              </a:rPr>
              <a:t>20%</a:t>
            </a:r>
            <a:r>
              <a:rPr lang="zh-CN" altLang="en-US" sz="900" i="1" spc="-65" dirty="0">
                <a:latin typeface="等线" panose="02010600030101010101" charset="-122"/>
                <a:ea typeface="等线" panose="02010600030101010101" charset="-122"/>
                <a:cs typeface="等线" panose="02010600030101010101" charset="-122"/>
                <a:sym typeface="+mn-lt"/>
              </a:rPr>
              <a:t>）</a:t>
            </a:r>
            <a:r>
              <a:rPr lang="zh-CN" altLang="en-US" sz="900" i="1" spc="-20" dirty="0">
                <a:latin typeface="等线" panose="02010600030101010101" charset="-122"/>
                <a:ea typeface="等线" panose="02010600030101010101" charset="-122"/>
                <a:cs typeface="等线" panose="02010600030101010101" charset="-122"/>
                <a:sym typeface="+mn-ea"/>
              </a:rPr>
              <a:t>，业绩均为实盘，</a:t>
            </a:r>
            <a:r>
              <a:rPr lang="en-US" altLang="zh-CN" sz="900" i="1" spc="-20" dirty="0" err="1">
                <a:latin typeface="等线" panose="02010600030101010101" charset="-122"/>
                <a:ea typeface="等线" panose="02010600030101010101" charset="-122"/>
                <a:cs typeface="等线" panose="02010600030101010101" charset="-122"/>
                <a:sym typeface="+mn-ea"/>
              </a:rPr>
              <a:t>费后</a:t>
            </a:r>
            <a:r>
              <a:rPr lang="zh-CN" altLang="en-US" sz="900" i="1" spc="-20" dirty="0">
                <a:latin typeface="等线" panose="02010600030101010101" charset="-122"/>
                <a:ea typeface="等线" panose="02010600030101010101" charset="-122"/>
                <a:cs typeface="等线" panose="02010600030101010101" charset="-122"/>
                <a:sym typeface="+mn-ea"/>
              </a:rPr>
              <a:t>口径</a:t>
            </a:r>
            <a:endParaRPr lang="zh-CN" altLang="en-US" sz="900" i="1" spc="-20" dirty="0">
              <a:latin typeface="等线" panose="02010600030101010101" charset="-122"/>
              <a:ea typeface="等线" panose="02010600030101010101" charset="-122"/>
              <a:cs typeface="等线" panose="02010600030101010101" charset="-122"/>
              <a:sym typeface="+mn-ea"/>
            </a:endParaRPr>
          </a:p>
        </p:txBody>
      </p:sp>
      <p:sp>
        <p:nvSpPr>
          <p:cNvPr id="3" name="Rectangle 2"/>
          <p:cNvSpPr/>
          <p:nvPr/>
        </p:nvSpPr>
        <p:spPr>
          <a:xfrm>
            <a:off x="6827520" y="3823246"/>
            <a:ext cx="2662517" cy="285750"/>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800" dirty="0" smtClean="0">
                <a:solidFill>
                  <a:schemeClr val="tx1"/>
                </a:solidFill>
                <a:latin typeface="微软雅黑" panose="020B0503020204020204" charset="-122"/>
                <a:ea typeface="微软雅黑" panose="020B0503020204020204" charset="-122"/>
                <a:sym typeface="+mn-ea"/>
              </a:rPr>
              <a:t>*</a:t>
            </a:r>
            <a:r>
              <a:rPr lang="zh-CN" altLang="en-US" sz="800" dirty="0" smtClean="0">
                <a:solidFill>
                  <a:schemeClr val="tx1"/>
                </a:solidFill>
                <a:latin typeface="微软雅黑" panose="020B0503020204020204" charset="-122"/>
                <a:ea typeface="微软雅黑" panose="020B0503020204020204" charset="-122"/>
                <a:sym typeface="+mn-ea"/>
              </a:rPr>
              <a:t>上述</a:t>
            </a:r>
            <a:r>
              <a:rPr lang="zh-CN" altLang="en-US" sz="800" dirty="0">
                <a:solidFill>
                  <a:schemeClr val="tx1"/>
                </a:solidFill>
                <a:latin typeface="微软雅黑" panose="020B0503020204020204" charset="-122"/>
                <a:ea typeface="微软雅黑" panose="020B0503020204020204" charset="-122"/>
                <a:sym typeface="+mn-ea"/>
              </a:rPr>
              <a:t>比较仅作参考用途，本基金目前并无基准指数。</a:t>
            </a:r>
            <a:endParaRPr lang="zh-CN" altLang="en-US" sz="800" dirty="0">
              <a:solidFill>
                <a:schemeClr val="tx1"/>
              </a:solidFill>
              <a:latin typeface="微软雅黑" panose="020B0503020204020204" charset="-122"/>
              <a:ea typeface="微软雅黑" panose="020B0503020204020204" charset="-122"/>
            </a:endParaRPr>
          </a:p>
        </p:txBody>
      </p:sp>
      <p:graphicFrame>
        <p:nvGraphicFramePr>
          <p:cNvPr id="4" name="图表 3"/>
          <p:cNvGraphicFramePr/>
          <p:nvPr/>
        </p:nvGraphicFramePr>
        <p:xfrm>
          <a:off x="689610" y="1400175"/>
          <a:ext cx="5657215" cy="270891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511755" y="256039"/>
            <a:ext cx="8229600" cy="423545"/>
          </a:xfrm>
          <a:prstGeom prst="rect">
            <a:avLst/>
          </a:prstGeom>
          <a:noFill/>
        </p:spPr>
        <p:txBody>
          <a:bodyPr vert="horz" wrap="square" lIns="91440" tIns="45720" rIns="91440" bIns="45720" rtlCol="0" anchor="ctr">
            <a:spAutoFit/>
          </a:bodyPr>
          <a:lstStyle>
            <a:defPPr>
              <a:defRPr lang="en-US"/>
            </a:defPPr>
            <a:lvl1pPr>
              <a:lnSpc>
                <a:spcPct val="90000"/>
              </a:lnSpc>
              <a:spcBef>
                <a:spcPct val="0"/>
              </a:spcBef>
              <a:buNone/>
              <a:defRPr sz="2800" b="1">
                <a:solidFill>
                  <a:srgbClr val="002B82"/>
                </a:solidFill>
                <a:latin typeface="微软雅黑" panose="020B0503020204020204" charset="-122"/>
                <a:ea typeface="微软雅黑" panose="020B0503020204020204" charset="-122"/>
              </a:defRPr>
            </a:lvl1pPr>
          </a:lstStyle>
          <a:p>
            <a:r>
              <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景林环球基金</a:t>
            </a:r>
            <a:r>
              <a:rPr lang="en-US" altLang="zh-CN"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 - </a:t>
            </a:r>
            <a:r>
              <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地域持仓分析</a:t>
            </a:r>
            <a:endPar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endParaRPr>
          </a:p>
        </p:txBody>
      </p:sp>
      <p:graphicFrame>
        <p:nvGraphicFramePr>
          <p:cNvPr id="7" name="图表 6"/>
          <p:cNvGraphicFramePr/>
          <p:nvPr/>
        </p:nvGraphicFramePr>
        <p:xfrm>
          <a:off x="668436" y="1009146"/>
          <a:ext cx="6215818" cy="3013448"/>
        </p:xfrm>
        <a:graphic>
          <a:graphicData uri="http://schemas.openxmlformats.org/drawingml/2006/chart">
            <c:chart xmlns:c="http://schemas.openxmlformats.org/drawingml/2006/chart" xmlns:r="http://schemas.openxmlformats.org/officeDocument/2006/relationships" r:id="rId1"/>
          </a:graphicData>
        </a:graphic>
      </p:graphicFrame>
      <p:sp>
        <p:nvSpPr>
          <p:cNvPr id="8" name="文本框 7"/>
          <p:cNvSpPr txBox="1"/>
          <p:nvPr>
            <p:custDataLst>
              <p:tags r:id="rId4"/>
            </p:custDataLst>
          </p:nvPr>
        </p:nvSpPr>
        <p:spPr>
          <a:xfrm>
            <a:off x="3016745" y="3037956"/>
            <a:ext cx="1197531" cy="306705"/>
          </a:xfrm>
          <a:prstGeom prst="rect">
            <a:avLst/>
          </a:prstGeom>
          <a:noFill/>
        </p:spPr>
        <p:txBody>
          <a:bodyPr wrap="square" rtlCol="0">
            <a:spAutoFit/>
          </a:bodyPr>
          <a:lstStyle/>
          <a:p>
            <a:r>
              <a:rPr lang="zh-CN" altLang="en-US" sz="1400" b="1" dirty="0" smtClean="0">
                <a:solidFill>
                  <a:schemeClr val="bg1"/>
                </a:solidFill>
                <a:latin typeface="+mn-ea"/>
              </a:rPr>
              <a:t>港股</a:t>
            </a:r>
            <a:endParaRPr lang="zh-CN" altLang="en-US" sz="1400" b="1" dirty="0" smtClean="0">
              <a:solidFill>
                <a:schemeClr val="bg1"/>
              </a:solidFill>
              <a:latin typeface="+mn-ea"/>
            </a:endParaRPr>
          </a:p>
        </p:txBody>
      </p:sp>
      <p:sp>
        <p:nvSpPr>
          <p:cNvPr id="9" name="文本框 8"/>
          <p:cNvSpPr txBox="1"/>
          <p:nvPr>
            <p:custDataLst>
              <p:tags r:id="rId5"/>
            </p:custDataLst>
          </p:nvPr>
        </p:nvSpPr>
        <p:spPr>
          <a:xfrm>
            <a:off x="3634810" y="2647777"/>
            <a:ext cx="1729274" cy="306705"/>
          </a:xfrm>
          <a:prstGeom prst="rect">
            <a:avLst/>
          </a:prstGeom>
          <a:noFill/>
        </p:spPr>
        <p:txBody>
          <a:bodyPr wrap="square" rtlCol="0">
            <a:spAutoFit/>
          </a:bodyPr>
          <a:lstStyle/>
          <a:p>
            <a:r>
              <a:rPr lang="zh-CN" altLang="en-US" sz="1400" b="1" dirty="0" smtClean="0">
                <a:solidFill>
                  <a:schemeClr val="bg1"/>
                </a:solidFill>
                <a:latin typeface="+mn-ea"/>
              </a:rPr>
              <a:t>中概股</a:t>
            </a:r>
            <a:r>
              <a:rPr lang="en-US" altLang="zh-CN" sz="1400" b="1" dirty="0" smtClean="0">
                <a:solidFill>
                  <a:schemeClr val="bg1"/>
                </a:solidFill>
                <a:latin typeface="+mn-ea"/>
              </a:rPr>
              <a:t>ADR</a:t>
            </a:r>
            <a:endParaRPr lang="zh-CN" altLang="en-US" sz="1400" b="1" dirty="0" smtClean="0">
              <a:solidFill>
                <a:schemeClr val="bg1"/>
              </a:solidFill>
              <a:latin typeface="+mn-ea"/>
            </a:endParaRPr>
          </a:p>
        </p:txBody>
      </p:sp>
      <p:sp>
        <p:nvSpPr>
          <p:cNvPr id="10" name="文本框 9"/>
          <p:cNvSpPr txBox="1"/>
          <p:nvPr>
            <p:custDataLst>
              <p:tags r:id="rId6"/>
            </p:custDataLst>
          </p:nvPr>
        </p:nvSpPr>
        <p:spPr>
          <a:xfrm>
            <a:off x="4341565" y="2050242"/>
            <a:ext cx="1729274" cy="306705"/>
          </a:xfrm>
          <a:prstGeom prst="rect">
            <a:avLst/>
          </a:prstGeom>
          <a:noFill/>
        </p:spPr>
        <p:txBody>
          <a:bodyPr wrap="square" rtlCol="0">
            <a:spAutoFit/>
          </a:bodyPr>
          <a:lstStyle/>
          <a:p>
            <a:r>
              <a:rPr lang="zh-CN" sz="1400" b="1" dirty="0" smtClean="0">
                <a:solidFill>
                  <a:schemeClr val="bg1"/>
                </a:solidFill>
                <a:latin typeface="+mn-ea"/>
              </a:rPr>
              <a:t>美股及其他</a:t>
            </a:r>
            <a:endParaRPr lang="zh-CN" sz="1400" b="1" dirty="0" smtClean="0">
              <a:solidFill>
                <a:schemeClr val="bg1"/>
              </a:solidFill>
              <a:latin typeface="+mn-ea"/>
            </a:endParaRPr>
          </a:p>
        </p:txBody>
      </p:sp>
      <p:sp>
        <p:nvSpPr>
          <p:cNvPr id="11" name="文本框 10"/>
          <p:cNvSpPr txBox="1"/>
          <p:nvPr>
            <p:custDataLst>
              <p:tags r:id="rId7"/>
            </p:custDataLst>
          </p:nvPr>
        </p:nvSpPr>
        <p:spPr>
          <a:xfrm>
            <a:off x="998855" y="1169670"/>
            <a:ext cx="952500" cy="318135"/>
          </a:xfrm>
          <a:prstGeom prst="rect">
            <a:avLst/>
          </a:prstGeom>
          <a:noFill/>
        </p:spPr>
        <p:txBody>
          <a:bodyPr wrap="square" rtlCol="0" anchor="t">
            <a:noAutofit/>
          </a:bodyPr>
          <a:lstStyle/>
          <a:p>
            <a:pPr algn="ctr"/>
            <a:r>
              <a:rPr lang="zh-CN" altLang="en-US" sz="1200" b="1" dirty="0" smtClean="0">
                <a:solidFill>
                  <a:srgbClr val="FF0000"/>
                </a:solidFill>
                <a:latin typeface="等线" panose="02010600030101010101" charset="-122"/>
                <a:ea typeface="等线" panose="02010600030101010101" charset="-122"/>
                <a:cs typeface="等线" panose="02010600030101010101" charset="-122"/>
                <a:sym typeface="+mn-ea"/>
              </a:rPr>
              <a:t>多头部分</a:t>
            </a:r>
            <a:endParaRPr lang="zh-CN" altLang="en-US" sz="1200" b="1" dirty="0" smtClean="0">
              <a:solidFill>
                <a:srgbClr val="FF0000"/>
              </a:solidFill>
              <a:latin typeface="等线" panose="02010600030101010101" charset="-122"/>
              <a:ea typeface="等线" panose="02010600030101010101" charset="-122"/>
              <a:cs typeface="等线" panose="02010600030101010101" charset="-122"/>
              <a:sym typeface="+mn-ea"/>
            </a:endParaRPr>
          </a:p>
        </p:txBody>
      </p:sp>
      <p:graphicFrame>
        <p:nvGraphicFramePr>
          <p:cNvPr id="12" name="图表 11"/>
          <p:cNvGraphicFramePr/>
          <p:nvPr/>
        </p:nvGraphicFramePr>
        <p:xfrm>
          <a:off x="668655" y="4175760"/>
          <a:ext cx="6124575" cy="1971040"/>
        </p:xfrm>
        <a:graphic>
          <a:graphicData uri="http://schemas.openxmlformats.org/drawingml/2006/chart">
            <c:chart xmlns:c="http://schemas.openxmlformats.org/drawingml/2006/chart" xmlns:r="http://schemas.openxmlformats.org/officeDocument/2006/relationships" r:id="rId2"/>
          </a:graphicData>
        </a:graphic>
      </p:graphicFrame>
      <p:sp>
        <p:nvSpPr>
          <p:cNvPr id="13" name="文本框 12"/>
          <p:cNvSpPr txBox="1"/>
          <p:nvPr>
            <p:custDataLst>
              <p:tags r:id="rId8"/>
            </p:custDataLst>
          </p:nvPr>
        </p:nvSpPr>
        <p:spPr>
          <a:xfrm>
            <a:off x="998855" y="5760085"/>
            <a:ext cx="952500" cy="318135"/>
          </a:xfrm>
          <a:prstGeom prst="rect">
            <a:avLst/>
          </a:prstGeom>
          <a:noFill/>
        </p:spPr>
        <p:txBody>
          <a:bodyPr wrap="square" rtlCol="0" anchor="t">
            <a:noAutofit/>
          </a:bodyPr>
          <a:lstStyle/>
          <a:p>
            <a:pPr algn="ctr"/>
            <a:r>
              <a:rPr lang="zh-CN" altLang="en-US" sz="1200" b="1" dirty="0" smtClean="0">
                <a:solidFill>
                  <a:srgbClr val="FF0000"/>
                </a:solidFill>
                <a:latin typeface="等线" panose="02010600030101010101" charset="-122"/>
                <a:ea typeface="等线" panose="02010600030101010101" charset="-122"/>
                <a:cs typeface="等线" panose="02010600030101010101" charset="-122"/>
                <a:sym typeface="+mn-ea"/>
              </a:rPr>
              <a:t>空头部分</a:t>
            </a:r>
            <a:endParaRPr lang="zh-CN" altLang="en-US" sz="1200" b="1" dirty="0" smtClean="0">
              <a:solidFill>
                <a:srgbClr val="FF0000"/>
              </a:solidFill>
              <a:latin typeface="等线" panose="02010600030101010101" charset="-122"/>
              <a:ea typeface="等线" panose="02010600030101010101" charset="-122"/>
              <a:cs typeface="等线" panose="02010600030101010101" charset="-122"/>
              <a:sym typeface="+mn-ea"/>
            </a:endParaRPr>
          </a:p>
        </p:txBody>
      </p:sp>
      <p:sp>
        <p:nvSpPr>
          <p:cNvPr id="14" name="文本框 13"/>
          <p:cNvSpPr txBox="1"/>
          <p:nvPr>
            <p:custDataLst>
              <p:tags r:id="rId9"/>
            </p:custDataLst>
          </p:nvPr>
        </p:nvSpPr>
        <p:spPr>
          <a:xfrm>
            <a:off x="3016745" y="4279381"/>
            <a:ext cx="1197531" cy="306705"/>
          </a:xfrm>
          <a:prstGeom prst="rect">
            <a:avLst/>
          </a:prstGeom>
          <a:noFill/>
        </p:spPr>
        <p:txBody>
          <a:bodyPr wrap="square" rtlCol="0">
            <a:spAutoFit/>
          </a:bodyPr>
          <a:lstStyle/>
          <a:p>
            <a:r>
              <a:rPr lang="zh-CN" altLang="en-US" sz="1400" b="1" dirty="0" smtClean="0">
                <a:solidFill>
                  <a:schemeClr val="bg1"/>
                </a:solidFill>
                <a:latin typeface="+mn-ea"/>
              </a:rPr>
              <a:t>港股</a:t>
            </a:r>
            <a:endParaRPr lang="zh-CN" altLang="en-US" sz="1400" b="1" dirty="0" smtClean="0">
              <a:solidFill>
                <a:schemeClr val="bg1"/>
              </a:solidFill>
              <a:latin typeface="+mn-ea"/>
            </a:endParaRPr>
          </a:p>
        </p:txBody>
      </p:sp>
      <p:sp>
        <p:nvSpPr>
          <p:cNvPr id="15" name="文本框 14"/>
          <p:cNvSpPr txBox="1"/>
          <p:nvPr>
            <p:custDataLst>
              <p:tags r:id="rId10"/>
            </p:custDataLst>
          </p:nvPr>
        </p:nvSpPr>
        <p:spPr>
          <a:xfrm>
            <a:off x="3457645" y="4477212"/>
            <a:ext cx="1729274" cy="306705"/>
          </a:xfrm>
          <a:prstGeom prst="rect">
            <a:avLst/>
          </a:prstGeom>
          <a:noFill/>
        </p:spPr>
        <p:txBody>
          <a:bodyPr wrap="square" rtlCol="0">
            <a:spAutoFit/>
          </a:bodyPr>
          <a:lstStyle/>
          <a:p>
            <a:r>
              <a:rPr lang="zh-CN" altLang="en-US" sz="1400" b="1" dirty="0" smtClean="0">
                <a:solidFill>
                  <a:schemeClr val="bg1"/>
                </a:solidFill>
                <a:latin typeface="+mn-ea"/>
              </a:rPr>
              <a:t>中概股</a:t>
            </a:r>
            <a:r>
              <a:rPr lang="en-US" altLang="zh-CN" sz="1400" b="1" dirty="0" smtClean="0">
                <a:solidFill>
                  <a:schemeClr val="bg1"/>
                </a:solidFill>
                <a:latin typeface="+mn-ea"/>
              </a:rPr>
              <a:t>ADR</a:t>
            </a:r>
            <a:endParaRPr lang="zh-CN" altLang="en-US" sz="1400" b="1" dirty="0" smtClean="0">
              <a:solidFill>
                <a:schemeClr val="bg1"/>
              </a:solidFill>
              <a:latin typeface="+mn-ea"/>
            </a:endParaRPr>
          </a:p>
        </p:txBody>
      </p:sp>
      <p:sp>
        <p:nvSpPr>
          <p:cNvPr id="16" name="文本框 15"/>
          <p:cNvSpPr txBox="1"/>
          <p:nvPr>
            <p:custDataLst>
              <p:tags r:id="rId11"/>
            </p:custDataLst>
          </p:nvPr>
        </p:nvSpPr>
        <p:spPr>
          <a:xfrm>
            <a:off x="3225235" y="4842337"/>
            <a:ext cx="1729274" cy="306705"/>
          </a:xfrm>
          <a:prstGeom prst="rect">
            <a:avLst/>
          </a:prstGeom>
          <a:noFill/>
        </p:spPr>
        <p:txBody>
          <a:bodyPr wrap="square" rtlCol="0">
            <a:spAutoFit/>
          </a:bodyPr>
          <a:lstStyle/>
          <a:p>
            <a:r>
              <a:rPr lang="zh-CN" sz="1400" b="1" dirty="0" smtClean="0">
                <a:solidFill>
                  <a:schemeClr val="bg1"/>
                </a:solidFill>
                <a:latin typeface="+mn-ea"/>
              </a:rPr>
              <a:t>美股及其他</a:t>
            </a:r>
            <a:endParaRPr lang="zh-CN" sz="1400" b="1" dirty="0" smtClean="0">
              <a:solidFill>
                <a:schemeClr val="bg1"/>
              </a:solidFill>
              <a:latin typeface="+mn-ea"/>
            </a:endParaRPr>
          </a:p>
        </p:txBody>
      </p:sp>
      <p:sp>
        <p:nvSpPr>
          <p:cNvPr id="18" name="文本框 17"/>
          <p:cNvSpPr txBox="1"/>
          <p:nvPr/>
        </p:nvSpPr>
        <p:spPr>
          <a:xfrm>
            <a:off x="7395845" y="3254375"/>
            <a:ext cx="4070985" cy="3178175"/>
          </a:xfrm>
          <a:prstGeom prst="rect">
            <a:avLst/>
          </a:prstGeom>
          <a:solidFill>
            <a:schemeClr val="bg1">
              <a:lumMod val="95000"/>
            </a:schemeClr>
          </a:solidFill>
        </p:spPr>
        <p:txBody>
          <a:bodyPr wrap="square" rtlCol="0">
            <a:noAutofit/>
          </a:bodyPr>
          <a:lstStyle/>
          <a:p>
            <a:pPr marL="171450" indent="-171450">
              <a:lnSpc>
                <a:spcPct val="150000"/>
              </a:lnSpc>
              <a:buFont typeface="Arial" panose="020B0604020202020204" pitchFamily="34" charset="0"/>
              <a:buChar char="•"/>
            </a:pPr>
            <a:r>
              <a:rPr lang="zh-CN" altLang="en-US" sz="1300" b="1" dirty="0" smtClean="0">
                <a:latin typeface="等线" panose="02010600030101010101" charset="-122"/>
                <a:ea typeface="等线" panose="02010600030101010101" charset="-122"/>
                <a:cs typeface="等线" panose="02010600030101010101" charset="-122"/>
                <a:sym typeface="+mn-ea"/>
              </a:rPr>
              <a:t>地域分布上，中国资产平均占比</a:t>
            </a:r>
            <a:r>
              <a:rPr lang="en-US" altLang="zh-CN" sz="1300" b="1" dirty="0" smtClean="0">
                <a:latin typeface="等线" panose="02010600030101010101" charset="-122"/>
                <a:ea typeface="等线" panose="02010600030101010101" charset="-122"/>
                <a:cs typeface="等线" panose="02010600030101010101" charset="-122"/>
                <a:sym typeface="+mn-ea"/>
              </a:rPr>
              <a:t>50%</a:t>
            </a:r>
            <a:r>
              <a:rPr lang="zh-CN" altLang="en-US" sz="1300" b="1" dirty="0" smtClean="0">
                <a:latin typeface="等线" panose="02010600030101010101" charset="-122"/>
                <a:ea typeface="等线" panose="02010600030101010101" charset="-122"/>
                <a:cs typeface="等线" panose="02010600030101010101" charset="-122"/>
                <a:sym typeface="+mn-ea"/>
              </a:rPr>
              <a:t>（包括</a:t>
            </a:r>
            <a:r>
              <a:rPr lang="en-US" altLang="zh-CN" sz="1300" b="1" dirty="0" smtClean="0">
                <a:latin typeface="等线" panose="02010600030101010101" charset="-122"/>
                <a:ea typeface="等线" panose="02010600030101010101" charset="-122"/>
                <a:cs typeface="等线" panose="02010600030101010101" charset="-122"/>
                <a:sym typeface="+mn-ea"/>
              </a:rPr>
              <a:t>A</a:t>
            </a:r>
            <a:r>
              <a:rPr lang="zh-CN" altLang="en-US" sz="1300" b="1" dirty="0" smtClean="0">
                <a:latin typeface="等线" panose="02010600030101010101" charset="-122"/>
                <a:ea typeface="等线" panose="02010600030101010101" charset="-122"/>
                <a:cs typeface="等线" panose="02010600030101010101" charset="-122"/>
                <a:sym typeface="+mn-ea"/>
              </a:rPr>
              <a:t>股、港股、中概股），纯美股及其他平均占比</a:t>
            </a:r>
            <a:r>
              <a:rPr lang="en-US" altLang="zh-CN" sz="1300" b="1" dirty="0" smtClean="0">
                <a:latin typeface="等线" panose="02010600030101010101" charset="-122"/>
                <a:ea typeface="等线" panose="02010600030101010101" charset="-122"/>
                <a:cs typeface="等线" panose="02010600030101010101" charset="-122"/>
                <a:sym typeface="+mn-ea"/>
              </a:rPr>
              <a:t>45%</a:t>
            </a:r>
            <a:r>
              <a:rPr lang="zh-CN" altLang="en-US" sz="1300" b="1" dirty="0" smtClean="0">
                <a:latin typeface="等线" panose="02010600030101010101" charset="-122"/>
                <a:ea typeface="等线" panose="02010600030101010101" charset="-122"/>
                <a:cs typeface="等线" panose="02010600030101010101" charset="-122"/>
                <a:sym typeface="+mn-ea"/>
              </a:rPr>
              <a:t>。</a:t>
            </a:r>
            <a:endParaRPr lang="zh-CN" altLang="en-US" sz="1300" b="1" dirty="0" smtClean="0">
              <a:latin typeface="等线" panose="02010600030101010101" charset="-122"/>
              <a:ea typeface="等线" panose="02010600030101010101" charset="-122"/>
              <a:cs typeface="等线" panose="02010600030101010101" charset="-122"/>
              <a:sym typeface="+mn-ea"/>
            </a:endParaRPr>
          </a:p>
          <a:p>
            <a:pPr marL="171450" indent="-171450">
              <a:lnSpc>
                <a:spcPct val="150000"/>
              </a:lnSpc>
              <a:buFont typeface="Arial" panose="020B0604020202020204" pitchFamily="34" charset="0"/>
              <a:buChar char="•"/>
            </a:pPr>
            <a:endParaRPr lang="zh-CN" altLang="en-US" sz="1300" b="1" dirty="0" smtClean="0">
              <a:latin typeface="等线" panose="02010600030101010101" charset="-122"/>
              <a:ea typeface="等线" panose="02010600030101010101" charset="-122"/>
              <a:cs typeface="等线" panose="02010600030101010101" charset="-122"/>
              <a:sym typeface="+mn-ea"/>
            </a:endParaRPr>
          </a:p>
          <a:p>
            <a:pPr marL="171450" indent="-171450">
              <a:lnSpc>
                <a:spcPct val="150000"/>
              </a:lnSpc>
              <a:buFont typeface="Arial" panose="020B0604020202020204" pitchFamily="34" charset="0"/>
              <a:buChar char="•"/>
            </a:pPr>
            <a:r>
              <a:rPr lang="en-US" altLang="zh-CN" sz="1300" b="1" dirty="0" smtClean="0">
                <a:latin typeface="等线" panose="02010600030101010101" charset="-122"/>
                <a:ea typeface="等线" panose="02010600030101010101" charset="-122"/>
                <a:cs typeface="等线" panose="02010600030101010101" charset="-122"/>
                <a:sym typeface="+mn-ea"/>
              </a:rPr>
              <a:t>2022</a:t>
            </a:r>
            <a:r>
              <a:rPr lang="zh-CN" altLang="en-US" sz="1300" b="1" dirty="0" smtClean="0">
                <a:latin typeface="等线" panose="02010600030101010101" charset="-122"/>
                <a:ea typeface="等线" panose="02010600030101010101" charset="-122"/>
                <a:cs typeface="等线" panose="02010600030101010101" charset="-122"/>
                <a:sym typeface="+mn-ea"/>
              </a:rPr>
              <a:t>年多头部分和空头部分</a:t>
            </a:r>
            <a:r>
              <a:rPr lang="zh-CN" sz="1300" b="1" dirty="0" smtClean="0">
                <a:latin typeface="等线" panose="02010600030101010101" charset="-122"/>
                <a:ea typeface="等线" panose="02010600030101010101" charset="-122"/>
                <a:cs typeface="等线" panose="02010600030101010101" charset="-122"/>
                <a:sym typeface="+mn-ea"/>
              </a:rPr>
              <a:t>均</a:t>
            </a:r>
            <a:r>
              <a:rPr lang="zh-CN" altLang="en-US" sz="1300" b="1" dirty="0" smtClean="0">
                <a:latin typeface="等线" panose="02010600030101010101" charset="-122"/>
                <a:ea typeface="等线" panose="02010600030101010101" charset="-122"/>
                <a:cs typeface="等线" panose="02010600030101010101" charset="-122"/>
                <a:sym typeface="+mn-ea"/>
              </a:rPr>
              <a:t>加大仓位</a:t>
            </a:r>
            <a:r>
              <a:rPr lang="zh-CN" altLang="en-US" sz="1300" dirty="0" smtClean="0">
                <a:latin typeface="等线" panose="02010600030101010101" charset="-122"/>
                <a:ea typeface="等线" panose="02010600030101010101" charset="-122"/>
                <a:cs typeface="等线" panose="02010600030101010101" charset="-122"/>
                <a:sym typeface="+mn-ea"/>
              </a:rPr>
              <a:t>（降低净敞口到</a:t>
            </a:r>
            <a:r>
              <a:rPr lang="en-US" altLang="zh-CN" sz="1300" dirty="0" smtClean="0">
                <a:latin typeface="等线" panose="02010600030101010101" charset="-122"/>
                <a:ea typeface="等线" panose="02010600030101010101" charset="-122"/>
                <a:cs typeface="等线" panose="02010600030101010101" charset="-122"/>
                <a:sym typeface="+mn-ea"/>
              </a:rPr>
              <a:t>7</a:t>
            </a:r>
            <a:r>
              <a:rPr lang="zh-CN" altLang="en-US" sz="1300" dirty="0" smtClean="0">
                <a:latin typeface="等线" panose="02010600030101010101" charset="-122"/>
                <a:ea typeface="等线" panose="02010600030101010101" charset="-122"/>
                <a:cs typeface="等线" panose="02010600030101010101" charset="-122"/>
                <a:sym typeface="+mn-ea"/>
              </a:rPr>
              <a:t>成多），</a:t>
            </a:r>
            <a:r>
              <a:rPr lang="en-US" altLang="zh-CN" sz="1300" dirty="0" smtClean="0">
                <a:latin typeface="等线" panose="02010600030101010101" charset="-122"/>
                <a:ea typeface="等线" panose="02010600030101010101" charset="-122"/>
                <a:cs typeface="等线" panose="02010600030101010101" charset="-122"/>
                <a:sym typeface="+mn-ea"/>
              </a:rPr>
              <a:t>2022</a:t>
            </a:r>
            <a:r>
              <a:rPr lang="zh-CN" altLang="en-US" sz="1300" dirty="0" smtClean="0">
                <a:latin typeface="等线" panose="02010600030101010101" charset="-122"/>
                <a:ea typeface="等线" panose="02010600030101010101" charset="-122"/>
                <a:cs typeface="等线" panose="02010600030101010101" charset="-122"/>
                <a:sym typeface="+mn-ea"/>
              </a:rPr>
              <a:t>年以后，港股和其他国家的持仓逐步下降，中概股有所增加。</a:t>
            </a:r>
            <a:endParaRPr lang="zh-CN" altLang="en-US" sz="1300" dirty="0" smtClean="0">
              <a:latin typeface="等线" panose="02010600030101010101" charset="-122"/>
              <a:ea typeface="等线" panose="02010600030101010101" charset="-122"/>
              <a:cs typeface="等线" panose="02010600030101010101" charset="-122"/>
              <a:sym typeface="+mn-ea"/>
            </a:endParaRPr>
          </a:p>
          <a:p>
            <a:pPr marL="171450" indent="-171450">
              <a:lnSpc>
                <a:spcPct val="150000"/>
              </a:lnSpc>
              <a:buFont typeface="Arial" panose="020B0604020202020204" pitchFamily="34" charset="0"/>
              <a:buChar char="•"/>
            </a:pPr>
            <a:endParaRPr lang="zh-CN" altLang="en-US" sz="1300" b="1" dirty="0" smtClean="0">
              <a:latin typeface="等线" panose="02010600030101010101" charset="-122"/>
              <a:ea typeface="等线" panose="02010600030101010101" charset="-122"/>
              <a:cs typeface="等线" panose="02010600030101010101" charset="-122"/>
              <a:sym typeface="+mn-ea"/>
            </a:endParaRPr>
          </a:p>
          <a:p>
            <a:pPr marL="171450" indent="-171450">
              <a:lnSpc>
                <a:spcPct val="150000"/>
              </a:lnSpc>
              <a:buFont typeface="Arial" panose="020B0604020202020204" pitchFamily="34" charset="0"/>
              <a:buChar char="•"/>
            </a:pPr>
            <a:r>
              <a:rPr lang="zh-CN" altLang="en-US" sz="1300" b="1" dirty="0" smtClean="0">
                <a:latin typeface="等线" panose="02010600030101010101" charset="-122"/>
                <a:ea typeface="等线" panose="02010600030101010101" charset="-122"/>
                <a:cs typeface="等线" panose="02010600030101010101" charset="-122"/>
                <a:sym typeface="+mn-ea"/>
              </a:rPr>
              <a:t>截至最新</a:t>
            </a:r>
            <a:r>
              <a:rPr lang="en-US" altLang="zh-CN" sz="1300" b="1" dirty="0" smtClean="0">
                <a:latin typeface="等线" panose="02010600030101010101" charset="-122"/>
                <a:ea typeface="等线" panose="02010600030101010101" charset="-122"/>
                <a:cs typeface="等线" panose="02010600030101010101" charset="-122"/>
                <a:sym typeface="+mn-ea"/>
              </a:rPr>
              <a:t>11</a:t>
            </a:r>
            <a:r>
              <a:rPr lang="zh-CN" altLang="en-US" sz="1300" b="1" dirty="0" smtClean="0">
                <a:latin typeface="等线" panose="02010600030101010101" charset="-122"/>
                <a:ea typeface="等线" panose="02010600030101010101" charset="-122"/>
                <a:cs typeface="等线" panose="02010600030101010101" charset="-122"/>
                <a:sym typeface="+mn-ea"/>
              </a:rPr>
              <a:t>月，多头部分港股</a:t>
            </a:r>
            <a:r>
              <a:rPr lang="en-US" altLang="zh-CN" sz="1300" b="1" dirty="0" smtClean="0">
                <a:latin typeface="等线" panose="02010600030101010101" charset="-122"/>
                <a:ea typeface="等线" panose="02010600030101010101" charset="-122"/>
                <a:cs typeface="等线" panose="02010600030101010101" charset="-122"/>
                <a:sym typeface="+mn-ea"/>
              </a:rPr>
              <a:t>+</a:t>
            </a:r>
            <a:r>
              <a:rPr lang="zh-CN" altLang="en-US" sz="1300" b="1" dirty="0" smtClean="0">
                <a:latin typeface="等线" panose="02010600030101010101" charset="-122"/>
                <a:ea typeface="等线" panose="02010600030101010101" charset="-122"/>
                <a:cs typeface="等线" panose="02010600030101010101" charset="-122"/>
                <a:sym typeface="+mn-ea"/>
              </a:rPr>
              <a:t>中概占比</a:t>
            </a:r>
            <a:r>
              <a:rPr lang="en-US" altLang="zh-CN" sz="1300" b="1" dirty="0" smtClean="0">
                <a:latin typeface="等线" panose="02010600030101010101" charset="-122"/>
                <a:ea typeface="等线" panose="02010600030101010101" charset="-122"/>
                <a:cs typeface="等线" panose="02010600030101010101" charset="-122"/>
                <a:sym typeface="+mn-ea"/>
              </a:rPr>
              <a:t>52%</a:t>
            </a:r>
            <a:r>
              <a:rPr lang="zh-CN" altLang="en-US" sz="1300" b="1" dirty="0" smtClean="0">
                <a:latin typeface="等线" panose="02010600030101010101" charset="-122"/>
                <a:ea typeface="等线" panose="02010600030101010101" charset="-122"/>
                <a:cs typeface="等线" panose="02010600030101010101" charset="-122"/>
                <a:sym typeface="+mn-ea"/>
              </a:rPr>
              <a:t>，纯美股占比</a:t>
            </a:r>
            <a:r>
              <a:rPr lang="en-US" altLang="zh-CN" sz="1300" b="1" dirty="0" smtClean="0">
                <a:latin typeface="等线" panose="02010600030101010101" charset="-122"/>
                <a:ea typeface="等线" panose="02010600030101010101" charset="-122"/>
                <a:cs typeface="等线" panose="02010600030101010101" charset="-122"/>
                <a:sym typeface="+mn-ea"/>
              </a:rPr>
              <a:t>26%</a:t>
            </a:r>
            <a:r>
              <a:rPr lang="zh-CN" altLang="en-US" sz="1300" b="1" dirty="0" smtClean="0">
                <a:latin typeface="等线" panose="02010600030101010101" charset="-122"/>
                <a:ea typeface="等线" panose="02010600030101010101" charset="-122"/>
                <a:cs typeface="等线" panose="02010600030101010101" charset="-122"/>
                <a:sym typeface="+mn-ea"/>
              </a:rPr>
              <a:t>，新加坡</a:t>
            </a:r>
            <a:r>
              <a:rPr lang="en-US" altLang="zh-CN" sz="1300" b="1" dirty="0" smtClean="0">
                <a:latin typeface="等线" panose="02010600030101010101" charset="-122"/>
                <a:ea typeface="等线" panose="02010600030101010101" charset="-122"/>
                <a:cs typeface="等线" panose="02010600030101010101" charset="-122"/>
                <a:sym typeface="+mn-ea"/>
              </a:rPr>
              <a:t>7%</a:t>
            </a:r>
            <a:r>
              <a:rPr lang="zh-CN" altLang="en-US" sz="1300" b="1" dirty="0" smtClean="0">
                <a:latin typeface="等线" panose="02010600030101010101" charset="-122"/>
                <a:ea typeface="等线" panose="02010600030101010101" charset="-122"/>
                <a:cs typeface="等线" panose="02010600030101010101" charset="-122"/>
                <a:sym typeface="+mn-ea"/>
              </a:rPr>
              <a:t>，台湾</a:t>
            </a:r>
            <a:r>
              <a:rPr lang="en-US" altLang="zh-CN" sz="1300" b="1" dirty="0" smtClean="0">
                <a:latin typeface="等线" panose="02010600030101010101" charset="-122"/>
                <a:ea typeface="等线" panose="02010600030101010101" charset="-122"/>
                <a:cs typeface="等线" panose="02010600030101010101" charset="-122"/>
                <a:sym typeface="+mn-ea"/>
              </a:rPr>
              <a:t>6%</a:t>
            </a:r>
            <a:r>
              <a:rPr lang="zh-CN" altLang="en-US" sz="1300" b="1" dirty="0" smtClean="0">
                <a:latin typeface="等线" panose="02010600030101010101" charset="-122"/>
                <a:ea typeface="等线" panose="02010600030101010101" charset="-122"/>
                <a:cs typeface="等线" panose="02010600030101010101" charset="-122"/>
                <a:sym typeface="+mn-ea"/>
              </a:rPr>
              <a:t>，巴西</a:t>
            </a:r>
            <a:r>
              <a:rPr lang="en-US" altLang="zh-CN" sz="1300" b="1" dirty="0" smtClean="0">
                <a:latin typeface="等线" panose="02010600030101010101" charset="-122"/>
                <a:ea typeface="等线" panose="02010600030101010101" charset="-122"/>
                <a:cs typeface="等线" panose="02010600030101010101" charset="-122"/>
                <a:sym typeface="+mn-ea"/>
              </a:rPr>
              <a:t>2%</a:t>
            </a:r>
            <a:r>
              <a:rPr lang="zh-CN" altLang="en-US" sz="1300" b="1" dirty="0" smtClean="0">
                <a:latin typeface="等线" panose="02010600030101010101" charset="-122"/>
                <a:ea typeface="等线" panose="02010600030101010101" charset="-122"/>
                <a:cs typeface="等线" panose="02010600030101010101" charset="-122"/>
                <a:sym typeface="+mn-ea"/>
              </a:rPr>
              <a:t>，加拿大</a:t>
            </a:r>
            <a:r>
              <a:rPr lang="en-US" altLang="zh-CN" sz="1300" b="1" dirty="0" smtClean="0">
                <a:latin typeface="等线" panose="02010600030101010101" charset="-122"/>
                <a:ea typeface="等线" panose="02010600030101010101" charset="-122"/>
                <a:cs typeface="等线" panose="02010600030101010101" charset="-122"/>
                <a:sym typeface="+mn-ea"/>
              </a:rPr>
              <a:t>1%</a:t>
            </a:r>
            <a:r>
              <a:rPr lang="zh-CN" altLang="en-US" sz="1300" b="1" dirty="0" smtClean="0">
                <a:latin typeface="等线" panose="02010600030101010101" charset="-122"/>
                <a:ea typeface="等线" panose="02010600030101010101" charset="-122"/>
                <a:cs typeface="等线" panose="02010600030101010101" charset="-122"/>
                <a:sym typeface="+mn-ea"/>
              </a:rPr>
              <a:t>；空头部分中概</a:t>
            </a:r>
            <a:r>
              <a:rPr lang="en-US" altLang="zh-CN" sz="1300" b="1" dirty="0" smtClean="0">
                <a:latin typeface="等线" panose="02010600030101010101" charset="-122"/>
                <a:ea typeface="等线" panose="02010600030101010101" charset="-122"/>
                <a:cs typeface="等线" panose="02010600030101010101" charset="-122"/>
                <a:sym typeface="+mn-ea"/>
              </a:rPr>
              <a:t>-6%</a:t>
            </a:r>
            <a:r>
              <a:rPr lang="zh-CN" altLang="en-US" sz="1300" b="1" dirty="0" smtClean="0">
                <a:latin typeface="等线" panose="02010600030101010101" charset="-122"/>
                <a:ea typeface="等线" panose="02010600030101010101" charset="-122"/>
                <a:cs typeface="等线" panose="02010600030101010101" charset="-122"/>
                <a:sym typeface="+mn-ea"/>
              </a:rPr>
              <a:t>，美股</a:t>
            </a:r>
            <a:r>
              <a:rPr lang="en-US" altLang="zh-CN" sz="1300" b="1" dirty="0" smtClean="0">
                <a:latin typeface="等线" panose="02010600030101010101" charset="-122"/>
                <a:ea typeface="等线" panose="02010600030101010101" charset="-122"/>
                <a:cs typeface="等线" panose="02010600030101010101" charset="-122"/>
                <a:sym typeface="+mn-ea"/>
              </a:rPr>
              <a:t>-9%</a:t>
            </a:r>
            <a:r>
              <a:rPr lang="zh-CN" altLang="en-US" sz="1300" b="1" dirty="0" smtClean="0">
                <a:latin typeface="等线" panose="02010600030101010101" charset="-122"/>
                <a:ea typeface="等线" panose="02010600030101010101" charset="-122"/>
                <a:cs typeface="等线" panose="02010600030101010101" charset="-122"/>
                <a:sym typeface="+mn-ea"/>
              </a:rPr>
              <a:t>，韩国</a:t>
            </a:r>
            <a:r>
              <a:rPr lang="en-US" altLang="zh-CN" sz="1300" b="1" dirty="0" smtClean="0">
                <a:latin typeface="等线" panose="02010600030101010101" charset="-122"/>
                <a:ea typeface="等线" panose="02010600030101010101" charset="-122"/>
                <a:cs typeface="等线" panose="02010600030101010101" charset="-122"/>
                <a:sym typeface="+mn-ea"/>
              </a:rPr>
              <a:t>-3%</a:t>
            </a:r>
            <a:r>
              <a:rPr lang="zh-CN" altLang="en-US" sz="1300" b="1" dirty="0" smtClean="0">
                <a:latin typeface="等线" panose="02010600030101010101" charset="-122"/>
                <a:ea typeface="等线" panose="02010600030101010101" charset="-122"/>
                <a:cs typeface="等线" panose="02010600030101010101" charset="-122"/>
                <a:sym typeface="+mn-ea"/>
              </a:rPr>
              <a:t>。</a:t>
            </a:r>
            <a:endParaRPr lang="zh-CN" altLang="en-US" sz="1300" b="1" dirty="0" smtClean="0">
              <a:latin typeface="等线" panose="02010600030101010101" charset="-122"/>
              <a:ea typeface="等线" panose="02010600030101010101" charset="-122"/>
              <a:cs typeface="等线" panose="02010600030101010101" charset="-122"/>
              <a:sym typeface="+mn-ea"/>
            </a:endParaRPr>
          </a:p>
        </p:txBody>
      </p:sp>
      <p:graphicFrame>
        <p:nvGraphicFramePr>
          <p:cNvPr id="19" name="图表 18"/>
          <p:cNvGraphicFramePr/>
          <p:nvPr/>
        </p:nvGraphicFramePr>
        <p:xfrm>
          <a:off x="7028815" y="294640"/>
          <a:ext cx="4572000" cy="2858770"/>
        </p:xfrm>
        <a:graphic>
          <a:graphicData uri="http://schemas.openxmlformats.org/drawingml/2006/chart">
            <c:chart xmlns:c="http://schemas.openxmlformats.org/drawingml/2006/chart" xmlns:r="http://schemas.openxmlformats.org/officeDocument/2006/relationships" r:id="rId3"/>
          </a:graphicData>
        </a:graphic>
      </p:graphicFrame>
      <p:sp>
        <p:nvSpPr>
          <p:cNvPr id="22" name="文本框 21"/>
          <p:cNvSpPr txBox="1"/>
          <p:nvPr/>
        </p:nvSpPr>
        <p:spPr>
          <a:xfrm>
            <a:off x="8475980" y="690880"/>
            <a:ext cx="1677670" cy="318135"/>
          </a:xfrm>
          <a:prstGeom prst="rect">
            <a:avLst/>
          </a:prstGeom>
          <a:noFill/>
        </p:spPr>
        <p:txBody>
          <a:bodyPr wrap="square" rtlCol="0" anchor="t">
            <a:noAutofit/>
          </a:bodyPr>
          <a:lstStyle/>
          <a:p>
            <a:pPr algn="ctr"/>
            <a:r>
              <a:rPr lang="zh-CN" altLang="en-US" sz="1200" b="1" dirty="0" smtClean="0">
                <a:solidFill>
                  <a:srgbClr val="FF0000"/>
                </a:solidFill>
                <a:latin typeface="等线" panose="02010600030101010101" charset="-122"/>
                <a:ea typeface="等线" panose="02010600030101010101" charset="-122"/>
                <a:cs typeface="等线" panose="02010600030101010101" charset="-122"/>
                <a:sym typeface="+mn-ea"/>
              </a:rPr>
              <a:t>美股及其他国家是</a:t>
            </a:r>
            <a:r>
              <a:rPr lang="en-US" altLang="zh-CN" sz="1200" b="1" dirty="0" smtClean="0">
                <a:solidFill>
                  <a:srgbClr val="FF0000"/>
                </a:solidFill>
                <a:latin typeface="等线" panose="02010600030101010101" charset="-122"/>
                <a:ea typeface="等线" panose="02010600030101010101" charset="-122"/>
                <a:cs typeface="等线" panose="02010600030101010101" charset="-122"/>
                <a:sym typeface="+mn-ea"/>
              </a:rPr>
              <a:t>22</a:t>
            </a:r>
            <a:r>
              <a:rPr lang="zh-CN" altLang="en-US" sz="1200" b="1" dirty="0" smtClean="0">
                <a:solidFill>
                  <a:srgbClr val="FF0000"/>
                </a:solidFill>
                <a:latin typeface="等线" panose="02010600030101010101" charset="-122"/>
                <a:ea typeface="等线" panose="02010600030101010101" charset="-122"/>
                <a:cs typeface="等线" panose="02010600030101010101" charset="-122"/>
                <a:sym typeface="+mn-ea"/>
              </a:rPr>
              <a:t>年主要亏损来源，但</a:t>
            </a:r>
            <a:r>
              <a:rPr lang="en-US" altLang="zh-CN" sz="1200" b="1" dirty="0" smtClean="0">
                <a:solidFill>
                  <a:srgbClr val="FF0000"/>
                </a:solidFill>
                <a:latin typeface="等线" panose="02010600030101010101" charset="-122"/>
                <a:ea typeface="等线" panose="02010600030101010101" charset="-122"/>
                <a:cs typeface="等线" panose="02010600030101010101" charset="-122"/>
                <a:sym typeface="+mn-ea"/>
              </a:rPr>
              <a:t>23</a:t>
            </a:r>
            <a:r>
              <a:rPr lang="zh-CN" altLang="en-US" sz="1200" b="1" dirty="0" smtClean="0">
                <a:solidFill>
                  <a:srgbClr val="FF0000"/>
                </a:solidFill>
                <a:latin typeface="等线" panose="02010600030101010101" charset="-122"/>
                <a:ea typeface="等线" panose="02010600030101010101" charset="-122"/>
                <a:cs typeface="等线" panose="02010600030101010101" charset="-122"/>
                <a:sym typeface="+mn-ea"/>
              </a:rPr>
              <a:t>、</a:t>
            </a:r>
            <a:r>
              <a:rPr lang="en-US" altLang="zh-CN" sz="1200" b="1" dirty="0" smtClean="0">
                <a:solidFill>
                  <a:srgbClr val="FF0000"/>
                </a:solidFill>
                <a:latin typeface="等线" panose="02010600030101010101" charset="-122"/>
                <a:ea typeface="等线" panose="02010600030101010101" charset="-122"/>
                <a:cs typeface="等线" panose="02010600030101010101" charset="-122"/>
                <a:sym typeface="+mn-ea"/>
              </a:rPr>
              <a:t>24</a:t>
            </a:r>
            <a:r>
              <a:rPr lang="zh-CN" altLang="en-US" sz="1200" b="1" dirty="0" smtClean="0">
                <a:solidFill>
                  <a:srgbClr val="FF0000"/>
                </a:solidFill>
                <a:latin typeface="等线" panose="02010600030101010101" charset="-122"/>
                <a:ea typeface="等线" panose="02010600030101010101" charset="-122"/>
                <a:cs typeface="等线" panose="02010600030101010101" charset="-122"/>
                <a:sym typeface="+mn-ea"/>
              </a:rPr>
              <a:t>年有大幅修复</a:t>
            </a:r>
            <a:endParaRPr lang="zh-CN" altLang="en-US" sz="1200" b="1" dirty="0" smtClean="0">
              <a:solidFill>
                <a:srgbClr val="FF0000"/>
              </a:solidFill>
              <a:latin typeface="等线" panose="02010600030101010101" charset="-122"/>
              <a:ea typeface="等线" panose="02010600030101010101" charset="-122"/>
              <a:cs typeface="等线" panose="02010600030101010101" charset="-122"/>
              <a:sym typeface="+mn-ea"/>
            </a:endParaRPr>
          </a:p>
        </p:txBody>
      </p:sp>
      <p:sp>
        <p:nvSpPr>
          <p:cNvPr id="117" name="文本框 116"/>
          <p:cNvSpPr txBox="1"/>
          <p:nvPr/>
        </p:nvSpPr>
        <p:spPr>
          <a:xfrm>
            <a:off x="538480" y="6506210"/>
            <a:ext cx="5507990" cy="229870"/>
          </a:xfrm>
          <a:prstGeom prst="rect">
            <a:avLst/>
          </a:prstGeom>
          <a:noFill/>
        </p:spPr>
        <p:txBody>
          <a:bodyPr wrap="square" rtlCol="0">
            <a:spAutoFit/>
          </a:bodyPr>
          <a:lstStyle/>
          <a:p>
            <a:pPr algn="l">
              <a:buClrTx/>
              <a:buSzTx/>
              <a:buFontTx/>
            </a:pPr>
            <a:r>
              <a:rPr lang="zh-CN" altLang="en-US" sz="900" i="1" dirty="0" err="1" smtClean="0">
                <a:latin typeface="微软雅黑" panose="020B0503020204020204" charset="-122"/>
                <a:ea typeface="微软雅黑" panose="020B0503020204020204" charset="-122"/>
                <a:cs typeface="微软雅黑" panose="020B0503020204020204" charset="-122"/>
                <a:sym typeface="+mn-ea"/>
              </a:rPr>
              <a:t>数据来源：景林</a:t>
            </a:r>
            <a:endParaRPr lang="zh-CN" altLang="en-US" sz="900" i="1" dirty="0" err="1" smtClean="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图表 12"/>
          <p:cNvGraphicFramePr/>
          <p:nvPr/>
        </p:nvGraphicFramePr>
        <p:xfrm>
          <a:off x="333058" y="774383"/>
          <a:ext cx="6176645" cy="3584575"/>
        </p:xfrm>
        <a:graphic>
          <a:graphicData uri="http://schemas.openxmlformats.org/drawingml/2006/chart">
            <c:chart xmlns:c="http://schemas.openxmlformats.org/drawingml/2006/chart" xmlns:r="http://schemas.openxmlformats.org/officeDocument/2006/relationships" r:id="rId1"/>
          </a:graphicData>
        </a:graphic>
      </p:graphicFrame>
      <p:sp>
        <p:nvSpPr>
          <p:cNvPr id="17" name="标题 1"/>
          <p:cNvSpPr txBox="1"/>
          <p:nvPr/>
        </p:nvSpPr>
        <p:spPr>
          <a:xfrm>
            <a:off x="511755" y="256039"/>
            <a:ext cx="8229600" cy="423545"/>
          </a:xfrm>
          <a:prstGeom prst="rect">
            <a:avLst/>
          </a:prstGeom>
          <a:noFill/>
        </p:spPr>
        <p:txBody>
          <a:bodyPr vert="horz" wrap="square" lIns="91440" tIns="45720" rIns="91440" bIns="45720" rtlCol="0" anchor="ctr">
            <a:spAutoFit/>
          </a:bodyPr>
          <a:lstStyle>
            <a:defPPr>
              <a:defRPr lang="en-US"/>
            </a:defPPr>
            <a:lvl1pPr>
              <a:lnSpc>
                <a:spcPct val="90000"/>
              </a:lnSpc>
              <a:spcBef>
                <a:spcPct val="0"/>
              </a:spcBef>
              <a:buNone/>
              <a:defRPr sz="2800" b="1">
                <a:solidFill>
                  <a:srgbClr val="002B82"/>
                </a:solidFill>
                <a:latin typeface="微软雅黑" panose="020B0503020204020204" charset="-122"/>
                <a:ea typeface="微软雅黑" panose="020B0503020204020204" charset="-122"/>
              </a:defRPr>
            </a:lvl1pPr>
          </a:lstStyle>
          <a:p>
            <a:r>
              <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景林环球基金</a:t>
            </a:r>
            <a:r>
              <a:rPr lang="en-US" altLang="zh-CN"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 - </a:t>
            </a:r>
            <a:r>
              <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行业持仓分析</a:t>
            </a:r>
            <a:endPar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endParaRPr>
          </a:p>
        </p:txBody>
      </p:sp>
      <p:sp>
        <p:nvSpPr>
          <p:cNvPr id="8" name="文本框 7"/>
          <p:cNvSpPr txBox="1"/>
          <p:nvPr/>
        </p:nvSpPr>
        <p:spPr>
          <a:xfrm>
            <a:off x="6699250" y="3465830"/>
            <a:ext cx="5083810" cy="3151505"/>
          </a:xfrm>
          <a:prstGeom prst="rect">
            <a:avLst/>
          </a:prstGeom>
          <a:solidFill>
            <a:schemeClr val="bg1">
              <a:lumMod val="95000"/>
            </a:schemeClr>
          </a:solidFill>
        </p:spPr>
        <p:txBody>
          <a:bodyPr wrap="square" rtlCol="0">
            <a:noAutofit/>
          </a:bodyPr>
          <a:lstStyle/>
          <a:p>
            <a:pPr marL="171450" indent="-171450">
              <a:lnSpc>
                <a:spcPct val="150000"/>
              </a:lnSpc>
              <a:buFont typeface="Arial" panose="020B0604020202020204" pitchFamily="34" charset="0"/>
              <a:buChar char="•"/>
            </a:pPr>
            <a:r>
              <a:rPr lang="zh-CN" altLang="en-US" sz="1300" b="1" dirty="0" smtClean="0">
                <a:latin typeface="等线" panose="02010600030101010101" charset="-122"/>
                <a:ea typeface="等线" panose="02010600030101010101" charset="-122"/>
                <a:cs typeface="等线" panose="02010600030101010101" charset="-122"/>
                <a:sym typeface="+mn-ea"/>
              </a:rPr>
              <a:t>持仓行业以通讯服务、可选消费、信息技术（互联网）为主</a:t>
            </a:r>
            <a:r>
              <a:rPr lang="zh-CN" altLang="en-US" sz="1300" dirty="0" smtClean="0">
                <a:latin typeface="等线" panose="02010600030101010101" charset="-122"/>
                <a:ea typeface="等线" panose="02010600030101010101" charset="-122"/>
                <a:cs typeface="等线" panose="02010600030101010101" charset="-122"/>
                <a:sym typeface="+mn-ea"/>
              </a:rPr>
              <a:t>，多头部分和空头部分均在</a:t>
            </a:r>
            <a:r>
              <a:rPr lang="en-US" altLang="zh-CN" sz="1300" dirty="0" smtClean="0">
                <a:latin typeface="等线" panose="02010600030101010101" charset="-122"/>
                <a:ea typeface="等线" panose="02010600030101010101" charset="-122"/>
                <a:cs typeface="等线" panose="02010600030101010101" charset="-122"/>
                <a:sym typeface="+mn-ea"/>
              </a:rPr>
              <a:t>2022</a:t>
            </a:r>
            <a:r>
              <a:rPr lang="zh-CN" altLang="en-US" sz="1300" dirty="0" smtClean="0">
                <a:latin typeface="等线" panose="02010600030101010101" charset="-122"/>
                <a:ea typeface="等线" panose="02010600030101010101" charset="-122"/>
                <a:cs typeface="等线" panose="02010600030101010101" charset="-122"/>
                <a:sym typeface="+mn-ea"/>
              </a:rPr>
              <a:t>年加大仓位，空头增幅更大（降低净敞口到</a:t>
            </a:r>
            <a:r>
              <a:rPr lang="en-US" altLang="zh-CN" sz="1300" dirty="0" smtClean="0">
                <a:latin typeface="等线" panose="02010600030101010101" charset="-122"/>
                <a:ea typeface="等线" panose="02010600030101010101" charset="-122"/>
                <a:cs typeface="等线" panose="02010600030101010101" charset="-122"/>
                <a:sym typeface="+mn-ea"/>
              </a:rPr>
              <a:t>7</a:t>
            </a:r>
            <a:r>
              <a:rPr lang="zh-CN" altLang="en-US" sz="1300" dirty="0" smtClean="0">
                <a:latin typeface="等线" panose="02010600030101010101" charset="-122"/>
                <a:ea typeface="等线" panose="02010600030101010101" charset="-122"/>
                <a:cs typeface="等线" panose="02010600030101010101" charset="-122"/>
                <a:sym typeface="+mn-ea"/>
              </a:rPr>
              <a:t>成多），主要做空可选消费、必需消费、工业、材料等，有效控制了当年的回撤幅度。</a:t>
            </a:r>
            <a:endParaRPr lang="zh-CN" altLang="en-US" sz="1300" dirty="0" smtClean="0">
              <a:latin typeface="等线" panose="02010600030101010101" charset="-122"/>
              <a:ea typeface="等线" panose="02010600030101010101" charset="-122"/>
              <a:cs typeface="等线" panose="02010600030101010101" charset="-122"/>
              <a:sym typeface="+mn-ea"/>
            </a:endParaRPr>
          </a:p>
          <a:p>
            <a:pPr marL="171450" indent="-171450">
              <a:lnSpc>
                <a:spcPct val="150000"/>
              </a:lnSpc>
              <a:buFont typeface="Arial" panose="020B0604020202020204" pitchFamily="34" charset="0"/>
              <a:buChar char="•"/>
            </a:pPr>
            <a:endParaRPr lang="en-US" altLang="zh-CN" sz="1300" dirty="0" smtClean="0">
              <a:latin typeface="等线" panose="02010600030101010101" charset="-122"/>
              <a:ea typeface="等线" panose="02010600030101010101" charset="-122"/>
              <a:cs typeface="等线" panose="02010600030101010101" charset="-122"/>
              <a:sym typeface="+mn-ea"/>
            </a:endParaRPr>
          </a:p>
          <a:p>
            <a:pPr marL="171450" indent="-171450">
              <a:lnSpc>
                <a:spcPct val="150000"/>
              </a:lnSpc>
              <a:buFont typeface="Arial" panose="020B0604020202020204" pitchFamily="34" charset="0"/>
              <a:buChar char="•"/>
            </a:pPr>
            <a:r>
              <a:rPr lang="zh-CN" altLang="en-US" sz="1300" dirty="0" smtClean="0">
                <a:latin typeface="等线" panose="02010600030101010101" charset="-122"/>
                <a:ea typeface="等线" panose="02010600030101010101" charset="-122"/>
                <a:cs typeface="等线" panose="02010600030101010101" charset="-122"/>
              </a:rPr>
              <a:t>从</a:t>
            </a:r>
            <a:r>
              <a:rPr lang="en-US" altLang="zh-CN" sz="1300" dirty="0" smtClean="0">
                <a:latin typeface="等线" panose="02010600030101010101" charset="-122"/>
                <a:ea typeface="等线" panose="02010600030101010101" charset="-122"/>
                <a:cs typeface="等线" panose="02010600030101010101" charset="-122"/>
              </a:rPr>
              <a:t>2023</a:t>
            </a:r>
            <a:r>
              <a:rPr lang="zh-CN" altLang="en-US" sz="1300" dirty="0" smtClean="0">
                <a:latin typeface="等线" panose="02010600030101010101" charset="-122"/>
                <a:ea typeface="等线" panose="02010600030101010101" charset="-122"/>
                <a:cs typeface="等线" panose="02010600030101010101" charset="-122"/>
              </a:rPr>
              <a:t>年开始，减少了空头仓位，</a:t>
            </a:r>
            <a:r>
              <a:rPr lang="zh-CN" altLang="en-US" sz="1300" b="1" dirty="0" smtClean="0">
                <a:latin typeface="等线" panose="02010600030101010101" charset="-122"/>
                <a:ea typeface="等线" panose="02010600030101010101" charset="-122"/>
                <a:cs typeface="等线" panose="02010600030101010101" charset="-122"/>
              </a:rPr>
              <a:t>从</a:t>
            </a:r>
            <a:r>
              <a:rPr lang="en-US" altLang="zh-CN" sz="1300" b="1" dirty="0" smtClean="0">
                <a:latin typeface="等线" panose="02010600030101010101" charset="-122"/>
                <a:ea typeface="等线" panose="02010600030101010101" charset="-122"/>
                <a:cs typeface="等线" panose="02010600030101010101" charset="-122"/>
              </a:rPr>
              <a:t>2024</a:t>
            </a:r>
            <a:r>
              <a:rPr lang="zh-CN" altLang="en-US" sz="1300" b="1" dirty="0" smtClean="0">
                <a:latin typeface="等线" panose="02010600030101010101" charset="-122"/>
                <a:ea typeface="等线" panose="02010600030101010101" charset="-122"/>
                <a:cs typeface="等线" panose="02010600030101010101" charset="-122"/>
              </a:rPr>
              <a:t>年开始，总仓位降低，更加集中于核心行业的持仓。</a:t>
            </a:r>
            <a:endParaRPr lang="zh-CN" altLang="en-US" sz="1300" b="1" dirty="0" smtClean="0">
              <a:latin typeface="等线" panose="02010600030101010101" charset="-122"/>
              <a:ea typeface="等线" panose="02010600030101010101" charset="-122"/>
              <a:cs typeface="等线" panose="02010600030101010101" charset="-122"/>
            </a:endParaRPr>
          </a:p>
          <a:p>
            <a:pPr marL="171450" indent="-171450">
              <a:lnSpc>
                <a:spcPct val="150000"/>
              </a:lnSpc>
              <a:buFont typeface="Arial" panose="020B0604020202020204" pitchFamily="34" charset="0"/>
              <a:buChar char="•"/>
            </a:pPr>
            <a:endParaRPr lang="zh-CN" altLang="en-US" sz="1300" b="1" dirty="0" smtClean="0">
              <a:latin typeface="等线" panose="02010600030101010101" charset="-122"/>
              <a:ea typeface="等线" panose="02010600030101010101" charset="-122"/>
              <a:cs typeface="等线" panose="02010600030101010101" charset="-122"/>
            </a:endParaRPr>
          </a:p>
          <a:p>
            <a:pPr marL="171450" indent="-171450">
              <a:lnSpc>
                <a:spcPct val="150000"/>
              </a:lnSpc>
              <a:buFont typeface="Arial" panose="020B0604020202020204" pitchFamily="34" charset="0"/>
              <a:buChar char="•"/>
            </a:pPr>
            <a:r>
              <a:rPr lang="zh-CN" altLang="en-US" sz="1300" b="1" dirty="0" smtClean="0">
                <a:latin typeface="等线" panose="02010600030101010101" charset="-122"/>
                <a:ea typeface="等线" panose="02010600030101010101" charset="-122"/>
                <a:cs typeface="等线" panose="02010600030101010101" charset="-122"/>
              </a:rPr>
              <a:t>截至最新</a:t>
            </a:r>
            <a:r>
              <a:rPr lang="en-US" altLang="zh-CN" sz="1300" b="1" dirty="0" smtClean="0">
                <a:latin typeface="等线" panose="02010600030101010101" charset="-122"/>
                <a:ea typeface="等线" panose="02010600030101010101" charset="-122"/>
                <a:cs typeface="等线" panose="02010600030101010101" charset="-122"/>
              </a:rPr>
              <a:t>11</a:t>
            </a:r>
            <a:r>
              <a:rPr lang="zh-CN" altLang="en-US" sz="1300" b="1" dirty="0" smtClean="0">
                <a:latin typeface="等线" panose="02010600030101010101" charset="-122"/>
                <a:ea typeface="等线" panose="02010600030101010101" charset="-122"/>
                <a:cs typeface="等线" panose="02010600030101010101" charset="-122"/>
              </a:rPr>
              <a:t>月，多头部分，通讯服务</a:t>
            </a:r>
            <a:r>
              <a:rPr lang="en-US" altLang="zh-CN" sz="1300" b="1" dirty="0" smtClean="0">
                <a:latin typeface="等线" panose="02010600030101010101" charset="-122"/>
                <a:ea typeface="等线" panose="02010600030101010101" charset="-122"/>
                <a:cs typeface="等线" panose="02010600030101010101" charset="-122"/>
              </a:rPr>
              <a:t>32%</a:t>
            </a:r>
            <a:r>
              <a:rPr lang="zh-CN" altLang="en-US" sz="1300" b="1" dirty="0" smtClean="0">
                <a:latin typeface="等线" panose="02010600030101010101" charset="-122"/>
                <a:ea typeface="等线" panose="02010600030101010101" charset="-122"/>
                <a:cs typeface="等线" panose="02010600030101010101" charset="-122"/>
              </a:rPr>
              <a:t>、信息技术</a:t>
            </a:r>
            <a:r>
              <a:rPr lang="en-US" altLang="zh-CN" sz="1300" b="1" dirty="0" smtClean="0">
                <a:latin typeface="等线" panose="02010600030101010101" charset="-122"/>
                <a:ea typeface="等线" panose="02010600030101010101" charset="-122"/>
                <a:cs typeface="等线" panose="02010600030101010101" charset="-122"/>
              </a:rPr>
              <a:t>22%</a:t>
            </a:r>
            <a:r>
              <a:rPr lang="zh-CN" altLang="en-US" sz="1300" b="1" dirty="0" smtClean="0">
                <a:latin typeface="等线" panose="02010600030101010101" charset="-122"/>
                <a:ea typeface="等线" panose="02010600030101010101" charset="-122"/>
                <a:cs typeface="等线" panose="02010600030101010101" charset="-122"/>
              </a:rPr>
              <a:t>、可选消费</a:t>
            </a:r>
            <a:r>
              <a:rPr lang="en-US" altLang="zh-CN" sz="1300" b="1" dirty="0" smtClean="0">
                <a:latin typeface="等线" panose="02010600030101010101" charset="-122"/>
                <a:ea typeface="等线" panose="02010600030101010101" charset="-122"/>
                <a:cs typeface="等线" panose="02010600030101010101" charset="-122"/>
              </a:rPr>
              <a:t>21%</a:t>
            </a:r>
            <a:r>
              <a:rPr lang="zh-CN" altLang="en-US" sz="1300" b="1" dirty="0" smtClean="0">
                <a:latin typeface="等线" panose="02010600030101010101" charset="-122"/>
                <a:ea typeface="等线" panose="02010600030101010101" charset="-122"/>
                <a:cs typeface="等线" panose="02010600030101010101" charset="-122"/>
              </a:rPr>
              <a:t>、工业</a:t>
            </a:r>
            <a:r>
              <a:rPr lang="en-US" altLang="zh-CN" sz="1300" b="1" dirty="0" smtClean="0">
                <a:latin typeface="等线" panose="02010600030101010101" charset="-122"/>
                <a:ea typeface="等线" panose="02010600030101010101" charset="-122"/>
                <a:cs typeface="等线" panose="02010600030101010101" charset="-122"/>
              </a:rPr>
              <a:t>11%</a:t>
            </a:r>
            <a:r>
              <a:rPr lang="zh-CN" altLang="en-US" sz="1300" b="1" dirty="0" smtClean="0">
                <a:latin typeface="等线" panose="02010600030101010101" charset="-122"/>
                <a:ea typeface="等线" panose="02010600030101010101" charset="-122"/>
                <a:cs typeface="等线" panose="02010600030101010101" charset="-122"/>
              </a:rPr>
              <a:t>、其他</a:t>
            </a:r>
            <a:r>
              <a:rPr lang="en-US" altLang="zh-CN" sz="1300" b="1" dirty="0" smtClean="0">
                <a:latin typeface="等线" panose="02010600030101010101" charset="-122"/>
                <a:ea typeface="等线" panose="02010600030101010101" charset="-122"/>
                <a:cs typeface="等线" panose="02010600030101010101" charset="-122"/>
              </a:rPr>
              <a:t>9%</a:t>
            </a:r>
            <a:r>
              <a:rPr lang="zh-CN" altLang="en-US" sz="1300" b="1" dirty="0" smtClean="0">
                <a:latin typeface="等线" panose="02010600030101010101" charset="-122"/>
                <a:ea typeface="等线" panose="02010600030101010101" charset="-122"/>
                <a:cs typeface="等线" panose="02010600030101010101" charset="-122"/>
              </a:rPr>
              <a:t>；空头部分以可选消费为主，占比</a:t>
            </a:r>
            <a:r>
              <a:rPr lang="en-US" altLang="zh-CN" sz="1300" b="1" dirty="0" smtClean="0">
                <a:latin typeface="等线" panose="02010600030101010101" charset="-122"/>
                <a:ea typeface="等线" panose="02010600030101010101" charset="-122"/>
                <a:cs typeface="等线" panose="02010600030101010101" charset="-122"/>
              </a:rPr>
              <a:t>-10%</a:t>
            </a:r>
            <a:r>
              <a:rPr lang="zh-CN" altLang="en-US" sz="1300" b="1" dirty="0" smtClean="0">
                <a:latin typeface="等线" panose="02010600030101010101" charset="-122"/>
                <a:ea typeface="等线" panose="02010600030101010101" charset="-122"/>
                <a:cs typeface="等线" panose="02010600030101010101" charset="-122"/>
              </a:rPr>
              <a:t>。</a:t>
            </a:r>
            <a:endParaRPr lang="zh-CN" altLang="en-US" sz="1300" b="1" dirty="0" smtClean="0">
              <a:latin typeface="等线" panose="02010600030101010101" charset="-122"/>
              <a:ea typeface="等线" panose="02010600030101010101" charset="-122"/>
              <a:cs typeface="等线" panose="02010600030101010101" charset="-122"/>
            </a:endParaRPr>
          </a:p>
        </p:txBody>
      </p:sp>
      <p:sp>
        <p:nvSpPr>
          <p:cNvPr id="117" name="文本框 116"/>
          <p:cNvSpPr txBox="1"/>
          <p:nvPr/>
        </p:nvSpPr>
        <p:spPr>
          <a:xfrm>
            <a:off x="538480" y="6506210"/>
            <a:ext cx="5507990" cy="229870"/>
          </a:xfrm>
          <a:prstGeom prst="rect">
            <a:avLst/>
          </a:prstGeom>
          <a:noFill/>
        </p:spPr>
        <p:txBody>
          <a:bodyPr wrap="square" rtlCol="0">
            <a:spAutoFit/>
          </a:bodyPr>
          <a:lstStyle/>
          <a:p>
            <a:pPr algn="l">
              <a:buClrTx/>
              <a:buSzTx/>
              <a:buFontTx/>
            </a:pPr>
            <a:r>
              <a:rPr lang="zh-CN" altLang="en-US" sz="900" i="1" dirty="0">
                <a:latin typeface="微软雅黑" panose="020B0503020204020204" charset="-122"/>
                <a:ea typeface="微软雅黑" panose="020B0503020204020204" charset="-122"/>
                <a:cs typeface="微软雅黑" panose="020B0503020204020204" charset="-122"/>
              </a:rPr>
              <a:t>数据口径：</a:t>
            </a:r>
            <a:r>
              <a:rPr lang="zh-CN" altLang="en-US" sz="900" i="1" dirty="0" err="1" smtClean="0">
                <a:latin typeface="微软雅黑" panose="020B0503020204020204" charset="-122"/>
                <a:ea typeface="微软雅黑" panose="020B0503020204020204" charset="-122"/>
                <a:cs typeface="微软雅黑" panose="020B0503020204020204" charset="-122"/>
                <a:sym typeface="+mn-ea"/>
              </a:rPr>
              <a:t>根据</a:t>
            </a:r>
            <a:r>
              <a:rPr lang="en-US" altLang="zh-CN" sz="900" i="1" dirty="0" err="1" smtClean="0">
                <a:latin typeface="微软雅黑" panose="020B0503020204020204" charset="-122"/>
                <a:ea typeface="微软雅黑" panose="020B0503020204020204" charset="-122"/>
                <a:cs typeface="微软雅黑" panose="020B0503020204020204" charset="-122"/>
                <a:sym typeface="+mn-ea"/>
              </a:rPr>
              <a:t>GICS Sector</a:t>
            </a:r>
            <a:r>
              <a:rPr lang="zh-CN" altLang="en-US" sz="900" i="1" dirty="0" err="1" smtClean="0">
                <a:latin typeface="微软雅黑" panose="020B0503020204020204" charset="-122"/>
                <a:ea typeface="微软雅黑" panose="020B0503020204020204" charset="-122"/>
                <a:cs typeface="微软雅黑" panose="020B0503020204020204" charset="-122"/>
                <a:sym typeface="+mn-ea"/>
              </a:rPr>
              <a:t>；数据来源：景林</a:t>
            </a:r>
            <a:endParaRPr lang="zh-CN" altLang="en-US" sz="900" i="1" dirty="0" err="1" smtClean="0">
              <a:latin typeface="微软雅黑" panose="020B0503020204020204" charset="-122"/>
              <a:ea typeface="微软雅黑" panose="020B0503020204020204" charset="-122"/>
              <a:cs typeface="微软雅黑" panose="020B0503020204020204" charset="-122"/>
              <a:sym typeface="+mn-ea"/>
            </a:endParaRPr>
          </a:p>
        </p:txBody>
      </p:sp>
      <p:graphicFrame>
        <p:nvGraphicFramePr>
          <p:cNvPr id="5" name="图表 4"/>
          <p:cNvGraphicFramePr/>
          <p:nvPr/>
        </p:nvGraphicFramePr>
        <p:xfrm>
          <a:off x="456565" y="3940175"/>
          <a:ext cx="5890260" cy="2677160"/>
        </p:xfrm>
        <a:graphic>
          <a:graphicData uri="http://schemas.openxmlformats.org/drawingml/2006/chart">
            <c:chart xmlns:c="http://schemas.openxmlformats.org/drawingml/2006/chart" xmlns:r="http://schemas.openxmlformats.org/officeDocument/2006/relationships" r:id="rId2"/>
          </a:graphicData>
        </a:graphic>
      </p:graphicFrame>
      <p:sp>
        <p:nvSpPr>
          <p:cNvPr id="7" name="文本框 6"/>
          <p:cNvSpPr txBox="1"/>
          <p:nvPr/>
        </p:nvSpPr>
        <p:spPr>
          <a:xfrm>
            <a:off x="998855" y="1169670"/>
            <a:ext cx="952500" cy="318135"/>
          </a:xfrm>
          <a:prstGeom prst="rect">
            <a:avLst/>
          </a:prstGeom>
          <a:noFill/>
        </p:spPr>
        <p:txBody>
          <a:bodyPr wrap="square" rtlCol="0" anchor="t">
            <a:noAutofit/>
          </a:bodyPr>
          <a:lstStyle/>
          <a:p>
            <a:pPr algn="ctr"/>
            <a:r>
              <a:rPr lang="zh-CN" altLang="en-US" sz="1200" b="1" dirty="0" smtClean="0">
                <a:solidFill>
                  <a:srgbClr val="FF0000"/>
                </a:solidFill>
                <a:latin typeface="等线" panose="02010600030101010101" charset="-122"/>
                <a:ea typeface="等线" panose="02010600030101010101" charset="-122"/>
                <a:cs typeface="等线" panose="02010600030101010101" charset="-122"/>
                <a:sym typeface="+mn-ea"/>
              </a:rPr>
              <a:t>多头部分</a:t>
            </a:r>
            <a:endParaRPr lang="zh-CN" altLang="en-US" sz="1200" b="1" dirty="0" smtClean="0">
              <a:solidFill>
                <a:srgbClr val="FF0000"/>
              </a:solidFill>
              <a:latin typeface="等线" panose="02010600030101010101" charset="-122"/>
              <a:ea typeface="等线" panose="02010600030101010101" charset="-122"/>
              <a:cs typeface="等线" panose="02010600030101010101" charset="-122"/>
              <a:sym typeface="+mn-ea"/>
            </a:endParaRPr>
          </a:p>
        </p:txBody>
      </p:sp>
      <p:sp>
        <p:nvSpPr>
          <p:cNvPr id="9" name="文本框 8"/>
          <p:cNvSpPr txBox="1"/>
          <p:nvPr/>
        </p:nvSpPr>
        <p:spPr>
          <a:xfrm>
            <a:off x="998855" y="5760085"/>
            <a:ext cx="952500" cy="318135"/>
          </a:xfrm>
          <a:prstGeom prst="rect">
            <a:avLst/>
          </a:prstGeom>
          <a:noFill/>
        </p:spPr>
        <p:txBody>
          <a:bodyPr wrap="square" rtlCol="0" anchor="t">
            <a:noAutofit/>
          </a:bodyPr>
          <a:lstStyle/>
          <a:p>
            <a:pPr algn="ctr"/>
            <a:r>
              <a:rPr lang="zh-CN" altLang="en-US" sz="1200" b="1" dirty="0" smtClean="0">
                <a:solidFill>
                  <a:srgbClr val="FF0000"/>
                </a:solidFill>
                <a:latin typeface="等线" panose="02010600030101010101" charset="-122"/>
                <a:ea typeface="等线" panose="02010600030101010101" charset="-122"/>
                <a:cs typeface="等线" panose="02010600030101010101" charset="-122"/>
                <a:sym typeface="+mn-ea"/>
              </a:rPr>
              <a:t>空头部分</a:t>
            </a:r>
            <a:endParaRPr lang="zh-CN" altLang="en-US" sz="1200" b="1" dirty="0" smtClean="0">
              <a:solidFill>
                <a:srgbClr val="FF0000"/>
              </a:solidFill>
              <a:latin typeface="等线" panose="02010600030101010101" charset="-122"/>
              <a:ea typeface="等线" panose="02010600030101010101" charset="-122"/>
              <a:cs typeface="等线" panose="02010600030101010101" charset="-122"/>
              <a:sym typeface="+mn-ea"/>
            </a:endParaRPr>
          </a:p>
        </p:txBody>
      </p:sp>
      <p:sp>
        <p:nvSpPr>
          <p:cNvPr id="10" name="文本框 9"/>
          <p:cNvSpPr txBox="1"/>
          <p:nvPr/>
        </p:nvSpPr>
        <p:spPr>
          <a:xfrm>
            <a:off x="1782445" y="3150870"/>
            <a:ext cx="952500" cy="318135"/>
          </a:xfrm>
          <a:prstGeom prst="rect">
            <a:avLst/>
          </a:prstGeom>
          <a:noFill/>
        </p:spPr>
        <p:txBody>
          <a:bodyPr wrap="square" rtlCol="0" anchor="t">
            <a:noAutofit/>
          </a:bodyPr>
          <a:lstStyle/>
          <a:p>
            <a:pPr algn="ctr"/>
            <a:r>
              <a:rPr lang="zh-CN" altLang="en-US" sz="1400" b="1" dirty="0" smtClean="0">
                <a:solidFill>
                  <a:schemeClr val="bg1"/>
                </a:solidFill>
                <a:latin typeface="等线" panose="02010600030101010101" charset="-122"/>
                <a:ea typeface="等线" panose="02010600030101010101" charset="-122"/>
                <a:cs typeface="等线" panose="02010600030101010101" charset="-122"/>
                <a:sym typeface="+mn-ea"/>
              </a:rPr>
              <a:t>通讯服务</a:t>
            </a:r>
            <a:endParaRPr lang="zh-CN" altLang="en-US" sz="1400" b="1" dirty="0" smtClean="0">
              <a:solidFill>
                <a:schemeClr val="bg1"/>
              </a:solidFill>
              <a:latin typeface="等线" panose="02010600030101010101" charset="-122"/>
              <a:ea typeface="等线" panose="02010600030101010101" charset="-122"/>
              <a:cs typeface="等线" panose="02010600030101010101" charset="-122"/>
              <a:sym typeface="+mn-ea"/>
            </a:endParaRPr>
          </a:p>
        </p:txBody>
      </p:sp>
      <p:sp>
        <p:nvSpPr>
          <p:cNvPr id="11" name="文本框 10"/>
          <p:cNvSpPr txBox="1"/>
          <p:nvPr/>
        </p:nvSpPr>
        <p:spPr>
          <a:xfrm>
            <a:off x="2059305" y="2696845"/>
            <a:ext cx="952500" cy="318135"/>
          </a:xfrm>
          <a:prstGeom prst="rect">
            <a:avLst/>
          </a:prstGeom>
          <a:noFill/>
        </p:spPr>
        <p:txBody>
          <a:bodyPr wrap="square" rtlCol="0" anchor="t">
            <a:noAutofit/>
          </a:bodyPr>
          <a:lstStyle/>
          <a:p>
            <a:pPr algn="ctr"/>
            <a:r>
              <a:rPr lang="zh-CN" altLang="en-US" sz="1400" b="1" dirty="0" smtClean="0">
                <a:solidFill>
                  <a:schemeClr val="bg1"/>
                </a:solidFill>
                <a:latin typeface="等线" panose="02010600030101010101" charset="-122"/>
                <a:ea typeface="等线" panose="02010600030101010101" charset="-122"/>
                <a:cs typeface="等线" panose="02010600030101010101" charset="-122"/>
                <a:sym typeface="+mn-ea"/>
              </a:rPr>
              <a:t>可选消费</a:t>
            </a:r>
            <a:endParaRPr lang="zh-CN" altLang="en-US" sz="1400" b="1" dirty="0" smtClean="0">
              <a:solidFill>
                <a:schemeClr val="bg1"/>
              </a:solidFill>
              <a:latin typeface="等线" panose="02010600030101010101" charset="-122"/>
              <a:ea typeface="等线" panose="02010600030101010101" charset="-122"/>
              <a:cs typeface="等线" panose="02010600030101010101" charset="-122"/>
              <a:sym typeface="+mn-ea"/>
            </a:endParaRPr>
          </a:p>
        </p:txBody>
      </p:sp>
      <p:sp>
        <p:nvSpPr>
          <p:cNvPr id="12" name="文本框 11"/>
          <p:cNvSpPr txBox="1"/>
          <p:nvPr/>
        </p:nvSpPr>
        <p:spPr>
          <a:xfrm>
            <a:off x="2734945" y="2432050"/>
            <a:ext cx="952500" cy="318135"/>
          </a:xfrm>
          <a:prstGeom prst="rect">
            <a:avLst/>
          </a:prstGeom>
          <a:noFill/>
        </p:spPr>
        <p:txBody>
          <a:bodyPr wrap="square" rtlCol="0" anchor="t">
            <a:noAutofit/>
          </a:bodyPr>
          <a:lstStyle/>
          <a:p>
            <a:pPr algn="ctr"/>
            <a:r>
              <a:rPr lang="zh-CN" altLang="en-US" sz="1400" b="1" dirty="0" smtClean="0">
                <a:solidFill>
                  <a:schemeClr val="bg1"/>
                </a:solidFill>
                <a:latin typeface="等线" panose="02010600030101010101" charset="-122"/>
                <a:ea typeface="等线" panose="02010600030101010101" charset="-122"/>
                <a:cs typeface="等线" panose="02010600030101010101" charset="-122"/>
                <a:sym typeface="+mn-ea"/>
              </a:rPr>
              <a:t>信息技术</a:t>
            </a:r>
            <a:endParaRPr lang="zh-CN" altLang="en-US" sz="1400" b="1" dirty="0" smtClean="0">
              <a:solidFill>
                <a:schemeClr val="bg1"/>
              </a:solidFill>
              <a:latin typeface="等线" panose="02010600030101010101" charset="-122"/>
              <a:ea typeface="等线" panose="02010600030101010101" charset="-122"/>
              <a:cs typeface="等线" panose="02010600030101010101" charset="-122"/>
              <a:sym typeface="+mn-ea"/>
            </a:endParaRPr>
          </a:p>
        </p:txBody>
      </p:sp>
      <p:sp>
        <p:nvSpPr>
          <p:cNvPr id="14" name="文本框 13"/>
          <p:cNvSpPr txBox="1"/>
          <p:nvPr/>
        </p:nvSpPr>
        <p:spPr>
          <a:xfrm>
            <a:off x="3338195" y="2130425"/>
            <a:ext cx="952500" cy="318135"/>
          </a:xfrm>
          <a:prstGeom prst="rect">
            <a:avLst/>
          </a:prstGeom>
          <a:noFill/>
        </p:spPr>
        <p:txBody>
          <a:bodyPr wrap="square" rtlCol="0" anchor="t">
            <a:noAutofit/>
          </a:bodyPr>
          <a:lstStyle/>
          <a:p>
            <a:pPr algn="ctr"/>
            <a:r>
              <a:rPr lang="zh-CN" altLang="en-US" sz="1400" b="1" dirty="0" smtClean="0">
                <a:solidFill>
                  <a:schemeClr val="bg1"/>
                </a:solidFill>
                <a:latin typeface="等线" panose="02010600030101010101" charset="-122"/>
                <a:ea typeface="等线" panose="02010600030101010101" charset="-122"/>
                <a:cs typeface="等线" panose="02010600030101010101" charset="-122"/>
                <a:sym typeface="+mn-ea"/>
              </a:rPr>
              <a:t>工业</a:t>
            </a:r>
            <a:endParaRPr lang="zh-CN" altLang="en-US" sz="1400" b="1" dirty="0" smtClean="0">
              <a:solidFill>
                <a:schemeClr val="bg1"/>
              </a:solidFill>
              <a:latin typeface="等线" panose="02010600030101010101" charset="-122"/>
              <a:ea typeface="等线" panose="02010600030101010101" charset="-122"/>
              <a:cs typeface="等线" panose="02010600030101010101" charset="-122"/>
              <a:sym typeface="+mn-ea"/>
            </a:endParaRPr>
          </a:p>
        </p:txBody>
      </p:sp>
      <p:sp>
        <p:nvSpPr>
          <p:cNvPr id="15" name="文本框 14"/>
          <p:cNvSpPr txBox="1"/>
          <p:nvPr/>
        </p:nvSpPr>
        <p:spPr>
          <a:xfrm>
            <a:off x="2971800" y="1766570"/>
            <a:ext cx="952500" cy="318135"/>
          </a:xfrm>
          <a:prstGeom prst="rect">
            <a:avLst/>
          </a:prstGeom>
          <a:noFill/>
        </p:spPr>
        <p:txBody>
          <a:bodyPr wrap="square" rtlCol="0" anchor="t">
            <a:noAutofit/>
          </a:bodyPr>
          <a:lstStyle/>
          <a:p>
            <a:pPr algn="ctr"/>
            <a:r>
              <a:rPr lang="zh-CN" altLang="en-US" sz="1400" b="1" dirty="0" smtClean="0">
                <a:solidFill>
                  <a:schemeClr val="bg1"/>
                </a:solidFill>
                <a:latin typeface="等线" panose="02010600030101010101" charset="-122"/>
                <a:ea typeface="等线" panose="02010600030101010101" charset="-122"/>
                <a:cs typeface="等线" panose="02010600030101010101" charset="-122"/>
                <a:sym typeface="+mn-ea"/>
              </a:rPr>
              <a:t>指数</a:t>
            </a:r>
            <a:r>
              <a:rPr lang="en-US" altLang="zh-CN" sz="1400" b="1" dirty="0" smtClean="0">
                <a:solidFill>
                  <a:schemeClr val="bg1"/>
                </a:solidFill>
                <a:latin typeface="等线" panose="02010600030101010101" charset="-122"/>
                <a:ea typeface="等线" panose="02010600030101010101" charset="-122"/>
                <a:cs typeface="等线" panose="02010600030101010101" charset="-122"/>
                <a:sym typeface="+mn-ea"/>
              </a:rPr>
              <a:t>/ETF</a:t>
            </a:r>
            <a:endParaRPr lang="en-US" altLang="zh-CN" sz="1400" b="1" dirty="0" smtClean="0">
              <a:solidFill>
                <a:schemeClr val="bg1"/>
              </a:solidFill>
              <a:latin typeface="等线" panose="02010600030101010101" charset="-122"/>
              <a:ea typeface="等线" panose="02010600030101010101" charset="-122"/>
              <a:cs typeface="等线" panose="02010600030101010101" charset="-122"/>
              <a:sym typeface="+mn-ea"/>
            </a:endParaRPr>
          </a:p>
        </p:txBody>
      </p:sp>
      <p:sp>
        <p:nvSpPr>
          <p:cNvPr id="16" name="文本框 15"/>
          <p:cNvSpPr txBox="1"/>
          <p:nvPr/>
        </p:nvSpPr>
        <p:spPr>
          <a:xfrm>
            <a:off x="2734945" y="4359275"/>
            <a:ext cx="952500" cy="318135"/>
          </a:xfrm>
          <a:prstGeom prst="rect">
            <a:avLst/>
          </a:prstGeom>
          <a:noFill/>
        </p:spPr>
        <p:txBody>
          <a:bodyPr wrap="square" rtlCol="0" anchor="t">
            <a:noAutofit/>
          </a:bodyPr>
          <a:lstStyle/>
          <a:p>
            <a:pPr algn="ctr"/>
            <a:r>
              <a:rPr lang="zh-CN" altLang="en-US" sz="1400" b="1" dirty="0" smtClean="0">
                <a:solidFill>
                  <a:schemeClr val="bg1"/>
                </a:solidFill>
                <a:latin typeface="等线" panose="02010600030101010101" charset="-122"/>
                <a:ea typeface="等线" panose="02010600030101010101" charset="-122"/>
                <a:cs typeface="等线" panose="02010600030101010101" charset="-122"/>
                <a:sym typeface="+mn-ea"/>
              </a:rPr>
              <a:t>可选消费</a:t>
            </a:r>
            <a:endParaRPr lang="zh-CN" altLang="en-US" sz="1400" b="1" dirty="0" smtClean="0">
              <a:solidFill>
                <a:schemeClr val="bg1"/>
              </a:solidFill>
              <a:latin typeface="等线" panose="02010600030101010101" charset="-122"/>
              <a:ea typeface="等线" panose="02010600030101010101" charset="-122"/>
              <a:cs typeface="等线" panose="02010600030101010101" charset="-122"/>
              <a:sym typeface="+mn-ea"/>
            </a:endParaRPr>
          </a:p>
        </p:txBody>
      </p:sp>
      <p:sp>
        <p:nvSpPr>
          <p:cNvPr id="18" name="文本框 17"/>
          <p:cNvSpPr txBox="1"/>
          <p:nvPr/>
        </p:nvSpPr>
        <p:spPr>
          <a:xfrm>
            <a:off x="2734945" y="4799965"/>
            <a:ext cx="952500" cy="318135"/>
          </a:xfrm>
          <a:prstGeom prst="rect">
            <a:avLst/>
          </a:prstGeom>
          <a:noFill/>
        </p:spPr>
        <p:txBody>
          <a:bodyPr wrap="square" rtlCol="0" anchor="t">
            <a:noAutofit/>
          </a:bodyPr>
          <a:lstStyle/>
          <a:p>
            <a:pPr algn="ctr"/>
            <a:r>
              <a:rPr lang="zh-CN" altLang="en-US" sz="1400" b="1" dirty="0" smtClean="0">
                <a:solidFill>
                  <a:schemeClr val="bg1"/>
                </a:solidFill>
                <a:latin typeface="等线" panose="02010600030101010101" charset="-122"/>
                <a:ea typeface="等线" panose="02010600030101010101" charset="-122"/>
                <a:cs typeface="等线" panose="02010600030101010101" charset="-122"/>
                <a:sym typeface="+mn-ea"/>
              </a:rPr>
              <a:t>必需消费</a:t>
            </a:r>
            <a:endParaRPr lang="zh-CN" altLang="en-US" sz="1400" b="1" dirty="0" smtClean="0">
              <a:solidFill>
                <a:schemeClr val="bg1"/>
              </a:solidFill>
              <a:latin typeface="等线" panose="02010600030101010101" charset="-122"/>
              <a:ea typeface="等线" panose="02010600030101010101" charset="-122"/>
              <a:cs typeface="等线" panose="02010600030101010101" charset="-122"/>
              <a:sym typeface="+mn-ea"/>
            </a:endParaRPr>
          </a:p>
        </p:txBody>
      </p:sp>
      <p:sp>
        <p:nvSpPr>
          <p:cNvPr id="19" name="文本框 18"/>
          <p:cNvSpPr txBox="1"/>
          <p:nvPr/>
        </p:nvSpPr>
        <p:spPr>
          <a:xfrm>
            <a:off x="3298190" y="4925695"/>
            <a:ext cx="952500" cy="318135"/>
          </a:xfrm>
          <a:prstGeom prst="rect">
            <a:avLst/>
          </a:prstGeom>
          <a:noFill/>
        </p:spPr>
        <p:txBody>
          <a:bodyPr wrap="square" rtlCol="0" anchor="t">
            <a:noAutofit/>
          </a:bodyPr>
          <a:lstStyle/>
          <a:p>
            <a:pPr algn="ctr"/>
            <a:r>
              <a:rPr lang="zh-CN" altLang="en-US" sz="1400" b="1" dirty="0" smtClean="0">
                <a:solidFill>
                  <a:schemeClr val="bg1"/>
                </a:solidFill>
                <a:latin typeface="等线" panose="02010600030101010101" charset="-122"/>
                <a:ea typeface="等线" panose="02010600030101010101" charset="-122"/>
                <a:cs typeface="等线" panose="02010600030101010101" charset="-122"/>
                <a:sym typeface="+mn-ea"/>
              </a:rPr>
              <a:t>工业</a:t>
            </a:r>
            <a:endParaRPr lang="zh-CN" altLang="en-US" sz="1400" b="1" dirty="0" smtClean="0">
              <a:solidFill>
                <a:schemeClr val="bg1"/>
              </a:solidFill>
              <a:latin typeface="等线" panose="02010600030101010101" charset="-122"/>
              <a:ea typeface="等线" panose="02010600030101010101" charset="-122"/>
              <a:cs typeface="等线" panose="02010600030101010101" charset="-122"/>
              <a:sym typeface="+mn-ea"/>
            </a:endParaRPr>
          </a:p>
        </p:txBody>
      </p:sp>
      <p:sp>
        <p:nvSpPr>
          <p:cNvPr id="20" name="文本框 19"/>
          <p:cNvSpPr txBox="1"/>
          <p:nvPr/>
        </p:nvSpPr>
        <p:spPr>
          <a:xfrm>
            <a:off x="2205990" y="5112385"/>
            <a:ext cx="952500" cy="318135"/>
          </a:xfrm>
          <a:prstGeom prst="rect">
            <a:avLst/>
          </a:prstGeom>
          <a:noFill/>
        </p:spPr>
        <p:txBody>
          <a:bodyPr wrap="square" rtlCol="0" anchor="t">
            <a:noAutofit/>
          </a:bodyPr>
          <a:lstStyle/>
          <a:p>
            <a:pPr algn="ctr"/>
            <a:r>
              <a:rPr lang="zh-CN" altLang="en-US" sz="1400" b="1" dirty="0" smtClean="0">
                <a:solidFill>
                  <a:schemeClr val="bg1"/>
                </a:solidFill>
                <a:latin typeface="等线" panose="02010600030101010101" charset="-122"/>
                <a:ea typeface="等线" panose="02010600030101010101" charset="-122"/>
                <a:cs typeface="等线" panose="02010600030101010101" charset="-122"/>
                <a:sym typeface="+mn-ea"/>
              </a:rPr>
              <a:t>材料</a:t>
            </a:r>
            <a:endParaRPr lang="zh-CN" altLang="en-US" sz="1400" b="1" dirty="0" smtClean="0">
              <a:solidFill>
                <a:schemeClr val="bg1"/>
              </a:solidFill>
              <a:latin typeface="等线" panose="02010600030101010101" charset="-122"/>
              <a:ea typeface="等线" panose="02010600030101010101" charset="-122"/>
              <a:cs typeface="等线" panose="02010600030101010101" charset="-122"/>
              <a:sym typeface="+mn-ea"/>
            </a:endParaRPr>
          </a:p>
        </p:txBody>
      </p:sp>
      <p:graphicFrame>
        <p:nvGraphicFramePr>
          <p:cNvPr id="6" name="图表 5"/>
          <p:cNvGraphicFramePr/>
          <p:nvPr/>
        </p:nvGraphicFramePr>
        <p:xfrm>
          <a:off x="6510020" y="255905"/>
          <a:ext cx="5064760" cy="2971165"/>
        </p:xfrm>
        <a:graphic>
          <a:graphicData uri="http://schemas.openxmlformats.org/drawingml/2006/chart">
            <c:chart xmlns:c="http://schemas.openxmlformats.org/drawingml/2006/chart" xmlns:r="http://schemas.openxmlformats.org/officeDocument/2006/relationships" r:id="rId3"/>
          </a:graphicData>
        </a:graphic>
      </p:graphicFrame>
      <p:sp>
        <p:nvSpPr>
          <p:cNvPr id="22" name="文本框 21"/>
          <p:cNvSpPr txBox="1"/>
          <p:nvPr/>
        </p:nvSpPr>
        <p:spPr>
          <a:xfrm>
            <a:off x="7667625" y="679450"/>
            <a:ext cx="2372995" cy="289560"/>
          </a:xfrm>
          <a:prstGeom prst="rect">
            <a:avLst/>
          </a:prstGeom>
          <a:noFill/>
        </p:spPr>
        <p:txBody>
          <a:bodyPr wrap="square" rtlCol="0" anchor="t">
            <a:noAutofit/>
          </a:bodyPr>
          <a:lstStyle/>
          <a:p>
            <a:pPr algn="ctr"/>
            <a:r>
              <a:rPr lang="zh-CN" sz="1200" b="1" dirty="0" smtClean="0">
                <a:solidFill>
                  <a:srgbClr val="FF0000"/>
                </a:solidFill>
                <a:latin typeface="等线" panose="02010600030101010101" charset="-122"/>
                <a:ea typeface="等线" panose="02010600030101010101" charset="-122"/>
                <a:cs typeface="等线" panose="02010600030101010101" charset="-122"/>
                <a:sym typeface="+mn-ea"/>
              </a:rPr>
              <a:t>总体来说，行业贡献较为多样，</a:t>
            </a:r>
            <a:endParaRPr lang="zh-CN" sz="1200" b="1" dirty="0" smtClean="0">
              <a:solidFill>
                <a:srgbClr val="FF0000"/>
              </a:solidFill>
              <a:latin typeface="等线" panose="02010600030101010101" charset="-122"/>
              <a:ea typeface="等线" panose="02010600030101010101" charset="-122"/>
              <a:cs typeface="等线" panose="02010600030101010101" charset="-122"/>
              <a:sym typeface="+mn-ea"/>
            </a:endParaRPr>
          </a:p>
          <a:p>
            <a:pPr algn="ctr"/>
            <a:r>
              <a:rPr lang="zh-CN" sz="1200" b="1" dirty="0" smtClean="0">
                <a:solidFill>
                  <a:srgbClr val="FF0000"/>
                </a:solidFill>
                <a:latin typeface="等线" panose="02010600030101010101" charset="-122"/>
                <a:ea typeface="等线" panose="02010600030101010101" charset="-122"/>
                <a:cs typeface="等线" panose="02010600030101010101" charset="-122"/>
                <a:sym typeface="+mn-ea"/>
              </a:rPr>
              <a:t>持仓周期较长，盈亏同源</a:t>
            </a:r>
            <a:endParaRPr lang="zh-CN" sz="1200" b="1" dirty="0" smtClean="0">
              <a:solidFill>
                <a:srgbClr val="FF0000"/>
              </a:solidFill>
              <a:latin typeface="等线" panose="02010600030101010101" charset="-122"/>
              <a:ea typeface="等线" panose="02010600030101010101" charset="-122"/>
              <a:cs typeface="等线" panose="02010600030101010101"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
          <p:cNvSpPr txBox="1"/>
          <p:nvPr/>
        </p:nvSpPr>
        <p:spPr>
          <a:xfrm>
            <a:off x="511755" y="256039"/>
            <a:ext cx="8229600" cy="423545"/>
          </a:xfrm>
          <a:prstGeom prst="rect">
            <a:avLst/>
          </a:prstGeom>
          <a:noFill/>
        </p:spPr>
        <p:txBody>
          <a:bodyPr vert="horz" wrap="square" lIns="91440" tIns="45720" rIns="91440" bIns="45720" rtlCol="0" anchor="ctr">
            <a:spAutoFit/>
          </a:bodyPr>
          <a:lstStyle>
            <a:defPPr>
              <a:defRPr lang="en-US"/>
            </a:defPPr>
            <a:lvl1pPr>
              <a:lnSpc>
                <a:spcPct val="90000"/>
              </a:lnSpc>
              <a:spcBef>
                <a:spcPct val="0"/>
              </a:spcBef>
              <a:buNone/>
              <a:defRPr sz="2800" b="1">
                <a:solidFill>
                  <a:srgbClr val="002B82"/>
                </a:solidFill>
                <a:latin typeface="微软雅黑" panose="020B0503020204020204" charset="-122"/>
                <a:ea typeface="微软雅黑" panose="020B0503020204020204" charset="-122"/>
              </a:defRPr>
            </a:lvl1pPr>
          </a:lstStyle>
          <a:p>
            <a:r>
              <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景林环球基金</a:t>
            </a:r>
            <a:r>
              <a:rPr lang="en-US" altLang="zh-CN"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 - </a:t>
            </a:r>
            <a:r>
              <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多空仓位分析</a:t>
            </a:r>
            <a:endPar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endParaRPr>
          </a:p>
        </p:txBody>
      </p:sp>
      <p:sp>
        <p:nvSpPr>
          <p:cNvPr id="8" name="文本框 7"/>
          <p:cNvSpPr txBox="1"/>
          <p:nvPr/>
        </p:nvSpPr>
        <p:spPr>
          <a:xfrm>
            <a:off x="635000" y="869315"/>
            <a:ext cx="10316845" cy="1341120"/>
          </a:xfrm>
          <a:prstGeom prst="rect">
            <a:avLst/>
          </a:prstGeom>
          <a:solidFill>
            <a:schemeClr val="bg1">
              <a:lumMod val="95000"/>
            </a:schemeClr>
          </a:solidFill>
        </p:spPr>
        <p:txBody>
          <a:bodyPr wrap="square" rtlCol="0">
            <a:noAutofit/>
          </a:bodyPr>
          <a:lstStyle/>
          <a:p>
            <a:pPr marL="171450" indent="-171450">
              <a:lnSpc>
                <a:spcPct val="150000"/>
              </a:lnSpc>
              <a:buFont typeface="Arial" panose="020B0604020202020204" pitchFamily="34" charset="0"/>
              <a:buChar char="•"/>
            </a:pPr>
            <a:r>
              <a:rPr lang="zh-CN" altLang="en-US" sz="1200" dirty="0">
                <a:latin typeface="等线" panose="02010600030101010101" charset="-122"/>
                <a:ea typeface="等线" panose="02010600030101010101" charset="-122"/>
                <a:cs typeface="等线" panose="02010600030101010101" charset="-122"/>
                <a:sym typeface="+mn-ea"/>
              </a:rPr>
              <a:t>自基金成立</a:t>
            </a:r>
            <a:r>
              <a:rPr lang="zh-CN" altLang="en-US" sz="1300" dirty="0" smtClean="0">
                <a:latin typeface="等线" panose="02010600030101010101" charset="-122"/>
                <a:ea typeface="等线" panose="02010600030101010101" charset="-122"/>
                <a:cs typeface="等线" panose="02010600030101010101" charset="-122"/>
                <a:sym typeface="+mn-ea"/>
              </a:rPr>
              <a:t>以来</a:t>
            </a:r>
            <a:r>
              <a:rPr lang="zh-CN" altLang="en-US" sz="1300" dirty="0" smtClean="0">
                <a:solidFill>
                  <a:schemeClr val="tx1"/>
                </a:solidFill>
                <a:latin typeface="等线" panose="02010600030101010101" charset="-122"/>
                <a:ea typeface="等线" panose="02010600030101010101" charset="-122"/>
                <a:cs typeface="等线" panose="02010600030101010101" charset="-122"/>
              </a:rPr>
              <a:t>，</a:t>
            </a:r>
            <a:r>
              <a:rPr lang="zh-CN" altLang="en-US" sz="1300" b="1" dirty="0" smtClean="0">
                <a:solidFill>
                  <a:schemeClr val="tx1"/>
                </a:solidFill>
                <a:latin typeface="等线" panose="02010600030101010101" charset="-122"/>
                <a:ea typeface="等线" panose="02010600030101010101" charset="-122"/>
                <a:cs typeface="等线" panose="02010600030101010101" charset="-122"/>
              </a:rPr>
              <a:t>多头持仓范围约80%-126%，空头持仓范围约-4</a:t>
            </a:r>
            <a:r>
              <a:rPr lang="zh-CN" altLang="en-US" sz="1300" b="1" dirty="0" smtClean="0">
                <a:solidFill>
                  <a:schemeClr val="tx1"/>
                </a:solidFill>
                <a:latin typeface="等线" panose="02010600030101010101" charset="-122"/>
                <a:ea typeface="等线" panose="02010600030101010101" charset="-122"/>
                <a:cs typeface="等线" panose="02010600030101010101" charset="-122"/>
                <a:sym typeface="+mn-ea"/>
              </a:rPr>
              <a:t>0%-0%，净敞口范围约60%-100%。</a:t>
            </a:r>
            <a:endParaRPr lang="zh-CN" altLang="en-US" sz="1300" b="1" dirty="0" smtClean="0">
              <a:latin typeface="等线" panose="02010600030101010101" charset="-122"/>
              <a:ea typeface="等线" panose="02010600030101010101" charset="-122"/>
              <a:cs typeface="等线" panose="02010600030101010101" charset="-122"/>
              <a:sym typeface="+mn-ea"/>
            </a:endParaRPr>
          </a:p>
          <a:p>
            <a:pPr marL="171450" indent="-171450">
              <a:lnSpc>
                <a:spcPct val="150000"/>
              </a:lnSpc>
              <a:buFont typeface="Arial" panose="020B0604020202020204" pitchFamily="34" charset="0"/>
              <a:buChar char="•"/>
            </a:pPr>
            <a:r>
              <a:rPr lang="zh-CN" altLang="en-US" sz="1300" dirty="0" smtClean="0">
                <a:latin typeface="等线" panose="02010600030101010101" charset="-122"/>
                <a:ea typeface="等线" panose="02010600030101010101" charset="-122"/>
                <a:cs typeface="等线" panose="02010600030101010101" charset="-122"/>
              </a:rPr>
              <a:t>截至2024/10/30，组合多头敞口</a:t>
            </a:r>
            <a:r>
              <a:rPr lang="en-US" altLang="zh-CN" sz="1300" dirty="0" smtClean="0">
                <a:latin typeface="等线" panose="02010600030101010101" charset="-122"/>
                <a:ea typeface="等线" panose="02010600030101010101" charset="-122"/>
                <a:cs typeface="等线" panose="02010600030101010101" charset="-122"/>
              </a:rPr>
              <a:t>95</a:t>
            </a:r>
            <a:r>
              <a:rPr lang="zh-CN" altLang="en-US" sz="1300" dirty="0" smtClean="0">
                <a:latin typeface="等线" panose="02010600030101010101" charset="-122"/>
                <a:ea typeface="等线" panose="02010600030101010101" charset="-122"/>
                <a:cs typeface="等线" panose="02010600030101010101" charset="-122"/>
              </a:rPr>
              <a:t>%，空头敞口-</a:t>
            </a:r>
            <a:r>
              <a:rPr lang="en-US" altLang="zh-CN" sz="1300" dirty="0" smtClean="0">
                <a:latin typeface="等线" panose="02010600030101010101" charset="-122"/>
                <a:ea typeface="等线" panose="02010600030101010101" charset="-122"/>
                <a:cs typeface="等线" panose="02010600030101010101" charset="-122"/>
              </a:rPr>
              <a:t>19</a:t>
            </a:r>
            <a:r>
              <a:rPr lang="zh-CN" altLang="en-US" sz="1300" dirty="0" smtClean="0">
                <a:latin typeface="等线" panose="02010600030101010101" charset="-122"/>
                <a:ea typeface="等线" panose="02010600030101010101" charset="-122"/>
                <a:cs typeface="等线" panose="02010600030101010101" charset="-122"/>
              </a:rPr>
              <a:t>%，净敞口</a:t>
            </a:r>
            <a:r>
              <a:rPr lang="en-US" altLang="zh-CN" sz="1300" dirty="0" smtClean="0">
                <a:latin typeface="等线" panose="02010600030101010101" charset="-122"/>
                <a:ea typeface="等线" panose="02010600030101010101" charset="-122"/>
                <a:cs typeface="等线" panose="02010600030101010101" charset="-122"/>
              </a:rPr>
              <a:t>76</a:t>
            </a:r>
            <a:r>
              <a:rPr lang="zh-CN" altLang="en-US" sz="1300" dirty="0" smtClean="0">
                <a:latin typeface="等线" panose="02010600030101010101" charset="-122"/>
                <a:ea typeface="等线" panose="02010600030101010101" charset="-122"/>
                <a:cs typeface="等线" panose="02010600030101010101" charset="-122"/>
              </a:rPr>
              <a:t>%。基金杠杆率一般不超过</a:t>
            </a:r>
            <a:r>
              <a:rPr lang="en-US" altLang="zh-CN" sz="1300" dirty="0" smtClean="0">
                <a:latin typeface="等线" panose="02010600030101010101" charset="-122"/>
                <a:ea typeface="等线" panose="02010600030101010101" charset="-122"/>
                <a:cs typeface="等线" panose="02010600030101010101" charset="-122"/>
              </a:rPr>
              <a:t>1</a:t>
            </a:r>
            <a:r>
              <a:rPr lang="zh-CN" altLang="en-US" sz="1300" dirty="0" smtClean="0">
                <a:latin typeface="等线" panose="02010600030101010101" charset="-122"/>
                <a:ea typeface="等线" panose="02010600030101010101" charset="-122"/>
                <a:cs typeface="等线" panose="02010600030101010101" charset="-122"/>
              </a:rPr>
              <a:t>倍。</a:t>
            </a:r>
            <a:endParaRPr lang="zh-CN" altLang="en-US" sz="1300" dirty="0" smtClean="0">
              <a:latin typeface="等线" panose="02010600030101010101" charset="-122"/>
              <a:ea typeface="等线" panose="02010600030101010101" charset="-122"/>
              <a:cs typeface="等线" panose="02010600030101010101" charset="-122"/>
            </a:endParaRPr>
          </a:p>
          <a:p>
            <a:pPr marL="171450" indent="-171450">
              <a:lnSpc>
                <a:spcPct val="150000"/>
              </a:lnSpc>
              <a:buFont typeface="Arial" panose="020B0604020202020204" pitchFamily="34" charset="0"/>
              <a:buChar char="•"/>
            </a:pPr>
            <a:r>
              <a:rPr lang="en-US" altLang="zh-CN" sz="1300" dirty="0" smtClean="0">
                <a:latin typeface="等线" panose="02010600030101010101" charset="-122"/>
                <a:ea typeface="等线" panose="02010600030101010101" charset="-122"/>
                <a:cs typeface="等线" panose="02010600030101010101" charset="-122"/>
              </a:rPr>
              <a:t>2021</a:t>
            </a:r>
            <a:r>
              <a:rPr lang="zh-CN" altLang="en-US" sz="1300" dirty="0" smtClean="0">
                <a:latin typeface="等线" panose="02010600030101010101" charset="-122"/>
                <a:ea typeface="等线" panose="02010600030101010101" charset="-122"/>
                <a:cs typeface="等线" panose="02010600030101010101" charset="-122"/>
              </a:rPr>
              <a:t>年底，</a:t>
            </a:r>
            <a:r>
              <a:rPr lang="zh-CN" altLang="en-US" sz="1300" dirty="0" smtClean="0">
                <a:latin typeface="等线" panose="02010600030101010101" charset="-122"/>
                <a:ea typeface="等线" panose="02010600030101010101" charset="-122"/>
                <a:cs typeface="等线" panose="02010600030101010101" charset="-122"/>
                <a:sym typeface="+mn-ea"/>
              </a:rPr>
              <a:t>降低净敞口到</a:t>
            </a:r>
            <a:r>
              <a:rPr lang="en-US" altLang="zh-CN" sz="1300" dirty="0" smtClean="0">
                <a:latin typeface="等线" panose="02010600030101010101" charset="-122"/>
                <a:ea typeface="等线" panose="02010600030101010101" charset="-122"/>
                <a:cs typeface="等线" panose="02010600030101010101" charset="-122"/>
                <a:sym typeface="+mn-ea"/>
              </a:rPr>
              <a:t>7</a:t>
            </a:r>
            <a:r>
              <a:rPr lang="zh-CN" altLang="en-US" sz="1300" dirty="0" smtClean="0">
                <a:latin typeface="等线" panose="02010600030101010101" charset="-122"/>
                <a:ea typeface="等线" panose="02010600030101010101" charset="-122"/>
                <a:cs typeface="等线" panose="02010600030101010101" charset="-122"/>
                <a:sym typeface="+mn-ea"/>
              </a:rPr>
              <a:t>成左右，</a:t>
            </a:r>
            <a:r>
              <a:rPr lang="en-US" altLang="zh-CN" sz="1300" dirty="0" smtClean="0">
                <a:latin typeface="等线" panose="02010600030101010101" charset="-122"/>
                <a:ea typeface="等线" panose="02010600030101010101" charset="-122"/>
                <a:cs typeface="等线" panose="02010600030101010101" charset="-122"/>
              </a:rPr>
              <a:t>2022</a:t>
            </a:r>
            <a:r>
              <a:rPr lang="zh-CN" altLang="en-US" sz="1300" dirty="0" smtClean="0">
                <a:latin typeface="等线" panose="02010600030101010101" charset="-122"/>
                <a:ea typeface="等线" panose="02010600030101010101" charset="-122"/>
                <a:cs typeface="等线" panose="02010600030101010101" charset="-122"/>
              </a:rPr>
              <a:t>年全球股债双杀、</a:t>
            </a:r>
            <a:r>
              <a:rPr lang="zh-CN" altLang="en-US" sz="1300" dirty="0" smtClean="0">
                <a:latin typeface="等线" panose="02010600030101010101" charset="-122"/>
                <a:ea typeface="等线" panose="02010600030101010101" charset="-122"/>
                <a:cs typeface="等线" panose="02010600030101010101" charset="-122"/>
                <a:sym typeface="+mn-ea"/>
              </a:rPr>
              <a:t>中国疫情封城</a:t>
            </a:r>
            <a:r>
              <a:rPr lang="zh-CN" altLang="en-US" sz="1300" dirty="0" smtClean="0">
                <a:latin typeface="等线" panose="02010600030101010101" charset="-122"/>
                <a:ea typeface="等线" panose="02010600030101010101" charset="-122"/>
                <a:cs typeface="等线" panose="02010600030101010101" charset="-122"/>
              </a:rPr>
              <a:t>，多头部分和空头部分均加大仓位，空头增幅更大（净敞口保持</a:t>
            </a:r>
            <a:r>
              <a:rPr lang="en-US" altLang="zh-CN" sz="1300" dirty="0" smtClean="0">
                <a:latin typeface="等线" panose="02010600030101010101" charset="-122"/>
                <a:ea typeface="等线" panose="02010600030101010101" charset="-122"/>
                <a:cs typeface="等线" panose="02010600030101010101" charset="-122"/>
              </a:rPr>
              <a:t>7</a:t>
            </a:r>
            <a:r>
              <a:rPr lang="zh-CN" altLang="en-US" sz="1300" dirty="0" smtClean="0">
                <a:latin typeface="等线" panose="02010600030101010101" charset="-122"/>
                <a:ea typeface="等线" panose="02010600030101010101" charset="-122"/>
                <a:cs typeface="等线" panose="02010600030101010101" charset="-122"/>
              </a:rPr>
              <a:t>成），</a:t>
            </a:r>
            <a:r>
              <a:rPr lang="en-US" altLang="zh-CN" sz="1300" dirty="0" smtClean="0">
                <a:latin typeface="等线" panose="02010600030101010101" charset="-122"/>
                <a:ea typeface="等线" panose="02010600030101010101" charset="-122"/>
                <a:cs typeface="等线" panose="02010600030101010101" charset="-122"/>
              </a:rPr>
              <a:t>2023</a:t>
            </a:r>
            <a:r>
              <a:rPr lang="zh-CN" altLang="en-US" sz="1300" dirty="0" smtClean="0">
                <a:latin typeface="等线" panose="02010600030101010101" charset="-122"/>
                <a:ea typeface="等线" panose="02010600030101010101" charset="-122"/>
                <a:cs typeface="等线" panose="02010600030101010101" charset="-122"/>
              </a:rPr>
              <a:t>年开始逐步降低空头部分，提高净敞口到</a:t>
            </a:r>
            <a:r>
              <a:rPr lang="en-US" altLang="zh-CN" sz="1300" dirty="0" smtClean="0">
                <a:latin typeface="等线" panose="02010600030101010101" charset="-122"/>
                <a:ea typeface="等线" panose="02010600030101010101" charset="-122"/>
                <a:cs typeface="等线" panose="02010600030101010101" charset="-122"/>
              </a:rPr>
              <a:t>9</a:t>
            </a:r>
            <a:r>
              <a:rPr lang="zh-CN" altLang="en-US" sz="1300" dirty="0" smtClean="0">
                <a:latin typeface="等线" panose="02010600030101010101" charset="-122"/>
                <a:ea typeface="等线" panose="02010600030101010101" charset="-122"/>
                <a:cs typeface="等线" panose="02010600030101010101" charset="-122"/>
              </a:rPr>
              <a:t>成以上。</a:t>
            </a:r>
            <a:r>
              <a:rPr lang="en-US" altLang="zh-CN" sz="1300" dirty="0" smtClean="0">
                <a:latin typeface="等线" panose="02010600030101010101" charset="-122"/>
                <a:ea typeface="等线" panose="02010600030101010101" charset="-122"/>
                <a:cs typeface="等线" panose="02010600030101010101" charset="-122"/>
              </a:rPr>
              <a:t>2024</a:t>
            </a:r>
            <a:r>
              <a:rPr lang="zh-CN" altLang="en-US" sz="1300" dirty="0" smtClean="0">
                <a:latin typeface="等线" panose="02010600030101010101" charset="-122"/>
                <a:ea typeface="等线" panose="02010600030101010101" charset="-122"/>
                <a:cs typeface="等线" panose="02010600030101010101" charset="-122"/>
              </a:rPr>
              <a:t>年三季度，净敞口做了大幅调降到</a:t>
            </a:r>
            <a:r>
              <a:rPr lang="en-US" altLang="zh-CN" sz="1300" dirty="0" smtClean="0">
                <a:latin typeface="等线" panose="02010600030101010101" charset="-122"/>
                <a:ea typeface="等线" panose="02010600030101010101" charset="-122"/>
                <a:cs typeface="等线" panose="02010600030101010101" charset="-122"/>
              </a:rPr>
              <a:t>6</a:t>
            </a:r>
            <a:r>
              <a:rPr lang="zh-CN" altLang="en-US" sz="1300" dirty="0" smtClean="0">
                <a:latin typeface="等线" panose="02010600030101010101" charset="-122"/>
                <a:ea typeface="等线" panose="02010600030101010101" charset="-122"/>
                <a:cs typeface="等线" panose="02010600030101010101" charset="-122"/>
              </a:rPr>
              <a:t>成左右。</a:t>
            </a:r>
            <a:endParaRPr lang="zh-CN" altLang="en-US" sz="1300" dirty="0" smtClean="0">
              <a:latin typeface="等线" panose="02010600030101010101" charset="-122"/>
              <a:ea typeface="等线" panose="02010600030101010101" charset="-122"/>
              <a:cs typeface="等线" panose="02010600030101010101" charset="-122"/>
            </a:endParaRPr>
          </a:p>
        </p:txBody>
      </p:sp>
      <p:graphicFrame>
        <p:nvGraphicFramePr>
          <p:cNvPr id="2" name="图表 1"/>
          <p:cNvGraphicFramePr/>
          <p:nvPr/>
        </p:nvGraphicFramePr>
        <p:xfrm>
          <a:off x="427990" y="2603500"/>
          <a:ext cx="7077710" cy="3815715"/>
        </p:xfrm>
        <a:graphic>
          <a:graphicData uri="http://schemas.openxmlformats.org/drawingml/2006/chart">
            <c:chart xmlns:c="http://schemas.openxmlformats.org/drawingml/2006/chart" xmlns:r="http://schemas.openxmlformats.org/officeDocument/2006/relationships" r:id="rId1"/>
          </a:graphicData>
        </a:graphic>
      </p:graphicFrame>
      <p:sp>
        <p:nvSpPr>
          <p:cNvPr id="117" name="文本框 116"/>
          <p:cNvSpPr txBox="1"/>
          <p:nvPr/>
        </p:nvSpPr>
        <p:spPr>
          <a:xfrm>
            <a:off x="538480" y="6506210"/>
            <a:ext cx="5507990" cy="229870"/>
          </a:xfrm>
          <a:prstGeom prst="rect">
            <a:avLst/>
          </a:prstGeom>
          <a:noFill/>
        </p:spPr>
        <p:txBody>
          <a:bodyPr wrap="square" rtlCol="0">
            <a:spAutoFit/>
          </a:bodyPr>
          <a:lstStyle/>
          <a:p>
            <a:pPr algn="l">
              <a:buClrTx/>
              <a:buSzTx/>
              <a:buFontTx/>
            </a:pPr>
            <a:r>
              <a:rPr lang="zh-CN" altLang="en-US" sz="900" i="1" dirty="0" err="1" smtClean="0">
                <a:latin typeface="微软雅黑" panose="020B0503020204020204" charset="-122"/>
                <a:ea typeface="微软雅黑" panose="020B0503020204020204" charset="-122"/>
                <a:cs typeface="微软雅黑" panose="020B0503020204020204" charset="-122"/>
                <a:sym typeface="+mn-ea"/>
              </a:rPr>
              <a:t>数据来源：景林</a:t>
            </a:r>
            <a:endParaRPr lang="zh-CN" altLang="en-US" sz="900" i="1" dirty="0" err="1" smtClean="0">
              <a:latin typeface="微软雅黑" panose="020B0503020204020204" charset="-122"/>
              <a:ea typeface="微软雅黑" panose="020B0503020204020204" charset="-122"/>
              <a:cs typeface="微软雅黑" panose="020B0503020204020204" charset="-122"/>
              <a:sym typeface="+mn-ea"/>
            </a:endParaRPr>
          </a:p>
        </p:txBody>
      </p:sp>
      <p:graphicFrame>
        <p:nvGraphicFramePr>
          <p:cNvPr id="4" name="图表 3"/>
          <p:cNvGraphicFramePr/>
          <p:nvPr/>
        </p:nvGraphicFramePr>
        <p:xfrm>
          <a:off x="7505700" y="2719705"/>
          <a:ext cx="4368800" cy="369951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p:cNvSpPr txBox="1"/>
          <p:nvPr/>
        </p:nvSpPr>
        <p:spPr>
          <a:xfrm>
            <a:off x="511836" y="6567784"/>
            <a:ext cx="2164715" cy="165735"/>
          </a:xfrm>
          <a:prstGeom prst="rect">
            <a:avLst/>
          </a:prstGeom>
        </p:spPr>
        <p:txBody>
          <a:bodyPr vert="horz" wrap="square" lIns="0" tIns="12065" rIns="0" bIns="0" rtlCol="0">
            <a:spAutoFit/>
          </a:bodyPr>
          <a:lstStyle/>
          <a:p>
            <a:pPr marL="12700">
              <a:lnSpc>
                <a:spcPct val="100000"/>
              </a:lnSpc>
              <a:spcBef>
                <a:spcPts val="95"/>
              </a:spcBef>
            </a:pPr>
            <a:r>
              <a:rPr sz="1000" i="1" spc="-5" dirty="0">
                <a:latin typeface="宋体" panose="02010600030101010101" pitchFamily="2" charset="-122"/>
                <a:cs typeface="宋体" panose="02010600030101010101" pitchFamily="2" charset="-122"/>
              </a:rPr>
              <a:t>数</a:t>
            </a:r>
            <a:r>
              <a:rPr sz="1000" i="1" spc="-15" dirty="0">
                <a:latin typeface="宋体" panose="02010600030101010101" pitchFamily="2" charset="-122"/>
                <a:cs typeface="宋体" panose="02010600030101010101" pitchFamily="2" charset="-122"/>
              </a:rPr>
              <a:t>据</a:t>
            </a:r>
            <a:r>
              <a:rPr sz="1000" i="1" spc="-5" dirty="0">
                <a:latin typeface="宋体" panose="02010600030101010101" pitchFamily="2" charset="-122"/>
                <a:cs typeface="宋体" panose="02010600030101010101" pitchFamily="2" charset="-122"/>
              </a:rPr>
              <a:t>来</a:t>
            </a:r>
            <a:r>
              <a:rPr sz="1000" i="1" spc="-15" dirty="0">
                <a:latin typeface="宋体" panose="02010600030101010101" pitchFamily="2" charset="-122"/>
                <a:cs typeface="宋体" panose="02010600030101010101" pitchFamily="2" charset="-122"/>
              </a:rPr>
              <a:t>源</a:t>
            </a:r>
            <a:r>
              <a:rPr sz="1000" i="1" spc="-5" dirty="0">
                <a:latin typeface="宋体" panose="02010600030101010101" pitchFamily="2" charset="-122"/>
                <a:cs typeface="宋体" panose="02010600030101010101" pitchFamily="2" charset="-122"/>
              </a:rPr>
              <a:t>：</a:t>
            </a:r>
            <a:r>
              <a:rPr sz="1000" i="1" spc="-25" dirty="0">
                <a:latin typeface="宋体" panose="02010600030101010101" pitchFamily="2" charset="-122"/>
                <a:cs typeface="宋体" panose="02010600030101010101" pitchFamily="2" charset="-122"/>
              </a:rPr>
              <a:t>景</a:t>
            </a:r>
            <a:r>
              <a:rPr sz="1000" i="1" spc="-5" dirty="0">
                <a:latin typeface="宋体" panose="02010600030101010101" pitchFamily="2" charset="-122"/>
                <a:cs typeface="宋体" panose="02010600030101010101" pitchFamily="2" charset="-122"/>
              </a:rPr>
              <a:t>林</a:t>
            </a:r>
            <a:r>
              <a:rPr sz="1000" i="1" spc="-15" dirty="0">
                <a:latin typeface="宋体" panose="02010600030101010101" pitchFamily="2" charset="-122"/>
                <a:cs typeface="宋体" panose="02010600030101010101" pitchFamily="2" charset="-122"/>
              </a:rPr>
              <a:t>，</a:t>
            </a:r>
            <a:r>
              <a:rPr sz="1000" i="1" spc="-5" dirty="0">
                <a:latin typeface="宋体" panose="02010600030101010101" pitchFamily="2" charset="-122"/>
                <a:cs typeface="宋体" panose="02010600030101010101" pitchFamily="2" charset="-122"/>
              </a:rPr>
              <a:t>数</a:t>
            </a:r>
            <a:r>
              <a:rPr sz="1000" i="1" spc="-15" dirty="0">
                <a:latin typeface="宋体" panose="02010600030101010101" pitchFamily="2" charset="-122"/>
                <a:cs typeface="宋体" panose="02010600030101010101" pitchFamily="2" charset="-122"/>
              </a:rPr>
              <a:t>据</a:t>
            </a:r>
            <a:r>
              <a:rPr sz="1000" i="1" spc="-5" dirty="0">
                <a:latin typeface="宋体" panose="02010600030101010101" pitchFamily="2" charset="-122"/>
                <a:cs typeface="宋体" panose="02010600030101010101" pitchFamily="2" charset="-122"/>
              </a:rPr>
              <a:t>截</a:t>
            </a:r>
            <a:r>
              <a:rPr sz="1000" i="1" spc="-15" dirty="0">
                <a:latin typeface="宋体" panose="02010600030101010101" pitchFamily="2" charset="-122"/>
                <a:cs typeface="宋体" panose="02010600030101010101" pitchFamily="2" charset="-122"/>
              </a:rPr>
              <a:t>止2</a:t>
            </a:r>
            <a:r>
              <a:rPr sz="1000" i="1" spc="5" dirty="0">
                <a:latin typeface="宋体" panose="02010600030101010101" pitchFamily="2" charset="-122"/>
                <a:cs typeface="宋体" panose="02010600030101010101" pitchFamily="2" charset="-122"/>
              </a:rPr>
              <a:t>0</a:t>
            </a:r>
            <a:r>
              <a:rPr sz="1000" i="1" spc="-15" dirty="0">
                <a:latin typeface="宋体" panose="02010600030101010101" pitchFamily="2" charset="-122"/>
                <a:cs typeface="宋体" panose="02010600030101010101" pitchFamily="2" charset="-122"/>
              </a:rPr>
              <a:t>2</a:t>
            </a:r>
            <a:r>
              <a:rPr sz="1000" i="1" spc="-5" dirty="0">
                <a:latin typeface="宋体" panose="02010600030101010101" pitchFamily="2" charset="-122"/>
                <a:cs typeface="宋体" panose="02010600030101010101" pitchFamily="2" charset="-122"/>
              </a:rPr>
              <a:t>4年</a:t>
            </a:r>
            <a:r>
              <a:rPr lang="en-US" sz="1000" i="1" spc="-5" dirty="0">
                <a:latin typeface="宋体" panose="02010600030101010101" pitchFamily="2" charset="-122"/>
                <a:cs typeface="宋体" panose="02010600030101010101" pitchFamily="2" charset="-122"/>
              </a:rPr>
              <a:t>9</a:t>
            </a:r>
            <a:r>
              <a:rPr sz="1000" i="1" spc="-5" dirty="0">
                <a:latin typeface="宋体" panose="02010600030101010101" pitchFamily="2" charset="-122"/>
                <a:cs typeface="宋体" panose="02010600030101010101" pitchFamily="2" charset="-122"/>
              </a:rPr>
              <a:t>月</a:t>
            </a:r>
            <a:endParaRPr sz="1000" i="1">
              <a:latin typeface="宋体" panose="02010600030101010101" pitchFamily="2" charset="-122"/>
              <a:cs typeface="宋体" panose="02010600030101010101" pitchFamily="2" charset="-122"/>
            </a:endParaRPr>
          </a:p>
        </p:txBody>
      </p:sp>
      <p:sp>
        <p:nvSpPr>
          <p:cNvPr id="3" name="标题 1"/>
          <p:cNvSpPr txBox="1"/>
          <p:nvPr/>
        </p:nvSpPr>
        <p:spPr>
          <a:xfrm>
            <a:off x="511755" y="256039"/>
            <a:ext cx="8229600" cy="423545"/>
          </a:xfrm>
          <a:prstGeom prst="rect">
            <a:avLst/>
          </a:prstGeom>
          <a:noFill/>
        </p:spPr>
        <p:txBody>
          <a:bodyPr vert="horz" wrap="square" lIns="91440" tIns="45720" rIns="91440" bIns="45720" rtlCol="0" anchor="ctr">
            <a:spAutoFit/>
          </a:bodyPr>
          <a:lstStyle>
            <a:defPPr>
              <a:defRPr lang="en-US"/>
            </a:defPPr>
            <a:lvl1pPr>
              <a:lnSpc>
                <a:spcPct val="90000"/>
              </a:lnSpc>
              <a:spcBef>
                <a:spcPct val="0"/>
              </a:spcBef>
              <a:buNone/>
              <a:defRPr sz="2800" b="1">
                <a:solidFill>
                  <a:srgbClr val="002B82"/>
                </a:solidFill>
                <a:latin typeface="微软雅黑" panose="020B0503020204020204" charset="-122"/>
                <a:ea typeface="微软雅黑" panose="020B0503020204020204" charset="-122"/>
              </a:defRPr>
            </a:lvl1pPr>
          </a:lstStyle>
          <a:p>
            <a:r>
              <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景林环球基金</a:t>
            </a:r>
            <a:r>
              <a:rPr lang="en-US" altLang="zh-CN"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 - </a:t>
            </a:r>
            <a:r>
              <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rPr>
              <a:t>前十大重仓</a:t>
            </a:r>
            <a:endParaRPr lang="zh-CN" altLang="en-US" sz="2400" dirty="0">
              <a:solidFill>
                <a:schemeClr val="tx2">
                  <a:lumMod val="75000"/>
                </a:schemeClr>
              </a:solidFill>
              <a:latin typeface="等线" panose="02010600030101010101" charset="-122"/>
              <a:ea typeface="等线" panose="02010600030101010101" charset="-122"/>
              <a:cs typeface="等线" panose="02010600030101010101" charset="-122"/>
              <a:sym typeface="+mn-lt"/>
            </a:endParaRPr>
          </a:p>
        </p:txBody>
      </p:sp>
      <p:graphicFrame>
        <p:nvGraphicFramePr>
          <p:cNvPr id="5" name="表格 4"/>
          <p:cNvGraphicFramePr/>
          <p:nvPr>
            <p:custDataLst>
              <p:tags r:id="rId1"/>
            </p:custDataLst>
          </p:nvPr>
        </p:nvGraphicFramePr>
        <p:xfrm>
          <a:off x="511810" y="922020"/>
          <a:ext cx="3389630" cy="2414270"/>
        </p:xfrm>
        <a:graphic>
          <a:graphicData uri="http://schemas.openxmlformats.org/drawingml/2006/table">
            <a:tbl>
              <a:tblPr/>
              <a:tblGrid>
                <a:gridCol w="243840"/>
                <a:gridCol w="2452370"/>
                <a:gridCol w="693420"/>
              </a:tblGrid>
              <a:tr h="186055">
                <a:tc>
                  <a:txBody>
                    <a:bodyPr/>
                    <a:lstStyle/>
                    <a:p>
                      <a:pPr algn="ctr" fontAlgn="b"/>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a:txBody>
                    <a:bodyPr/>
                    <a:lstStyle/>
                    <a:p>
                      <a:pPr algn="l" fontAlgn="b"/>
                      <a:r>
                        <a:rPr lang="en-US" altLang="zh-CN" sz="1100" b="1" i="0">
                          <a:solidFill>
                            <a:srgbClr val="000000"/>
                          </a:solidFill>
                          <a:latin typeface="等线" panose="02010600030101010101" charset="-122"/>
                          <a:ea typeface="等线" panose="02010600030101010101" charset="-122"/>
                        </a:rPr>
                        <a:t>GFOF - Top 10 Long Positions 2021</a:t>
                      </a:r>
                      <a:endParaRPr lang="en-US" altLang="zh-CN" sz="1100" b="1"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a:txBody>
                    <a:bodyPr/>
                    <a:lstStyle/>
                    <a:p>
                      <a:pPr algn="l" fontAlgn="b"/>
                      <a:endParaRPr sz="1100" b="1"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r>
              <a:tr h="187325">
                <a:tc>
                  <a:txBody>
                    <a:bodyPr/>
                    <a:lstStyle/>
                    <a:p>
                      <a:pPr algn="ctr" fontAlgn="b"/>
                      <a:endParaRPr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w="6350" cap="flat" cmpd="sng">
                      <a:solidFill>
                        <a:srgbClr val="000000"/>
                      </a:solidFill>
                      <a:prstDash val="solid"/>
                      <a:headEnd type="none" w="med" len="med"/>
                      <a:tailEnd type="none" w="med" len="med"/>
                    </a:lnT>
                    <a:lnB>
                      <a:noFill/>
                    </a:lnB>
                    <a:noFill/>
                  </a:tcPr>
                </a:tc>
                <a:tc>
                  <a:txBody>
                    <a:bodyPr/>
                    <a:lstStyle/>
                    <a:p>
                      <a:pPr algn="l" fontAlgn="b"/>
                      <a:r>
                        <a:rPr lang="en-US" altLang="zh-CN" sz="1100" b="1" i="0">
                          <a:solidFill>
                            <a:srgbClr val="000000"/>
                          </a:solidFill>
                          <a:latin typeface="等线" panose="02010600030101010101" charset="-122"/>
                          <a:ea typeface="等线" panose="02010600030101010101" charset="-122"/>
                        </a:rPr>
                        <a:t>GICS Industry Group</a:t>
                      </a:r>
                      <a:endParaRPr lang="en-US" altLang="zh-CN" sz="1100" b="1" i="0">
                        <a:solidFill>
                          <a:srgbClr val="000000"/>
                        </a:solidFill>
                        <a:latin typeface="等线" panose="02010600030101010101" charset="-122"/>
                        <a:ea typeface="等线" panose="02010600030101010101" charset="-122"/>
                      </a:endParaRPr>
                    </a:p>
                  </a:txBody>
                  <a:tcPr marL="9842" marR="9842" marT="9842" marB="0" anchor="b">
                    <a:lnL>
                      <a:noFill/>
                    </a:lnL>
                    <a:lnR>
                      <a:noFill/>
                    </a:lnR>
                    <a:lnT w="6350" cap="flat" cmpd="sng">
                      <a:solidFill>
                        <a:srgbClr val="000000"/>
                      </a:solidFill>
                      <a:prstDash val="solid"/>
                      <a:headEnd type="none" w="med" len="med"/>
                      <a:tailEnd type="none" w="med" len="med"/>
                    </a:lnT>
                    <a:lnB>
                      <a:noFill/>
                    </a:lnB>
                    <a:noFill/>
                  </a:tcPr>
                </a:tc>
                <a:tc>
                  <a:txBody>
                    <a:bodyPr/>
                    <a:lstStyle/>
                    <a:p>
                      <a:pPr algn="l" fontAlgn="b"/>
                      <a:r>
                        <a:rPr lang="en-US" altLang="zh-CN" sz="1100" b="1" i="0">
                          <a:solidFill>
                            <a:srgbClr val="000000"/>
                          </a:solidFill>
                          <a:latin typeface="等线" panose="02010600030101010101" charset="-122"/>
                          <a:ea typeface="等线" panose="02010600030101010101" charset="-122"/>
                        </a:rPr>
                        <a:t>Weighting</a:t>
                      </a:r>
                      <a:endParaRPr lang="en-US" altLang="zh-CN" sz="1100" b="1" i="0">
                        <a:solidFill>
                          <a:srgbClr val="000000"/>
                        </a:solidFill>
                        <a:latin typeface="等线" panose="02010600030101010101" charset="-122"/>
                        <a:ea typeface="等线" panose="02010600030101010101" charset="-122"/>
                      </a:endParaRPr>
                    </a:p>
                  </a:txBody>
                  <a:tcPr marL="9842" marR="9842" marT="9842" marB="0" anchor="b">
                    <a:lnL>
                      <a:noFill/>
                    </a:lnL>
                    <a:lnR>
                      <a:noFill/>
                    </a:lnR>
                    <a:lnT w="6350" cap="flat" cmpd="sng">
                      <a:solidFill>
                        <a:srgbClr val="000000"/>
                      </a:solidFill>
                      <a:prstDash val="solid"/>
                      <a:headEnd type="none" w="med" len="med"/>
                      <a:tailEnd type="none" w="med" len="med"/>
                    </a:lnT>
                    <a:lnB>
                      <a:noFill/>
                    </a:lnB>
                    <a:noFill/>
                  </a:tcPr>
                </a:tc>
              </a:tr>
              <a:tr h="186055">
                <a:tc>
                  <a:txBody>
                    <a:bodyPr/>
                    <a:lstStyle/>
                    <a:p>
                      <a:pPr algn="ctr" fontAlgn="b"/>
                      <a:r>
                        <a:rPr lang="en-US" altLang="zh-CN" sz="1100" b="0" i="0">
                          <a:solidFill>
                            <a:srgbClr val="000000"/>
                          </a:solidFill>
                          <a:latin typeface="等线" panose="02010600030101010101" charset="-122"/>
                          <a:ea typeface="等线" panose="02010600030101010101" charset="-122"/>
                        </a:rPr>
                        <a:t>1</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Media &amp; Entertainment </a:t>
                      </a:r>
                      <a:r>
                        <a:rPr lang="zh-CN" altLang="en-US" sz="1100" b="0" i="0">
                          <a:solidFill>
                            <a:srgbClr val="000000"/>
                          </a:solidFill>
                          <a:latin typeface="等线" panose="02010600030101010101" charset="-122"/>
                          <a:ea typeface="等线" panose="02010600030101010101" charset="-122"/>
                        </a:rPr>
                        <a:t>社交媒体</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18.73%</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6055">
                <a:tc>
                  <a:txBody>
                    <a:bodyPr/>
                    <a:lstStyle/>
                    <a:p>
                      <a:pPr algn="ctr" fontAlgn="b"/>
                      <a:r>
                        <a:rPr lang="en-US" altLang="zh-CN" sz="1100" b="0" i="0">
                          <a:solidFill>
                            <a:srgbClr val="000000"/>
                          </a:solidFill>
                          <a:latin typeface="等线" panose="02010600030101010101" charset="-122"/>
                          <a:ea typeface="等线" panose="02010600030101010101" charset="-122"/>
                        </a:rPr>
                        <a:t>2</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Media &amp; Entertainment </a:t>
                      </a:r>
                      <a:r>
                        <a:rPr lang="zh-CN" altLang="en-US" sz="1100">
                          <a:solidFill>
                            <a:srgbClr val="000000"/>
                          </a:solidFill>
                          <a:latin typeface="等线" panose="02010600030101010101" charset="-122"/>
                          <a:ea typeface="等线" panose="02010600030101010101" charset="-122"/>
                          <a:sym typeface="+mn-ea"/>
                        </a:rPr>
                        <a:t>社交媒体</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10.99%</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7325">
                <a:tc>
                  <a:txBody>
                    <a:bodyPr/>
                    <a:lstStyle/>
                    <a:p>
                      <a:pPr algn="ctr" fontAlgn="b"/>
                      <a:r>
                        <a:rPr lang="en-US" altLang="zh-CN" sz="1100" b="0" i="0">
                          <a:solidFill>
                            <a:srgbClr val="000000"/>
                          </a:solidFill>
                          <a:latin typeface="等线" panose="02010600030101010101" charset="-122"/>
                          <a:ea typeface="等线" panose="02010600030101010101" charset="-122"/>
                        </a:rPr>
                        <a:t>3</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Media &amp; Entertainment </a:t>
                      </a:r>
                      <a:r>
                        <a:rPr lang="zh-CN" altLang="en-US" sz="1100">
                          <a:solidFill>
                            <a:srgbClr val="000000"/>
                          </a:solidFill>
                          <a:latin typeface="等线" panose="02010600030101010101" charset="-122"/>
                          <a:ea typeface="等线" panose="02010600030101010101" charset="-122"/>
                          <a:sym typeface="+mn-ea"/>
                        </a:rPr>
                        <a:t>社交媒体</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8.36%</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6055">
                <a:tc>
                  <a:txBody>
                    <a:bodyPr/>
                    <a:lstStyle/>
                    <a:p>
                      <a:pPr algn="ctr" fontAlgn="b"/>
                      <a:r>
                        <a:rPr lang="en-US" altLang="zh-CN" sz="1100" b="0" i="0">
                          <a:solidFill>
                            <a:srgbClr val="000000"/>
                          </a:solidFill>
                          <a:latin typeface="等线" panose="02010600030101010101" charset="-122"/>
                          <a:ea typeface="等线" panose="02010600030101010101" charset="-122"/>
                        </a:rPr>
                        <a:t>4</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Retailing </a:t>
                      </a:r>
                      <a:r>
                        <a:rPr lang="zh-CN" altLang="en-US" sz="1100" b="0" i="0">
                          <a:solidFill>
                            <a:srgbClr val="000000"/>
                          </a:solidFill>
                          <a:latin typeface="等线" panose="02010600030101010101" charset="-122"/>
                          <a:ea typeface="等线" panose="02010600030101010101" charset="-122"/>
                        </a:rPr>
                        <a:t>消费零售</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7.08%</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6690">
                <a:tc>
                  <a:txBody>
                    <a:bodyPr/>
                    <a:lstStyle/>
                    <a:p>
                      <a:pPr algn="ctr" fontAlgn="b"/>
                      <a:r>
                        <a:rPr lang="en-US" altLang="zh-CN" sz="1100" b="0" i="0">
                          <a:solidFill>
                            <a:srgbClr val="000000"/>
                          </a:solidFill>
                          <a:latin typeface="等线" panose="02010600030101010101" charset="-122"/>
                          <a:ea typeface="等线" panose="02010600030101010101" charset="-122"/>
                        </a:rPr>
                        <a:t>5</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Retailing </a:t>
                      </a:r>
                      <a:r>
                        <a:rPr lang="zh-CN" altLang="en-US" sz="1100" b="0" i="0">
                          <a:solidFill>
                            <a:srgbClr val="000000"/>
                          </a:solidFill>
                          <a:latin typeface="等线" panose="02010600030101010101" charset="-122"/>
                          <a:ea typeface="等线" panose="02010600030101010101" charset="-122"/>
                        </a:rPr>
                        <a:t>消费零售</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6.95%</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6690">
                <a:tc>
                  <a:txBody>
                    <a:bodyPr/>
                    <a:lstStyle/>
                    <a:p>
                      <a:pPr algn="ctr" fontAlgn="b"/>
                      <a:r>
                        <a:rPr lang="en-US" altLang="zh-CN" sz="1100" b="0" i="0">
                          <a:solidFill>
                            <a:srgbClr val="000000"/>
                          </a:solidFill>
                          <a:latin typeface="等线" panose="02010600030101010101" charset="-122"/>
                          <a:ea typeface="等线" panose="02010600030101010101" charset="-122"/>
                        </a:rPr>
                        <a:t>6</a:t>
                      </a:r>
                      <a:endParaRPr lang="en-US" altLang="zh-CN" sz="1100" b="0" i="0">
                        <a:solidFill>
                          <a:srgbClr val="00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ETF </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6.02%</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362585">
                <a:tc>
                  <a:txBody>
                    <a:bodyPr/>
                    <a:lstStyle/>
                    <a:p>
                      <a:pPr algn="ctr" fontAlgn="b"/>
                      <a:r>
                        <a:rPr lang="en-US" altLang="zh-CN" sz="1100" b="0" i="0">
                          <a:solidFill>
                            <a:srgbClr val="000000"/>
                          </a:solidFill>
                          <a:latin typeface="等线" panose="02010600030101010101" charset="-122"/>
                          <a:ea typeface="等线" panose="02010600030101010101" charset="-122"/>
                        </a:rPr>
                        <a:t>7</a:t>
                      </a:r>
                      <a:endParaRPr lang="en-US" altLang="zh-CN" sz="1100" b="0" i="0">
                        <a:solidFill>
                          <a:srgbClr val="00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Semiconductors &amp; Equipment</a:t>
                      </a:r>
                      <a:endParaRPr lang="en-US" altLang="zh-CN" sz="1100" b="0" i="0">
                        <a:solidFill>
                          <a:srgbClr val="000000"/>
                        </a:solidFill>
                        <a:latin typeface="等线" panose="02010600030101010101" charset="-122"/>
                        <a:ea typeface="等线" panose="02010600030101010101" charset="-122"/>
                      </a:endParaRPr>
                    </a:p>
                    <a:p>
                      <a:pPr algn="l" fontAlgn="b"/>
                      <a:r>
                        <a:rPr lang="zh-CN" altLang="en-US" sz="1100" b="0" i="0">
                          <a:solidFill>
                            <a:srgbClr val="000000"/>
                          </a:solidFill>
                          <a:latin typeface="等线" panose="02010600030101010101" charset="-122"/>
                          <a:ea typeface="等线" panose="02010600030101010101" charset="-122"/>
                        </a:rPr>
                        <a:t>半导体及设备</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4.87%</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6055">
                <a:tc>
                  <a:txBody>
                    <a:bodyPr/>
                    <a:lstStyle/>
                    <a:p>
                      <a:pPr algn="ctr" fontAlgn="b"/>
                      <a:r>
                        <a:rPr lang="en-US" altLang="zh-CN" sz="1100" b="0" i="0">
                          <a:solidFill>
                            <a:srgbClr val="000000"/>
                          </a:solidFill>
                          <a:latin typeface="等线" panose="02010600030101010101" charset="-122"/>
                          <a:ea typeface="等线" panose="02010600030101010101" charset="-122"/>
                        </a:rPr>
                        <a:t>8</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Consumer Durables &amp; Apparel </a:t>
                      </a:r>
                      <a:r>
                        <a:rPr lang="zh-CN" altLang="en-US" sz="1100" b="0" i="0">
                          <a:solidFill>
                            <a:srgbClr val="000000"/>
                          </a:solidFill>
                          <a:latin typeface="等线" panose="02010600030101010101" charset="-122"/>
                          <a:ea typeface="等线" panose="02010600030101010101" charset="-122"/>
                        </a:rPr>
                        <a:t>耐用消费</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4.41%</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7325">
                <a:tc>
                  <a:txBody>
                    <a:bodyPr/>
                    <a:lstStyle/>
                    <a:p>
                      <a:pPr algn="ctr" fontAlgn="b"/>
                      <a:r>
                        <a:rPr lang="en-US" altLang="zh-CN" sz="1100" b="0" i="0">
                          <a:solidFill>
                            <a:srgbClr val="000000"/>
                          </a:solidFill>
                          <a:latin typeface="等线" panose="02010600030101010101" charset="-122"/>
                          <a:ea typeface="等线" panose="02010600030101010101" charset="-122"/>
                        </a:rPr>
                        <a:t>9</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Retailing </a:t>
                      </a:r>
                      <a:r>
                        <a:rPr lang="zh-CN" altLang="en-US" sz="1100" b="0" i="0">
                          <a:solidFill>
                            <a:srgbClr val="000000"/>
                          </a:solidFill>
                          <a:latin typeface="等线" panose="02010600030101010101" charset="-122"/>
                          <a:ea typeface="等线" panose="02010600030101010101" charset="-122"/>
                        </a:rPr>
                        <a:t>消费零售</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3.68%</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6055">
                <a:tc>
                  <a:txBody>
                    <a:bodyPr/>
                    <a:lstStyle/>
                    <a:p>
                      <a:pPr algn="ctr" fontAlgn="b"/>
                      <a:r>
                        <a:rPr lang="en-US" altLang="zh-CN" sz="1100" b="0" i="0">
                          <a:solidFill>
                            <a:srgbClr val="000000"/>
                          </a:solidFill>
                          <a:latin typeface="等线" panose="02010600030101010101" charset="-122"/>
                          <a:ea typeface="等线" panose="02010600030101010101" charset="-122"/>
                        </a:rPr>
                        <a:t>10</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Consumer Services </a:t>
                      </a:r>
                      <a:r>
                        <a:rPr lang="zh-CN" altLang="en-US" sz="1100" b="0" i="0">
                          <a:solidFill>
                            <a:srgbClr val="000000"/>
                          </a:solidFill>
                          <a:latin typeface="等线" panose="02010600030101010101" charset="-122"/>
                          <a:ea typeface="等线" panose="02010600030101010101" charset="-122"/>
                        </a:rPr>
                        <a:t>消费者服务</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3.66%</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r>
            </a:tbl>
          </a:graphicData>
        </a:graphic>
      </p:graphicFrame>
      <p:graphicFrame>
        <p:nvGraphicFramePr>
          <p:cNvPr id="6" name="表格 5"/>
          <p:cNvGraphicFramePr/>
          <p:nvPr>
            <p:custDataLst>
              <p:tags r:id="rId2"/>
            </p:custDataLst>
          </p:nvPr>
        </p:nvGraphicFramePr>
        <p:xfrm>
          <a:off x="4401185" y="922020"/>
          <a:ext cx="3389630" cy="2545397"/>
        </p:xfrm>
        <a:graphic>
          <a:graphicData uri="http://schemas.openxmlformats.org/drawingml/2006/table">
            <a:tbl>
              <a:tblPr/>
              <a:tblGrid>
                <a:gridCol w="330835"/>
                <a:gridCol w="2263775"/>
                <a:gridCol w="795020"/>
              </a:tblGrid>
              <a:tr h="200025">
                <a:tc>
                  <a:txBody>
                    <a:bodyPr/>
                    <a:lstStyle/>
                    <a:p>
                      <a:pPr algn="ctr" fontAlgn="b"/>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a:txBody>
                    <a:bodyPr/>
                    <a:lstStyle/>
                    <a:p>
                      <a:pPr algn="l" fontAlgn="b"/>
                      <a:r>
                        <a:rPr lang="en-US" altLang="zh-CN" sz="1100" b="1" i="0">
                          <a:solidFill>
                            <a:srgbClr val="000000"/>
                          </a:solidFill>
                          <a:latin typeface="等线" panose="02010600030101010101" charset="-122"/>
                          <a:ea typeface="等线" panose="02010600030101010101" charset="-122"/>
                        </a:rPr>
                        <a:t>GFOF - Top 10 Long Positions 2022</a:t>
                      </a:r>
                      <a:endParaRPr lang="en-US" altLang="zh-CN" sz="1100" b="1"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a:txBody>
                    <a:bodyPr/>
                    <a:lstStyle/>
                    <a:p>
                      <a:pPr algn="l" fontAlgn="b"/>
                      <a:endParaRPr sz="1100" b="1"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r>
              <a:tr h="200025">
                <a:tc>
                  <a:txBody>
                    <a:bodyPr/>
                    <a:lstStyle/>
                    <a:p>
                      <a:pPr algn="ctr" fontAlgn="b"/>
                      <a:endParaRPr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w="6350" cap="flat" cmpd="sng">
                      <a:solidFill>
                        <a:srgbClr val="000000"/>
                      </a:solidFill>
                      <a:prstDash val="solid"/>
                      <a:headEnd type="none" w="med" len="med"/>
                      <a:tailEnd type="none" w="med" len="med"/>
                    </a:lnT>
                    <a:lnB>
                      <a:noFill/>
                    </a:lnB>
                    <a:noFill/>
                  </a:tcPr>
                </a:tc>
                <a:tc>
                  <a:txBody>
                    <a:bodyPr/>
                    <a:lstStyle/>
                    <a:p>
                      <a:pPr algn="l" fontAlgn="b"/>
                      <a:r>
                        <a:rPr lang="en-US" altLang="zh-CN" sz="1100" b="1" i="0">
                          <a:solidFill>
                            <a:srgbClr val="000000"/>
                          </a:solidFill>
                          <a:latin typeface="等线" panose="02010600030101010101" charset="-122"/>
                          <a:ea typeface="等线" panose="02010600030101010101" charset="-122"/>
                        </a:rPr>
                        <a:t>GICS Industry Group</a:t>
                      </a:r>
                      <a:endParaRPr lang="en-US" altLang="zh-CN" sz="1100" b="1" i="0">
                        <a:solidFill>
                          <a:srgbClr val="000000"/>
                        </a:solidFill>
                        <a:latin typeface="等线" panose="02010600030101010101" charset="-122"/>
                        <a:ea typeface="等线" panose="02010600030101010101" charset="-122"/>
                      </a:endParaRPr>
                    </a:p>
                  </a:txBody>
                  <a:tcPr marL="9842" marR="9842" marT="9842" marB="0" anchor="b">
                    <a:lnL>
                      <a:noFill/>
                    </a:lnL>
                    <a:lnR>
                      <a:noFill/>
                    </a:lnR>
                    <a:lnT w="6350" cap="flat" cmpd="sng">
                      <a:solidFill>
                        <a:srgbClr val="000000"/>
                      </a:solidFill>
                      <a:prstDash val="solid"/>
                      <a:headEnd type="none" w="med" len="med"/>
                      <a:tailEnd type="none" w="med" len="med"/>
                    </a:lnT>
                    <a:lnB>
                      <a:noFill/>
                    </a:lnB>
                    <a:noFill/>
                  </a:tcPr>
                </a:tc>
                <a:tc>
                  <a:txBody>
                    <a:bodyPr/>
                    <a:lstStyle/>
                    <a:p>
                      <a:pPr algn="l" fontAlgn="b"/>
                      <a:r>
                        <a:rPr lang="en-US" altLang="zh-CN" sz="1100" b="1" i="0">
                          <a:solidFill>
                            <a:srgbClr val="000000"/>
                          </a:solidFill>
                          <a:latin typeface="等线" panose="02010600030101010101" charset="-122"/>
                          <a:ea typeface="等线" panose="02010600030101010101" charset="-122"/>
                        </a:rPr>
                        <a:t>Weighting</a:t>
                      </a:r>
                      <a:endParaRPr lang="en-US" altLang="zh-CN" sz="1100" b="1" i="0">
                        <a:solidFill>
                          <a:srgbClr val="000000"/>
                        </a:solidFill>
                        <a:latin typeface="等线" panose="02010600030101010101" charset="-122"/>
                        <a:ea typeface="等线" panose="02010600030101010101" charset="-122"/>
                      </a:endParaRPr>
                    </a:p>
                  </a:txBody>
                  <a:tcPr marL="9842" marR="9842" marT="9842" marB="0" anchor="b">
                    <a:lnL>
                      <a:noFill/>
                    </a:lnL>
                    <a:lnR>
                      <a:noFill/>
                    </a:lnR>
                    <a:lnT w="6350" cap="flat" cmpd="sng">
                      <a:solidFill>
                        <a:srgbClr val="000000"/>
                      </a:solidFill>
                      <a:prstDash val="solid"/>
                      <a:headEnd type="none" w="med" len="med"/>
                      <a:tailEnd type="none" w="med" len="med"/>
                    </a:lnT>
                    <a:lnB>
                      <a:noFill/>
                    </a:lnB>
                    <a:noFill/>
                  </a:tcPr>
                </a:tc>
              </a:tr>
              <a:tr h="200025">
                <a:tc>
                  <a:txBody>
                    <a:bodyPr/>
                    <a:lstStyle/>
                    <a:p>
                      <a:pPr algn="ctr" fontAlgn="b"/>
                      <a:r>
                        <a:rPr lang="en-US" altLang="zh-CN" sz="1100" b="0" i="0">
                          <a:solidFill>
                            <a:srgbClr val="000000"/>
                          </a:solidFill>
                          <a:latin typeface="等线" panose="02010600030101010101" charset="-122"/>
                          <a:ea typeface="等线" panose="02010600030101010101" charset="-122"/>
                        </a:rPr>
                        <a:t>1</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ETF</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11.50%</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200025">
                <a:tc>
                  <a:txBody>
                    <a:bodyPr/>
                    <a:lstStyle/>
                    <a:p>
                      <a:pPr algn="ctr" fontAlgn="b"/>
                      <a:r>
                        <a:rPr lang="en-US" altLang="zh-CN" sz="1100" b="0" i="0">
                          <a:solidFill>
                            <a:srgbClr val="000000"/>
                          </a:solidFill>
                          <a:latin typeface="等线" panose="02010600030101010101" charset="-122"/>
                          <a:ea typeface="等线" panose="02010600030101010101" charset="-122"/>
                        </a:rPr>
                        <a:t>2</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Media &amp; Entertainment </a:t>
                      </a:r>
                      <a:r>
                        <a:rPr lang="zh-CN" altLang="en-US" sz="1100">
                          <a:solidFill>
                            <a:srgbClr val="000000"/>
                          </a:solidFill>
                          <a:latin typeface="等线" panose="02010600030101010101" charset="-122"/>
                          <a:ea typeface="等线" panose="02010600030101010101" charset="-122"/>
                          <a:sym typeface="+mn-ea"/>
                        </a:rPr>
                        <a:t>社交媒体</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10.26%</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200025">
                <a:tc>
                  <a:txBody>
                    <a:bodyPr/>
                    <a:lstStyle/>
                    <a:p>
                      <a:pPr algn="ctr" fontAlgn="b"/>
                      <a:r>
                        <a:rPr lang="en-US" altLang="zh-CN" sz="1100" b="0" i="0">
                          <a:solidFill>
                            <a:srgbClr val="000000"/>
                          </a:solidFill>
                          <a:latin typeface="等线" panose="02010600030101010101" charset="-122"/>
                          <a:ea typeface="等线" panose="02010600030101010101" charset="-122"/>
                        </a:rPr>
                        <a:t>3</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Retailing </a:t>
                      </a:r>
                      <a:r>
                        <a:rPr lang="zh-CN" altLang="en-US" sz="1100" b="0" i="0">
                          <a:solidFill>
                            <a:srgbClr val="000000"/>
                          </a:solidFill>
                          <a:latin typeface="等线" panose="02010600030101010101" charset="-122"/>
                          <a:ea typeface="等线" panose="02010600030101010101" charset="-122"/>
                        </a:rPr>
                        <a:t>消费零售</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9.70%</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200025">
                <a:tc>
                  <a:txBody>
                    <a:bodyPr/>
                    <a:lstStyle/>
                    <a:p>
                      <a:pPr algn="ctr" fontAlgn="b"/>
                      <a:r>
                        <a:rPr lang="en-US" altLang="zh-CN" sz="1100" b="0" i="0">
                          <a:solidFill>
                            <a:srgbClr val="000000"/>
                          </a:solidFill>
                          <a:latin typeface="等线" panose="02010600030101010101" charset="-122"/>
                          <a:ea typeface="等线" panose="02010600030101010101" charset="-122"/>
                        </a:rPr>
                        <a:t>4</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Transportation </a:t>
                      </a:r>
                      <a:r>
                        <a:rPr lang="zh-CN" altLang="en-US" sz="1100" b="0" i="0">
                          <a:solidFill>
                            <a:srgbClr val="000000"/>
                          </a:solidFill>
                          <a:latin typeface="等线" panose="02010600030101010101" charset="-122"/>
                          <a:ea typeface="等线" panose="02010600030101010101" charset="-122"/>
                        </a:rPr>
                        <a:t>交通运输</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8.49%</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200025">
                <a:tc>
                  <a:txBody>
                    <a:bodyPr/>
                    <a:lstStyle/>
                    <a:p>
                      <a:pPr algn="ctr" fontAlgn="b"/>
                      <a:r>
                        <a:rPr lang="en-US" altLang="zh-CN" sz="1100" b="0" i="0">
                          <a:solidFill>
                            <a:srgbClr val="000000"/>
                          </a:solidFill>
                          <a:latin typeface="等线" panose="02010600030101010101" charset="-122"/>
                          <a:ea typeface="等线" panose="02010600030101010101" charset="-122"/>
                        </a:rPr>
                        <a:t>5</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Retailing </a:t>
                      </a:r>
                      <a:r>
                        <a:rPr lang="zh-CN" altLang="en-US" sz="1100" b="0" i="0">
                          <a:solidFill>
                            <a:srgbClr val="000000"/>
                          </a:solidFill>
                          <a:latin typeface="等线" panose="02010600030101010101" charset="-122"/>
                          <a:ea typeface="等线" panose="02010600030101010101" charset="-122"/>
                        </a:rPr>
                        <a:t>消费零售</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8.10%</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200025">
                <a:tc>
                  <a:txBody>
                    <a:bodyPr/>
                    <a:lstStyle/>
                    <a:p>
                      <a:pPr algn="ctr" fontAlgn="b"/>
                      <a:r>
                        <a:rPr lang="en-US" altLang="zh-CN" sz="1100" b="0" i="0">
                          <a:solidFill>
                            <a:srgbClr val="000000"/>
                          </a:solidFill>
                          <a:latin typeface="等线" panose="02010600030101010101" charset="-122"/>
                          <a:ea typeface="等线" panose="02010600030101010101" charset="-122"/>
                        </a:rPr>
                        <a:t>6</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Media &amp; Entertainment </a:t>
                      </a:r>
                      <a:r>
                        <a:rPr lang="zh-CN" altLang="en-US" sz="1100">
                          <a:solidFill>
                            <a:srgbClr val="000000"/>
                          </a:solidFill>
                          <a:latin typeface="等线" panose="02010600030101010101" charset="-122"/>
                          <a:ea typeface="等线" panose="02010600030101010101" charset="-122"/>
                          <a:sym typeface="+mn-ea"/>
                        </a:rPr>
                        <a:t>社交媒体</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6.84%</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200025">
                <a:tc>
                  <a:txBody>
                    <a:bodyPr/>
                    <a:lstStyle/>
                    <a:p>
                      <a:pPr algn="ctr" fontAlgn="b"/>
                      <a:r>
                        <a:rPr lang="en-US" altLang="zh-CN" sz="1100" b="0" i="0">
                          <a:solidFill>
                            <a:srgbClr val="000000"/>
                          </a:solidFill>
                          <a:latin typeface="等线" panose="02010600030101010101" charset="-122"/>
                          <a:ea typeface="等线" panose="02010600030101010101" charset="-122"/>
                        </a:rPr>
                        <a:t>7</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Consumer Services </a:t>
                      </a:r>
                      <a:r>
                        <a:rPr lang="zh-CN" altLang="en-US" sz="1100" b="0" i="0">
                          <a:solidFill>
                            <a:srgbClr val="000000"/>
                          </a:solidFill>
                          <a:latin typeface="等线" panose="02010600030101010101" charset="-122"/>
                          <a:ea typeface="等线" panose="02010600030101010101" charset="-122"/>
                        </a:rPr>
                        <a:t>消费者服务</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6.26%</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200025">
                <a:tc>
                  <a:txBody>
                    <a:bodyPr/>
                    <a:lstStyle/>
                    <a:p>
                      <a:pPr algn="ctr" fontAlgn="b"/>
                      <a:r>
                        <a:rPr lang="en-US" altLang="zh-CN" sz="1100" b="0" i="0">
                          <a:solidFill>
                            <a:srgbClr val="000000"/>
                          </a:solidFill>
                          <a:latin typeface="等线" panose="02010600030101010101" charset="-122"/>
                          <a:ea typeface="等线" panose="02010600030101010101" charset="-122"/>
                        </a:rPr>
                        <a:t>8</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Media &amp; Entertainment </a:t>
                      </a:r>
                      <a:r>
                        <a:rPr lang="zh-CN" altLang="en-US" sz="1100">
                          <a:solidFill>
                            <a:srgbClr val="000000"/>
                          </a:solidFill>
                          <a:latin typeface="等线" panose="02010600030101010101" charset="-122"/>
                          <a:ea typeface="等线" panose="02010600030101010101" charset="-122"/>
                          <a:sym typeface="+mn-ea"/>
                        </a:rPr>
                        <a:t>社交媒体</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6.00%</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200025">
                <a:tc>
                  <a:txBody>
                    <a:bodyPr/>
                    <a:lstStyle/>
                    <a:p>
                      <a:pPr algn="ctr" fontAlgn="b"/>
                      <a:r>
                        <a:rPr lang="en-US" altLang="zh-CN" sz="1100" b="0" i="0">
                          <a:solidFill>
                            <a:srgbClr val="000000"/>
                          </a:solidFill>
                          <a:latin typeface="等线" panose="02010600030101010101" charset="-122"/>
                          <a:ea typeface="等线" panose="02010600030101010101" charset="-122"/>
                        </a:rPr>
                        <a:t>9</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Utilities </a:t>
                      </a:r>
                      <a:r>
                        <a:rPr lang="zh-CN" altLang="en-US" sz="1100" b="0" i="0">
                          <a:solidFill>
                            <a:srgbClr val="000000"/>
                          </a:solidFill>
                          <a:latin typeface="等线" panose="02010600030101010101" charset="-122"/>
                          <a:ea typeface="等线" panose="02010600030101010101" charset="-122"/>
                        </a:rPr>
                        <a:t>公用事业</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5.00%</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200025">
                <a:tc>
                  <a:txBody>
                    <a:bodyPr/>
                    <a:lstStyle/>
                    <a:p>
                      <a:pPr algn="ctr" fontAlgn="b"/>
                      <a:r>
                        <a:rPr lang="en-US" altLang="zh-CN" sz="1100" b="0" i="0">
                          <a:solidFill>
                            <a:srgbClr val="000000"/>
                          </a:solidFill>
                          <a:latin typeface="等线" panose="02010600030101010101" charset="-122"/>
                          <a:ea typeface="等线" panose="02010600030101010101" charset="-122"/>
                        </a:rPr>
                        <a:t>10</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Utilities </a:t>
                      </a:r>
                      <a:r>
                        <a:rPr lang="zh-CN" altLang="en-US" sz="1100" b="0" i="0">
                          <a:solidFill>
                            <a:srgbClr val="000000"/>
                          </a:solidFill>
                          <a:latin typeface="等线" panose="02010600030101010101" charset="-122"/>
                          <a:ea typeface="等线" panose="02010600030101010101" charset="-122"/>
                        </a:rPr>
                        <a:t>公用事业</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4.94%</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r>
            </a:tbl>
          </a:graphicData>
        </a:graphic>
      </p:graphicFrame>
      <p:graphicFrame>
        <p:nvGraphicFramePr>
          <p:cNvPr id="9" name="表格 8"/>
          <p:cNvGraphicFramePr/>
          <p:nvPr>
            <p:custDataLst>
              <p:tags r:id="rId3"/>
            </p:custDataLst>
          </p:nvPr>
        </p:nvGraphicFramePr>
        <p:xfrm>
          <a:off x="8220710" y="916940"/>
          <a:ext cx="3780790" cy="2438717"/>
        </p:xfrm>
        <a:graphic>
          <a:graphicData uri="http://schemas.openxmlformats.org/drawingml/2006/table">
            <a:tbl>
              <a:tblPr/>
              <a:tblGrid>
                <a:gridCol w="330835"/>
                <a:gridCol w="2741930"/>
                <a:gridCol w="708025"/>
              </a:tblGrid>
              <a:tr h="190500">
                <a:tc>
                  <a:txBody>
                    <a:bodyPr/>
                    <a:lstStyle/>
                    <a:p>
                      <a:pPr algn="ctr" fontAlgn="b"/>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a:txBody>
                    <a:bodyPr/>
                    <a:lstStyle/>
                    <a:p>
                      <a:pPr algn="l" fontAlgn="b"/>
                      <a:r>
                        <a:rPr lang="en-US" altLang="zh-CN" sz="1100" b="1" i="0">
                          <a:solidFill>
                            <a:srgbClr val="000000"/>
                          </a:solidFill>
                          <a:latin typeface="等线" panose="02010600030101010101" charset="-122"/>
                          <a:ea typeface="等线" panose="02010600030101010101" charset="-122"/>
                        </a:rPr>
                        <a:t>GFOF - Top 10 Long Positions 2023</a:t>
                      </a:r>
                      <a:endParaRPr lang="en-US" altLang="zh-CN" sz="1100" b="1"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a:txBody>
                    <a:bodyPr/>
                    <a:lstStyle/>
                    <a:p>
                      <a:pPr algn="l" fontAlgn="b"/>
                      <a:endParaRPr sz="1100" b="1"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r>
              <a:tr h="189865">
                <a:tc>
                  <a:txBody>
                    <a:bodyPr/>
                    <a:lstStyle/>
                    <a:p>
                      <a:pPr algn="ctr" fontAlgn="b"/>
                      <a:endParaRPr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w="6350" cap="flat" cmpd="sng">
                      <a:solidFill>
                        <a:srgbClr val="000000"/>
                      </a:solidFill>
                      <a:prstDash val="solid"/>
                      <a:headEnd type="none" w="med" len="med"/>
                      <a:tailEnd type="none" w="med" len="med"/>
                    </a:lnT>
                    <a:lnB>
                      <a:noFill/>
                    </a:lnB>
                    <a:noFill/>
                  </a:tcPr>
                </a:tc>
                <a:tc>
                  <a:txBody>
                    <a:bodyPr/>
                    <a:lstStyle/>
                    <a:p>
                      <a:pPr algn="l" fontAlgn="b"/>
                      <a:r>
                        <a:rPr lang="en-US" altLang="zh-CN" sz="1100" b="1" i="0">
                          <a:solidFill>
                            <a:srgbClr val="000000"/>
                          </a:solidFill>
                          <a:latin typeface="等线" panose="02010600030101010101" charset="-122"/>
                          <a:ea typeface="等线" panose="02010600030101010101" charset="-122"/>
                        </a:rPr>
                        <a:t>GICS Industry Group</a:t>
                      </a:r>
                      <a:endParaRPr lang="en-US" altLang="zh-CN" sz="1100" b="1" i="0">
                        <a:solidFill>
                          <a:srgbClr val="000000"/>
                        </a:solidFill>
                        <a:latin typeface="等线" panose="02010600030101010101" charset="-122"/>
                        <a:ea typeface="等线" panose="02010600030101010101" charset="-122"/>
                      </a:endParaRPr>
                    </a:p>
                  </a:txBody>
                  <a:tcPr marL="9842" marR="9842" marT="9842" marB="0" anchor="b">
                    <a:lnL>
                      <a:noFill/>
                    </a:lnL>
                    <a:lnR>
                      <a:noFill/>
                    </a:lnR>
                    <a:lnT w="6350" cap="flat" cmpd="sng">
                      <a:solidFill>
                        <a:srgbClr val="000000"/>
                      </a:solidFill>
                      <a:prstDash val="solid"/>
                      <a:headEnd type="none" w="med" len="med"/>
                      <a:tailEnd type="none" w="med" len="med"/>
                    </a:lnT>
                    <a:lnB>
                      <a:noFill/>
                    </a:lnB>
                    <a:noFill/>
                  </a:tcPr>
                </a:tc>
                <a:tc>
                  <a:txBody>
                    <a:bodyPr/>
                    <a:lstStyle/>
                    <a:p>
                      <a:pPr algn="l" fontAlgn="b"/>
                      <a:r>
                        <a:rPr lang="en-US" altLang="zh-CN" sz="1100" b="1" i="0">
                          <a:solidFill>
                            <a:srgbClr val="000000"/>
                          </a:solidFill>
                          <a:latin typeface="等线" panose="02010600030101010101" charset="-122"/>
                          <a:ea typeface="等线" panose="02010600030101010101" charset="-122"/>
                        </a:rPr>
                        <a:t>Weighting</a:t>
                      </a:r>
                      <a:endParaRPr lang="en-US" altLang="zh-CN" sz="1100" b="1" i="0">
                        <a:solidFill>
                          <a:srgbClr val="000000"/>
                        </a:solidFill>
                        <a:latin typeface="等线" panose="02010600030101010101" charset="-122"/>
                        <a:ea typeface="等线" panose="02010600030101010101" charset="-122"/>
                      </a:endParaRPr>
                    </a:p>
                  </a:txBody>
                  <a:tcPr marL="9842" marR="9842" marT="9842" marB="0" anchor="b">
                    <a:lnL>
                      <a:noFill/>
                    </a:lnL>
                    <a:lnR>
                      <a:noFill/>
                    </a:lnR>
                    <a:lnT w="6350" cap="flat" cmpd="sng">
                      <a:solidFill>
                        <a:srgbClr val="000000"/>
                      </a:solidFill>
                      <a:prstDash val="solid"/>
                      <a:headEnd type="none" w="med" len="med"/>
                      <a:tailEnd type="none" w="med" len="med"/>
                    </a:lnT>
                    <a:lnB>
                      <a:noFill/>
                    </a:lnB>
                    <a:noFill/>
                  </a:tcPr>
                </a:tc>
              </a:tr>
              <a:tr h="190500">
                <a:tc>
                  <a:txBody>
                    <a:bodyPr/>
                    <a:lstStyle/>
                    <a:p>
                      <a:pPr algn="ctr" fontAlgn="b"/>
                      <a:r>
                        <a:rPr lang="en-US" altLang="zh-CN" sz="1100" b="0" i="0">
                          <a:solidFill>
                            <a:srgbClr val="000000"/>
                          </a:solidFill>
                          <a:latin typeface="等线" panose="02010600030101010101" charset="-122"/>
                          <a:ea typeface="等线" panose="02010600030101010101" charset="-122"/>
                        </a:rPr>
                        <a:t>1</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Media &amp; Entertainment </a:t>
                      </a:r>
                      <a:r>
                        <a:rPr lang="zh-CN" altLang="en-US" sz="1100">
                          <a:solidFill>
                            <a:srgbClr val="000000"/>
                          </a:solidFill>
                          <a:latin typeface="等线" panose="02010600030101010101" charset="-122"/>
                          <a:ea typeface="等线" panose="02010600030101010101" charset="-122"/>
                          <a:sym typeface="+mn-ea"/>
                        </a:rPr>
                        <a:t>社交媒体</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18.02%</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90500">
                <a:tc>
                  <a:txBody>
                    <a:bodyPr/>
                    <a:lstStyle/>
                    <a:p>
                      <a:pPr algn="ctr" fontAlgn="b"/>
                      <a:r>
                        <a:rPr lang="en-US" altLang="zh-CN" sz="1100" b="0" i="0">
                          <a:solidFill>
                            <a:srgbClr val="000000"/>
                          </a:solidFill>
                          <a:latin typeface="等线" panose="02010600030101010101" charset="-122"/>
                          <a:ea typeface="等线" panose="02010600030101010101" charset="-122"/>
                        </a:rPr>
                        <a:t>2</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Software &amp; Services </a:t>
                      </a:r>
                      <a:r>
                        <a:rPr lang="zh-CN" altLang="en-US" sz="1100" b="0" i="0">
                          <a:solidFill>
                            <a:srgbClr val="000000"/>
                          </a:solidFill>
                          <a:latin typeface="等线" panose="02010600030101010101" charset="-122"/>
                          <a:ea typeface="等线" panose="02010600030101010101" charset="-122"/>
                        </a:rPr>
                        <a:t>软件与服务</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14.39%</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344805">
                <a:tc>
                  <a:txBody>
                    <a:bodyPr/>
                    <a:lstStyle/>
                    <a:p>
                      <a:pPr algn="ctr" fontAlgn="b"/>
                      <a:r>
                        <a:rPr lang="en-US" altLang="zh-CN" sz="1100" b="0" i="0">
                          <a:solidFill>
                            <a:srgbClr val="000000"/>
                          </a:solidFill>
                          <a:latin typeface="等线" panose="02010600030101010101" charset="-122"/>
                          <a:ea typeface="等线" panose="02010600030101010101" charset="-122"/>
                        </a:rPr>
                        <a:t>3</a:t>
                      </a:r>
                      <a:endParaRPr lang="en-US" altLang="zh-CN" sz="1100" b="0" i="0">
                        <a:solidFill>
                          <a:srgbClr val="00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Consumer Discretionary Distribution &amp; Retail</a:t>
                      </a:r>
                      <a:endParaRPr lang="en-US" altLang="zh-CN" sz="1100" b="0" i="0">
                        <a:solidFill>
                          <a:srgbClr val="000000"/>
                        </a:solidFill>
                        <a:latin typeface="等线" panose="02010600030101010101" charset="-122"/>
                        <a:ea typeface="等线" panose="02010600030101010101" charset="-122"/>
                      </a:endParaRPr>
                    </a:p>
                    <a:p>
                      <a:pPr algn="l" fontAlgn="b"/>
                      <a:r>
                        <a:rPr lang="zh-CN" altLang="en-US" sz="1100" b="0" i="0">
                          <a:solidFill>
                            <a:srgbClr val="000000"/>
                          </a:solidFill>
                          <a:latin typeface="等线" panose="02010600030101010101" charset="-122"/>
                          <a:ea typeface="等线" panose="02010600030101010101" charset="-122"/>
                        </a:rPr>
                        <a:t>可选消费与零售</a:t>
                      </a:r>
                      <a:r>
                        <a:rPr lang="en-US" altLang="zh-CN" sz="1100" b="0" i="0">
                          <a:solidFill>
                            <a:srgbClr val="000000"/>
                          </a:solidFill>
                          <a:latin typeface="等线" panose="02010600030101010101" charset="-122"/>
                          <a:ea typeface="等线" panose="02010600030101010101" charset="-122"/>
                        </a:rPr>
                        <a:t> </a:t>
                      </a:r>
                      <a:endParaRPr lang="en-US" altLang="zh-CN" sz="1100" b="0" i="0">
                        <a:solidFill>
                          <a:srgbClr val="00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13.77%</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90500">
                <a:tc>
                  <a:txBody>
                    <a:bodyPr/>
                    <a:lstStyle/>
                    <a:p>
                      <a:pPr algn="ctr" fontAlgn="b"/>
                      <a:r>
                        <a:rPr lang="en-US" altLang="zh-CN" sz="1100" b="0" i="0">
                          <a:solidFill>
                            <a:srgbClr val="000000"/>
                          </a:solidFill>
                          <a:latin typeface="等线" panose="02010600030101010101" charset="-122"/>
                          <a:ea typeface="等线" panose="02010600030101010101" charset="-122"/>
                        </a:rPr>
                        <a:t>4</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Media &amp; Entertainment </a:t>
                      </a:r>
                      <a:r>
                        <a:rPr lang="zh-CN" altLang="en-US" sz="1100">
                          <a:solidFill>
                            <a:srgbClr val="000000"/>
                          </a:solidFill>
                          <a:latin typeface="等线" panose="02010600030101010101" charset="-122"/>
                          <a:ea typeface="等线" panose="02010600030101010101" charset="-122"/>
                          <a:sym typeface="+mn-ea"/>
                        </a:rPr>
                        <a:t>社交媒体</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8.85%</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90500">
                <a:tc>
                  <a:txBody>
                    <a:bodyPr/>
                    <a:lstStyle/>
                    <a:p>
                      <a:pPr algn="ctr" fontAlgn="b"/>
                      <a:r>
                        <a:rPr lang="en-US" altLang="zh-CN" sz="1100" b="0" i="0">
                          <a:solidFill>
                            <a:srgbClr val="000000"/>
                          </a:solidFill>
                          <a:latin typeface="等线" panose="02010600030101010101" charset="-122"/>
                          <a:ea typeface="等线" panose="02010600030101010101" charset="-122"/>
                        </a:rPr>
                        <a:t>5</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Consumer Services </a:t>
                      </a:r>
                      <a:r>
                        <a:rPr lang="zh-CN" altLang="en-US" sz="1100" b="0" i="0">
                          <a:solidFill>
                            <a:srgbClr val="000000"/>
                          </a:solidFill>
                          <a:latin typeface="等线" panose="02010600030101010101" charset="-122"/>
                          <a:ea typeface="等线" panose="02010600030101010101" charset="-122"/>
                        </a:rPr>
                        <a:t>消费者服务</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8.13%</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9865">
                <a:tc>
                  <a:txBody>
                    <a:bodyPr/>
                    <a:lstStyle/>
                    <a:p>
                      <a:pPr algn="ctr" fontAlgn="b"/>
                      <a:r>
                        <a:rPr lang="en-US" altLang="zh-CN" sz="1100" b="0" i="0">
                          <a:solidFill>
                            <a:srgbClr val="000000"/>
                          </a:solidFill>
                          <a:latin typeface="等线" panose="02010600030101010101" charset="-122"/>
                          <a:ea typeface="等线" panose="02010600030101010101" charset="-122"/>
                        </a:rPr>
                        <a:t>6</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ETF</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7.60%</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90500">
                <a:tc>
                  <a:txBody>
                    <a:bodyPr/>
                    <a:lstStyle/>
                    <a:p>
                      <a:pPr algn="ctr" fontAlgn="b"/>
                      <a:r>
                        <a:rPr lang="en-US" altLang="zh-CN" sz="1100" b="0" i="0">
                          <a:solidFill>
                            <a:srgbClr val="000000"/>
                          </a:solidFill>
                          <a:latin typeface="等线" panose="02010600030101010101" charset="-122"/>
                          <a:ea typeface="等线" panose="02010600030101010101" charset="-122"/>
                        </a:rPr>
                        <a:t>7</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Consumer Services </a:t>
                      </a:r>
                      <a:r>
                        <a:rPr lang="zh-CN" altLang="en-US" sz="1100" b="0" i="0">
                          <a:solidFill>
                            <a:srgbClr val="000000"/>
                          </a:solidFill>
                          <a:latin typeface="等线" panose="02010600030101010101" charset="-122"/>
                          <a:ea typeface="等线" panose="02010600030101010101" charset="-122"/>
                        </a:rPr>
                        <a:t>消费者服务</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7.34%</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90500">
                <a:tc>
                  <a:txBody>
                    <a:bodyPr/>
                    <a:lstStyle/>
                    <a:p>
                      <a:pPr algn="ctr" fontAlgn="b"/>
                      <a:r>
                        <a:rPr lang="en-US" altLang="zh-CN" sz="1100" b="0" i="0">
                          <a:solidFill>
                            <a:srgbClr val="000000"/>
                          </a:solidFill>
                          <a:latin typeface="等线" panose="02010600030101010101" charset="-122"/>
                          <a:ea typeface="等线" panose="02010600030101010101" charset="-122"/>
                        </a:rPr>
                        <a:t>8</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Telecommunication Services </a:t>
                      </a:r>
                      <a:r>
                        <a:rPr lang="zh-CN" altLang="en-US" sz="1100" b="0" i="0">
                          <a:solidFill>
                            <a:srgbClr val="000000"/>
                          </a:solidFill>
                          <a:latin typeface="等线" panose="02010600030101010101" charset="-122"/>
                          <a:ea typeface="等线" panose="02010600030101010101" charset="-122"/>
                        </a:rPr>
                        <a:t>电信服务</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5.68%</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9865">
                <a:tc>
                  <a:txBody>
                    <a:bodyPr/>
                    <a:lstStyle/>
                    <a:p>
                      <a:pPr algn="ctr" fontAlgn="b"/>
                      <a:r>
                        <a:rPr lang="en-US" altLang="zh-CN" sz="1100" b="0" i="0">
                          <a:solidFill>
                            <a:srgbClr val="000000"/>
                          </a:solidFill>
                          <a:latin typeface="等线" panose="02010600030101010101" charset="-122"/>
                          <a:ea typeface="等线" panose="02010600030101010101" charset="-122"/>
                        </a:rPr>
                        <a:t>9</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Media &amp; Entertainment </a:t>
                      </a:r>
                      <a:r>
                        <a:rPr lang="zh-CN" altLang="en-US" sz="1100">
                          <a:solidFill>
                            <a:srgbClr val="000000"/>
                          </a:solidFill>
                          <a:latin typeface="等线" panose="02010600030101010101" charset="-122"/>
                          <a:ea typeface="等线" panose="02010600030101010101" charset="-122"/>
                          <a:sym typeface="+mn-ea"/>
                        </a:rPr>
                        <a:t>社交媒体</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5.32%</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90500">
                <a:tc>
                  <a:txBody>
                    <a:bodyPr/>
                    <a:lstStyle/>
                    <a:p>
                      <a:pPr algn="ctr" fontAlgn="b"/>
                      <a:r>
                        <a:rPr lang="en-US" altLang="zh-CN" sz="1100" b="0" i="0">
                          <a:solidFill>
                            <a:srgbClr val="000000"/>
                          </a:solidFill>
                          <a:latin typeface="等线" panose="02010600030101010101" charset="-122"/>
                          <a:ea typeface="等线" panose="02010600030101010101" charset="-122"/>
                        </a:rPr>
                        <a:t>10</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Media &amp; Entertainment </a:t>
                      </a:r>
                      <a:r>
                        <a:rPr lang="zh-CN" altLang="en-US" sz="1100">
                          <a:solidFill>
                            <a:srgbClr val="000000"/>
                          </a:solidFill>
                          <a:latin typeface="等线" panose="02010600030101010101" charset="-122"/>
                          <a:ea typeface="等线" panose="02010600030101010101" charset="-122"/>
                          <a:sym typeface="+mn-ea"/>
                        </a:rPr>
                        <a:t>社交媒体</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5.18%</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r>
            </a:tbl>
          </a:graphicData>
        </a:graphic>
      </p:graphicFrame>
      <p:graphicFrame>
        <p:nvGraphicFramePr>
          <p:cNvPr id="11" name="表格 10"/>
          <p:cNvGraphicFramePr/>
          <p:nvPr>
            <p:custDataLst>
              <p:tags r:id="rId4"/>
            </p:custDataLst>
          </p:nvPr>
        </p:nvGraphicFramePr>
        <p:xfrm>
          <a:off x="1454785" y="3708400"/>
          <a:ext cx="3765550" cy="2612072"/>
        </p:xfrm>
        <a:graphic>
          <a:graphicData uri="http://schemas.openxmlformats.org/drawingml/2006/table">
            <a:tbl>
              <a:tblPr/>
              <a:tblGrid>
                <a:gridCol w="315595"/>
                <a:gridCol w="2742565"/>
                <a:gridCol w="707390"/>
              </a:tblGrid>
              <a:tr h="189865">
                <a:tc>
                  <a:txBody>
                    <a:bodyPr/>
                    <a:lstStyle/>
                    <a:p>
                      <a:pPr algn="ctr" fontAlgn="b"/>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gridSpan="2">
                  <a:txBody>
                    <a:bodyPr/>
                    <a:lstStyle/>
                    <a:p>
                      <a:pPr algn="l" fontAlgn="b"/>
                      <a:r>
                        <a:rPr lang="en-US" altLang="zh-CN" sz="1100" b="1" i="0">
                          <a:solidFill>
                            <a:srgbClr val="000000"/>
                          </a:solidFill>
                          <a:latin typeface="等线" panose="02010600030101010101" charset="-122"/>
                          <a:ea typeface="等线" panose="02010600030101010101" charset="-122"/>
                        </a:rPr>
                        <a:t>GFOF - Top 10 Long Positions 2024Q2</a:t>
                      </a:r>
                      <a:endParaRPr lang="en-US" altLang="zh-CN" sz="1100" b="1"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hMerge="1">
                  <a:tcPr marL="9842" marR="9842" marT="9842" marB="0" anchor="b">
                    <a:lnL>
                      <a:noFill/>
                    </a:lnL>
                    <a:lnR>
                      <a:noFill/>
                    </a:lnR>
                    <a:lnT>
                      <a:noFill/>
                    </a:lnT>
                    <a:lnB w="6350" cap="flat" cmpd="sng">
                      <a:solidFill>
                        <a:srgbClr val="000000"/>
                      </a:solidFill>
                      <a:prstDash val="solid"/>
                      <a:headEnd type="none" w="med" len="med"/>
                      <a:tailEnd type="none" w="med" len="med"/>
                    </a:lnB>
                    <a:noFill/>
                  </a:tcPr>
                </a:tc>
              </a:tr>
              <a:tr h="189230">
                <a:tc>
                  <a:txBody>
                    <a:bodyPr/>
                    <a:lstStyle/>
                    <a:p>
                      <a:pPr algn="ctr" fontAlgn="b"/>
                      <a:endParaRPr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w="6350" cap="flat" cmpd="sng">
                      <a:solidFill>
                        <a:srgbClr val="000000"/>
                      </a:solidFill>
                      <a:prstDash val="solid"/>
                      <a:headEnd type="none" w="med" len="med"/>
                      <a:tailEnd type="none" w="med" len="med"/>
                    </a:lnT>
                    <a:lnB>
                      <a:noFill/>
                    </a:lnB>
                    <a:noFill/>
                  </a:tcPr>
                </a:tc>
                <a:tc>
                  <a:txBody>
                    <a:bodyPr/>
                    <a:lstStyle/>
                    <a:p>
                      <a:pPr algn="l" fontAlgn="b"/>
                      <a:r>
                        <a:rPr lang="en-US" altLang="zh-CN" sz="1100" b="1" i="0">
                          <a:solidFill>
                            <a:srgbClr val="000000"/>
                          </a:solidFill>
                          <a:latin typeface="等线" panose="02010600030101010101" charset="-122"/>
                          <a:ea typeface="等线" panose="02010600030101010101" charset="-122"/>
                        </a:rPr>
                        <a:t>GICS Industry Group</a:t>
                      </a:r>
                      <a:endParaRPr lang="en-US" altLang="zh-CN" sz="1100" b="1" i="0">
                        <a:solidFill>
                          <a:srgbClr val="000000"/>
                        </a:solidFill>
                        <a:latin typeface="等线" panose="02010600030101010101" charset="-122"/>
                        <a:ea typeface="等线" panose="02010600030101010101" charset="-122"/>
                      </a:endParaRPr>
                    </a:p>
                  </a:txBody>
                  <a:tcPr marL="9842" marR="9842" marT="9842" marB="0" anchor="b">
                    <a:lnL>
                      <a:noFill/>
                    </a:lnL>
                    <a:lnR>
                      <a:noFill/>
                    </a:lnR>
                    <a:lnT w="6350" cap="flat" cmpd="sng">
                      <a:solidFill>
                        <a:srgbClr val="000000"/>
                      </a:solidFill>
                      <a:prstDash val="solid"/>
                      <a:headEnd type="none" w="med" len="med"/>
                      <a:tailEnd type="none" w="med" len="med"/>
                    </a:lnT>
                    <a:lnB>
                      <a:noFill/>
                    </a:lnB>
                    <a:noFill/>
                  </a:tcPr>
                </a:tc>
                <a:tc>
                  <a:txBody>
                    <a:bodyPr/>
                    <a:lstStyle/>
                    <a:p>
                      <a:pPr algn="l" fontAlgn="b"/>
                      <a:r>
                        <a:rPr lang="en-US" altLang="zh-CN" sz="1100" b="1" i="0">
                          <a:solidFill>
                            <a:srgbClr val="000000"/>
                          </a:solidFill>
                          <a:latin typeface="等线" panose="02010600030101010101" charset="-122"/>
                          <a:ea typeface="等线" panose="02010600030101010101" charset="-122"/>
                        </a:rPr>
                        <a:t>Weighting</a:t>
                      </a:r>
                      <a:endParaRPr lang="en-US" altLang="zh-CN" sz="1100" b="1" i="0">
                        <a:solidFill>
                          <a:srgbClr val="000000"/>
                        </a:solidFill>
                        <a:latin typeface="等线" panose="02010600030101010101" charset="-122"/>
                        <a:ea typeface="等线" panose="02010600030101010101" charset="-122"/>
                      </a:endParaRPr>
                    </a:p>
                  </a:txBody>
                  <a:tcPr marL="9842" marR="9842" marT="9842" marB="0" anchor="b">
                    <a:lnL>
                      <a:noFill/>
                    </a:lnL>
                    <a:lnR>
                      <a:noFill/>
                    </a:lnR>
                    <a:lnT w="6350" cap="flat" cmpd="sng">
                      <a:solidFill>
                        <a:srgbClr val="000000"/>
                      </a:solidFill>
                      <a:prstDash val="solid"/>
                      <a:headEnd type="none" w="med" len="med"/>
                      <a:tailEnd type="none" w="med" len="med"/>
                    </a:lnT>
                    <a:lnB>
                      <a:noFill/>
                    </a:lnB>
                    <a:noFill/>
                  </a:tcPr>
                </a:tc>
              </a:tr>
              <a:tr h="190500">
                <a:tc>
                  <a:txBody>
                    <a:bodyPr/>
                    <a:lstStyle/>
                    <a:p>
                      <a:pPr algn="ctr" fontAlgn="b"/>
                      <a:r>
                        <a:rPr lang="en-US" altLang="zh-CN" sz="1100" b="0" i="0">
                          <a:solidFill>
                            <a:srgbClr val="000000"/>
                          </a:solidFill>
                          <a:latin typeface="等线" panose="02010600030101010101" charset="-122"/>
                          <a:ea typeface="等线" panose="02010600030101010101" charset="-122"/>
                        </a:rPr>
                        <a:t>1</a:t>
                      </a:r>
                      <a:endParaRPr lang="en-US" altLang="zh-CN" sz="1100" b="0" i="0">
                        <a:solidFill>
                          <a:srgbClr val="00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Media &amp; Entertainment </a:t>
                      </a:r>
                      <a:r>
                        <a:rPr lang="zh-CN" altLang="en-US" sz="1100">
                          <a:solidFill>
                            <a:srgbClr val="000000"/>
                          </a:solidFill>
                          <a:latin typeface="等线" panose="02010600030101010101" charset="-122"/>
                          <a:ea typeface="等线" panose="02010600030101010101" charset="-122"/>
                          <a:sym typeface="+mn-ea"/>
                        </a:rPr>
                        <a:t>社交媒体</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14.84%</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344805">
                <a:tc>
                  <a:txBody>
                    <a:bodyPr/>
                    <a:lstStyle/>
                    <a:p>
                      <a:pPr algn="ctr" fontAlgn="b"/>
                      <a:r>
                        <a:rPr lang="en-US" altLang="zh-CN" sz="1100" b="0" i="0">
                          <a:solidFill>
                            <a:srgbClr val="000000"/>
                          </a:solidFill>
                          <a:latin typeface="等线" panose="02010600030101010101" charset="-122"/>
                          <a:ea typeface="等线" panose="02010600030101010101" charset="-122"/>
                        </a:rPr>
                        <a:t>2</a:t>
                      </a:r>
                      <a:endParaRPr lang="en-US" altLang="zh-CN" sz="1100" b="0" i="0">
                        <a:solidFill>
                          <a:srgbClr val="00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Semiconductors &amp;  Equipment </a:t>
                      </a:r>
                      <a:endParaRPr lang="en-US" altLang="zh-CN" sz="1100" b="0" i="0">
                        <a:solidFill>
                          <a:srgbClr val="000000"/>
                        </a:solidFill>
                        <a:latin typeface="等线" panose="02010600030101010101" charset="-122"/>
                        <a:ea typeface="等线" panose="02010600030101010101" charset="-122"/>
                      </a:endParaRPr>
                    </a:p>
                    <a:p>
                      <a:pPr algn="l" fontAlgn="b"/>
                      <a:r>
                        <a:rPr lang="zh-CN" altLang="en-US" sz="1100" b="0" i="0">
                          <a:solidFill>
                            <a:srgbClr val="000000"/>
                          </a:solidFill>
                          <a:latin typeface="等线" panose="02010600030101010101" charset="-122"/>
                          <a:ea typeface="等线" panose="02010600030101010101" charset="-122"/>
                        </a:rPr>
                        <a:t>半导体及设备</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13.89%</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9865">
                <a:tc>
                  <a:txBody>
                    <a:bodyPr/>
                    <a:lstStyle/>
                    <a:p>
                      <a:pPr algn="ctr" fontAlgn="b"/>
                      <a:r>
                        <a:rPr lang="en-US" altLang="zh-CN" sz="1100" b="0" i="0">
                          <a:solidFill>
                            <a:srgbClr val="000000"/>
                          </a:solidFill>
                          <a:latin typeface="等线" panose="02010600030101010101" charset="-122"/>
                          <a:ea typeface="等线" panose="02010600030101010101" charset="-122"/>
                        </a:rPr>
                        <a:t>3</a:t>
                      </a:r>
                      <a:endParaRPr lang="en-US" altLang="zh-CN" sz="1100" b="0" i="0">
                        <a:solidFill>
                          <a:srgbClr val="00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Software &amp; Services </a:t>
                      </a:r>
                      <a:r>
                        <a:rPr lang="zh-CN" altLang="en-US" sz="1100" b="0" i="0">
                          <a:solidFill>
                            <a:srgbClr val="000000"/>
                          </a:solidFill>
                          <a:latin typeface="等线" panose="02010600030101010101" charset="-122"/>
                          <a:ea typeface="等线" panose="02010600030101010101" charset="-122"/>
                        </a:rPr>
                        <a:t>软件与服务</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9.89%</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9865">
                <a:tc>
                  <a:txBody>
                    <a:bodyPr/>
                    <a:lstStyle/>
                    <a:p>
                      <a:pPr algn="ctr" fontAlgn="b"/>
                      <a:r>
                        <a:rPr lang="en-US" altLang="zh-CN" sz="1100" b="0" i="0">
                          <a:solidFill>
                            <a:srgbClr val="000000"/>
                          </a:solidFill>
                          <a:latin typeface="等线" panose="02010600030101010101" charset="-122"/>
                          <a:ea typeface="等线" panose="02010600030101010101" charset="-122"/>
                        </a:rPr>
                        <a:t>4</a:t>
                      </a:r>
                      <a:endParaRPr lang="en-US" altLang="zh-CN" sz="1100" b="0" i="0">
                        <a:solidFill>
                          <a:srgbClr val="00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Consumer Services </a:t>
                      </a:r>
                      <a:r>
                        <a:rPr lang="zh-CN" altLang="en-US" sz="1100" b="0" i="0">
                          <a:solidFill>
                            <a:srgbClr val="000000"/>
                          </a:solidFill>
                          <a:latin typeface="等线" panose="02010600030101010101" charset="-122"/>
                          <a:ea typeface="等线" panose="02010600030101010101" charset="-122"/>
                        </a:rPr>
                        <a:t>消费者服务</a:t>
                      </a:r>
                      <a:endParaRPr lang="zh-CN" altLang="en-US" sz="1100" b="0" i="0">
                        <a:solidFill>
                          <a:srgbClr val="00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9.69%</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368935">
                <a:tc>
                  <a:txBody>
                    <a:bodyPr/>
                    <a:lstStyle/>
                    <a:p>
                      <a:pPr algn="ctr" fontAlgn="b"/>
                      <a:r>
                        <a:rPr lang="en-US" altLang="zh-CN" sz="1100" b="0" i="0">
                          <a:solidFill>
                            <a:srgbClr val="000000"/>
                          </a:solidFill>
                          <a:latin typeface="等线" panose="02010600030101010101" charset="-122"/>
                          <a:ea typeface="等线" panose="02010600030101010101" charset="-122"/>
                        </a:rPr>
                        <a:t>5</a:t>
                      </a:r>
                      <a:endParaRPr lang="en-US" altLang="zh-CN" sz="1100" b="0" i="0">
                        <a:solidFill>
                          <a:srgbClr val="00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Consumer Discretionary Distribution &amp; Retail</a:t>
                      </a:r>
                      <a:endParaRPr lang="en-US" altLang="zh-CN" sz="1100" b="0" i="0">
                        <a:solidFill>
                          <a:srgbClr val="000000"/>
                        </a:solidFill>
                        <a:latin typeface="等线" panose="02010600030101010101" charset="-122"/>
                        <a:ea typeface="等线" panose="02010600030101010101" charset="-122"/>
                      </a:endParaRPr>
                    </a:p>
                    <a:p>
                      <a:pPr algn="l" fontAlgn="b"/>
                      <a:r>
                        <a:rPr lang="zh-CN" altLang="en-US" sz="1100" b="0" i="0">
                          <a:solidFill>
                            <a:srgbClr val="000000"/>
                          </a:solidFill>
                          <a:latin typeface="等线" panose="02010600030101010101" charset="-122"/>
                          <a:ea typeface="等线" panose="02010600030101010101" charset="-122"/>
                        </a:rPr>
                        <a:t>可选消费与零售</a:t>
                      </a:r>
                      <a:r>
                        <a:rPr lang="en-US" altLang="zh-CN" sz="1100" b="0" i="0">
                          <a:solidFill>
                            <a:srgbClr val="000000"/>
                          </a:solidFill>
                          <a:latin typeface="等线" panose="02010600030101010101" charset="-122"/>
                          <a:ea typeface="等线" panose="02010600030101010101" charset="-122"/>
                        </a:rPr>
                        <a:t> </a:t>
                      </a:r>
                      <a:endParaRPr lang="en-US" altLang="zh-CN" sz="1100" b="0" i="0">
                        <a:solidFill>
                          <a:srgbClr val="00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9.10%</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9865">
                <a:tc>
                  <a:txBody>
                    <a:bodyPr/>
                    <a:lstStyle/>
                    <a:p>
                      <a:pPr algn="ctr" fontAlgn="b"/>
                      <a:r>
                        <a:rPr lang="en-US" altLang="zh-CN" sz="1100" b="0" i="0">
                          <a:solidFill>
                            <a:srgbClr val="000000"/>
                          </a:solidFill>
                          <a:latin typeface="等线" panose="02010600030101010101" charset="-122"/>
                          <a:ea typeface="等线" panose="02010600030101010101" charset="-122"/>
                        </a:rPr>
                        <a:t>6</a:t>
                      </a:r>
                      <a:endParaRPr lang="en-US" altLang="zh-CN" sz="1100" b="0" i="0">
                        <a:solidFill>
                          <a:srgbClr val="00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Transportation </a:t>
                      </a:r>
                      <a:r>
                        <a:rPr lang="zh-CN" altLang="en-US" sz="1100" b="0" i="0">
                          <a:solidFill>
                            <a:srgbClr val="000000"/>
                          </a:solidFill>
                          <a:latin typeface="等线" panose="02010600030101010101" charset="-122"/>
                          <a:ea typeface="等线" panose="02010600030101010101" charset="-122"/>
                        </a:rPr>
                        <a:t>交通运输</a:t>
                      </a:r>
                      <a:endParaRPr lang="zh-CN" altLang="en-US" sz="1100" b="0" i="0">
                        <a:solidFill>
                          <a:srgbClr val="00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8.24%</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9230">
                <a:tc>
                  <a:txBody>
                    <a:bodyPr/>
                    <a:lstStyle/>
                    <a:p>
                      <a:pPr algn="ctr" fontAlgn="b"/>
                      <a:r>
                        <a:rPr lang="en-US" altLang="zh-CN" sz="1100" b="0" i="0">
                          <a:solidFill>
                            <a:srgbClr val="000000"/>
                          </a:solidFill>
                          <a:latin typeface="等线" panose="02010600030101010101" charset="-122"/>
                          <a:ea typeface="等线" panose="02010600030101010101" charset="-122"/>
                        </a:rPr>
                        <a:t>7</a:t>
                      </a:r>
                      <a:endParaRPr lang="en-US" altLang="zh-CN" sz="1100" b="0" i="0">
                        <a:solidFill>
                          <a:srgbClr val="00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Media &amp; Entertainment </a:t>
                      </a:r>
                      <a:r>
                        <a:rPr lang="zh-CN" altLang="en-US" sz="1100">
                          <a:solidFill>
                            <a:srgbClr val="000000"/>
                          </a:solidFill>
                          <a:latin typeface="等线" panose="02010600030101010101" charset="-122"/>
                          <a:ea typeface="等线" panose="02010600030101010101" charset="-122"/>
                          <a:sym typeface="+mn-ea"/>
                        </a:rPr>
                        <a:t>社交媒体</a:t>
                      </a:r>
                      <a:endParaRPr lang="en-US" altLang="zh-CN" sz="1100" b="0" i="0">
                        <a:solidFill>
                          <a:srgbClr val="00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7.02%</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90500">
                <a:tc>
                  <a:txBody>
                    <a:bodyPr/>
                    <a:lstStyle/>
                    <a:p>
                      <a:pPr algn="ctr" fontAlgn="b"/>
                      <a:r>
                        <a:rPr lang="en-US" altLang="zh-CN" sz="1100" b="0" i="0">
                          <a:solidFill>
                            <a:srgbClr val="000000"/>
                          </a:solidFill>
                          <a:latin typeface="等线" panose="02010600030101010101" charset="-122"/>
                          <a:ea typeface="等线" panose="02010600030101010101" charset="-122"/>
                        </a:rPr>
                        <a:t>8</a:t>
                      </a:r>
                      <a:endParaRPr lang="en-US" altLang="zh-CN" sz="1100" b="0" i="0">
                        <a:solidFill>
                          <a:srgbClr val="00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Media &amp; Entertainment </a:t>
                      </a:r>
                      <a:r>
                        <a:rPr lang="zh-CN" altLang="en-US" sz="1100">
                          <a:solidFill>
                            <a:srgbClr val="000000"/>
                          </a:solidFill>
                          <a:latin typeface="等线" panose="02010600030101010101" charset="-122"/>
                          <a:ea typeface="等线" panose="02010600030101010101" charset="-122"/>
                          <a:sym typeface="+mn-ea"/>
                        </a:rPr>
                        <a:t>社交媒体</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5.65%</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9230">
                <a:tc>
                  <a:txBody>
                    <a:bodyPr/>
                    <a:lstStyle/>
                    <a:p>
                      <a:pPr algn="ctr" fontAlgn="b"/>
                      <a:r>
                        <a:rPr lang="en-US" altLang="zh-CN" sz="1100" b="0" i="0">
                          <a:solidFill>
                            <a:srgbClr val="000000"/>
                          </a:solidFill>
                          <a:latin typeface="等线" panose="02010600030101010101" charset="-122"/>
                          <a:ea typeface="等线" panose="02010600030101010101" charset="-122"/>
                        </a:rPr>
                        <a:t>9</a:t>
                      </a:r>
                      <a:endParaRPr lang="en-US" altLang="zh-CN" sz="1100" b="0" i="0">
                        <a:solidFill>
                          <a:srgbClr val="00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Consumer Services </a:t>
                      </a:r>
                      <a:r>
                        <a:rPr lang="zh-CN" altLang="en-US" sz="1100" b="0" i="0">
                          <a:solidFill>
                            <a:srgbClr val="000000"/>
                          </a:solidFill>
                          <a:latin typeface="等线" panose="02010600030101010101" charset="-122"/>
                          <a:ea typeface="等线" panose="02010600030101010101" charset="-122"/>
                        </a:rPr>
                        <a:t>消费者服务</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4.67%</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9865">
                <a:tc>
                  <a:txBody>
                    <a:bodyPr/>
                    <a:lstStyle/>
                    <a:p>
                      <a:pPr algn="ctr" fontAlgn="b"/>
                      <a:r>
                        <a:rPr lang="en-US" altLang="zh-CN" sz="1100" b="0" i="0">
                          <a:solidFill>
                            <a:srgbClr val="000000"/>
                          </a:solidFill>
                          <a:latin typeface="等线" panose="02010600030101010101" charset="-122"/>
                          <a:ea typeface="等线" panose="02010600030101010101" charset="-122"/>
                        </a:rPr>
                        <a:t>10</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Telecommunication Services </a:t>
                      </a:r>
                      <a:r>
                        <a:rPr lang="zh-CN" altLang="en-US" sz="1100" b="0" i="0">
                          <a:solidFill>
                            <a:srgbClr val="000000"/>
                          </a:solidFill>
                          <a:latin typeface="等线" panose="02010600030101010101" charset="-122"/>
                          <a:ea typeface="等线" panose="02010600030101010101" charset="-122"/>
                        </a:rPr>
                        <a:t>电信服务</a:t>
                      </a:r>
                      <a:endParaRPr lang="zh-CN" altLang="en-US"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3.90%</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r>
            </a:tbl>
          </a:graphicData>
        </a:graphic>
      </p:graphicFrame>
      <p:graphicFrame>
        <p:nvGraphicFramePr>
          <p:cNvPr id="13" name="表格 12"/>
          <p:cNvGraphicFramePr/>
          <p:nvPr>
            <p:custDataLst>
              <p:tags r:id="rId5"/>
            </p:custDataLst>
          </p:nvPr>
        </p:nvGraphicFramePr>
        <p:xfrm>
          <a:off x="6605270" y="3708400"/>
          <a:ext cx="3389630" cy="2594610"/>
        </p:xfrm>
        <a:graphic>
          <a:graphicData uri="http://schemas.openxmlformats.org/drawingml/2006/table">
            <a:tbl>
              <a:tblPr/>
              <a:tblGrid>
                <a:gridCol w="330835"/>
                <a:gridCol w="2263775"/>
                <a:gridCol w="795020"/>
              </a:tblGrid>
              <a:tr h="186690">
                <a:tc>
                  <a:txBody>
                    <a:bodyPr/>
                    <a:lstStyle/>
                    <a:p>
                      <a:pPr algn="ctr" fontAlgn="b"/>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gridSpan="2">
                  <a:txBody>
                    <a:bodyPr/>
                    <a:lstStyle/>
                    <a:p>
                      <a:pPr algn="l" fontAlgn="b"/>
                      <a:r>
                        <a:rPr lang="en-US" altLang="zh-CN" sz="1100" b="1" i="0">
                          <a:solidFill>
                            <a:srgbClr val="000000"/>
                          </a:solidFill>
                          <a:latin typeface="等线" panose="02010600030101010101" charset="-122"/>
                          <a:ea typeface="等线" panose="02010600030101010101" charset="-122"/>
                        </a:rPr>
                        <a:t>GFOF - Top 10 Long Positions 2024Q3</a:t>
                      </a:r>
                      <a:endParaRPr lang="en-US" altLang="zh-CN" sz="1100" b="1"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hMerge="1">
                  <a:tcPr marL="9842" marR="9842" marT="9842" marB="0" anchor="b">
                    <a:lnL>
                      <a:noFill/>
                    </a:lnL>
                    <a:lnR>
                      <a:noFill/>
                    </a:lnR>
                    <a:lnT>
                      <a:noFill/>
                    </a:lnT>
                    <a:lnB w="6350" cap="flat" cmpd="sng">
                      <a:solidFill>
                        <a:srgbClr val="000000"/>
                      </a:solidFill>
                      <a:prstDash val="solid"/>
                      <a:headEnd type="none" w="med" len="med"/>
                      <a:tailEnd type="none" w="med" len="med"/>
                    </a:lnB>
                    <a:noFill/>
                  </a:tcPr>
                </a:tc>
              </a:tr>
              <a:tr h="186690">
                <a:tc>
                  <a:txBody>
                    <a:bodyPr/>
                    <a:lstStyle/>
                    <a:p>
                      <a:pPr algn="ctr" fontAlgn="b"/>
                      <a:endParaRPr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w="6350" cap="flat" cmpd="sng">
                      <a:solidFill>
                        <a:srgbClr val="000000"/>
                      </a:solidFill>
                      <a:prstDash val="solid"/>
                      <a:headEnd type="none" w="med" len="med"/>
                      <a:tailEnd type="none" w="med" len="med"/>
                    </a:lnT>
                    <a:lnB>
                      <a:noFill/>
                    </a:lnB>
                    <a:noFill/>
                  </a:tcPr>
                </a:tc>
                <a:tc>
                  <a:txBody>
                    <a:bodyPr/>
                    <a:lstStyle/>
                    <a:p>
                      <a:pPr algn="l" fontAlgn="b"/>
                      <a:r>
                        <a:rPr lang="en-US" altLang="zh-CN" sz="1100" b="1" i="0">
                          <a:solidFill>
                            <a:srgbClr val="000000"/>
                          </a:solidFill>
                          <a:latin typeface="等线" panose="02010600030101010101" charset="-122"/>
                          <a:ea typeface="等线" panose="02010600030101010101" charset="-122"/>
                        </a:rPr>
                        <a:t>GICS Industry Group</a:t>
                      </a:r>
                      <a:endParaRPr lang="en-US" altLang="zh-CN" sz="1100" b="1" i="0">
                        <a:solidFill>
                          <a:srgbClr val="000000"/>
                        </a:solidFill>
                        <a:latin typeface="等线" panose="02010600030101010101" charset="-122"/>
                        <a:ea typeface="等线" panose="02010600030101010101" charset="-122"/>
                      </a:endParaRPr>
                    </a:p>
                  </a:txBody>
                  <a:tcPr marL="9842" marR="9842" marT="9842" marB="0" anchor="b">
                    <a:lnL>
                      <a:noFill/>
                    </a:lnL>
                    <a:lnR>
                      <a:noFill/>
                    </a:lnR>
                    <a:lnT w="6350" cap="flat" cmpd="sng">
                      <a:solidFill>
                        <a:srgbClr val="000000"/>
                      </a:solidFill>
                      <a:prstDash val="solid"/>
                      <a:headEnd type="none" w="med" len="med"/>
                      <a:tailEnd type="none" w="med" len="med"/>
                    </a:lnT>
                    <a:lnB>
                      <a:noFill/>
                    </a:lnB>
                    <a:noFill/>
                  </a:tcPr>
                </a:tc>
                <a:tc>
                  <a:txBody>
                    <a:bodyPr/>
                    <a:lstStyle/>
                    <a:p>
                      <a:pPr algn="l" fontAlgn="b"/>
                      <a:r>
                        <a:rPr lang="en-US" altLang="zh-CN" sz="1100" b="1" i="0">
                          <a:solidFill>
                            <a:srgbClr val="000000"/>
                          </a:solidFill>
                          <a:latin typeface="等线" panose="02010600030101010101" charset="-122"/>
                          <a:ea typeface="等线" panose="02010600030101010101" charset="-122"/>
                        </a:rPr>
                        <a:t>Weighting</a:t>
                      </a:r>
                      <a:endParaRPr lang="en-US" altLang="zh-CN" sz="1100" b="1" i="0">
                        <a:solidFill>
                          <a:srgbClr val="000000"/>
                        </a:solidFill>
                        <a:latin typeface="等线" panose="02010600030101010101" charset="-122"/>
                        <a:ea typeface="等线" panose="02010600030101010101" charset="-122"/>
                      </a:endParaRPr>
                    </a:p>
                  </a:txBody>
                  <a:tcPr marL="9842" marR="9842" marT="9842" marB="0" anchor="b">
                    <a:lnL>
                      <a:noFill/>
                    </a:lnL>
                    <a:lnR>
                      <a:noFill/>
                    </a:lnR>
                    <a:lnT w="6350" cap="flat" cmpd="sng">
                      <a:solidFill>
                        <a:srgbClr val="000000"/>
                      </a:solidFill>
                      <a:prstDash val="solid"/>
                      <a:headEnd type="none" w="med" len="med"/>
                      <a:tailEnd type="none" w="med" len="med"/>
                    </a:lnT>
                    <a:lnB>
                      <a:noFill/>
                    </a:lnB>
                    <a:noFill/>
                  </a:tcPr>
                </a:tc>
              </a:tr>
              <a:tr h="363855">
                <a:tc>
                  <a:txBody>
                    <a:bodyPr/>
                    <a:lstStyle/>
                    <a:p>
                      <a:pPr algn="ctr" fontAlgn="b"/>
                      <a:r>
                        <a:rPr lang="en-US" altLang="zh-CN" sz="1100" b="0" i="0">
                          <a:solidFill>
                            <a:srgbClr val="000000"/>
                          </a:solidFill>
                          <a:latin typeface="等线" panose="02010600030101010101" charset="-122"/>
                          <a:ea typeface="等线" panose="02010600030101010101" charset="-122"/>
                        </a:rPr>
                        <a:t>1</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Consumer Discretionary Distribution &amp; Retail </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9.52%</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6690">
                <a:tc>
                  <a:txBody>
                    <a:bodyPr/>
                    <a:lstStyle/>
                    <a:p>
                      <a:pPr algn="ctr" fontAlgn="b"/>
                      <a:r>
                        <a:rPr lang="en-US" altLang="zh-CN" sz="1100" b="0" i="0">
                          <a:solidFill>
                            <a:srgbClr val="000000"/>
                          </a:solidFill>
                          <a:latin typeface="等线" panose="02010600030101010101" charset="-122"/>
                          <a:ea typeface="等线" panose="02010600030101010101" charset="-122"/>
                        </a:rPr>
                        <a:t>2</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Media &amp; Entertainment</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8.83%</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363220">
                <a:tc>
                  <a:txBody>
                    <a:bodyPr/>
                    <a:lstStyle/>
                    <a:p>
                      <a:pPr algn="ctr" fontAlgn="b"/>
                      <a:r>
                        <a:rPr lang="en-US" altLang="zh-CN" sz="1100" b="0" i="0">
                          <a:solidFill>
                            <a:srgbClr val="000000"/>
                          </a:solidFill>
                          <a:latin typeface="等线" panose="02010600030101010101" charset="-122"/>
                          <a:ea typeface="等线" panose="02010600030101010101" charset="-122"/>
                        </a:rPr>
                        <a:t>3</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Semiconductors &amp; Semiconductor Equipment</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8.76%</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6690">
                <a:tc>
                  <a:txBody>
                    <a:bodyPr/>
                    <a:lstStyle/>
                    <a:p>
                      <a:pPr algn="ctr" fontAlgn="b"/>
                      <a:r>
                        <a:rPr lang="en-US" altLang="zh-CN" sz="1100" b="0" i="0">
                          <a:solidFill>
                            <a:srgbClr val="000000"/>
                          </a:solidFill>
                          <a:latin typeface="等线" panose="02010600030101010101" charset="-122"/>
                          <a:ea typeface="等线" panose="02010600030101010101" charset="-122"/>
                        </a:rPr>
                        <a:t>4</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Consumer Services</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7.86%</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6690">
                <a:tc>
                  <a:txBody>
                    <a:bodyPr/>
                    <a:lstStyle/>
                    <a:p>
                      <a:pPr algn="ctr" fontAlgn="b"/>
                      <a:r>
                        <a:rPr lang="en-US" altLang="zh-CN" sz="1100" b="0" i="0">
                          <a:solidFill>
                            <a:srgbClr val="000000"/>
                          </a:solidFill>
                          <a:latin typeface="等线" panose="02010600030101010101" charset="-122"/>
                          <a:ea typeface="等线" panose="02010600030101010101" charset="-122"/>
                        </a:rPr>
                        <a:t>5</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Transportation</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7.67%</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7325">
                <a:tc>
                  <a:txBody>
                    <a:bodyPr/>
                    <a:lstStyle/>
                    <a:p>
                      <a:pPr algn="ctr" fontAlgn="b"/>
                      <a:r>
                        <a:rPr lang="en-US" altLang="zh-CN" sz="1100" b="0" i="0">
                          <a:solidFill>
                            <a:srgbClr val="000000"/>
                          </a:solidFill>
                          <a:latin typeface="等线" panose="02010600030101010101" charset="-122"/>
                          <a:ea typeface="等线" panose="02010600030101010101" charset="-122"/>
                        </a:rPr>
                        <a:t>6</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Technology Hardware &amp; Equipment</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7.52%</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6690">
                <a:tc>
                  <a:txBody>
                    <a:bodyPr/>
                    <a:lstStyle/>
                    <a:p>
                      <a:pPr algn="ctr" fontAlgn="b"/>
                      <a:r>
                        <a:rPr lang="en-US" altLang="zh-CN" sz="1100" b="0" i="0">
                          <a:solidFill>
                            <a:srgbClr val="000000"/>
                          </a:solidFill>
                          <a:latin typeface="等线" panose="02010600030101010101" charset="-122"/>
                          <a:ea typeface="等线" panose="02010600030101010101" charset="-122"/>
                        </a:rPr>
                        <a:t>7</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Media &amp; Entertainment</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6.91%</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6690">
                <a:tc>
                  <a:txBody>
                    <a:bodyPr/>
                    <a:lstStyle/>
                    <a:p>
                      <a:pPr algn="ctr" fontAlgn="b"/>
                      <a:r>
                        <a:rPr lang="en-US" altLang="zh-CN" sz="1100" b="0" i="0">
                          <a:solidFill>
                            <a:srgbClr val="000000"/>
                          </a:solidFill>
                          <a:latin typeface="等线" panose="02010600030101010101" charset="-122"/>
                          <a:ea typeface="等线" panose="02010600030101010101" charset="-122"/>
                        </a:rPr>
                        <a:t>8</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Media &amp; Entertainment</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4.59%</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6690">
                <a:tc>
                  <a:txBody>
                    <a:bodyPr/>
                    <a:lstStyle/>
                    <a:p>
                      <a:pPr algn="ctr" fontAlgn="b"/>
                      <a:r>
                        <a:rPr lang="en-US" altLang="zh-CN" sz="1100" b="0" i="0">
                          <a:solidFill>
                            <a:srgbClr val="000000"/>
                          </a:solidFill>
                          <a:latin typeface="等线" panose="02010600030101010101" charset="-122"/>
                          <a:ea typeface="等线" panose="02010600030101010101" charset="-122"/>
                        </a:rPr>
                        <a:t>9</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Telecommunication Services</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3.11%</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6690">
                <a:tc>
                  <a:txBody>
                    <a:bodyPr/>
                    <a:lstStyle/>
                    <a:p>
                      <a:pPr algn="ctr" fontAlgn="b"/>
                      <a:r>
                        <a:rPr lang="en-US" altLang="zh-CN" sz="1100" b="0" i="0">
                          <a:solidFill>
                            <a:srgbClr val="000000"/>
                          </a:solidFill>
                          <a:latin typeface="等线" panose="02010600030101010101" charset="-122"/>
                          <a:ea typeface="等线" panose="02010600030101010101" charset="-122"/>
                        </a:rPr>
                        <a:t>10</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a:txBody>
                    <a:bodyPr/>
                    <a:lstStyle/>
                    <a:p>
                      <a:pPr algn="l" fontAlgn="b"/>
                      <a:r>
                        <a:rPr lang="en-US" altLang="zh-CN" sz="1100" b="0" i="0">
                          <a:solidFill>
                            <a:srgbClr val="000000"/>
                          </a:solidFill>
                          <a:latin typeface="等线" panose="02010600030101010101" charset="-122"/>
                          <a:ea typeface="等线" panose="02010600030101010101" charset="-122"/>
                        </a:rPr>
                        <a:t>Financial Services</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c>
                  <a:txBody>
                    <a:bodyPr/>
                    <a:lstStyle/>
                    <a:p>
                      <a:pPr algn="r" fontAlgn="b"/>
                      <a:r>
                        <a:rPr lang="en-US" altLang="zh-CN" sz="1100" b="0" i="0">
                          <a:solidFill>
                            <a:srgbClr val="000000"/>
                          </a:solidFill>
                          <a:latin typeface="等线" panose="02010600030101010101" charset="-122"/>
                          <a:ea typeface="等线" panose="02010600030101010101" charset="-122"/>
                        </a:rPr>
                        <a:t>2.93%</a:t>
                      </a:r>
                      <a:endParaRPr lang="en-US" altLang="zh-CN" sz="1100" b="0" i="0">
                        <a:solidFill>
                          <a:srgbClr val="000000"/>
                        </a:solidFill>
                        <a:latin typeface="等线" panose="02010600030101010101" charset="-122"/>
                        <a:ea typeface="等线" panose="02010600030101010101" charset="-122"/>
                      </a:endParaRPr>
                    </a:p>
                  </a:txBody>
                  <a:tcPr marL="9842" marR="9842" marT="9842" marB="0" anchor="b">
                    <a:lnL>
                      <a:noFill/>
                    </a:lnL>
                    <a:lnR>
                      <a:noFill/>
                    </a:lnR>
                    <a:lnT>
                      <a:noFill/>
                    </a:lnT>
                    <a:lnB w="6350" cap="flat" cmpd="sng">
                      <a:solidFill>
                        <a:srgbClr val="000000"/>
                      </a:solidFill>
                      <a:prstDash val="solid"/>
                      <a:headEnd type="none" w="med" len="med"/>
                      <a:tailEnd type="none" w="med" len="med"/>
                    </a:lnB>
                    <a:noFill/>
                  </a:tcPr>
                </a:tc>
              </a:tr>
            </a:tbl>
          </a:graphicData>
        </a:graphic>
      </p:graphicFrame>
      <p:graphicFrame>
        <p:nvGraphicFramePr>
          <p:cNvPr id="15" name="表格 14"/>
          <p:cNvGraphicFramePr/>
          <p:nvPr>
            <p:custDataLst>
              <p:tags r:id="rId6"/>
            </p:custDataLst>
          </p:nvPr>
        </p:nvGraphicFramePr>
        <p:xfrm>
          <a:off x="5361940" y="3959860"/>
          <a:ext cx="1243965" cy="2373630"/>
        </p:xfrm>
        <a:graphic>
          <a:graphicData uri="http://schemas.openxmlformats.org/drawingml/2006/table">
            <a:tbl>
              <a:tblPr/>
              <a:tblGrid>
                <a:gridCol w="1243965"/>
              </a:tblGrid>
              <a:tr h="427355">
                <a:tc>
                  <a:txBody>
                    <a:bodyPr/>
                    <a:lstStyle/>
                    <a:p>
                      <a:pPr algn="l" fontAlgn="b"/>
                      <a:r>
                        <a:rPr lang="en-US" altLang="zh-CN" sz="1100" b="0" i="0">
                          <a:solidFill>
                            <a:srgbClr val="FF0000"/>
                          </a:solidFill>
                          <a:latin typeface="等线" panose="02010600030101010101" charset="-122"/>
                          <a:ea typeface="等线" panose="02010600030101010101" charset="-122"/>
                        </a:rPr>
                        <a:t>Meta</a:t>
                      </a:r>
                      <a:endParaRPr lang="en-US" altLang="zh-CN" sz="1100" b="0" i="0">
                        <a:solidFill>
                          <a:srgbClr val="FF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r>
              <a:tr h="278130">
                <a:tc>
                  <a:txBody>
                    <a:bodyPr/>
                    <a:lstStyle/>
                    <a:p>
                      <a:pPr algn="l" fontAlgn="b"/>
                      <a:r>
                        <a:rPr lang="en-US" altLang="zh-CN" sz="1100" b="0" i="0">
                          <a:solidFill>
                            <a:srgbClr val="FF0000"/>
                          </a:solidFill>
                          <a:latin typeface="等线" panose="02010600030101010101" charset="-122"/>
                          <a:ea typeface="等线" panose="02010600030101010101" charset="-122"/>
                        </a:rPr>
                        <a:t>TSMC </a:t>
                      </a:r>
                      <a:r>
                        <a:rPr lang="zh-CN" altLang="en-US" sz="1100" b="0" i="0">
                          <a:solidFill>
                            <a:srgbClr val="FF0000"/>
                          </a:solidFill>
                          <a:latin typeface="等线" panose="02010600030101010101" charset="-122"/>
                          <a:ea typeface="等线" panose="02010600030101010101" charset="-122"/>
                        </a:rPr>
                        <a:t>台积电</a:t>
                      </a:r>
                      <a:endParaRPr lang="zh-CN" altLang="en-US" sz="1100" b="0" i="0">
                        <a:solidFill>
                          <a:srgbClr val="FF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r>
              <a:tr h="205105">
                <a:tc>
                  <a:txBody>
                    <a:bodyPr/>
                    <a:lstStyle/>
                    <a:p>
                      <a:pPr algn="l" fontAlgn="b"/>
                      <a:r>
                        <a:rPr lang="en-US" altLang="zh-CN" sz="1100" b="0" i="0">
                          <a:solidFill>
                            <a:srgbClr val="FF0000"/>
                          </a:solidFill>
                          <a:latin typeface="等线" panose="02010600030101010101" charset="-122"/>
                          <a:ea typeface="等线" panose="02010600030101010101" charset="-122"/>
                        </a:rPr>
                        <a:t>Microsoft </a:t>
                      </a:r>
                      <a:r>
                        <a:rPr lang="zh-CN" altLang="en-US" sz="1100" b="0" i="0">
                          <a:solidFill>
                            <a:srgbClr val="FF0000"/>
                          </a:solidFill>
                          <a:latin typeface="等线" panose="02010600030101010101" charset="-122"/>
                          <a:ea typeface="等线" panose="02010600030101010101" charset="-122"/>
                        </a:rPr>
                        <a:t>微软</a:t>
                      </a:r>
                      <a:endParaRPr lang="zh-CN" altLang="en-US" sz="1100" b="0" i="0">
                        <a:solidFill>
                          <a:srgbClr val="FF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r>
              <a:tr h="358140">
                <a:tc>
                  <a:txBody>
                    <a:bodyPr/>
                    <a:lstStyle/>
                    <a:p>
                      <a:pPr algn="l" fontAlgn="b"/>
                      <a:r>
                        <a:rPr lang="en-US" altLang="zh-CN" sz="1100" b="0" i="0">
                          <a:solidFill>
                            <a:srgbClr val="FF0000"/>
                          </a:solidFill>
                          <a:latin typeface="等线" panose="02010600030101010101" charset="-122"/>
                          <a:ea typeface="等线" panose="02010600030101010101" charset="-122"/>
                        </a:rPr>
                        <a:t>Super Hi </a:t>
                      </a:r>
                      <a:r>
                        <a:rPr lang="zh-CN" altLang="en-US" sz="1100" b="0" i="0">
                          <a:solidFill>
                            <a:srgbClr val="FF0000"/>
                          </a:solidFill>
                          <a:latin typeface="等线" panose="02010600030101010101" charset="-122"/>
                          <a:ea typeface="等线" panose="02010600030101010101" charset="-122"/>
                        </a:rPr>
                        <a:t>特海国际</a:t>
                      </a:r>
                      <a:endParaRPr lang="en-US" altLang="zh-CN" sz="1100" b="0" i="0">
                        <a:solidFill>
                          <a:srgbClr val="FF0000"/>
                        </a:solidFill>
                        <a:latin typeface="等线" panose="02010600030101010101" charset="-122"/>
                        <a:ea typeface="等线" panose="02010600030101010101" charset="-122"/>
                      </a:endParaRPr>
                    </a:p>
                    <a:p>
                      <a:pPr algn="l" fontAlgn="b"/>
                      <a:endParaRPr lang="en-US" altLang="zh-CN" sz="1100" b="0" i="0">
                        <a:solidFill>
                          <a:srgbClr val="FF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r>
              <a:tr h="184150">
                <a:tc>
                  <a:txBody>
                    <a:bodyPr/>
                    <a:lstStyle/>
                    <a:p>
                      <a:pPr algn="l" fontAlgn="b"/>
                      <a:r>
                        <a:rPr lang="en-US" altLang="zh-CN" sz="1100" b="0" i="0">
                          <a:solidFill>
                            <a:srgbClr val="FF0000"/>
                          </a:solidFill>
                          <a:latin typeface="等线" panose="02010600030101010101" charset="-122"/>
                          <a:ea typeface="等线" panose="02010600030101010101" charset="-122"/>
                        </a:rPr>
                        <a:t>PDD </a:t>
                      </a:r>
                      <a:r>
                        <a:rPr lang="zh-CN" altLang="en-US" sz="1100" b="0" i="0">
                          <a:solidFill>
                            <a:srgbClr val="FF0000"/>
                          </a:solidFill>
                          <a:latin typeface="等线" panose="02010600030101010101" charset="-122"/>
                          <a:ea typeface="等线" panose="02010600030101010101" charset="-122"/>
                        </a:rPr>
                        <a:t>拼多多</a:t>
                      </a:r>
                      <a:endParaRPr lang="zh-CN" altLang="en-US" sz="1100" b="0" i="0">
                        <a:solidFill>
                          <a:srgbClr val="FF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r>
              <a:tr h="184150">
                <a:tc>
                  <a:txBody>
                    <a:bodyPr/>
                    <a:lstStyle/>
                    <a:p>
                      <a:pPr algn="l" fontAlgn="b"/>
                      <a:r>
                        <a:rPr lang="en-US" altLang="zh-CN" sz="1100" b="0" i="0">
                          <a:solidFill>
                            <a:srgbClr val="FF0000"/>
                          </a:solidFill>
                          <a:latin typeface="等线" panose="02010600030101010101" charset="-122"/>
                          <a:ea typeface="等线" panose="02010600030101010101" charset="-122"/>
                        </a:rPr>
                        <a:t>Full Truck </a:t>
                      </a:r>
                      <a:r>
                        <a:rPr lang="zh-CN" altLang="en-US" sz="1100" b="0" i="0">
                          <a:solidFill>
                            <a:srgbClr val="FF0000"/>
                          </a:solidFill>
                          <a:latin typeface="等线" panose="02010600030101010101" charset="-122"/>
                          <a:ea typeface="等线" panose="02010600030101010101" charset="-122"/>
                        </a:rPr>
                        <a:t>满帮</a:t>
                      </a:r>
                      <a:endParaRPr lang="zh-CN" altLang="en-US" sz="1100" b="0" i="0">
                        <a:solidFill>
                          <a:srgbClr val="FF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r>
              <a:tr h="184150">
                <a:tc>
                  <a:txBody>
                    <a:bodyPr/>
                    <a:lstStyle/>
                    <a:p>
                      <a:pPr algn="l" fontAlgn="b"/>
                      <a:r>
                        <a:rPr lang="en-US" altLang="zh-CN" sz="1100" b="0" i="0">
                          <a:solidFill>
                            <a:srgbClr val="FF0000"/>
                          </a:solidFill>
                          <a:latin typeface="等线" panose="02010600030101010101" charset="-122"/>
                          <a:ea typeface="等线" panose="02010600030101010101" charset="-122"/>
                        </a:rPr>
                        <a:t>Tencent </a:t>
                      </a:r>
                      <a:r>
                        <a:rPr lang="zh-CN" altLang="en-US" sz="1100" b="0" i="0">
                          <a:solidFill>
                            <a:srgbClr val="FF0000"/>
                          </a:solidFill>
                          <a:latin typeface="等线" panose="02010600030101010101" charset="-122"/>
                          <a:ea typeface="等线" panose="02010600030101010101" charset="-122"/>
                        </a:rPr>
                        <a:t>腾讯</a:t>
                      </a:r>
                      <a:endParaRPr lang="zh-CN" altLang="en-US" sz="1100" b="0" i="0">
                        <a:solidFill>
                          <a:srgbClr val="FF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r>
              <a:tr h="184150">
                <a:tc>
                  <a:txBody>
                    <a:bodyPr/>
                    <a:lstStyle/>
                    <a:p>
                      <a:pPr algn="l" fontAlgn="b"/>
                      <a:r>
                        <a:rPr lang="en-US" altLang="zh-CN" sz="1100" b="0" i="0">
                          <a:solidFill>
                            <a:srgbClr val="FF0000"/>
                          </a:solidFill>
                          <a:latin typeface="等线" panose="02010600030101010101" charset="-122"/>
                          <a:ea typeface="等线" panose="02010600030101010101" charset="-122"/>
                        </a:rPr>
                        <a:t>Netease </a:t>
                      </a:r>
                      <a:r>
                        <a:rPr lang="zh-CN" altLang="en-US" sz="1100" b="0" i="0">
                          <a:solidFill>
                            <a:srgbClr val="FF0000"/>
                          </a:solidFill>
                          <a:latin typeface="等线" panose="02010600030101010101" charset="-122"/>
                          <a:ea typeface="等线" panose="02010600030101010101" charset="-122"/>
                        </a:rPr>
                        <a:t>网易</a:t>
                      </a:r>
                      <a:endParaRPr lang="zh-CN" altLang="en-US" sz="1100" b="0" i="0">
                        <a:solidFill>
                          <a:srgbClr val="FF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r>
              <a:tr h="184150">
                <a:tc>
                  <a:txBody>
                    <a:bodyPr/>
                    <a:lstStyle/>
                    <a:p>
                      <a:pPr algn="l" fontAlgn="b"/>
                      <a:r>
                        <a:rPr lang="en-US" altLang="zh-CN" sz="1100" b="0" i="0">
                          <a:solidFill>
                            <a:srgbClr val="FF0000"/>
                          </a:solidFill>
                          <a:latin typeface="等线" panose="02010600030101010101" charset="-122"/>
                          <a:ea typeface="等线" panose="02010600030101010101" charset="-122"/>
                        </a:rPr>
                        <a:t>Doordash</a:t>
                      </a:r>
                      <a:endParaRPr lang="en-US" altLang="zh-CN" sz="1100" b="0" i="0">
                        <a:solidFill>
                          <a:srgbClr val="FF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r>
              <a:tr h="184150">
                <a:tc>
                  <a:txBody>
                    <a:bodyPr/>
                    <a:lstStyle/>
                    <a:p>
                      <a:pPr algn="l" fontAlgn="b"/>
                      <a:r>
                        <a:rPr lang="en-US" altLang="zh-CN" sz="1100" b="0" i="0">
                          <a:solidFill>
                            <a:srgbClr val="FF0000"/>
                          </a:solidFill>
                          <a:latin typeface="等线" panose="02010600030101010101" charset="-122"/>
                          <a:ea typeface="等线" panose="02010600030101010101" charset="-122"/>
                        </a:rPr>
                        <a:t>CM </a:t>
                      </a:r>
                      <a:r>
                        <a:rPr lang="zh-CN" altLang="en-US" sz="1100" b="0" i="0">
                          <a:solidFill>
                            <a:srgbClr val="FF0000"/>
                          </a:solidFill>
                          <a:latin typeface="等线" panose="02010600030101010101" charset="-122"/>
                          <a:ea typeface="等线" panose="02010600030101010101" charset="-122"/>
                        </a:rPr>
                        <a:t>中国移动</a:t>
                      </a:r>
                      <a:endParaRPr lang="zh-CN" altLang="en-US" sz="1100" b="0" i="0">
                        <a:solidFill>
                          <a:srgbClr val="FF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r>
            </a:tbl>
          </a:graphicData>
        </a:graphic>
      </p:graphicFrame>
      <p:graphicFrame>
        <p:nvGraphicFramePr>
          <p:cNvPr id="16" name="表格 15"/>
          <p:cNvGraphicFramePr/>
          <p:nvPr>
            <p:custDataLst>
              <p:tags r:id="rId7"/>
            </p:custDataLst>
          </p:nvPr>
        </p:nvGraphicFramePr>
        <p:xfrm>
          <a:off x="10220325" y="4074795"/>
          <a:ext cx="1337310" cy="2228215"/>
        </p:xfrm>
        <a:graphic>
          <a:graphicData uri="http://schemas.openxmlformats.org/drawingml/2006/table">
            <a:tbl>
              <a:tblPr/>
              <a:tblGrid>
                <a:gridCol w="1337310"/>
              </a:tblGrid>
              <a:tr h="314325">
                <a:tc>
                  <a:txBody>
                    <a:bodyPr/>
                    <a:lstStyle/>
                    <a:p>
                      <a:pPr algn="l" fontAlgn="b"/>
                      <a:r>
                        <a:rPr lang="en-US" altLang="zh-CN" sz="1100" b="0" i="0">
                          <a:solidFill>
                            <a:srgbClr val="FF0000"/>
                          </a:solidFill>
                          <a:latin typeface="等线" panose="02010600030101010101" charset="-122"/>
                          <a:ea typeface="等线" panose="02010600030101010101" charset="-122"/>
                        </a:rPr>
                        <a:t>PDD </a:t>
                      </a:r>
                      <a:r>
                        <a:rPr lang="zh-CN" altLang="en-US" sz="1100" b="0" i="0">
                          <a:solidFill>
                            <a:srgbClr val="FF0000"/>
                          </a:solidFill>
                          <a:latin typeface="等线" panose="02010600030101010101" charset="-122"/>
                          <a:ea typeface="等线" panose="02010600030101010101" charset="-122"/>
                        </a:rPr>
                        <a:t>拼多多</a:t>
                      </a:r>
                      <a:endParaRPr lang="zh-CN" altLang="en-US" sz="1100" b="0" i="0">
                        <a:solidFill>
                          <a:srgbClr val="FF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328930">
                <a:tc>
                  <a:txBody>
                    <a:bodyPr/>
                    <a:lstStyle/>
                    <a:p>
                      <a:pPr algn="l" fontAlgn="b"/>
                      <a:r>
                        <a:rPr lang="en-US" altLang="zh-CN" sz="1100" b="0" i="0">
                          <a:solidFill>
                            <a:srgbClr val="FF0000"/>
                          </a:solidFill>
                          <a:latin typeface="等线" panose="02010600030101010101" charset="-122"/>
                          <a:ea typeface="等线" panose="02010600030101010101" charset="-122"/>
                        </a:rPr>
                        <a:t>Meta</a:t>
                      </a:r>
                      <a:endParaRPr lang="en-US" altLang="zh-CN" sz="1100" b="0" i="0">
                        <a:solidFill>
                          <a:srgbClr val="FF0000"/>
                        </a:solidFill>
                        <a:latin typeface="等线" panose="02010600030101010101" charset="-122"/>
                        <a:ea typeface="等线" panose="02010600030101010101" charset="-122"/>
                      </a:endParaRPr>
                    </a:p>
                  </a:txBody>
                  <a:tcPr marL="9842" marR="9842" marT="9842" marB="0" anchor="ctr">
                    <a:lnL>
                      <a:noFill/>
                    </a:lnL>
                    <a:lnR>
                      <a:noFill/>
                    </a:lnR>
                    <a:lnT>
                      <a:noFill/>
                    </a:lnT>
                    <a:lnB>
                      <a:noFill/>
                    </a:lnB>
                    <a:noFill/>
                  </a:tcPr>
                </a:tc>
              </a:tr>
              <a:tr h="179705">
                <a:tc>
                  <a:txBody>
                    <a:bodyPr/>
                    <a:lstStyle/>
                    <a:p>
                      <a:pPr algn="l" fontAlgn="b"/>
                      <a:r>
                        <a:rPr lang="en-US" altLang="zh-CN" sz="1100" b="0" i="0">
                          <a:solidFill>
                            <a:srgbClr val="FF0000"/>
                          </a:solidFill>
                          <a:latin typeface="等线" panose="02010600030101010101" charset="-122"/>
                          <a:ea typeface="等线" panose="02010600030101010101" charset="-122"/>
                        </a:rPr>
                        <a:t>TSMC </a:t>
                      </a:r>
                      <a:r>
                        <a:rPr lang="zh-CN" altLang="en-US" sz="1100" b="0" i="0">
                          <a:solidFill>
                            <a:srgbClr val="FF0000"/>
                          </a:solidFill>
                          <a:latin typeface="等线" panose="02010600030101010101" charset="-122"/>
                          <a:ea typeface="等线" panose="02010600030101010101" charset="-122"/>
                        </a:rPr>
                        <a:t>台积电</a:t>
                      </a:r>
                      <a:endParaRPr lang="zh-CN" altLang="en-US" sz="1100" b="0" i="0">
                        <a:solidFill>
                          <a:srgbClr val="FF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323215">
                <a:tc>
                  <a:txBody>
                    <a:bodyPr/>
                    <a:lstStyle/>
                    <a:p>
                      <a:pPr algn="l" fontAlgn="b"/>
                      <a:r>
                        <a:rPr lang="en-US" altLang="zh-CN" sz="1100" b="0" i="0">
                          <a:solidFill>
                            <a:srgbClr val="FF0000"/>
                          </a:solidFill>
                          <a:latin typeface="等线" panose="02010600030101010101" charset="-122"/>
                          <a:ea typeface="等线" panose="02010600030101010101" charset="-122"/>
                        </a:rPr>
                        <a:t>Super Hi </a:t>
                      </a:r>
                      <a:r>
                        <a:rPr lang="zh-CN" altLang="en-US" sz="1100" b="0" i="0">
                          <a:solidFill>
                            <a:srgbClr val="FF0000"/>
                          </a:solidFill>
                          <a:latin typeface="等线" panose="02010600030101010101" charset="-122"/>
                          <a:ea typeface="等线" panose="02010600030101010101" charset="-122"/>
                        </a:rPr>
                        <a:t>特海国际</a:t>
                      </a:r>
                      <a:endParaRPr lang="zh-CN" altLang="en-US" sz="1100" b="0" i="0">
                        <a:solidFill>
                          <a:srgbClr val="FF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0340">
                <a:tc>
                  <a:txBody>
                    <a:bodyPr/>
                    <a:lstStyle/>
                    <a:p>
                      <a:pPr algn="l" fontAlgn="b"/>
                      <a:r>
                        <a:rPr lang="en-US" altLang="zh-CN" sz="1100" b="0" i="0">
                          <a:solidFill>
                            <a:srgbClr val="FF0000"/>
                          </a:solidFill>
                          <a:latin typeface="等线" panose="02010600030101010101" charset="-122"/>
                          <a:ea typeface="等线" panose="02010600030101010101" charset="-122"/>
                        </a:rPr>
                        <a:t>Full Truck </a:t>
                      </a:r>
                      <a:r>
                        <a:rPr lang="zh-CN" altLang="en-US" sz="1100" b="0" i="0">
                          <a:solidFill>
                            <a:srgbClr val="FF0000"/>
                          </a:solidFill>
                          <a:latin typeface="等线" panose="02010600030101010101" charset="-122"/>
                          <a:ea typeface="等线" panose="02010600030101010101" charset="-122"/>
                        </a:rPr>
                        <a:t>满帮</a:t>
                      </a:r>
                      <a:endParaRPr lang="zh-CN" altLang="en-US" sz="1100" b="0" i="0">
                        <a:solidFill>
                          <a:srgbClr val="FF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0340">
                <a:tc>
                  <a:txBody>
                    <a:bodyPr/>
                    <a:lstStyle/>
                    <a:p>
                      <a:pPr algn="l" fontAlgn="b"/>
                      <a:r>
                        <a:rPr lang="en-US" altLang="zh-CN" sz="1100" b="0" i="0">
                          <a:solidFill>
                            <a:srgbClr val="FF0000"/>
                          </a:solidFill>
                          <a:latin typeface="等线" panose="02010600030101010101" charset="-122"/>
                          <a:ea typeface="等线" panose="02010600030101010101" charset="-122"/>
                        </a:rPr>
                        <a:t>Apple </a:t>
                      </a:r>
                      <a:r>
                        <a:rPr lang="zh-CN" altLang="en-US" sz="1100" b="0" i="0">
                          <a:solidFill>
                            <a:srgbClr val="FF0000"/>
                          </a:solidFill>
                          <a:latin typeface="等线" panose="02010600030101010101" charset="-122"/>
                          <a:ea typeface="等线" panose="02010600030101010101" charset="-122"/>
                        </a:rPr>
                        <a:t>苹果</a:t>
                      </a:r>
                      <a:endParaRPr lang="zh-CN" altLang="en-US" sz="1100" b="0" i="0">
                        <a:solidFill>
                          <a:srgbClr val="FF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0340">
                <a:tc>
                  <a:txBody>
                    <a:bodyPr/>
                    <a:lstStyle/>
                    <a:p>
                      <a:pPr algn="l" fontAlgn="b"/>
                      <a:r>
                        <a:rPr lang="en-US" altLang="zh-CN" sz="1100" b="0" i="0">
                          <a:solidFill>
                            <a:srgbClr val="FF0000"/>
                          </a:solidFill>
                          <a:latin typeface="等线" panose="02010600030101010101" charset="-122"/>
                          <a:ea typeface="等线" panose="02010600030101010101" charset="-122"/>
                        </a:rPr>
                        <a:t>Tencent </a:t>
                      </a:r>
                      <a:r>
                        <a:rPr lang="zh-CN" altLang="en-US" sz="1100" b="0" i="0">
                          <a:solidFill>
                            <a:srgbClr val="FF0000"/>
                          </a:solidFill>
                          <a:latin typeface="等线" panose="02010600030101010101" charset="-122"/>
                          <a:ea typeface="等线" panose="02010600030101010101" charset="-122"/>
                        </a:rPr>
                        <a:t>腾讯</a:t>
                      </a:r>
                      <a:endParaRPr lang="zh-CN" altLang="en-US" sz="1100" b="0" i="0">
                        <a:solidFill>
                          <a:srgbClr val="FF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0975">
                <a:tc>
                  <a:txBody>
                    <a:bodyPr/>
                    <a:lstStyle/>
                    <a:p>
                      <a:pPr algn="l" fontAlgn="b"/>
                      <a:r>
                        <a:rPr lang="en-US" altLang="zh-CN" sz="1100" b="0" i="0">
                          <a:solidFill>
                            <a:srgbClr val="FF0000"/>
                          </a:solidFill>
                          <a:latin typeface="等线" panose="02010600030101010101" charset="-122"/>
                          <a:ea typeface="等线" panose="02010600030101010101" charset="-122"/>
                        </a:rPr>
                        <a:t>Netease </a:t>
                      </a:r>
                      <a:r>
                        <a:rPr lang="zh-CN" altLang="en-US" sz="1100" b="0" i="0">
                          <a:solidFill>
                            <a:srgbClr val="FF0000"/>
                          </a:solidFill>
                          <a:latin typeface="等线" panose="02010600030101010101" charset="-122"/>
                          <a:ea typeface="等线" panose="02010600030101010101" charset="-122"/>
                        </a:rPr>
                        <a:t>网易</a:t>
                      </a:r>
                      <a:endParaRPr lang="zh-CN" altLang="en-US" sz="1100" b="0" i="0">
                        <a:solidFill>
                          <a:srgbClr val="FF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79705">
                <a:tc>
                  <a:txBody>
                    <a:bodyPr/>
                    <a:lstStyle/>
                    <a:p>
                      <a:pPr algn="l" fontAlgn="b"/>
                      <a:r>
                        <a:rPr lang="en-US" altLang="zh-CN" sz="1100" b="0" i="0">
                          <a:solidFill>
                            <a:srgbClr val="FF0000"/>
                          </a:solidFill>
                          <a:latin typeface="等线" panose="02010600030101010101" charset="-122"/>
                          <a:ea typeface="等线" panose="02010600030101010101" charset="-122"/>
                        </a:rPr>
                        <a:t>CM </a:t>
                      </a:r>
                      <a:r>
                        <a:rPr lang="zh-CN" altLang="en-US" sz="1100" b="0" i="0">
                          <a:solidFill>
                            <a:srgbClr val="FF0000"/>
                          </a:solidFill>
                          <a:latin typeface="等线" panose="02010600030101010101" charset="-122"/>
                          <a:ea typeface="等线" panose="02010600030101010101" charset="-122"/>
                        </a:rPr>
                        <a:t>中国移动</a:t>
                      </a:r>
                      <a:endParaRPr lang="zh-CN" altLang="en-US" sz="1100" b="0" i="0">
                        <a:solidFill>
                          <a:srgbClr val="FF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r h="180340">
                <a:tc>
                  <a:txBody>
                    <a:bodyPr/>
                    <a:lstStyle/>
                    <a:p>
                      <a:pPr algn="l" fontAlgn="b"/>
                      <a:r>
                        <a:rPr lang="en-US" altLang="zh-CN" sz="1100" b="0" i="0">
                          <a:solidFill>
                            <a:srgbClr val="FF0000"/>
                          </a:solidFill>
                          <a:latin typeface="等线" panose="02010600030101010101" charset="-122"/>
                          <a:ea typeface="等线" panose="02010600030101010101" charset="-122"/>
                        </a:rPr>
                        <a:t>Futu </a:t>
                      </a:r>
                      <a:r>
                        <a:rPr lang="zh-CN" altLang="en-US" sz="1100" b="0" i="0">
                          <a:solidFill>
                            <a:srgbClr val="FF0000"/>
                          </a:solidFill>
                          <a:latin typeface="等线" panose="02010600030101010101" charset="-122"/>
                          <a:ea typeface="等线" panose="02010600030101010101" charset="-122"/>
                        </a:rPr>
                        <a:t>富途</a:t>
                      </a:r>
                      <a:endParaRPr lang="zh-CN" altLang="en-US" sz="1100" b="0" i="0">
                        <a:solidFill>
                          <a:srgbClr val="FF0000"/>
                        </a:solidFill>
                        <a:latin typeface="等线" panose="02010600030101010101" charset="-122"/>
                        <a:ea typeface="等线" panose="02010600030101010101" charset="-122"/>
                      </a:endParaRPr>
                    </a:p>
                  </a:txBody>
                  <a:tcPr marL="9842" marR="9842" marT="9842" marB="0" anchor="b">
                    <a:lnL>
                      <a:noFill/>
                    </a:lnL>
                    <a:lnR>
                      <a:noFill/>
                    </a:lnR>
                    <a:lnT>
                      <a:noFill/>
                    </a:lnT>
                    <a:lnB>
                      <a:noFill/>
                    </a:lnB>
                    <a:noFill/>
                  </a:tcPr>
                </a:tc>
              </a:tr>
            </a:tbl>
          </a:graphicData>
        </a:graphic>
      </p:graphicFrame>
    </p:spTree>
  </p:cSld>
  <p:clrMapOvr>
    <a:masterClrMapping/>
  </p:clrMapOvr>
</p:sld>
</file>

<file path=ppt/tags/tag1.xml><?xml version="1.0" encoding="utf-8"?>
<p:tagLst xmlns:p="http://schemas.openxmlformats.org/presentationml/2006/main">
  <p:tag name="KSO_WM_UNIT_FILL_FORE_SCHEMECOLOR_INDEX_BRIGHTNESS" val="-0.25"/>
  <p:tag name="KSO_WM_UNIT_FILL_FORE_SCHEMECOLOR_INDEX" val="8"/>
  <p:tag name="KSO_WM_UNIT_FILL_TYPE" val="1"/>
  <p:tag name="KSO_WM_UNIT_TEXT_FILL_FORE_SCHEMECOLOR_INDEX_BRIGHTNESS" val="0"/>
  <p:tag name="KSO_WM_UNIT_TEXT_FILL_FORE_SCHEMECOLOR_INDEX" val="2"/>
  <p:tag name="KSO_WM_UNIT_TEXT_FILL_TYPE" val="1"/>
  <p:tag name="KSO_WM_DIAGRAM_VIRTUALLY_FRAME" val="{&quot;height&quot;:549.95,&quot;left&quot;:64.28897637795276,&quot;top&quot;:-5.55,&quot;width&quot;:799.5110236220473}"/>
</p:tagLst>
</file>

<file path=ppt/tags/tag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xml><?xml version="1.0" encoding="utf-8"?>
<p:tagLst xmlns:p="http://schemas.openxmlformats.org/presentationml/2006/main">
  <p:tag name="TABLE_ENDDRAG_ORIGIN_RECT" val="910*179"/>
  <p:tag name="TABLE_ENDDRAG_RECT" val="25*179*910*179"/>
</p:tagLst>
</file>

<file path=ppt/tags/tag4.xml><?xml version="1.0" encoding="utf-8"?>
<p:tagLst xmlns:p="http://schemas.openxmlformats.org/presentationml/2006/main">
  <p:tag name="TABLE_ENDDRAG_ORIGIN_RECT" val="483*387"/>
  <p:tag name="TABLE_ENDDRAG_RECT" val="15*103*483*387"/>
</p:tagLst>
</file>

<file path=ppt/tags/tag5.xml><?xml version="1.0" encoding="utf-8"?>
<p:tagLst xmlns:p="http://schemas.openxmlformats.org/presentationml/2006/main">
  <p:tag name="TABLE_ENDDRAG_ORIGIN_RECT" val="313*402"/>
  <p:tag name="TABLE_ENDDRAG_RECT" val="618*84*313*402"/>
</p:tagLst>
</file>

<file path=ppt/tags/tag6.xml><?xml version="1.0" encoding="utf-8"?>
<p:tagLst xmlns:p="http://schemas.openxmlformats.org/presentationml/2006/main">
  <p:tag name="TABLE_ENDDRAG_ORIGIN_RECT" val="315*249"/>
  <p:tag name="TABLE_ENDDRAG_RECT" val="573*80*315*249"/>
</p:tagLst>
</file>

<file path=ppt/tags/tag7.xml><?xml version="1.0" encoding="utf-8"?>
<p:tagLst xmlns:p="http://schemas.openxmlformats.org/presentationml/2006/main">
  <p:tag name="TABLE_ENDDRAG_ORIGIN_RECT" val="828*141"/>
  <p:tag name="TABLE_ENDDRAG_RECT" val="69*359*828*141"/>
</p:tagLst>
</file>

<file path=ppt/tags/tag8.xml><?xml version="1.0" encoding="utf-8"?>
<p:tagLst xmlns:p="http://schemas.openxmlformats.org/presentationml/2006/main">
  <p:tag name="TABLE_ENDDRAG_ORIGIN_RECT" val="277*213"/>
  <p:tag name="TABLE_ENDDRAG_RECT" val="537*99*277*213"/>
</p:tagLst>
</file>

<file path=ppt/tags/tag9.xml><?xml version="1.0" encoding="utf-8"?>
<p:tagLst xmlns:p="http://schemas.openxmlformats.org/presentationml/2006/main">
  <p:tag name="KSO_WM_DIAGRAM_VIRTUALLY_FRAME" val="{&quot;height&quot;:386.5,&quot;left&quot;:78.65,&quot;top&quot;:92.1,&quot;width&quot;:399.3688188976377}"/>
</p:tagLst>
</file>

<file path=ppt/tags/tag10.xml><?xml version="1.0" encoding="utf-8"?>
<p:tagLst xmlns:p="http://schemas.openxmlformats.org/presentationml/2006/main">
  <p:tag name="KSO_WM_DIAGRAM_VIRTUALLY_FRAME" val="{&quot;height&quot;:386.5,&quot;left&quot;:78.65,&quot;top&quot;:92.1,&quot;width&quot;:399.3688188976377}"/>
</p:tagLst>
</file>

<file path=ppt/tags/tag11.xml><?xml version="1.0" encoding="utf-8"?>
<p:tagLst xmlns:p="http://schemas.openxmlformats.org/presentationml/2006/main">
  <p:tag name="KSO_WM_DIAGRAM_VIRTUALLY_FRAME" val="{&quot;height&quot;:386.5,&quot;left&quot;:78.65,&quot;top&quot;:92.1,&quot;width&quot;:399.3688188976377}"/>
</p:tagLst>
</file>

<file path=ppt/tags/tag12.xml><?xml version="1.0" encoding="utf-8"?>
<p:tagLst xmlns:p="http://schemas.openxmlformats.org/presentationml/2006/main">
  <p:tag name="KSO_WM_DIAGRAM_VIRTUALLY_FRAME" val="{&quot;height&quot;:386.5,&quot;left&quot;:78.65,&quot;top&quot;:92.1,&quot;width&quot;:399.3688188976377}"/>
</p:tagLst>
</file>

<file path=ppt/tags/tag13.xml><?xml version="1.0" encoding="utf-8"?>
<p:tagLst xmlns:p="http://schemas.openxmlformats.org/presentationml/2006/main">
  <p:tag name="KSO_WM_DIAGRAM_VIRTUALLY_FRAME" val="{&quot;height&quot;:386.5,&quot;left&quot;:78.65,&quot;top&quot;:92.1,&quot;width&quot;:399.3688188976377}"/>
</p:tagLst>
</file>

<file path=ppt/tags/tag14.xml><?xml version="1.0" encoding="utf-8"?>
<p:tagLst xmlns:p="http://schemas.openxmlformats.org/presentationml/2006/main">
  <p:tag name="KSO_WM_DIAGRAM_VIRTUALLY_FRAME" val="{&quot;height&quot;:386.5,&quot;left&quot;:78.65,&quot;top&quot;:92.1,&quot;width&quot;:399.3688188976377}"/>
</p:tagLst>
</file>

<file path=ppt/tags/tag15.xml><?xml version="1.0" encoding="utf-8"?>
<p:tagLst xmlns:p="http://schemas.openxmlformats.org/presentationml/2006/main">
  <p:tag name="KSO_WM_DIAGRAM_VIRTUALLY_FRAME" val="{&quot;height&quot;:386.5,&quot;left&quot;:78.65,&quot;top&quot;:92.1,&quot;width&quot;:399.3688188976377}"/>
</p:tagLst>
</file>

<file path=ppt/tags/tag16.xml><?xml version="1.0" encoding="utf-8"?>
<p:tagLst xmlns:p="http://schemas.openxmlformats.org/presentationml/2006/main">
  <p:tag name="KSO_WM_DIAGRAM_VIRTUALLY_FRAME" val="{&quot;height&quot;:386.5,&quot;left&quot;:78.65,&quot;top&quot;:92.1,&quot;width&quot;:399.3688188976377}"/>
</p:tagLst>
</file>

<file path=ppt/tags/tag17.xml><?xml version="1.0" encoding="utf-8"?>
<p:tagLst xmlns:p="http://schemas.openxmlformats.org/presentationml/2006/main">
  <p:tag name="TABLE_ENDDRAG_ORIGIN_RECT" val="266*190"/>
  <p:tag name="TABLE_ENDDRAG_RECT" val="40*72*266*190"/>
</p:tagLst>
</file>

<file path=ppt/tags/tag18.xml><?xml version="1.0" encoding="utf-8"?>
<p:tagLst xmlns:p="http://schemas.openxmlformats.org/presentationml/2006/main">
  <p:tag name="TABLE_ENDDRAG_ORIGIN_RECT" val="266*188"/>
  <p:tag name="TABLE_ENDDRAG_RECT" val="346*72*266*188"/>
</p:tagLst>
</file>

<file path=ppt/tags/tag19.xml><?xml version="1.0" encoding="utf-8"?>
<p:tagLst xmlns:p="http://schemas.openxmlformats.org/presentationml/2006/main">
  <p:tag name="TABLE_ENDDRAG_ORIGIN_RECT" val="297*190"/>
  <p:tag name="TABLE_ENDDRAG_RECT" val="647*72*297*190"/>
</p:tagLst>
</file>

<file path=ppt/tags/tag20.xml><?xml version="1.0" encoding="utf-8"?>
<p:tagLst xmlns:p="http://schemas.openxmlformats.org/presentationml/2006/main">
  <p:tag name="TABLE_ENDDRAG_ORIGIN_RECT" val="296*204"/>
  <p:tag name="TABLE_ENDDRAG_RECT" val="114*292*296*204"/>
</p:tagLst>
</file>

<file path=ppt/tags/tag21.xml><?xml version="1.0" encoding="utf-8"?>
<p:tagLst xmlns:p="http://schemas.openxmlformats.org/presentationml/2006/main">
  <p:tag name="TABLE_ENDDRAG_ORIGIN_RECT" val="266*204"/>
  <p:tag name="TABLE_ENDDRAG_RECT" val="350*292*266*204"/>
</p:tagLst>
</file>

<file path=ppt/tags/tag22.xml><?xml version="1.0" encoding="utf-8"?>
<p:tagLst xmlns:p="http://schemas.openxmlformats.org/presentationml/2006/main">
  <p:tag name="TABLE_ENDDRAG_ORIGIN_RECT" val="97*199"/>
  <p:tag name="TABLE_ENDDRAG_RECT" val="422*311*97*199"/>
</p:tagLst>
</file>

<file path=ppt/tags/tag23.xml><?xml version="1.0" encoding="utf-8"?>
<p:tagLst xmlns:p="http://schemas.openxmlformats.org/presentationml/2006/main">
  <p:tag name="TABLE_ENDDRAG_ORIGIN_RECT" val="105*175"/>
  <p:tag name="TABLE_ENDDRAG_RECT" val="804*320*105*175"/>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14191</Words>
  <Application>WPS 演示</Application>
  <PresentationFormat>宽屏</PresentationFormat>
  <Paragraphs>2291</Paragraphs>
  <Slides>23</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23</vt:i4>
      </vt:variant>
    </vt:vector>
  </HeadingPairs>
  <TitlesOfParts>
    <vt:vector size="42" baseType="lpstr">
      <vt:lpstr>Arial</vt:lpstr>
      <vt:lpstr>宋体</vt:lpstr>
      <vt:lpstr>Wingdings</vt:lpstr>
      <vt:lpstr>微软雅黑</vt:lpstr>
      <vt:lpstr>等线</vt:lpstr>
      <vt:lpstr>等线 Light</vt:lpstr>
      <vt:lpstr>PMingLiU</vt:lpstr>
      <vt:lpstr>ksdb</vt:lpstr>
      <vt:lpstr>思源黑体 CN Bold</vt:lpstr>
      <vt:lpstr>黑体</vt:lpstr>
      <vt:lpstr>Segoe UI</vt:lpstr>
      <vt:lpstr>Calibri</vt:lpstr>
      <vt:lpstr>Arial Unicode MS</vt:lpstr>
      <vt:lpstr>Microsoft JhengHei</vt:lpstr>
      <vt:lpstr>Times New Roman</vt:lpstr>
      <vt:lpstr>Arial</vt:lpstr>
      <vt:lpstr>Times New Roman</vt:lpstr>
      <vt:lpstr>PMingLiU</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张雪婷</dc:creator>
  <cp:lastModifiedBy>艾米丽斯诺</cp:lastModifiedBy>
  <cp:revision>45</cp:revision>
  <dcterms:created xsi:type="dcterms:W3CDTF">2023-08-09T12:44:00Z</dcterms:created>
  <dcterms:modified xsi:type="dcterms:W3CDTF">2025-02-15T13:36:11Z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2052-12.1.0.19770</vt:lpwstr>
  </property>
</Properties>
</file>