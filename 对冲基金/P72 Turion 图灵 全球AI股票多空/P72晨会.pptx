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13.xml" ContentType="application/vnd.openxmlformats-officedocument.presentationml.tags+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18.xml" ContentType="application/vnd.openxmlformats-officedocument.presentationml.tags+xml"/>
  <Override PartName="/ppt/tags/tag19.xml" ContentType="application/vnd.openxmlformats-officedocument.presentationml.tags+xml"/>
  <Override PartName="/ppt/notesSlides/notesSlide1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1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xml" ContentType="application/vnd.openxmlformats-officedocument.themeOverride+xml"/>
  <Override PartName="/ppt/tags/tag22.xml" ContentType="application/vnd.openxmlformats-officedocument.presentationml.tags+xml"/>
  <Override PartName="/ppt/tags/tag23.xml" ContentType="application/vnd.openxmlformats-officedocument.presentationml.tags+xml"/>
  <Override PartName="/ppt/notesSlides/notesSlide13.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4.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tags/tag26.xml" ContentType="application/vnd.openxmlformats-officedocument.presentationml.tags+xml"/>
  <Override PartName="/ppt/tags/tag27.xml" ContentType="application/vnd.openxmlformats-officedocument.presentationml.tags+xml"/>
  <Override PartName="/ppt/notesSlides/notesSlide15.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ags/tag28.xml" ContentType="application/vnd.openxmlformats-officedocument.presentationml.tags+xml"/>
  <Override PartName="/ppt/tags/tag29.xml" ContentType="application/vnd.openxmlformats-officedocument.presentationml.tags+xml"/>
  <Override PartName="/ppt/notesSlides/notesSlide16.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ags/tag30.xml" ContentType="application/vnd.openxmlformats-officedocument.presentationml.tags+xml"/>
  <Override PartName="/ppt/tags/tag31.xml" ContentType="application/vnd.openxmlformats-officedocument.presentationml.tags+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2" r:id="rId3"/>
    <p:sldId id="273" r:id="rId4"/>
    <p:sldId id="257" r:id="rId5"/>
    <p:sldId id="269" r:id="rId6"/>
    <p:sldId id="259" r:id="rId7"/>
    <p:sldId id="260" r:id="rId8"/>
    <p:sldId id="258" r:id="rId9"/>
    <p:sldId id="277" r:id="rId10"/>
    <p:sldId id="261" r:id="rId11"/>
    <p:sldId id="270" r:id="rId12"/>
    <p:sldId id="262" r:id="rId13"/>
    <p:sldId id="263" r:id="rId14"/>
    <p:sldId id="266" r:id="rId15"/>
    <p:sldId id="268" r:id="rId16"/>
    <p:sldId id="264" r:id="rId17"/>
    <p:sldId id="265" r:id="rId18"/>
    <p:sldId id="274" r:id="rId19"/>
    <p:sldId id="275" r:id="rId20"/>
    <p:sldId id="276" r:id="rId21"/>
    <p:sldId id="267" r:id="rId22"/>
    <p:sldId id="278"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24037;&#20316;&#31807;2"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24037;&#20316;&#31807;2"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oy10600\Desktop\05-&#28023;&#22806;&#20135;&#21697;\1&#12289;&#32431;&#32654;&#20803;&#20135;&#21697;\1&#12289;p72\5&#12289;&#33829;&#38144;&#26448;&#26009;\P72%20Turion-wp-20250210.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doy10600\Desktop\05-&#28023;&#22806;&#20135;&#21697;\1&#12289;&#32431;&#32654;&#20803;&#20135;&#21697;\1&#12289;p72\5&#12289;&#33829;&#38144;&#26448;&#26009;\P72%20Turion-wp-20250210.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___.xlsx"/></Relationships>
</file>

<file path=ppt/charts/_rels/chart6.xml.rels><?xml version="1.0" encoding="UTF-8" standalone="yes"?>
<Relationships xmlns="http://schemas.openxmlformats.org/package/2006/relationships"><Relationship Id="rId3" Type="http://schemas.openxmlformats.org/officeDocument/2006/relationships/oleObject" Target="file:///\\noahgroup.com.local\noahgroup-hk\Departmental\Global%20Market\Secondary%20Market\1.%20Project\Point72\Turion\&#36807;&#20250;&#26448;&#26009;\Turion%20Financial%20Analysis%201023.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noahgroup.com.local\noahgroup-hk\Departmental\Global%20Market\Secondary%20Market\1.%20Project\Point72\Turion\&#36807;&#20250;&#26448;&#26009;\Turion%20Financial%20Analysis%201023.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noahgroup.com.local\noahgroup-hk\Departmental\Global%20Market\Secondary%20Market\1.%20Project\Point72\Turion\&#36807;&#20250;&#26448;&#26009;\Turion%20Financial%20Analysis%201023.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noahgroup.com.local\noahgroup-hk\Departmental\Global%20Market\Secondary%20Market\1.%20Project\Point72\Turion\&#36807;&#20250;&#26448;&#26009;\Turion%20Financial%20Analysis%201023.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noahgroup.com.local\noahgroup-hk\Departmental\Global%20Market\Secondary%20Market\1.%20Project\Point72\Turion\&#36807;&#20250;&#26448;&#26009;\Turion%20Financial%20Analysis%201023.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noahgroup.com.local\noahgroup-hk\Departmental\Global%20Market\Secondary%20Market\1.%20Project\Point72\Turion\&#36807;&#20250;&#26448;&#26009;\Turion%20Financial%20Analysis%201023.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noahgroup.com.local\noahgroup-hk\Departmental\Global%20Market\Secondary%20Market\1.%20Project\Point72\Turion\&#36807;&#20250;&#26448;&#26009;\Turion%20Financial%20Analysis%201023.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noahgroup.com.local\noahgroup-hk\Departmental\Global%20Market\Secondary%20Market\1.%20Project\Point72\Turion\&#36807;&#20250;&#26448;&#26009;\Turion%20Financial%20Analysis%201023.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noahgroup.com.local\noahgroup-hk\Departmental\Global%20Market\Secondary%20Market\1.%20Project\Point72\Turion\&#36807;&#20250;&#26448;&#26009;\Turion%20Financial%20Analysis%201023.xlsx" TargetMode="External"/><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en-US" altLang="zh-CN"/>
              <a:t>Multi-PM Funds($bn)</a:t>
            </a:r>
          </a:p>
        </c:rich>
      </c:tx>
      <c:layout/>
      <c:overlay val="0"/>
      <c:spPr>
        <a:noFill/>
        <a:ln>
          <a:noFill/>
        </a:ln>
        <a:effectLst/>
      </c:spPr>
      <c:txPr>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5.9442091476014598E-2"/>
          <c:y val="0.172031099000754"/>
          <c:w val="0.917069324110519"/>
          <c:h val="0.757978341691394"/>
        </c:manualLayout>
      </c:layout>
      <c:barChart>
        <c:barDir val="col"/>
        <c:grouping val="clustered"/>
        <c:varyColors val="0"/>
        <c:ser>
          <c:idx val="0"/>
          <c:order val="0"/>
          <c:tx>
            <c:strRef>
              <c:f>Sheet1!$B$1</c:f>
              <c:strCache>
                <c:ptCount val="1"/>
                <c:pt idx="0">
                  <c:v>Multi-PM Funds($bn)</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numCache>
            </c:numRef>
          </c:cat>
          <c:val>
            <c:numRef>
              <c:f>Sheet1!$B$2:$B$14</c:f>
              <c:numCache>
                <c:formatCode>General</c:formatCode>
                <c:ptCount val="13"/>
                <c:pt idx="0">
                  <c:v>92</c:v>
                </c:pt>
                <c:pt idx="1">
                  <c:v>108</c:v>
                </c:pt>
                <c:pt idx="2">
                  <c:v>116</c:v>
                </c:pt>
                <c:pt idx="3">
                  <c:v>127</c:v>
                </c:pt>
                <c:pt idx="4">
                  <c:v>136</c:v>
                </c:pt>
                <c:pt idx="5">
                  <c:v>130</c:v>
                </c:pt>
                <c:pt idx="6">
                  <c:v>134</c:v>
                </c:pt>
                <c:pt idx="7">
                  <c:v>129</c:v>
                </c:pt>
                <c:pt idx="8">
                  <c:v>143</c:v>
                </c:pt>
                <c:pt idx="9">
                  <c:v>163</c:v>
                </c:pt>
                <c:pt idx="10">
                  <c:v>211</c:v>
                </c:pt>
                <c:pt idx="11">
                  <c:v>255</c:v>
                </c:pt>
                <c:pt idx="12">
                  <c:v>311</c:v>
                </c:pt>
              </c:numCache>
            </c:numRef>
          </c:val>
          <c:extLst>
            <c:ext xmlns:c16="http://schemas.microsoft.com/office/drawing/2014/chart" uri="{C3380CC4-5D6E-409C-BE32-E72D297353CC}">
              <c16:uniqueId val="{00000000-6C44-4E38-858B-FC6E70FC9D2A}"/>
            </c:ext>
          </c:extLst>
        </c:ser>
        <c:dLbls>
          <c:showLegendKey val="0"/>
          <c:showVal val="0"/>
          <c:showCatName val="0"/>
          <c:showSerName val="0"/>
          <c:showPercent val="0"/>
          <c:showBubbleSize val="0"/>
        </c:dLbls>
        <c:gapWidth val="219"/>
        <c:overlap val="-27"/>
        <c:axId val="783029455"/>
        <c:axId val="919753583"/>
      </c:barChart>
      <c:catAx>
        <c:axId val="7830294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919753583"/>
        <c:crosses val="autoZero"/>
        <c:auto val="1"/>
        <c:lblAlgn val="ctr"/>
        <c:lblOffset val="100"/>
        <c:noMultiLvlLbl val="0"/>
      </c:catAx>
      <c:valAx>
        <c:axId val="91975358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83029455"/>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5.9669851097560497E-2"/>
          <c:y val="0.172031099000754"/>
          <c:w val="0.914151353539291"/>
          <c:h val="0.757978341691394"/>
        </c:manualLayout>
      </c:layout>
      <c:barChart>
        <c:barDir val="col"/>
        <c:grouping val="clustered"/>
        <c:varyColors val="0"/>
        <c:ser>
          <c:idx val="0"/>
          <c:order val="0"/>
          <c:tx>
            <c:strRef>
              <c:f>Sheet1!$C$1</c:f>
              <c:strCache>
                <c:ptCount val="1"/>
                <c:pt idx="0">
                  <c:v>其他对冲基金总规模($tn)</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numCache>
            </c:numRef>
          </c:cat>
          <c:val>
            <c:numRef>
              <c:f>Sheet1!$C$2:$C$14</c:f>
              <c:numCache>
                <c:formatCode>General</c:formatCode>
                <c:ptCount val="13"/>
                <c:pt idx="0">
                  <c:v>1.8</c:v>
                </c:pt>
                <c:pt idx="1">
                  <c:v>1.9</c:v>
                </c:pt>
                <c:pt idx="2">
                  <c:v>2.1</c:v>
                </c:pt>
                <c:pt idx="3">
                  <c:v>2.5</c:v>
                </c:pt>
                <c:pt idx="4">
                  <c:v>2.7</c:v>
                </c:pt>
                <c:pt idx="5">
                  <c:v>2.8</c:v>
                </c:pt>
                <c:pt idx="6">
                  <c:v>2.9</c:v>
                </c:pt>
                <c:pt idx="7">
                  <c:v>3.1</c:v>
                </c:pt>
                <c:pt idx="8">
                  <c:v>3</c:v>
                </c:pt>
                <c:pt idx="9">
                  <c:v>3.2</c:v>
                </c:pt>
                <c:pt idx="10">
                  <c:v>3.4</c:v>
                </c:pt>
                <c:pt idx="11">
                  <c:v>3.8</c:v>
                </c:pt>
                <c:pt idx="12">
                  <c:v>3.5</c:v>
                </c:pt>
              </c:numCache>
            </c:numRef>
          </c:val>
          <c:extLst>
            <c:ext xmlns:c16="http://schemas.microsoft.com/office/drawing/2014/chart" uri="{C3380CC4-5D6E-409C-BE32-E72D297353CC}">
              <c16:uniqueId val="{00000000-F1E5-4045-8BF0-5FAF3732C4D7}"/>
            </c:ext>
          </c:extLst>
        </c:ser>
        <c:dLbls>
          <c:showLegendKey val="0"/>
          <c:showVal val="0"/>
          <c:showCatName val="0"/>
          <c:showSerName val="0"/>
          <c:showPercent val="0"/>
          <c:showBubbleSize val="0"/>
        </c:dLbls>
        <c:gapWidth val="219"/>
        <c:overlap val="-27"/>
        <c:axId val="74217888"/>
        <c:axId val="121455504"/>
      </c:barChart>
      <c:catAx>
        <c:axId val="74217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121455504"/>
        <c:crosses val="autoZero"/>
        <c:auto val="1"/>
        <c:lblAlgn val="ctr"/>
        <c:lblOffset val="100"/>
        <c:noMultiLvlLbl val="0"/>
      </c:catAx>
      <c:valAx>
        <c:axId val="121455504"/>
        <c:scaling>
          <c:orientation val="minMax"/>
          <c:max val="4.5"/>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crossAx val="74217888"/>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7817161607838572E-2"/>
          <c:y val="9.1922844926807232E-2"/>
          <c:w val="0.91048607592740516"/>
          <c:h val="0.7350294774624232"/>
        </c:manualLayout>
      </c:layout>
      <c:lineChart>
        <c:grouping val="standard"/>
        <c:varyColors val="0"/>
        <c:ser>
          <c:idx val="1"/>
          <c:order val="0"/>
          <c:tx>
            <c:strRef>
              <c:f>投资经理历史实盘业绩!$C$3</c:f>
              <c:strCache>
                <c:ptCount val="1"/>
                <c:pt idx="0">
                  <c:v>Eric 实盘业绩</c:v>
                </c:pt>
              </c:strCache>
            </c:strRef>
          </c:tx>
          <c:spPr>
            <a:ln w="57150" cap="rnd">
              <a:solidFill>
                <a:srgbClr val="FF0000"/>
              </a:solidFill>
              <a:round/>
            </a:ln>
            <a:effectLst/>
          </c:spPr>
          <c:marker>
            <c:symbol val="none"/>
          </c:marker>
          <c:cat>
            <c:numRef>
              <c:f>投资经理历史实盘业绩!$A$4:$A$54</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投资经理历史实盘业绩!$C$4:$C$54</c:f>
              <c:numCache>
                <c:formatCode>0.00</c:formatCode>
                <c:ptCount val="51"/>
                <c:pt idx="0">
                  <c:v>100</c:v>
                </c:pt>
                <c:pt idx="1">
                  <c:v>101.49999999999999</c:v>
                </c:pt>
                <c:pt idx="2">
                  <c:v>97.033999999999978</c:v>
                </c:pt>
                <c:pt idx="3">
                  <c:v>96.645863999999975</c:v>
                </c:pt>
                <c:pt idx="4">
                  <c:v>107.18026317599997</c:v>
                </c:pt>
                <c:pt idx="5">
                  <c:v>115.54032370372798</c:v>
                </c:pt>
                <c:pt idx="6">
                  <c:v>112.88289625854223</c:v>
                </c:pt>
                <c:pt idx="7">
                  <c:v>119.09145555276204</c:v>
                </c:pt>
                <c:pt idx="8">
                  <c:v>118.85327264165652</c:v>
                </c:pt>
                <c:pt idx="9">
                  <c:v>107.20565192277418</c:v>
                </c:pt>
                <c:pt idx="10">
                  <c:v>110.63623278430296</c:v>
                </c:pt>
                <c:pt idx="11">
                  <c:v>113.95531976783205</c:v>
                </c:pt>
                <c:pt idx="12">
                  <c:v>122.72987938995512</c:v>
                </c:pt>
                <c:pt idx="13">
                  <c:v>137.33473503735976</c:v>
                </c:pt>
                <c:pt idx="14">
                  <c:v>143.65213284907833</c:v>
                </c:pt>
                <c:pt idx="15">
                  <c:v>161.17769305666587</c:v>
                </c:pt>
                <c:pt idx="16">
                  <c:v>187.61083471795905</c:v>
                </c:pt>
                <c:pt idx="17">
                  <c:v>210.68696738826802</c:v>
                </c:pt>
                <c:pt idx="18">
                  <c:v>193.41063606243006</c:v>
                </c:pt>
                <c:pt idx="19">
                  <c:v>187.80172761661959</c:v>
                </c:pt>
                <c:pt idx="20">
                  <c:v>203.01366755356577</c:v>
                </c:pt>
                <c:pt idx="21">
                  <c:v>208.90106391261915</c:v>
                </c:pt>
                <c:pt idx="22">
                  <c:v>204.30524050654154</c:v>
                </c:pt>
                <c:pt idx="23">
                  <c:v>217.78938637997328</c:v>
                </c:pt>
                <c:pt idx="24">
                  <c:v>227.37211938069211</c:v>
                </c:pt>
                <c:pt idx="25">
                  <c:v>247.38086588619305</c:v>
                </c:pt>
                <c:pt idx="26">
                  <c:v>252.57586406980309</c:v>
                </c:pt>
                <c:pt idx="27">
                  <c:v>249.03980197282584</c:v>
                </c:pt>
                <c:pt idx="28">
                  <c:v>262.23891147738561</c:v>
                </c:pt>
                <c:pt idx="29">
                  <c:v>258.8298056281796</c:v>
                </c:pt>
                <c:pt idx="30">
                  <c:v>260.12395465632045</c:v>
                </c:pt>
                <c:pt idx="31">
                  <c:v>238.27354246518954</c:v>
                </c:pt>
                <c:pt idx="32">
                  <c:v>263.7688115089648</c:v>
                </c:pt>
                <c:pt idx="33">
                  <c:v>283.55147237213714</c:v>
                </c:pt>
                <c:pt idx="34">
                  <c:v>298.86325188023255</c:v>
                </c:pt>
                <c:pt idx="35">
                  <c:v>286.31099530126278</c:v>
                </c:pt>
                <c:pt idx="36">
                  <c:v>275.71748847511606</c:v>
                </c:pt>
                <c:pt idx="37">
                  <c:v>292.81197276057327</c:v>
                </c:pt>
                <c:pt idx="38">
                  <c:v>289.29822908744637</c:v>
                </c:pt>
                <c:pt idx="39">
                  <c:v>308.39191220721784</c:v>
                </c:pt>
                <c:pt idx="40">
                  <c:v>323.1947239931643</c:v>
                </c:pt>
                <c:pt idx="41">
                  <c:v>342.58640743275419</c:v>
                </c:pt>
                <c:pt idx="42">
                  <c:v>359.03055498952642</c:v>
                </c:pt>
                <c:pt idx="43">
                  <c:v>384.1626938387933</c:v>
                </c:pt>
                <c:pt idx="44">
                  <c:v>401.06585236770024</c:v>
                </c:pt>
                <c:pt idx="45">
                  <c:v>379.80936219221212</c:v>
                </c:pt>
                <c:pt idx="46">
                  <c:v>402.21811456155262</c:v>
                </c:pt>
                <c:pt idx="47">
                  <c:v>499.95711640000985</c:v>
                </c:pt>
                <c:pt idx="48">
                  <c:v>471.95951788160926</c:v>
                </c:pt>
                <c:pt idx="49">
                  <c:v>505.46864365120348</c:v>
                </c:pt>
                <c:pt idx="50">
                  <c:v>510.52333008771552</c:v>
                </c:pt>
              </c:numCache>
            </c:numRef>
          </c:val>
          <c:smooth val="0"/>
          <c:extLst>
            <c:ext xmlns:c16="http://schemas.microsoft.com/office/drawing/2014/chart" uri="{C3380CC4-5D6E-409C-BE32-E72D297353CC}">
              <c16:uniqueId val="{00000000-F1C7-4C85-A879-684251BAD710}"/>
            </c:ext>
          </c:extLst>
        </c:ser>
        <c:ser>
          <c:idx val="2"/>
          <c:order val="1"/>
          <c:tx>
            <c:strRef>
              <c:f>投资经理历史实盘业绩!$D$3</c:f>
              <c:strCache>
                <c:ptCount val="1"/>
                <c:pt idx="0">
                  <c:v>纳斯达克</c:v>
                </c:pt>
              </c:strCache>
            </c:strRef>
          </c:tx>
          <c:spPr>
            <a:ln w="19050" cap="rnd">
              <a:solidFill>
                <a:schemeClr val="bg1">
                  <a:lumMod val="50000"/>
                </a:schemeClr>
              </a:solidFill>
              <a:round/>
            </a:ln>
            <a:effectLst/>
          </c:spPr>
          <c:marker>
            <c:symbol val="none"/>
          </c:marker>
          <c:cat>
            <c:numRef>
              <c:f>投资经理历史实盘业绩!$A$4:$A$54</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投资经理历史实盘业绩!$D$4:$D$54</c:f>
              <c:numCache>
                <c:formatCode>0.00</c:formatCode>
                <c:ptCount val="51"/>
                <c:pt idx="0">
                  <c:v>100</c:v>
                </c:pt>
                <c:pt idx="1">
                  <c:v>109.58738123844259</c:v>
                </c:pt>
                <c:pt idx="2">
                  <c:v>103.92954295238741</c:v>
                </c:pt>
                <c:pt idx="3">
                  <c:v>101.54784384198814</c:v>
                </c:pt>
                <c:pt idx="4">
                  <c:v>113.52660286805263</c:v>
                </c:pt>
                <c:pt idx="5">
                  <c:v>119.94375199506389</c:v>
                </c:pt>
                <c:pt idx="6">
                  <c:v>121.64133614139058</c:v>
                </c:pt>
                <c:pt idx="7">
                  <c:v>122.77355524803006</c:v>
                </c:pt>
                <c:pt idx="8">
                  <c:v>123.28094128858558</c:v>
                </c:pt>
                <c:pt idx="9">
                  <c:v>129.94257007967227</c:v>
                </c:pt>
                <c:pt idx="10">
                  <c:v>127.95155449793256</c:v>
                </c:pt>
                <c:pt idx="11">
                  <c:v>134.97985625303039</c:v>
                </c:pt>
                <c:pt idx="12">
                  <c:v>136.55012856819789</c:v>
                </c:pt>
                <c:pt idx="13">
                  <c:v>142.00890252176072</c:v>
                </c:pt>
                <c:pt idx="14">
                  <c:v>134.46455975512944</c:v>
                </c:pt>
                <c:pt idx="15">
                  <c:v>144.23453296194509</c:v>
                </c:pt>
                <c:pt idx="16">
                  <c:v>144.60027528391561</c:v>
                </c:pt>
                <c:pt idx="17">
                  <c:v>145.59866806511144</c:v>
                </c:pt>
                <c:pt idx="18">
                  <c:v>132.52230981631917</c:v>
                </c:pt>
                <c:pt idx="19">
                  <c:v>127.97630957621354</c:v>
                </c:pt>
                <c:pt idx="20">
                  <c:v>132.34213751725176</c:v>
                </c:pt>
                <c:pt idx="21">
                  <c:v>114.79134540127889</c:v>
                </c:pt>
                <c:pt idx="22">
                  <c:v>112.43449443336462</c:v>
                </c:pt>
                <c:pt idx="23">
                  <c:v>102.63809099259487</c:v>
                </c:pt>
                <c:pt idx="24">
                  <c:v>115.31297026505615</c:v>
                </c:pt>
                <c:pt idx="25">
                  <c:v>109.96652480579827</c:v>
                </c:pt>
                <c:pt idx="26">
                  <c:v>98.421165778058622</c:v>
                </c:pt>
                <c:pt idx="27">
                  <c:v>102.26034338830014</c:v>
                </c:pt>
                <c:pt idx="28">
                  <c:v>106.72602922029878</c:v>
                </c:pt>
                <c:pt idx="29">
                  <c:v>97.405463054906932</c:v>
                </c:pt>
                <c:pt idx="30">
                  <c:v>107.81069251866168</c:v>
                </c:pt>
                <c:pt idx="31">
                  <c:v>106.61007122203536</c:v>
                </c:pt>
                <c:pt idx="32">
                  <c:v>113.74223262886834</c:v>
                </c:pt>
                <c:pt idx="33">
                  <c:v>113.78569361216609</c:v>
                </c:pt>
                <c:pt idx="34">
                  <c:v>120.38124681836753</c:v>
                </c:pt>
                <c:pt idx="35">
                  <c:v>128.31618004945432</c:v>
                </c:pt>
                <c:pt idx="36">
                  <c:v>133.51009327825173</c:v>
                </c:pt>
                <c:pt idx="37">
                  <c:v>130.61533121084906</c:v>
                </c:pt>
                <c:pt idx="38">
                  <c:v>123.02454940638997</c:v>
                </c:pt>
                <c:pt idx="39">
                  <c:v>119.59904218321178</c:v>
                </c:pt>
                <c:pt idx="40">
                  <c:v>132.39518411356809</c:v>
                </c:pt>
                <c:pt idx="41">
                  <c:v>139.70193396722465</c:v>
                </c:pt>
                <c:pt idx="42">
                  <c:v>141.12265210646174</c:v>
                </c:pt>
                <c:pt idx="43">
                  <c:v>149.75817266574037</c:v>
                </c:pt>
                <c:pt idx="44">
                  <c:v>152.43414078938918</c:v>
                </c:pt>
                <c:pt idx="45">
                  <c:v>145.71825556733333</c:v>
                </c:pt>
                <c:pt idx="46">
                  <c:v>155.74313162907958</c:v>
                </c:pt>
                <c:pt idx="47">
                  <c:v>165.0270304980703</c:v>
                </c:pt>
                <c:pt idx="48">
                  <c:v>163.78741529994127</c:v>
                </c:pt>
                <c:pt idx="49">
                  <c:v>164.85039463875734</c:v>
                </c:pt>
                <c:pt idx="50">
                  <c:v>169.27606286300855</c:v>
                </c:pt>
              </c:numCache>
            </c:numRef>
          </c:val>
          <c:smooth val="0"/>
          <c:extLst>
            <c:ext xmlns:c16="http://schemas.microsoft.com/office/drawing/2014/chart" uri="{C3380CC4-5D6E-409C-BE32-E72D297353CC}">
              <c16:uniqueId val="{00000001-F1C7-4C85-A879-684251BAD710}"/>
            </c:ext>
          </c:extLst>
        </c:ser>
        <c:ser>
          <c:idx val="3"/>
          <c:order val="2"/>
          <c:tx>
            <c:strRef>
              <c:f>投资经理历史实盘业绩!$E$3</c:f>
              <c:strCache>
                <c:ptCount val="1"/>
                <c:pt idx="0">
                  <c:v>标普500</c:v>
                </c:pt>
              </c:strCache>
            </c:strRef>
          </c:tx>
          <c:spPr>
            <a:ln w="19050" cap="rnd">
              <a:solidFill>
                <a:schemeClr val="accent2"/>
              </a:solidFill>
              <a:round/>
            </a:ln>
            <a:effectLst/>
          </c:spPr>
          <c:marker>
            <c:symbol val="none"/>
          </c:marker>
          <c:cat>
            <c:numRef>
              <c:f>投资经理历史实盘业绩!$A$4:$A$54</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投资经理历史实盘业绩!$E$4:$E$54</c:f>
              <c:numCache>
                <c:formatCode>0.00</c:formatCode>
                <c:ptCount val="51"/>
                <c:pt idx="0">
                  <c:v>100</c:v>
                </c:pt>
                <c:pt idx="1">
                  <c:v>107.00646873242192</c:v>
                </c:pt>
                <c:pt idx="2">
                  <c:v>102.80882388906551</c:v>
                </c:pt>
                <c:pt idx="3">
                  <c:v>99.96453813984202</c:v>
                </c:pt>
                <c:pt idx="4">
                  <c:v>110.71529017584191</c:v>
                </c:pt>
                <c:pt idx="5">
                  <c:v>114.8251974858764</c:v>
                </c:pt>
                <c:pt idx="6">
                  <c:v>113.54643058035168</c:v>
                </c:pt>
                <c:pt idx="7">
                  <c:v>116.50902443199884</c:v>
                </c:pt>
                <c:pt idx="8">
                  <c:v>121.45350827851011</c:v>
                </c:pt>
                <c:pt idx="9">
                  <c:v>127.82074641101519</c:v>
                </c:pt>
                <c:pt idx="10">
                  <c:v>128.52203526620852</c:v>
                </c:pt>
                <c:pt idx="11">
                  <c:v>131.37702071461763</c:v>
                </c:pt>
                <c:pt idx="12">
                  <c:v>134.36559955000124</c:v>
                </c:pt>
                <c:pt idx="13">
                  <c:v>138.26090146494167</c:v>
                </c:pt>
                <c:pt idx="14">
                  <c:v>131.68394922839883</c:v>
                </c:pt>
                <c:pt idx="15">
                  <c:v>140.78908752965347</c:v>
                </c:pt>
                <c:pt idx="16">
                  <c:v>139.61578908752966</c:v>
                </c:pt>
                <c:pt idx="17">
                  <c:v>145.70483504120915</c:v>
                </c:pt>
                <c:pt idx="18">
                  <c:v>138.04293330724647</c:v>
                </c:pt>
                <c:pt idx="19">
                  <c:v>133.71383501675268</c:v>
                </c:pt>
                <c:pt idx="20">
                  <c:v>138.49721196409791</c:v>
                </c:pt>
                <c:pt idx="21">
                  <c:v>126.31545158844679</c:v>
                </c:pt>
                <c:pt idx="22">
                  <c:v>126.32217711364915</c:v>
                </c:pt>
                <c:pt idx="23">
                  <c:v>115.72122086624765</c:v>
                </c:pt>
                <c:pt idx="24">
                  <c:v>126.26531585511995</c:v>
                </c:pt>
                <c:pt idx="25">
                  <c:v>120.90660079728043</c:v>
                </c:pt>
                <c:pt idx="26">
                  <c:v>109.61444398248918</c:v>
                </c:pt>
                <c:pt idx="27">
                  <c:v>118.36863215045612</c:v>
                </c:pt>
                <c:pt idx="28">
                  <c:v>124.73128469759594</c:v>
                </c:pt>
                <c:pt idx="29">
                  <c:v>117.37570006603244</c:v>
                </c:pt>
                <c:pt idx="30">
                  <c:v>124.62398200004891</c:v>
                </c:pt>
                <c:pt idx="31">
                  <c:v>121.36974491917142</c:v>
                </c:pt>
                <c:pt idx="32">
                  <c:v>125.623945315366</c:v>
                </c:pt>
                <c:pt idx="33">
                  <c:v>127.46337645821613</c:v>
                </c:pt>
                <c:pt idx="34">
                  <c:v>127.77978184841889</c:v>
                </c:pt>
                <c:pt idx="35">
                  <c:v>136.05064931888774</c:v>
                </c:pt>
                <c:pt idx="36">
                  <c:v>140.28711878500332</c:v>
                </c:pt>
                <c:pt idx="37">
                  <c:v>137.80173151703391</c:v>
                </c:pt>
                <c:pt idx="38">
                  <c:v>131.08812883660644</c:v>
                </c:pt>
                <c:pt idx="39">
                  <c:v>128.20685269876986</c:v>
                </c:pt>
                <c:pt idx="40">
                  <c:v>139.64024554281102</c:v>
                </c:pt>
                <c:pt idx="41">
                  <c:v>145.81641761843039</c:v>
                </c:pt>
                <c:pt idx="42">
                  <c:v>148.13427816772236</c:v>
                </c:pt>
                <c:pt idx="43">
                  <c:v>155.79587419599406</c:v>
                </c:pt>
                <c:pt idx="44">
                  <c:v>160.62846975959306</c:v>
                </c:pt>
                <c:pt idx="45">
                  <c:v>153.94390911981216</c:v>
                </c:pt>
                <c:pt idx="46">
                  <c:v>161.33648413998876</c:v>
                </c:pt>
                <c:pt idx="47">
                  <c:v>166.92998116852942</c:v>
                </c:pt>
                <c:pt idx="48">
                  <c:v>168.81985375039744</c:v>
                </c:pt>
                <c:pt idx="49">
                  <c:v>172.6748025141236</c:v>
                </c:pt>
                <c:pt idx="50">
                  <c:v>176.16229303724717</c:v>
                </c:pt>
              </c:numCache>
            </c:numRef>
          </c:val>
          <c:smooth val="0"/>
          <c:extLst>
            <c:ext xmlns:c16="http://schemas.microsoft.com/office/drawing/2014/chart" uri="{C3380CC4-5D6E-409C-BE32-E72D297353CC}">
              <c16:uniqueId val="{00000002-F1C7-4C85-A879-684251BAD710}"/>
            </c:ext>
          </c:extLst>
        </c:ser>
        <c:dLbls>
          <c:showLegendKey val="0"/>
          <c:showVal val="0"/>
          <c:showCatName val="0"/>
          <c:showSerName val="0"/>
          <c:showPercent val="0"/>
          <c:showBubbleSize val="0"/>
        </c:dLbls>
        <c:smooth val="0"/>
        <c:axId val="1157818416"/>
        <c:axId val="1157820080"/>
      </c:lineChart>
      <c:catAx>
        <c:axId val="1157818416"/>
        <c:scaling>
          <c:orientation val="minMax"/>
        </c:scaling>
        <c:delete val="0"/>
        <c:axPos val="b"/>
        <c:numFmt formatCode="yyyy\-mm\-dd;@"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j-ea"/>
                <a:ea typeface="+mj-ea"/>
                <a:cs typeface="+mn-cs"/>
              </a:defRPr>
            </a:pPr>
            <a:endParaRPr lang="zh-CN"/>
          </a:p>
        </c:txPr>
        <c:crossAx val="1157820080"/>
        <c:crosses val="autoZero"/>
        <c:auto val="0"/>
        <c:lblAlgn val="ctr"/>
        <c:lblOffset val="100"/>
        <c:tickLblSkip val="3"/>
        <c:noMultiLvlLbl val="0"/>
      </c:catAx>
      <c:valAx>
        <c:axId val="1157820080"/>
        <c:scaling>
          <c:orientation val="minMax"/>
          <c:min val="80"/>
        </c:scaling>
        <c:delete val="0"/>
        <c:axPos val="l"/>
        <c:majorGridlines>
          <c:spPr>
            <a:ln w="9525" cap="flat" cmpd="sng" algn="ctr">
              <a:noFill/>
              <a:round/>
            </a:ln>
            <a:effectLst/>
          </c:spPr>
        </c:majorGridlines>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j-ea"/>
                <a:ea typeface="+mj-ea"/>
                <a:cs typeface="+mn-cs"/>
              </a:defRPr>
            </a:pPr>
            <a:endParaRPr lang="zh-CN"/>
          </a:p>
        </c:txPr>
        <c:crossAx val="1157818416"/>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sz="1100" b="1" i="0" u="none" strike="noStrike" kern="1200" baseline="0">
              <a:solidFill>
                <a:sysClr val="windowText" lastClr="000000"/>
              </a:solidFill>
              <a:latin typeface="+mj-ea"/>
              <a:ea typeface="+mj-ea"/>
              <a:cs typeface="+mn-cs"/>
            </a:defRPr>
          </a:pPr>
          <a:endParaRPr lang="zh-CN"/>
        </a:p>
      </c:txPr>
    </c:legend>
    <c:plotVisOnly val="1"/>
    <c:dispBlanksAs val="gap"/>
    <c:showDLblsOverMax val="0"/>
  </c:chart>
  <c:spPr>
    <a:noFill/>
    <a:ln>
      <a:noFill/>
    </a:ln>
    <a:effectLst/>
  </c:spPr>
  <c:txPr>
    <a:bodyPr/>
    <a:lstStyle/>
    <a:p>
      <a:pPr>
        <a:defRPr>
          <a:solidFill>
            <a:sysClr val="windowText" lastClr="000000"/>
          </a:solidFill>
          <a:latin typeface="+mj-ea"/>
          <a:ea typeface="+mj-ea"/>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7817161607838572E-2"/>
          <c:y val="9.1922844926807232E-2"/>
          <c:w val="0.91048607592740516"/>
          <c:h val="0.7350294774624232"/>
        </c:manualLayout>
      </c:layout>
      <c:lineChart>
        <c:grouping val="standard"/>
        <c:varyColors val="0"/>
        <c:ser>
          <c:idx val="1"/>
          <c:order val="0"/>
          <c:tx>
            <c:strRef>
              <c:f>投资经理历史实盘业绩!$C$3</c:f>
              <c:strCache>
                <c:ptCount val="1"/>
                <c:pt idx="0">
                  <c:v>Eric 实盘业绩</c:v>
                </c:pt>
              </c:strCache>
            </c:strRef>
          </c:tx>
          <c:spPr>
            <a:ln w="57150" cap="rnd">
              <a:solidFill>
                <a:srgbClr val="FF0000"/>
              </a:solidFill>
              <a:round/>
            </a:ln>
            <a:effectLst/>
          </c:spPr>
          <c:marker>
            <c:symbol val="none"/>
          </c:marker>
          <c:cat>
            <c:numRef>
              <c:f>投资经理历史实盘业绩!$A$4:$A$54</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投资经理历史实盘业绩!$C$4:$C$54</c:f>
              <c:numCache>
                <c:formatCode>0.00</c:formatCode>
                <c:ptCount val="51"/>
                <c:pt idx="0">
                  <c:v>100</c:v>
                </c:pt>
                <c:pt idx="1">
                  <c:v>101.49999999999999</c:v>
                </c:pt>
                <c:pt idx="2">
                  <c:v>97.033999999999978</c:v>
                </c:pt>
                <c:pt idx="3">
                  <c:v>96.645863999999975</c:v>
                </c:pt>
                <c:pt idx="4">
                  <c:v>107.18026317599997</c:v>
                </c:pt>
                <c:pt idx="5">
                  <c:v>115.54032370372798</c:v>
                </c:pt>
                <c:pt idx="6">
                  <c:v>112.88289625854223</c:v>
                </c:pt>
                <c:pt idx="7">
                  <c:v>119.09145555276204</c:v>
                </c:pt>
                <c:pt idx="8">
                  <c:v>118.85327264165652</c:v>
                </c:pt>
                <c:pt idx="9">
                  <c:v>107.20565192277418</c:v>
                </c:pt>
                <c:pt idx="10">
                  <c:v>110.63623278430296</c:v>
                </c:pt>
                <c:pt idx="11">
                  <c:v>113.95531976783205</c:v>
                </c:pt>
                <c:pt idx="12">
                  <c:v>122.72987938995512</c:v>
                </c:pt>
                <c:pt idx="13">
                  <c:v>137.33473503735976</c:v>
                </c:pt>
                <c:pt idx="14">
                  <c:v>143.65213284907833</c:v>
                </c:pt>
                <c:pt idx="15">
                  <c:v>161.17769305666587</c:v>
                </c:pt>
                <c:pt idx="16">
                  <c:v>187.61083471795905</c:v>
                </c:pt>
                <c:pt idx="17">
                  <c:v>210.68696738826802</c:v>
                </c:pt>
                <c:pt idx="18">
                  <c:v>193.41063606243006</c:v>
                </c:pt>
                <c:pt idx="19">
                  <c:v>187.80172761661959</c:v>
                </c:pt>
                <c:pt idx="20">
                  <c:v>203.01366755356577</c:v>
                </c:pt>
                <c:pt idx="21">
                  <c:v>208.90106391261915</c:v>
                </c:pt>
                <c:pt idx="22">
                  <c:v>204.30524050654154</c:v>
                </c:pt>
                <c:pt idx="23">
                  <c:v>217.78938637997328</c:v>
                </c:pt>
                <c:pt idx="24">
                  <c:v>227.37211938069211</c:v>
                </c:pt>
                <c:pt idx="25">
                  <c:v>247.38086588619305</c:v>
                </c:pt>
                <c:pt idx="26">
                  <c:v>252.57586406980309</c:v>
                </c:pt>
                <c:pt idx="27">
                  <c:v>249.03980197282584</c:v>
                </c:pt>
                <c:pt idx="28">
                  <c:v>262.23891147738561</c:v>
                </c:pt>
                <c:pt idx="29">
                  <c:v>258.8298056281796</c:v>
                </c:pt>
                <c:pt idx="30">
                  <c:v>260.12395465632045</c:v>
                </c:pt>
                <c:pt idx="31">
                  <c:v>238.27354246518954</c:v>
                </c:pt>
                <c:pt idx="32">
                  <c:v>263.7688115089648</c:v>
                </c:pt>
                <c:pt idx="33">
                  <c:v>283.55147237213714</c:v>
                </c:pt>
                <c:pt idx="34">
                  <c:v>298.86325188023255</c:v>
                </c:pt>
                <c:pt idx="35">
                  <c:v>286.31099530126278</c:v>
                </c:pt>
                <c:pt idx="36">
                  <c:v>275.71748847511606</c:v>
                </c:pt>
                <c:pt idx="37">
                  <c:v>292.81197276057327</c:v>
                </c:pt>
                <c:pt idx="38">
                  <c:v>289.29822908744637</c:v>
                </c:pt>
                <c:pt idx="39">
                  <c:v>308.39191220721784</c:v>
                </c:pt>
                <c:pt idx="40">
                  <c:v>323.1947239931643</c:v>
                </c:pt>
                <c:pt idx="41">
                  <c:v>342.58640743275419</c:v>
                </c:pt>
                <c:pt idx="42">
                  <c:v>359.03055498952642</c:v>
                </c:pt>
                <c:pt idx="43">
                  <c:v>384.1626938387933</c:v>
                </c:pt>
                <c:pt idx="44">
                  <c:v>401.06585236770024</c:v>
                </c:pt>
                <c:pt idx="45">
                  <c:v>379.80936219221212</c:v>
                </c:pt>
                <c:pt idx="46">
                  <c:v>402.21811456155262</c:v>
                </c:pt>
                <c:pt idx="47">
                  <c:v>499.95711640000985</c:v>
                </c:pt>
                <c:pt idx="48">
                  <c:v>471.95951788160926</c:v>
                </c:pt>
                <c:pt idx="49">
                  <c:v>505.46864365120348</c:v>
                </c:pt>
                <c:pt idx="50">
                  <c:v>510.52333008771552</c:v>
                </c:pt>
              </c:numCache>
            </c:numRef>
          </c:val>
          <c:smooth val="0"/>
          <c:extLst>
            <c:ext xmlns:c16="http://schemas.microsoft.com/office/drawing/2014/chart" uri="{C3380CC4-5D6E-409C-BE32-E72D297353CC}">
              <c16:uniqueId val="{00000000-F1C7-4C85-A879-684251BAD710}"/>
            </c:ext>
          </c:extLst>
        </c:ser>
        <c:ser>
          <c:idx val="2"/>
          <c:order val="1"/>
          <c:tx>
            <c:strRef>
              <c:f>投资经理历史实盘业绩!$D$3</c:f>
              <c:strCache>
                <c:ptCount val="1"/>
                <c:pt idx="0">
                  <c:v>纳斯达克</c:v>
                </c:pt>
              </c:strCache>
            </c:strRef>
          </c:tx>
          <c:spPr>
            <a:ln w="19050" cap="rnd">
              <a:solidFill>
                <a:schemeClr val="bg1">
                  <a:lumMod val="50000"/>
                </a:schemeClr>
              </a:solidFill>
              <a:round/>
            </a:ln>
            <a:effectLst/>
          </c:spPr>
          <c:marker>
            <c:symbol val="none"/>
          </c:marker>
          <c:cat>
            <c:numRef>
              <c:f>投资经理历史实盘业绩!$A$4:$A$54</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投资经理历史实盘业绩!$D$4:$D$54</c:f>
              <c:numCache>
                <c:formatCode>0.00</c:formatCode>
                <c:ptCount val="51"/>
                <c:pt idx="0">
                  <c:v>100</c:v>
                </c:pt>
                <c:pt idx="1">
                  <c:v>109.58738123844259</c:v>
                </c:pt>
                <c:pt idx="2">
                  <c:v>103.92954295238741</c:v>
                </c:pt>
                <c:pt idx="3">
                  <c:v>101.54784384198814</c:v>
                </c:pt>
                <c:pt idx="4">
                  <c:v>113.52660286805263</c:v>
                </c:pt>
                <c:pt idx="5">
                  <c:v>119.94375199506389</c:v>
                </c:pt>
                <c:pt idx="6">
                  <c:v>121.64133614139058</c:v>
                </c:pt>
                <c:pt idx="7">
                  <c:v>122.77355524803006</c:v>
                </c:pt>
                <c:pt idx="8">
                  <c:v>123.28094128858558</c:v>
                </c:pt>
                <c:pt idx="9">
                  <c:v>129.94257007967227</c:v>
                </c:pt>
                <c:pt idx="10">
                  <c:v>127.95155449793256</c:v>
                </c:pt>
                <c:pt idx="11">
                  <c:v>134.97985625303039</c:v>
                </c:pt>
                <c:pt idx="12">
                  <c:v>136.55012856819789</c:v>
                </c:pt>
                <c:pt idx="13">
                  <c:v>142.00890252176072</c:v>
                </c:pt>
                <c:pt idx="14">
                  <c:v>134.46455975512944</c:v>
                </c:pt>
                <c:pt idx="15">
                  <c:v>144.23453296194509</c:v>
                </c:pt>
                <c:pt idx="16">
                  <c:v>144.60027528391561</c:v>
                </c:pt>
                <c:pt idx="17">
                  <c:v>145.59866806511144</c:v>
                </c:pt>
                <c:pt idx="18">
                  <c:v>132.52230981631917</c:v>
                </c:pt>
                <c:pt idx="19">
                  <c:v>127.97630957621354</c:v>
                </c:pt>
                <c:pt idx="20">
                  <c:v>132.34213751725176</c:v>
                </c:pt>
                <c:pt idx="21">
                  <c:v>114.79134540127889</c:v>
                </c:pt>
                <c:pt idx="22">
                  <c:v>112.43449443336462</c:v>
                </c:pt>
                <c:pt idx="23">
                  <c:v>102.63809099259487</c:v>
                </c:pt>
                <c:pt idx="24">
                  <c:v>115.31297026505615</c:v>
                </c:pt>
                <c:pt idx="25">
                  <c:v>109.96652480579827</c:v>
                </c:pt>
                <c:pt idx="26">
                  <c:v>98.421165778058622</c:v>
                </c:pt>
                <c:pt idx="27">
                  <c:v>102.26034338830014</c:v>
                </c:pt>
                <c:pt idx="28">
                  <c:v>106.72602922029878</c:v>
                </c:pt>
                <c:pt idx="29">
                  <c:v>97.405463054906932</c:v>
                </c:pt>
                <c:pt idx="30">
                  <c:v>107.81069251866168</c:v>
                </c:pt>
                <c:pt idx="31">
                  <c:v>106.61007122203536</c:v>
                </c:pt>
                <c:pt idx="32">
                  <c:v>113.74223262886834</c:v>
                </c:pt>
                <c:pt idx="33">
                  <c:v>113.78569361216609</c:v>
                </c:pt>
                <c:pt idx="34">
                  <c:v>120.38124681836753</c:v>
                </c:pt>
                <c:pt idx="35">
                  <c:v>128.31618004945432</c:v>
                </c:pt>
                <c:pt idx="36">
                  <c:v>133.51009327825173</c:v>
                </c:pt>
                <c:pt idx="37">
                  <c:v>130.61533121084906</c:v>
                </c:pt>
                <c:pt idx="38">
                  <c:v>123.02454940638997</c:v>
                </c:pt>
                <c:pt idx="39">
                  <c:v>119.59904218321178</c:v>
                </c:pt>
                <c:pt idx="40">
                  <c:v>132.39518411356809</c:v>
                </c:pt>
                <c:pt idx="41">
                  <c:v>139.70193396722465</c:v>
                </c:pt>
                <c:pt idx="42">
                  <c:v>141.12265210646174</c:v>
                </c:pt>
                <c:pt idx="43">
                  <c:v>149.75817266574037</c:v>
                </c:pt>
                <c:pt idx="44">
                  <c:v>152.43414078938918</c:v>
                </c:pt>
                <c:pt idx="45">
                  <c:v>145.71825556733333</c:v>
                </c:pt>
                <c:pt idx="46">
                  <c:v>155.74313162907958</c:v>
                </c:pt>
                <c:pt idx="47">
                  <c:v>165.0270304980703</c:v>
                </c:pt>
                <c:pt idx="48">
                  <c:v>163.78741529994127</c:v>
                </c:pt>
                <c:pt idx="49">
                  <c:v>164.85039463875734</c:v>
                </c:pt>
                <c:pt idx="50">
                  <c:v>169.27606286300855</c:v>
                </c:pt>
              </c:numCache>
            </c:numRef>
          </c:val>
          <c:smooth val="0"/>
          <c:extLst>
            <c:ext xmlns:c16="http://schemas.microsoft.com/office/drawing/2014/chart" uri="{C3380CC4-5D6E-409C-BE32-E72D297353CC}">
              <c16:uniqueId val="{00000001-F1C7-4C85-A879-684251BAD710}"/>
            </c:ext>
          </c:extLst>
        </c:ser>
        <c:ser>
          <c:idx val="3"/>
          <c:order val="2"/>
          <c:tx>
            <c:strRef>
              <c:f>投资经理历史实盘业绩!$E$3</c:f>
              <c:strCache>
                <c:ptCount val="1"/>
                <c:pt idx="0">
                  <c:v>标普500</c:v>
                </c:pt>
              </c:strCache>
            </c:strRef>
          </c:tx>
          <c:spPr>
            <a:ln w="19050" cap="rnd">
              <a:solidFill>
                <a:schemeClr val="accent2"/>
              </a:solidFill>
              <a:round/>
            </a:ln>
            <a:effectLst/>
          </c:spPr>
          <c:marker>
            <c:symbol val="none"/>
          </c:marker>
          <c:cat>
            <c:numRef>
              <c:f>投资经理历史实盘业绩!$A$4:$A$54</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投资经理历史实盘业绩!$E$4:$E$54</c:f>
              <c:numCache>
                <c:formatCode>0.00</c:formatCode>
                <c:ptCount val="51"/>
                <c:pt idx="0">
                  <c:v>100</c:v>
                </c:pt>
                <c:pt idx="1">
                  <c:v>107.00646873242192</c:v>
                </c:pt>
                <c:pt idx="2">
                  <c:v>102.80882388906551</c:v>
                </c:pt>
                <c:pt idx="3">
                  <c:v>99.96453813984202</c:v>
                </c:pt>
                <c:pt idx="4">
                  <c:v>110.71529017584191</c:v>
                </c:pt>
                <c:pt idx="5">
                  <c:v>114.8251974858764</c:v>
                </c:pt>
                <c:pt idx="6">
                  <c:v>113.54643058035168</c:v>
                </c:pt>
                <c:pt idx="7">
                  <c:v>116.50902443199884</c:v>
                </c:pt>
                <c:pt idx="8">
                  <c:v>121.45350827851011</c:v>
                </c:pt>
                <c:pt idx="9">
                  <c:v>127.82074641101519</c:v>
                </c:pt>
                <c:pt idx="10">
                  <c:v>128.52203526620852</c:v>
                </c:pt>
                <c:pt idx="11">
                  <c:v>131.37702071461763</c:v>
                </c:pt>
                <c:pt idx="12">
                  <c:v>134.36559955000124</c:v>
                </c:pt>
                <c:pt idx="13">
                  <c:v>138.26090146494167</c:v>
                </c:pt>
                <c:pt idx="14">
                  <c:v>131.68394922839883</c:v>
                </c:pt>
                <c:pt idx="15">
                  <c:v>140.78908752965347</c:v>
                </c:pt>
                <c:pt idx="16">
                  <c:v>139.61578908752966</c:v>
                </c:pt>
                <c:pt idx="17">
                  <c:v>145.70483504120915</c:v>
                </c:pt>
                <c:pt idx="18">
                  <c:v>138.04293330724647</c:v>
                </c:pt>
                <c:pt idx="19">
                  <c:v>133.71383501675268</c:v>
                </c:pt>
                <c:pt idx="20">
                  <c:v>138.49721196409791</c:v>
                </c:pt>
                <c:pt idx="21">
                  <c:v>126.31545158844679</c:v>
                </c:pt>
                <c:pt idx="22">
                  <c:v>126.32217711364915</c:v>
                </c:pt>
                <c:pt idx="23">
                  <c:v>115.72122086624765</c:v>
                </c:pt>
                <c:pt idx="24">
                  <c:v>126.26531585511995</c:v>
                </c:pt>
                <c:pt idx="25">
                  <c:v>120.90660079728043</c:v>
                </c:pt>
                <c:pt idx="26">
                  <c:v>109.61444398248918</c:v>
                </c:pt>
                <c:pt idx="27">
                  <c:v>118.36863215045612</c:v>
                </c:pt>
                <c:pt idx="28">
                  <c:v>124.73128469759594</c:v>
                </c:pt>
                <c:pt idx="29">
                  <c:v>117.37570006603244</c:v>
                </c:pt>
                <c:pt idx="30">
                  <c:v>124.62398200004891</c:v>
                </c:pt>
                <c:pt idx="31">
                  <c:v>121.36974491917142</c:v>
                </c:pt>
                <c:pt idx="32">
                  <c:v>125.623945315366</c:v>
                </c:pt>
                <c:pt idx="33">
                  <c:v>127.46337645821613</c:v>
                </c:pt>
                <c:pt idx="34">
                  <c:v>127.77978184841889</c:v>
                </c:pt>
                <c:pt idx="35">
                  <c:v>136.05064931888774</c:v>
                </c:pt>
                <c:pt idx="36">
                  <c:v>140.28711878500332</c:v>
                </c:pt>
                <c:pt idx="37">
                  <c:v>137.80173151703391</c:v>
                </c:pt>
                <c:pt idx="38">
                  <c:v>131.08812883660644</c:v>
                </c:pt>
                <c:pt idx="39">
                  <c:v>128.20685269876986</c:v>
                </c:pt>
                <c:pt idx="40">
                  <c:v>139.64024554281102</c:v>
                </c:pt>
                <c:pt idx="41">
                  <c:v>145.81641761843039</c:v>
                </c:pt>
                <c:pt idx="42">
                  <c:v>148.13427816772236</c:v>
                </c:pt>
                <c:pt idx="43">
                  <c:v>155.79587419599406</c:v>
                </c:pt>
                <c:pt idx="44">
                  <c:v>160.62846975959306</c:v>
                </c:pt>
                <c:pt idx="45">
                  <c:v>153.94390911981216</c:v>
                </c:pt>
                <c:pt idx="46">
                  <c:v>161.33648413998876</c:v>
                </c:pt>
                <c:pt idx="47">
                  <c:v>166.92998116852942</c:v>
                </c:pt>
                <c:pt idx="48">
                  <c:v>168.81985375039744</c:v>
                </c:pt>
                <c:pt idx="49">
                  <c:v>172.6748025141236</c:v>
                </c:pt>
                <c:pt idx="50">
                  <c:v>176.16229303724717</c:v>
                </c:pt>
              </c:numCache>
            </c:numRef>
          </c:val>
          <c:smooth val="0"/>
          <c:extLst>
            <c:ext xmlns:c16="http://schemas.microsoft.com/office/drawing/2014/chart" uri="{C3380CC4-5D6E-409C-BE32-E72D297353CC}">
              <c16:uniqueId val="{00000002-F1C7-4C85-A879-684251BAD710}"/>
            </c:ext>
          </c:extLst>
        </c:ser>
        <c:dLbls>
          <c:showLegendKey val="0"/>
          <c:showVal val="0"/>
          <c:showCatName val="0"/>
          <c:showSerName val="0"/>
          <c:showPercent val="0"/>
          <c:showBubbleSize val="0"/>
        </c:dLbls>
        <c:smooth val="0"/>
        <c:axId val="1157818416"/>
        <c:axId val="1157820080"/>
      </c:lineChart>
      <c:catAx>
        <c:axId val="1157818416"/>
        <c:scaling>
          <c:orientation val="minMax"/>
        </c:scaling>
        <c:delete val="0"/>
        <c:axPos val="b"/>
        <c:numFmt formatCode="yyyy\-mm\-dd;@"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j-ea"/>
                <a:ea typeface="+mj-ea"/>
                <a:cs typeface="+mn-cs"/>
              </a:defRPr>
            </a:pPr>
            <a:endParaRPr lang="zh-CN"/>
          </a:p>
        </c:txPr>
        <c:crossAx val="1157820080"/>
        <c:crosses val="autoZero"/>
        <c:auto val="0"/>
        <c:lblAlgn val="ctr"/>
        <c:lblOffset val="100"/>
        <c:tickLblSkip val="3"/>
        <c:noMultiLvlLbl val="0"/>
      </c:catAx>
      <c:valAx>
        <c:axId val="1157820080"/>
        <c:scaling>
          <c:orientation val="minMax"/>
          <c:min val="80"/>
        </c:scaling>
        <c:delete val="0"/>
        <c:axPos val="l"/>
        <c:majorGridlines>
          <c:spPr>
            <a:ln w="9525" cap="flat" cmpd="sng" algn="ctr">
              <a:noFill/>
              <a:round/>
            </a:ln>
            <a:effectLst/>
          </c:spPr>
        </c:majorGridlines>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j-ea"/>
                <a:ea typeface="+mj-ea"/>
                <a:cs typeface="+mn-cs"/>
              </a:defRPr>
            </a:pPr>
            <a:endParaRPr lang="zh-CN"/>
          </a:p>
        </c:txPr>
        <c:crossAx val="1157818416"/>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sz="1100" b="1" i="0" u="none" strike="noStrike" kern="1200" baseline="0">
              <a:solidFill>
                <a:sysClr val="windowText" lastClr="000000"/>
              </a:solidFill>
              <a:latin typeface="+mj-ea"/>
              <a:ea typeface="+mj-ea"/>
              <a:cs typeface="+mn-cs"/>
            </a:defRPr>
          </a:pPr>
          <a:endParaRPr lang="zh-CN"/>
        </a:p>
      </c:txPr>
    </c:legend>
    <c:plotVisOnly val="1"/>
    <c:dispBlanksAs val="gap"/>
    <c:showDLblsOverMax val="0"/>
  </c:chart>
  <c:spPr>
    <a:noFill/>
    <a:ln>
      <a:noFill/>
    </a:ln>
    <a:effectLst/>
  </c:spPr>
  <c:txPr>
    <a:bodyPr/>
    <a:lstStyle/>
    <a:p>
      <a:pPr>
        <a:defRPr>
          <a:solidFill>
            <a:sysClr val="windowText" lastClr="000000"/>
          </a:solidFill>
          <a:latin typeface="+mj-ea"/>
          <a:ea typeface="+mj-ea"/>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lineChart>
        <c:grouping val="standard"/>
        <c:varyColors val="0"/>
        <c:ser>
          <c:idx val="1"/>
          <c:order val="0"/>
          <c:tx>
            <c:strRef>
              <c:f>对冲v.s非对冲!$C$1</c:f>
              <c:strCache>
                <c:ptCount val="1"/>
                <c:pt idx="0">
                  <c:v>Eric 实盘业绩-对冲</c:v>
                </c:pt>
              </c:strCache>
            </c:strRef>
          </c:tx>
          <c:spPr>
            <a:ln w="38100" cap="rnd">
              <a:solidFill>
                <a:srgbClr val="FF0000"/>
              </a:solidFill>
              <a:round/>
            </a:ln>
            <a:effectLst/>
          </c:spPr>
          <c:marker>
            <c:symbol val="none"/>
          </c:marker>
          <c:cat>
            <c:numRef>
              <c:f>对冲v.s非对冲!$A$2:$A$52</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对冲v.s非对冲!$C$2:$C$52</c:f>
              <c:numCache>
                <c:formatCode>0.00</c:formatCode>
                <c:ptCount val="51"/>
                <c:pt idx="0">
                  <c:v>100</c:v>
                </c:pt>
                <c:pt idx="1">
                  <c:v>101.49999999999999</c:v>
                </c:pt>
                <c:pt idx="2">
                  <c:v>97.033999999999978</c:v>
                </c:pt>
                <c:pt idx="3">
                  <c:v>96.645863999999975</c:v>
                </c:pt>
                <c:pt idx="4">
                  <c:v>107.18026317599997</c:v>
                </c:pt>
                <c:pt idx="5">
                  <c:v>115.54032370372798</c:v>
                </c:pt>
                <c:pt idx="6">
                  <c:v>112.88289625854223</c:v>
                </c:pt>
                <c:pt idx="7">
                  <c:v>119.09145555276204</c:v>
                </c:pt>
                <c:pt idx="8">
                  <c:v>118.85327264165652</c:v>
                </c:pt>
                <c:pt idx="9">
                  <c:v>107.20565192277418</c:v>
                </c:pt>
                <c:pt idx="10">
                  <c:v>110.63623278430296</c:v>
                </c:pt>
                <c:pt idx="11">
                  <c:v>113.95531976783205</c:v>
                </c:pt>
                <c:pt idx="12">
                  <c:v>122.72987938995512</c:v>
                </c:pt>
                <c:pt idx="13">
                  <c:v>137.33473503735976</c:v>
                </c:pt>
                <c:pt idx="14">
                  <c:v>143.65213284907833</c:v>
                </c:pt>
                <c:pt idx="15">
                  <c:v>161.17769305666587</c:v>
                </c:pt>
                <c:pt idx="16">
                  <c:v>187.61083471795905</c:v>
                </c:pt>
                <c:pt idx="17">
                  <c:v>210.68696738826802</c:v>
                </c:pt>
                <c:pt idx="18">
                  <c:v>193.41063606243006</c:v>
                </c:pt>
                <c:pt idx="19">
                  <c:v>187.80172761661959</c:v>
                </c:pt>
                <c:pt idx="20">
                  <c:v>203.01366755356577</c:v>
                </c:pt>
                <c:pt idx="21">
                  <c:v>208.90106391261915</c:v>
                </c:pt>
                <c:pt idx="22">
                  <c:v>204.30524050654154</c:v>
                </c:pt>
                <c:pt idx="23">
                  <c:v>217.78938637997328</c:v>
                </c:pt>
                <c:pt idx="24">
                  <c:v>227.37211938069211</c:v>
                </c:pt>
                <c:pt idx="25">
                  <c:v>247.38086588619305</c:v>
                </c:pt>
                <c:pt idx="26">
                  <c:v>252.57586406980309</c:v>
                </c:pt>
                <c:pt idx="27">
                  <c:v>249.03980197282584</c:v>
                </c:pt>
                <c:pt idx="28">
                  <c:v>262.23891147738561</c:v>
                </c:pt>
                <c:pt idx="29">
                  <c:v>258.8298056281796</c:v>
                </c:pt>
                <c:pt idx="30">
                  <c:v>260.12395465632045</c:v>
                </c:pt>
                <c:pt idx="31">
                  <c:v>238.27354246518954</c:v>
                </c:pt>
                <c:pt idx="32">
                  <c:v>263.7688115089648</c:v>
                </c:pt>
                <c:pt idx="33">
                  <c:v>283.55147237213714</c:v>
                </c:pt>
                <c:pt idx="34">
                  <c:v>298.86325188023255</c:v>
                </c:pt>
                <c:pt idx="35">
                  <c:v>286.31099530126278</c:v>
                </c:pt>
                <c:pt idx="36">
                  <c:v>275.71748847511606</c:v>
                </c:pt>
                <c:pt idx="37">
                  <c:v>292.81197276057327</c:v>
                </c:pt>
                <c:pt idx="38">
                  <c:v>289.29822908744637</c:v>
                </c:pt>
                <c:pt idx="39">
                  <c:v>308.39191220721784</c:v>
                </c:pt>
                <c:pt idx="40">
                  <c:v>323.1947239931643</c:v>
                </c:pt>
                <c:pt idx="41">
                  <c:v>342.58640743275419</c:v>
                </c:pt>
                <c:pt idx="42">
                  <c:v>359.03055498952642</c:v>
                </c:pt>
                <c:pt idx="43">
                  <c:v>384.1626938387933</c:v>
                </c:pt>
                <c:pt idx="44">
                  <c:v>401.06585236770024</c:v>
                </c:pt>
                <c:pt idx="45">
                  <c:v>379.80936219221212</c:v>
                </c:pt>
                <c:pt idx="46">
                  <c:v>402.21811456155262</c:v>
                </c:pt>
                <c:pt idx="47">
                  <c:v>499.95711640000985</c:v>
                </c:pt>
                <c:pt idx="48">
                  <c:v>471.95951788160926</c:v>
                </c:pt>
                <c:pt idx="49">
                  <c:v>505.46864365120348</c:v>
                </c:pt>
                <c:pt idx="50">
                  <c:v>510.52333008771552</c:v>
                </c:pt>
              </c:numCache>
            </c:numRef>
          </c:val>
          <c:smooth val="0"/>
          <c:extLst>
            <c:ext xmlns:c16="http://schemas.microsoft.com/office/drawing/2014/chart" uri="{C3380CC4-5D6E-409C-BE32-E72D297353CC}">
              <c16:uniqueId val="{00000000-779F-4997-9DB1-4CA317A996CF}"/>
            </c:ext>
          </c:extLst>
        </c:ser>
        <c:ser>
          <c:idx val="0"/>
          <c:order val="1"/>
          <c:tx>
            <c:strRef>
              <c:f>对冲v.s非对冲!$E$1</c:f>
              <c:strCache>
                <c:ptCount val="1"/>
                <c:pt idx="0">
                  <c:v>Eric 实盘业绩-非对冲</c:v>
                </c:pt>
              </c:strCache>
            </c:strRef>
          </c:tx>
          <c:spPr>
            <a:ln w="38100" cap="rnd">
              <a:solidFill>
                <a:srgbClr val="0070C0"/>
              </a:solidFill>
              <a:round/>
            </a:ln>
            <a:effectLst/>
          </c:spPr>
          <c:marker>
            <c:symbol val="none"/>
          </c:marker>
          <c:cat>
            <c:numRef>
              <c:f>对冲v.s非对冲!$A$2:$A$52</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对冲v.s非对冲!$E$2:$E$52</c:f>
              <c:numCache>
                <c:formatCode>0.00</c:formatCode>
                <c:ptCount val="51"/>
                <c:pt idx="0">
                  <c:v>100</c:v>
                </c:pt>
                <c:pt idx="1">
                  <c:v>106.5</c:v>
                </c:pt>
                <c:pt idx="2">
                  <c:v>96.382500000000007</c:v>
                </c:pt>
                <c:pt idx="3">
                  <c:v>93.587407499999998</c:v>
                </c:pt>
                <c:pt idx="4">
                  <c:v>143.6566705125</c:v>
                </c:pt>
                <c:pt idx="5">
                  <c:v>185.74807497266249</c:v>
                </c:pt>
                <c:pt idx="6">
                  <c:v>197.82169984588555</c:v>
                </c:pt>
                <c:pt idx="7">
                  <c:v>228.28624162215189</c:v>
                </c:pt>
                <c:pt idx="8">
                  <c:v>243.35313356921392</c:v>
                </c:pt>
                <c:pt idx="9">
                  <c:v>247.00343057275211</c:v>
                </c:pt>
                <c:pt idx="10">
                  <c:v>264.04666728227198</c:v>
                </c:pt>
                <c:pt idx="11">
                  <c:v>295.20417402158006</c:v>
                </c:pt>
                <c:pt idx="12">
                  <c:v>317.63969124722018</c:v>
                </c:pt>
                <c:pt idx="13">
                  <c:v>352.89769697566163</c:v>
                </c:pt>
                <c:pt idx="14">
                  <c:v>303.49201939906902</c:v>
                </c:pt>
                <c:pt idx="15">
                  <c:v>390.29073694720279</c:v>
                </c:pt>
                <c:pt idx="16">
                  <c:v>462.10423254548806</c:v>
                </c:pt>
                <c:pt idx="17">
                  <c:v>579.94081184458742</c:v>
                </c:pt>
                <c:pt idx="18">
                  <c:v>405.37862747936663</c:v>
                </c:pt>
                <c:pt idx="19">
                  <c:v>360.38159982915693</c:v>
                </c:pt>
                <c:pt idx="20">
                  <c:v>401.46510220968088</c:v>
                </c:pt>
                <c:pt idx="21">
                  <c:v>277.01092052467976</c:v>
                </c:pt>
                <c:pt idx="22">
                  <c:v>287.26032458409287</c:v>
                </c:pt>
                <c:pt idx="23">
                  <c:v>185.57016968132399</c:v>
                </c:pt>
                <c:pt idx="24">
                  <c:v>265.92205315333729</c:v>
                </c:pt>
                <c:pt idx="25">
                  <c:v>219.91753795780991</c:v>
                </c:pt>
                <c:pt idx="26">
                  <c:v>148.22442058356387</c:v>
                </c:pt>
                <c:pt idx="27">
                  <c:v>167.93826852117786</c:v>
                </c:pt>
                <c:pt idx="28">
                  <c:v>228.22810692028071</c:v>
                </c:pt>
                <c:pt idx="29">
                  <c:v>164.78069319644266</c:v>
                </c:pt>
                <c:pt idx="30">
                  <c:v>223.27783928117981</c:v>
                </c:pt>
                <c:pt idx="31">
                  <c:v>208.76477972790315</c:v>
                </c:pt>
                <c:pt idx="32">
                  <c:v>266.17509415307649</c:v>
                </c:pt>
                <c:pt idx="33">
                  <c:v>214.53712588737966</c:v>
                </c:pt>
                <c:pt idx="34">
                  <c:v>303.14095887886748</c:v>
                </c:pt>
                <c:pt idx="35">
                  <c:v>358.61575435370025</c:v>
                </c:pt>
                <c:pt idx="36">
                  <c:v>385.51193593022776</c:v>
                </c:pt>
                <c:pt idx="37">
                  <c:v>385.51193593022776</c:v>
                </c:pt>
                <c:pt idx="38">
                  <c:v>318.0473471424379</c:v>
                </c:pt>
                <c:pt idx="39">
                  <c:v>296.42012753675209</c:v>
                </c:pt>
                <c:pt idx="40">
                  <c:v>436.62684786163578</c:v>
                </c:pt>
                <c:pt idx="41">
                  <c:v>561.50212635006358</c:v>
                </c:pt>
                <c:pt idx="42">
                  <c:v>616.52933473236988</c:v>
                </c:pt>
                <c:pt idx="43">
                  <c:v>805.18731116047513</c:v>
                </c:pt>
                <c:pt idx="44">
                  <c:v>904.22535043321352</c:v>
                </c:pt>
                <c:pt idx="45">
                  <c:v>672.74366072231089</c:v>
                </c:pt>
                <c:pt idx="46">
                  <c:v>873.22127161755952</c:v>
                </c:pt>
                <c:pt idx="47">
                  <c:v>1153.5252998067961</c:v>
                </c:pt>
                <c:pt idx="48">
                  <c:v>922.82023984543684</c:v>
                </c:pt>
                <c:pt idx="49">
                  <c:v>1022.4848257487441</c:v>
                </c:pt>
                <c:pt idx="50">
                  <c:v>1037.8220981349752</c:v>
                </c:pt>
              </c:numCache>
            </c:numRef>
          </c:val>
          <c:smooth val="0"/>
          <c:extLst>
            <c:ext xmlns:c16="http://schemas.microsoft.com/office/drawing/2014/chart" uri="{C3380CC4-5D6E-409C-BE32-E72D297353CC}">
              <c16:uniqueId val="{00000001-779F-4997-9DB1-4CA317A996CF}"/>
            </c:ext>
          </c:extLst>
        </c:ser>
        <c:dLbls>
          <c:showLegendKey val="0"/>
          <c:showVal val="0"/>
          <c:showCatName val="0"/>
          <c:showSerName val="0"/>
          <c:showPercent val="0"/>
          <c:showBubbleSize val="0"/>
        </c:dLbls>
        <c:smooth val="0"/>
        <c:axId val="1157818416"/>
        <c:axId val="1157820080"/>
      </c:lineChart>
      <c:catAx>
        <c:axId val="1157818416"/>
        <c:scaling>
          <c:orientation val="minMax"/>
        </c:scaling>
        <c:delete val="0"/>
        <c:axPos val="b"/>
        <c:numFmt formatCode="yyyy\-mm\-dd;@"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j-ea"/>
                <a:ea typeface="+mj-ea"/>
                <a:cs typeface="+mn-cs"/>
              </a:defRPr>
            </a:pPr>
            <a:endParaRPr lang="zh-CN"/>
          </a:p>
        </c:txPr>
        <c:crossAx val="1157820080"/>
        <c:crosses val="autoZero"/>
        <c:auto val="0"/>
        <c:lblAlgn val="ctr"/>
        <c:lblOffset val="100"/>
        <c:tickLblSkip val="3"/>
        <c:noMultiLvlLbl val="0"/>
      </c:catAx>
      <c:valAx>
        <c:axId val="1157820080"/>
        <c:scaling>
          <c:orientation val="minMax"/>
          <c:max val="1300"/>
          <c:min val="80"/>
        </c:scaling>
        <c:delete val="0"/>
        <c:axPos val="l"/>
        <c:majorGridlines>
          <c:spPr>
            <a:ln w="9525" cap="flat" cmpd="sng" algn="ctr">
              <a:no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j-ea"/>
                <a:ea typeface="+mj-ea"/>
                <a:cs typeface="+mn-cs"/>
              </a:defRPr>
            </a:pPr>
            <a:endParaRPr lang="zh-CN"/>
          </a:p>
        </c:txPr>
        <c:crossAx val="1157818416"/>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sz="1100" b="1" i="0" u="none" strike="noStrike" kern="1200" baseline="0">
              <a:solidFill>
                <a:schemeClr val="tx1"/>
              </a:solidFill>
              <a:latin typeface="+mj-ea"/>
              <a:ea typeface="+mj-ea"/>
              <a:cs typeface="+mn-cs"/>
            </a:defRPr>
          </a:pPr>
          <a:endParaRPr lang="zh-CN"/>
        </a:p>
      </c:txPr>
    </c:legend>
    <c:plotVisOnly val="1"/>
    <c:dispBlanksAs val="gap"/>
    <c:showDLblsOverMax val="0"/>
  </c:chart>
  <c:spPr>
    <a:noFill/>
    <a:ln>
      <a:noFill/>
    </a:ln>
    <a:effectLst/>
  </c:spPr>
  <c:txPr>
    <a:bodyPr/>
    <a:lstStyle/>
    <a:p>
      <a:pPr>
        <a:defRPr>
          <a:solidFill>
            <a:schemeClr val="tx1"/>
          </a:solidFill>
          <a:latin typeface="+mj-ea"/>
          <a:ea typeface="+mj-ea"/>
        </a:defRPr>
      </a:pPr>
      <a:endParaRPr lang="zh-CN"/>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zh-CN" sz="1200" b="1" i="0" baseline="0">
                <a:effectLst/>
              </a:rPr>
              <a:t>地区分布</a:t>
            </a:r>
            <a:r>
              <a:rPr lang="en-US" altLang="zh-CN" sz="1200" b="1" i="0" baseline="0">
                <a:effectLst/>
              </a:rPr>
              <a:t>——</a:t>
            </a:r>
            <a:r>
              <a:rPr lang="zh-CN" altLang="en-US" sz="1200" b="1" i="0" baseline="0">
                <a:effectLst/>
              </a:rPr>
              <a:t>总敞口</a:t>
            </a:r>
            <a:endParaRPr lang="zh-CN" altLang="zh-CN" sz="1200">
              <a:effectLst/>
            </a:endParaRPr>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areaChart>
        <c:grouping val="stacked"/>
        <c:varyColors val="0"/>
        <c:ser>
          <c:idx val="0"/>
          <c:order val="0"/>
          <c:tx>
            <c:strRef>
              <c:f>敞口!$BZ$2</c:f>
              <c:strCache>
                <c:ptCount val="1"/>
                <c:pt idx="0">
                  <c:v>美国</c:v>
                </c:pt>
              </c:strCache>
            </c:strRef>
          </c:tx>
          <c:spPr>
            <a:solidFill>
              <a:schemeClr val="accent1"/>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敞口!$BZ$3:$BZ$53</c:f>
              <c:numCache>
                <c:formatCode>0.0%</c:formatCode>
                <c:ptCount val="51"/>
                <c:pt idx="0">
                  <c:v>0.86376346952933425</c:v>
                </c:pt>
                <c:pt idx="1">
                  <c:v>0.86599192929304403</c:v>
                </c:pt>
                <c:pt idx="2">
                  <c:v>0.90481209562202702</c:v>
                </c:pt>
                <c:pt idx="3">
                  <c:v>0.91315598557483146</c:v>
                </c:pt>
                <c:pt idx="4">
                  <c:v>0.89411056966454172</c:v>
                </c:pt>
                <c:pt idx="5">
                  <c:v>0.83858260325059819</c:v>
                </c:pt>
                <c:pt idx="6">
                  <c:v>0.86400888475439519</c:v>
                </c:pt>
                <c:pt idx="7">
                  <c:v>0.87996660987649422</c:v>
                </c:pt>
                <c:pt idx="8">
                  <c:v>0.81975355436388331</c:v>
                </c:pt>
                <c:pt idx="9">
                  <c:v>0.84392502489663457</c:v>
                </c:pt>
                <c:pt idx="10">
                  <c:v>0.82753328592879816</c:v>
                </c:pt>
                <c:pt idx="11">
                  <c:v>0.76041841812423594</c:v>
                </c:pt>
                <c:pt idx="12">
                  <c:v>0.79056420997548504</c:v>
                </c:pt>
                <c:pt idx="13">
                  <c:v>0.76813990432046264</c:v>
                </c:pt>
                <c:pt idx="14">
                  <c:v>0.7983687786040452</c:v>
                </c:pt>
                <c:pt idx="15">
                  <c:v>0.84274504978691622</c:v>
                </c:pt>
                <c:pt idx="16">
                  <c:v>0.83195415856783583</c:v>
                </c:pt>
                <c:pt idx="17">
                  <c:v>0.81563495346937231</c:v>
                </c:pt>
                <c:pt idx="18">
                  <c:v>0.83446647483942704</c:v>
                </c:pt>
                <c:pt idx="19">
                  <c:v>0.81804330865519836</c:v>
                </c:pt>
                <c:pt idx="20">
                  <c:v>0.80508061883117898</c:v>
                </c:pt>
                <c:pt idx="21">
                  <c:v>0.79315343506155633</c:v>
                </c:pt>
                <c:pt idx="22">
                  <c:v>0.84222242722683138</c:v>
                </c:pt>
                <c:pt idx="23">
                  <c:v>0.85970104135117853</c:v>
                </c:pt>
                <c:pt idx="24">
                  <c:v>0.85207817725101564</c:v>
                </c:pt>
                <c:pt idx="25">
                  <c:v>0.84814044092466878</c:v>
                </c:pt>
                <c:pt idx="26">
                  <c:v>0.87766872251720152</c:v>
                </c:pt>
                <c:pt idx="27">
                  <c:v>0.86661015651113704</c:v>
                </c:pt>
                <c:pt idx="28">
                  <c:v>0.87118645038705167</c:v>
                </c:pt>
                <c:pt idx="29">
                  <c:v>0.86342076988198158</c:v>
                </c:pt>
                <c:pt idx="30">
                  <c:v>0.90580989396676226</c:v>
                </c:pt>
                <c:pt idx="31">
                  <c:v>0.83030228045692356</c:v>
                </c:pt>
                <c:pt idx="32">
                  <c:v>0.84477236066851757</c:v>
                </c:pt>
                <c:pt idx="33">
                  <c:v>0.90812877864909347</c:v>
                </c:pt>
                <c:pt idx="34">
                  <c:v>0.85680434257484772</c:v>
                </c:pt>
                <c:pt idx="35">
                  <c:v>0.90663020070803979</c:v>
                </c:pt>
                <c:pt idx="36">
                  <c:v>0.87825002531026364</c:v>
                </c:pt>
                <c:pt idx="37">
                  <c:v>0.83555952297594804</c:v>
                </c:pt>
                <c:pt idx="38">
                  <c:v>0.88730041045523678</c:v>
                </c:pt>
                <c:pt idx="39">
                  <c:v>0.84070943272689225</c:v>
                </c:pt>
                <c:pt idx="40">
                  <c:v>0.75806875509772742</c:v>
                </c:pt>
                <c:pt idx="41">
                  <c:v>0.7655710849520192</c:v>
                </c:pt>
                <c:pt idx="42">
                  <c:v>0.82381611026773527</c:v>
                </c:pt>
                <c:pt idx="43">
                  <c:v>0.8391588854913743</c:v>
                </c:pt>
                <c:pt idx="44">
                  <c:v>0.84310267311421061</c:v>
                </c:pt>
                <c:pt idx="45">
                  <c:v>0.854283438832389</c:v>
                </c:pt>
                <c:pt idx="46">
                  <c:v>0.8170693209961799</c:v>
                </c:pt>
                <c:pt idx="47">
                  <c:v>0.83898435584050179</c:v>
                </c:pt>
                <c:pt idx="48">
                  <c:v>0.85785562694507544</c:v>
                </c:pt>
                <c:pt idx="49">
                  <c:v>0.88928040749053272</c:v>
                </c:pt>
                <c:pt idx="50">
                  <c:v>0.89158438823416608</c:v>
                </c:pt>
              </c:numCache>
            </c:numRef>
          </c:val>
          <c:extLst>
            <c:ext xmlns:c16="http://schemas.microsoft.com/office/drawing/2014/chart" uri="{C3380CC4-5D6E-409C-BE32-E72D297353CC}">
              <c16:uniqueId val="{00000000-B0A2-4028-89FB-BF98F18E89B4}"/>
            </c:ext>
          </c:extLst>
        </c:ser>
        <c:ser>
          <c:idx val="1"/>
          <c:order val="1"/>
          <c:tx>
            <c:strRef>
              <c:f>敞口!$CA$2</c:f>
              <c:strCache>
                <c:ptCount val="1"/>
                <c:pt idx="0">
                  <c:v>中国</c:v>
                </c:pt>
              </c:strCache>
            </c:strRef>
          </c:tx>
          <c:spPr>
            <a:solidFill>
              <a:schemeClr val="accent2"/>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敞口!$CA$3:$CA$53</c:f>
              <c:numCache>
                <c:formatCode>0.0%</c:formatCode>
                <c:ptCount val="51"/>
                <c:pt idx="0">
                  <c:v>0</c:v>
                </c:pt>
                <c:pt idx="1">
                  <c:v>0</c:v>
                </c:pt>
                <c:pt idx="2">
                  <c:v>0</c:v>
                </c:pt>
                <c:pt idx="3">
                  <c:v>0</c:v>
                </c:pt>
                <c:pt idx="4">
                  <c:v>0</c:v>
                </c:pt>
                <c:pt idx="5">
                  <c:v>0</c:v>
                </c:pt>
                <c:pt idx="6">
                  <c:v>0</c:v>
                </c:pt>
                <c:pt idx="7">
                  <c:v>0</c:v>
                </c:pt>
                <c:pt idx="8">
                  <c:v>2.7335122761302901E-3</c:v>
                </c:pt>
                <c:pt idx="9">
                  <c:v>0</c:v>
                </c:pt>
                <c:pt idx="10">
                  <c:v>2.6270486144351742E-2</c:v>
                </c:pt>
                <c:pt idx="11">
                  <c:v>2.7451833858975164E-2</c:v>
                </c:pt>
                <c:pt idx="12">
                  <c:v>4.1566131084005489E-3</c:v>
                </c:pt>
                <c:pt idx="13">
                  <c:v>2.7242762366403831E-2</c:v>
                </c:pt>
                <c:pt idx="14">
                  <c:v>2.6452629227347049E-2</c:v>
                </c:pt>
                <c:pt idx="15">
                  <c:v>1.180963552908766E-2</c:v>
                </c:pt>
                <c:pt idx="16">
                  <c:v>3.3348149211330183E-2</c:v>
                </c:pt>
                <c:pt idx="17">
                  <c:v>3.5534767185883442E-2</c:v>
                </c:pt>
                <c:pt idx="18">
                  <c:v>2.565264800243406E-2</c:v>
                </c:pt>
                <c:pt idx="19">
                  <c:v>3.1346622400496543E-2</c:v>
                </c:pt>
                <c:pt idx="20">
                  <c:v>1.7964483750012451E-2</c:v>
                </c:pt>
                <c:pt idx="21">
                  <c:v>1.8739859770129094E-2</c:v>
                </c:pt>
                <c:pt idx="22">
                  <c:v>6.6121689594443086E-3</c:v>
                </c:pt>
                <c:pt idx="23">
                  <c:v>7.126198829891974E-3</c:v>
                </c:pt>
                <c:pt idx="24">
                  <c:v>1.879726588334997E-2</c:v>
                </c:pt>
                <c:pt idx="25">
                  <c:v>8.7879824949551148E-3</c:v>
                </c:pt>
                <c:pt idx="26">
                  <c:v>1.3421079983318601E-2</c:v>
                </c:pt>
                <c:pt idx="27">
                  <c:v>1.842876878626919E-2</c:v>
                </c:pt>
                <c:pt idx="28">
                  <c:v>1.9908802783356321E-2</c:v>
                </c:pt>
                <c:pt idx="29">
                  <c:v>1.374009780273679E-2</c:v>
                </c:pt>
                <c:pt idx="30">
                  <c:v>0</c:v>
                </c:pt>
                <c:pt idx="31">
                  <c:v>1.8928377630601591E-2</c:v>
                </c:pt>
                <c:pt idx="32">
                  <c:v>0</c:v>
                </c:pt>
                <c:pt idx="33">
                  <c:v>4.7004869292095143E-3</c:v>
                </c:pt>
                <c:pt idx="34">
                  <c:v>1.144163612135525E-2</c:v>
                </c:pt>
                <c:pt idx="35">
                  <c:v>0</c:v>
                </c:pt>
                <c:pt idx="36">
                  <c:v>9.7385402766452245E-3</c:v>
                </c:pt>
                <c:pt idx="37">
                  <c:v>1.9536856833101031E-2</c:v>
                </c:pt>
                <c:pt idx="38">
                  <c:v>0</c:v>
                </c:pt>
                <c:pt idx="39">
                  <c:v>5.5670494345212891E-4</c:v>
                </c:pt>
                <c:pt idx="40">
                  <c:v>1.2239480761460751E-2</c:v>
                </c:pt>
                <c:pt idx="41">
                  <c:v>1.5141924294703488E-2</c:v>
                </c:pt>
                <c:pt idx="42">
                  <c:v>1.7187031569079251E-2</c:v>
                </c:pt>
                <c:pt idx="43">
                  <c:v>0</c:v>
                </c:pt>
                <c:pt idx="44">
                  <c:v>6.0169067301014843E-3</c:v>
                </c:pt>
                <c:pt idx="45">
                  <c:v>0</c:v>
                </c:pt>
                <c:pt idx="46">
                  <c:v>1.334634851289482E-2</c:v>
                </c:pt>
                <c:pt idx="47">
                  <c:v>1.256347522309777E-2</c:v>
                </c:pt>
                <c:pt idx="48">
                  <c:v>1.6991516582036389E-2</c:v>
                </c:pt>
                <c:pt idx="49">
                  <c:v>7.5427048303413954E-3</c:v>
                </c:pt>
                <c:pt idx="50">
                  <c:v>2.1276349629897259E-2</c:v>
                </c:pt>
              </c:numCache>
            </c:numRef>
          </c:val>
          <c:extLst>
            <c:ext xmlns:c16="http://schemas.microsoft.com/office/drawing/2014/chart" uri="{C3380CC4-5D6E-409C-BE32-E72D297353CC}">
              <c16:uniqueId val="{00000001-B0A2-4028-89FB-BF98F18E89B4}"/>
            </c:ext>
          </c:extLst>
        </c:ser>
        <c:ser>
          <c:idx val="2"/>
          <c:order val="2"/>
          <c:tx>
            <c:strRef>
              <c:f>敞口!$CB$2</c:f>
              <c:strCache>
                <c:ptCount val="1"/>
                <c:pt idx="0">
                  <c:v>日本</c:v>
                </c:pt>
              </c:strCache>
            </c:strRef>
          </c:tx>
          <c:spPr>
            <a:solidFill>
              <a:schemeClr val="accent3"/>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敞口!$CB$3:$CB$53</c:f>
              <c:numCache>
                <c:formatCode>0.0%</c:formatCode>
                <c:ptCount val="51"/>
                <c:pt idx="0">
                  <c:v>4.398147668941798E-2</c:v>
                </c:pt>
                <c:pt idx="1">
                  <c:v>2.3725317863637432E-2</c:v>
                </c:pt>
                <c:pt idx="2">
                  <c:v>0</c:v>
                </c:pt>
                <c:pt idx="3">
                  <c:v>0</c:v>
                </c:pt>
                <c:pt idx="4">
                  <c:v>2.1467830815726362E-2</c:v>
                </c:pt>
                <c:pt idx="5">
                  <c:v>2.2059066287419282E-2</c:v>
                </c:pt>
                <c:pt idx="6">
                  <c:v>2.411124084472854E-2</c:v>
                </c:pt>
                <c:pt idx="7">
                  <c:v>1.101285371036397E-2</c:v>
                </c:pt>
                <c:pt idx="8">
                  <c:v>1.668196515572494E-2</c:v>
                </c:pt>
                <c:pt idx="9">
                  <c:v>0</c:v>
                </c:pt>
                <c:pt idx="10">
                  <c:v>0</c:v>
                </c:pt>
                <c:pt idx="11">
                  <c:v>2.9732332634284521E-2</c:v>
                </c:pt>
                <c:pt idx="12">
                  <c:v>2.7438908051023871E-2</c:v>
                </c:pt>
                <c:pt idx="13">
                  <c:v>1.496980729519014E-2</c:v>
                </c:pt>
                <c:pt idx="14">
                  <c:v>4.0565060762727992E-2</c:v>
                </c:pt>
                <c:pt idx="15">
                  <c:v>1.4956531692722361E-2</c:v>
                </c:pt>
                <c:pt idx="16">
                  <c:v>5.5321996275559454E-3</c:v>
                </c:pt>
                <c:pt idx="17">
                  <c:v>2.8859055350851381E-2</c:v>
                </c:pt>
                <c:pt idx="18">
                  <c:v>3.9818551934281132E-2</c:v>
                </c:pt>
                <c:pt idx="19">
                  <c:v>2.367070048933782E-2</c:v>
                </c:pt>
                <c:pt idx="20">
                  <c:v>2.8650040889662894E-2</c:v>
                </c:pt>
                <c:pt idx="21">
                  <c:v>2.3657420313241258E-2</c:v>
                </c:pt>
                <c:pt idx="22">
                  <c:v>2.2108940828442239E-2</c:v>
                </c:pt>
                <c:pt idx="23">
                  <c:v>2.37095523006517E-2</c:v>
                </c:pt>
                <c:pt idx="24">
                  <c:v>3.0884328479648553E-2</c:v>
                </c:pt>
                <c:pt idx="25">
                  <c:v>3.365074439790848E-2</c:v>
                </c:pt>
                <c:pt idx="26">
                  <c:v>2.1257293026408053E-2</c:v>
                </c:pt>
                <c:pt idx="27">
                  <c:v>2.8399783739803251E-2</c:v>
                </c:pt>
                <c:pt idx="28">
                  <c:v>1.9711593647290061E-2</c:v>
                </c:pt>
                <c:pt idx="29">
                  <c:v>2.0335476583535326E-2</c:v>
                </c:pt>
                <c:pt idx="30">
                  <c:v>2.6740482844288201E-2</c:v>
                </c:pt>
                <c:pt idx="31">
                  <c:v>2.0938388732463981E-2</c:v>
                </c:pt>
                <c:pt idx="32">
                  <c:v>2.716010803895454E-2</c:v>
                </c:pt>
                <c:pt idx="33">
                  <c:v>1.6290963892060622E-2</c:v>
                </c:pt>
                <c:pt idx="34">
                  <c:v>1.8679999464522302E-2</c:v>
                </c:pt>
                <c:pt idx="35">
                  <c:v>1.7885293558513232E-2</c:v>
                </c:pt>
                <c:pt idx="36">
                  <c:v>2.5780247181557255E-2</c:v>
                </c:pt>
                <c:pt idx="37">
                  <c:v>1.0638081758720705E-2</c:v>
                </c:pt>
                <c:pt idx="38">
                  <c:v>1.0639004404693208E-2</c:v>
                </c:pt>
                <c:pt idx="39">
                  <c:v>3.7889742942166481E-3</c:v>
                </c:pt>
                <c:pt idx="40">
                  <c:v>1.165046821258206E-2</c:v>
                </c:pt>
                <c:pt idx="41">
                  <c:v>1.846782553164052E-2</c:v>
                </c:pt>
                <c:pt idx="42">
                  <c:v>1.872662669268518E-2</c:v>
                </c:pt>
                <c:pt idx="43">
                  <c:v>1.1682676702634689E-2</c:v>
                </c:pt>
                <c:pt idx="44">
                  <c:v>1.7690460902829039E-2</c:v>
                </c:pt>
                <c:pt idx="45">
                  <c:v>4.5719566297109532E-4</c:v>
                </c:pt>
                <c:pt idx="46">
                  <c:v>1.443266915159218E-2</c:v>
                </c:pt>
                <c:pt idx="47">
                  <c:v>1.428044995827623E-2</c:v>
                </c:pt>
                <c:pt idx="48">
                  <c:v>1.3371354822012987E-2</c:v>
                </c:pt>
                <c:pt idx="49">
                  <c:v>5.8981111248247401E-3</c:v>
                </c:pt>
                <c:pt idx="50">
                  <c:v>7.7589994014985652E-3</c:v>
                </c:pt>
              </c:numCache>
            </c:numRef>
          </c:val>
          <c:extLst>
            <c:ext xmlns:c16="http://schemas.microsoft.com/office/drawing/2014/chart" uri="{C3380CC4-5D6E-409C-BE32-E72D297353CC}">
              <c16:uniqueId val="{00000002-B0A2-4028-89FB-BF98F18E89B4}"/>
            </c:ext>
          </c:extLst>
        </c:ser>
        <c:ser>
          <c:idx val="3"/>
          <c:order val="3"/>
          <c:tx>
            <c:strRef>
              <c:f>敞口!$CC$2</c:f>
              <c:strCache>
                <c:ptCount val="1"/>
                <c:pt idx="0">
                  <c:v>韩国</c:v>
                </c:pt>
              </c:strCache>
            </c:strRef>
          </c:tx>
          <c:spPr>
            <a:solidFill>
              <a:schemeClr val="accent4"/>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敞口!$CC$3:$CC$53</c:f>
              <c:numCache>
                <c:formatCode>0.0%</c:formatCode>
                <c:ptCount val="51"/>
                <c:pt idx="0">
                  <c:v>0</c:v>
                </c:pt>
                <c:pt idx="1">
                  <c:v>0</c:v>
                </c:pt>
                <c:pt idx="2">
                  <c:v>0</c:v>
                </c:pt>
                <c:pt idx="3">
                  <c:v>0</c:v>
                </c:pt>
                <c:pt idx="4">
                  <c:v>0</c:v>
                </c:pt>
                <c:pt idx="5">
                  <c:v>1.473909790089992E-2</c:v>
                </c:pt>
                <c:pt idx="6">
                  <c:v>0</c:v>
                </c:pt>
                <c:pt idx="7">
                  <c:v>0</c:v>
                </c:pt>
                <c:pt idx="8">
                  <c:v>0</c:v>
                </c:pt>
                <c:pt idx="9">
                  <c:v>0</c:v>
                </c:pt>
                <c:pt idx="10">
                  <c:v>5.669914480596859E-3</c:v>
                </c:pt>
                <c:pt idx="11">
                  <c:v>0</c:v>
                </c:pt>
                <c:pt idx="12">
                  <c:v>0</c:v>
                </c:pt>
                <c:pt idx="13">
                  <c:v>1.4397760867791289E-2</c:v>
                </c:pt>
                <c:pt idx="14">
                  <c:v>2.0181238648715641E-2</c:v>
                </c:pt>
                <c:pt idx="15">
                  <c:v>1.8625015744970309E-2</c:v>
                </c:pt>
                <c:pt idx="16">
                  <c:v>3.7612607045202612E-2</c:v>
                </c:pt>
                <c:pt idx="17">
                  <c:v>2.5160197412072229E-2</c:v>
                </c:pt>
                <c:pt idx="18">
                  <c:v>8.1924934943220055E-3</c:v>
                </c:pt>
                <c:pt idx="19">
                  <c:v>1.7995370258702417E-2</c:v>
                </c:pt>
                <c:pt idx="20">
                  <c:v>8.4791335119328709E-3</c:v>
                </c:pt>
                <c:pt idx="21">
                  <c:v>1.9067582743074931E-2</c:v>
                </c:pt>
                <c:pt idx="22">
                  <c:v>4.8765175658845219E-3</c:v>
                </c:pt>
                <c:pt idx="23">
                  <c:v>1.2020356750979601E-2</c:v>
                </c:pt>
                <c:pt idx="24">
                  <c:v>8.978490096703047E-3</c:v>
                </c:pt>
                <c:pt idx="25">
                  <c:v>4.315141076148778E-3</c:v>
                </c:pt>
                <c:pt idx="26">
                  <c:v>3.055042746414677E-3</c:v>
                </c:pt>
                <c:pt idx="27">
                  <c:v>0</c:v>
                </c:pt>
                <c:pt idx="28">
                  <c:v>0</c:v>
                </c:pt>
                <c:pt idx="29">
                  <c:v>1.3738710761880459E-2</c:v>
                </c:pt>
                <c:pt idx="30">
                  <c:v>2.5952474384715088E-3</c:v>
                </c:pt>
                <c:pt idx="31">
                  <c:v>6.2575937819436796E-3</c:v>
                </c:pt>
                <c:pt idx="32">
                  <c:v>1.0980679469148978E-2</c:v>
                </c:pt>
                <c:pt idx="33">
                  <c:v>0</c:v>
                </c:pt>
                <c:pt idx="34">
                  <c:v>8.3018366507356545E-3</c:v>
                </c:pt>
                <c:pt idx="35">
                  <c:v>2.0219179389971899E-2</c:v>
                </c:pt>
                <c:pt idx="36">
                  <c:v>2.4525312697416819E-2</c:v>
                </c:pt>
                <c:pt idx="37">
                  <c:v>2.4671437950978339E-2</c:v>
                </c:pt>
                <c:pt idx="38">
                  <c:v>1.8617911894407198E-2</c:v>
                </c:pt>
                <c:pt idx="39">
                  <c:v>2.3105925685429109E-2</c:v>
                </c:pt>
                <c:pt idx="40">
                  <c:v>2.9786223985015341E-2</c:v>
                </c:pt>
                <c:pt idx="41">
                  <c:v>3.1593391752155392E-2</c:v>
                </c:pt>
                <c:pt idx="42">
                  <c:v>2.060733281586212E-2</c:v>
                </c:pt>
                <c:pt idx="43">
                  <c:v>2.105494150916953E-2</c:v>
                </c:pt>
                <c:pt idx="44">
                  <c:v>1.213458243553076E-2</c:v>
                </c:pt>
                <c:pt idx="45">
                  <c:v>9.9423798274755806E-3</c:v>
                </c:pt>
                <c:pt idx="46">
                  <c:v>1.013658269141169E-2</c:v>
                </c:pt>
                <c:pt idx="47">
                  <c:v>1.224340356539377E-2</c:v>
                </c:pt>
                <c:pt idx="48">
                  <c:v>5.0413946313805818E-3</c:v>
                </c:pt>
                <c:pt idx="49">
                  <c:v>0</c:v>
                </c:pt>
                <c:pt idx="50">
                  <c:v>0</c:v>
                </c:pt>
              </c:numCache>
            </c:numRef>
          </c:val>
          <c:extLst>
            <c:ext xmlns:c16="http://schemas.microsoft.com/office/drawing/2014/chart" uri="{C3380CC4-5D6E-409C-BE32-E72D297353CC}">
              <c16:uniqueId val="{00000003-B0A2-4028-89FB-BF98F18E89B4}"/>
            </c:ext>
          </c:extLst>
        </c:ser>
        <c:ser>
          <c:idx val="4"/>
          <c:order val="4"/>
          <c:tx>
            <c:strRef>
              <c:f>敞口!$CD$2</c:f>
              <c:strCache>
                <c:ptCount val="1"/>
                <c:pt idx="0">
                  <c:v>台湾</c:v>
                </c:pt>
              </c:strCache>
            </c:strRef>
          </c:tx>
          <c:spPr>
            <a:solidFill>
              <a:schemeClr val="accent5"/>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敞口!$CD$3:$CD$53</c:f>
              <c:numCache>
                <c:formatCode>0.0%</c:formatCode>
                <c:ptCount val="51"/>
                <c:pt idx="0">
                  <c:v>0</c:v>
                </c:pt>
                <c:pt idx="1">
                  <c:v>1.7057857844479399E-2</c:v>
                </c:pt>
                <c:pt idx="2">
                  <c:v>0</c:v>
                </c:pt>
                <c:pt idx="3">
                  <c:v>0</c:v>
                </c:pt>
                <c:pt idx="4">
                  <c:v>0</c:v>
                </c:pt>
                <c:pt idx="5">
                  <c:v>0</c:v>
                </c:pt>
                <c:pt idx="6">
                  <c:v>1.625055478360455E-2</c:v>
                </c:pt>
                <c:pt idx="7">
                  <c:v>1.316115303103786E-2</c:v>
                </c:pt>
                <c:pt idx="8">
                  <c:v>4.566717524042864E-2</c:v>
                </c:pt>
                <c:pt idx="9">
                  <c:v>3.526733032634586E-2</c:v>
                </c:pt>
                <c:pt idx="10">
                  <c:v>3.0532314839602899E-2</c:v>
                </c:pt>
                <c:pt idx="11">
                  <c:v>4.5777335775283902E-2</c:v>
                </c:pt>
                <c:pt idx="12">
                  <c:v>4.9813996002390039E-2</c:v>
                </c:pt>
                <c:pt idx="13">
                  <c:v>4.5546350596293098E-2</c:v>
                </c:pt>
                <c:pt idx="14">
                  <c:v>4.3114617814659695E-2</c:v>
                </c:pt>
                <c:pt idx="15">
                  <c:v>4.5442957877508024E-2</c:v>
                </c:pt>
                <c:pt idx="16">
                  <c:v>3.616369098968969E-2</c:v>
                </c:pt>
                <c:pt idx="17">
                  <c:v>3.2358028593586823E-2</c:v>
                </c:pt>
                <c:pt idx="18">
                  <c:v>3.4263481978633471E-2</c:v>
                </c:pt>
                <c:pt idx="19">
                  <c:v>4.0242300296782212E-2</c:v>
                </c:pt>
                <c:pt idx="20">
                  <c:v>3.1691843170333418E-2</c:v>
                </c:pt>
                <c:pt idx="21">
                  <c:v>2.5478674930866335E-2</c:v>
                </c:pt>
                <c:pt idx="22">
                  <c:v>3.8323542840368138E-2</c:v>
                </c:pt>
                <c:pt idx="23">
                  <c:v>2.7104730707613291E-2</c:v>
                </c:pt>
                <c:pt idx="24">
                  <c:v>3.0163022116610413E-2</c:v>
                </c:pt>
                <c:pt idx="25">
                  <c:v>3.9533517937904383E-2</c:v>
                </c:pt>
                <c:pt idx="26">
                  <c:v>1.9717913518083101E-2</c:v>
                </c:pt>
                <c:pt idx="27">
                  <c:v>4.9284283707777661E-2</c:v>
                </c:pt>
                <c:pt idx="28">
                  <c:v>3.5151186720460609E-2</c:v>
                </c:pt>
                <c:pt idx="29">
                  <c:v>2.1923047809857016E-2</c:v>
                </c:pt>
                <c:pt idx="30">
                  <c:v>1.8913112215201883E-2</c:v>
                </c:pt>
                <c:pt idx="31">
                  <c:v>8.2044871239297407E-2</c:v>
                </c:pt>
                <c:pt idx="32">
                  <c:v>7.7395089326362729E-2</c:v>
                </c:pt>
                <c:pt idx="33">
                  <c:v>4.1877006680334006E-2</c:v>
                </c:pt>
                <c:pt idx="34">
                  <c:v>5.0662560279426477E-2</c:v>
                </c:pt>
                <c:pt idx="35">
                  <c:v>2.0809223638877824E-2</c:v>
                </c:pt>
                <c:pt idx="36">
                  <c:v>3.5419220483018189E-2</c:v>
                </c:pt>
                <c:pt idx="37">
                  <c:v>3.8735616088972996E-2</c:v>
                </c:pt>
                <c:pt idx="38">
                  <c:v>2.7149303005112674E-2</c:v>
                </c:pt>
                <c:pt idx="39">
                  <c:v>2.6582102962972389E-2</c:v>
                </c:pt>
                <c:pt idx="40">
                  <c:v>5.1223563298172341E-2</c:v>
                </c:pt>
                <c:pt idx="41">
                  <c:v>5.8003439738688725E-2</c:v>
                </c:pt>
                <c:pt idx="42">
                  <c:v>4.511643834362971E-2</c:v>
                </c:pt>
                <c:pt idx="43">
                  <c:v>3.3407821591141723E-2</c:v>
                </c:pt>
                <c:pt idx="44">
                  <c:v>3.2213123592459952E-2</c:v>
                </c:pt>
                <c:pt idx="45">
                  <c:v>5.0386606650792601E-2</c:v>
                </c:pt>
                <c:pt idx="46">
                  <c:v>7.2411689238403951E-2</c:v>
                </c:pt>
                <c:pt idx="47">
                  <c:v>5.3592478753791792E-2</c:v>
                </c:pt>
                <c:pt idx="48">
                  <c:v>5.7278250463272146E-2</c:v>
                </c:pt>
                <c:pt idx="49">
                  <c:v>5.1291247696332989E-2</c:v>
                </c:pt>
                <c:pt idx="50">
                  <c:v>4.220042799768764E-2</c:v>
                </c:pt>
              </c:numCache>
            </c:numRef>
          </c:val>
          <c:extLst>
            <c:ext xmlns:c16="http://schemas.microsoft.com/office/drawing/2014/chart" uri="{C3380CC4-5D6E-409C-BE32-E72D297353CC}">
              <c16:uniqueId val="{00000004-B0A2-4028-89FB-BF98F18E89B4}"/>
            </c:ext>
          </c:extLst>
        </c:ser>
        <c:ser>
          <c:idx val="5"/>
          <c:order val="5"/>
          <c:tx>
            <c:strRef>
              <c:f>敞口!$CE$2</c:f>
              <c:strCache>
                <c:ptCount val="1"/>
                <c:pt idx="0">
                  <c:v>亚洲其他</c:v>
                </c:pt>
              </c:strCache>
            </c:strRef>
          </c:tx>
          <c:spPr>
            <a:solidFill>
              <a:schemeClr val="accent6"/>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敞口!$CE$3:$CE$53</c:f>
              <c:numCache>
                <c:formatCode>0.0%</c:formatCode>
                <c:ptCount val="51"/>
                <c:pt idx="0">
                  <c:v>0</c:v>
                </c:pt>
                <c:pt idx="1">
                  <c:v>0</c:v>
                </c:pt>
                <c:pt idx="2">
                  <c:v>1.1890213790208151E-2</c:v>
                </c:pt>
                <c:pt idx="3">
                  <c:v>1.303522178361812E-2</c:v>
                </c:pt>
                <c:pt idx="4">
                  <c:v>0</c:v>
                </c:pt>
                <c:pt idx="5">
                  <c:v>0</c:v>
                </c:pt>
                <c:pt idx="6">
                  <c:v>9.9432731808738427E-3</c:v>
                </c:pt>
                <c:pt idx="7">
                  <c:v>2.335648666892115E-2</c:v>
                </c:pt>
                <c:pt idx="8">
                  <c:v>2.228421627834512E-2</c:v>
                </c:pt>
                <c:pt idx="9">
                  <c:v>1.6020296406454668E-2</c:v>
                </c:pt>
                <c:pt idx="10">
                  <c:v>1.6433622486444442E-2</c:v>
                </c:pt>
                <c:pt idx="11">
                  <c:v>2.4715823407658953E-2</c:v>
                </c:pt>
                <c:pt idx="12">
                  <c:v>2.4909582666884249E-2</c:v>
                </c:pt>
                <c:pt idx="13">
                  <c:v>2.8739491685705221E-2</c:v>
                </c:pt>
                <c:pt idx="14">
                  <c:v>1.7936181750787459E-2</c:v>
                </c:pt>
                <c:pt idx="15">
                  <c:v>3.5048695415993987E-2</c:v>
                </c:pt>
                <c:pt idx="16">
                  <c:v>1.8458260791956088E-2</c:v>
                </c:pt>
                <c:pt idx="17">
                  <c:v>3.8926622580447816E-2</c:v>
                </c:pt>
                <c:pt idx="18">
                  <c:v>2.3466786048459233E-2</c:v>
                </c:pt>
                <c:pt idx="19">
                  <c:v>3.0225067478012888E-2</c:v>
                </c:pt>
                <c:pt idx="20">
                  <c:v>3.4466721740570833E-2</c:v>
                </c:pt>
                <c:pt idx="21">
                  <c:v>4.0446857392884283E-2</c:v>
                </c:pt>
                <c:pt idx="22">
                  <c:v>2.6856930534680794E-2</c:v>
                </c:pt>
                <c:pt idx="23">
                  <c:v>2.7810078458824536E-2</c:v>
                </c:pt>
                <c:pt idx="24">
                  <c:v>3.3332454089107469E-2</c:v>
                </c:pt>
                <c:pt idx="25">
                  <c:v>2.0576003372347426E-2</c:v>
                </c:pt>
                <c:pt idx="26">
                  <c:v>9.0797846283584283E-3</c:v>
                </c:pt>
                <c:pt idx="27">
                  <c:v>0</c:v>
                </c:pt>
                <c:pt idx="28">
                  <c:v>1.1129487141485105E-2</c:v>
                </c:pt>
                <c:pt idx="29">
                  <c:v>1.5137096659474863E-2</c:v>
                </c:pt>
                <c:pt idx="30">
                  <c:v>2.1451252753572646E-2</c:v>
                </c:pt>
                <c:pt idx="31">
                  <c:v>1.0074009438123685E-2</c:v>
                </c:pt>
                <c:pt idx="32">
                  <c:v>7.0788436895410645E-3</c:v>
                </c:pt>
                <c:pt idx="33">
                  <c:v>3.9127432376694082E-3</c:v>
                </c:pt>
                <c:pt idx="34">
                  <c:v>0</c:v>
                </c:pt>
                <c:pt idx="35">
                  <c:v>2.2595769848220044E-3</c:v>
                </c:pt>
                <c:pt idx="36">
                  <c:v>6.9575194954971248E-3</c:v>
                </c:pt>
                <c:pt idx="37">
                  <c:v>1.4458348788288194E-2</c:v>
                </c:pt>
                <c:pt idx="38">
                  <c:v>1.6949729648670035E-2</c:v>
                </c:pt>
                <c:pt idx="39">
                  <c:v>1.9735212268079477E-2</c:v>
                </c:pt>
                <c:pt idx="40">
                  <c:v>2.4707326463834042E-2</c:v>
                </c:pt>
                <c:pt idx="41">
                  <c:v>2.2465940916230817E-2</c:v>
                </c:pt>
                <c:pt idx="42">
                  <c:v>1.9325070784852946E-3</c:v>
                </c:pt>
                <c:pt idx="43">
                  <c:v>2.6422120007321054E-2</c:v>
                </c:pt>
                <c:pt idx="44">
                  <c:v>1.1934539477425975E-2</c:v>
                </c:pt>
                <c:pt idx="45">
                  <c:v>1.8777290135086395E-2</c:v>
                </c:pt>
                <c:pt idx="46">
                  <c:v>1.4155191258058419E-3</c:v>
                </c:pt>
                <c:pt idx="47">
                  <c:v>1.345908411163959E-2</c:v>
                </c:pt>
                <c:pt idx="48">
                  <c:v>1.3904263040641643E-2</c:v>
                </c:pt>
                <c:pt idx="49">
                  <c:v>2.387150399252972E-3</c:v>
                </c:pt>
                <c:pt idx="50">
                  <c:v>7.4398340331412946E-3</c:v>
                </c:pt>
              </c:numCache>
            </c:numRef>
          </c:val>
          <c:extLst>
            <c:ext xmlns:c16="http://schemas.microsoft.com/office/drawing/2014/chart" uri="{C3380CC4-5D6E-409C-BE32-E72D297353CC}">
              <c16:uniqueId val="{00000005-B0A2-4028-89FB-BF98F18E89B4}"/>
            </c:ext>
          </c:extLst>
        </c:ser>
        <c:ser>
          <c:idx val="6"/>
          <c:order val="6"/>
          <c:tx>
            <c:strRef>
              <c:f>敞口!$CF$2</c:f>
              <c:strCache>
                <c:ptCount val="1"/>
                <c:pt idx="0">
                  <c:v>西欧</c:v>
                </c:pt>
              </c:strCache>
            </c:strRef>
          </c:tx>
          <c:spPr>
            <a:solidFill>
              <a:schemeClr val="accent1">
                <a:lumMod val="60000"/>
              </a:schemeClr>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敞口!$CF$3:$CF$53</c:f>
              <c:numCache>
                <c:formatCode>0.0%</c:formatCode>
                <c:ptCount val="51"/>
                <c:pt idx="0">
                  <c:v>8.1733780699238021E-2</c:v>
                </c:pt>
                <c:pt idx="1">
                  <c:v>9.3224894998839139E-2</c:v>
                </c:pt>
                <c:pt idx="2">
                  <c:v>8.3297690587765122E-2</c:v>
                </c:pt>
                <c:pt idx="3">
                  <c:v>7.3808792641550547E-2</c:v>
                </c:pt>
                <c:pt idx="4">
                  <c:v>7.921837070292001E-2</c:v>
                </c:pt>
                <c:pt idx="5">
                  <c:v>9.8864012720392969E-2</c:v>
                </c:pt>
                <c:pt idx="6">
                  <c:v>7.3598825240519458E-2</c:v>
                </c:pt>
                <c:pt idx="7">
                  <c:v>7.2502896713182663E-2</c:v>
                </c:pt>
                <c:pt idx="8">
                  <c:v>8.1964133036555059E-2</c:v>
                </c:pt>
                <c:pt idx="9">
                  <c:v>9.5983474579747888E-2</c:v>
                </c:pt>
                <c:pt idx="10">
                  <c:v>7.9147936110343084E-2</c:v>
                </c:pt>
                <c:pt idx="11">
                  <c:v>9.525637098037687E-2</c:v>
                </c:pt>
                <c:pt idx="12">
                  <c:v>0.10311669019581635</c:v>
                </c:pt>
                <c:pt idx="13">
                  <c:v>9.0296303652098092E-2</c:v>
                </c:pt>
                <c:pt idx="14">
                  <c:v>5.3381493191717005E-2</c:v>
                </c:pt>
                <c:pt idx="15">
                  <c:v>3.1372113952801504E-2</c:v>
                </c:pt>
                <c:pt idx="16">
                  <c:v>2.7400488944609273E-2</c:v>
                </c:pt>
                <c:pt idx="17">
                  <c:v>2.1690904467099745E-2</c:v>
                </c:pt>
                <c:pt idx="18">
                  <c:v>3.1982726581378872E-2</c:v>
                </c:pt>
                <c:pt idx="19">
                  <c:v>3.272210902361572E-2</c:v>
                </c:pt>
                <c:pt idx="20">
                  <c:v>7.3154471274601521E-2</c:v>
                </c:pt>
                <c:pt idx="21">
                  <c:v>7.9138440311288513E-2</c:v>
                </c:pt>
                <c:pt idx="22">
                  <c:v>5.8608472990987252E-2</c:v>
                </c:pt>
                <c:pt idx="23">
                  <c:v>4.2421711300310916E-2</c:v>
                </c:pt>
                <c:pt idx="24">
                  <c:v>2.5537864732578248E-2</c:v>
                </c:pt>
                <c:pt idx="25">
                  <c:v>4.4840124665466177E-2</c:v>
                </c:pt>
                <c:pt idx="26">
                  <c:v>5.5683419198531807E-2</c:v>
                </c:pt>
                <c:pt idx="27">
                  <c:v>2.4733426077983268E-2</c:v>
                </c:pt>
                <c:pt idx="28">
                  <c:v>4.2726509388149508E-2</c:v>
                </c:pt>
                <c:pt idx="29">
                  <c:v>5.1704800500534082E-2</c:v>
                </c:pt>
                <c:pt idx="30">
                  <c:v>2.449001078170299E-2</c:v>
                </c:pt>
                <c:pt idx="31">
                  <c:v>3.1454478720645968E-2</c:v>
                </c:pt>
                <c:pt idx="32">
                  <c:v>3.2612918807475182E-2</c:v>
                </c:pt>
                <c:pt idx="33">
                  <c:v>2.5090020611632902E-2</c:v>
                </c:pt>
                <c:pt idx="34">
                  <c:v>5.410962490911219E-2</c:v>
                </c:pt>
                <c:pt idx="35">
                  <c:v>2.6360073858717952E-2</c:v>
                </c:pt>
                <c:pt idx="36">
                  <c:v>1.165273478649618E-2</c:v>
                </c:pt>
                <c:pt idx="37">
                  <c:v>4.0294785614308395E-2</c:v>
                </c:pt>
                <c:pt idx="38">
                  <c:v>3.0062486171648521E-2</c:v>
                </c:pt>
                <c:pt idx="39">
                  <c:v>7.7940470960134373E-2</c:v>
                </c:pt>
                <c:pt idx="40">
                  <c:v>0.10297424282085046</c:v>
                </c:pt>
                <c:pt idx="41">
                  <c:v>7.5311365273173794E-2</c:v>
                </c:pt>
                <c:pt idx="42">
                  <c:v>6.1935378402510982E-2</c:v>
                </c:pt>
                <c:pt idx="43">
                  <c:v>6.1077735877515082E-2</c:v>
                </c:pt>
                <c:pt idx="44">
                  <c:v>6.9067992930840427E-2</c:v>
                </c:pt>
                <c:pt idx="45">
                  <c:v>5.9182000867442158E-2</c:v>
                </c:pt>
                <c:pt idx="46">
                  <c:v>6.378968052211012E-2</c:v>
                </c:pt>
                <c:pt idx="47">
                  <c:v>4.2797793104715959E-2</c:v>
                </c:pt>
                <c:pt idx="48">
                  <c:v>2.828603021770517E-2</c:v>
                </c:pt>
                <c:pt idx="49">
                  <c:v>2.7460686239251325E-2</c:v>
                </c:pt>
                <c:pt idx="50">
                  <c:v>9.3574563885640491E-3</c:v>
                </c:pt>
              </c:numCache>
            </c:numRef>
          </c:val>
          <c:extLst>
            <c:ext xmlns:c16="http://schemas.microsoft.com/office/drawing/2014/chart" uri="{C3380CC4-5D6E-409C-BE32-E72D297353CC}">
              <c16:uniqueId val="{00000006-B0A2-4028-89FB-BF98F18E89B4}"/>
            </c:ext>
          </c:extLst>
        </c:ser>
        <c:ser>
          <c:idx val="7"/>
          <c:order val="7"/>
          <c:tx>
            <c:strRef>
              <c:f>敞口!$CG$2</c:f>
              <c:strCache>
                <c:ptCount val="1"/>
                <c:pt idx="0">
                  <c:v>其他</c:v>
                </c:pt>
              </c:strCache>
            </c:strRef>
          </c:tx>
          <c:spPr>
            <a:solidFill>
              <a:schemeClr val="accent2">
                <a:lumMod val="60000"/>
              </a:schemeClr>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敞口!$CG$3:$CG$53</c:f>
              <c:numCache>
                <c:formatCode>0.0%</c:formatCode>
                <c:ptCount val="51"/>
                <c:pt idx="0">
                  <c:v>1.0521273082009879E-2</c:v>
                </c:pt>
                <c:pt idx="1">
                  <c:v>0</c:v>
                </c:pt>
                <c:pt idx="2">
                  <c:v>0</c:v>
                </c:pt>
                <c:pt idx="3">
                  <c:v>0</c:v>
                </c:pt>
                <c:pt idx="4">
                  <c:v>5.2032288168118212E-3</c:v>
                </c:pt>
                <c:pt idx="5">
                  <c:v>2.5755219840689923E-2</c:v>
                </c:pt>
                <c:pt idx="6">
                  <c:v>1.2087221195878245E-2</c:v>
                </c:pt>
                <c:pt idx="7">
                  <c:v>0</c:v>
                </c:pt>
                <c:pt idx="8">
                  <c:v>1.0915443648932901E-2</c:v>
                </c:pt>
                <c:pt idx="9">
                  <c:v>8.8038737908167578E-3</c:v>
                </c:pt>
                <c:pt idx="10">
                  <c:v>1.4412440009862819E-2</c:v>
                </c:pt>
                <c:pt idx="11">
                  <c:v>1.6647885219184561E-2</c:v>
                </c:pt>
                <c:pt idx="12">
                  <c:v>0</c:v>
                </c:pt>
                <c:pt idx="13">
                  <c:v>1.066761921605602E-2</c:v>
                </c:pt>
                <c:pt idx="14">
                  <c:v>0</c:v>
                </c:pt>
                <c:pt idx="15">
                  <c:v>0</c:v>
                </c:pt>
                <c:pt idx="16">
                  <c:v>9.5304448218195299E-3</c:v>
                </c:pt>
                <c:pt idx="17">
                  <c:v>1.8354709406864899E-3</c:v>
                </c:pt>
                <c:pt idx="18">
                  <c:v>2.1568371210645069E-3</c:v>
                </c:pt>
                <c:pt idx="19">
                  <c:v>5.7545213978543747E-3</c:v>
                </c:pt>
                <c:pt idx="20">
                  <c:v>5.1268683170715046E-4</c:v>
                </c:pt>
                <c:pt idx="21">
                  <c:v>3.1772947695936842E-4</c:v>
                </c:pt>
                <c:pt idx="22">
                  <c:v>3.9099905336125107E-4</c:v>
                </c:pt>
                <c:pt idx="23">
                  <c:v>1.0633030055053459E-4</c:v>
                </c:pt>
                <c:pt idx="24">
                  <c:v>2.283973509868784E-4</c:v>
                </c:pt>
                <c:pt idx="25">
                  <c:v>1.560451306024754E-4</c:v>
                </c:pt>
                <c:pt idx="26">
                  <c:v>1.1674438168343959E-4</c:v>
                </c:pt>
                <c:pt idx="27">
                  <c:v>1.2543581177029497E-2</c:v>
                </c:pt>
                <c:pt idx="28">
                  <c:v>1.859699322063155E-4</c:v>
                </c:pt>
                <c:pt idx="29">
                  <c:v>0</c:v>
                </c:pt>
                <c:pt idx="30">
                  <c:v>0</c:v>
                </c:pt>
                <c:pt idx="31">
                  <c:v>0</c:v>
                </c:pt>
                <c:pt idx="32">
                  <c:v>0</c:v>
                </c:pt>
                <c:pt idx="33">
                  <c:v>0</c:v>
                </c:pt>
                <c:pt idx="34">
                  <c:v>0</c:v>
                </c:pt>
                <c:pt idx="35">
                  <c:v>5.8364518610572553E-3</c:v>
                </c:pt>
                <c:pt idx="36">
                  <c:v>7.676399769105658E-3</c:v>
                </c:pt>
                <c:pt idx="37">
                  <c:v>1.6105349989680766E-2</c:v>
                </c:pt>
                <c:pt idx="38">
                  <c:v>9.2811544202322221E-3</c:v>
                </c:pt>
                <c:pt idx="39">
                  <c:v>7.5811761588233046E-3</c:v>
                </c:pt>
                <c:pt idx="40">
                  <c:v>9.3499393603566801E-3</c:v>
                </c:pt>
                <c:pt idx="41">
                  <c:v>1.3445027541388011E-2</c:v>
                </c:pt>
                <c:pt idx="42">
                  <c:v>8.0545913067213547E-3</c:v>
                </c:pt>
                <c:pt idx="43">
                  <c:v>7.1958188208426036E-3</c:v>
                </c:pt>
                <c:pt idx="44">
                  <c:v>7.8397208166018102E-3</c:v>
                </c:pt>
                <c:pt idx="45">
                  <c:v>6.9710880238426712E-3</c:v>
                </c:pt>
                <c:pt idx="46">
                  <c:v>7.3981897616012112E-3</c:v>
                </c:pt>
                <c:pt idx="47">
                  <c:v>1.2078959442582809E-2</c:v>
                </c:pt>
                <c:pt idx="48">
                  <c:v>7.271563297875581E-3</c:v>
                </c:pt>
                <c:pt idx="49">
                  <c:v>1.6139692219464249E-2</c:v>
                </c:pt>
                <c:pt idx="50">
                  <c:v>2.0382544315045381E-2</c:v>
                </c:pt>
              </c:numCache>
            </c:numRef>
          </c:val>
          <c:extLst>
            <c:ext xmlns:c16="http://schemas.microsoft.com/office/drawing/2014/chart" uri="{C3380CC4-5D6E-409C-BE32-E72D297353CC}">
              <c16:uniqueId val="{00000007-B0A2-4028-89FB-BF98F18E89B4}"/>
            </c:ext>
          </c:extLst>
        </c:ser>
        <c:dLbls>
          <c:showLegendKey val="0"/>
          <c:showVal val="0"/>
          <c:showCatName val="0"/>
          <c:showSerName val="0"/>
          <c:showPercent val="0"/>
          <c:showBubbleSize val="0"/>
        </c:dLbls>
        <c:axId val="1586061295"/>
        <c:axId val="1586062543"/>
      </c:areaChart>
      <c:dateAx>
        <c:axId val="1586061295"/>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586062543"/>
        <c:crosses val="autoZero"/>
        <c:auto val="1"/>
        <c:lblOffset val="100"/>
        <c:baseTimeUnit val="months"/>
        <c:majorUnit val="6"/>
        <c:majorTimeUnit val="months"/>
      </c:dateAx>
      <c:valAx>
        <c:axId val="1586062543"/>
        <c:scaling>
          <c:orientation val="minMax"/>
          <c:max val="1"/>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586061295"/>
        <c:crosses val="autoZero"/>
        <c:crossBetween val="midCat"/>
        <c:majorUnit val="0.2"/>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zero"/>
    <c:showDLblsOverMax val="0"/>
  </c:chart>
  <c:spPr>
    <a:solidFill>
      <a:schemeClr val="bg1"/>
    </a:solidFill>
    <a:ln w="9525" cap="flat" cmpd="sng" algn="ctr">
      <a:noFill/>
      <a:round/>
    </a:ln>
    <a:effectLst/>
  </c:spPr>
  <c:txPr>
    <a:bodyPr/>
    <a:lstStyle/>
    <a:p>
      <a:pPr>
        <a:defRPr>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zh-CN" sz="1200" b="1" i="0" baseline="0">
                <a:effectLst/>
              </a:rPr>
              <a:t>地区分布</a:t>
            </a:r>
            <a:r>
              <a:rPr lang="en-US" altLang="zh-CN" sz="1200" b="1" i="0" baseline="0">
                <a:effectLst/>
              </a:rPr>
              <a:t>——</a:t>
            </a:r>
            <a:r>
              <a:rPr lang="zh-CN" altLang="en-US" sz="1200" b="1" i="0" baseline="0">
                <a:effectLst/>
              </a:rPr>
              <a:t>净敞口</a:t>
            </a:r>
            <a:endParaRPr lang="zh-CN" altLang="zh-CN" sz="1200">
              <a:effectLst/>
            </a:endParaRPr>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areaChart>
        <c:grouping val="stacked"/>
        <c:varyColors val="0"/>
        <c:ser>
          <c:idx val="0"/>
          <c:order val="0"/>
          <c:tx>
            <c:strRef>
              <c:f>敞口!$CI$2</c:f>
              <c:strCache>
                <c:ptCount val="1"/>
                <c:pt idx="0">
                  <c:v>美国</c:v>
                </c:pt>
              </c:strCache>
            </c:strRef>
          </c:tx>
          <c:spPr>
            <a:solidFill>
              <a:schemeClr val="accent1"/>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敞口!$CI$3:$CI$53</c:f>
              <c:numCache>
                <c:formatCode>0.00%</c:formatCode>
                <c:ptCount val="51"/>
                <c:pt idx="0">
                  <c:v>1.7578714541612195E-2</c:v>
                </c:pt>
                <c:pt idx="1">
                  <c:v>2.8538308847129989E-2</c:v>
                </c:pt>
                <c:pt idx="2">
                  <c:v>8.314987107932581E-2</c:v>
                </c:pt>
                <c:pt idx="3">
                  <c:v>2.1705339384191225E-2</c:v>
                </c:pt>
                <c:pt idx="4">
                  <c:v>1.0423282805601897E-2</c:v>
                </c:pt>
                <c:pt idx="5">
                  <c:v>3.2873632409242237E-2</c:v>
                </c:pt>
                <c:pt idx="6">
                  <c:v>-2.173027054861798E-2</c:v>
                </c:pt>
                <c:pt idx="7">
                  <c:v>3.687219340787512E-2</c:v>
                </c:pt>
                <c:pt idx="8">
                  <c:v>6.5324507574674118E-2</c:v>
                </c:pt>
                <c:pt idx="9">
                  <c:v>7.8379920660841929E-2</c:v>
                </c:pt>
                <c:pt idx="10">
                  <c:v>9.8226375112361208E-2</c:v>
                </c:pt>
                <c:pt idx="11">
                  <c:v>0.10382863163808903</c:v>
                </c:pt>
                <c:pt idx="12">
                  <c:v>0.10892249355218525</c:v>
                </c:pt>
                <c:pt idx="13">
                  <c:v>0.1181936490645058</c:v>
                </c:pt>
                <c:pt idx="14">
                  <c:v>0.12544641941159584</c:v>
                </c:pt>
                <c:pt idx="15">
                  <c:v>0.14966324612958631</c:v>
                </c:pt>
                <c:pt idx="16">
                  <c:v>0.12901652840885353</c:v>
                </c:pt>
                <c:pt idx="17">
                  <c:v>7.015592153947714E-2</c:v>
                </c:pt>
                <c:pt idx="18">
                  <c:v>8.2878615558028612E-2</c:v>
                </c:pt>
                <c:pt idx="19">
                  <c:v>0.1086860671563924</c:v>
                </c:pt>
                <c:pt idx="20">
                  <c:v>4.5521483862117684E-2</c:v>
                </c:pt>
                <c:pt idx="21">
                  <c:v>1.2867124816407283E-2</c:v>
                </c:pt>
                <c:pt idx="22">
                  <c:v>6.1861709013829036E-2</c:v>
                </c:pt>
                <c:pt idx="23">
                  <c:v>0.11104336521776209</c:v>
                </c:pt>
                <c:pt idx="24">
                  <c:v>0.11346831012352221</c:v>
                </c:pt>
                <c:pt idx="25">
                  <c:v>7.4621961903702183E-2</c:v>
                </c:pt>
                <c:pt idx="26">
                  <c:v>0.11162535318788519</c:v>
                </c:pt>
                <c:pt idx="27">
                  <c:v>0.1097348756375478</c:v>
                </c:pt>
                <c:pt idx="28">
                  <c:v>9.8131304005418918E-2</c:v>
                </c:pt>
                <c:pt idx="29">
                  <c:v>8.5323825406599607E-2</c:v>
                </c:pt>
                <c:pt idx="30">
                  <c:v>9.0496384007932973E-2</c:v>
                </c:pt>
                <c:pt idx="31">
                  <c:v>5.7282258510307049E-2</c:v>
                </c:pt>
                <c:pt idx="32">
                  <c:v>7.6544449762170286E-2</c:v>
                </c:pt>
                <c:pt idx="33">
                  <c:v>4.598065192015971E-2</c:v>
                </c:pt>
                <c:pt idx="34">
                  <c:v>4.422369084686173E-2</c:v>
                </c:pt>
                <c:pt idx="35">
                  <c:v>5.1264023324015362E-2</c:v>
                </c:pt>
                <c:pt idx="36">
                  <c:v>4.9156146832056213E-2</c:v>
                </c:pt>
                <c:pt idx="37">
                  <c:v>8.4000927708935913E-2</c:v>
                </c:pt>
                <c:pt idx="38">
                  <c:v>7.5929065176986388E-2</c:v>
                </c:pt>
                <c:pt idx="39">
                  <c:v>3.7839295407134543E-2</c:v>
                </c:pt>
                <c:pt idx="40">
                  <c:v>1.9393951517783781E-2</c:v>
                </c:pt>
                <c:pt idx="41">
                  <c:v>3.7861115870190254E-2</c:v>
                </c:pt>
                <c:pt idx="42">
                  <c:v>7.1952534098617682E-3</c:v>
                </c:pt>
                <c:pt idx="43">
                  <c:v>4.6455165833341083E-2</c:v>
                </c:pt>
                <c:pt idx="44">
                  <c:v>9.6565511589820074E-3</c:v>
                </c:pt>
                <c:pt idx="45">
                  <c:v>1.0132461665753989E-2</c:v>
                </c:pt>
                <c:pt idx="46">
                  <c:v>1.9675352199456209E-2</c:v>
                </c:pt>
                <c:pt idx="47">
                  <c:v>4.7745892723651373E-2</c:v>
                </c:pt>
                <c:pt idx="48">
                  <c:v>2.1331378959358049E-2</c:v>
                </c:pt>
                <c:pt idx="49">
                  <c:v>3.9637631388639905E-2</c:v>
                </c:pt>
                <c:pt idx="50">
                  <c:v>1.609232238319741E-2</c:v>
                </c:pt>
              </c:numCache>
            </c:numRef>
          </c:val>
          <c:extLst>
            <c:ext xmlns:c16="http://schemas.microsoft.com/office/drawing/2014/chart" uri="{C3380CC4-5D6E-409C-BE32-E72D297353CC}">
              <c16:uniqueId val="{00000000-859D-4F5C-A71B-28A0D6CFC8DA}"/>
            </c:ext>
          </c:extLst>
        </c:ser>
        <c:ser>
          <c:idx val="1"/>
          <c:order val="1"/>
          <c:tx>
            <c:strRef>
              <c:f>敞口!$CJ$2</c:f>
              <c:strCache>
                <c:ptCount val="1"/>
                <c:pt idx="0">
                  <c:v>中国</c:v>
                </c:pt>
              </c:strCache>
            </c:strRef>
          </c:tx>
          <c:spPr>
            <a:solidFill>
              <a:schemeClr val="accent2"/>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敞口!$CJ$3:$CJ$53</c:f>
              <c:numCache>
                <c:formatCode>0.00%</c:formatCode>
                <c:ptCount val="51"/>
                <c:pt idx="0">
                  <c:v>0</c:v>
                </c:pt>
                <c:pt idx="1">
                  <c:v>0</c:v>
                </c:pt>
                <c:pt idx="2">
                  <c:v>0</c:v>
                </c:pt>
                <c:pt idx="3">
                  <c:v>0</c:v>
                </c:pt>
                <c:pt idx="4">
                  <c:v>0</c:v>
                </c:pt>
                <c:pt idx="5">
                  <c:v>0</c:v>
                </c:pt>
                <c:pt idx="6">
                  <c:v>0</c:v>
                </c:pt>
                <c:pt idx="7">
                  <c:v>0</c:v>
                </c:pt>
                <c:pt idx="8">
                  <c:v>-2.7335122761302901E-3</c:v>
                </c:pt>
                <c:pt idx="9">
                  <c:v>0</c:v>
                </c:pt>
                <c:pt idx="10">
                  <c:v>2.6270486144351742E-2</c:v>
                </c:pt>
                <c:pt idx="11">
                  <c:v>1.5644512537081559E-2</c:v>
                </c:pt>
                <c:pt idx="12">
                  <c:v>-4.1566131084005489E-3</c:v>
                </c:pt>
                <c:pt idx="13">
                  <c:v>-2.7242762366403831E-2</c:v>
                </c:pt>
                <c:pt idx="14">
                  <c:v>-2.6452629227347049E-2</c:v>
                </c:pt>
                <c:pt idx="15">
                  <c:v>-1.180963552908766E-2</c:v>
                </c:pt>
                <c:pt idx="16">
                  <c:v>-3.3348149211330183E-2</c:v>
                </c:pt>
                <c:pt idx="17">
                  <c:v>-3.5534767185883442E-2</c:v>
                </c:pt>
                <c:pt idx="18">
                  <c:v>-2.565264800243406E-2</c:v>
                </c:pt>
                <c:pt idx="19">
                  <c:v>-3.1346622400496543E-2</c:v>
                </c:pt>
                <c:pt idx="20">
                  <c:v>-1.7964483750012451E-2</c:v>
                </c:pt>
                <c:pt idx="21">
                  <c:v>7.0573802182684331E-4</c:v>
                </c:pt>
                <c:pt idx="22">
                  <c:v>-6.6121689594443086E-3</c:v>
                </c:pt>
                <c:pt idx="23">
                  <c:v>-7.126198829891974E-3</c:v>
                </c:pt>
                <c:pt idx="24">
                  <c:v>-1.879726588334997E-2</c:v>
                </c:pt>
                <c:pt idx="25">
                  <c:v>-8.7879824949551148E-3</c:v>
                </c:pt>
                <c:pt idx="26">
                  <c:v>-1.3421079983318601E-2</c:v>
                </c:pt>
                <c:pt idx="27">
                  <c:v>-1.842876878626919E-2</c:v>
                </c:pt>
                <c:pt idx="28">
                  <c:v>-1.9908802783356321E-2</c:v>
                </c:pt>
                <c:pt idx="29">
                  <c:v>-1.374009780273679E-2</c:v>
                </c:pt>
                <c:pt idx="30">
                  <c:v>0</c:v>
                </c:pt>
                <c:pt idx="31">
                  <c:v>1.8928377630601591E-2</c:v>
                </c:pt>
                <c:pt idx="32">
                  <c:v>0</c:v>
                </c:pt>
                <c:pt idx="33">
                  <c:v>-4.7004869292095143E-3</c:v>
                </c:pt>
                <c:pt idx="34">
                  <c:v>-1.144163612135525E-2</c:v>
                </c:pt>
                <c:pt idx="35">
                  <c:v>0</c:v>
                </c:pt>
                <c:pt idx="36">
                  <c:v>-4.4656932422759456E-3</c:v>
                </c:pt>
                <c:pt idx="37">
                  <c:v>-1.9536856833101031E-2</c:v>
                </c:pt>
                <c:pt idx="38">
                  <c:v>0</c:v>
                </c:pt>
                <c:pt idx="39">
                  <c:v>5.5670494345212891E-4</c:v>
                </c:pt>
                <c:pt idx="40">
                  <c:v>-1.2239480761460751E-2</c:v>
                </c:pt>
                <c:pt idx="41">
                  <c:v>-1.1606734512450853E-2</c:v>
                </c:pt>
                <c:pt idx="42">
                  <c:v>-1.7187031569079251E-2</c:v>
                </c:pt>
                <c:pt idx="43">
                  <c:v>0</c:v>
                </c:pt>
                <c:pt idx="44">
                  <c:v>6.0169067301014843E-3</c:v>
                </c:pt>
                <c:pt idx="45">
                  <c:v>0</c:v>
                </c:pt>
                <c:pt idx="46">
                  <c:v>1.334634851289482E-2</c:v>
                </c:pt>
                <c:pt idx="47">
                  <c:v>1.256347522309777E-2</c:v>
                </c:pt>
                <c:pt idx="48">
                  <c:v>1.6991516582036389E-2</c:v>
                </c:pt>
                <c:pt idx="49">
                  <c:v>8.3853063670939927E-4</c:v>
                </c:pt>
                <c:pt idx="50">
                  <c:v>-2.1276349629897259E-2</c:v>
                </c:pt>
              </c:numCache>
            </c:numRef>
          </c:val>
          <c:extLst>
            <c:ext xmlns:c16="http://schemas.microsoft.com/office/drawing/2014/chart" uri="{C3380CC4-5D6E-409C-BE32-E72D297353CC}">
              <c16:uniqueId val="{00000001-859D-4F5C-A71B-28A0D6CFC8DA}"/>
            </c:ext>
          </c:extLst>
        </c:ser>
        <c:ser>
          <c:idx val="2"/>
          <c:order val="2"/>
          <c:tx>
            <c:strRef>
              <c:f>敞口!$CK$2</c:f>
              <c:strCache>
                <c:ptCount val="1"/>
                <c:pt idx="0">
                  <c:v>日本</c:v>
                </c:pt>
              </c:strCache>
            </c:strRef>
          </c:tx>
          <c:spPr>
            <a:solidFill>
              <a:schemeClr val="accent3"/>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敞口!$CK$3:$CK$53</c:f>
              <c:numCache>
                <c:formatCode>0.00%</c:formatCode>
                <c:ptCount val="51"/>
                <c:pt idx="0">
                  <c:v>4.398147668941798E-2</c:v>
                </c:pt>
                <c:pt idx="1">
                  <c:v>2.3725317863637432E-2</c:v>
                </c:pt>
                <c:pt idx="2">
                  <c:v>0</c:v>
                </c:pt>
                <c:pt idx="3">
                  <c:v>0</c:v>
                </c:pt>
                <c:pt idx="4">
                  <c:v>2.1467830815726362E-2</c:v>
                </c:pt>
                <c:pt idx="5">
                  <c:v>2.2059066287419282E-2</c:v>
                </c:pt>
                <c:pt idx="6">
                  <c:v>2.411124084472854E-2</c:v>
                </c:pt>
                <c:pt idx="7">
                  <c:v>-1.101285371036397E-2</c:v>
                </c:pt>
                <c:pt idx="8">
                  <c:v>-1.668196515572494E-2</c:v>
                </c:pt>
                <c:pt idx="9">
                  <c:v>0</c:v>
                </c:pt>
                <c:pt idx="10">
                  <c:v>0</c:v>
                </c:pt>
                <c:pt idx="11">
                  <c:v>2.9732332634284521E-2</c:v>
                </c:pt>
                <c:pt idx="12">
                  <c:v>2.7438908051023871E-2</c:v>
                </c:pt>
                <c:pt idx="13">
                  <c:v>-1.496980729519014E-2</c:v>
                </c:pt>
                <c:pt idx="14">
                  <c:v>-4.0565060762727992E-2</c:v>
                </c:pt>
                <c:pt idx="15">
                  <c:v>-1.4956531692722361E-2</c:v>
                </c:pt>
                <c:pt idx="16">
                  <c:v>-5.5321996275559454E-3</c:v>
                </c:pt>
                <c:pt idx="17">
                  <c:v>2.8859055350851381E-2</c:v>
                </c:pt>
                <c:pt idx="18">
                  <c:v>-1.681166299613435E-2</c:v>
                </c:pt>
                <c:pt idx="19">
                  <c:v>-2.367070048933782E-2</c:v>
                </c:pt>
                <c:pt idx="20">
                  <c:v>-1.5309360311386562E-2</c:v>
                </c:pt>
                <c:pt idx="21">
                  <c:v>-1.247369726587722E-2</c:v>
                </c:pt>
                <c:pt idx="22">
                  <c:v>-1.7658130694399206E-3</c:v>
                </c:pt>
                <c:pt idx="23">
                  <c:v>3.3630267794005388E-3</c:v>
                </c:pt>
                <c:pt idx="24">
                  <c:v>7.2863932541536326E-3</c:v>
                </c:pt>
                <c:pt idx="25">
                  <c:v>9.3259022205604784E-3</c:v>
                </c:pt>
                <c:pt idx="26">
                  <c:v>3.6691136769776665E-3</c:v>
                </c:pt>
                <c:pt idx="27">
                  <c:v>-9.5539477939527856E-3</c:v>
                </c:pt>
                <c:pt idx="28">
                  <c:v>-5.7698157687397379E-3</c:v>
                </c:pt>
                <c:pt idx="29">
                  <c:v>-1.1395646192793527E-3</c:v>
                </c:pt>
                <c:pt idx="30">
                  <c:v>3.1626059941948399E-3</c:v>
                </c:pt>
                <c:pt idx="31">
                  <c:v>-2.0938388732463981E-2</c:v>
                </c:pt>
                <c:pt idx="32">
                  <c:v>-2.716010803895454E-2</c:v>
                </c:pt>
                <c:pt idx="33">
                  <c:v>-7.0572093324766756E-3</c:v>
                </c:pt>
                <c:pt idx="34">
                  <c:v>7.4053384227683178E-3</c:v>
                </c:pt>
                <c:pt idx="35">
                  <c:v>1.3858597577338703E-2</c:v>
                </c:pt>
                <c:pt idx="36">
                  <c:v>1.8691725446938805E-2</c:v>
                </c:pt>
                <c:pt idx="37">
                  <c:v>6.0322709039875543E-3</c:v>
                </c:pt>
                <c:pt idx="38">
                  <c:v>-2.1580653513432295E-3</c:v>
                </c:pt>
                <c:pt idx="39">
                  <c:v>-3.7889742942166481E-3</c:v>
                </c:pt>
                <c:pt idx="40">
                  <c:v>-7.4362344342102926E-3</c:v>
                </c:pt>
                <c:pt idx="41">
                  <c:v>-1.846782553164052E-2</c:v>
                </c:pt>
                <c:pt idx="42">
                  <c:v>-1.872662669268518E-2</c:v>
                </c:pt>
                <c:pt idx="43">
                  <c:v>-1.1682676702634689E-2</c:v>
                </c:pt>
                <c:pt idx="44">
                  <c:v>-1.5323678446243561E-2</c:v>
                </c:pt>
                <c:pt idx="45">
                  <c:v>-4.5719566297109532E-4</c:v>
                </c:pt>
                <c:pt idx="46">
                  <c:v>-1.443266915159218E-2</c:v>
                </c:pt>
                <c:pt idx="47">
                  <c:v>-1.428044995827623E-2</c:v>
                </c:pt>
                <c:pt idx="48">
                  <c:v>-9.6727263408408724E-3</c:v>
                </c:pt>
                <c:pt idx="49">
                  <c:v>-2.4484197941019581E-3</c:v>
                </c:pt>
                <c:pt idx="50">
                  <c:v>-7.7589994014985652E-3</c:v>
                </c:pt>
              </c:numCache>
            </c:numRef>
          </c:val>
          <c:extLst>
            <c:ext xmlns:c16="http://schemas.microsoft.com/office/drawing/2014/chart" uri="{C3380CC4-5D6E-409C-BE32-E72D297353CC}">
              <c16:uniqueId val="{00000002-859D-4F5C-A71B-28A0D6CFC8DA}"/>
            </c:ext>
          </c:extLst>
        </c:ser>
        <c:ser>
          <c:idx val="3"/>
          <c:order val="3"/>
          <c:tx>
            <c:strRef>
              <c:f>敞口!$CL$2</c:f>
              <c:strCache>
                <c:ptCount val="1"/>
                <c:pt idx="0">
                  <c:v>韩国</c:v>
                </c:pt>
              </c:strCache>
            </c:strRef>
          </c:tx>
          <c:spPr>
            <a:solidFill>
              <a:schemeClr val="accent4"/>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敞口!$CL$3:$CL$53</c:f>
              <c:numCache>
                <c:formatCode>0.00%</c:formatCode>
                <c:ptCount val="51"/>
                <c:pt idx="0">
                  <c:v>0</c:v>
                </c:pt>
                <c:pt idx="1">
                  <c:v>0</c:v>
                </c:pt>
                <c:pt idx="2">
                  <c:v>0</c:v>
                </c:pt>
                <c:pt idx="3">
                  <c:v>0</c:v>
                </c:pt>
                <c:pt idx="4">
                  <c:v>0</c:v>
                </c:pt>
                <c:pt idx="5">
                  <c:v>1.473909790089992E-2</c:v>
                </c:pt>
                <c:pt idx="6">
                  <c:v>0</c:v>
                </c:pt>
                <c:pt idx="7">
                  <c:v>0</c:v>
                </c:pt>
                <c:pt idx="8">
                  <c:v>0</c:v>
                </c:pt>
                <c:pt idx="9">
                  <c:v>0</c:v>
                </c:pt>
                <c:pt idx="10">
                  <c:v>5.669914480596859E-3</c:v>
                </c:pt>
                <c:pt idx="11">
                  <c:v>0</c:v>
                </c:pt>
                <c:pt idx="12">
                  <c:v>0</c:v>
                </c:pt>
                <c:pt idx="13">
                  <c:v>-1.4397760867791289E-2</c:v>
                </c:pt>
                <c:pt idx="14">
                  <c:v>-2.0181238648715641E-2</c:v>
                </c:pt>
                <c:pt idx="15">
                  <c:v>-1.8625015744970309E-2</c:v>
                </c:pt>
                <c:pt idx="16">
                  <c:v>-1.216690577162439E-2</c:v>
                </c:pt>
                <c:pt idx="17">
                  <c:v>1.0695348301950913E-2</c:v>
                </c:pt>
                <c:pt idx="18">
                  <c:v>-8.1924934943220055E-3</c:v>
                </c:pt>
                <c:pt idx="19">
                  <c:v>4.6091901961219598E-3</c:v>
                </c:pt>
                <c:pt idx="20">
                  <c:v>-8.4791335119328709E-3</c:v>
                </c:pt>
                <c:pt idx="21">
                  <c:v>-1.9067582743074931E-2</c:v>
                </c:pt>
                <c:pt idx="22">
                  <c:v>-4.8765175658845219E-3</c:v>
                </c:pt>
                <c:pt idx="23">
                  <c:v>-1.2020356750979601E-2</c:v>
                </c:pt>
                <c:pt idx="24">
                  <c:v>-8.978490096703047E-3</c:v>
                </c:pt>
                <c:pt idx="25">
                  <c:v>-4.315141076148778E-3</c:v>
                </c:pt>
                <c:pt idx="26">
                  <c:v>-3.055042746414677E-3</c:v>
                </c:pt>
                <c:pt idx="27">
                  <c:v>0</c:v>
                </c:pt>
                <c:pt idx="28">
                  <c:v>0</c:v>
                </c:pt>
                <c:pt idx="29">
                  <c:v>-1.3738710761880459E-2</c:v>
                </c:pt>
                <c:pt idx="30">
                  <c:v>-2.5952474384715088E-3</c:v>
                </c:pt>
                <c:pt idx="31">
                  <c:v>-6.2575937819436796E-3</c:v>
                </c:pt>
                <c:pt idx="32">
                  <c:v>7.8433847456120184E-4</c:v>
                </c:pt>
                <c:pt idx="33">
                  <c:v>0</c:v>
                </c:pt>
                <c:pt idx="34">
                  <c:v>8.3018366507356545E-3</c:v>
                </c:pt>
                <c:pt idx="35">
                  <c:v>2.0219179389971899E-2</c:v>
                </c:pt>
                <c:pt idx="36">
                  <c:v>2.4525312697416819E-2</c:v>
                </c:pt>
                <c:pt idx="37">
                  <c:v>2.4671437950978339E-2</c:v>
                </c:pt>
                <c:pt idx="38">
                  <c:v>1.8617911894407198E-2</c:v>
                </c:pt>
                <c:pt idx="39">
                  <c:v>2.3105925685429109E-2</c:v>
                </c:pt>
                <c:pt idx="40">
                  <c:v>2.9786223985015341E-2</c:v>
                </c:pt>
                <c:pt idx="41">
                  <c:v>3.1593391752155392E-2</c:v>
                </c:pt>
                <c:pt idx="42">
                  <c:v>2.060733281586212E-2</c:v>
                </c:pt>
                <c:pt idx="43">
                  <c:v>2.105494150916953E-2</c:v>
                </c:pt>
                <c:pt idx="44">
                  <c:v>1.213458243553076E-2</c:v>
                </c:pt>
                <c:pt idx="45">
                  <c:v>9.9423798274755806E-3</c:v>
                </c:pt>
                <c:pt idx="46">
                  <c:v>1.013658269141169E-2</c:v>
                </c:pt>
                <c:pt idx="47">
                  <c:v>1.224340356539377E-2</c:v>
                </c:pt>
                <c:pt idx="48">
                  <c:v>5.0413946313805818E-3</c:v>
                </c:pt>
                <c:pt idx="49">
                  <c:v>0</c:v>
                </c:pt>
                <c:pt idx="50">
                  <c:v>0</c:v>
                </c:pt>
              </c:numCache>
            </c:numRef>
          </c:val>
          <c:extLst>
            <c:ext xmlns:c16="http://schemas.microsoft.com/office/drawing/2014/chart" uri="{C3380CC4-5D6E-409C-BE32-E72D297353CC}">
              <c16:uniqueId val="{00000003-859D-4F5C-A71B-28A0D6CFC8DA}"/>
            </c:ext>
          </c:extLst>
        </c:ser>
        <c:ser>
          <c:idx val="4"/>
          <c:order val="4"/>
          <c:tx>
            <c:strRef>
              <c:f>敞口!$CM$2</c:f>
              <c:strCache>
                <c:ptCount val="1"/>
                <c:pt idx="0">
                  <c:v>台湾</c:v>
                </c:pt>
              </c:strCache>
            </c:strRef>
          </c:tx>
          <c:spPr>
            <a:solidFill>
              <a:schemeClr val="accent5"/>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敞口!$CM$3:$CM$53</c:f>
              <c:numCache>
                <c:formatCode>0.00%</c:formatCode>
                <c:ptCount val="51"/>
                <c:pt idx="0">
                  <c:v>0</c:v>
                </c:pt>
                <c:pt idx="1">
                  <c:v>-1.7057857844479399E-2</c:v>
                </c:pt>
                <c:pt idx="2">
                  <c:v>0</c:v>
                </c:pt>
                <c:pt idx="3">
                  <c:v>0</c:v>
                </c:pt>
                <c:pt idx="4">
                  <c:v>0</c:v>
                </c:pt>
                <c:pt idx="5">
                  <c:v>0</c:v>
                </c:pt>
                <c:pt idx="6">
                  <c:v>-1.625055478360455E-2</c:v>
                </c:pt>
                <c:pt idx="7">
                  <c:v>-1.316115303103786E-2</c:v>
                </c:pt>
                <c:pt idx="8">
                  <c:v>-2.3348356278755575E-2</c:v>
                </c:pt>
                <c:pt idx="9">
                  <c:v>-3.526733032634586E-2</c:v>
                </c:pt>
                <c:pt idx="10">
                  <c:v>-3.0532314839602899E-2</c:v>
                </c:pt>
                <c:pt idx="11">
                  <c:v>-4.5777335775283902E-2</c:v>
                </c:pt>
                <c:pt idx="12">
                  <c:v>-4.9813996002390039E-2</c:v>
                </c:pt>
                <c:pt idx="13">
                  <c:v>-2.1454963033625638E-2</c:v>
                </c:pt>
                <c:pt idx="14">
                  <c:v>-1.7549992173460299E-2</c:v>
                </c:pt>
                <c:pt idx="15">
                  <c:v>-1.555458385071508E-2</c:v>
                </c:pt>
                <c:pt idx="16">
                  <c:v>8.7739647762557701E-3</c:v>
                </c:pt>
                <c:pt idx="17">
                  <c:v>3.2358028593586823E-2</c:v>
                </c:pt>
                <c:pt idx="18">
                  <c:v>3.4263481978633471E-2</c:v>
                </c:pt>
                <c:pt idx="19">
                  <c:v>-1.5610460249669271E-2</c:v>
                </c:pt>
                <c:pt idx="20">
                  <c:v>-1.7481646925719241E-2</c:v>
                </c:pt>
                <c:pt idx="21">
                  <c:v>-1.0446292462655805E-2</c:v>
                </c:pt>
                <c:pt idx="22">
                  <c:v>-2.9716537198479748E-2</c:v>
                </c:pt>
                <c:pt idx="23">
                  <c:v>-2.7104730707613291E-2</c:v>
                </c:pt>
                <c:pt idx="24">
                  <c:v>-1.4412752399733988E-2</c:v>
                </c:pt>
                <c:pt idx="25">
                  <c:v>2.4924650143793407E-3</c:v>
                </c:pt>
                <c:pt idx="26">
                  <c:v>-1.9717913518083101E-2</c:v>
                </c:pt>
                <c:pt idx="27">
                  <c:v>2.0510843766207779E-3</c:v>
                </c:pt>
                <c:pt idx="28">
                  <c:v>-6.3439350027563041E-4</c:v>
                </c:pt>
                <c:pt idx="29">
                  <c:v>-1.0630217760121602E-2</c:v>
                </c:pt>
                <c:pt idx="30">
                  <c:v>-1.3088965660139115E-2</c:v>
                </c:pt>
                <c:pt idx="31">
                  <c:v>2.5609596737412726E-2</c:v>
                </c:pt>
                <c:pt idx="32">
                  <c:v>3.4644506377844997E-2</c:v>
                </c:pt>
                <c:pt idx="33">
                  <c:v>7.686928996503601E-3</c:v>
                </c:pt>
                <c:pt idx="34">
                  <c:v>1.0297632644019759E-2</c:v>
                </c:pt>
                <c:pt idx="35">
                  <c:v>-9.988402431127797E-3</c:v>
                </c:pt>
                <c:pt idx="36">
                  <c:v>-2.3749869523499792E-2</c:v>
                </c:pt>
                <c:pt idx="37">
                  <c:v>-2.5796331258664082E-2</c:v>
                </c:pt>
                <c:pt idx="38">
                  <c:v>-1.1612754288625968E-2</c:v>
                </c:pt>
                <c:pt idx="39">
                  <c:v>2.5259733728431495E-3</c:v>
                </c:pt>
                <c:pt idx="40">
                  <c:v>2.5609959522348159E-2</c:v>
                </c:pt>
                <c:pt idx="41">
                  <c:v>2.2905461417386971E-2</c:v>
                </c:pt>
                <c:pt idx="42">
                  <c:v>2.4018442445456846E-2</c:v>
                </c:pt>
                <c:pt idx="43">
                  <c:v>8.8809467822141015E-3</c:v>
                </c:pt>
                <c:pt idx="44">
                  <c:v>1.1823766731286749E-2</c:v>
                </c:pt>
                <c:pt idx="45">
                  <c:v>9.4116100276941811E-3</c:v>
                </c:pt>
                <c:pt idx="46">
                  <c:v>2.3493804992407812E-2</c:v>
                </c:pt>
                <c:pt idx="47">
                  <c:v>1.0021896320213625E-2</c:v>
                </c:pt>
                <c:pt idx="48">
                  <c:v>1.6693865308072649E-2</c:v>
                </c:pt>
                <c:pt idx="49">
                  <c:v>2.3374304884719473E-2</c:v>
                </c:pt>
                <c:pt idx="50">
                  <c:v>1.8259714253804078E-2</c:v>
                </c:pt>
              </c:numCache>
            </c:numRef>
          </c:val>
          <c:extLst>
            <c:ext xmlns:c16="http://schemas.microsoft.com/office/drawing/2014/chart" uri="{C3380CC4-5D6E-409C-BE32-E72D297353CC}">
              <c16:uniqueId val="{00000004-859D-4F5C-A71B-28A0D6CFC8DA}"/>
            </c:ext>
          </c:extLst>
        </c:ser>
        <c:ser>
          <c:idx val="5"/>
          <c:order val="5"/>
          <c:tx>
            <c:strRef>
              <c:f>敞口!$CN$2</c:f>
              <c:strCache>
                <c:ptCount val="1"/>
                <c:pt idx="0">
                  <c:v>亚洲其他</c:v>
                </c:pt>
              </c:strCache>
            </c:strRef>
          </c:tx>
          <c:spPr>
            <a:solidFill>
              <a:schemeClr val="accent6"/>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敞口!$CN$3:$CN$53</c:f>
              <c:numCache>
                <c:formatCode>0.00%</c:formatCode>
                <c:ptCount val="51"/>
                <c:pt idx="0">
                  <c:v>0</c:v>
                </c:pt>
                <c:pt idx="1">
                  <c:v>0</c:v>
                </c:pt>
                <c:pt idx="2">
                  <c:v>-1.1890213790208151E-2</c:v>
                </c:pt>
                <c:pt idx="3">
                  <c:v>-1.303522178361812E-2</c:v>
                </c:pt>
                <c:pt idx="4">
                  <c:v>0</c:v>
                </c:pt>
                <c:pt idx="5">
                  <c:v>0</c:v>
                </c:pt>
                <c:pt idx="6">
                  <c:v>9.9432731808738427E-3</c:v>
                </c:pt>
                <c:pt idx="7">
                  <c:v>2.335648666892115E-2</c:v>
                </c:pt>
                <c:pt idx="8">
                  <c:v>2.228421627834512E-2</c:v>
                </c:pt>
                <c:pt idx="9">
                  <c:v>1.6020296406454668E-2</c:v>
                </c:pt>
                <c:pt idx="10">
                  <c:v>1.6433622486444442E-2</c:v>
                </c:pt>
                <c:pt idx="11">
                  <c:v>7.1690986093450801E-3</c:v>
                </c:pt>
                <c:pt idx="12">
                  <c:v>3.9349972297602551E-3</c:v>
                </c:pt>
                <c:pt idx="13">
                  <c:v>2.8739491685705221E-2</c:v>
                </c:pt>
                <c:pt idx="14">
                  <c:v>1.7936181750787459E-2</c:v>
                </c:pt>
                <c:pt idx="15">
                  <c:v>7.1781032766897526E-3</c:v>
                </c:pt>
                <c:pt idx="16">
                  <c:v>7.9350915926562904E-3</c:v>
                </c:pt>
                <c:pt idx="17">
                  <c:v>-1.3519411534443103E-2</c:v>
                </c:pt>
                <c:pt idx="18">
                  <c:v>3.5184122183049907E-3</c:v>
                </c:pt>
                <c:pt idx="19">
                  <c:v>1.0161790399271828E-2</c:v>
                </c:pt>
                <c:pt idx="20">
                  <c:v>8.1880003843784743E-3</c:v>
                </c:pt>
                <c:pt idx="21">
                  <c:v>1.6832509843052127E-2</c:v>
                </c:pt>
                <c:pt idx="22">
                  <c:v>-2.6856930534680794E-2</c:v>
                </c:pt>
                <c:pt idx="23">
                  <c:v>-2.7810078458824536E-2</c:v>
                </c:pt>
                <c:pt idx="24">
                  <c:v>-3.3332454089107469E-2</c:v>
                </c:pt>
                <c:pt idx="25">
                  <c:v>-2.0576003372347426E-2</c:v>
                </c:pt>
                <c:pt idx="26">
                  <c:v>-9.0797846283584283E-3</c:v>
                </c:pt>
                <c:pt idx="27">
                  <c:v>0</c:v>
                </c:pt>
                <c:pt idx="28">
                  <c:v>1.9105103689073082E-3</c:v>
                </c:pt>
                <c:pt idx="29">
                  <c:v>-7.1903580617143255E-3</c:v>
                </c:pt>
                <c:pt idx="30">
                  <c:v>-2.1451252753572646E-2</c:v>
                </c:pt>
                <c:pt idx="31">
                  <c:v>-1.0074009438123685E-2</c:v>
                </c:pt>
                <c:pt idx="32">
                  <c:v>-7.0788436895410645E-3</c:v>
                </c:pt>
                <c:pt idx="33">
                  <c:v>-3.9127432376694082E-3</c:v>
                </c:pt>
                <c:pt idx="34">
                  <c:v>0</c:v>
                </c:pt>
                <c:pt idx="35">
                  <c:v>-2.2595769848220044E-3</c:v>
                </c:pt>
                <c:pt idx="36">
                  <c:v>-6.9575194954971248E-3</c:v>
                </c:pt>
                <c:pt idx="37">
                  <c:v>-1.4596078589383249E-3</c:v>
                </c:pt>
                <c:pt idx="38">
                  <c:v>-5.1177025472710254E-3</c:v>
                </c:pt>
                <c:pt idx="39">
                  <c:v>-1.4547183030289429E-2</c:v>
                </c:pt>
                <c:pt idx="40">
                  <c:v>-2.4707326463834042E-2</c:v>
                </c:pt>
                <c:pt idx="41">
                  <c:v>-2.2465940916230817E-2</c:v>
                </c:pt>
                <c:pt idx="42">
                  <c:v>-1.9325070784852946E-3</c:v>
                </c:pt>
                <c:pt idx="43">
                  <c:v>9.6651162183825079E-4</c:v>
                </c:pt>
                <c:pt idx="44">
                  <c:v>1.1934539477425975E-2</c:v>
                </c:pt>
                <c:pt idx="45">
                  <c:v>1.1520970439499782E-2</c:v>
                </c:pt>
                <c:pt idx="46">
                  <c:v>1.4155191258058419E-3</c:v>
                </c:pt>
                <c:pt idx="47">
                  <c:v>-1.345908411163959E-2</c:v>
                </c:pt>
                <c:pt idx="48">
                  <c:v>-1.3904263040641643E-2</c:v>
                </c:pt>
                <c:pt idx="49">
                  <c:v>-2.387150399252972E-3</c:v>
                </c:pt>
                <c:pt idx="50">
                  <c:v>-7.4398340331412946E-3</c:v>
                </c:pt>
              </c:numCache>
            </c:numRef>
          </c:val>
          <c:extLst>
            <c:ext xmlns:c16="http://schemas.microsoft.com/office/drawing/2014/chart" uri="{C3380CC4-5D6E-409C-BE32-E72D297353CC}">
              <c16:uniqueId val="{00000005-859D-4F5C-A71B-28A0D6CFC8DA}"/>
            </c:ext>
          </c:extLst>
        </c:ser>
        <c:ser>
          <c:idx val="6"/>
          <c:order val="6"/>
          <c:tx>
            <c:strRef>
              <c:f>敞口!$CO$2</c:f>
              <c:strCache>
                <c:ptCount val="1"/>
                <c:pt idx="0">
                  <c:v>西欧</c:v>
                </c:pt>
              </c:strCache>
            </c:strRef>
          </c:tx>
          <c:spPr>
            <a:solidFill>
              <a:schemeClr val="accent1">
                <a:lumMod val="60000"/>
              </a:schemeClr>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敞口!$CO$3:$CO$53</c:f>
              <c:numCache>
                <c:formatCode>0.00%</c:formatCode>
                <c:ptCount val="51"/>
                <c:pt idx="0">
                  <c:v>-2.3782272547665656E-3</c:v>
                </c:pt>
                <c:pt idx="1">
                  <c:v>3.5844083902721022E-2</c:v>
                </c:pt>
                <c:pt idx="2">
                  <c:v>-7.5335938309674319E-3</c:v>
                </c:pt>
                <c:pt idx="3">
                  <c:v>2.9610507768982868E-2</c:v>
                </c:pt>
                <c:pt idx="4">
                  <c:v>2.244779522132773E-2</c:v>
                </c:pt>
                <c:pt idx="5">
                  <c:v>4.0631938987591223E-3</c:v>
                </c:pt>
                <c:pt idx="6">
                  <c:v>4.8976945130254218E-3</c:v>
                </c:pt>
                <c:pt idx="7">
                  <c:v>2.6399717974218403E-2</c:v>
                </c:pt>
                <c:pt idx="8">
                  <c:v>2.3869268970814858E-2</c:v>
                </c:pt>
                <c:pt idx="9">
                  <c:v>1.1229249876782282E-3</c:v>
                </c:pt>
                <c:pt idx="10">
                  <c:v>-2.2813846449739768E-2</c:v>
                </c:pt>
                <c:pt idx="11">
                  <c:v>-5.6523863402507604E-3</c:v>
                </c:pt>
                <c:pt idx="12">
                  <c:v>6.3707483603085077E-3</c:v>
                </c:pt>
                <c:pt idx="13">
                  <c:v>3.2770999107960053E-2</c:v>
                </c:pt>
                <c:pt idx="14">
                  <c:v>-7.0157460291099712E-3</c:v>
                </c:pt>
                <c:pt idx="15">
                  <c:v>-1.3601120305611293E-2</c:v>
                </c:pt>
                <c:pt idx="16">
                  <c:v>-1.9959432004985685E-2</c:v>
                </c:pt>
                <c:pt idx="17">
                  <c:v>-1.5156949718221173E-2</c:v>
                </c:pt>
                <c:pt idx="18">
                  <c:v>-2.6472457581480507E-2</c:v>
                </c:pt>
                <c:pt idx="19">
                  <c:v>-2.71997039361608E-2</c:v>
                </c:pt>
                <c:pt idx="20">
                  <c:v>1.4588354488720496E-2</c:v>
                </c:pt>
                <c:pt idx="21">
                  <c:v>-7.4523770451209725E-5</c:v>
                </c:pt>
                <c:pt idx="22">
                  <c:v>6.988783327949312E-3</c:v>
                </c:pt>
                <c:pt idx="23">
                  <c:v>-8.9432316811550207E-3</c:v>
                </c:pt>
                <c:pt idx="24">
                  <c:v>-2.5537864732578248E-2</c:v>
                </c:pt>
                <c:pt idx="25">
                  <c:v>-4.4840124665466177E-2</c:v>
                </c:pt>
                <c:pt idx="26">
                  <c:v>-4.1977268115291753E-2</c:v>
                </c:pt>
                <c:pt idx="27">
                  <c:v>-2.4733426077983268E-2</c:v>
                </c:pt>
                <c:pt idx="28">
                  <c:v>-2.7007460778539008E-2</c:v>
                </c:pt>
                <c:pt idx="29">
                  <c:v>-1.4894455394143441E-2</c:v>
                </c:pt>
                <c:pt idx="30">
                  <c:v>-2.449001078170299E-2</c:v>
                </c:pt>
                <c:pt idx="31">
                  <c:v>-3.1454478720645968E-2</c:v>
                </c:pt>
                <c:pt idx="32">
                  <c:v>-3.2612918807475182E-2</c:v>
                </c:pt>
                <c:pt idx="33">
                  <c:v>-2.5090020611632902E-2</c:v>
                </c:pt>
                <c:pt idx="34">
                  <c:v>-5.410962490911219E-2</c:v>
                </c:pt>
                <c:pt idx="35">
                  <c:v>-1.8900361436026848E-2</c:v>
                </c:pt>
                <c:pt idx="36">
                  <c:v>-1.165273478649618E-2</c:v>
                </c:pt>
                <c:pt idx="37">
                  <c:v>-2.6845734165912186E-2</c:v>
                </c:pt>
                <c:pt idx="38">
                  <c:v>-2.3098432962986921E-2</c:v>
                </c:pt>
                <c:pt idx="39">
                  <c:v>-4.5616998806469675E-3</c:v>
                </c:pt>
                <c:pt idx="40">
                  <c:v>-3.0339016560650689E-3</c:v>
                </c:pt>
                <c:pt idx="41">
                  <c:v>-2.6837912992615412E-2</c:v>
                </c:pt>
                <c:pt idx="42">
                  <c:v>-4.4080880229767222E-3</c:v>
                </c:pt>
                <c:pt idx="43">
                  <c:v>-1.3980365311219756E-2</c:v>
                </c:pt>
                <c:pt idx="44">
                  <c:v>1.4535227818952553E-2</c:v>
                </c:pt>
                <c:pt idx="45">
                  <c:v>4.7283141425258114E-3</c:v>
                </c:pt>
                <c:pt idx="46">
                  <c:v>-1.5387489047740933E-2</c:v>
                </c:pt>
                <c:pt idx="47">
                  <c:v>-1.2148378991422562E-2</c:v>
                </c:pt>
                <c:pt idx="48">
                  <c:v>-6.2932521188044308E-3</c:v>
                </c:pt>
                <c:pt idx="49">
                  <c:v>-1.1700458847347855E-2</c:v>
                </c:pt>
                <c:pt idx="50">
                  <c:v>1.1491663342882985E-3</c:v>
                </c:pt>
              </c:numCache>
            </c:numRef>
          </c:val>
          <c:extLst>
            <c:ext xmlns:c16="http://schemas.microsoft.com/office/drawing/2014/chart" uri="{C3380CC4-5D6E-409C-BE32-E72D297353CC}">
              <c16:uniqueId val="{00000006-859D-4F5C-A71B-28A0D6CFC8DA}"/>
            </c:ext>
          </c:extLst>
        </c:ser>
        <c:ser>
          <c:idx val="7"/>
          <c:order val="7"/>
          <c:tx>
            <c:strRef>
              <c:f>敞口!$CP$2</c:f>
              <c:strCache>
                <c:ptCount val="1"/>
                <c:pt idx="0">
                  <c:v>其他</c:v>
                </c:pt>
              </c:strCache>
            </c:strRef>
          </c:tx>
          <c:spPr>
            <a:solidFill>
              <a:schemeClr val="accent2">
                <a:lumMod val="60000"/>
              </a:schemeClr>
            </a:solidFill>
            <a:ln w="25400">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敞口!$CP$3:$CP$53</c:f>
              <c:numCache>
                <c:formatCode>0.00%</c:formatCode>
                <c:ptCount val="51"/>
                <c:pt idx="0">
                  <c:v>-1.0521273082009879E-2</c:v>
                </c:pt>
                <c:pt idx="1">
                  <c:v>0</c:v>
                </c:pt>
                <c:pt idx="2">
                  <c:v>0</c:v>
                </c:pt>
                <c:pt idx="3">
                  <c:v>0</c:v>
                </c:pt>
                <c:pt idx="4">
                  <c:v>-5.2032288168118212E-3</c:v>
                </c:pt>
                <c:pt idx="5">
                  <c:v>-1.5662768329968817E-2</c:v>
                </c:pt>
                <c:pt idx="6">
                  <c:v>-2.9302199203683089E-3</c:v>
                </c:pt>
                <c:pt idx="7">
                  <c:v>0</c:v>
                </c:pt>
                <c:pt idx="8">
                  <c:v>-1.0915443648932901E-2</c:v>
                </c:pt>
                <c:pt idx="9">
                  <c:v>-8.8038737908167578E-3</c:v>
                </c:pt>
                <c:pt idx="10">
                  <c:v>-1.4412440009862819E-2</c:v>
                </c:pt>
                <c:pt idx="11">
                  <c:v>-1.6647885219184561E-2</c:v>
                </c:pt>
                <c:pt idx="12">
                  <c:v>0</c:v>
                </c:pt>
                <c:pt idx="13">
                  <c:v>-1.066761921605602E-2</c:v>
                </c:pt>
                <c:pt idx="14">
                  <c:v>0</c:v>
                </c:pt>
                <c:pt idx="15">
                  <c:v>0</c:v>
                </c:pt>
                <c:pt idx="16">
                  <c:v>-6.6885648078131108E-3</c:v>
                </c:pt>
                <c:pt idx="17">
                  <c:v>1.8354709406864899E-3</c:v>
                </c:pt>
                <c:pt idx="18">
                  <c:v>2.1568371210645069E-3</c:v>
                </c:pt>
                <c:pt idx="19">
                  <c:v>5.7545213978543747E-3</c:v>
                </c:pt>
                <c:pt idx="20">
                  <c:v>5.1268683170715046E-4</c:v>
                </c:pt>
                <c:pt idx="21">
                  <c:v>3.1772947695936842E-4</c:v>
                </c:pt>
                <c:pt idx="22">
                  <c:v>3.9099905336125107E-4</c:v>
                </c:pt>
                <c:pt idx="23">
                  <c:v>1.0633030055053459E-4</c:v>
                </c:pt>
                <c:pt idx="24">
                  <c:v>2.283973509868784E-4</c:v>
                </c:pt>
                <c:pt idx="25">
                  <c:v>1.560451306024754E-4</c:v>
                </c:pt>
                <c:pt idx="26">
                  <c:v>1.1674438168343959E-4</c:v>
                </c:pt>
                <c:pt idx="27">
                  <c:v>-1.2250643261665403E-2</c:v>
                </c:pt>
                <c:pt idx="28">
                  <c:v>1.859699322063155E-4</c:v>
                </c:pt>
                <c:pt idx="29">
                  <c:v>0</c:v>
                </c:pt>
                <c:pt idx="30">
                  <c:v>0</c:v>
                </c:pt>
                <c:pt idx="31">
                  <c:v>0</c:v>
                </c:pt>
                <c:pt idx="32">
                  <c:v>0</c:v>
                </c:pt>
                <c:pt idx="33">
                  <c:v>0</c:v>
                </c:pt>
                <c:pt idx="34">
                  <c:v>0</c:v>
                </c:pt>
                <c:pt idx="35">
                  <c:v>5.8364518610572553E-3</c:v>
                </c:pt>
                <c:pt idx="36">
                  <c:v>7.676399769105658E-3</c:v>
                </c:pt>
                <c:pt idx="37">
                  <c:v>5.8784491174260749E-3</c:v>
                </c:pt>
                <c:pt idx="38">
                  <c:v>9.2811544202322221E-3</c:v>
                </c:pt>
                <c:pt idx="39">
                  <c:v>7.5811761588233046E-3</c:v>
                </c:pt>
                <c:pt idx="40">
                  <c:v>9.3499393603566801E-3</c:v>
                </c:pt>
                <c:pt idx="41">
                  <c:v>1.3445027541388011E-2</c:v>
                </c:pt>
                <c:pt idx="42">
                  <c:v>8.0545913067213547E-3</c:v>
                </c:pt>
                <c:pt idx="43">
                  <c:v>7.1958188208426036E-3</c:v>
                </c:pt>
                <c:pt idx="44">
                  <c:v>7.8397208166018102E-3</c:v>
                </c:pt>
                <c:pt idx="45">
                  <c:v>6.9710880238426712E-3</c:v>
                </c:pt>
                <c:pt idx="46">
                  <c:v>7.3981897616012112E-3</c:v>
                </c:pt>
                <c:pt idx="47">
                  <c:v>1.2078959442582809E-2</c:v>
                </c:pt>
                <c:pt idx="48">
                  <c:v>7.271563297875581E-3</c:v>
                </c:pt>
                <c:pt idx="49">
                  <c:v>1.6139692219464249E-2</c:v>
                </c:pt>
                <c:pt idx="50">
                  <c:v>2.0382544315045381E-2</c:v>
                </c:pt>
              </c:numCache>
            </c:numRef>
          </c:val>
          <c:extLst>
            <c:ext xmlns:c16="http://schemas.microsoft.com/office/drawing/2014/chart" uri="{C3380CC4-5D6E-409C-BE32-E72D297353CC}">
              <c16:uniqueId val="{00000007-859D-4F5C-A71B-28A0D6CFC8DA}"/>
            </c:ext>
          </c:extLst>
        </c:ser>
        <c:dLbls>
          <c:showLegendKey val="0"/>
          <c:showVal val="0"/>
          <c:showCatName val="0"/>
          <c:showSerName val="0"/>
          <c:showPercent val="0"/>
          <c:showBubbleSize val="0"/>
        </c:dLbls>
        <c:axId val="1586061295"/>
        <c:axId val="1586062543"/>
      </c:areaChart>
      <c:dateAx>
        <c:axId val="1586061295"/>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586062543"/>
        <c:crosses val="autoZero"/>
        <c:auto val="1"/>
        <c:lblOffset val="100"/>
        <c:baseTimeUnit val="months"/>
        <c:majorUnit val="6"/>
        <c:majorTimeUnit val="months"/>
      </c:dateAx>
      <c:valAx>
        <c:axId val="1586062543"/>
        <c:scaling>
          <c:orientation val="minMax"/>
          <c:max val="0.25"/>
          <c:min val="-5.000000000000001E-2"/>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586061295"/>
        <c:crosses val="autoZero"/>
        <c:crossBetween val="midCat"/>
        <c:majorUnit val="0.2"/>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zero"/>
    <c:showDLblsOverMax val="0"/>
  </c:chart>
  <c:spPr>
    <a:solidFill>
      <a:schemeClr val="bg1"/>
    </a:solidFill>
    <a:ln w="9525" cap="flat" cmpd="sng" algn="ctr">
      <a:noFill/>
      <a:round/>
    </a:ln>
    <a:effectLst/>
  </c:spPr>
  <c:txPr>
    <a:bodyPr/>
    <a:lstStyle/>
    <a:p>
      <a:pPr>
        <a:defRPr>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sz="1200" b="1"/>
              <a:t>地区分布</a:t>
            </a:r>
            <a:r>
              <a:rPr lang="en-US" sz="1200" b="1"/>
              <a:t>——</a:t>
            </a:r>
            <a:r>
              <a:rPr lang="zh-CN" sz="1200" b="1"/>
              <a:t>多头</a:t>
            </a:r>
          </a:p>
        </c:rich>
      </c:tx>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areaChart>
        <c:grouping val="stacked"/>
        <c:varyColors val="0"/>
        <c:ser>
          <c:idx val="0"/>
          <c:order val="0"/>
          <c:tx>
            <c:strRef>
              <c:f>敞口!$BH$2</c:f>
              <c:strCache>
                <c:ptCount val="1"/>
                <c:pt idx="0">
                  <c:v>美国</c:v>
                </c:pt>
              </c:strCache>
            </c:strRef>
          </c:tx>
          <c:spPr>
            <a:solidFill>
              <a:schemeClr val="accent1"/>
            </a:solidFill>
            <a:ln>
              <a:noFill/>
            </a:ln>
            <a:effectLst/>
          </c:spPr>
          <c:cat>
            <c:numRef>
              <c:f>敞口!$BG$3:$BG$53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敞口!$BH$3:$BH$53</c:f>
              <c:numCache>
                <c:formatCode>0.0%</c:formatCode>
                <c:ptCount val="51"/>
                <c:pt idx="0">
                  <c:v>0.44067109203547322</c:v>
                </c:pt>
                <c:pt idx="1">
                  <c:v>0.44726511907008698</c:v>
                </c:pt>
                <c:pt idx="2">
                  <c:v>0.49398098335067642</c:v>
                </c:pt>
                <c:pt idx="3">
                  <c:v>0.46743066247951132</c:v>
                </c:pt>
                <c:pt idx="4">
                  <c:v>0.45226692623507181</c:v>
                </c:pt>
                <c:pt idx="5">
                  <c:v>0.43572811782992021</c:v>
                </c:pt>
                <c:pt idx="6">
                  <c:v>0.4211393071028886</c:v>
                </c:pt>
                <c:pt idx="7">
                  <c:v>0.4584194016421847</c:v>
                </c:pt>
                <c:pt idx="8">
                  <c:v>0.44253903096927871</c:v>
                </c:pt>
                <c:pt idx="9">
                  <c:v>0.46115247277873822</c:v>
                </c:pt>
                <c:pt idx="10">
                  <c:v>0.46287983052057968</c:v>
                </c:pt>
                <c:pt idx="11">
                  <c:v>0.43212352488116251</c:v>
                </c:pt>
                <c:pt idx="12">
                  <c:v>0.44974335176383518</c:v>
                </c:pt>
                <c:pt idx="13">
                  <c:v>0.44316677669248422</c:v>
                </c:pt>
                <c:pt idx="14">
                  <c:v>0.46190759900782052</c:v>
                </c:pt>
                <c:pt idx="15">
                  <c:v>0.4962041479582513</c:v>
                </c:pt>
                <c:pt idx="16">
                  <c:v>0.48048534348834471</c:v>
                </c:pt>
                <c:pt idx="17">
                  <c:v>0.44289543750442473</c:v>
                </c:pt>
                <c:pt idx="18">
                  <c:v>0.4586725451987278</c:v>
                </c:pt>
                <c:pt idx="19">
                  <c:v>0.46336468790579538</c:v>
                </c:pt>
                <c:pt idx="20">
                  <c:v>0.42530105134664831</c:v>
                </c:pt>
                <c:pt idx="21">
                  <c:v>0.40301027993898181</c:v>
                </c:pt>
                <c:pt idx="22">
                  <c:v>0.45204206812033021</c:v>
                </c:pt>
                <c:pt idx="23">
                  <c:v>0.48537220328447028</c:v>
                </c:pt>
                <c:pt idx="24">
                  <c:v>0.48277324368726893</c:v>
                </c:pt>
                <c:pt idx="25">
                  <c:v>0.46138120141418548</c:v>
                </c:pt>
                <c:pt idx="26">
                  <c:v>0.49464703785254338</c:v>
                </c:pt>
                <c:pt idx="27">
                  <c:v>0.48817251607434242</c:v>
                </c:pt>
                <c:pt idx="28">
                  <c:v>0.48465887719623529</c:v>
                </c:pt>
                <c:pt idx="29">
                  <c:v>0.47437229764429062</c:v>
                </c:pt>
                <c:pt idx="30">
                  <c:v>0.49815313898734759</c:v>
                </c:pt>
                <c:pt idx="31">
                  <c:v>0.44379226948361528</c:v>
                </c:pt>
                <c:pt idx="32">
                  <c:v>0.4606584052153439</c:v>
                </c:pt>
                <c:pt idx="33">
                  <c:v>0.47705471528462662</c:v>
                </c:pt>
                <c:pt idx="34">
                  <c:v>0.45051401671085473</c:v>
                </c:pt>
                <c:pt idx="35">
                  <c:v>0.47894711201602758</c:v>
                </c:pt>
                <c:pt idx="36">
                  <c:v>0.4637030860711599</c:v>
                </c:pt>
                <c:pt idx="37">
                  <c:v>0.45978022534244201</c:v>
                </c:pt>
                <c:pt idx="38">
                  <c:v>0.48161473781611158</c:v>
                </c:pt>
                <c:pt idx="39">
                  <c:v>0.43927436406701342</c:v>
                </c:pt>
                <c:pt idx="40">
                  <c:v>0.3887313533077556</c:v>
                </c:pt>
                <c:pt idx="41">
                  <c:v>0.40171610041110473</c:v>
                </c:pt>
                <c:pt idx="42">
                  <c:v>0.41550568183879849</c:v>
                </c:pt>
                <c:pt idx="43">
                  <c:v>0.44280702566235769</c:v>
                </c:pt>
                <c:pt idx="44">
                  <c:v>0.42637961213659631</c:v>
                </c:pt>
                <c:pt idx="45">
                  <c:v>0.43220795024907149</c:v>
                </c:pt>
                <c:pt idx="46">
                  <c:v>0.41837233659781808</c:v>
                </c:pt>
                <c:pt idx="47">
                  <c:v>0.44336512428207658</c:v>
                </c:pt>
                <c:pt idx="48">
                  <c:v>0.43959350295221677</c:v>
                </c:pt>
                <c:pt idx="49">
                  <c:v>0.46445901943958628</c:v>
                </c:pt>
                <c:pt idx="50">
                  <c:v>0.45383835530868172</c:v>
                </c:pt>
              </c:numCache>
            </c:numRef>
          </c:val>
          <c:extLst>
            <c:ext xmlns:c16="http://schemas.microsoft.com/office/drawing/2014/chart" uri="{C3380CC4-5D6E-409C-BE32-E72D297353CC}">
              <c16:uniqueId val="{00000000-5365-4C4A-A1EF-BC5D45ABB9C4}"/>
            </c:ext>
          </c:extLst>
        </c:ser>
        <c:ser>
          <c:idx val="1"/>
          <c:order val="1"/>
          <c:tx>
            <c:strRef>
              <c:f>敞口!$BI$2</c:f>
              <c:strCache>
                <c:ptCount val="1"/>
                <c:pt idx="0">
                  <c:v>中国</c:v>
                </c:pt>
              </c:strCache>
            </c:strRef>
          </c:tx>
          <c:spPr>
            <a:solidFill>
              <a:schemeClr val="accent2"/>
            </a:solidFill>
            <a:ln>
              <a:noFill/>
            </a:ln>
            <a:effectLst/>
          </c:spPr>
          <c:cat>
            <c:numRef>
              <c:f>敞口!$BG$3:$BG$53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敞口!$BI$3:$BI$53</c:f>
              <c:numCache>
                <c:formatCode>0.0%</c:formatCode>
                <c:ptCount val="51"/>
                <c:pt idx="0">
                  <c:v>0</c:v>
                </c:pt>
                <c:pt idx="1">
                  <c:v>0</c:v>
                </c:pt>
                <c:pt idx="2">
                  <c:v>0</c:v>
                </c:pt>
                <c:pt idx="3">
                  <c:v>0</c:v>
                </c:pt>
                <c:pt idx="4">
                  <c:v>0</c:v>
                </c:pt>
                <c:pt idx="5">
                  <c:v>0</c:v>
                </c:pt>
                <c:pt idx="6">
                  <c:v>0</c:v>
                </c:pt>
                <c:pt idx="7">
                  <c:v>0</c:v>
                </c:pt>
                <c:pt idx="8">
                  <c:v>0</c:v>
                </c:pt>
                <c:pt idx="9">
                  <c:v>0</c:v>
                </c:pt>
                <c:pt idx="10">
                  <c:v>2.6270486144351742E-2</c:v>
                </c:pt>
                <c:pt idx="11">
                  <c:v>2.1548173198028361E-2</c:v>
                </c:pt>
                <c:pt idx="12">
                  <c:v>0</c:v>
                </c:pt>
                <c:pt idx="13">
                  <c:v>0</c:v>
                </c:pt>
                <c:pt idx="14">
                  <c:v>0</c:v>
                </c:pt>
                <c:pt idx="15">
                  <c:v>0</c:v>
                </c:pt>
                <c:pt idx="16">
                  <c:v>0</c:v>
                </c:pt>
                <c:pt idx="17">
                  <c:v>0</c:v>
                </c:pt>
                <c:pt idx="18">
                  <c:v>0</c:v>
                </c:pt>
                <c:pt idx="19">
                  <c:v>0</c:v>
                </c:pt>
                <c:pt idx="20">
                  <c:v>0</c:v>
                </c:pt>
                <c:pt idx="21">
                  <c:v>9.7227988959779684E-3</c:v>
                </c:pt>
                <c:pt idx="22">
                  <c:v>0</c:v>
                </c:pt>
                <c:pt idx="23">
                  <c:v>0</c:v>
                </c:pt>
                <c:pt idx="24">
                  <c:v>0</c:v>
                </c:pt>
                <c:pt idx="25">
                  <c:v>0</c:v>
                </c:pt>
                <c:pt idx="26">
                  <c:v>0</c:v>
                </c:pt>
                <c:pt idx="27">
                  <c:v>0</c:v>
                </c:pt>
                <c:pt idx="28">
                  <c:v>0</c:v>
                </c:pt>
                <c:pt idx="29">
                  <c:v>0</c:v>
                </c:pt>
                <c:pt idx="30">
                  <c:v>0</c:v>
                </c:pt>
                <c:pt idx="31">
                  <c:v>1.8928377630601591E-2</c:v>
                </c:pt>
                <c:pt idx="32">
                  <c:v>0</c:v>
                </c:pt>
                <c:pt idx="33">
                  <c:v>0</c:v>
                </c:pt>
                <c:pt idx="34">
                  <c:v>0</c:v>
                </c:pt>
                <c:pt idx="35">
                  <c:v>0</c:v>
                </c:pt>
                <c:pt idx="36">
                  <c:v>2.6364235171846399E-3</c:v>
                </c:pt>
                <c:pt idx="37">
                  <c:v>0</c:v>
                </c:pt>
                <c:pt idx="38">
                  <c:v>0</c:v>
                </c:pt>
                <c:pt idx="39">
                  <c:v>5.5670494345212891E-4</c:v>
                </c:pt>
                <c:pt idx="40">
                  <c:v>0</c:v>
                </c:pt>
                <c:pt idx="41">
                  <c:v>1.767594891126317E-3</c:v>
                </c:pt>
                <c:pt idx="42">
                  <c:v>0</c:v>
                </c:pt>
                <c:pt idx="43">
                  <c:v>0</c:v>
                </c:pt>
                <c:pt idx="44">
                  <c:v>6.0169067301014843E-3</c:v>
                </c:pt>
                <c:pt idx="45">
                  <c:v>0</c:v>
                </c:pt>
                <c:pt idx="46">
                  <c:v>1.334634851289482E-2</c:v>
                </c:pt>
                <c:pt idx="47">
                  <c:v>1.256347522309777E-2</c:v>
                </c:pt>
                <c:pt idx="48">
                  <c:v>1.6991516582036389E-2</c:v>
                </c:pt>
                <c:pt idx="49">
                  <c:v>4.1906177335253973E-3</c:v>
                </c:pt>
                <c:pt idx="50">
                  <c:v>0</c:v>
                </c:pt>
              </c:numCache>
            </c:numRef>
          </c:val>
          <c:extLst>
            <c:ext xmlns:c16="http://schemas.microsoft.com/office/drawing/2014/chart" uri="{C3380CC4-5D6E-409C-BE32-E72D297353CC}">
              <c16:uniqueId val="{00000001-5365-4C4A-A1EF-BC5D45ABB9C4}"/>
            </c:ext>
          </c:extLst>
        </c:ser>
        <c:ser>
          <c:idx val="2"/>
          <c:order val="2"/>
          <c:tx>
            <c:strRef>
              <c:f>敞口!$BJ$2</c:f>
              <c:strCache>
                <c:ptCount val="1"/>
                <c:pt idx="0">
                  <c:v>日本</c:v>
                </c:pt>
              </c:strCache>
            </c:strRef>
          </c:tx>
          <c:spPr>
            <a:solidFill>
              <a:schemeClr val="accent3"/>
            </a:solidFill>
            <a:ln>
              <a:noFill/>
            </a:ln>
            <a:effectLst/>
          </c:spPr>
          <c:cat>
            <c:numRef>
              <c:f>敞口!$BG$3:$BG$53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敞口!$BJ$3:$BJ$53</c:f>
              <c:numCache>
                <c:formatCode>0.0%</c:formatCode>
                <c:ptCount val="51"/>
                <c:pt idx="0">
                  <c:v>4.398147668941798E-2</c:v>
                </c:pt>
                <c:pt idx="1">
                  <c:v>2.3725317863637432E-2</c:v>
                </c:pt>
                <c:pt idx="2">
                  <c:v>0</c:v>
                </c:pt>
                <c:pt idx="3">
                  <c:v>0</c:v>
                </c:pt>
                <c:pt idx="4">
                  <c:v>2.1467830815726362E-2</c:v>
                </c:pt>
                <c:pt idx="5">
                  <c:v>2.2059066287419282E-2</c:v>
                </c:pt>
                <c:pt idx="6">
                  <c:v>2.411124084472854E-2</c:v>
                </c:pt>
                <c:pt idx="7">
                  <c:v>0</c:v>
                </c:pt>
                <c:pt idx="8">
                  <c:v>0</c:v>
                </c:pt>
                <c:pt idx="9">
                  <c:v>0</c:v>
                </c:pt>
                <c:pt idx="10">
                  <c:v>0</c:v>
                </c:pt>
                <c:pt idx="11">
                  <c:v>2.9732332634284521E-2</c:v>
                </c:pt>
                <c:pt idx="12">
                  <c:v>2.7438908051023871E-2</c:v>
                </c:pt>
                <c:pt idx="13">
                  <c:v>0</c:v>
                </c:pt>
                <c:pt idx="14">
                  <c:v>0</c:v>
                </c:pt>
                <c:pt idx="15">
                  <c:v>0</c:v>
                </c:pt>
                <c:pt idx="16">
                  <c:v>0</c:v>
                </c:pt>
                <c:pt idx="17">
                  <c:v>2.8859055350851381E-2</c:v>
                </c:pt>
                <c:pt idx="18">
                  <c:v>1.1503444469073389E-2</c:v>
                </c:pt>
                <c:pt idx="19">
                  <c:v>0</c:v>
                </c:pt>
                <c:pt idx="20">
                  <c:v>6.6703402891381668E-3</c:v>
                </c:pt>
                <c:pt idx="21">
                  <c:v>5.5918615236820197E-3</c:v>
                </c:pt>
                <c:pt idx="22">
                  <c:v>1.0171563879501159E-2</c:v>
                </c:pt>
                <c:pt idx="23">
                  <c:v>1.3536289540026119E-2</c:v>
                </c:pt>
                <c:pt idx="24">
                  <c:v>1.9085360866901092E-2</c:v>
                </c:pt>
                <c:pt idx="25">
                  <c:v>2.1488323309234478E-2</c:v>
                </c:pt>
                <c:pt idx="26">
                  <c:v>1.246320335169286E-2</c:v>
                </c:pt>
                <c:pt idx="27">
                  <c:v>9.4229179729252328E-3</c:v>
                </c:pt>
                <c:pt idx="28">
                  <c:v>6.9708889392751626E-3</c:v>
                </c:pt>
                <c:pt idx="29">
                  <c:v>9.5979559821279866E-3</c:v>
                </c:pt>
                <c:pt idx="30">
                  <c:v>1.4951544419241521E-2</c:v>
                </c:pt>
                <c:pt idx="31">
                  <c:v>0</c:v>
                </c:pt>
                <c:pt idx="32">
                  <c:v>0</c:v>
                </c:pt>
                <c:pt idx="33">
                  <c:v>4.6168772797919736E-3</c:v>
                </c:pt>
                <c:pt idx="34">
                  <c:v>1.304266894364531E-2</c:v>
                </c:pt>
                <c:pt idx="35">
                  <c:v>1.5871945567925969E-2</c:v>
                </c:pt>
                <c:pt idx="36">
                  <c:v>2.223598631424803E-2</c:v>
                </c:pt>
                <c:pt idx="37">
                  <c:v>8.3351763313541296E-3</c:v>
                </c:pt>
                <c:pt idx="38">
                  <c:v>4.2404695266749894E-3</c:v>
                </c:pt>
                <c:pt idx="39">
                  <c:v>0</c:v>
                </c:pt>
                <c:pt idx="40">
                  <c:v>2.1071168891858838E-3</c:v>
                </c:pt>
                <c:pt idx="41">
                  <c:v>0</c:v>
                </c:pt>
                <c:pt idx="42">
                  <c:v>0</c:v>
                </c:pt>
                <c:pt idx="43">
                  <c:v>0</c:v>
                </c:pt>
                <c:pt idx="44">
                  <c:v>1.1833912282927391E-3</c:v>
                </c:pt>
                <c:pt idx="45">
                  <c:v>0</c:v>
                </c:pt>
                <c:pt idx="46">
                  <c:v>0</c:v>
                </c:pt>
                <c:pt idx="47">
                  <c:v>0</c:v>
                </c:pt>
                <c:pt idx="48">
                  <c:v>1.8493142405860571E-3</c:v>
                </c:pt>
                <c:pt idx="49">
                  <c:v>1.724845665361391E-3</c:v>
                </c:pt>
                <c:pt idx="50">
                  <c:v>0</c:v>
                </c:pt>
              </c:numCache>
            </c:numRef>
          </c:val>
          <c:extLst>
            <c:ext xmlns:c16="http://schemas.microsoft.com/office/drawing/2014/chart" uri="{C3380CC4-5D6E-409C-BE32-E72D297353CC}">
              <c16:uniqueId val="{00000002-5365-4C4A-A1EF-BC5D45ABB9C4}"/>
            </c:ext>
          </c:extLst>
        </c:ser>
        <c:ser>
          <c:idx val="3"/>
          <c:order val="3"/>
          <c:tx>
            <c:strRef>
              <c:f>敞口!$BK$2</c:f>
              <c:strCache>
                <c:ptCount val="1"/>
                <c:pt idx="0">
                  <c:v>韩国</c:v>
                </c:pt>
              </c:strCache>
            </c:strRef>
          </c:tx>
          <c:spPr>
            <a:solidFill>
              <a:schemeClr val="accent4"/>
            </a:solidFill>
            <a:ln>
              <a:noFill/>
            </a:ln>
            <a:effectLst/>
          </c:spPr>
          <c:cat>
            <c:numRef>
              <c:f>敞口!$BG$3:$BG$53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敞口!$BK$3:$BK$53</c:f>
              <c:numCache>
                <c:formatCode>0.0%</c:formatCode>
                <c:ptCount val="51"/>
                <c:pt idx="0">
                  <c:v>0</c:v>
                </c:pt>
                <c:pt idx="1">
                  <c:v>0</c:v>
                </c:pt>
                <c:pt idx="2">
                  <c:v>0</c:v>
                </c:pt>
                <c:pt idx="3">
                  <c:v>0</c:v>
                </c:pt>
                <c:pt idx="4">
                  <c:v>0</c:v>
                </c:pt>
                <c:pt idx="5">
                  <c:v>1.473909790089992E-2</c:v>
                </c:pt>
                <c:pt idx="6">
                  <c:v>0</c:v>
                </c:pt>
                <c:pt idx="7">
                  <c:v>0</c:v>
                </c:pt>
                <c:pt idx="8">
                  <c:v>0</c:v>
                </c:pt>
                <c:pt idx="9">
                  <c:v>0</c:v>
                </c:pt>
                <c:pt idx="10">
                  <c:v>5.669914480596859E-3</c:v>
                </c:pt>
                <c:pt idx="11">
                  <c:v>0</c:v>
                </c:pt>
                <c:pt idx="12">
                  <c:v>0</c:v>
                </c:pt>
                <c:pt idx="13">
                  <c:v>0</c:v>
                </c:pt>
                <c:pt idx="14">
                  <c:v>0</c:v>
                </c:pt>
                <c:pt idx="15">
                  <c:v>0</c:v>
                </c:pt>
                <c:pt idx="16">
                  <c:v>1.272285063678911E-2</c:v>
                </c:pt>
                <c:pt idx="17">
                  <c:v>1.7927772857011571E-2</c:v>
                </c:pt>
                <c:pt idx="18">
                  <c:v>0</c:v>
                </c:pt>
                <c:pt idx="19">
                  <c:v>1.1302280227412189E-2</c:v>
                </c:pt>
                <c:pt idx="20">
                  <c:v>0</c:v>
                </c:pt>
                <c:pt idx="21">
                  <c:v>0</c:v>
                </c:pt>
                <c:pt idx="22">
                  <c:v>0</c:v>
                </c:pt>
                <c:pt idx="23">
                  <c:v>0</c:v>
                </c:pt>
                <c:pt idx="24">
                  <c:v>0</c:v>
                </c:pt>
                <c:pt idx="25">
                  <c:v>0</c:v>
                </c:pt>
                <c:pt idx="26">
                  <c:v>0</c:v>
                </c:pt>
                <c:pt idx="27">
                  <c:v>0</c:v>
                </c:pt>
                <c:pt idx="28">
                  <c:v>0</c:v>
                </c:pt>
                <c:pt idx="29">
                  <c:v>0</c:v>
                </c:pt>
                <c:pt idx="30">
                  <c:v>0</c:v>
                </c:pt>
                <c:pt idx="31">
                  <c:v>0</c:v>
                </c:pt>
                <c:pt idx="32">
                  <c:v>5.8825089718550902E-3</c:v>
                </c:pt>
                <c:pt idx="33">
                  <c:v>0</c:v>
                </c:pt>
                <c:pt idx="34">
                  <c:v>8.3018366507356545E-3</c:v>
                </c:pt>
                <c:pt idx="35">
                  <c:v>2.0219179389971899E-2</c:v>
                </c:pt>
                <c:pt idx="36">
                  <c:v>2.4525312697416819E-2</c:v>
                </c:pt>
                <c:pt idx="37">
                  <c:v>2.4671437950978339E-2</c:v>
                </c:pt>
                <c:pt idx="38">
                  <c:v>1.8617911894407198E-2</c:v>
                </c:pt>
                <c:pt idx="39">
                  <c:v>2.3105925685429109E-2</c:v>
                </c:pt>
                <c:pt idx="40">
                  <c:v>2.9786223985015341E-2</c:v>
                </c:pt>
                <c:pt idx="41">
                  <c:v>3.1593391752155392E-2</c:v>
                </c:pt>
                <c:pt idx="42">
                  <c:v>2.060733281586212E-2</c:v>
                </c:pt>
                <c:pt idx="43">
                  <c:v>2.105494150916953E-2</c:v>
                </c:pt>
                <c:pt idx="44">
                  <c:v>1.213458243553076E-2</c:v>
                </c:pt>
                <c:pt idx="45">
                  <c:v>9.9423798274755806E-3</c:v>
                </c:pt>
                <c:pt idx="46">
                  <c:v>1.013658269141169E-2</c:v>
                </c:pt>
                <c:pt idx="47">
                  <c:v>1.224340356539377E-2</c:v>
                </c:pt>
                <c:pt idx="48">
                  <c:v>5.0413946313805818E-3</c:v>
                </c:pt>
                <c:pt idx="49">
                  <c:v>0</c:v>
                </c:pt>
                <c:pt idx="50">
                  <c:v>0</c:v>
                </c:pt>
              </c:numCache>
            </c:numRef>
          </c:val>
          <c:extLst>
            <c:ext xmlns:c16="http://schemas.microsoft.com/office/drawing/2014/chart" uri="{C3380CC4-5D6E-409C-BE32-E72D297353CC}">
              <c16:uniqueId val="{00000003-5365-4C4A-A1EF-BC5D45ABB9C4}"/>
            </c:ext>
          </c:extLst>
        </c:ser>
        <c:ser>
          <c:idx val="4"/>
          <c:order val="4"/>
          <c:tx>
            <c:strRef>
              <c:f>敞口!$BL$2</c:f>
              <c:strCache>
                <c:ptCount val="1"/>
                <c:pt idx="0">
                  <c:v>台湾</c:v>
                </c:pt>
              </c:strCache>
            </c:strRef>
          </c:tx>
          <c:spPr>
            <a:solidFill>
              <a:schemeClr val="accent5"/>
            </a:solidFill>
            <a:ln>
              <a:noFill/>
            </a:ln>
            <a:effectLst/>
          </c:spPr>
          <c:cat>
            <c:numRef>
              <c:f>敞口!$BG$3:$BG$53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敞口!$BL$3:$BL$53</c:f>
              <c:numCache>
                <c:formatCode>0.0%</c:formatCode>
                <c:ptCount val="51"/>
                <c:pt idx="0">
                  <c:v>0</c:v>
                </c:pt>
                <c:pt idx="1">
                  <c:v>0</c:v>
                </c:pt>
                <c:pt idx="2">
                  <c:v>0</c:v>
                </c:pt>
                <c:pt idx="3">
                  <c:v>0</c:v>
                </c:pt>
                <c:pt idx="4">
                  <c:v>0</c:v>
                </c:pt>
                <c:pt idx="5">
                  <c:v>0</c:v>
                </c:pt>
                <c:pt idx="6">
                  <c:v>0</c:v>
                </c:pt>
                <c:pt idx="7">
                  <c:v>0</c:v>
                </c:pt>
                <c:pt idx="8">
                  <c:v>1.1159409480836531E-2</c:v>
                </c:pt>
                <c:pt idx="9">
                  <c:v>0</c:v>
                </c:pt>
                <c:pt idx="10">
                  <c:v>0</c:v>
                </c:pt>
                <c:pt idx="11">
                  <c:v>0</c:v>
                </c:pt>
                <c:pt idx="12">
                  <c:v>0</c:v>
                </c:pt>
                <c:pt idx="13">
                  <c:v>1.204569378133373E-2</c:v>
                </c:pt>
                <c:pt idx="14">
                  <c:v>1.27823128205997E-2</c:v>
                </c:pt>
                <c:pt idx="15">
                  <c:v>1.4944187013396471E-2</c:v>
                </c:pt>
                <c:pt idx="16">
                  <c:v>2.246882788297273E-2</c:v>
                </c:pt>
                <c:pt idx="17">
                  <c:v>3.2358028593586823E-2</c:v>
                </c:pt>
                <c:pt idx="18">
                  <c:v>3.4263481978633471E-2</c:v>
                </c:pt>
                <c:pt idx="19">
                  <c:v>1.231592002355647E-2</c:v>
                </c:pt>
                <c:pt idx="20">
                  <c:v>7.1050981223070887E-3</c:v>
                </c:pt>
                <c:pt idx="21">
                  <c:v>7.516191234105264E-3</c:v>
                </c:pt>
                <c:pt idx="22">
                  <c:v>4.303502820944197E-3</c:v>
                </c:pt>
                <c:pt idx="23">
                  <c:v>0</c:v>
                </c:pt>
                <c:pt idx="24">
                  <c:v>7.8751348584382135E-3</c:v>
                </c:pt>
                <c:pt idx="25">
                  <c:v>2.101299147614186E-2</c:v>
                </c:pt>
                <c:pt idx="26">
                  <c:v>0</c:v>
                </c:pt>
                <c:pt idx="27">
                  <c:v>2.5667684042199219E-2</c:v>
                </c:pt>
                <c:pt idx="28">
                  <c:v>1.7258396610092489E-2</c:v>
                </c:pt>
                <c:pt idx="29">
                  <c:v>5.6464150248677061E-3</c:v>
                </c:pt>
                <c:pt idx="30">
                  <c:v>2.9120732775313849E-3</c:v>
                </c:pt>
                <c:pt idx="31">
                  <c:v>5.3827233988355067E-2</c:v>
                </c:pt>
                <c:pt idx="32">
                  <c:v>5.6019797852103863E-2</c:v>
                </c:pt>
                <c:pt idx="33">
                  <c:v>2.4781967838418802E-2</c:v>
                </c:pt>
                <c:pt idx="34">
                  <c:v>3.048009646172312E-2</c:v>
                </c:pt>
                <c:pt idx="35">
                  <c:v>5.4104106038750134E-3</c:v>
                </c:pt>
                <c:pt idx="36">
                  <c:v>5.8346754797591969E-3</c:v>
                </c:pt>
                <c:pt idx="37">
                  <c:v>6.469642415154458E-3</c:v>
                </c:pt>
                <c:pt idx="38">
                  <c:v>7.768274358243352E-3</c:v>
                </c:pt>
                <c:pt idx="39">
                  <c:v>1.4554038167907769E-2</c:v>
                </c:pt>
                <c:pt idx="40">
                  <c:v>3.841676141026025E-2</c:v>
                </c:pt>
                <c:pt idx="41">
                  <c:v>4.045445057803785E-2</c:v>
                </c:pt>
                <c:pt idx="42">
                  <c:v>3.4567440394543278E-2</c:v>
                </c:pt>
                <c:pt idx="43">
                  <c:v>2.1144384186677911E-2</c:v>
                </c:pt>
                <c:pt idx="44">
                  <c:v>2.2018445161873349E-2</c:v>
                </c:pt>
                <c:pt idx="45">
                  <c:v>2.9899108339243391E-2</c:v>
                </c:pt>
                <c:pt idx="46">
                  <c:v>4.7952747115405883E-2</c:v>
                </c:pt>
                <c:pt idx="47">
                  <c:v>3.1807187537002707E-2</c:v>
                </c:pt>
                <c:pt idx="48">
                  <c:v>3.6986057885672399E-2</c:v>
                </c:pt>
                <c:pt idx="49">
                  <c:v>3.7332776290526233E-2</c:v>
                </c:pt>
                <c:pt idx="50">
                  <c:v>3.0230071125745859E-2</c:v>
                </c:pt>
              </c:numCache>
            </c:numRef>
          </c:val>
          <c:extLst>
            <c:ext xmlns:c16="http://schemas.microsoft.com/office/drawing/2014/chart" uri="{C3380CC4-5D6E-409C-BE32-E72D297353CC}">
              <c16:uniqueId val="{00000004-5365-4C4A-A1EF-BC5D45ABB9C4}"/>
            </c:ext>
          </c:extLst>
        </c:ser>
        <c:ser>
          <c:idx val="5"/>
          <c:order val="5"/>
          <c:tx>
            <c:strRef>
              <c:f>敞口!$BM$2</c:f>
              <c:strCache>
                <c:ptCount val="1"/>
                <c:pt idx="0">
                  <c:v>亚洲其他</c:v>
                </c:pt>
              </c:strCache>
            </c:strRef>
          </c:tx>
          <c:spPr>
            <a:solidFill>
              <a:schemeClr val="accent6"/>
            </a:solidFill>
            <a:ln>
              <a:noFill/>
            </a:ln>
            <a:effectLst/>
          </c:spPr>
          <c:cat>
            <c:numRef>
              <c:f>敞口!$BG$3:$BG$53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敞口!$BM$3:$BM$53</c:f>
              <c:numCache>
                <c:formatCode>0.0%</c:formatCode>
                <c:ptCount val="51"/>
                <c:pt idx="0">
                  <c:v>0</c:v>
                </c:pt>
                <c:pt idx="1">
                  <c:v>0</c:v>
                </c:pt>
                <c:pt idx="2">
                  <c:v>0</c:v>
                </c:pt>
                <c:pt idx="3">
                  <c:v>0</c:v>
                </c:pt>
                <c:pt idx="4">
                  <c:v>0</c:v>
                </c:pt>
                <c:pt idx="5">
                  <c:v>0</c:v>
                </c:pt>
                <c:pt idx="6">
                  <c:v>9.9432731808738427E-3</c:v>
                </c:pt>
                <c:pt idx="7">
                  <c:v>2.335648666892115E-2</c:v>
                </c:pt>
                <c:pt idx="8">
                  <c:v>2.228421627834512E-2</c:v>
                </c:pt>
                <c:pt idx="9">
                  <c:v>1.6020296406454668E-2</c:v>
                </c:pt>
                <c:pt idx="10">
                  <c:v>1.6433622486444442E-2</c:v>
                </c:pt>
                <c:pt idx="11">
                  <c:v>1.5942461008502017E-2</c:v>
                </c:pt>
                <c:pt idx="12">
                  <c:v>1.4422289948322252E-2</c:v>
                </c:pt>
                <c:pt idx="13">
                  <c:v>2.8739491685705221E-2</c:v>
                </c:pt>
                <c:pt idx="14">
                  <c:v>1.7936181750787459E-2</c:v>
                </c:pt>
                <c:pt idx="15">
                  <c:v>2.111339934634187E-2</c:v>
                </c:pt>
                <c:pt idx="16">
                  <c:v>1.3196676192306189E-2</c:v>
                </c:pt>
                <c:pt idx="17">
                  <c:v>1.2703605523002356E-2</c:v>
                </c:pt>
                <c:pt idx="18">
                  <c:v>1.3492599133382112E-2</c:v>
                </c:pt>
                <c:pt idx="19">
                  <c:v>2.0193428938642358E-2</c:v>
                </c:pt>
                <c:pt idx="20">
                  <c:v>2.1327361062474653E-2</c:v>
                </c:pt>
                <c:pt idx="21">
                  <c:v>2.8639683617968207E-2</c:v>
                </c:pt>
                <c:pt idx="22">
                  <c:v>0</c:v>
                </c:pt>
                <c:pt idx="23">
                  <c:v>0</c:v>
                </c:pt>
                <c:pt idx="24">
                  <c:v>0</c:v>
                </c:pt>
                <c:pt idx="25">
                  <c:v>0</c:v>
                </c:pt>
                <c:pt idx="26">
                  <c:v>0</c:v>
                </c:pt>
                <c:pt idx="27">
                  <c:v>0</c:v>
                </c:pt>
                <c:pt idx="28">
                  <c:v>6.5199987551962067E-3</c:v>
                </c:pt>
                <c:pt idx="29">
                  <c:v>3.9733692988802687E-3</c:v>
                </c:pt>
                <c:pt idx="30">
                  <c:v>0</c:v>
                </c:pt>
                <c:pt idx="31">
                  <c:v>0</c:v>
                </c:pt>
                <c:pt idx="32">
                  <c:v>0</c:v>
                </c:pt>
                <c:pt idx="33">
                  <c:v>0</c:v>
                </c:pt>
                <c:pt idx="34">
                  <c:v>0</c:v>
                </c:pt>
                <c:pt idx="35">
                  <c:v>0</c:v>
                </c:pt>
                <c:pt idx="36">
                  <c:v>0</c:v>
                </c:pt>
                <c:pt idx="37">
                  <c:v>6.4993704646749348E-3</c:v>
                </c:pt>
                <c:pt idx="38">
                  <c:v>5.9160135506995046E-3</c:v>
                </c:pt>
                <c:pt idx="39">
                  <c:v>2.5940146188950242E-3</c:v>
                </c:pt>
                <c:pt idx="40">
                  <c:v>0</c:v>
                </c:pt>
                <c:pt idx="41">
                  <c:v>0</c:v>
                </c:pt>
                <c:pt idx="42">
                  <c:v>0</c:v>
                </c:pt>
                <c:pt idx="43">
                  <c:v>1.3694315814579652E-2</c:v>
                </c:pt>
                <c:pt idx="44">
                  <c:v>1.1934539477425975E-2</c:v>
                </c:pt>
                <c:pt idx="45">
                  <c:v>1.5149130287293089E-2</c:v>
                </c:pt>
                <c:pt idx="46">
                  <c:v>1.4155191258058419E-3</c:v>
                </c:pt>
                <c:pt idx="47">
                  <c:v>0</c:v>
                </c:pt>
                <c:pt idx="48">
                  <c:v>0</c:v>
                </c:pt>
                <c:pt idx="49">
                  <c:v>0</c:v>
                </c:pt>
                <c:pt idx="50">
                  <c:v>0</c:v>
                </c:pt>
              </c:numCache>
            </c:numRef>
          </c:val>
          <c:extLst>
            <c:ext xmlns:c16="http://schemas.microsoft.com/office/drawing/2014/chart" uri="{C3380CC4-5D6E-409C-BE32-E72D297353CC}">
              <c16:uniqueId val="{00000005-5365-4C4A-A1EF-BC5D45ABB9C4}"/>
            </c:ext>
          </c:extLst>
        </c:ser>
        <c:ser>
          <c:idx val="6"/>
          <c:order val="6"/>
          <c:tx>
            <c:strRef>
              <c:f>敞口!$BN$2</c:f>
              <c:strCache>
                <c:ptCount val="1"/>
                <c:pt idx="0">
                  <c:v>西欧</c:v>
                </c:pt>
              </c:strCache>
            </c:strRef>
          </c:tx>
          <c:spPr>
            <a:solidFill>
              <a:schemeClr val="accent1">
                <a:lumMod val="60000"/>
              </a:schemeClr>
            </a:solidFill>
            <a:ln>
              <a:noFill/>
            </a:ln>
            <a:effectLst/>
          </c:spPr>
          <c:cat>
            <c:numRef>
              <c:f>敞口!$BG$3:$BG$53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敞口!$BN$3:$BN$53</c:f>
              <c:numCache>
                <c:formatCode>0.0%</c:formatCode>
                <c:ptCount val="51"/>
                <c:pt idx="0">
                  <c:v>3.9677776722235727E-2</c:v>
                </c:pt>
                <c:pt idx="1">
                  <c:v>6.453448945078008E-2</c:v>
                </c:pt>
                <c:pt idx="2">
                  <c:v>3.7882048378398842E-2</c:v>
                </c:pt>
                <c:pt idx="3">
                  <c:v>5.1709650205266709E-2</c:v>
                </c:pt>
                <c:pt idx="4">
                  <c:v>5.0833082962123868E-2</c:v>
                </c:pt>
                <c:pt idx="5">
                  <c:v>5.1463603309576049E-2</c:v>
                </c:pt>
                <c:pt idx="6">
                  <c:v>3.924825987677244E-2</c:v>
                </c:pt>
                <c:pt idx="7">
                  <c:v>4.9451307343700533E-2</c:v>
                </c:pt>
                <c:pt idx="8">
                  <c:v>5.2916701003684959E-2</c:v>
                </c:pt>
                <c:pt idx="9">
                  <c:v>4.8553199783713058E-2</c:v>
                </c:pt>
                <c:pt idx="10">
                  <c:v>2.8167044830301659E-2</c:v>
                </c:pt>
                <c:pt idx="11">
                  <c:v>4.4801992320063058E-2</c:v>
                </c:pt>
                <c:pt idx="12">
                  <c:v>5.474371927806243E-2</c:v>
                </c:pt>
                <c:pt idx="13">
                  <c:v>6.1533651380029072E-2</c:v>
                </c:pt>
                <c:pt idx="14">
                  <c:v>2.3182873581303519E-2</c:v>
                </c:pt>
                <c:pt idx="15">
                  <c:v>8.8854968235951067E-3</c:v>
                </c:pt>
                <c:pt idx="16">
                  <c:v>3.7205284698117961E-3</c:v>
                </c:pt>
                <c:pt idx="17">
                  <c:v>3.2669773744392859E-3</c:v>
                </c:pt>
                <c:pt idx="18">
                  <c:v>2.7551344999491838E-3</c:v>
                </c:pt>
                <c:pt idx="19">
                  <c:v>2.761202543727461E-3</c:v>
                </c:pt>
                <c:pt idx="20">
                  <c:v>4.3871412881661007E-2</c:v>
                </c:pt>
                <c:pt idx="21">
                  <c:v>3.9531958270418652E-2</c:v>
                </c:pt>
                <c:pt idx="22">
                  <c:v>3.2798628159468282E-2</c:v>
                </c:pt>
                <c:pt idx="23">
                  <c:v>1.6739239809577949E-2</c:v>
                </c:pt>
                <c:pt idx="24">
                  <c:v>0</c:v>
                </c:pt>
                <c:pt idx="25">
                  <c:v>0</c:v>
                </c:pt>
                <c:pt idx="26">
                  <c:v>6.853075541620025E-3</c:v>
                </c:pt>
                <c:pt idx="27">
                  <c:v>0</c:v>
                </c:pt>
                <c:pt idx="28">
                  <c:v>7.8595243048052484E-3</c:v>
                </c:pt>
                <c:pt idx="29">
                  <c:v>1.840517255319532E-2</c:v>
                </c:pt>
                <c:pt idx="30">
                  <c:v>0</c:v>
                </c:pt>
                <c:pt idx="31">
                  <c:v>0</c:v>
                </c:pt>
                <c:pt idx="32">
                  <c:v>0</c:v>
                </c:pt>
                <c:pt idx="33">
                  <c:v>0</c:v>
                </c:pt>
                <c:pt idx="34">
                  <c:v>0</c:v>
                </c:pt>
                <c:pt idx="35">
                  <c:v>3.7298562113455519E-3</c:v>
                </c:pt>
                <c:pt idx="36">
                  <c:v>0</c:v>
                </c:pt>
                <c:pt idx="37">
                  <c:v>6.7245257241981037E-3</c:v>
                </c:pt>
                <c:pt idx="38">
                  <c:v>3.4820266043307999E-3</c:v>
                </c:pt>
                <c:pt idx="39">
                  <c:v>3.6689385539743699E-2</c:v>
                </c:pt>
                <c:pt idx="40">
                  <c:v>4.9970170582392698E-2</c:v>
                </c:pt>
                <c:pt idx="41">
                  <c:v>2.4236726140279191E-2</c:v>
                </c:pt>
                <c:pt idx="42">
                  <c:v>2.876364518976713E-2</c:v>
                </c:pt>
                <c:pt idx="43">
                  <c:v>2.3548685283147661E-2</c:v>
                </c:pt>
                <c:pt idx="44">
                  <c:v>4.1801610374896492E-2</c:v>
                </c:pt>
                <c:pt idx="45">
                  <c:v>3.1955157504983983E-2</c:v>
                </c:pt>
                <c:pt idx="46">
                  <c:v>2.420109573718459E-2</c:v>
                </c:pt>
                <c:pt idx="47">
                  <c:v>1.5324707056646699E-2</c:v>
                </c:pt>
                <c:pt idx="48">
                  <c:v>1.099638904945037E-2</c:v>
                </c:pt>
                <c:pt idx="49">
                  <c:v>7.8801136959517348E-3</c:v>
                </c:pt>
                <c:pt idx="50">
                  <c:v>5.2533113614261738E-3</c:v>
                </c:pt>
              </c:numCache>
            </c:numRef>
          </c:val>
          <c:extLst>
            <c:ext xmlns:c16="http://schemas.microsoft.com/office/drawing/2014/chart" uri="{C3380CC4-5D6E-409C-BE32-E72D297353CC}">
              <c16:uniqueId val="{00000006-5365-4C4A-A1EF-BC5D45ABB9C4}"/>
            </c:ext>
          </c:extLst>
        </c:ser>
        <c:ser>
          <c:idx val="7"/>
          <c:order val="7"/>
          <c:tx>
            <c:strRef>
              <c:f>敞口!$BO$2</c:f>
              <c:strCache>
                <c:ptCount val="1"/>
                <c:pt idx="0">
                  <c:v>其他</c:v>
                </c:pt>
              </c:strCache>
            </c:strRef>
          </c:tx>
          <c:spPr>
            <a:solidFill>
              <a:schemeClr val="accent2">
                <a:lumMod val="60000"/>
              </a:schemeClr>
            </a:solidFill>
            <a:ln>
              <a:noFill/>
            </a:ln>
            <a:effectLst/>
          </c:spPr>
          <c:cat>
            <c:numRef>
              <c:f>敞口!$BG$3:$BG$53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敞口!$BO$3:$BO$53</c:f>
              <c:numCache>
                <c:formatCode>0.0%</c:formatCode>
                <c:ptCount val="51"/>
                <c:pt idx="0">
                  <c:v>0</c:v>
                </c:pt>
                <c:pt idx="1">
                  <c:v>0</c:v>
                </c:pt>
                <c:pt idx="2">
                  <c:v>0</c:v>
                </c:pt>
                <c:pt idx="3">
                  <c:v>0</c:v>
                </c:pt>
                <c:pt idx="4">
                  <c:v>0</c:v>
                </c:pt>
                <c:pt idx="5">
                  <c:v>5.046225755360555E-3</c:v>
                </c:pt>
                <c:pt idx="6">
                  <c:v>4.5785006377549679E-3</c:v>
                </c:pt>
                <c:pt idx="7">
                  <c:v>0</c:v>
                </c:pt>
                <c:pt idx="8">
                  <c:v>0</c:v>
                </c:pt>
                <c:pt idx="9">
                  <c:v>0</c:v>
                </c:pt>
                <c:pt idx="10">
                  <c:v>0</c:v>
                </c:pt>
                <c:pt idx="11">
                  <c:v>0</c:v>
                </c:pt>
                <c:pt idx="12">
                  <c:v>0</c:v>
                </c:pt>
                <c:pt idx="13">
                  <c:v>0</c:v>
                </c:pt>
                <c:pt idx="14">
                  <c:v>0</c:v>
                </c:pt>
                <c:pt idx="15">
                  <c:v>0</c:v>
                </c:pt>
                <c:pt idx="16">
                  <c:v>1.42094000700321E-3</c:v>
                </c:pt>
                <c:pt idx="17">
                  <c:v>1.8354709406864899E-3</c:v>
                </c:pt>
                <c:pt idx="18">
                  <c:v>2.1568371210645069E-3</c:v>
                </c:pt>
                <c:pt idx="19">
                  <c:v>5.7545213978543747E-3</c:v>
                </c:pt>
                <c:pt idx="20">
                  <c:v>5.1268683170715046E-4</c:v>
                </c:pt>
                <c:pt idx="21">
                  <c:v>3.1772947695936842E-4</c:v>
                </c:pt>
                <c:pt idx="22">
                  <c:v>3.9099905336125107E-4</c:v>
                </c:pt>
                <c:pt idx="23">
                  <c:v>1.0633030055053459E-4</c:v>
                </c:pt>
                <c:pt idx="24">
                  <c:v>2.283973509868784E-4</c:v>
                </c:pt>
                <c:pt idx="25">
                  <c:v>1.560451306024754E-4</c:v>
                </c:pt>
                <c:pt idx="26">
                  <c:v>1.1674438168343959E-4</c:v>
                </c:pt>
                <c:pt idx="27">
                  <c:v>1.4646895768204729E-4</c:v>
                </c:pt>
                <c:pt idx="28">
                  <c:v>1.859699322063155E-4</c:v>
                </c:pt>
                <c:pt idx="29">
                  <c:v>0</c:v>
                </c:pt>
                <c:pt idx="30">
                  <c:v>0</c:v>
                </c:pt>
                <c:pt idx="31">
                  <c:v>0</c:v>
                </c:pt>
                <c:pt idx="32">
                  <c:v>0</c:v>
                </c:pt>
                <c:pt idx="33">
                  <c:v>0</c:v>
                </c:pt>
                <c:pt idx="34">
                  <c:v>0</c:v>
                </c:pt>
                <c:pt idx="35">
                  <c:v>5.8364518610572553E-3</c:v>
                </c:pt>
                <c:pt idx="36">
                  <c:v>7.676399769105658E-3</c:v>
                </c:pt>
                <c:pt idx="37">
                  <c:v>1.099189955355342E-2</c:v>
                </c:pt>
                <c:pt idx="38">
                  <c:v>9.2811544202322221E-3</c:v>
                </c:pt>
                <c:pt idx="39">
                  <c:v>7.5811761588233046E-3</c:v>
                </c:pt>
                <c:pt idx="40">
                  <c:v>9.3499393603566801E-3</c:v>
                </c:pt>
                <c:pt idx="41">
                  <c:v>1.3445027541388011E-2</c:v>
                </c:pt>
                <c:pt idx="42">
                  <c:v>8.0545913067213547E-3</c:v>
                </c:pt>
                <c:pt idx="43">
                  <c:v>7.1958188208426036E-3</c:v>
                </c:pt>
                <c:pt idx="44">
                  <c:v>7.8397208166018102E-3</c:v>
                </c:pt>
                <c:pt idx="45">
                  <c:v>6.9710880238426712E-3</c:v>
                </c:pt>
                <c:pt idx="46">
                  <c:v>7.3981897616012112E-3</c:v>
                </c:pt>
                <c:pt idx="47">
                  <c:v>1.2078959442582809E-2</c:v>
                </c:pt>
                <c:pt idx="48">
                  <c:v>7.271563297875581E-3</c:v>
                </c:pt>
                <c:pt idx="49">
                  <c:v>1.6139692219464249E-2</c:v>
                </c:pt>
                <c:pt idx="50">
                  <c:v>2.0382544315045381E-2</c:v>
                </c:pt>
              </c:numCache>
            </c:numRef>
          </c:val>
          <c:extLst>
            <c:ext xmlns:c16="http://schemas.microsoft.com/office/drawing/2014/chart" uri="{C3380CC4-5D6E-409C-BE32-E72D297353CC}">
              <c16:uniqueId val="{00000007-5365-4C4A-A1EF-BC5D45ABB9C4}"/>
            </c:ext>
          </c:extLst>
        </c:ser>
        <c:dLbls>
          <c:showLegendKey val="0"/>
          <c:showVal val="0"/>
          <c:showCatName val="0"/>
          <c:showSerName val="0"/>
          <c:showPercent val="0"/>
          <c:showBubbleSize val="0"/>
        </c:dLbls>
        <c:axId val="1155666447"/>
        <c:axId val="1155671439"/>
      </c:areaChart>
      <c:dateAx>
        <c:axId val="1155666447"/>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155671439"/>
        <c:crosses val="autoZero"/>
        <c:auto val="1"/>
        <c:lblOffset val="100"/>
        <c:baseTimeUnit val="months"/>
        <c:majorUnit val="6"/>
        <c:majorTimeUnit val="months"/>
      </c:dateAx>
      <c:valAx>
        <c:axId val="1155671439"/>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155666447"/>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zero"/>
    <c:showDLblsOverMax val="0"/>
  </c:chart>
  <c:spPr>
    <a:solidFill>
      <a:schemeClr val="bg1"/>
    </a:solidFill>
    <a:ln w="9525" cap="flat" cmpd="sng" algn="ctr">
      <a:noFill/>
      <a:round/>
    </a:ln>
    <a:effectLst/>
  </c:spPr>
  <c:txPr>
    <a:bodyPr/>
    <a:lstStyle/>
    <a:p>
      <a:pPr>
        <a:defRPr>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zh-CN" sz="1200" b="1" i="0" baseline="0">
                <a:effectLst/>
              </a:rPr>
              <a:t>地区分布</a:t>
            </a:r>
            <a:r>
              <a:rPr lang="en-US" altLang="zh-CN" sz="1200" b="1" i="0" baseline="0">
                <a:effectLst/>
              </a:rPr>
              <a:t>——</a:t>
            </a:r>
            <a:r>
              <a:rPr lang="zh-CN" altLang="en-US" sz="1200" b="1" i="0" baseline="0">
                <a:effectLst/>
              </a:rPr>
              <a:t>空头</a:t>
            </a:r>
            <a:endParaRPr lang="zh-CN" altLang="zh-CN" sz="1200">
              <a:effectLst/>
            </a:endParaRPr>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areaChart>
        <c:grouping val="stacked"/>
        <c:varyColors val="0"/>
        <c:ser>
          <c:idx val="0"/>
          <c:order val="0"/>
          <c:tx>
            <c:strRef>
              <c:f>敞口!$BQ$2</c:f>
              <c:strCache>
                <c:ptCount val="1"/>
                <c:pt idx="0">
                  <c:v>美国</c:v>
                </c:pt>
              </c:strCache>
            </c:strRef>
          </c:tx>
          <c:spPr>
            <a:solidFill>
              <a:schemeClr val="accent1"/>
            </a:solidFill>
            <a:ln>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敞口!$BQ$3:$BQ$53</c:f>
              <c:numCache>
                <c:formatCode>0.0%</c:formatCode>
                <c:ptCount val="51"/>
                <c:pt idx="0">
                  <c:v>0.42309237749386103</c:v>
                </c:pt>
                <c:pt idx="1">
                  <c:v>0.41872681022295699</c:v>
                </c:pt>
                <c:pt idx="2">
                  <c:v>0.41083111227135061</c:v>
                </c:pt>
                <c:pt idx="3">
                  <c:v>0.44572532309532009</c:v>
                </c:pt>
                <c:pt idx="4">
                  <c:v>0.44184364342946991</c:v>
                </c:pt>
                <c:pt idx="5">
                  <c:v>0.40285448542067798</c:v>
                </c:pt>
                <c:pt idx="6">
                  <c:v>0.44286957765150659</c:v>
                </c:pt>
                <c:pt idx="7">
                  <c:v>0.42154720823430958</c:v>
                </c:pt>
                <c:pt idx="8">
                  <c:v>0.3772145233946046</c:v>
                </c:pt>
                <c:pt idx="9">
                  <c:v>0.38277255211789629</c:v>
                </c:pt>
                <c:pt idx="10">
                  <c:v>0.36465345540821847</c:v>
                </c:pt>
                <c:pt idx="11">
                  <c:v>0.32829489324307348</c:v>
                </c:pt>
                <c:pt idx="12">
                  <c:v>0.34082085821164992</c:v>
                </c:pt>
                <c:pt idx="13">
                  <c:v>0.32497312762797842</c:v>
                </c:pt>
                <c:pt idx="14">
                  <c:v>0.33646117959622468</c:v>
                </c:pt>
                <c:pt idx="15">
                  <c:v>0.34654090182866498</c:v>
                </c:pt>
                <c:pt idx="16">
                  <c:v>0.35146881507949118</c:v>
                </c:pt>
                <c:pt idx="17">
                  <c:v>0.37273951596494759</c:v>
                </c:pt>
                <c:pt idx="18">
                  <c:v>0.37579392964069919</c:v>
                </c:pt>
                <c:pt idx="19">
                  <c:v>0.35467862074940298</c:v>
                </c:pt>
                <c:pt idx="20">
                  <c:v>0.37977956748453062</c:v>
                </c:pt>
                <c:pt idx="21">
                  <c:v>0.39014315512257453</c:v>
                </c:pt>
                <c:pt idx="22">
                  <c:v>0.39018035910650117</c:v>
                </c:pt>
                <c:pt idx="23">
                  <c:v>0.37432883806670819</c:v>
                </c:pt>
                <c:pt idx="24">
                  <c:v>0.36930493356374672</c:v>
                </c:pt>
                <c:pt idx="25">
                  <c:v>0.3867592395104833</c:v>
                </c:pt>
                <c:pt idx="26">
                  <c:v>0.38302168466465819</c:v>
                </c:pt>
                <c:pt idx="27">
                  <c:v>0.37843764043679462</c:v>
                </c:pt>
                <c:pt idx="28">
                  <c:v>0.38652757319081638</c:v>
                </c:pt>
                <c:pt idx="29">
                  <c:v>0.38904847223769101</c:v>
                </c:pt>
                <c:pt idx="30">
                  <c:v>0.40765675497941462</c:v>
                </c:pt>
                <c:pt idx="31">
                  <c:v>0.38651001097330823</c:v>
                </c:pt>
                <c:pt idx="32">
                  <c:v>0.38411395545317362</c:v>
                </c:pt>
                <c:pt idx="33">
                  <c:v>0.43107406336446691</c:v>
                </c:pt>
                <c:pt idx="34">
                  <c:v>0.406290325863993</c:v>
                </c:pt>
                <c:pt idx="35">
                  <c:v>0.42768308869201221</c:v>
                </c:pt>
                <c:pt idx="36">
                  <c:v>0.41454693923910368</c:v>
                </c:pt>
                <c:pt idx="37">
                  <c:v>0.37577929763350609</c:v>
                </c:pt>
                <c:pt idx="38">
                  <c:v>0.40568567263912519</c:v>
                </c:pt>
                <c:pt idx="39">
                  <c:v>0.40143506865987888</c:v>
                </c:pt>
                <c:pt idx="40">
                  <c:v>0.36933740178997182</c:v>
                </c:pt>
                <c:pt idx="41">
                  <c:v>0.36385498454091447</c:v>
                </c:pt>
                <c:pt idx="42">
                  <c:v>0.40831042842893672</c:v>
                </c:pt>
                <c:pt idx="43">
                  <c:v>0.39635185982901661</c:v>
                </c:pt>
                <c:pt idx="44">
                  <c:v>0.4167230609776143</c:v>
                </c:pt>
                <c:pt idx="45">
                  <c:v>0.4220754885833175</c:v>
                </c:pt>
                <c:pt idx="46">
                  <c:v>0.39869698439836188</c:v>
                </c:pt>
                <c:pt idx="47">
                  <c:v>0.39561923155842521</c:v>
                </c:pt>
                <c:pt idx="48">
                  <c:v>0.41826212399285873</c:v>
                </c:pt>
                <c:pt idx="49">
                  <c:v>0.42482138805094638</c:v>
                </c:pt>
                <c:pt idx="50">
                  <c:v>0.43774603292548431</c:v>
                </c:pt>
              </c:numCache>
            </c:numRef>
          </c:val>
          <c:extLst>
            <c:ext xmlns:c16="http://schemas.microsoft.com/office/drawing/2014/chart" uri="{C3380CC4-5D6E-409C-BE32-E72D297353CC}">
              <c16:uniqueId val="{00000000-F5D6-40B8-8C24-E12FFA847B1E}"/>
            </c:ext>
          </c:extLst>
        </c:ser>
        <c:ser>
          <c:idx val="1"/>
          <c:order val="1"/>
          <c:tx>
            <c:strRef>
              <c:f>敞口!$BR$2</c:f>
              <c:strCache>
                <c:ptCount val="1"/>
                <c:pt idx="0">
                  <c:v>中国</c:v>
                </c:pt>
              </c:strCache>
            </c:strRef>
          </c:tx>
          <c:spPr>
            <a:solidFill>
              <a:schemeClr val="accent2"/>
            </a:solidFill>
            <a:ln>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敞口!$BR$3:$BR$53</c:f>
              <c:numCache>
                <c:formatCode>0.0%</c:formatCode>
                <c:ptCount val="51"/>
                <c:pt idx="0">
                  <c:v>0</c:v>
                </c:pt>
                <c:pt idx="1">
                  <c:v>0</c:v>
                </c:pt>
                <c:pt idx="2">
                  <c:v>0</c:v>
                </c:pt>
                <c:pt idx="3">
                  <c:v>0</c:v>
                </c:pt>
                <c:pt idx="4">
                  <c:v>0</c:v>
                </c:pt>
                <c:pt idx="5">
                  <c:v>0</c:v>
                </c:pt>
                <c:pt idx="6">
                  <c:v>0</c:v>
                </c:pt>
                <c:pt idx="7">
                  <c:v>0</c:v>
                </c:pt>
                <c:pt idx="8">
                  <c:v>2.7335122761302901E-3</c:v>
                </c:pt>
                <c:pt idx="9">
                  <c:v>0</c:v>
                </c:pt>
                <c:pt idx="10">
                  <c:v>0</c:v>
                </c:pt>
                <c:pt idx="11">
                  <c:v>5.9036606609468006E-3</c:v>
                </c:pt>
                <c:pt idx="12">
                  <c:v>4.1566131084005489E-3</c:v>
                </c:pt>
                <c:pt idx="13">
                  <c:v>2.7242762366403831E-2</c:v>
                </c:pt>
                <c:pt idx="14">
                  <c:v>2.6452629227347049E-2</c:v>
                </c:pt>
                <c:pt idx="15">
                  <c:v>1.180963552908766E-2</c:v>
                </c:pt>
                <c:pt idx="16">
                  <c:v>3.3348149211330183E-2</c:v>
                </c:pt>
                <c:pt idx="17">
                  <c:v>3.5534767185883442E-2</c:v>
                </c:pt>
                <c:pt idx="18">
                  <c:v>2.565264800243406E-2</c:v>
                </c:pt>
                <c:pt idx="19">
                  <c:v>3.1346622400496543E-2</c:v>
                </c:pt>
                <c:pt idx="20">
                  <c:v>1.7964483750012451E-2</c:v>
                </c:pt>
                <c:pt idx="21">
                  <c:v>9.0170608741511251E-3</c:v>
                </c:pt>
                <c:pt idx="22">
                  <c:v>6.6121689594443086E-3</c:v>
                </c:pt>
                <c:pt idx="23">
                  <c:v>7.126198829891974E-3</c:v>
                </c:pt>
                <c:pt idx="24">
                  <c:v>1.879726588334997E-2</c:v>
                </c:pt>
                <c:pt idx="25">
                  <c:v>8.7879824949551148E-3</c:v>
                </c:pt>
                <c:pt idx="26">
                  <c:v>1.3421079983318601E-2</c:v>
                </c:pt>
                <c:pt idx="27">
                  <c:v>1.842876878626919E-2</c:v>
                </c:pt>
                <c:pt idx="28">
                  <c:v>1.9908802783356321E-2</c:v>
                </c:pt>
                <c:pt idx="29">
                  <c:v>1.374009780273679E-2</c:v>
                </c:pt>
                <c:pt idx="30">
                  <c:v>0</c:v>
                </c:pt>
                <c:pt idx="31">
                  <c:v>0</c:v>
                </c:pt>
                <c:pt idx="32">
                  <c:v>0</c:v>
                </c:pt>
                <c:pt idx="33">
                  <c:v>4.7004869292095143E-3</c:v>
                </c:pt>
                <c:pt idx="34">
                  <c:v>1.144163612135525E-2</c:v>
                </c:pt>
                <c:pt idx="35">
                  <c:v>0</c:v>
                </c:pt>
                <c:pt idx="36">
                  <c:v>7.102116759460585E-3</c:v>
                </c:pt>
                <c:pt idx="37">
                  <c:v>1.9536856833101031E-2</c:v>
                </c:pt>
                <c:pt idx="38">
                  <c:v>0</c:v>
                </c:pt>
                <c:pt idx="39">
                  <c:v>0</c:v>
                </c:pt>
                <c:pt idx="40">
                  <c:v>1.2239480761460751E-2</c:v>
                </c:pt>
                <c:pt idx="41">
                  <c:v>1.3374329403577171E-2</c:v>
                </c:pt>
                <c:pt idx="42">
                  <c:v>1.7187031569079251E-2</c:v>
                </c:pt>
                <c:pt idx="43">
                  <c:v>0</c:v>
                </c:pt>
                <c:pt idx="44">
                  <c:v>0</c:v>
                </c:pt>
                <c:pt idx="45">
                  <c:v>0</c:v>
                </c:pt>
                <c:pt idx="46">
                  <c:v>0</c:v>
                </c:pt>
                <c:pt idx="47">
                  <c:v>0</c:v>
                </c:pt>
                <c:pt idx="48">
                  <c:v>0</c:v>
                </c:pt>
                <c:pt idx="49">
                  <c:v>3.352087096815998E-3</c:v>
                </c:pt>
                <c:pt idx="50">
                  <c:v>2.1276349629897259E-2</c:v>
                </c:pt>
              </c:numCache>
            </c:numRef>
          </c:val>
          <c:extLst>
            <c:ext xmlns:c16="http://schemas.microsoft.com/office/drawing/2014/chart" uri="{C3380CC4-5D6E-409C-BE32-E72D297353CC}">
              <c16:uniqueId val="{00000001-F5D6-40B8-8C24-E12FFA847B1E}"/>
            </c:ext>
          </c:extLst>
        </c:ser>
        <c:ser>
          <c:idx val="2"/>
          <c:order val="2"/>
          <c:tx>
            <c:strRef>
              <c:f>敞口!$BS$2</c:f>
              <c:strCache>
                <c:ptCount val="1"/>
                <c:pt idx="0">
                  <c:v>日本</c:v>
                </c:pt>
              </c:strCache>
            </c:strRef>
          </c:tx>
          <c:spPr>
            <a:solidFill>
              <a:schemeClr val="accent3"/>
            </a:solidFill>
            <a:ln>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敞口!$BS$3:$BS$53</c:f>
              <c:numCache>
                <c:formatCode>0.0%</c:formatCode>
                <c:ptCount val="51"/>
                <c:pt idx="0">
                  <c:v>0</c:v>
                </c:pt>
                <c:pt idx="1">
                  <c:v>0</c:v>
                </c:pt>
                <c:pt idx="2">
                  <c:v>0</c:v>
                </c:pt>
                <c:pt idx="3">
                  <c:v>0</c:v>
                </c:pt>
                <c:pt idx="4">
                  <c:v>0</c:v>
                </c:pt>
                <c:pt idx="5">
                  <c:v>0</c:v>
                </c:pt>
                <c:pt idx="6">
                  <c:v>0</c:v>
                </c:pt>
                <c:pt idx="7">
                  <c:v>1.101285371036397E-2</c:v>
                </c:pt>
                <c:pt idx="8">
                  <c:v>1.668196515572494E-2</c:v>
                </c:pt>
                <c:pt idx="9">
                  <c:v>0</c:v>
                </c:pt>
                <c:pt idx="10">
                  <c:v>0</c:v>
                </c:pt>
                <c:pt idx="11">
                  <c:v>0</c:v>
                </c:pt>
                <c:pt idx="12">
                  <c:v>0</c:v>
                </c:pt>
                <c:pt idx="13">
                  <c:v>1.496980729519014E-2</c:v>
                </c:pt>
                <c:pt idx="14">
                  <c:v>4.0565060762727992E-2</c:v>
                </c:pt>
                <c:pt idx="15">
                  <c:v>1.4956531692722361E-2</c:v>
                </c:pt>
                <c:pt idx="16">
                  <c:v>5.5321996275559454E-3</c:v>
                </c:pt>
                <c:pt idx="17">
                  <c:v>0</c:v>
                </c:pt>
                <c:pt idx="18">
                  <c:v>2.8315107465207739E-2</c:v>
                </c:pt>
                <c:pt idx="19">
                  <c:v>2.367070048933782E-2</c:v>
                </c:pt>
                <c:pt idx="20">
                  <c:v>2.1979700600524728E-2</c:v>
                </c:pt>
                <c:pt idx="21">
                  <c:v>1.806555878955924E-2</c:v>
                </c:pt>
                <c:pt idx="22">
                  <c:v>1.193737694894108E-2</c:v>
                </c:pt>
                <c:pt idx="23">
                  <c:v>1.0173262760625581E-2</c:v>
                </c:pt>
                <c:pt idx="24">
                  <c:v>1.1798967612747459E-2</c:v>
                </c:pt>
                <c:pt idx="25">
                  <c:v>1.2162421088674E-2</c:v>
                </c:pt>
                <c:pt idx="26">
                  <c:v>8.7940896747151932E-3</c:v>
                </c:pt>
                <c:pt idx="27">
                  <c:v>1.8976865766878018E-2</c:v>
                </c:pt>
                <c:pt idx="28">
                  <c:v>1.27407047080149E-2</c:v>
                </c:pt>
                <c:pt idx="29">
                  <c:v>1.0737520601407339E-2</c:v>
                </c:pt>
                <c:pt idx="30">
                  <c:v>1.1788938425046681E-2</c:v>
                </c:pt>
                <c:pt idx="31">
                  <c:v>2.0938388732463981E-2</c:v>
                </c:pt>
                <c:pt idx="32">
                  <c:v>2.716010803895454E-2</c:v>
                </c:pt>
                <c:pt idx="33">
                  <c:v>1.1674086612268649E-2</c:v>
                </c:pt>
                <c:pt idx="34">
                  <c:v>5.637330520876992E-3</c:v>
                </c:pt>
                <c:pt idx="35">
                  <c:v>2.013347990587265E-3</c:v>
                </c:pt>
                <c:pt idx="36">
                  <c:v>3.5442608673092262E-3</c:v>
                </c:pt>
                <c:pt idx="37">
                  <c:v>2.3029054273665749E-3</c:v>
                </c:pt>
                <c:pt idx="38">
                  <c:v>6.3985348780182189E-3</c:v>
                </c:pt>
                <c:pt idx="39">
                  <c:v>3.7889742942166481E-3</c:v>
                </c:pt>
                <c:pt idx="40">
                  <c:v>9.5433513233961764E-3</c:v>
                </c:pt>
                <c:pt idx="41">
                  <c:v>1.846782553164052E-2</c:v>
                </c:pt>
                <c:pt idx="42">
                  <c:v>1.872662669268518E-2</c:v>
                </c:pt>
                <c:pt idx="43">
                  <c:v>1.1682676702634689E-2</c:v>
                </c:pt>
                <c:pt idx="44">
                  <c:v>1.6507069674536301E-2</c:v>
                </c:pt>
                <c:pt idx="45">
                  <c:v>4.5719566297109532E-4</c:v>
                </c:pt>
                <c:pt idx="46">
                  <c:v>1.443266915159218E-2</c:v>
                </c:pt>
                <c:pt idx="47">
                  <c:v>1.428044995827623E-2</c:v>
                </c:pt>
                <c:pt idx="48">
                  <c:v>1.152204058142693E-2</c:v>
                </c:pt>
                <c:pt idx="49">
                  <c:v>4.1732654594633491E-3</c:v>
                </c:pt>
                <c:pt idx="50">
                  <c:v>7.7589994014985652E-3</c:v>
                </c:pt>
              </c:numCache>
            </c:numRef>
          </c:val>
          <c:extLst>
            <c:ext xmlns:c16="http://schemas.microsoft.com/office/drawing/2014/chart" uri="{C3380CC4-5D6E-409C-BE32-E72D297353CC}">
              <c16:uniqueId val="{00000002-F5D6-40B8-8C24-E12FFA847B1E}"/>
            </c:ext>
          </c:extLst>
        </c:ser>
        <c:ser>
          <c:idx val="3"/>
          <c:order val="3"/>
          <c:tx>
            <c:strRef>
              <c:f>敞口!$BT$2</c:f>
              <c:strCache>
                <c:ptCount val="1"/>
                <c:pt idx="0">
                  <c:v>韩国</c:v>
                </c:pt>
              </c:strCache>
            </c:strRef>
          </c:tx>
          <c:spPr>
            <a:solidFill>
              <a:schemeClr val="accent4"/>
            </a:solidFill>
            <a:ln>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敞口!$BT$3:$BT$53</c:f>
              <c:numCache>
                <c:formatCode>0.0%</c:formatCode>
                <c:ptCount val="51"/>
                <c:pt idx="0">
                  <c:v>0</c:v>
                </c:pt>
                <c:pt idx="1">
                  <c:v>0</c:v>
                </c:pt>
                <c:pt idx="2">
                  <c:v>0</c:v>
                </c:pt>
                <c:pt idx="3">
                  <c:v>0</c:v>
                </c:pt>
                <c:pt idx="4">
                  <c:v>0</c:v>
                </c:pt>
                <c:pt idx="5">
                  <c:v>0</c:v>
                </c:pt>
                <c:pt idx="6">
                  <c:v>0</c:v>
                </c:pt>
                <c:pt idx="7">
                  <c:v>0</c:v>
                </c:pt>
                <c:pt idx="8">
                  <c:v>0</c:v>
                </c:pt>
                <c:pt idx="9">
                  <c:v>0</c:v>
                </c:pt>
                <c:pt idx="10">
                  <c:v>0</c:v>
                </c:pt>
                <c:pt idx="11">
                  <c:v>0</c:v>
                </c:pt>
                <c:pt idx="12">
                  <c:v>0</c:v>
                </c:pt>
                <c:pt idx="13">
                  <c:v>1.4397760867791289E-2</c:v>
                </c:pt>
                <c:pt idx="14">
                  <c:v>2.0181238648715641E-2</c:v>
                </c:pt>
                <c:pt idx="15">
                  <c:v>1.8625015744970309E-2</c:v>
                </c:pt>
                <c:pt idx="16">
                  <c:v>2.48897564084135E-2</c:v>
                </c:pt>
                <c:pt idx="17">
                  <c:v>7.2324245550606583E-3</c:v>
                </c:pt>
                <c:pt idx="18">
                  <c:v>8.1924934943220055E-3</c:v>
                </c:pt>
                <c:pt idx="19">
                  <c:v>6.6930900312902296E-3</c:v>
                </c:pt>
                <c:pt idx="20">
                  <c:v>8.4791335119328709E-3</c:v>
                </c:pt>
                <c:pt idx="21">
                  <c:v>1.9067582743074931E-2</c:v>
                </c:pt>
                <c:pt idx="22">
                  <c:v>4.8765175658845219E-3</c:v>
                </c:pt>
                <c:pt idx="23">
                  <c:v>1.2020356750979601E-2</c:v>
                </c:pt>
                <c:pt idx="24">
                  <c:v>8.978490096703047E-3</c:v>
                </c:pt>
                <c:pt idx="25">
                  <c:v>4.315141076148778E-3</c:v>
                </c:pt>
                <c:pt idx="26">
                  <c:v>3.055042746414677E-3</c:v>
                </c:pt>
                <c:pt idx="27">
                  <c:v>0</c:v>
                </c:pt>
                <c:pt idx="28">
                  <c:v>0</c:v>
                </c:pt>
                <c:pt idx="29">
                  <c:v>1.3738710761880459E-2</c:v>
                </c:pt>
                <c:pt idx="30">
                  <c:v>2.5952474384715088E-3</c:v>
                </c:pt>
                <c:pt idx="31">
                  <c:v>6.2575937819436796E-3</c:v>
                </c:pt>
                <c:pt idx="32">
                  <c:v>5.0981704972938883E-3</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numCache>
            </c:numRef>
          </c:val>
          <c:extLst>
            <c:ext xmlns:c16="http://schemas.microsoft.com/office/drawing/2014/chart" uri="{C3380CC4-5D6E-409C-BE32-E72D297353CC}">
              <c16:uniqueId val="{00000003-F5D6-40B8-8C24-E12FFA847B1E}"/>
            </c:ext>
          </c:extLst>
        </c:ser>
        <c:ser>
          <c:idx val="4"/>
          <c:order val="4"/>
          <c:tx>
            <c:strRef>
              <c:f>敞口!$BU$2</c:f>
              <c:strCache>
                <c:ptCount val="1"/>
                <c:pt idx="0">
                  <c:v>台湾</c:v>
                </c:pt>
              </c:strCache>
            </c:strRef>
          </c:tx>
          <c:spPr>
            <a:solidFill>
              <a:schemeClr val="accent5"/>
            </a:solidFill>
            <a:ln>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敞口!$BU$3:$BU$53</c:f>
              <c:numCache>
                <c:formatCode>0.0%</c:formatCode>
                <c:ptCount val="51"/>
                <c:pt idx="0">
                  <c:v>0</c:v>
                </c:pt>
                <c:pt idx="1">
                  <c:v>1.7057857844479399E-2</c:v>
                </c:pt>
                <c:pt idx="2">
                  <c:v>0</c:v>
                </c:pt>
                <c:pt idx="3">
                  <c:v>0</c:v>
                </c:pt>
                <c:pt idx="4">
                  <c:v>0</c:v>
                </c:pt>
                <c:pt idx="5">
                  <c:v>0</c:v>
                </c:pt>
                <c:pt idx="6">
                  <c:v>1.625055478360455E-2</c:v>
                </c:pt>
                <c:pt idx="7">
                  <c:v>1.316115303103786E-2</c:v>
                </c:pt>
                <c:pt idx="8">
                  <c:v>3.4507765759592107E-2</c:v>
                </c:pt>
                <c:pt idx="9">
                  <c:v>3.526733032634586E-2</c:v>
                </c:pt>
                <c:pt idx="10">
                  <c:v>3.0532314839602899E-2</c:v>
                </c:pt>
                <c:pt idx="11">
                  <c:v>4.5777335775283902E-2</c:v>
                </c:pt>
                <c:pt idx="12">
                  <c:v>4.9813996002390039E-2</c:v>
                </c:pt>
                <c:pt idx="13">
                  <c:v>3.3500656814959368E-2</c:v>
                </c:pt>
                <c:pt idx="14">
                  <c:v>3.0332304994059998E-2</c:v>
                </c:pt>
                <c:pt idx="15">
                  <c:v>3.0498770864111551E-2</c:v>
                </c:pt>
                <c:pt idx="16">
                  <c:v>1.369486310671696E-2</c:v>
                </c:pt>
                <c:pt idx="17">
                  <c:v>0</c:v>
                </c:pt>
                <c:pt idx="18">
                  <c:v>0</c:v>
                </c:pt>
                <c:pt idx="19">
                  <c:v>2.7926380273225741E-2</c:v>
                </c:pt>
                <c:pt idx="20">
                  <c:v>2.458674504802633E-2</c:v>
                </c:pt>
                <c:pt idx="21">
                  <c:v>1.796248369676107E-2</c:v>
                </c:pt>
                <c:pt idx="22">
                  <c:v>3.4020040019423943E-2</c:v>
                </c:pt>
                <c:pt idx="23">
                  <c:v>2.7104730707613291E-2</c:v>
                </c:pt>
                <c:pt idx="24">
                  <c:v>2.2287887258172202E-2</c:v>
                </c:pt>
                <c:pt idx="25">
                  <c:v>1.852052646176252E-2</c:v>
                </c:pt>
                <c:pt idx="26">
                  <c:v>1.9717913518083101E-2</c:v>
                </c:pt>
                <c:pt idx="27">
                  <c:v>2.3616599665578442E-2</c:v>
                </c:pt>
                <c:pt idx="28">
                  <c:v>1.789279011036812E-2</c:v>
                </c:pt>
                <c:pt idx="29">
                  <c:v>1.6276632784989309E-2</c:v>
                </c:pt>
                <c:pt idx="30">
                  <c:v>1.6001038937670499E-2</c:v>
                </c:pt>
                <c:pt idx="31">
                  <c:v>2.821763725094234E-2</c:v>
                </c:pt>
                <c:pt idx="32">
                  <c:v>2.1375291474258869E-2</c:v>
                </c:pt>
                <c:pt idx="33">
                  <c:v>1.7095038841915201E-2</c:v>
                </c:pt>
                <c:pt idx="34">
                  <c:v>2.0182463817703361E-2</c:v>
                </c:pt>
                <c:pt idx="35">
                  <c:v>1.539881303500281E-2</c:v>
                </c:pt>
                <c:pt idx="36">
                  <c:v>2.9584545003258991E-2</c:v>
                </c:pt>
                <c:pt idx="37">
                  <c:v>3.2265973673818539E-2</c:v>
                </c:pt>
                <c:pt idx="38">
                  <c:v>1.938102864686932E-2</c:v>
                </c:pt>
                <c:pt idx="39">
                  <c:v>1.202806479506462E-2</c:v>
                </c:pt>
                <c:pt idx="40">
                  <c:v>1.2806801887912091E-2</c:v>
                </c:pt>
                <c:pt idx="41">
                  <c:v>1.7548989160650879E-2</c:v>
                </c:pt>
                <c:pt idx="42">
                  <c:v>1.054899794908643E-2</c:v>
                </c:pt>
                <c:pt idx="43">
                  <c:v>1.226343740446381E-2</c:v>
                </c:pt>
                <c:pt idx="44">
                  <c:v>1.01946784305866E-2</c:v>
                </c:pt>
                <c:pt idx="45">
                  <c:v>2.048749831154921E-2</c:v>
                </c:pt>
                <c:pt idx="46">
                  <c:v>2.4458942122998071E-2</c:v>
                </c:pt>
                <c:pt idx="47">
                  <c:v>2.1785291216789082E-2</c:v>
                </c:pt>
                <c:pt idx="48">
                  <c:v>2.029219257759975E-2</c:v>
                </c:pt>
                <c:pt idx="49">
                  <c:v>1.395847140580676E-2</c:v>
                </c:pt>
                <c:pt idx="50">
                  <c:v>1.1970356871941781E-2</c:v>
                </c:pt>
              </c:numCache>
            </c:numRef>
          </c:val>
          <c:extLst>
            <c:ext xmlns:c16="http://schemas.microsoft.com/office/drawing/2014/chart" uri="{C3380CC4-5D6E-409C-BE32-E72D297353CC}">
              <c16:uniqueId val="{00000004-F5D6-40B8-8C24-E12FFA847B1E}"/>
            </c:ext>
          </c:extLst>
        </c:ser>
        <c:ser>
          <c:idx val="5"/>
          <c:order val="5"/>
          <c:tx>
            <c:strRef>
              <c:f>敞口!$BV$2</c:f>
              <c:strCache>
                <c:ptCount val="1"/>
                <c:pt idx="0">
                  <c:v>亚洲其他</c:v>
                </c:pt>
              </c:strCache>
            </c:strRef>
          </c:tx>
          <c:spPr>
            <a:solidFill>
              <a:schemeClr val="accent6"/>
            </a:solidFill>
            <a:ln>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敞口!$BV$3:$BV$53</c:f>
              <c:numCache>
                <c:formatCode>0.0%</c:formatCode>
                <c:ptCount val="51"/>
                <c:pt idx="0">
                  <c:v>0</c:v>
                </c:pt>
                <c:pt idx="1">
                  <c:v>0</c:v>
                </c:pt>
                <c:pt idx="2">
                  <c:v>1.1890213790208151E-2</c:v>
                </c:pt>
                <c:pt idx="3">
                  <c:v>1.303522178361812E-2</c:v>
                </c:pt>
                <c:pt idx="4">
                  <c:v>0</c:v>
                </c:pt>
                <c:pt idx="5">
                  <c:v>0</c:v>
                </c:pt>
                <c:pt idx="6">
                  <c:v>0</c:v>
                </c:pt>
                <c:pt idx="7">
                  <c:v>0</c:v>
                </c:pt>
                <c:pt idx="8">
                  <c:v>0</c:v>
                </c:pt>
                <c:pt idx="9">
                  <c:v>0</c:v>
                </c:pt>
                <c:pt idx="10">
                  <c:v>0</c:v>
                </c:pt>
                <c:pt idx="11">
                  <c:v>8.7733623991569365E-3</c:v>
                </c:pt>
                <c:pt idx="12">
                  <c:v>1.0487292718561997E-2</c:v>
                </c:pt>
                <c:pt idx="13">
                  <c:v>0</c:v>
                </c:pt>
                <c:pt idx="14">
                  <c:v>0</c:v>
                </c:pt>
                <c:pt idx="15">
                  <c:v>1.3935296069652117E-2</c:v>
                </c:pt>
                <c:pt idx="16">
                  <c:v>5.2615845996498989E-3</c:v>
                </c:pt>
                <c:pt idx="17">
                  <c:v>2.6223017057445459E-2</c:v>
                </c:pt>
                <c:pt idx="18">
                  <c:v>9.9741869150771212E-3</c:v>
                </c:pt>
                <c:pt idx="19">
                  <c:v>1.003163853937053E-2</c:v>
                </c:pt>
                <c:pt idx="20">
                  <c:v>1.3139360678096179E-2</c:v>
                </c:pt>
                <c:pt idx="21">
                  <c:v>1.180717377491608E-2</c:v>
                </c:pt>
                <c:pt idx="22">
                  <c:v>2.6856930534680794E-2</c:v>
                </c:pt>
                <c:pt idx="23">
                  <c:v>2.7810078458824536E-2</c:v>
                </c:pt>
                <c:pt idx="24">
                  <c:v>3.3332454089107469E-2</c:v>
                </c:pt>
                <c:pt idx="25">
                  <c:v>2.0576003372347426E-2</c:v>
                </c:pt>
                <c:pt idx="26">
                  <c:v>9.0797846283584283E-3</c:v>
                </c:pt>
                <c:pt idx="27">
                  <c:v>0</c:v>
                </c:pt>
                <c:pt idx="28">
                  <c:v>4.6094883862888986E-3</c:v>
                </c:pt>
                <c:pt idx="29">
                  <c:v>1.1163727360594594E-2</c:v>
                </c:pt>
                <c:pt idx="30">
                  <c:v>2.1451252753572646E-2</c:v>
                </c:pt>
                <c:pt idx="31">
                  <c:v>1.0074009438123685E-2</c:v>
                </c:pt>
                <c:pt idx="32">
                  <c:v>7.0788436895410645E-3</c:v>
                </c:pt>
                <c:pt idx="33">
                  <c:v>3.9127432376694082E-3</c:v>
                </c:pt>
                <c:pt idx="34">
                  <c:v>0</c:v>
                </c:pt>
                <c:pt idx="35">
                  <c:v>2.2595769848220044E-3</c:v>
                </c:pt>
                <c:pt idx="36">
                  <c:v>6.9575194954971248E-3</c:v>
                </c:pt>
                <c:pt idx="37">
                  <c:v>7.9589783236132597E-3</c:v>
                </c:pt>
                <c:pt idx="38">
                  <c:v>1.103371609797053E-2</c:v>
                </c:pt>
                <c:pt idx="39">
                  <c:v>1.7141197649184453E-2</c:v>
                </c:pt>
                <c:pt idx="40">
                  <c:v>2.4707326463834042E-2</c:v>
                </c:pt>
                <c:pt idx="41">
                  <c:v>2.2465940916230817E-2</c:v>
                </c:pt>
                <c:pt idx="42">
                  <c:v>1.9325070784852946E-3</c:v>
                </c:pt>
                <c:pt idx="43">
                  <c:v>1.2727804192741402E-2</c:v>
                </c:pt>
                <c:pt idx="44">
                  <c:v>0</c:v>
                </c:pt>
                <c:pt idx="45">
                  <c:v>3.6281598477933066E-3</c:v>
                </c:pt>
                <c:pt idx="46">
                  <c:v>0</c:v>
                </c:pt>
                <c:pt idx="47">
                  <c:v>1.345908411163959E-2</c:v>
                </c:pt>
                <c:pt idx="48">
                  <c:v>1.3904263040641643E-2</c:v>
                </c:pt>
                <c:pt idx="49">
                  <c:v>2.387150399252972E-3</c:v>
                </c:pt>
                <c:pt idx="50">
                  <c:v>7.4398340331412946E-3</c:v>
                </c:pt>
              </c:numCache>
            </c:numRef>
          </c:val>
          <c:extLst>
            <c:ext xmlns:c16="http://schemas.microsoft.com/office/drawing/2014/chart" uri="{C3380CC4-5D6E-409C-BE32-E72D297353CC}">
              <c16:uniqueId val="{00000005-F5D6-40B8-8C24-E12FFA847B1E}"/>
            </c:ext>
          </c:extLst>
        </c:ser>
        <c:ser>
          <c:idx val="6"/>
          <c:order val="6"/>
          <c:tx>
            <c:strRef>
              <c:f>敞口!$BW$2</c:f>
              <c:strCache>
                <c:ptCount val="1"/>
                <c:pt idx="0">
                  <c:v>西欧</c:v>
                </c:pt>
              </c:strCache>
            </c:strRef>
          </c:tx>
          <c:spPr>
            <a:solidFill>
              <a:schemeClr val="accent1">
                <a:lumMod val="60000"/>
              </a:schemeClr>
            </a:solidFill>
            <a:ln>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敞口!$BW$3:$BW$53</c:f>
              <c:numCache>
                <c:formatCode>0.0%</c:formatCode>
                <c:ptCount val="51"/>
                <c:pt idx="0">
                  <c:v>4.2056003977002293E-2</c:v>
                </c:pt>
                <c:pt idx="1">
                  <c:v>2.8690405548059059E-2</c:v>
                </c:pt>
                <c:pt idx="2">
                  <c:v>4.5415642209366273E-2</c:v>
                </c:pt>
                <c:pt idx="3">
                  <c:v>2.2099142436283841E-2</c:v>
                </c:pt>
                <c:pt idx="4">
                  <c:v>2.8385287740796138E-2</c:v>
                </c:pt>
                <c:pt idx="5">
                  <c:v>4.7400409410816927E-2</c:v>
                </c:pt>
                <c:pt idx="6">
                  <c:v>3.4350565363747018E-2</c:v>
                </c:pt>
                <c:pt idx="7">
                  <c:v>2.305158936948213E-2</c:v>
                </c:pt>
                <c:pt idx="8">
                  <c:v>2.9047432032870101E-2</c:v>
                </c:pt>
                <c:pt idx="9">
                  <c:v>4.743027479603483E-2</c:v>
                </c:pt>
                <c:pt idx="10">
                  <c:v>5.0980891280041428E-2</c:v>
                </c:pt>
                <c:pt idx="11">
                  <c:v>5.0454378660313819E-2</c:v>
                </c:pt>
                <c:pt idx="12">
                  <c:v>4.8372970917753923E-2</c:v>
                </c:pt>
                <c:pt idx="13">
                  <c:v>2.876265227206902E-2</c:v>
                </c:pt>
                <c:pt idx="14">
                  <c:v>3.019861961041349E-2</c:v>
                </c:pt>
                <c:pt idx="15">
                  <c:v>2.2486617129206399E-2</c:v>
                </c:pt>
                <c:pt idx="16">
                  <c:v>2.3679960474797479E-2</c:v>
                </c:pt>
                <c:pt idx="17">
                  <c:v>1.8423927092660459E-2</c:v>
                </c:pt>
                <c:pt idx="18">
                  <c:v>2.922759208142969E-2</c:v>
                </c:pt>
                <c:pt idx="19">
                  <c:v>2.996090647988826E-2</c:v>
                </c:pt>
                <c:pt idx="20">
                  <c:v>2.9283058392940511E-2</c:v>
                </c:pt>
                <c:pt idx="21">
                  <c:v>3.9606482040869861E-2</c:v>
                </c:pt>
                <c:pt idx="22">
                  <c:v>2.580984483151897E-2</c:v>
                </c:pt>
                <c:pt idx="23">
                  <c:v>2.568247149073297E-2</c:v>
                </c:pt>
                <c:pt idx="24">
                  <c:v>2.5537864732578248E-2</c:v>
                </c:pt>
                <c:pt idx="25">
                  <c:v>4.4840124665466177E-2</c:v>
                </c:pt>
                <c:pt idx="26">
                  <c:v>4.883034365691178E-2</c:v>
                </c:pt>
                <c:pt idx="27">
                  <c:v>2.4733426077983268E-2</c:v>
                </c:pt>
                <c:pt idx="28">
                  <c:v>3.4866985083344258E-2</c:v>
                </c:pt>
                <c:pt idx="29">
                  <c:v>3.3299627947338761E-2</c:v>
                </c:pt>
                <c:pt idx="30">
                  <c:v>2.449001078170299E-2</c:v>
                </c:pt>
                <c:pt idx="31">
                  <c:v>3.1454478720645968E-2</c:v>
                </c:pt>
                <c:pt idx="32">
                  <c:v>3.2612918807475182E-2</c:v>
                </c:pt>
                <c:pt idx="33">
                  <c:v>2.5090020611632902E-2</c:v>
                </c:pt>
                <c:pt idx="34">
                  <c:v>5.410962490911219E-2</c:v>
                </c:pt>
                <c:pt idx="35">
                  <c:v>2.26302176473724E-2</c:v>
                </c:pt>
                <c:pt idx="36">
                  <c:v>1.165273478649618E-2</c:v>
                </c:pt>
                <c:pt idx="37">
                  <c:v>3.3570259890110289E-2</c:v>
                </c:pt>
                <c:pt idx="38">
                  <c:v>2.6580459567317721E-2</c:v>
                </c:pt>
                <c:pt idx="39">
                  <c:v>4.1251085420390667E-2</c:v>
                </c:pt>
                <c:pt idx="40">
                  <c:v>5.3004072238457767E-2</c:v>
                </c:pt>
                <c:pt idx="41">
                  <c:v>5.1074639132894603E-2</c:v>
                </c:pt>
                <c:pt idx="42">
                  <c:v>3.3171733212743852E-2</c:v>
                </c:pt>
                <c:pt idx="43">
                  <c:v>3.7529050594367418E-2</c:v>
                </c:pt>
                <c:pt idx="44">
                  <c:v>2.7266382555943939E-2</c:v>
                </c:pt>
                <c:pt idx="45">
                  <c:v>2.7226843362458172E-2</c:v>
                </c:pt>
                <c:pt idx="46">
                  <c:v>3.9588584784925523E-2</c:v>
                </c:pt>
                <c:pt idx="47">
                  <c:v>2.7473086048069261E-2</c:v>
                </c:pt>
                <c:pt idx="48">
                  <c:v>1.72896411682548E-2</c:v>
                </c:pt>
                <c:pt idx="49">
                  <c:v>1.958057254329959E-2</c:v>
                </c:pt>
                <c:pt idx="50">
                  <c:v>4.1041450271378753E-3</c:v>
                </c:pt>
              </c:numCache>
            </c:numRef>
          </c:val>
          <c:extLst>
            <c:ext xmlns:c16="http://schemas.microsoft.com/office/drawing/2014/chart" uri="{C3380CC4-5D6E-409C-BE32-E72D297353CC}">
              <c16:uniqueId val="{00000006-F5D6-40B8-8C24-E12FFA847B1E}"/>
            </c:ext>
          </c:extLst>
        </c:ser>
        <c:ser>
          <c:idx val="7"/>
          <c:order val="7"/>
          <c:tx>
            <c:strRef>
              <c:f>敞口!$BX$2</c:f>
              <c:strCache>
                <c:ptCount val="1"/>
                <c:pt idx="0">
                  <c:v>其他</c:v>
                </c:pt>
              </c:strCache>
            </c:strRef>
          </c:tx>
          <c:spPr>
            <a:solidFill>
              <a:schemeClr val="accent2">
                <a:lumMod val="60000"/>
              </a:schemeClr>
            </a:solidFill>
            <a:ln>
              <a:noFill/>
            </a:ln>
            <a:effectLst/>
          </c:spPr>
          <c:cat>
            <c:numRef>
              <c:f>敞口!$BP$3:$BP$53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敞口!$BX$3:$BX$53</c:f>
              <c:numCache>
                <c:formatCode>0.0%</c:formatCode>
                <c:ptCount val="51"/>
                <c:pt idx="0">
                  <c:v>1.0521273082009879E-2</c:v>
                </c:pt>
                <c:pt idx="1">
                  <c:v>0</c:v>
                </c:pt>
                <c:pt idx="2">
                  <c:v>0</c:v>
                </c:pt>
                <c:pt idx="3">
                  <c:v>0</c:v>
                </c:pt>
                <c:pt idx="4">
                  <c:v>5.2032288168118212E-3</c:v>
                </c:pt>
                <c:pt idx="5">
                  <c:v>2.070899408532937E-2</c:v>
                </c:pt>
                <c:pt idx="6">
                  <c:v>7.5087205581232767E-3</c:v>
                </c:pt>
                <c:pt idx="7">
                  <c:v>0</c:v>
                </c:pt>
                <c:pt idx="8">
                  <c:v>1.0915443648932901E-2</c:v>
                </c:pt>
                <c:pt idx="9">
                  <c:v>8.8038737908167578E-3</c:v>
                </c:pt>
                <c:pt idx="10">
                  <c:v>1.4412440009862819E-2</c:v>
                </c:pt>
                <c:pt idx="11">
                  <c:v>1.6647885219184561E-2</c:v>
                </c:pt>
                <c:pt idx="12">
                  <c:v>0</c:v>
                </c:pt>
                <c:pt idx="13">
                  <c:v>1.066761921605602E-2</c:v>
                </c:pt>
                <c:pt idx="14">
                  <c:v>0</c:v>
                </c:pt>
                <c:pt idx="15">
                  <c:v>0</c:v>
                </c:pt>
                <c:pt idx="16">
                  <c:v>8.1095048148163203E-3</c:v>
                </c:pt>
                <c:pt idx="17">
                  <c:v>0</c:v>
                </c:pt>
                <c:pt idx="18">
                  <c:v>0</c:v>
                </c:pt>
                <c:pt idx="19">
                  <c:v>0</c:v>
                </c:pt>
                <c:pt idx="20">
                  <c:v>0</c:v>
                </c:pt>
                <c:pt idx="21">
                  <c:v>0</c:v>
                </c:pt>
                <c:pt idx="22">
                  <c:v>0</c:v>
                </c:pt>
                <c:pt idx="23">
                  <c:v>0</c:v>
                </c:pt>
                <c:pt idx="24">
                  <c:v>0</c:v>
                </c:pt>
                <c:pt idx="25">
                  <c:v>0</c:v>
                </c:pt>
                <c:pt idx="26">
                  <c:v>0</c:v>
                </c:pt>
                <c:pt idx="27">
                  <c:v>1.239711221934745E-2</c:v>
                </c:pt>
                <c:pt idx="28">
                  <c:v>0</c:v>
                </c:pt>
                <c:pt idx="29">
                  <c:v>0</c:v>
                </c:pt>
                <c:pt idx="30">
                  <c:v>0</c:v>
                </c:pt>
                <c:pt idx="31">
                  <c:v>0</c:v>
                </c:pt>
                <c:pt idx="32">
                  <c:v>0</c:v>
                </c:pt>
                <c:pt idx="33">
                  <c:v>0</c:v>
                </c:pt>
                <c:pt idx="34">
                  <c:v>0</c:v>
                </c:pt>
                <c:pt idx="35">
                  <c:v>0</c:v>
                </c:pt>
                <c:pt idx="36">
                  <c:v>0</c:v>
                </c:pt>
                <c:pt idx="37">
                  <c:v>5.1134504361273446E-3</c:v>
                </c:pt>
                <c:pt idx="38">
                  <c:v>0</c:v>
                </c:pt>
                <c:pt idx="39">
                  <c:v>0</c:v>
                </c:pt>
                <c:pt idx="40">
                  <c:v>0</c:v>
                </c:pt>
                <c:pt idx="41">
                  <c:v>0</c:v>
                </c:pt>
                <c:pt idx="42">
                  <c:v>0</c:v>
                </c:pt>
                <c:pt idx="43">
                  <c:v>0</c:v>
                </c:pt>
                <c:pt idx="44">
                  <c:v>0</c:v>
                </c:pt>
                <c:pt idx="45">
                  <c:v>0</c:v>
                </c:pt>
                <c:pt idx="46">
                  <c:v>0</c:v>
                </c:pt>
                <c:pt idx="47">
                  <c:v>0</c:v>
                </c:pt>
                <c:pt idx="48">
                  <c:v>0</c:v>
                </c:pt>
                <c:pt idx="49">
                  <c:v>0</c:v>
                </c:pt>
                <c:pt idx="50">
                  <c:v>0</c:v>
                </c:pt>
              </c:numCache>
            </c:numRef>
          </c:val>
          <c:extLst>
            <c:ext xmlns:c16="http://schemas.microsoft.com/office/drawing/2014/chart" uri="{C3380CC4-5D6E-409C-BE32-E72D297353CC}">
              <c16:uniqueId val="{00000007-F5D6-40B8-8C24-E12FFA847B1E}"/>
            </c:ext>
          </c:extLst>
        </c:ser>
        <c:dLbls>
          <c:showLegendKey val="0"/>
          <c:showVal val="0"/>
          <c:showCatName val="0"/>
          <c:showSerName val="0"/>
          <c:showPercent val="0"/>
          <c:showBubbleSize val="0"/>
        </c:dLbls>
        <c:axId val="1586061295"/>
        <c:axId val="1586062543"/>
      </c:areaChart>
      <c:dateAx>
        <c:axId val="1586061295"/>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586062543"/>
        <c:crosses val="autoZero"/>
        <c:auto val="1"/>
        <c:lblOffset val="100"/>
        <c:baseTimeUnit val="months"/>
        <c:majorUnit val="6"/>
        <c:majorTimeUnit val="months"/>
      </c:dateAx>
      <c:valAx>
        <c:axId val="1586062543"/>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586061295"/>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zero"/>
    <c:showDLblsOverMax val="0"/>
  </c:chart>
  <c:spPr>
    <a:solidFill>
      <a:schemeClr val="bg1"/>
    </a:solidFill>
    <a:ln w="9525" cap="flat" cmpd="sng" algn="ctr">
      <a:noFill/>
      <a:round/>
    </a:ln>
    <a:effectLst/>
  </c:spPr>
  <c:txPr>
    <a:bodyPr/>
    <a:lstStyle/>
    <a:p>
      <a:pPr>
        <a:defRPr>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sz="1200" b="1"/>
              <a:t>行业分布</a:t>
            </a:r>
            <a:r>
              <a:rPr lang="en-US" sz="1200" b="1"/>
              <a:t>——</a:t>
            </a:r>
            <a:r>
              <a:rPr lang="zh-CN" sz="1200" b="1"/>
              <a:t>总敞口</a:t>
            </a:r>
          </a:p>
        </c:rich>
      </c:tx>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manualLayout>
          <c:layoutTarget val="inner"/>
          <c:xMode val="edge"/>
          <c:yMode val="edge"/>
          <c:x val="8.6111829460974135E-2"/>
          <c:y val="0.13044073280065036"/>
          <c:w val="0.85106651327868532"/>
          <c:h val="0.65703849158590399"/>
        </c:manualLayout>
      </c:layout>
      <c:areaChart>
        <c:grouping val="stacked"/>
        <c:varyColors val="0"/>
        <c:ser>
          <c:idx val="0"/>
          <c:order val="0"/>
          <c:tx>
            <c:strRef>
              <c:f>敞口!$AF$2</c:f>
              <c:strCache>
                <c:ptCount val="1"/>
                <c:pt idx="0">
                  <c:v>半导体及半导体设备</c:v>
                </c:pt>
              </c:strCache>
            </c:strRef>
          </c:tx>
          <c:spPr>
            <a:solidFill>
              <a:schemeClr val="accent1"/>
            </a:solidFill>
            <a:ln>
              <a:noFill/>
            </a:ln>
            <a:effectLst/>
          </c:spPr>
          <c:cat>
            <c:numRef>
              <c:f>敞口!$AE$3:$AE$53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敞口!$AF$3:$AF$53</c:f>
              <c:numCache>
                <c:formatCode>0.0%</c:formatCode>
                <c:ptCount val="51"/>
                <c:pt idx="0">
                  <c:v>0.3468502208490053</c:v>
                </c:pt>
                <c:pt idx="1">
                  <c:v>0.40689789215340649</c:v>
                </c:pt>
                <c:pt idx="2">
                  <c:v>0.33627449563306966</c:v>
                </c:pt>
                <c:pt idx="3">
                  <c:v>0.40284464952036037</c:v>
                </c:pt>
                <c:pt idx="4">
                  <c:v>0.41021565399328153</c:v>
                </c:pt>
                <c:pt idx="5">
                  <c:v>0.37314892677674</c:v>
                </c:pt>
                <c:pt idx="6">
                  <c:v>0.31772770055038552</c:v>
                </c:pt>
                <c:pt idx="7">
                  <c:v>0.38655423569155162</c:v>
                </c:pt>
                <c:pt idx="8">
                  <c:v>0.47662874570930791</c:v>
                </c:pt>
                <c:pt idx="9">
                  <c:v>0.42522557274082518</c:v>
                </c:pt>
                <c:pt idx="10">
                  <c:v>0.38789127017826652</c:v>
                </c:pt>
                <c:pt idx="11">
                  <c:v>0.40024276774539058</c:v>
                </c:pt>
                <c:pt idx="12">
                  <c:v>0.376002396827125</c:v>
                </c:pt>
                <c:pt idx="13">
                  <c:v>0.47307974983613221</c:v>
                </c:pt>
                <c:pt idx="14">
                  <c:v>0.39446270945716599</c:v>
                </c:pt>
                <c:pt idx="15">
                  <c:v>0.34889688155047538</c:v>
                </c:pt>
                <c:pt idx="16">
                  <c:v>0.50388214807170417</c:v>
                </c:pt>
                <c:pt idx="17">
                  <c:v>0.43107131592240011</c:v>
                </c:pt>
                <c:pt idx="18">
                  <c:v>0.37038705536178018</c:v>
                </c:pt>
                <c:pt idx="19">
                  <c:v>0.46234079585584831</c:v>
                </c:pt>
                <c:pt idx="20">
                  <c:v>0.40674855649279318</c:v>
                </c:pt>
                <c:pt idx="21">
                  <c:v>0.37673685828724579</c:v>
                </c:pt>
                <c:pt idx="22">
                  <c:v>0.4417216788287594</c:v>
                </c:pt>
                <c:pt idx="23">
                  <c:v>0.4521641624661803</c:v>
                </c:pt>
                <c:pt idx="24">
                  <c:v>0.4927880764043111</c:v>
                </c:pt>
                <c:pt idx="25">
                  <c:v>0.49120207812774996</c:v>
                </c:pt>
                <c:pt idx="26">
                  <c:v>0.49588194031631488</c:v>
                </c:pt>
                <c:pt idx="27">
                  <c:v>0.42411643279439726</c:v>
                </c:pt>
                <c:pt idx="28">
                  <c:v>0.4588874546011763</c:v>
                </c:pt>
                <c:pt idx="29">
                  <c:v>0.4210730535564956</c:v>
                </c:pt>
                <c:pt idx="30">
                  <c:v>0.46376358352080538</c:v>
                </c:pt>
                <c:pt idx="31">
                  <c:v>0.51851909084993042</c:v>
                </c:pt>
                <c:pt idx="32">
                  <c:v>0.44864315413894262</c:v>
                </c:pt>
                <c:pt idx="33">
                  <c:v>0.40143893289426247</c:v>
                </c:pt>
                <c:pt idx="34">
                  <c:v>0.40510575151170602</c:v>
                </c:pt>
                <c:pt idx="35">
                  <c:v>0.38660978947258573</c:v>
                </c:pt>
                <c:pt idx="36">
                  <c:v>0.33245665797598367</c:v>
                </c:pt>
                <c:pt idx="37">
                  <c:v>0.3792405250872477</c:v>
                </c:pt>
                <c:pt idx="38">
                  <c:v>0.35646336181946137</c:v>
                </c:pt>
                <c:pt idx="39">
                  <c:v>0.2865998857307428</c:v>
                </c:pt>
                <c:pt idx="40">
                  <c:v>0.40319766703778015</c:v>
                </c:pt>
                <c:pt idx="41">
                  <c:v>0.38718852401753068</c:v>
                </c:pt>
                <c:pt idx="42">
                  <c:v>0.41479414634856437</c:v>
                </c:pt>
                <c:pt idx="43">
                  <c:v>0.41265211764477988</c:v>
                </c:pt>
                <c:pt idx="44">
                  <c:v>0.41226529537020862</c:v>
                </c:pt>
                <c:pt idx="45">
                  <c:v>0.43319283272102438</c:v>
                </c:pt>
                <c:pt idx="46">
                  <c:v>0.43043610219699202</c:v>
                </c:pt>
                <c:pt idx="47">
                  <c:v>0.39941130040827233</c:v>
                </c:pt>
                <c:pt idx="48">
                  <c:v>0.41595217717458899</c:v>
                </c:pt>
                <c:pt idx="49">
                  <c:v>0.41870181110254567</c:v>
                </c:pt>
                <c:pt idx="50">
                  <c:v>0.43553607600481625</c:v>
                </c:pt>
              </c:numCache>
            </c:numRef>
          </c:val>
          <c:extLst>
            <c:ext xmlns:c16="http://schemas.microsoft.com/office/drawing/2014/chart" uri="{C3380CC4-5D6E-409C-BE32-E72D297353CC}">
              <c16:uniqueId val="{00000000-9186-4668-BD95-BB5F8CD0D7EF}"/>
            </c:ext>
          </c:extLst>
        </c:ser>
        <c:ser>
          <c:idx val="1"/>
          <c:order val="1"/>
          <c:tx>
            <c:strRef>
              <c:f>敞口!$AG$2</c:f>
              <c:strCache>
                <c:ptCount val="1"/>
                <c:pt idx="0">
                  <c:v>软件</c:v>
                </c:pt>
              </c:strCache>
            </c:strRef>
          </c:tx>
          <c:spPr>
            <a:solidFill>
              <a:schemeClr val="accent2"/>
            </a:solidFill>
            <a:ln>
              <a:noFill/>
            </a:ln>
            <a:effectLst/>
          </c:spPr>
          <c:cat>
            <c:numRef>
              <c:f>敞口!$AE$3:$AE$53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敞口!$AG$3:$AG$53</c:f>
              <c:numCache>
                <c:formatCode>0.0%</c:formatCode>
                <c:ptCount val="51"/>
                <c:pt idx="0">
                  <c:v>0.2823546242181984</c:v>
                </c:pt>
                <c:pt idx="1">
                  <c:v>0.26340193066207462</c:v>
                </c:pt>
                <c:pt idx="2">
                  <c:v>0.32240226550759676</c:v>
                </c:pt>
                <c:pt idx="3">
                  <c:v>0.324298837015709</c:v>
                </c:pt>
                <c:pt idx="4">
                  <c:v>0.33413097260968982</c:v>
                </c:pt>
                <c:pt idx="5">
                  <c:v>0.35954613851482187</c:v>
                </c:pt>
                <c:pt idx="6">
                  <c:v>0.39350398281455223</c:v>
                </c:pt>
                <c:pt idx="7">
                  <c:v>0.28980451641912186</c:v>
                </c:pt>
                <c:pt idx="8">
                  <c:v>0.22587179171703231</c:v>
                </c:pt>
                <c:pt idx="9">
                  <c:v>0.31409105734643589</c:v>
                </c:pt>
                <c:pt idx="10">
                  <c:v>0.32339450802254177</c:v>
                </c:pt>
                <c:pt idx="11">
                  <c:v>0.17164570810241747</c:v>
                </c:pt>
                <c:pt idx="12">
                  <c:v>0.18449163235462301</c:v>
                </c:pt>
                <c:pt idx="13">
                  <c:v>0.13126922758748641</c:v>
                </c:pt>
                <c:pt idx="14">
                  <c:v>0.1236304083624357</c:v>
                </c:pt>
                <c:pt idx="15">
                  <c:v>0.16689720402454716</c:v>
                </c:pt>
                <c:pt idx="16">
                  <c:v>0.11519512777992538</c:v>
                </c:pt>
                <c:pt idx="17">
                  <c:v>0.12971259516799774</c:v>
                </c:pt>
                <c:pt idx="18">
                  <c:v>0.20541244649362592</c:v>
                </c:pt>
                <c:pt idx="19">
                  <c:v>0.18883769151721969</c:v>
                </c:pt>
                <c:pt idx="20">
                  <c:v>0.19503141346504724</c:v>
                </c:pt>
                <c:pt idx="21">
                  <c:v>0.19737767099044712</c:v>
                </c:pt>
                <c:pt idx="22">
                  <c:v>0.1783593401288418</c:v>
                </c:pt>
                <c:pt idx="23">
                  <c:v>0.22907485954032125</c:v>
                </c:pt>
                <c:pt idx="24">
                  <c:v>0.21073340299473642</c:v>
                </c:pt>
                <c:pt idx="25">
                  <c:v>0.17992415904746561</c:v>
                </c:pt>
                <c:pt idx="26">
                  <c:v>0.16377975740216133</c:v>
                </c:pt>
                <c:pt idx="27">
                  <c:v>0.19870734526959716</c:v>
                </c:pt>
                <c:pt idx="28">
                  <c:v>0.19781270192344474</c:v>
                </c:pt>
                <c:pt idx="29">
                  <c:v>0.19900333997164527</c:v>
                </c:pt>
                <c:pt idx="30">
                  <c:v>0.16795456203566395</c:v>
                </c:pt>
                <c:pt idx="31">
                  <c:v>0.15642502119070412</c:v>
                </c:pt>
                <c:pt idx="32">
                  <c:v>0.24638662026236824</c:v>
                </c:pt>
                <c:pt idx="33">
                  <c:v>0.26395264990044398</c:v>
                </c:pt>
                <c:pt idx="34">
                  <c:v>0.28958067443628621</c:v>
                </c:pt>
                <c:pt idx="35">
                  <c:v>0.29204544186708231</c:v>
                </c:pt>
                <c:pt idx="36">
                  <c:v>0.28975058456377178</c:v>
                </c:pt>
                <c:pt idx="37">
                  <c:v>0.236435099454819</c:v>
                </c:pt>
                <c:pt idx="38">
                  <c:v>0.26005817512442769</c:v>
                </c:pt>
                <c:pt idx="39">
                  <c:v>0.31637540364461209</c:v>
                </c:pt>
                <c:pt idx="40">
                  <c:v>0.27235886385862584</c:v>
                </c:pt>
                <c:pt idx="41">
                  <c:v>0.2433669646139118</c:v>
                </c:pt>
                <c:pt idx="42">
                  <c:v>0.24969951687011571</c:v>
                </c:pt>
                <c:pt idx="43">
                  <c:v>0.20868129190703472</c:v>
                </c:pt>
                <c:pt idx="44">
                  <c:v>0.19696079508972442</c:v>
                </c:pt>
                <c:pt idx="45">
                  <c:v>0.17521568383415831</c:v>
                </c:pt>
                <c:pt idx="46">
                  <c:v>0.15576685129407236</c:v>
                </c:pt>
                <c:pt idx="47">
                  <c:v>0.19893818928668072</c:v>
                </c:pt>
                <c:pt idx="48">
                  <c:v>0.18465511028848083</c:v>
                </c:pt>
                <c:pt idx="49">
                  <c:v>0.197977672670828</c:v>
                </c:pt>
                <c:pt idx="50">
                  <c:v>0.20784579795938493</c:v>
                </c:pt>
              </c:numCache>
            </c:numRef>
          </c:val>
          <c:extLst>
            <c:ext xmlns:c16="http://schemas.microsoft.com/office/drawing/2014/chart" uri="{C3380CC4-5D6E-409C-BE32-E72D297353CC}">
              <c16:uniqueId val="{00000001-9186-4668-BD95-BB5F8CD0D7EF}"/>
            </c:ext>
          </c:extLst>
        </c:ser>
        <c:ser>
          <c:idx val="2"/>
          <c:order val="2"/>
          <c:tx>
            <c:strRef>
              <c:f>敞口!$AH$2</c:f>
              <c:strCache>
                <c:ptCount val="1"/>
                <c:pt idx="0">
                  <c:v>通信设备</c:v>
                </c:pt>
              </c:strCache>
            </c:strRef>
          </c:tx>
          <c:spPr>
            <a:solidFill>
              <a:schemeClr val="accent3"/>
            </a:solidFill>
            <a:ln>
              <a:noFill/>
            </a:ln>
            <a:effectLst/>
          </c:spPr>
          <c:cat>
            <c:numRef>
              <c:f>敞口!$AE$3:$AE$53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敞口!$AH$3:$AH$53</c:f>
              <c:numCache>
                <c:formatCode>0.0%</c:formatCode>
                <c:ptCount val="51"/>
                <c:pt idx="0">
                  <c:v>0.15604895861463869</c:v>
                </c:pt>
                <c:pt idx="1">
                  <c:v>7.8717528023492161E-2</c:v>
                </c:pt>
                <c:pt idx="2">
                  <c:v>5.0188708564334487E-2</c:v>
                </c:pt>
                <c:pt idx="3">
                  <c:v>5.8015808329767569E-2</c:v>
                </c:pt>
                <c:pt idx="4">
                  <c:v>4.8988308736393114E-2</c:v>
                </c:pt>
                <c:pt idx="5">
                  <c:v>2.4077195169606491E-2</c:v>
                </c:pt>
                <c:pt idx="6">
                  <c:v>2.4417271228660879E-2</c:v>
                </c:pt>
                <c:pt idx="7">
                  <c:v>3.1134438942859603E-2</c:v>
                </c:pt>
                <c:pt idx="8">
                  <c:v>8.1237774834766352E-2</c:v>
                </c:pt>
                <c:pt idx="9">
                  <c:v>9.3045441371875121E-2</c:v>
                </c:pt>
                <c:pt idx="10">
                  <c:v>0.10138919343672931</c:v>
                </c:pt>
                <c:pt idx="11">
                  <c:v>0.16341098894461376</c:v>
                </c:pt>
                <c:pt idx="12">
                  <c:v>0.15584210635116444</c:v>
                </c:pt>
                <c:pt idx="13">
                  <c:v>9.794054525442232E-2</c:v>
                </c:pt>
                <c:pt idx="14">
                  <c:v>0.12404300634110665</c:v>
                </c:pt>
                <c:pt idx="15">
                  <c:v>0.1689278933109388</c:v>
                </c:pt>
                <c:pt idx="16">
                  <c:v>0.11910785808605906</c:v>
                </c:pt>
                <c:pt idx="17">
                  <c:v>8.9935866934320804E-2</c:v>
                </c:pt>
                <c:pt idx="18">
                  <c:v>0.1091380514392266</c:v>
                </c:pt>
                <c:pt idx="19">
                  <c:v>0.11374727075079974</c:v>
                </c:pt>
                <c:pt idx="20">
                  <c:v>0.1331806156395339</c:v>
                </c:pt>
                <c:pt idx="21">
                  <c:v>0.14020125280641532</c:v>
                </c:pt>
                <c:pt idx="22">
                  <c:v>0.11417343614735484</c:v>
                </c:pt>
                <c:pt idx="23">
                  <c:v>0.15234357892167791</c:v>
                </c:pt>
                <c:pt idx="24">
                  <c:v>0.15608052525412686</c:v>
                </c:pt>
                <c:pt idx="25">
                  <c:v>0.16469776228941085</c:v>
                </c:pt>
                <c:pt idx="26">
                  <c:v>0.16181904874745479</c:v>
                </c:pt>
                <c:pt idx="27">
                  <c:v>0.19477529335257093</c:v>
                </c:pt>
                <c:pt idx="28">
                  <c:v>0.15420417336909314</c:v>
                </c:pt>
                <c:pt idx="29">
                  <c:v>0.13595998498264475</c:v>
                </c:pt>
                <c:pt idx="30">
                  <c:v>0.14022569001443261</c:v>
                </c:pt>
                <c:pt idx="31">
                  <c:v>0.15230129278250382</c:v>
                </c:pt>
                <c:pt idx="32">
                  <c:v>0.13325900348904093</c:v>
                </c:pt>
                <c:pt idx="33">
                  <c:v>0.16797287654647614</c:v>
                </c:pt>
                <c:pt idx="34">
                  <c:v>0.13630351233759819</c:v>
                </c:pt>
                <c:pt idx="35">
                  <c:v>0.10744493782801781</c:v>
                </c:pt>
                <c:pt idx="36">
                  <c:v>0.10774110449599214</c:v>
                </c:pt>
                <c:pt idx="37">
                  <c:v>0.13276729176700774</c:v>
                </c:pt>
                <c:pt idx="38">
                  <c:v>0.141444208423256</c:v>
                </c:pt>
                <c:pt idx="39">
                  <c:v>0.15975802711448883</c:v>
                </c:pt>
                <c:pt idx="40">
                  <c:v>0.11507541347279497</c:v>
                </c:pt>
                <c:pt idx="41">
                  <c:v>0.10828878048026672</c:v>
                </c:pt>
                <c:pt idx="42">
                  <c:v>9.262141712618005E-2</c:v>
                </c:pt>
                <c:pt idx="43">
                  <c:v>8.5138139830577705E-2</c:v>
                </c:pt>
                <c:pt idx="44">
                  <c:v>8.9674527444888269E-2</c:v>
                </c:pt>
                <c:pt idx="45">
                  <c:v>9.6980126252730808E-2</c:v>
                </c:pt>
                <c:pt idx="46">
                  <c:v>0.11232322138408546</c:v>
                </c:pt>
                <c:pt idx="47">
                  <c:v>0.10253302251217175</c:v>
                </c:pt>
                <c:pt idx="48">
                  <c:v>0.1080519662801703</c:v>
                </c:pt>
                <c:pt idx="49">
                  <c:v>8.5008300129033473E-2</c:v>
                </c:pt>
                <c:pt idx="50">
                  <c:v>9.6856887608403414E-2</c:v>
                </c:pt>
              </c:numCache>
            </c:numRef>
          </c:val>
          <c:extLst>
            <c:ext xmlns:c16="http://schemas.microsoft.com/office/drawing/2014/chart" uri="{C3380CC4-5D6E-409C-BE32-E72D297353CC}">
              <c16:uniqueId val="{00000002-9186-4668-BD95-BB5F8CD0D7EF}"/>
            </c:ext>
          </c:extLst>
        </c:ser>
        <c:ser>
          <c:idx val="3"/>
          <c:order val="3"/>
          <c:tx>
            <c:strRef>
              <c:f>敞口!$AI$2</c:f>
              <c:strCache>
                <c:ptCount val="1"/>
                <c:pt idx="0">
                  <c:v>电子设备，工具及组件</c:v>
                </c:pt>
              </c:strCache>
            </c:strRef>
          </c:tx>
          <c:spPr>
            <a:solidFill>
              <a:schemeClr val="accent4"/>
            </a:solidFill>
            <a:ln>
              <a:noFill/>
            </a:ln>
            <a:effectLst/>
          </c:spPr>
          <c:cat>
            <c:numRef>
              <c:f>敞口!$AE$3:$AE$53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敞口!$AI$3:$AI$53</c:f>
              <c:numCache>
                <c:formatCode>0.0%</c:formatCode>
                <c:ptCount val="51"/>
                <c:pt idx="0">
                  <c:v>8.8534524340868309E-2</c:v>
                </c:pt>
                <c:pt idx="1">
                  <c:v>0.11652617166122202</c:v>
                </c:pt>
                <c:pt idx="2">
                  <c:v>0.15082092405257991</c:v>
                </c:pt>
                <c:pt idx="3">
                  <c:v>0.13667371604584258</c:v>
                </c:pt>
                <c:pt idx="4">
                  <c:v>6.8210811475116262E-2</c:v>
                </c:pt>
                <c:pt idx="5">
                  <c:v>9.4133045655413944E-2</c:v>
                </c:pt>
                <c:pt idx="6">
                  <c:v>0.13472314741378055</c:v>
                </c:pt>
                <c:pt idx="7">
                  <c:v>0.164491187178186</c:v>
                </c:pt>
                <c:pt idx="8">
                  <c:v>8.5662002539528159E-2</c:v>
                </c:pt>
                <c:pt idx="9">
                  <c:v>6.5678051997772352E-2</c:v>
                </c:pt>
                <c:pt idx="10">
                  <c:v>7.9047290434058282E-2</c:v>
                </c:pt>
                <c:pt idx="11">
                  <c:v>0.11953420677937998</c:v>
                </c:pt>
                <c:pt idx="12">
                  <c:v>8.0915574853694397E-2</c:v>
                </c:pt>
                <c:pt idx="13">
                  <c:v>0.10603876439716164</c:v>
                </c:pt>
                <c:pt idx="14">
                  <c:v>0.1519259362834639</c:v>
                </c:pt>
                <c:pt idx="15">
                  <c:v>0.13261415131190685</c:v>
                </c:pt>
                <c:pt idx="16">
                  <c:v>0.1277489083201773</c:v>
                </c:pt>
                <c:pt idx="17">
                  <c:v>0.12220807347669467</c:v>
                </c:pt>
                <c:pt idx="18">
                  <c:v>0.12394656034085096</c:v>
                </c:pt>
                <c:pt idx="19">
                  <c:v>9.5130574049634833E-2</c:v>
                </c:pt>
                <c:pt idx="20">
                  <c:v>9.3220571642618585E-2</c:v>
                </c:pt>
                <c:pt idx="21">
                  <c:v>0.13762819832746401</c:v>
                </c:pt>
                <c:pt idx="22">
                  <c:v>8.426618972675419E-2</c:v>
                </c:pt>
                <c:pt idx="23">
                  <c:v>5.006759858479292E-2</c:v>
                </c:pt>
                <c:pt idx="24">
                  <c:v>7.2017018728680786E-3</c:v>
                </c:pt>
                <c:pt idx="25">
                  <c:v>2.7159191497456318E-2</c:v>
                </c:pt>
                <c:pt idx="26">
                  <c:v>4.77179227618173E-2</c:v>
                </c:pt>
                <c:pt idx="27">
                  <c:v>4.0782186842318296E-2</c:v>
                </c:pt>
                <c:pt idx="28">
                  <c:v>4.3304148667932571E-2</c:v>
                </c:pt>
                <c:pt idx="29">
                  <c:v>5.9661243682000112E-2</c:v>
                </c:pt>
                <c:pt idx="30">
                  <c:v>8.7854559758127698E-2</c:v>
                </c:pt>
                <c:pt idx="31">
                  <c:v>8.0902286749394675E-2</c:v>
                </c:pt>
                <c:pt idx="32">
                  <c:v>7.9424800161460779E-2</c:v>
                </c:pt>
                <c:pt idx="33">
                  <c:v>8.4131768870983434E-2</c:v>
                </c:pt>
                <c:pt idx="34">
                  <c:v>8.852112716410393E-2</c:v>
                </c:pt>
                <c:pt idx="35">
                  <c:v>7.4779161684808207E-2</c:v>
                </c:pt>
                <c:pt idx="36">
                  <c:v>7.7476244912561776E-2</c:v>
                </c:pt>
                <c:pt idx="37">
                  <c:v>5.2742796843664723E-2</c:v>
                </c:pt>
                <c:pt idx="38">
                  <c:v>4.4485237156962572E-2</c:v>
                </c:pt>
                <c:pt idx="39">
                  <c:v>5.1964702520662862E-2</c:v>
                </c:pt>
                <c:pt idx="40">
                  <c:v>8.0655967943247003E-2</c:v>
                </c:pt>
                <c:pt idx="41">
                  <c:v>8.0779588403098609E-2</c:v>
                </c:pt>
                <c:pt idx="42">
                  <c:v>6.662580865668237E-2</c:v>
                </c:pt>
                <c:pt idx="43">
                  <c:v>0.12197065882486478</c:v>
                </c:pt>
                <c:pt idx="44">
                  <c:v>0.10934004893542634</c:v>
                </c:pt>
                <c:pt idx="45">
                  <c:v>0.10207986442048136</c:v>
                </c:pt>
                <c:pt idx="46">
                  <c:v>9.8363992580649692E-2</c:v>
                </c:pt>
                <c:pt idx="47">
                  <c:v>0.1124944422017726</c:v>
                </c:pt>
                <c:pt idx="48">
                  <c:v>0.14118963817617886</c:v>
                </c:pt>
                <c:pt idx="49">
                  <c:v>0.15055527625730933</c:v>
                </c:pt>
                <c:pt idx="50">
                  <c:v>0.11419334526099952</c:v>
                </c:pt>
              </c:numCache>
            </c:numRef>
          </c:val>
          <c:extLst>
            <c:ext xmlns:c16="http://schemas.microsoft.com/office/drawing/2014/chart" uri="{C3380CC4-5D6E-409C-BE32-E72D297353CC}">
              <c16:uniqueId val="{00000003-9186-4668-BD95-BB5F8CD0D7EF}"/>
            </c:ext>
          </c:extLst>
        </c:ser>
        <c:ser>
          <c:idx val="4"/>
          <c:order val="4"/>
          <c:tx>
            <c:strRef>
              <c:f>敞口!$AJ$2</c:f>
              <c:strCache>
                <c:ptCount val="1"/>
                <c:pt idx="0">
                  <c:v>科技硬件、存储及其他设备</c:v>
                </c:pt>
              </c:strCache>
            </c:strRef>
          </c:tx>
          <c:spPr>
            <a:solidFill>
              <a:schemeClr val="accent5"/>
            </a:solidFill>
            <a:ln>
              <a:noFill/>
            </a:ln>
            <a:effectLst/>
          </c:spPr>
          <c:cat>
            <c:numRef>
              <c:f>敞口!$AE$3:$AE$53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敞口!$AJ$3:$AJ$53</c:f>
              <c:numCache>
                <c:formatCode>0.0%</c:formatCode>
                <c:ptCount val="51"/>
                <c:pt idx="0">
                  <c:v>3.8803695165333947E-2</c:v>
                </c:pt>
                <c:pt idx="1">
                  <c:v>4.7044086115566569E-2</c:v>
                </c:pt>
                <c:pt idx="2">
                  <c:v>6.7748601631106312E-2</c:v>
                </c:pt>
                <c:pt idx="3">
                  <c:v>5.9973331462850062E-2</c:v>
                </c:pt>
                <c:pt idx="4">
                  <c:v>5.5689482312959872E-2</c:v>
                </c:pt>
                <c:pt idx="5">
                  <c:v>6.1068084006677223E-2</c:v>
                </c:pt>
                <c:pt idx="6">
                  <c:v>2.5197602850817249E-2</c:v>
                </c:pt>
                <c:pt idx="7">
                  <c:v>4.8035215097622805E-2</c:v>
                </c:pt>
                <c:pt idx="8">
                  <c:v>6.5240617505736148E-2</c:v>
                </c:pt>
                <c:pt idx="9">
                  <c:v>5.5698283007973429E-2</c:v>
                </c:pt>
                <c:pt idx="10">
                  <c:v>6.894621559987707E-2</c:v>
                </c:pt>
                <c:pt idx="11">
                  <c:v>8.0780492322813924E-2</c:v>
                </c:pt>
                <c:pt idx="12">
                  <c:v>0.11112028824052766</c:v>
                </c:pt>
                <c:pt idx="13">
                  <c:v>9.9310216308451632E-2</c:v>
                </c:pt>
                <c:pt idx="14">
                  <c:v>9.4039038175534939E-2</c:v>
                </c:pt>
                <c:pt idx="15">
                  <c:v>6.6225328085844484E-2</c:v>
                </c:pt>
                <c:pt idx="16">
                  <c:v>4.6003615079874487E-2</c:v>
                </c:pt>
                <c:pt idx="17">
                  <c:v>7.1954087030771136E-2</c:v>
                </c:pt>
                <c:pt idx="18">
                  <c:v>9.9276097678217615E-2</c:v>
                </c:pt>
                <c:pt idx="19">
                  <c:v>8.9243942504268384E-2</c:v>
                </c:pt>
                <c:pt idx="20">
                  <c:v>0.11928215004409612</c:v>
                </c:pt>
                <c:pt idx="21">
                  <c:v>0.12149333136418318</c:v>
                </c:pt>
                <c:pt idx="22">
                  <c:v>0.10576489260037027</c:v>
                </c:pt>
                <c:pt idx="23">
                  <c:v>5.0119637793747861E-2</c:v>
                </c:pt>
                <c:pt idx="24">
                  <c:v>3.9639040578449712E-2</c:v>
                </c:pt>
                <c:pt idx="25">
                  <c:v>3.6754292117296639E-2</c:v>
                </c:pt>
                <c:pt idx="26">
                  <c:v>3.8831673877460463E-2</c:v>
                </c:pt>
                <c:pt idx="27">
                  <c:v>5.7305264909293101E-2</c:v>
                </c:pt>
                <c:pt idx="28">
                  <c:v>4.7706591004830524E-2</c:v>
                </c:pt>
                <c:pt idx="29">
                  <c:v>7.5280950445044612E-2</c:v>
                </c:pt>
                <c:pt idx="30">
                  <c:v>5.5019978625102023E-2</c:v>
                </c:pt>
                <c:pt idx="31">
                  <c:v>3.2246813846565227E-2</c:v>
                </c:pt>
                <c:pt idx="32">
                  <c:v>4.8189410893805226E-2</c:v>
                </c:pt>
                <c:pt idx="33">
                  <c:v>6.418292126124972E-2</c:v>
                </c:pt>
                <c:pt idx="34">
                  <c:v>3.408454997782686E-2</c:v>
                </c:pt>
                <c:pt idx="35">
                  <c:v>6.2668033818256211E-2</c:v>
                </c:pt>
                <c:pt idx="36">
                  <c:v>9.7500531999551374E-2</c:v>
                </c:pt>
                <c:pt idx="37">
                  <c:v>8.8725313964863523E-2</c:v>
                </c:pt>
                <c:pt idx="38">
                  <c:v>9.3496676039946811E-2</c:v>
                </c:pt>
                <c:pt idx="39">
                  <c:v>7.089492783687297E-2</c:v>
                </c:pt>
                <c:pt idx="40">
                  <c:v>6.9691604341726512E-2</c:v>
                </c:pt>
                <c:pt idx="41">
                  <c:v>9.9223846638422167E-2</c:v>
                </c:pt>
                <c:pt idx="42">
                  <c:v>8.8443921001036305E-2</c:v>
                </c:pt>
                <c:pt idx="43">
                  <c:v>6.5016293492168045E-2</c:v>
                </c:pt>
                <c:pt idx="44">
                  <c:v>9.5666904413254678E-2</c:v>
                </c:pt>
                <c:pt idx="45">
                  <c:v>9.7241199808790091E-2</c:v>
                </c:pt>
                <c:pt idx="46">
                  <c:v>7.045325962900667E-2</c:v>
                </c:pt>
                <c:pt idx="47">
                  <c:v>8.6149482855708101E-2</c:v>
                </c:pt>
                <c:pt idx="48">
                  <c:v>9.2064922083454834E-2</c:v>
                </c:pt>
                <c:pt idx="49">
                  <c:v>5.4823905220005027E-2</c:v>
                </c:pt>
                <c:pt idx="50">
                  <c:v>5.302438708181112E-2</c:v>
                </c:pt>
              </c:numCache>
            </c:numRef>
          </c:val>
          <c:extLst>
            <c:ext xmlns:c16="http://schemas.microsoft.com/office/drawing/2014/chart" uri="{C3380CC4-5D6E-409C-BE32-E72D297353CC}">
              <c16:uniqueId val="{00000004-9186-4668-BD95-BB5F8CD0D7EF}"/>
            </c:ext>
          </c:extLst>
        </c:ser>
        <c:ser>
          <c:idx val="5"/>
          <c:order val="5"/>
          <c:tx>
            <c:strRef>
              <c:f>敞口!$AK$2</c:f>
              <c:strCache>
                <c:ptCount val="1"/>
                <c:pt idx="0">
                  <c:v>其他</c:v>
                </c:pt>
              </c:strCache>
            </c:strRef>
          </c:tx>
          <c:spPr>
            <a:solidFill>
              <a:schemeClr val="accent6"/>
            </a:solidFill>
            <a:ln>
              <a:noFill/>
            </a:ln>
            <a:effectLst/>
          </c:spPr>
          <c:cat>
            <c:numRef>
              <c:f>敞口!$AE$3:$AE$53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敞口!$AK$3:$AK$53</c:f>
              <c:numCache>
                <c:formatCode>0.0%</c:formatCode>
                <c:ptCount val="51"/>
                <c:pt idx="0">
                  <c:v>8.7407976811955404E-2</c:v>
                </c:pt>
                <c:pt idx="1">
                  <c:v>8.7412391384238106E-2</c:v>
                </c:pt>
                <c:pt idx="2">
                  <c:v>7.2565004611313016E-2</c:v>
                </c:pt>
                <c:pt idx="3">
                  <c:v>1.819365762547041E-2</c:v>
                </c:pt>
                <c:pt idx="4">
                  <c:v>8.2764770872559387E-2</c:v>
                </c:pt>
                <c:pt idx="5">
                  <c:v>8.8026609876740811E-2</c:v>
                </c:pt>
                <c:pt idx="6">
                  <c:v>0.10443029514180345</c:v>
                </c:pt>
                <c:pt idx="7">
                  <c:v>7.9980406670657936E-2</c:v>
                </c:pt>
                <c:pt idx="8">
                  <c:v>6.5359067693629425E-2</c:v>
                </c:pt>
                <c:pt idx="9">
                  <c:v>4.6261593535117641E-2</c:v>
                </c:pt>
                <c:pt idx="10">
                  <c:v>3.9331522328527102E-2</c:v>
                </c:pt>
                <c:pt idx="11">
                  <c:v>6.4385836105384203E-2</c:v>
                </c:pt>
                <c:pt idx="12">
                  <c:v>9.1628001372865614E-2</c:v>
                </c:pt>
                <c:pt idx="13">
                  <c:v>9.2361496616346211E-2</c:v>
                </c:pt>
                <c:pt idx="14">
                  <c:v>0.11189890138029301</c:v>
                </c:pt>
                <c:pt idx="15">
                  <c:v>0.11643854171628751</c:v>
                </c:pt>
                <c:pt idx="16">
                  <c:v>8.806234266225868E-2</c:v>
                </c:pt>
                <c:pt idx="17">
                  <c:v>0.15511806146781582</c:v>
                </c:pt>
                <c:pt idx="18">
                  <c:v>9.183978868629919E-2</c:v>
                </c:pt>
                <c:pt idx="19">
                  <c:v>5.0699725322229425E-2</c:v>
                </c:pt>
                <c:pt idx="20">
                  <c:v>5.2536692715910938E-2</c:v>
                </c:pt>
                <c:pt idx="21">
                  <c:v>2.6562688224244579E-2</c:v>
                </c:pt>
                <c:pt idx="22">
                  <c:v>7.5714462567919666E-2</c:v>
                </c:pt>
                <c:pt idx="23">
                  <c:v>6.6230162693281247E-2</c:v>
                </c:pt>
                <c:pt idx="24">
                  <c:v>9.3557252895507897E-2</c:v>
                </c:pt>
                <c:pt idx="25">
                  <c:v>0.10026251692062234</c:v>
                </c:pt>
                <c:pt idx="26">
                  <c:v>9.1969656894790974E-2</c:v>
                </c:pt>
                <c:pt idx="27">
                  <c:v>8.4313476831822859E-2</c:v>
                </c:pt>
                <c:pt idx="28">
                  <c:v>9.8084930433522427E-2</c:v>
                </c:pt>
                <c:pt idx="29">
                  <c:v>0.10902142736216978</c:v>
                </c:pt>
                <c:pt idx="30">
                  <c:v>8.5181626045867764E-2</c:v>
                </c:pt>
                <c:pt idx="31">
                  <c:v>5.9605494580901391E-2</c:v>
                </c:pt>
                <c:pt idx="32">
                  <c:v>4.4097011054382199E-2</c:v>
                </c:pt>
                <c:pt idx="33">
                  <c:v>1.8320850526584123E-2</c:v>
                </c:pt>
                <c:pt idx="34">
                  <c:v>4.6404384572478197E-2</c:v>
                </c:pt>
                <c:pt idx="35">
                  <c:v>7.6452635329249619E-2</c:v>
                </c:pt>
                <c:pt idx="36">
                  <c:v>9.5074876052139295E-2</c:v>
                </c:pt>
                <c:pt idx="37">
                  <c:v>0.11008897288239577</c:v>
                </c:pt>
                <c:pt idx="38">
                  <c:v>0.10405234143594616</c:v>
                </c:pt>
                <c:pt idx="39">
                  <c:v>0.11440705315262041</c:v>
                </c:pt>
                <c:pt idx="40">
                  <c:v>5.902048334582468E-2</c:v>
                </c:pt>
                <c:pt idx="41">
                  <c:v>8.1152295846770001E-2</c:v>
                </c:pt>
                <c:pt idx="42">
                  <c:v>8.5191206474129713E-2</c:v>
                </c:pt>
                <c:pt idx="43">
                  <c:v>0.10654149830057358</c:v>
                </c:pt>
                <c:pt idx="44">
                  <c:v>9.6092428746497913E-2</c:v>
                </c:pt>
                <c:pt idx="45">
                  <c:v>9.5290292962814813E-2</c:v>
                </c:pt>
                <c:pt idx="46">
                  <c:v>0.13265657291519398</c:v>
                </c:pt>
                <c:pt idx="47">
                  <c:v>0.1004735627353945</c:v>
                </c:pt>
                <c:pt idx="48">
                  <c:v>5.8086185997125873E-2</c:v>
                </c:pt>
                <c:pt idx="49">
                  <c:v>9.2933034620278743E-2</c:v>
                </c:pt>
                <c:pt idx="50">
                  <c:v>9.2543506084584878E-2</c:v>
                </c:pt>
              </c:numCache>
            </c:numRef>
          </c:val>
          <c:extLst>
            <c:ext xmlns:c16="http://schemas.microsoft.com/office/drawing/2014/chart" uri="{C3380CC4-5D6E-409C-BE32-E72D297353CC}">
              <c16:uniqueId val="{00000005-9186-4668-BD95-BB5F8CD0D7EF}"/>
            </c:ext>
          </c:extLst>
        </c:ser>
        <c:dLbls>
          <c:showLegendKey val="0"/>
          <c:showVal val="0"/>
          <c:showCatName val="0"/>
          <c:showSerName val="0"/>
          <c:showPercent val="0"/>
          <c:showBubbleSize val="0"/>
        </c:dLbls>
        <c:axId val="1257480783"/>
        <c:axId val="1257481199"/>
      </c:areaChart>
      <c:dateAx>
        <c:axId val="1257480783"/>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257481199"/>
        <c:crosses val="autoZero"/>
        <c:auto val="1"/>
        <c:lblOffset val="100"/>
        <c:baseTimeUnit val="months"/>
        <c:majorUnit val="6"/>
        <c:majorTimeUnit val="months"/>
      </c:dateAx>
      <c:valAx>
        <c:axId val="1257481199"/>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257480783"/>
        <c:crosses val="autoZero"/>
        <c:crossBetween val="midCat"/>
      </c:valAx>
      <c:spPr>
        <a:noFill/>
        <a:ln>
          <a:noFill/>
        </a:ln>
        <a:effectLst/>
      </c:spPr>
    </c:plotArea>
    <c:legend>
      <c:legendPos val="b"/>
      <c:layout>
        <c:manualLayout>
          <c:xMode val="edge"/>
          <c:yMode val="edge"/>
          <c:x val="9.3021677364590577E-2"/>
          <c:y val="0.85938537150281746"/>
          <c:w val="0.84630283701896936"/>
          <c:h val="0.11269620235287474"/>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zero"/>
    <c:showDLblsOverMax val="0"/>
  </c:chart>
  <c:spPr>
    <a:solidFill>
      <a:schemeClr val="bg1"/>
    </a:solidFill>
    <a:ln w="9525" cap="flat" cmpd="sng" algn="ctr">
      <a:noFill/>
      <a:round/>
    </a:ln>
    <a:effectLst/>
  </c:spPr>
  <c:txPr>
    <a:bodyPr/>
    <a:lstStyle/>
    <a:p>
      <a:pPr>
        <a:defRPr>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sz="1200" b="1"/>
              <a:t>市值分布</a:t>
            </a:r>
            <a:r>
              <a:rPr lang="en-US" sz="1200" b="1"/>
              <a:t>——</a:t>
            </a:r>
            <a:r>
              <a:rPr lang="zh-CN" sz="1200" b="1"/>
              <a:t>多头</a:t>
            </a:r>
          </a:p>
        </c:rich>
      </c:tx>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areaChart>
        <c:grouping val="standard"/>
        <c:varyColors val="0"/>
        <c:ser>
          <c:idx val="0"/>
          <c:order val="0"/>
          <c:tx>
            <c:strRef>
              <c:f>敞口!$DA$2</c:f>
              <c:strCache>
                <c:ptCount val="1"/>
                <c:pt idx="0">
                  <c:v>市值 &gt; $100亿</c:v>
                </c:pt>
              </c:strCache>
            </c:strRef>
          </c:tx>
          <c:spPr>
            <a:solidFill>
              <a:schemeClr val="accent1"/>
            </a:solidFill>
            <a:ln>
              <a:noFill/>
            </a:ln>
            <a:effectLst/>
          </c:spPr>
          <c:cat>
            <c:numRef>
              <c:f>敞口!$CZ$3:$CZ$53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敞口!$DA$3:$DA$53</c:f>
              <c:numCache>
                <c:formatCode>0.0%</c:formatCode>
                <c:ptCount val="51"/>
                <c:pt idx="0">
                  <c:v>0.34274213109863738</c:v>
                </c:pt>
                <c:pt idx="1">
                  <c:v>0.39283852963101912</c:v>
                </c:pt>
                <c:pt idx="2">
                  <c:v>0.4219736679744403</c:v>
                </c:pt>
                <c:pt idx="3">
                  <c:v>0.43949144006995872</c:v>
                </c:pt>
                <c:pt idx="4">
                  <c:v>0.44173381535245448</c:v>
                </c:pt>
                <c:pt idx="5">
                  <c:v>0.40865650880915583</c:v>
                </c:pt>
                <c:pt idx="6">
                  <c:v>0.34993337058171792</c:v>
                </c:pt>
                <c:pt idx="7">
                  <c:v>0.40697513515614642</c:v>
                </c:pt>
                <c:pt idx="8">
                  <c:v>0.46272116321894219</c:v>
                </c:pt>
                <c:pt idx="9">
                  <c:v>0.45471705047235839</c:v>
                </c:pt>
                <c:pt idx="10">
                  <c:v>0.46003007484959713</c:v>
                </c:pt>
                <c:pt idx="11">
                  <c:v>0.45389940792871941</c:v>
                </c:pt>
                <c:pt idx="12">
                  <c:v>0.48329663594347111</c:v>
                </c:pt>
                <c:pt idx="13">
                  <c:v>0.47680919867274368</c:v>
                </c:pt>
                <c:pt idx="14">
                  <c:v>0.44829074889357062</c:v>
                </c:pt>
                <c:pt idx="15">
                  <c:v>0.50005116879526978</c:v>
                </c:pt>
                <c:pt idx="16">
                  <c:v>0.48911250960208041</c:v>
                </c:pt>
                <c:pt idx="17">
                  <c:v>0.48093939671665198</c:v>
                </c:pt>
                <c:pt idx="18">
                  <c:v>0.48093939671665198</c:v>
                </c:pt>
                <c:pt idx="19">
                  <c:v>0.43884513905041139</c:v>
                </c:pt>
                <c:pt idx="20">
                  <c:v>0.41841958797870449</c:v>
                </c:pt>
                <c:pt idx="21">
                  <c:v>0.41709717241712152</c:v>
                </c:pt>
                <c:pt idx="22">
                  <c:v>0.43526823080164379</c:v>
                </c:pt>
                <c:pt idx="23">
                  <c:v>0.4422710877231617</c:v>
                </c:pt>
                <c:pt idx="24">
                  <c:v>0.45452592912696521</c:v>
                </c:pt>
                <c:pt idx="25">
                  <c:v>0.41691987369678069</c:v>
                </c:pt>
                <c:pt idx="26">
                  <c:v>0.37589159450550103</c:v>
                </c:pt>
                <c:pt idx="27">
                  <c:v>0.41813864387733951</c:v>
                </c:pt>
                <c:pt idx="28">
                  <c:v>0.44589532992508052</c:v>
                </c:pt>
                <c:pt idx="29">
                  <c:v>0.43644508437066831</c:v>
                </c:pt>
                <c:pt idx="30">
                  <c:v>0.44180295385133439</c:v>
                </c:pt>
                <c:pt idx="31">
                  <c:v>0.46724735196135619</c:v>
                </c:pt>
                <c:pt idx="32">
                  <c:v>0.45256820357472788</c:v>
                </c:pt>
                <c:pt idx="33">
                  <c:v>0.46438126479636549</c:v>
                </c:pt>
                <c:pt idx="34">
                  <c:v>0.46225022755971629</c:v>
                </c:pt>
                <c:pt idx="35">
                  <c:v>0.47422847366619147</c:v>
                </c:pt>
                <c:pt idx="36">
                  <c:v>0.45923740402260432</c:v>
                </c:pt>
                <c:pt idx="37">
                  <c:v>0.44239543861191322</c:v>
                </c:pt>
                <c:pt idx="38">
                  <c:v>0.47604640298381867</c:v>
                </c:pt>
                <c:pt idx="39">
                  <c:v>0.45942982875166483</c:v>
                </c:pt>
                <c:pt idx="40">
                  <c:v>0.42793723927101363</c:v>
                </c:pt>
                <c:pt idx="41">
                  <c:v>0.41489519918300422</c:v>
                </c:pt>
                <c:pt idx="42">
                  <c:v>0.41425992727814809</c:v>
                </c:pt>
                <c:pt idx="43">
                  <c:v>0.39987781011394752</c:v>
                </c:pt>
                <c:pt idx="44">
                  <c:v>0.42284282276842983</c:v>
                </c:pt>
                <c:pt idx="45">
                  <c:v>0.42651500375111012</c:v>
                </c:pt>
                <c:pt idx="46">
                  <c:v>0.41468084602924582</c:v>
                </c:pt>
                <c:pt idx="47">
                  <c:v>0.44406173361182832</c:v>
                </c:pt>
                <c:pt idx="48">
                  <c:v>0.42751872006560537</c:v>
                </c:pt>
                <c:pt idx="49">
                  <c:v>0.43307394079649908</c:v>
                </c:pt>
                <c:pt idx="50">
                  <c:v>0.38738053693967178</c:v>
                </c:pt>
              </c:numCache>
            </c:numRef>
          </c:val>
          <c:extLst>
            <c:ext xmlns:c16="http://schemas.microsoft.com/office/drawing/2014/chart" uri="{C3380CC4-5D6E-409C-BE32-E72D297353CC}">
              <c16:uniqueId val="{00000000-3636-4BA8-A7BA-9E430716E996}"/>
            </c:ext>
          </c:extLst>
        </c:ser>
        <c:ser>
          <c:idx val="1"/>
          <c:order val="1"/>
          <c:tx>
            <c:strRef>
              <c:f>敞口!$DB$2</c:f>
              <c:strCache>
                <c:ptCount val="1"/>
                <c:pt idx="0">
                  <c:v>市值 $20亿 - $100亿</c:v>
                </c:pt>
              </c:strCache>
            </c:strRef>
          </c:tx>
          <c:spPr>
            <a:solidFill>
              <a:schemeClr val="accent2"/>
            </a:solidFill>
            <a:ln>
              <a:noFill/>
            </a:ln>
            <a:effectLst/>
          </c:spPr>
          <c:cat>
            <c:numRef>
              <c:f>敞口!$CZ$3:$CZ$53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敞口!$DB$3:$DB$53</c:f>
              <c:numCache>
                <c:formatCode>0.0%</c:formatCode>
                <c:ptCount val="51"/>
                <c:pt idx="0">
                  <c:v>0.1654352356116634</c:v>
                </c:pt>
                <c:pt idx="1">
                  <c:v>0.13178064851355009</c:v>
                </c:pt>
                <c:pt idx="2">
                  <c:v>9.7496991409324343E-2</c:v>
                </c:pt>
                <c:pt idx="3">
                  <c:v>7.9648872614819288E-2</c:v>
                </c:pt>
                <c:pt idx="4">
                  <c:v>8.2834024660467714E-2</c:v>
                </c:pt>
                <c:pt idx="5">
                  <c:v>0.1203796022740201</c:v>
                </c:pt>
                <c:pt idx="6">
                  <c:v>0.14908721106130049</c:v>
                </c:pt>
                <c:pt idx="7">
                  <c:v>0.1242520604986603</c:v>
                </c:pt>
                <c:pt idx="8">
                  <c:v>6.6178194513203101E-2</c:v>
                </c:pt>
                <c:pt idx="9">
                  <c:v>7.1008918496547432E-2</c:v>
                </c:pt>
                <c:pt idx="10">
                  <c:v>7.9390823612677325E-2</c:v>
                </c:pt>
                <c:pt idx="11">
                  <c:v>9.0249076113320975E-2</c:v>
                </c:pt>
                <c:pt idx="12">
                  <c:v>6.3051633097772675E-2</c:v>
                </c:pt>
                <c:pt idx="13">
                  <c:v>6.211740078842036E-2</c:v>
                </c:pt>
                <c:pt idx="14">
                  <c:v>5.9697297884007072E-2</c:v>
                </c:pt>
                <c:pt idx="15">
                  <c:v>3.2210565522719878E-2</c:v>
                </c:pt>
                <c:pt idx="16">
                  <c:v>3.3814848161639932E-2</c:v>
                </c:pt>
                <c:pt idx="17">
                  <c:v>5.5639974052911323E-2</c:v>
                </c:pt>
                <c:pt idx="18">
                  <c:v>5.5639974052911323E-2</c:v>
                </c:pt>
                <c:pt idx="19">
                  <c:v>6.260733013863963E-2</c:v>
                </c:pt>
                <c:pt idx="20">
                  <c:v>7.3438529425567153E-2</c:v>
                </c:pt>
                <c:pt idx="21">
                  <c:v>7.0232211579641338E-2</c:v>
                </c:pt>
                <c:pt idx="22">
                  <c:v>5.3967989671943259E-2</c:v>
                </c:pt>
                <c:pt idx="23">
                  <c:v>5.6990328039059783E-2</c:v>
                </c:pt>
                <c:pt idx="24">
                  <c:v>5.543620763662984E-2</c:v>
                </c:pt>
                <c:pt idx="25">
                  <c:v>8.7118687633383637E-2</c:v>
                </c:pt>
                <c:pt idx="26">
                  <c:v>0.1188817294651575</c:v>
                </c:pt>
                <c:pt idx="27">
                  <c:v>7.5203116063289152E-2</c:v>
                </c:pt>
                <c:pt idx="28">
                  <c:v>7.7558325812730214E-2</c:v>
                </c:pt>
                <c:pt idx="29">
                  <c:v>5.3063121510035262E-2</c:v>
                </c:pt>
                <c:pt idx="30">
                  <c:v>7.1301729555254711E-2</c:v>
                </c:pt>
                <c:pt idx="31">
                  <c:v>2.8736219709651501E-2</c:v>
                </c:pt>
                <c:pt idx="32">
                  <c:v>5.17936461286597E-2</c:v>
                </c:pt>
                <c:pt idx="33">
                  <c:v>2.7079394530014761E-2</c:v>
                </c:pt>
                <c:pt idx="34">
                  <c:v>3.690952909936876E-2</c:v>
                </c:pt>
                <c:pt idx="35">
                  <c:v>5.3049849491628803E-2</c:v>
                </c:pt>
                <c:pt idx="36">
                  <c:v>5.8074690421177563E-2</c:v>
                </c:pt>
                <c:pt idx="37">
                  <c:v>8.0238670971610526E-2</c:v>
                </c:pt>
                <c:pt idx="38">
                  <c:v>4.8592263742724982E-2</c:v>
                </c:pt>
                <c:pt idx="39">
                  <c:v>6.2616162748362555E-2</c:v>
                </c:pt>
                <c:pt idx="40">
                  <c:v>8.9278913859577563E-2</c:v>
                </c:pt>
                <c:pt idx="41">
                  <c:v>9.6160481661570776E-2</c:v>
                </c:pt>
                <c:pt idx="42">
                  <c:v>9.2641568334680235E-2</c:v>
                </c:pt>
                <c:pt idx="43">
                  <c:v>0.1289304827555694</c:v>
                </c:pt>
                <c:pt idx="44">
                  <c:v>0.105717156941891</c:v>
                </c:pt>
                <c:pt idx="45">
                  <c:v>8.7929005360884827E-2</c:v>
                </c:pt>
                <c:pt idx="46">
                  <c:v>9.1194360075288514E-2</c:v>
                </c:pt>
                <c:pt idx="47">
                  <c:v>6.8224152617638784E-2</c:v>
                </c:pt>
                <c:pt idx="48">
                  <c:v>7.3927329015270757E-2</c:v>
                </c:pt>
                <c:pt idx="49">
                  <c:v>8.0865965871834408E-2</c:v>
                </c:pt>
                <c:pt idx="50">
                  <c:v>0.1054328510843375</c:v>
                </c:pt>
              </c:numCache>
            </c:numRef>
          </c:val>
          <c:extLst>
            <c:ext xmlns:c16="http://schemas.microsoft.com/office/drawing/2014/chart" uri="{C3380CC4-5D6E-409C-BE32-E72D297353CC}">
              <c16:uniqueId val="{00000001-3636-4BA8-A7BA-9E430716E996}"/>
            </c:ext>
          </c:extLst>
        </c:ser>
        <c:ser>
          <c:idx val="2"/>
          <c:order val="2"/>
          <c:tx>
            <c:strRef>
              <c:f>敞口!$DC$2</c:f>
              <c:strCache>
                <c:ptCount val="1"/>
                <c:pt idx="0">
                  <c:v>市值 &lt; $20亿</c:v>
                </c:pt>
              </c:strCache>
            </c:strRef>
          </c:tx>
          <c:spPr>
            <a:solidFill>
              <a:schemeClr val="accent3"/>
            </a:solidFill>
            <a:ln>
              <a:noFill/>
            </a:ln>
            <a:effectLst/>
          </c:spPr>
          <c:cat>
            <c:numRef>
              <c:f>敞口!$CZ$3:$CZ$53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敞口!$DC$3:$DC$53</c:f>
              <c:numCache>
                <c:formatCode>0.0%</c:formatCode>
                <c:ptCount val="51"/>
                <c:pt idx="0">
                  <c:v>1.6152978736826119E-2</c:v>
                </c:pt>
                <c:pt idx="1">
                  <c:v>1.0905748239935431E-2</c:v>
                </c:pt>
                <c:pt idx="2">
                  <c:v>1.239237234531063E-2</c:v>
                </c:pt>
                <c:pt idx="3">
                  <c:v>0</c:v>
                </c:pt>
                <c:pt idx="4">
                  <c:v>0</c:v>
                </c:pt>
                <c:pt idx="5">
                  <c:v>0</c:v>
                </c:pt>
                <c:pt idx="6">
                  <c:v>0</c:v>
                </c:pt>
                <c:pt idx="7">
                  <c:v>0</c:v>
                </c:pt>
                <c:pt idx="8">
                  <c:v>0</c:v>
                </c:pt>
                <c:pt idx="9">
                  <c:v>0</c:v>
                </c:pt>
                <c:pt idx="10">
                  <c:v>0</c:v>
                </c:pt>
                <c:pt idx="11">
                  <c:v>0</c:v>
                </c:pt>
                <c:pt idx="12">
                  <c:v>0</c:v>
                </c:pt>
                <c:pt idx="13">
                  <c:v>6.5590140783879551E-3</c:v>
                </c:pt>
                <c:pt idx="14">
                  <c:v>7.8209203829335307E-3</c:v>
                </c:pt>
                <c:pt idx="15">
                  <c:v>8.8854968235951067E-3</c:v>
                </c:pt>
                <c:pt idx="16">
                  <c:v>1.1087808913507319E-2</c:v>
                </c:pt>
                <c:pt idx="17">
                  <c:v>3.2669773744392859E-3</c:v>
                </c:pt>
                <c:pt idx="18">
                  <c:v>3.2669773744392859E-3</c:v>
                </c:pt>
                <c:pt idx="19">
                  <c:v>1.4239571847937159E-2</c:v>
                </c:pt>
                <c:pt idx="20">
                  <c:v>1.292983312966467E-2</c:v>
                </c:pt>
                <c:pt idx="21">
                  <c:v>7.0011189613303753E-3</c:v>
                </c:pt>
                <c:pt idx="22">
                  <c:v>1.047054156001808E-2</c:v>
                </c:pt>
                <c:pt idx="23">
                  <c:v>1.6492647172403521E-2</c:v>
                </c:pt>
                <c:pt idx="24">
                  <c:v>0</c:v>
                </c:pt>
                <c:pt idx="25">
                  <c:v>0</c:v>
                </c:pt>
                <c:pt idx="26">
                  <c:v>1.930673715688128E-2</c:v>
                </c:pt>
                <c:pt idx="27">
                  <c:v>3.006782710652017E-2</c:v>
                </c:pt>
                <c:pt idx="28">
                  <c:v>0</c:v>
                </c:pt>
                <c:pt idx="29">
                  <c:v>2.2487004622658419E-2</c:v>
                </c:pt>
                <c:pt idx="30">
                  <c:v>2.912073277531384E-3</c:v>
                </c:pt>
                <c:pt idx="31">
                  <c:v>2.0564309431564249E-2</c:v>
                </c:pt>
                <c:pt idx="32">
                  <c:v>1.8198862335915309E-2</c:v>
                </c:pt>
                <c:pt idx="33">
                  <c:v>1.4992901076457159E-2</c:v>
                </c:pt>
                <c:pt idx="34">
                  <c:v>3.178862107873744E-3</c:v>
                </c:pt>
                <c:pt idx="35">
                  <c:v>2.7366324923830741E-3</c:v>
                </c:pt>
                <c:pt idx="36">
                  <c:v>9.2997894050923166E-3</c:v>
                </c:pt>
                <c:pt idx="37">
                  <c:v>8.3816819883163077E-4</c:v>
                </c:pt>
                <c:pt idx="38">
                  <c:v>6.2819214441559648E-3</c:v>
                </c:pt>
                <c:pt idx="39">
                  <c:v>2.309617681237303E-3</c:v>
                </c:pt>
                <c:pt idx="40">
                  <c:v>1.1454124043752431E-3</c:v>
                </c:pt>
                <c:pt idx="41">
                  <c:v>2.1576104695164001E-3</c:v>
                </c:pt>
                <c:pt idx="42">
                  <c:v>5.9719593286375111E-4</c:v>
                </c:pt>
                <c:pt idx="43">
                  <c:v>6.3687840725798136E-4</c:v>
                </c:pt>
                <c:pt idx="44">
                  <c:v>7.4882865099812758E-4</c:v>
                </c:pt>
                <c:pt idx="45">
                  <c:v>7.3932892004455392E-4</c:v>
                </c:pt>
                <c:pt idx="46">
                  <c:v>5.1284749095885599E-3</c:v>
                </c:pt>
                <c:pt idx="47">
                  <c:v>4.5458413658387648E-3</c:v>
                </c:pt>
                <c:pt idx="48">
                  <c:v>5.5441901994753382E-3</c:v>
                </c:pt>
                <c:pt idx="49">
                  <c:v>6.8894163114710744E-3</c:v>
                </c:pt>
                <c:pt idx="50">
                  <c:v>5.4279775521246573E-3</c:v>
                </c:pt>
              </c:numCache>
            </c:numRef>
          </c:val>
          <c:extLst>
            <c:ext xmlns:c16="http://schemas.microsoft.com/office/drawing/2014/chart" uri="{C3380CC4-5D6E-409C-BE32-E72D297353CC}">
              <c16:uniqueId val="{00000002-3636-4BA8-A7BA-9E430716E996}"/>
            </c:ext>
          </c:extLst>
        </c:ser>
        <c:ser>
          <c:idx val="3"/>
          <c:order val="3"/>
          <c:tx>
            <c:strRef>
              <c:f>敞口!$DD$2</c:f>
              <c:strCache>
                <c:ptCount val="1"/>
                <c:pt idx="0">
                  <c:v>未知</c:v>
                </c:pt>
              </c:strCache>
            </c:strRef>
          </c:tx>
          <c:spPr>
            <a:solidFill>
              <a:schemeClr val="accent4"/>
            </a:solidFill>
            <a:ln>
              <a:noFill/>
            </a:ln>
            <a:effectLst/>
          </c:spPr>
          <c:cat>
            <c:numRef>
              <c:f>敞口!$CZ$3:$CZ$53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敞口!$DD$3:$DD$53</c:f>
              <c:numCache>
                <c:formatCode>0.0%</c:formatCode>
                <c:ptCount val="5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1.094147619987078E-2</c:v>
                </c:pt>
                <c:pt idx="46">
                  <c:v>1.181913852799938E-2</c:v>
                </c:pt>
                <c:pt idx="47">
                  <c:v>1.055112951149461E-2</c:v>
                </c:pt>
                <c:pt idx="48">
                  <c:v>1.173949935886663E-2</c:v>
                </c:pt>
                <c:pt idx="49">
                  <c:v>1.0897742064610701E-2</c:v>
                </c:pt>
                <c:pt idx="50">
                  <c:v>1.146291653476513E-2</c:v>
                </c:pt>
              </c:numCache>
            </c:numRef>
          </c:val>
          <c:extLst>
            <c:ext xmlns:c16="http://schemas.microsoft.com/office/drawing/2014/chart" uri="{C3380CC4-5D6E-409C-BE32-E72D297353CC}">
              <c16:uniqueId val="{00000003-3636-4BA8-A7BA-9E430716E996}"/>
            </c:ext>
          </c:extLst>
        </c:ser>
        <c:dLbls>
          <c:showLegendKey val="0"/>
          <c:showVal val="0"/>
          <c:showCatName val="0"/>
          <c:showSerName val="0"/>
          <c:showPercent val="0"/>
          <c:showBubbleSize val="0"/>
        </c:dLbls>
        <c:axId val="1162756607"/>
        <c:axId val="1162739135"/>
      </c:areaChart>
      <c:dateAx>
        <c:axId val="1162756607"/>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162739135"/>
        <c:crosses val="autoZero"/>
        <c:auto val="1"/>
        <c:lblOffset val="100"/>
        <c:baseTimeUnit val="months"/>
        <c:majorUnit val="6"/>
        <c:majorTimeUnit val="months"/>
      </c:dateAx>
      <c:valAx>
        <c:axId val="1162739135"/>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162756607"/>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zero"/>
    <c:showDLblsOverMax val="0"/>
  </c:chart>
  <c:spPr>
    <a:solidFill>
      <a:schemeClr val="bg1"/>
    </a:solidFill>
    <a:ln w="9525" cap="flat" cmpd="sng" algn="ctr">
      <a:noFill/>
      <a:round/>
    </a:ln>
    <a:effectLst/>
  </c:spPr>
  <c:txPr>
    <a:bodyPr/>
    <a:lstStyle/>
    <a:p>
      <a:pPr>
        <a:defRPr>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sz="1200" b="1"/>
              <a:t>市值分布</a:t>
            </a:r>
            <a:r>
              <a:rPr lang="en-US" altLang="zh-CN" sz="1200" b="1"/>
              <a:t>——</a:t>
            </a:r>
            <a:r>
              <a:rPr lang="zh-CN" altLang="en-US" sz="1200" b="1"/>
              <a:t>空头</a:t>
            </a:r>
            <a:endParaRPr lang="zh-CN" sz="1200" b="1"/>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areaChart>
        <c:grouping val="standard"/>
        <c:varyColors val="0"/>
        <c:ser>
          <c:idx val="0"/>
          <c:order val="0"/>
          <c:tx>
            <c:strRef>
              <c:f>敞口!$DF$2</c:f>
              <c:strCache>
                <c:ptCount val="1"/>
                <c:pt idx="0">
                  <c:v>市值 &gt; $100亿</c:v>
                </c:pt>
              </c:strCache>
            </c:strRef>
          </c:tx>
          <c:spPr>
            <a:solidFill>
              <a:schemeClr val="accent1"/>
            </a:solidFill>
            <a:ln>
              <a:noFill/>
            </a:ln>
            <a:effectLst/>
          </c:spPr>
          <c:cat>
            <c:numRef>
              <c:f>敞口!$DE$3:$DE$53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敞口!$DF$3:$DF$53</c:f>
              <c:numCache>
                <c:formatCode>0.0%</c:formatCode>
                <c:ptCount val="51"/>
                <c:pt idx="0">
                  <c:v>0.35194370188252772</c:v>
                </c:pt>
                <c:pt idx="1">
                  <c:v>0.38278113669069902</c:v>
                </c:pt>
                <c:pt idx="2">
                  <c:v>0.32476358640004571</c:v>
                </c:pt>
                <c:pt idx="3">
                  <c:v>0.35224697208243649</c:v>
                </c:pt>
                <c:pt idx="4">
                  <c:v>0.38394729910743353</c:v>
                </c:pt>
                <c:pt idx="5">
                  <c:v>0.31656525640196381</c:v>
                </c:pt>
                <c:pt idx="6">
                  <c:v>0.29162412222754541</c:v>
                </c:pt>
                <c:pt idx="7">
                  <c:v>0.34780486618107181</c:v>
                </c:pt>
                <c:pt idx="8">
                  <c:v>0.32026284982075082</c:v>
                </c:pt>
                <c:pt idx="9">
                  <c:v>0.30918810635909622</c:v>
                </c:pt>
                <c:pt idx="10">
                  <c:v>0.30663146416844511</c:v>
                </c:pt>
                <c:pt idx="11">
                  <c:v>0.28095411763348521</c:v>
                </c:pt>
                <c:pt idx="12">
                  <c:v>0.21665217877622309</c:v>
                </c:pt>
                <c:pt idx="13">
                  <c:v>0.26899597162710148</c:v>
                </c:pt>
                <c:pt idx="14">
                  <c:v>0.28137198166375887</c:v>
                </c:pt>
                <c:pt idx="15">
                  <c:v>0.24194113015557001</c:v>
                </c:pt>
                <c:pt idx="16">
                  <c:v>0.2414148044694395</c:v>
                </c:pt>
                <c:pt idx="17">
                  <c:v>0.29398927324060548</c:v>
                </c:pt>
                <c:pt idx="18">
                  <c:v>0.26551503873723897</c:v>
                </c:pt>
                <c:pt idx="19">
                  <c:v>0.33233991180737188</c:v>
                </c:pt>
                <c:pt idx="20">
                  <c:v>0.33987493918397987</c:v>
                </c:pt>
                <c:pt idx="21">
                  <c:v>0.33987110237423418</c:v>
                </c:pt>
                <c:pt idx="22">
                  <c:v>0.33670466796758769</c:v>
                </c:pt>
                <c:pt idx="23">
                  <c:v>0.31826524803808182</c:v>
                </c:pt>
                <c:pt idx="24">
                  <c:v>0.36174368122740869</c:v>
                </c:pt>
                <c:pt idx="25">
                  <c:v>0.34614117962401492</c:v>
                </c:pt>
                <c:pt idx="26">
                  <c:v>0.35641614839962499</c:v>
                </c:pt>
                <c:pt idx="27">
                  <c:v>0.35318897176680297</c:v>
                </c:pt>
                <c:pt idx="28">
                  <c:v>0.38603558214075279</c:v>
                </c:pt>
                <c:pt idx="29">
                  <c:v>0.36330213353328039</c:v>
                </c:pt>
                <c:pt idx="30">
                  <c:v>0.34852801807761802</c:v>
                </c:pt>
                <c:pt idx="31">
                  <c:v>0.35395301852371808</c:v>
                </c:pt>
                <c:pt idx="32">
                  <c:v>0.36236301946859067</c:v>
                </c:pt>
                <c:pt idx="33">
                  <c:v>0.37068458942234922</c:v>
                </c:pt>
                <c:pt idx="34">
                  <c:v>0.39565513100386479</c:v>
                </c:pt>
                <c:pt idx="35">
                  <c:v>0.40269639099107701</c:v>
                </c:pt>
                <c:pt idx="36">
                  <c:v>0.40545246988128991</c:v>
                </c:pt>
                <c:pt idx="37">
                  <c:v>0.41683069219457453</c:v>
                </c:pt>
                <c:pt idx="38">
                  <c:v>0.41397583495871187</c:v>
                </c:pt>
                <c:pt idx="39">
                  <c:v>0.41893211759729848</c:v>
                </c:pt>
                <c:pt idx="40">
                  <c:v>0.43539319310864683</c:v>
                </c:pt>
                <c:pt idx="41">
                  <c:v>0.43570178995442949</c:v>
                </c:pt>
                <c:pt idx="42">
                  <c:v>0.43245469134130488</c:v>
                </c:pt>
                <c:pt idx="43">
                  <c:v>0.43245469134130488</c:v>
                </c:pt>
                <c:pt idx="44">
                  <c:v>0.43934551039878611</c:v>
                </c:pt>
                <c:pt idx="45">
                  <c:v>0.42304212055299562</c:v>
                </c:pt>
                <c:pt idx="46">
                  <c:v>0.39713763063401653</c:v>
                </c:pt>
                <c:pt idx="47">
                  <c:v>0.40456708807893033</c:v>
                </c:pt>
                <c:pt idx="48">
                  <c:v>0.39939473844246748</c:v>
                </c:pt>
                <c:pt idx="49">
                  <c:v>0.42114627601734478</c:v>
                </c:pt>
                <c:pt idx="50">
                  <c:v>0.43388911235255168</c:v>
                </c:pt>
              </c:numCache>
            </c:numRef>
          </c:val>
          <c:extLst>
            <c:ext xmlns:c16="http://schemas.microsoft.com/office/drawing/2014/chart" uri="{C3380CC4-5D6E-409C-BE32-E72D297353CC}">
              <c16:uniqueId val="{00000000-D16B-4EEF-8BF6-59193B74B3D4}"/>
            </c:ext>
          </c:extLst>
        </c:ser>
        <c:ser>
          <c:idx val="1"/>
          <c:order val="1"/>
          <c:tx>
            <c:strRef>
              <c:f>敞口!$DG$2</c:f>
              <c:strCache>
                <c:ptCount val="1"/>
                <c:pt idx="0">
                  <c:v>市值 $20亿 - $100亿</c:v>
                </c:pt>
              </c:strCache>
            </c:strRef>
          </c:tx>
          <c:spPr>
            <a:solidFill>
              <a:schemeClr val="accent2"/>
            </a:solidFill>
            <a:ln>
              <a:noFill/>
            </a:ln>
            <a:effectLst/>
          </c:spPr>
          <c:cat>
            <c:numRef>
              <c:f>敞口!$DE$3:$DE$53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敞口!$DG$3:$DG$53</c:f>
              <c:numCache>
                <c:formatCode>0.0%</c:formatCode>
                <c:ptCount val="51"/>
                <c:pt idx="0">
                  <c:v>0.1237259526703454</c:v>
                </c:pt>
                <c:pt idx="1">
                  <c:v>8.1693936924796498E-2</c:v>
                </c:pt>
                <c:pt idx="2">
                  <c:v>0.1433733818708792</c:v>
                </c:pt>
                <c:pt idx="3">
                  <c:v>0.1286127152327855</c:v>
                </c:pt>
                <c:pt idx="4">
                  <c:v>7.4950304138015525E-2</c:v>
                </c:pt>
                <c:pt idx="5">
                  <c:v>0.1461823396295413</c:v>
                </c:pt>
                <c:pt idx="6">
                  <c:v>0.1776577434385247</c:v>
                </c:pt>
                <c:pt idx="7">
                  <c:v>0.109568475472709</c:v>
                </c:pt>
                <c:pt idx="8">
                  <c:v>0.14868193052244211</c:v>
                </c:pt>
                <c:pt idx="9">
                  <c:v>0.16508592467199759</c:v>
                </c:pt>
                <c:pt idx="10">
                  <c:v>0.14556146757548891</c:v>
                </c:pt>
                <c:pt idx="11">
                  <c:v>0.1748973983244744</c:v>
                </c:pt>
                <c:pt idx="12">
                  <c:v>0.21095780875897341</c:v>
                </c:pt>
                <c:pt idx="13">
                  <c:v>0.16658305696787751</c:v>
                </c:pt>
                <c:pt idx="14">
                  <c:v>0.19976509421673841</c:v>
                </c:pt>
                <c:pt idx="15">
                  <c:v>0.2116197230331256</c:v>
                </c:pt>
                <c:pt idx="16">
                  <c:v>0.22013019463601111</c:v>
                </c:pt>
                <c:pt idx="17">
                  <c:v>0.16616437861539221</c:v>
                </c:pt>
                <c:pt idx="18">
                  <c:v>0.1967971405889854</c:v>
                </c:pt>
                <c:pt idx="19">
                  <c:v>0.1452749571243499</c:v>
                </c:pt>
                <c:pt idx="20">
                  <c:v>0.1300577095541213</c:v>
                </c:pt>
                <c:pt idx="21">
                  <c:v>0.1429257023297836</c:v>
                </c:pt>
                <c:pt idx="22">
                  <c:v>0.13475682640618239</c:v>
                </c:pt>
                <c:pt idx="23">
                  <c:v>0.13486653373132579</c:v>
                </c:pt>
                <c:pt idx="24">
                  <c:v>0.11133865263077759</c:v>
                </c:pt>
                <c:pt idx="25">
                  <c:v>0.12558802290018331</c:v>
                </c:pt>
                <c:pt idx="26">
                  <c:v>0.1096560143348512</c:v>
                </c:pt>
                <c:pt idx="27">
                  <c:v>0.1146129804953583</c:v>
                </c:pt>
                <c:pt idx="28">
                  <c:v>8.7038454739628721E-2</c:v>
                </c:pt>
                <c:pt idx="29">
                  <c:v>0.12470265596335781</c:v>
                </c:pt>
                <c:pt idx="30">
                  <c:v>0.13545522523826081</c:v>
                </c:pt>
                <c:pt idx="31">
                  <c:v>0.1263777903703539</c:v>
                </c:pt>
                <c:pt idx="32">
                  <c:v>0.1120729341415939</c:v>
                </c:pt>
                <c:pt idx="33">
                  <c:v>0.1199049470164294</c:v>
                </c:pt>
                <c:pt idx="34">
                  <c:v>9.9327328341492188E-2</c:v>
                </c:pt>
                <c:pt idx="35">
                  <c:v>6.5153120610952325E-2</c:v>
                </c:pt>
                <c:pt idx="36">
                  <c:v>6.5489502634470412E-2</c:v>
                </c:pt>
                <c:pt idx="37">
                  <c:v>5.7351191457583099E-2</c:v>
                </c:pt>
                <c:pt idx="38">
                  <c:v>5.2792081691720408E-2</c:v>
                </c:pt>
                <c:pt idx="39">
                  <c:v>5.4188052137011868E-2</c:v>
                </c:pt>
                <c:pt idx="40">
                  <c:v>4.3672000023789348E-2</c:v>
                </c:pt>
                <c:pt idx="41">
                  <c:v>4.8646151472654817E-2</c:v>
                </c:pt>
                <c:pt idx="42">
                  <c:v>5.6409320179514083E-2</c:v>
                </c:pt>
                <c:pt idx="43">
                  <c:v>5.6409320179514083E-2</c:v>
                </c:pt>
                <c:pt idx="44">
                  <c:v>3.1345681239895097E-2</c:v>
                </c:pt>
                <c:pt idx="45">
                  <c:v>5.0833065215093703E-2</c:v>
                </c:pt>
                <c:pt idx="46">
                  <c:v>8.0039549823861134E-2</c:v>
                </c:pt>
                <c:pt idx="47">
                  <c:v>6.6710166877604407E-2</c:v>
                </c:pt>
                <c:pt idx="48">
                  <c:v>8.1875522918314236E-2</c:v>
                </c:pt>
                <c:pt idx="49">
                  <c:v>4.7126658938240237E-2</c:v>
                </c:pt>
                <c:pt idx="50">
                  <c:v>5.5723988856904133E-2</c:v>
                </c:pt>
              </c:numCache>
            </c:numRef>
          </c:val>
          <c:extLst>
            <c:ext xmlns:c16="http://schemas.microsoft.com/office/drawing/2014/chart" uri="{C3380CC4-5D6E-409C-BE32-E72D297353CC}">
              <c16:uniqueId val="{00000001-D16B-4EEF-8BF6-59193B74B3D4}"/>
            </c:ext>
          </c:extLst>
        </c:ser>
        <c:ser>
          <c:idx val="2"/>
          <c:order val="2"/>
          <c:tx>
            <c:strRef>
              <c:f>敞口!$DH$2</c:f>
              <c:strCache>
                <c:ptCount val="1"/>
                <c:pt idx="0">
                  <c:v>市值 &lt; $20亿</c:v>
                </c:pt>
              </c:strCache>
            </c:strRef>
          </c:tx>
          <c:spPr>
            <a:solidFill>
              <a:schemeClr val="accent3"/>
            </a:solidFill>
            <a:ln>
              <a:noFill/>
            </a:ln>
            <a:effectLst/>
          </c:spPr>
          <c:cat>
            <c:numRef>
              <c:f>敞口!$DE$3:$DE$53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敞口!$DH$3:$DH$53</c:f>
              <c:numCache>
                <c:formatCode>0.0%</c:formatCode>
                <c:ptCount val="51"/>
                <c:pt idx="0">
                  <c:v>0</c:v>
                </c:pt>
                <c:pt idx="1">
                  <c:v>0</c:v>
                </c:pt>
                <c:pt idx="2">
                  <c:v>0</c:v>
                </c:pt>
                <c:pt idx="3">
                  <c:v>0</c:v>
                </c:pt>
                <c:pt idx="4">
                  <c:v>0</c:v>
                </c:pt>
                <c:pt idx="5">
                  <c:v>0</c:v>
                </c:pt>
                <c:pt idx="6">
                  <c:v>0</c:v>
                </c:pt>
                <c:pt idx="7">
                  <c:v>0</c:v>
                </c:pt>
                <c:pt idx="8">
                  <c:v>2.155861924662124E-3</c:v>
                </c:pt>
                <c:pt idx="9">
                  <c:v>0</c:v>
                </c:pt>
                <c:pt idx="10">
                  <c:v>8.3861697937915695E-3</c:v>
                </c:pt>
                <c:pt idx="11">
                  <c:v>0</c:v>
                </c:pt>
                <c:pt idx="12">
                  <c:v>9.1989208622910018E-3</c:v>
                </c:pt>
                <c:pt idx="13">
                  <c:v>9.2565504441352153E-3</c:v>
                </c:pt>
                <c:pt idx="14">
                  <c:v>3.0539569589916808E-3</c:v>
                </c:pt>
                <c:pt idx="15">
                  <c:v>5.2919156697198173E-3</c:v>
                </c:pt>
                <c:pt idx="16">
                  <c:v>4.4398342173207978E-3</c:v>
                </c:pt>
                <c:pt idx="17">
                  <c:v>0</c:v>
                </c:pt>
                <c:pt idx="18">
                  <c:v>1.4843778272945489E-2</c:v>
                </c:pt>
                <c:pt idx="19">
                  <c:v>6.693090031290227E-3</c:v>
                </c:pt>
                <c:pt idx="20">
                  <c:v>2.527940072796243E-2</c:v>
                </c:pt>
                <c:pt idx="21">
                  <c:v>2.2872692337888939E-2</c:v>
                </c:pt>
                <c:pt idx="22">
                  <c:v>2.8831743592624859E-2</c:v>
                </c:pt>
                <c:pt idx="23">
                  <c:v>3.1114155295968709E-2</c:v>
                </c:pt>
                <c:pt idx="24">
                  <c:v>1.6955529378218839E-2</c:v>
                </c:pt>
                <c:pt idx="25">
                  <c:v>2.4232236145639279E-2</c:v>
                </c:pt>
                <c:pt idx="26">
                  <c:v>1.984777613798366E-2</c:v>
                </c:pt>
                <c:pt idx="27">
                  <c:v>8.7884606906895538E-3</c:v>
                </c:pt>
                <c:pt idx="28">
                  <c:v>3.472307381807334E-3</c:v>
                </c:pt>
                <c:pt idx="29">
                  <c:v>0</c:v>
                </c:pt>
                <c:pt idx="30">
                  <c:v>0</c:v>
                </c:pt>
                <c:pt idx="31">
                  <c:v>3.1213100033557709E-3</c:v>
                </c:pt>
                <c:pt idx="32">
                  <c:v>3.003334350512421E-3</c:v>
                </c:pt>
                <c:pt idx="33">
                  <c:v>2.9569031583839421E-3</c:v>
                </c:pt>
                <c:pt idx="34">
                  <c:v>2.678921887683771E-3</c:v>
                </c:pt>
                <c:pt idx="35">
                  <c:v>2.1355327477673128E-3</c:v>
                </c:pt>
                <c:pt idx="36">
                  <c:v>2.4461436353655098E-3</c:v>
                </c:pt>
                <c:pt idx="37">
                  <c:v>2.345838565485541E-3</c:v>
                </c:pt>
                <c:pt idx="38">
                  <c:v>2.3114951788686939E-3</c:v>
                </c:pt>
                <c:pt idx="39">
                  <c:v>2.5242210844250062E-3</c:v>
                </c:pt>
                <c:pt idx="40">
                  <c:v>2.5732413325964551E-3</c:v>
                </c:pt>
                <c:pt idx="41">
                  <c:v>2.4387672588241449E-3</c:v>
                </c:pt>
                <c:pt idx="42">
                  <c:v>1.0133134101973551E-3</c:v>
                </c:pt>
                <c:pt idx="43">
                  <c:v>1.0133134101973551E-3</c:v>
                </c:pt>
                <c:pt idx="44">
                  <c:v>0</c:v>
                </c:pt>
                <c:pt idx="45">
                  <c:v>0</c:v>
                </c:pt>
                <c:pt idx="46">
                  <c:v>0</c:v>
                </c:pt>
                <c:pt idx="47">
                  <c:v>1.3398879366646999E-3</c:v>
                </c:pt>
                <c:pt idx="48">
                  <c:v>0</c:v>
                </c:pt>
                <c:pt idx="49">
                  <c:v>0</c:v>
                </c:pt>
                <c:pt idx="50">
                  <c:v>6.8261667964526339E-4</c:v>
                </c:pt>
              </c:numCache>
            </c:numRef>
          </c:val>
          <c:extLst>
            <c:ext xmlns:c16="http://schemas.microsoft.com/office/drawing/2014/chart" uri="{C3380CC4-5D6E-409C-BE32-E72D297353CC}">
              <c16:uniqueId val="{00000002-D16B-4EEF-8BF6-59193B74B3D4}"/>
            </c:ext>
          </c:extLst>
        </c:ser>
        <c:ser>
          <c:idx val="3"/>
          <c:order val="3"/>
          <c:tx>
            <c:strRef>
              <c:f>敞口!$DI$2</c:f>
              <c:strCache>
                <c:ptCount val="1"/>
                <c:pt idx="0">
                  <c:v>未知</c:v>
                </c:pt>
              </c:strCache>
            </c:strRef>
          </c:tx>
          <c:spPr>
            <a:solidFill>
              <a:schemeClr val="accent4"/>
            </a:solidFill>
            <a:ln>
              <a:noFill/>
            </a:ln>
            <a:effectLst/>
          </c:spPr>
          <c:cat>
            <c:numRef>
              <c:f>敞口!$DE$3:$DE$53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敞口!$DI$3:$DI$53</c:f>
              <c:numCache>
                <c:formatCode>0.0%</c:formatCode>
                <c:ptCount val="51"/>
                <c:pt idx="0">
                  <c:v>0</c:v>
                </c:pt>
                <c:pt idx="1">
                  <c:v>0</c:v>
                </c:pt>
                <c:pt idx="2">
                  <c:v>0</c:v>
                </c:pt>
                <c:pt idx="3">
                  <c:v>0</c:v>
                </c:pt>
                <c:pt idx="4">
                  <c:v>1.6534556741629049E-2</c:v>
                </c:pt>
                <c:pt idx="5">
                  <c:v>8.2162928853191531E-3</c:v>
                </c:pt>
                <c:pt idx="6">
                  <c:v>3.1697552690911332E-2</c:v>
                </c:pt>
                <c:pt idx="7">
                  <c:v>1.1399462691413001E-2</c:v>
                </c:pt>
                <c:pt idx="8">
                  <c:v>0</c:v>
                </c:pt>
                <c:pt idx="9">
                  <c:v>0</c:v>
                </c:pt>
                <c:pt idx="10">
                  <c:v>0</c:v>
                </c:pt>
                <c:pt idx="11">
                  <c:v>0</c:v>
                </c:pt>
                <c:pt idx="12">
                  <c:v>1.6842822561268969E-2</c:v>
                </c:pt>
                <c:pt idx="13">
                  <c:v>9.6788074213336409E-3</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numCache>
            </c:numRef>
          </c:val>
          <c:extLst>
            <c:ext xmlns:c16="http://schemas.microsoft.com/office/drawing/2014/chart" uri="{C3380CC4-5D6E-409C-BE32-E72D297353CC}">
              <c16:uniqueId val="{00000003-D16B-4EEF-8BF6-59193B74B3D4}"/>
            </c:ext>
          </c:extLst>
        </c:ser>
        <c:dLbls>
          <c:showLegendKey val="0"/>
          <c:showVal val="0"/>
          <c:showCatName val="0"/>
          <c:showSerName val="0"/>
          <c:showPercent val="0"/>
          <c:showBubbleSize val="0"/>
        </c:dLbls>
        <c:axId val="1156284223"/>
        <c:axId val="1156282975"/>
      </c:areaChart>
      <c:dateAx>
        <c:axId val="1156284223"/>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156282975"/>
        <c:crosses val="autoZero"/>
        <c:auto val="1"/>
        <c:lblOffset val="100"/>
        <c:baseTimeUnit val="months"/>
        <c:majorUnit val="6"/>
        <c:majorTimeUnit val="months"/>
      </c:dateAx>
      <c:valAx>
        <c:axId val="1156282975"/>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156284223"/>
        <c:crosses val="autoZero"/>
        <c:crossBetween val="midCat"/>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zero"/>
    <c:showDLblsOverMax val="0"/>
  </c:chart>
  <c:spPr>
    <a:solidFill>
      <a:schemeClr val="bg1"/>
    </a:solidFill>
    <a:ln w="9525" cap="flat" cmpd="sng" algn="ctr">
      <a:noFill/>
      <a:round/>
    </a:ln>
    <a:effectLst/>
  </c:spPr>
  <c:txPr>
    <a:bodyPr/>
    <a:lstStyle/>
    <a:p>
      <a:pPr>
        <a:defRPr>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sz="1200" b="1"/>
              <a:t>市值分布</a:t>
            </a:r>
            <a:r>
              <a:rPr lang="en-US" sz="1200" b="1"/>
              <a:t>——</a:t>
            </a:r>
            <a:r>
              <a:rPr lang="zh-CN" sz="1200" b="1"/>
              <a:t>总敞口</a:t>
            </a:r>
          </a:p>
        </c:rich>
      </c:tx>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areaChart>
        <c:grouping val="stacked"/>
        <c:varyColors val="0"/>
        <c:ser>
          <c:idx val="0"/>
          <c:order val="0"/>
          <c:tx>
            <c:strRef>
              <c:f>敞口!$DK$2</c:f>
              <c:strCache>
                <c:ptCount val="1"/>
                <c:pt idx="0">
                  <c:v>市值 &gt; $100亿</c:v>
                </c:pt>
              </c:strCache>
            </c:strRef>
          </c:tx>
          <c:spPr>
            <a:solidFill>
              <a:schemeClr val="accent1"/>
            </a:solidFill>
            <a:ln>
              <a:noFill/>
            </a:ln>
            <a:effectLst/>
          </c:spPr>
          <c:cat>
            <c:numRef>
              <c:f>敞口!$DJ$3:$DJ$53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敞口!$DK$3:$DK$53</c:f>
              <c:numCache>
                <c:formatCode>0.0%</c:formatCode>
                <c:ptCount val="51"/>
                <c:pt idx="0">
                  <c:v>0.69468583298116515</c:v>
                </c:pt>
                <c:pt idx="1">
                  <c:v>0.77561966632171808</c:v>
                </c:pt>
                <c:pt idx="2">
                  <c:v>0.74673725437448601</c:v>
                </c:pt>
                <c:pt idx="3">
                  <c:v>0.79173841215239515</c:v>
                </c:pt>
                <c:pt idx="4">
                  <c:v>0.82568111445988801</c:v>
                </c:pt>
                <c:pt idx="5">
                  <c:v>0.7252217652111197</c:v>
                </c:pt>
                <c:pt idx="6">
                  <c:v>0.64155749280926333</c:v>
                </c:pt>
                <c:pt idx="7">
                  <c:v>0.75478000133721823</c:v>
                </c:pt>
                <c:pt idx="8">
                  <c:v>0.78298401303969301</c:v>
                </c:pt>
                <c:pt idx="9">
                  <c:v>0.76390515683145455</c:v>
                </c:pt>
                <c:pt idx="10">
                  <c:v>0.76666153901804224</c:v>
                </c:pt>
                <c:pt idx="11">
                  <c:v>0.73485352556220462</c:v>
                </c:pt>
                <c:pt idx="12">
                  <c:v>0.69994881471969417</c:v>
                </c:pt>
                <c:pt idx="13">
                  <c:v>0.74580517029984517</c:v>
                </c:pt>
                <c:pt idx="14">
                  <c:v>0.72966273055732955</c:v>
                </c:pt>
                <c:pt idx="15">
                  <c:v>0.74199229895083985</c:v>
                </c:pt>
                <c:pt idx="16">
                  <c:v>0.73052731407151994</c:v>
                </c:pt>
                <c:pt idx="17">
                  <c:v>0.77492866995725751</c:v>
                </c:pt>
                <c:pt idx="18">
                  <c:v>0.7464544354538909</c:v>
                </c:pt>
                <c:pt idx="19">
                  <c:v>0.77118505085778333</c:v>
                </c:pt>
                <c:pt idx="20">
                  <c:v>0.75829452716268442</c:v>
                </c:pt>
                <c:pt idx="21">
                  <c:v>0.75696827479135576</c:v>
                </c:pt>
                <c:pt idx="22">
                  <c:v>0.77197289876923147</c:v>
                </c:pt>
                <c:pt idx="23">
                  <c:v>0.76053633576124358</c:v>
                </c:pt>
                <c:pt idx="24">
                  <c:v>0.81626961035437384</c:v>
                </c:pt>
                <c:pt idx="25">
                  <c:v>0.76306105332079555</c:v>
                </c:pt>
                <c:pt idx="26">
                  <c:v>0.73230774290512601</c:v>
                </c:pt>
                <c:pt idx="27">
                  <c:v>0.77132761564414243</c:v>
                </c:pt>
                <c:pt idx="28">
                  <c:v>0.83193091206583336</c:v>
                </c:pt>
                <c:pt idx="29">
                  <c:v>0.79974721790394865</c:v>
                </c:pt>
                <c:pt idx="30">
                  <c:v>0.79033097192895241</c:v>
                </c:pt>
                <c:pt idx="31">
                  <c:v>0.82120037048507433</c:v>
                </c:pt>
                <c:pt idx="32">
                  <c:v>0.81493122304331855</c:v>
                </c:pt>
                <c:pt idx="33">
                  <c:v>0.83506585421871471</c:v>
                </c:pt>
                <c:pt idx="34">
                  <c:v>0.85790535856358108</c:v>
                </c:pt>
                <c:pt idx="35">
                  <c:v>0.87692486465726849</c:v>
                </c:pt>
                <c:pt idx="36">
                  <c:v>0.86468987390389418</c:v>
                </c:pt>
                <c:pt idx="37">
                  <c:v>0.85922613080648769</c:v>
                </c:pt>
                <c:pt idx="38">
                  <c:v>0.89002223794253055</c:v>
                </c:pt>
                <c:pt idx="39">
                  <c:v>0.87836194634896336</c:v>
                </c:pt>
                <c:pt idx="40">
                  <c:v>0.86333043237966045</c:v>
                </c:pt>
                <c:pt idx="41">
                  <c:v>0.85059698913743365</c:v>
                </c:pt>
                <c:pt idx="42">
                  <c:v>0.84671461861945296</c:v>
                </c:pt>
                <c:pt idx="43">
                  <c:v>0.83233250145525239</c:v>
                </c:pt>
                <c:pt idx="44">
                  <c:v>0.86218833316721599</c:v>
                </c:pt>
                <c:pt idx="45">
                  <c:v>0.84955712430410579</c:v>
                </c:pt>
                <c:pt idx="46">
                  <c:v>0.81181847666326235</c:v>
                </c:pt>
                <c:pt idx="47">
                  <c:v>0.84862882169075871</c:v>
                </c:pt>
                <c:pt idx="48">
                  <c:v>0.82691345850807285</c:v>
                </c:pt>
                <c:pt idx="49">
                  <c:v>0.85422021681384386</c:v>
                </c:pt>
                <c:pt idx="50">
                  <c:v>0.82126964929222346</c:v>
                </c:pt>
              </c:numCache>
            </c:numRef>
          </c:val>
          <c:extLst>
            <c:ext xmlns:c16="http://schemas.microsoft.com/office/drawing/2014/chart" uri="{C3380CC4-5D6E-409C-BE32-E72D297353CC}">
              <c16:uniqueId val="{00000000-0B5F-4A44-B24A-F06646E3C482}"/>
            </c:ext>
          </c:extLst>
        </c:ser>
        <c:ser>
          <c:idx val="1"/>
          <c:order val="1"/>
          <c:tx>
            <c:strRef>
              <c:f>敞口!$DL$2</c:f>
              <c:strCache>
                <c:ptCount val="1"/>
                <c:pt idx="0">
                  <c:v>市值 $20亿 - $100亿</c:v>
                </c:pt>
              </c:strCache>
            </c:strRef>
          </c:tx>
          <c:spPr>
            <a:solidFill>
              <a:schemeClr val="accent2"/>
            </a:solidFill>
            <a:ln>
              <a:noFill/>
            </a:ln>
            <a:effectLst/>
          </c:spPr>
          <c:cat>
            <c:numRef>
              <c:f>敞口!$DJ$3:$DJ$53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敞口!$DL$3:$DL$53</c:f>
              <c:numCache>
                <c:formatCode>0.0%</c:formatCode>
                <c:ptCount val="51"/>
                <c:pt idx="0">
                  <c:v>0.28916118828200882</c:v>
                </c:pt>
                <c:pt idx="1">
                  <c:v>0.21347458543834658</c:v>
                </c:pt>
                <c:pt idx="2">
                  <c:v>0.24087037328020355</c:v>
                </c:pt>
                <c:pt idx="3">
                  <c:v>0.20826158784760479</c:v>
                </c:pt>
                <c:pt idx="4">
                  <c:v>0.15778432879848325</c:v>
                </c:pt>
                <c:pt idx="5">
                  <c:v>0.26656194190356142</c:v>
                </c:pt>
                <c:pt idx="6">
                  <c:v>0.32674495449982521</c:v>
                </c:pt>
                <c:pt idx="7">
                  <c:v>0.23382053597136931</c:v>
                </c:pt>
                <c:pt idx="8">
                  <c:v>0.21486012503564522</c:v>
                </c:pt>
                <c:pt idx="9">
                  <c:v>0.23609484316854501</c:v>
                </c:pt>
                <c:pt idx="10">
                  <c:v>0.22495229118816623</c:v>
                </c:pt>
                <c:pt idx="11">
                  <c:v>0.26514647443779538</c:v>
                </c:pt>
                <c:pt idx="12">
                  <c:v>0.27400944185674608</c:v>
                </c:pt>
                <c:pt idx="13">
                  <c:v>0.22870045775629788</c:v>
                </c:pt>
                <c:pt idx="14">
                  <c:v>0.25946239210074551</c:v>
                </c:pt>
                <c:pt idx="15">
                  <c:v>0.24383028855584549</c:v>
                </c:pt>
                <c:pt idx="16">
                  <c:v>0.25394504279765107</c:v>
                </c:pt>
                <c:pt idx="17">
                  <c:v>0.22180435266830353</c:v>
                </c:pt>
                <c:pt idx="18">
                  <c:v>0.25243711464189672</c:v>
                </c:pt>
                <c:pt idx="19">
                  <c:v>0.20788228726298952</c:v>
                </c:pt>
                <c:pt idx="20">
                  <c:v>0.20349623897968844</c:v>
                </c:pt>
                <c:pt idx="21">
                  <c:v>0.21315791390942496</c:v>
                </c:pt>
                <c:pt idx="22">
                  <c:v>0.18872481607812563</c:v>
                </c:pt>
                <c:pt idx="23">
                  <c:v>0.19185686177038558</c:v>
                </c:pt>
                <c:pt idx="24">
                  <c:v>0.16677486026740743</c:v>
                </c:pt>
                <c:pt idx="25">
                  <c:v>0.21270671053356693</c:v>
                </c:pt>
                <c:pt idx="26">
                  <c:v>0.22853774380000869</c:v>
                </c:pt>
                <c:pt idx="27">
                  <c:v>0.18981609655864745</c:v>
                </c:pt>
                <c:pt idx="28">
                  <c:v>0.16459678055235893</c:v>
                </c:pt>
                <c:pt idx="29">
                  <c:v>0.17776577747339306</c:v>
                </c:pt>
                <c:pt idx="30">
                  <c:v>0.20675695479351552</c:v>
                </c:pt>
                <c:pt idx="31">
                  <c:v>0.15511401008000542</c:v>
                </c:pt>
                <c:pt idx="32">
                  <c:v>0.16386658027025361</c:v>
                </c:pt>
                <c:pt idx="33">
                  <c:v>0.14698434154644416</c:v>
                </c:pt>
                <c:pt idx="34">
                  <c:v>0.13623685744086095</c:v>
                </c:pt>
                <c:pt idx="35">
                  <c:v>0.11820297010258113</c:v>
                </c:pt>
                <c:pt idx="36">
                  <c:v>0.12356419305564798</c:v>
                </c:pt>
                <c:pt idx="37">
                  <c:v>0.13758986242919363</c:v>
                </c:pt>
                <c:pt idx="38">
                  <c:v>0.10138434543444538</c:v>
                </c:pt>
                <c:pt idx="39">
                  <c:v>0.11680421488537443</c:v>
                </c:pt>
                <c:pt idx="40">
                  <c:v>0.13295091388336691</c:v>
                </c:pt>
                <c:pt idx="41">
                  <c:v>0.14480663313422559</c:v>
                </c:pt>
                <c:pt idx="42">
                  <c:v>0.14905088851419432</c:v>
                </c:pt>
                <c:pt idx="43">
                  <c:v>0.18533980293508348</c:v>
                </c:pt>
                <c:pt idx="44">
                  <c:v>0.13706283818178611</c:v>
                </c:pt>
                <c:pt idx="45">
                  <c:v>0.13876207057597853</c:v>
                </c:pt>
                <c:pt idx="46">
                  <c:v>0.17123390989914966</c:v>
                </c:pt>
                <c:pt idx="47">
                  <c:v>0.1349343194952432</c:v>
                </c:pt>
                <c:pt idx="48">
                  <c:v>0.15580285193358501</c:v>
                </c:pt>
                <c:pt idx="49">
                  <c:v>0.12799262481007465</c:v>
                </c:pt>
                <c:pt idx="50">
                  <c:v>0.16115683994124164</c:v>
                </c:pt>
              </c:numCache>
            </c:numRef>
          </c:val>
          <c:extLst>
            <c:ext xmlns:c16="http://schemas.microsoft.com/office/drawing/2014/chart" uri="{C3380CC4-5D6E-409C-BE32-E72D297353CC}">
              <c16:uniqueId val="{00000001-0B5F-4A44-B24A-F06646E3C482}"/>
            </c:ext>
          </c:extLst>
        </c:ser>
        <c:ser>
          <c:idx val="2"/>
          <c:order val="2"/>
          <c:tx>
            <c:strRef>
              <c:f>敞口!$DM$2</c:f>
              <c:strCache>
                <c:ptCount val="1"/>
                <c:pt idx="0">
                  <c:v>市值 &lt; $20亿</c:v>
                </c:pt>
              </c:strCache>
            </c:strRef>
          </c:tx>
          <c:spPr>
            <a:solidFill>
              <a:schemeClr val="accent3"/>
            </a:solidFill>
            <a:ln>
              <a:noFill/>
            </a:ln>
            <a:effectLst/>
          </c:spPr>
          <c:cat>
            <c:numRef>
              <c:f>敞口!$DJ$3:$DJ$53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敞口!$DM$3:$DM$53</c:f>
              <c:numCache>
                <c:formatCode>0.0%</c:formatCode>
                <c:ptCount val="51"/>
                <c:pt idx="0">
                  <c:v>1.6152978736826119E-2</c:v>
                </c:pt>
                <c:pt idx="1">
                  <c:v>1.0905748239935431E-2</c:v>
                </c:pt>
                <c:pt idx="2">
                  <c:v>1.239237234531063E-2</c:v>
                </c:pt>
                <c:pt idx="3">
                  <c:v>0</c:v>
                </c:pt>
                <c:pt idx="4">
                  <c:v>0</c:v>
                </c:pt>
                <c:pt idx="5">
                  <c:v>0</c:v>
                </c:pt>
                <c:pt idx="6">
                  <c:v>0</c:v>
                </c:pt>
                <c:pt idx="7">
                  <c:v>0</c:v>
                </c:pt>
                <c:pt idx="8">
                  <c:v>2.155861924662124E-3</c:v>
                </c:pt>
                <c:pt idx="9">
                  <c:v>0</c:v>
                </c:pt>
                <c:pt idx="10">
                  <c:v>8.3861697937915695E-3</c:v>
                </c:pt>
                <c:pt idx="11">
                  <c:v>0</c:v>
                </c:pt>
                <c:pt idx="12">
                  <c:v>9.1989208622910018E-3</c:v>
                </c:pt>
                <c:pt idx="13">
                  <c:v>1.5815564522523171E-2</c:v>
                </c:pt>
                <c:pt idx="14">
                  <c:v>1.0874877341925212E-2</c:v>
                </c:pt>
                <c:pt idx="15">
                  <c:v>1.4177412493314924E-2</c:v>
                </c:pt>
                <c:pt idx="16">
                  <c:v>1.5527643130828116E-2</c:v>
                </c:pt>
                <c:pt idx="17">
                  <c:v>3.2669773744392859E-3</c:v>
                </c:pt>
                <c:pt idx="18">
                  <c:v>1.8110755647384777E-2</c:v>
                </c:pt>
                <c:pt idx="19">
                  <c:v>2.0932661879227387E-2</c:v>
                </c:pt>
                <c:pt idx="20">
                  <c:v>3.8209233857627103E-2</c:v>
                </c:pt>
                <c:pt idx="21">
                  <c:v>2.9873811299219316E-2</c:v>
                </c:pt>
                <c:pt idx="22">
                  <c:v>3.9302285152642939E-2</c:v>
                </c:pt>
                <c:pt idx="23">
                  <c:v>4.7606802468372234E-2</c:v>
                </c:pt>
                <c:pt idx="24">
                  <c:v>1.6955529378218839E-2</c:v>
                </c:pt>
                <c:pt idx="25">
                  <c:v>2.4232236145639279E-2</c:v>
                </c:pt>
                <c:pt idx="26">
                  <c:v>3.915451329486494E-2</c:v>
                </c:pt>
                <c:pt idx="27">
                  <c:v>3.8856287797209725E-2</c:v>
                </c:pt>
                <c:pt idx="28">
                  <c:v>3.472307381807334E-3</c:v>
                </c:pt>
                <c:pt idx="29">
                  <c:v>2.2487004622658419E-2</c:v>
                </c:pt>
                <c:pt idx="30">
                  <c:v>2.912073277531384E-3</c:v>
                </c:pt>
                <c:pt idx="31">
                  <c:v>2.3685619434920022E-2</c:v>
                </c:pt>
                <c:pt idx="32">
                  <c:v>2.120219668642773E-2</c:v>
                </c:pt>
                <c:pt idx="33">
                  <c:v>1.7949804234841101E-2</c:v>
                </c:pt>
                <c:pt idx="34">
                  <c:v>5.857783995557515E-3</c:v>
                </c:pt>
                <c:pt idx="35">
                  <c:v>4.8721652401503869E-3</c:v>
                </c:pt>
                <c:pt idx="36">
                  <c:v>1.1745933040457826E-2</c:v>
                </c:pt>
                <c:pt idx="37">
                  <c:v>3.1840067643171717E-3</c:v>
                </c:pt>
                <c:pt idx="38">
                  <c:v>8.5934166230246592E-3</c:v>
                </c:pt>
                <c:pt idx="39">
                  <c:v>4.8338387656623096E-3</c:v>
                </c:pt>
                <c:pt idx="40">
                  <c:v>3.7186537369716982E-3</c:v>
                </c:pt>
                <c:pt idx="41">
                  <c:v>4.5963777283405446E-3</c:v>
                </c:pt>
                <c:pt idx="42">
                  <c:v>1.6105093430611062E-3</c:v>
                </c:pt>
                <c:pt idx="43">
                  <c:v>1.6501918174553366E-3</c:v>
                </c:pt>
                <c:pt idx="44">
                  <c:v>7.4882865099812758E-4</c:v>
                </c:pt>
                <c:pt idx="45">
                  <c:v>7.3932892004455392E-4</c:v>
                </c:pt>
                <c:pt idx="46">
                  <c:v>5.1284749095885599E-3</c:v>
                </c:pt>
                <c:pt idx="47">
                  <c:v>5.8857293025034643E-3</c:v>
                </c:pt>
                <c:pt idx="48">
                  <c:v>5.5441901994753382E-3</c:v>
                </c:pt>
                <c:pt idx="49">
                  <c:v>6.8894163114710744E-3</c:v>
                </c:pt>
                <c:pt idx="50">
                  <c:v>6.1105942317699205E-3</c:v>
                </c:pt>
              </c:numCache>
            </c:numRef>
          </c:val>
          <c:extLst>
            <c:ext xmlns:c16="http://schemas.microsoft.com/office/drawing/2014/chart" uri="{C3380CC4-5D6E-409C-BE32-E72D297353CC}">
              <c16:uniqueId val="{00000002-0B5F-4A44-B24A-F06646E3C482}"/>
            </c:ext>
          </c:extLst>
        </c:ser>
        <c:ser>
          <c:idx val="3"/>
          <c:order val="3"/>
          <c:tx>
            <c:strRef>
              <c:f>敞口!$DN$2</c:f>
              <c:strCache>
                <c:ptCount val="1"/>
                <c:pt idx="0">
                  <c:v>未知</c:v>
                </c:pt>
              </c:strCache>
            </c:strRef>
          </c:tx>
          <c:spPr>
            <a:solidFill>
              <a:schemeClr val="accent4"/>
            </a:solidFill>
            <a:ln>
              <a:noFill/>
            </a:ln>
            <a:effectLst/>
          </c:spPr>
          <c:cat>
            <c:numRef>
              <c:f>敞口!$DJ$3:$DJ$53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敞口!$DN$3:$DN$53</c:f>
              <c:numCache>
                <c:formatCode>0.0%</c:formatCode>
                <c:ptCount val="51"/>
                <c:pt idx="0">
                  <c:v>0</c:v>
                </c:pt>
                <c:pt idx="1">
                  <c:v>0</c:v>
                </c:pt>
                <c:pt idx="2">
                  <c:v>0</c:v>
                </c:pt>
                <c:pt idx="3">
                  <c:v>0</c:v>
                </c:pt>
                <c:pt idx="4">
                  <c:v>1.6534556741629049E-2</c:v>
                </c:pt>
                <c:pt idx="5">
                  <c:v>8.2162928853191531E-3</c:v>
                </c:pt>
                <c:pt idx="6">
                  <c:v>3.1697552690911332E-2</c:v>
                </c:pt>
                <c:pt idx="7">
                  <c:v>1.1399462691413001E-2</c:v>
                </c:pt>
                <c:pt idx="8">
                  <c:v>0</c:v>
                </c:pt>
                <c:pt idx="9">
                  <c:v>0</c:v>
                </c:pt>
                <c:pt idx="10">
                  <c:v>0</c:v>
                </c:pt>
                <c:pt idx="11">
                  <c:v>0</c:v>
                </c:pt>
                <c:pt idx="12">
                  <c:v>1.6842822561268969E-2</c:v>
                </c:pt>
                <c:pt idx="13">
                  <c:v>9.6788074213336409E-3</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1.094147619987078E-2</c:v>
                </c:pt>
                <c:pt idx="46">
                  <c:v>1.181913852799938E-2</c:v>
                </c:pt>
                <c:pt idx="47">
                  <c:v>1.055112951149461E-2</c:v>
                </c:pt>
                <c:pt idx="48">
                  <c:v>1.173949935886663E-2</c:v>
                </c:pt>
                <c:pt idx="49">
                  <c:v>1.0897742064610701E-2</c:v>
                </c:pt>
                <c:pt idx="50">
                  <c:v>1.146291653476513E-2</c:v>
                </c:pt>
              </c:numCache>
            </c:numRef>
          </c:val>
          <c:extLst>
            <c:ext xmlns:c16="http://schemas.microsoft.com/office/drawing/2014/chart" uri="{C3380CC4-5D6E-409C-BE32-E72D297353CC}">
              <c16:uniqueId val="{00000003-0B5F-4A44-B24A-F06646E3C482}"/>
            </c:ext>
          </c:extLst>
        </c:ser>
        <c:dLbls>
          <c:showLegendKey val="0"/>
          <c:showVal val="0"/>
          <c:showCatName val="0"/>
          <c:showSerName val="0"/>
          <c:showPercent val="0"/>
          <c:showBubbleSize val="0"/>
        </c:dLbls>
        <c:axId val="1507409631"/>
        <c:axId val="1507405471"/>
      </c:areaChart>
      <c:dateAx>
        <c:axId val="1507409631"/>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507405471"/>
        <c:crosses val="autoZero"/>
        <c:auto val="1"/>
        <c:lblOffset val="100"/>
        <c:baseTimeUnit val="months"/>
        <c:majorUnit val="6"/>
        <c:majorTimeUnit val="months"/>
      </c:dateAx>
      <c:valAx>
        <c:axId val="1507405471"/>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507409631"/>
        <c:crosses val="autoZero"/>
        <c:crossBetween val="midCat"/>
        <c:majorUnit val="0.2"/>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zero"/>
    <c:showDLblsOverMax val="0"/>
  </c:chart>
  <c:spPr>
    <a:noFill/>
    <a:ln>
      <a:noFill/>
    </a:ln>
    <a:effectLst/>
  </c:spPr>
  <c:txPr>
    <a:bodyPr/>
    <a:lstStyle/>
    <a:p>
      <a:pPr>
        <a:defRPr sz="900">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r>
              <a:rPr lang="zh-CN" altLang="en-US" sz="1200" b="1" dirty="0"/>
              <a:t>市值分布</a:t>
            </a:r>
            <a:r>
              <a:rPr lang="en-US" altLang="zh-CN" sz="1200" b="1" dirty="0" smtClean="0"/>
              <a:t>——</a:t>
            </a:r>
            <a:r>
              <a:rPr lang="zh-CN" altLang="en-US" sz="1200" b="1" dirty="0" smtClean="0"/>
              <a:t>净敞口</a:t>
            </a:r>
            <a:endParaRPr lang="zh-CN" sz="1200" b="1" dirty="0"/>
          </a:p>
        </c:rich>
      </c:tx>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title>
    <c:autoTitleDeleted val="0"/>
    <c:plotArea>
      <c:layout>
        <c:manualLayout>
          <c:layoutTarget val="inner"/>
          <c:xMode val="edge"/>
          <c:yMode val="edge"/>
          <c:x val="8.6597756156211014E-2"/>
          <c:y val="0.12079076576544345"/>
          <c:w val="0.84416487759594561"/>
          <c:h val="0.733167356190907"/>
        </c:manualLayout>
      </c:layout>
      <c:areaChart>
        <c:grouping val="stacked"/>
        <c:varyColors val="0"/>
        <c:ser>
          <c:idx val="0"/>
          <c:order val="0"/>
          <c:tx>
            <c:strRef>
              <c:f>敞口!$DP$2</c:f>
              <c:strCache>
                <c:ptCount val="1"/>
                <c:pt idx="0">
                  <c:v>市值 &gt; $100亿</c:v>
                </c:pt>
              </c:strCache>
            </c:strRef>
          </c:tx>
          <c:spPr>
            <a:solidFill>
              <a:schemeClr val="accent1"/>
            </a:solidFill>
            <a:ln w="25400">
              <a:noFill/>
            </a:ln>
            <a:effectLst/>
          </c:spPr>
          <c:cat>
            <c:numRef>
              <c:f>敞口!$DJ$3:$DJ$53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敞口!$DP$3:$DP$53</c:f>
              <c:numCache>
                <c:formatCode>0.0%</c:formatCode>
                <c:ptCount val="51"/>
                <c:pt idx="0">
                  <c:v>-9.2015707838903338E-3</c:v>
                </c:pt>
                <c:pt idx="1">
                  <c:v>1.0057392940320098E-2</c:v>
                </c:pt>
                <c:pt idx="2">
                  <c:v>9.7210081574394591E-2</c:v>
                </c:pt>
                <c:pt idx="3">
                  <c:v>8.7244467987522223E-2</c:v>
                </c:pt>
                <c:pt idx="4">
                  <c:v>5.7786516245020958E-2</c:v>
                </c:pt>
                <c:pt idx="5">
                  <c:v>9.2091252407192015E-2</c:v>
                </c:pt>
                <c:pt idx="6">
                  <c:v>5.8309248354172505E-2</c:v>
                </c:pt>
                <c:pt idx="7">
                  <c:v>5.9170268975074602E-2</c:v>
                </c:pt>
                <c:pt idx="8">
                  <c:v>0.14245831339819137</c:v>
                </c:pt>
                <c:pt idx="9">
                  <c:v>0.14552894411326217</c:v>
                </c:pt>
                <c:pt idx="10">
                  <c:v>0.15339861068115201</c:v>
                </c:pt>
                <c:pt idx="11">
                  <c:v>0.1729452902952342</c:v>
                </c:pt>
                <c:pt idx="12">
                  <c:v>0.26664445716724805</c:v>
                </c:pt>
                <c:pt idx="13">
                  <c:v>0.2078132270456422</c:v>
                </c:pt>
                <c:pt idx="14">
                  <c:v>0.16691876722981175</c:v>
                </c:pt>
                <c:pt idx="15">
                  <c:v>0.25811003863969978</c:v>
                </c:pt>
                <c:pt idx="16">
                  <c:v>0.24769770513264092</c:v>
                </c:pt>
                <c:pt idx="17">
                  <c:v>0.1869501234760465</c:v>
                </c:pt>
                <c:pt idx="18">
                  <c:v>0.21542435797941301</c:v>
                </c:pt>
                <c:pt idx="19">
                  <c:v>0.10650522724303951</c:v>
                </c:pt>
                <c:pt idx="20">
                  <c:v>7.8544648794724614E-2</c:v>
                </c:pt>
                <c:pt idx="21">
                  <c:v>7.722607004288734E-2</c:v>
                </c:pt>
                <c:pt idx="22">
                  <c:v>9.8563562834056095E-2</c:v>
                </c:pt>
                <c:pt idx="23">
                  <c:v>0.12400583968507989</c:v>
                </c:pt>
                <c:pt idx="24">
                  <c:v>9.2782247899556525E-2</c:v>
                </c:pt>
                <c:pt idx="25">
                  <c:v>7.0778694072765769E-2</c:v>
                </c:pt>
                <c:pt idx="26">
                  <c:v>1.9475446105876038E-2</c:v>
                </c:pt>
                <c:pt idx="27">
                  <c:v>6.4949672110536538E-2</c:v>
                </c:pt>
                <c:pt idx="28">
                  <c:v>5.9859747784327733E-2</c:v>
                </c:pt>
                <c:pt idx="29">
                  <c:v>7.3142950837387921E-2</c:v>
                </c:pt>
                <c:pt idx="30">
                  <c:v>9.3274935773716372E-2</c:v>
                </c:pt>
                <c:pt idx="31">
                  <c:v>0.11329433343763812</c:v>
                </c:pt>
                <c:pt idx="32">
                  <c:v>9.0205184106137204E-2</c:v>
                </c:pt>
                <c:pt idx="33">
                  <c:v>9.3696675374016269E-2</c:v>
                </c:pt>
                <c:pt idx="34">
                  <c:v>6.6595096555851496E-2</c:v>
                </c:pt>
                <c:pt idx="35">
                  <c:v>7.1532082675114461E-2</c:v>
                </c:pt>
                <c:pt idx="36">
                  <c:v>5.3784934141314411E-2</c:v>
                </c:pt>
                <c:pt idx="37">
                  <c:v>2.5564746417338691E-2</c:v>
                </c:pt>
                <c:pt idx="38">
                  <c:v>6.2070568025106798E-2</c:v>
                </c:pt>
                <c:pt idx="39">
                  <c:v>4.0497711154366345E-2</c:v>
                </c:pt>
                <c:pt idx="40">
                  <c:v>-7.4559538376332002E-3</c:v>
                </c:pt>
                <c:pt idx="41">
                  <c:v>-2.0806590771425271E-2</c:v>
                </c:pt>
                <c:pt idx="42">
                  <c:v>-1.8194764063156788E-2</c:v>
                </c:pt>
                <c:pt idx="43">
                  <c:v>-3.2576881227357357E-2</c:v>
                </c:pt>
                <c:pt idx="44">
                  <c:v>-1.6502687630356283E-2</c:v>
                </c:pt>
                <c:pt idx="45">
                  <c:v>3.472883198114507E-3</c:v>
                </c:pt>
                <c:pt idx="46">
                  <c:v>1.7543215395229295E-2</c:v>
                </c:pt>
                <c:pt idx="47">
                  <c:v>3.9494645532897998E-2</c:v>
                </c:pt>
                <c:pt idx="48">
                  <c:v>2.8123981623137895E-2</c:v>
                </c:pt>
                <c:pt idx="49">
                  <c:v>1.1927664779154301E-2</c:v>
                </c:pt>
                <c:pt idx="50">
                  <c:v>-4.6508575412879893E-2</c:v>
                </c:pt>
              </c:numCache>
            </c:numRef>
          </c:val>
          <c:extLst>
            <c:ext xmlns:c16="http://schemas.microsoft.com/office/drawing/2014/chart" uri="{C3380CC4-5D6E-409C-BE32-E72D297353CC}">
              <c16:uniqueId val="{00000000-4AFD-4A1F-8A3D-7BE0A45E697B}"/>
            </c:ext>
          </c:extLst>
        </c:ser>
        <c:ser>
          <c:idx val="1"/>
          <c:order val="1"/>
          <c:tx>
            <c:strRef>
              <c:f>敞口!$DQ$2</c:f>
              <c:strCache>
                <c:ptCount val="1"/>
                <c:pt idx="0">
                  <c:v>市值 $20亿 - $100亿</c:v>
                </c:pt>
              </c:strCache>
            </c:strRef>
          </c:tx>
          <c:spPr>
            <a:solidFill>
              <a:schemeClr val="accent2"/>
            </a:solidFill>
            <a:ln w="25400">
              <a:noFill/>
            </a:ln>
            <a:effectLst/>
          </c:spPr>
          <c:cat>
            <c:numRef>
              <c:f>敞口!$DJ$3:$DJ$53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敞口!$DQ$3:$DQ$53</c:f>
              <c:numCache>
                <c:formatCode>0.0%</c:formatCode>
                <c:ptCount val="51"/>
                <c:pt idx="0">
                  <c:v>4.1709282941317996E-2</c:v>
                </c:pt>
                <c:pt idx="1">
                  <c:v>5.0086711588753594E-2</c:v>
                </c:pt>
                <c:pt idx="2">
                  <c:v>-4.5876390461554853E-2</c:v>
                </c:pt>
                <c:pt idx="3">
                  <c:v>-4.8963842617966213E-2</c:v>
                </c:pt>
                <c:pt idx="4">
                  <c:v>7.8837205224521895E-3</c:v>
                </c:pt>
                <c:pt idx="5">
                  <c:v>-2.5802737355521202E-2</c:v>
                </c:pt>
                <c:pt idx="6">
                  <c:v>-2.8570532377224206E-2</c:v>
                </c:pt>
                <c:pt idx="7">
                  <c:v>1.468358502595131E-2</c:v>
                </c:pt>
                <c:pt idx="8">
                  <c:v>-8.2503736009239007E-2</c:v>
                </c:pt>
                <c:pt idx="9">
                  <c:v>-9.4077006175450159E-2</c:v>
                </c:pt>
                <c:pt idx="10">
                  <c:v>-6.6170643962811582E-2</c:v>
                </c:pt>
                <c:pt idx="11">
                  <c:v>-8.4648322211153426E-2</c:v>
                </c:pt>
                <c:pt idx="12">
                  <c:v>-0.14790617566120073</c:v>
                </c:pt>
                <c:pt idx="13">
                  <c:v>-0.10446565617945715</c:v>
                </c:pt>
                <c:pt idx="14">
                  <c:v>-0.14006779633273134</c:v>
                </c:pt>
                <c:pt idx="15">
                  <c:v>-0.1794091575104057</c:v>
                </c:pt>
                <c:pt idx="16">
                  <c:v>-0.18631534647437117</c:v>
                </c:pt>
                <c:pt idx="17">
                  <c:v>-0.11052440456248089</c:v>
                </c:pt>
                <c:pt idx="18">
                  <c:v>-0.14115716653607407</c:v>
                </c:pt>
                <c:pt idx="19">
                  <c:v>-8.2667626985710271E-2</c:v>
                </c:pt>
                <c:pt idx="20">
                  <c:v>-5.6619180128554145E-2</c:v>
                </c:pt>
                <c:pt idx="21">
                  <c:v>-7.2693490750142267E-2</c:v>
                </c:pt>
                <c:pt idx="22">
                  <c:v>-8.0788836734239131E-2</c:v>
                </c:pt>
                <c:pt idx="23">
                  <c:v>-7.7876205692265998E-2</c:v>
                </c:pt>
                <c:pt idx="24">
                  <c:v>-5.5902444994147753E-2</c:v>
                </c:pt>
                <c:pt idx="25">
                  <c:v>-3.8469335266799673E-2</c:v>
                </c:pt>
                <c:pt idx="26">
                  <c:v>9.2257151303063029E-3</c:v>
                </c:pt>
                <c:pt idx="27">
                  <c:v>-3.9409864432069147E-2</c:v>
                </c:pt>
                <c:pt idx="28">
                  <c:v>-9.4801289268985067E-3</c:v>
                </c:pt>
                <c:pt idx="29">
                  <c:v>-7.1639534453322551E-2</c:v>
                </c:pt>
                <c:pt idx="30">
                  <c:v>-6.4153495683006101E-2</c:v>
                </c:pt>
                <c:pt idx="31">
                  <c:v>-9.7641570660702406E-2</c:v>
                </c:pt>
                <c:pt idx="32">
                  <c:v>-6.0279288012934203E-2</c:v>
                </c:pt>
                <c:pt idx="33">
                  <c:v>-9.2825552486414636E-2</c:v>
                </c:pt>
                <c:pt idx="34">
                  <c:v>-6.2417799242123428E-2</c:v>
                </c:pt>
                <c:pt idx="35">
                  <c:v>-1.2103271119323522E-2</c:v>
                </c:pt>
                <c:pt idx="36">
                  <c:v>-7.4148122132928485E-3</c:v>
                </c:pt>
                <c:pt idx="37">
                  <c:v>2.2887479514027427E-2</c:v>
                </c:pt>
                <c:pt idx="38">
                  <c:v>-4.1998179489954254E-3</c:v>
                </c:pt>
                <c:pt idx="39">
                  <c:v>8.4281106113506879E-3</c:v>
                </c:pt>
                <c:pt idx="40">
                  <c:v>4.5606913835788215E-2</c:v>
                </c:pt>
                <c:pt idx="41">
                  <c:v>4.751433018891596E-2</c:v>
                </c:pt>
                <c:pt idx="42">
                  <c:v>3.6232248155166152E-2</c:v>
                </c:pt>
                <c:pt idx="43">
                  <c:v>7.2521162576055315E-2</c:v>
                </c:pt>
                <c:pt idx="44">
                  <c:v>7.4371475701995898E-2</c:v>
                </c:pt>
                <c:pt idx="45">
                  <c:v>3.7095940145791123E-2</c:v>
                </c:pt>
                <c:pt idx="46">
                  <c:v>1.115481025142738E-2</c:v>
                </c:pt>
                <c:pt idx="47">
                  <c:v>1.5139857400343765E-3</c:v>
                </c:pt>
                <c:pt idx="48">
                  <c:v>-7.9481939030434795E-3</c:v>
                </c:pt>
                <c:pt idx="49">
                  <c:v>3.3739306933594171E-2</c:v>
                </c:pt>
                <c:pt idx="50">
                  <c:v>4.970886222743337E-2</c:v>
                </c:pt>
              </c:numCache>
            </c:numRef>
          </c:val>
          <c:extLst>
            <c:ext xmlns:c16="http://schemas.microsoft.com/office/drawing/2014/chart" uri="{C3380CC4-5D6E-409C-BE32-E72D297353CC}">
              <c16:uniqueId val="{00000001-4AFD-4A1F-8A3D-7BE0A45E697B}"/>
            </c:ext>
          </c:extLst>
        </c:ser>
        <c:ser>
          <c:idx val="2"/>
          <c:order val="2"/>
          <c:tx>
            <c:strRef>
              <c:f>敞口!$DR$2</c:f>
              <c:strCache>
                <c:ptCount val="1"/>
                <c:pt idx="0">
                  <c:v>市值 &lt; $20亿</c:v>
                </c:pt>
              </c:strCache>
            </c:strRef>
          </c:tx>
          <c:spPr>
            <a:solidFill>
              <a:schemeClr val="accent3"/>
            </a:solidFill>
            <a:ln w="25400">
              <a:noFill/>
            </a:ln>
            <a:effectLst/>
          </c:spPr>
          <c:cat>
            <c:numRef>
              <c:f>敞口!$DJ$3:$DJ$53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敞口!$DR$3:$DR$53</c:f>
              <c:numCache>
                <c:formatCode>0.0%</c:formatCode>
                <c:ptCount val="51"/>
                <c:pt idx="0">
                  <c:v>1.6152978736826119E-2</c:v>
                </c:pt>
                <c:pt idx="1">
                  <c:v>1.0905748239935431E-2</c:v>
                </c:pt>
                <c:pt idx="2">
                  <c:v>1.239237234531063E-2</c:v>
                </c:pt>
                <c:pt idx="3">
                  <c:v>0</c:v>
                </c:pt>
                <c:pt idx="4">
                  <c:v>0</c:v>
                </c:pt>
                <c:pt idx="5">
                  <c:v>0</c:v>
                </c:pt>
                <c:pt idx="6">
                  <c:v>0</c:v>
                </c:pt>
                <c:pt idx="7">
                  <c:v>0</c:v>
                </c:pt>
                <c:pt idx="8">
                  <c:v>-2.155861924662124E-3</c:v>
                </c:pt>
                <c:pt idx="9">
                  <c:v>0</c:v>
                </c:pt>
                <c:pt idx="10">
                  <c:v>-8.3861697937915695E-3</c:v>
                </c:pt>
                <c:pt idx="11">
                  <c:v>0</c:v>
                </c:pt>
                <c:pt idx="12">
                  <c:v>-9.1989208622910018E-3</c:v>
                </c:pt>
                <c:pt idx="13">
                  <c:v>-2.6975363657472601E-3</c:v>
                </c:pt>
                <c:pt idx="14">
                  <c:v>4.7669634239418494E-3</c:v>
                </c:pt>
                <c:pt idx="15">
                  <c:v>3.5935811538752895E-3</c:v>
                </c:pt>
                <c:pt idx="16">
                  <c:v>6.6479746961865217E-3</c:v>
                </c:pt>
                <c:pt idx="17">
                  <c:v>3.2669773744392859E-3</c:v>
                </c:pt>
                <c:pt idx="18">
                  <c:v>-1.1576800898506203E-2</c:v>
                </c:pt>
                <c:pt idx="19">
                  <c:v>7.5464818166469322E-3</c:v>
                </c:pt>
                <c:pt idx="20">
                  <c:v>-1.2349567598297761E-2</c:v>
                </c:pt>
                <c:pt idx="21">
                  <c:v>-1.5871573376558562E-2</c:v>
                </c:pt>
                <c:pt idx="22">
                  <c:v>-1.8361202032606778E-2</c:v>
                </c:pt>
                <c:pt idx="23">
                  <c:v>-1.4621508123565188E-2</c:v>
                </c:pt>
                <c:pt idx="24">
                  <c:v>-1.6955529378218839E-2</c:v>
                </c:pt>
                <c:pt idx="25">
                  <c:v>-2.4232236145639279E-2</c:v>
                </c:pt>
                <c:pt idx="26">
                  <c:v>-5.4103898110238052E-4</c:v>
                </c:pt>
                <c:pt idx="27">
                  <c:v>2.1279366415830614E-2</c:v>
                </c:pt>
                <c:pt idx="28">
                  <c:v>-3.472307381807334E-3</c:v>
                </c:pt>
                <c:pt idx="29">
                  <c:v>2.2487004622658419E-2</c:v>
                </c:pt>
                <c:pt idx="30">
                  <c:v>2.912073277531384E-3</c:v>
                </c:pt>
                <c:pt idx="31">
                  <c:v>1.7442999428208476E-2</c:v>
                </c:pt>
                <c:pt idx="32">
                  <c:v>1.5195527985402888E-2</c:v>
                </c:pt>
                <c:pt idx="33">
                  <c:v>1.2035997918073218E-2</c:v>
                </c:pt>
                <c:pt idx="34">
                  <c:v>4.9994022018997296E-4</c:v>
                </c:pt>
                <c:pt idx="35">
                  <c:v>6.0109974461576132E-4</c:v>
                </c:pt>
                <c:pt idx="36">
                  <c:v>6.8536457697268068E-3</c:v>
                </c:pt>
                <c:pt idx="37">
                  <c:v>-1.5076703666539104E-3</c:v>
                </c:pt>
                <c:pt idx="38">
                  <c:v>3.9704262652872704E-3</c:v>
                </c:pt>
                <c:pt idx="39">
                  <c:v>-2.1460340318770312E-4</c:v>
                </c:pt>
                <c:pt idx="40">
                  <c:v>-1.427828928221212E-3</c:v>
                </c:pt>
                <c:pt idx="41">
                  <c:v>-2.8115678930774489E-4</c:v>
                </c:pt>
                <c:pt idx="42">
                  <c:v>-4.1611747733360399E-4</c:v>
                </c:pt>
                <c:pt idx="43">
                  <c:v>-3.7643500293937373E-4</c:v>
                </c:pt>
                <c:pt idx="44">
                  <c:v>7.4882865099812758E-4</c:v>
                </c:pt>
                <c:pt idx="45">
                  <c:v>7.3932892004455392E-4</c:v>
                </c:pt>
                <c:pt idx="46">
                  <c:v>5.1284749095885599E-3</c:v>
                </c:pt>
                <c:pt idx="47">
                  <c:v>3.2059534291740649E-3</c:v>
                </c:pt>
                <c:pt idx="48">
                  <c:v>5.5441901994753382E-3</c:v>
                </c:pt>
                <c:pt idx="49">
                  <c:v>6.8894163114710744E-3</c:v>
                </c:pt>
                <c:pt idx="50">
                  <c:v>4.745360872479394E-3</c:v>
                </c:pt>
              </c:numCache>
            </c:numRef>
          </c:val>
          <c:extLst>
            <c:ext xmlns:c16="http://schemas.microsoft.com/office/drawing/2014/chart" uri="{C3380CC4-5D6E-409C-BE32-E72D297353CC}">
              <c16:uniqueId val="{00000002-4AFD-4A1F-8A3D-7BE0A45E697B}"/>
            </c:ext>
          </c:extLst>
        </c:ser>
        <c:ser>
          <c:idx val="3"/>
          <c:order val="3"/>
          <c:tx>
            <c:strRef>
              <c:f>敞口!$DS$2</c:f>
              <c:strCache>
                <c:ptCount val="1"/>
                <c:pt idx="0">
                  <c:v>未知</c:v>
                </c:pt>
              </c:strCache>
            </c:strRef>
          </c:tx>
          <c:spPr>
            <a:solidFill>
              <a:schemeClr val="accent4"/>
            </a:solidFill>
            <a:ln w="25400">
              <a:noFill/>
            </a:ln>
            <a:effectLst/>
          </c:spPr>
          <c:cat>
            <c:numRef>
              <c:f>敞口!$DJ$3:$DJ$53</c:f>
              <c:numCache>
                <c:formatCode>yyyy\-mm\-dd;@</c:formatCode>
                <c:ptCount val="51"/>
                <c:pt idx="0">
                  <c:v>44043</c:v>
                </c:pt>
                <c:pt idx="1">
                  <c:v>44074</c:v>
                </c:pt>
                <c:pt idx="2">
                  <c:v>44104</c:v>
                </c:pt>
                <c:pt idx="3">
                  <c:v>44135</c:v>
                </c:pt>
                <c:pt idx="4">
                  <c:v>44165</c:v>
                </c:pt>
                <c:pt idx="5">
                  <c:v>44196</c:v>
                </c:pt>
                <c:pt idx="6">
                  <c:v>44227</c:v>
                </c:pt>
                <c:pt idx="7">
                  <c:v>44255</c:v>
                </c:pt>
                <c:pt idx="8">
                  <c:v>44286</c:v>
                </c:pt>
                <c:pt idx="9">
                  <c:v>44316</c:v>
                </c:pt>
                <c:pt idx="10">
                  <c:v>44347</c:v>
                </c:pt>
                <c:pt idx="11">
                  <c:v>44377</c:v>
                </c:pt>
                <c:pt idx="12">
                  <c:v>44408</c:v>
                </c:pt>
                <c:pt idx="13">
                  <c:v>44439</c:v>
                </c:pt>
                <c:pt idx="14">
                  <c:v>44469</c:v>
                </c:pt>
                <c:pt idx="15">
                  <c:v>44500</c:v>
                </c:pt>
                <c:pt idx="16">
                  <c:v>44530</c:v>
                </c:pt>
                <c:pt idx="17">
                  <c:v>44561</c:v>
                </c:pt>
                <c:pt idx="18">
                  <c:v>44592</c:v>
                </c:pt>
                <c:pt idx="19">
                  <c:v>44620</c:v>
                </c:pt>
                <c:pt idx="20">
                  <c:v>44651</c:v>
                </c:pt>
                <c:pt idx="21">
                  <c:v>44681</c:v>
                </c:pt>
                <c:pt idx="22">
                  <c:v>44712</c:v>
                </c:pt>
                <c:pt idx="23">
                  <c:v>44742</c:v>
                </c:pt>
                <c:pt idx="24">
                  <c:v>44773</c:v>
                </c:pt>
                <c:pt idx="25">
                  <c:v>44804</c:v>
                </c:pt>
                <c:pt idx="26">
                  <c:v>44834</c:v>
                </c:pt>
                <c:pt idx="27">
                  <c:v>44865</c:v>
                </c:pt>
                <c:pt idx="28">
                  <c:v>44895</c:v>
                </c:pt>
                <c:pt idx="29">
                  <c:v>44926</c:v>
                </c:pt>
                <c:pt idx="30">
                  <c:v>44957</c:v>
                </c:pt>
                <c:pt idx="31">
                  <c:v>44985</c:v>
                </c:pt>
                <c:pt idx="32">
                  <c:v>45016</c:v>
                </c:pt>
                <c:pt idx="33">
                  <c:v>45046</c:v>
                </c:pt>
                <c:pt idx="34">
                  <c:v>45077</c:v>
                </c:pt>
                <c:pt idx="35">
                  <c:v>45107</c:v>
                </c:pt>
                <c:pt idx="36">
                  <c:v>45138</c:v>
                </c:pt>
                <c:pt idx="37">
                  <c:v>45169</c:v>
                </c:pt>
                <c:pt idx="38">
                  <c:v>45199</c:v>
                </c:pt>
                <c:pt idx="39">
                  <c:v>45230</c:v>
                </c:pt>
                <c:pt idx="40">
                  <c:v>45260</c:v>
                </c:pt>
                <c:pt idx="41">
                  <c:v>45291</c:v>
                </c:pt>
                <c:pt idx="42">
                  <c:v>45322</c:v>
                </c:pt>
                <c:pt idx="43">
                  <c:v>45351</c:v>
                </c:pt>
                <c:pt idx="44">
                  <c:v>45382</c:v>
                </c:pt>
                <c:pt idx="45">
                  <c:v>45412</c:v>
                </c:pt>
                <c:pt idx="46">
                  <c:v>45443</c:v>
                </c:pt>
                <c:pt idx="47">
                  <c:v>45473</c:v>
                </c:pt>
                <c:pt idx="48">
                  <c:v>45504</c:v>
                </c:pt>
                <c:pt idx="49">
                  <c:v>45535</c:v>
                </c:pt>
                <c:pt idx="50">
                  <c:v>45565</c:v>
                </c:pt>
              </c:numCache>
            </c:numRef>
          </c:cat>
          <c:val>
            <c:numRef>
              <c:f>敞口!$DS$3:$DS$53</c:f>
              <c:numCache>
                <c:formatCode>0.0%</c:formatCode>
                <c:ptCount val="51"/>
                <c:pt idx="0">
                  <c:v>0</c:v>
                </c:pt>
                <c:pt idx="1">
                  <c:v>0</c:v>
                </c:pt>
                <c:pt idx="2">
                  <c:v>0</c:v>
                </c:pt>
                <c:pt idx="3">
                  <c:v>0</c:v>
                </c:pt>
                <c:pt idx="4">
                  <c:v>-1.6534556741629049E-2</c:v>
                </c:pt>
                <c:pt idx="5">
                  <c:v>-8.2162928853191531E-3</c:v>
                </c:pt>
                <c:pt idx="6">
                  <c:v>-3.1697552690911332E-2</c:v>
                </c:pt>
                <c:pt idx="7">
                  <c:v>-1.1399462691413001E-2</c:v>
                </c:pt>
                <c:pt idx="8">
                  <c:v>0</c:v>
                </c:pt>
                <c:pt idx="9">
                  <c:v>0</c:v>
                </c:pt>
                <c:pt idx="10">
                  <c:v>0</c:v>
                </c:pt>
                <c:pt idx="11">
                  <c:v>0</c:v>
                </c:pt>
                <c:pt idx="12">
                  <c:v>-1.6842822561268969E-2</c:v>
                </c:pt>
                <c:pt idx="13">
                  <c:v>-9.6788074213336409E-3</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1.094147619987078E-2</c:v>
                </c:pt>
                <c:pt idx="46">
                  <c:v>1.181913852799938E-2</c:v>
                </c:pt>
                <c:pt idx="47">
                  <c:v>1.055112951149461E-2</c:v>
                </c:pt>
                <c:pt idx="48">
                  <c:v>1.173949935886663E-2</c:v>
                </c:pt>
                <c:pt idx="49">
                  <c:v>1.0897742064610701E-2</c:v>
                </c:pt>
                <c:pt idx="50">
                  <c:v>1.146291653476513E-2</c:v>
                </c:pt>
              </c:numCache>
            </c:numRef>
          </c:val>
          <c:extLst>
            <c:ext xmlns:c16="http://schemas.microsoft.com/office/drawing/2014/chart" uri="{C3380CC4-5D6E-409C-BE32-E72D297353CC}">
              <c16:uniqueId val="{00000003-4AFD-4A1F-8A3D-7BE0A45E697B}"/>
            </c:ext>
          </c:extLst>
        </c:ser>
        <c:dLbls>
          <c:showLegendKey val="0"/>
          <c:showVal val="0"/>
          <c:showCatName val="0"/>
          <c:showSerName val="0"/>
          <c:showPercent val="0"/>
          <c:showBubbleSize val="0"/>
        </c:dLbls>
        <c:axId val="1507409631"/>
        <c:axId val="1507405471"/>
      </c:areaChart>
      <c:dateAx>
        <c:axId val="1507409631"/>
        <c:scaling>
          <c:orientation val="minMax"/>
        </c:scaling>
        <c:delete val="0"/>
        <c:axPos val="b"/>
        <c:numFmt formatCode="yyyy\-m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507405471"/>
        <c:crosses val="autoZero"/>
        <c:auto val="1"/>
        <c:lblOffset val="100"/>
        <c:baseTimeUnit val="months"/>
        <c:majorUnit val="6"/>
        <c:majorTimeUnit val="months"/>
      </c:dateAx>
      <c:valAx>
        <c:axId val="1507405471"/>
        <c:scaling>
          <c:orientation val="minMax"/>
          <c:max val="0.4"/>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crossAx val="1507409631"/>
        <c:crosses val="autoZero"/>
        <c:crossBetween val="midCat"/>
        <c:majorUnit val="0.1"/>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微软雅黑" panose="020B0503020204020204" pitchFamily="34" charset="-122"/>
              <a:ea typeface="微软雅黑" panose="020B0503020204020204" pitchFamily="34" charset="-122"/>
              <a:cs typeface="+mn-cs"/>
            </a:defRPr>
          </a:pPr>
          <a:endParaRPr lang="zh-CN"/>
        </a:p>
      </c:txPr>
    </c:legend>
    <c:plotVisOnly val="1"/>
    <c:dispBlanksAs val="zero"/>
    <c:showDLblsOverMax val="0"/>
  </c:chart>
  <c:spPr>
    <a:noFill/>
    <a:ln>
      <a:noFill/>
    </a:ln>
    <a:effectLst/>
  </c:spPr>
  <c:txPr>
    <a:bodyPr/>
    <a:lstStyle/>
    <a:p>
      <a:pPr>
        <a:defRPr>
          <a:latin typeface="微软雅黑" panose="020B0503020204020204" pitchFamily="34" charset="-122"/>
          <a:ea typeface="微软雅黑" panose="020B0503020204020204"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C84B3B-8F0A-4805-A67B-03E815971521}" type="doc">
      <dgm:prSet loTypeId="urn:microsoft.com/office/officeart/2005/8/layout/vList5" loCatId="list" qsTypeId="urn:microsoft.com/office/officeart/2005/8/quickstyle/simple1#2" qsCatId="simple" csTypeId="urn:microsoft.com/office/officeart/2005/8/colors/colorful1" csCatId="colorful" phldr="1"/>
      <dgm:spPr/>
      <dgm:t>
        <a:bodyPr/>
        <a:lstStyle/>
        <a:p>
          <a:endParaRPr lang="zh-CN" altLang="en-US"/>
        </a:p>
      </dgm:t>
    </dgm:pt>
    <dgm:pt modelId="{39985453-B511-42CA-B183-9BE2CF87CACF}">
      <dgm:prSet phldrT="[文本]" custT="1"/>
      <dgm:spPr>
        <a:solidFill>
          <a:srgbClr val="257000"/>
        </a:solidFill>
      </dgm:spPr>
      <dgm:t>
        <a:bodyPr/>
        <a:lstStyle/>
        <a:p>
          <a:r>
            <a:rPr lang="zh-CN" altLang="en-US" sz="1400" b="1" dirty="0">
              <a:latin typeface="微软雅黑" panose="020B0503020204020204" pitchFamily="34" charset="-122"/>
              <a:ea typeface="微软雅黑" panose="020B0503020204020204" pitchFamily="34" charset="-122"/>
            </a:rPr>
            <a:t>头部知名对冲基金</a:t>
          </a:r>
        </a:p>
      </dgm:t>
    </dgm:pt>
    <dgm:pt modelId="{F1603B1B-141D-4BFB-8A14-68D5FDC31CD5}" type="parTrans" cxnId="{2CE5E3A4-0363-46E0-A61C-647B8D8881F9}">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DE9A8BF7-B716-4C6A-9D6D-437D962249AF}" type="sibTrans" cxnId="{2CE5E3A4-0363-46E0-A61C-647B8D8881F9}">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7BE7D251-5014-4CF4-A123-7E214DDC17FA}">
      <dgm:prSet phldrT="[文本]" custT="1"/>
      <dgm:spPr>
        <a:solidFill>
          <a:schemeClr val="bg1">
            <a:lumMod val="95000"/>
            <a:alpha val="90000"/>
          </a:schemeClr>
        </a:solidFill>
      </dgm:spPr>
      <dgm:t>
        <a:bodyPr/>
        <a:lstStyle/>
        <a:p>
          <a:pPr rtl="0"/>
          <a:r>
            <a:rPr lang="en-US" altLang="en-US" sz="1100" b="0" dirty="0">
              <a:latin typeface="微软雅黑" panose="020B0503020204020204" pitchFamily="34" charset="-122"/>
              <a:ea typeface="微软雅黑" panose="020B0503020204020204" pitchFamily="34" charset="-122"/>
            </a:rPr>
            <a:t>Point 72</a:t>
          </a:r>
          <a:r>
            <a:rPr lang="zh-CN" altLang="en-US" sz="1100" b="0" dirty="0">
              <a:latin typeface="微软雅黑" panose="020B0503020204020204" pitchFamily="34" charset="-122"/>
              <a:ea typeface="微软雅黑" panose="020B0503020204020204" pitchFamily="34" charset="-122"/>
            </a:rPr>
            <a:t>成立于</a:t>
          </a:r>
          <a:r>
            <a:rPr lang="en-US" altLang="zh-CN" sz="1100" b="0" dirty="0">
              <a:latin typeface="微软雅黑" panose="020B0503020204020204" pitchFamily="34" charset="-122"/>
              <a:ea typeface="微软雅黑" panose="020B0503020204020204" pitchFamily="34" charset="-122"/>
            </a:rPr>
            <a:t>2014</a:t>
          </a:r>
          <a:r>
            <a:rPr lang="zh-CN" altLang="en-US" sz="1100" b="0" dirty="0">
              <a:latin typeface="微软雅黑" panose="020B0503020204020204" pitchFamily="34" charset="-122"/>
              <a:ea typeface="微软雅黑" panose="020B0503020204020204" pitchFamily="34" charset="-122"/>
            </a:rPr>
            <a:t>年，总部位于康涅狄格州斯坦福市，是全球规模前</a:t>
          </a:r>
          <a:r>
            <a:rPr lang="en-US" altLang="zh-CN" sz="1100" b="0" dirty="0">
              <a:latin typeface="微软雅黑" panose="020B0503020204020204" pitchFamily="34" charset="-122"/>
              <a:ea typeface="微软雅黑" panose="020B0503020204020204" pitchFamily="34" charset="-122"/>
            </a:rPr>
            <a:t>20</a:t>
          </a:r>
          <a:r>
            <a:rPr lang="zh-CN" altLang="en-US" sz="1100" b="0" dirty="0">
              <a:latin typeface="微软雅黑" panose="020B0503020204020204" pitchFamily="34" charset="-122"/>
              <a:ea typeface="微软雅黑" panose="020B0503020204020204" pitchFamily="34" charset="-122"/>
            </a:rPr>
            <a:t>的对冲基金，管理规模超</a:t>
          </a:r>
          <a:r>
            <a:rPr lang="en-US" altLang="zh-CN" sz="1100" b="0" dirty="0">
              <a:latin typeface="微软雅黑" panose="020B0503020204020204" pitchFamily="34" charset="-122"/>
              <a:ea typeface="微软雅黑" panose="020B0503020204020204" pitchFamily="34" charset="-122"/>
            </a:rPr>
            <a:t>350</a:t>
          </a:r>
          <a:r>
            <a:rPr lang="zh-CN" altLang="en-US" sz="1100" b="0" dirty="0">
              <a:latin typeface="微软雅黑" panose="020B0503020204020204" pitchFamily="34" charset="-122"/>
              <a:ea typeface="微软雅黑" panose="020B0503020204020204" pitchFamily="34" charset="-122"/>
            </a:rPr>
            <a:t>亿美金。在全球</a:t>
          </a:r>
          <a:r>
            <a:rPr lang="en-US" altLang="zh-CN" sz="1100" b="0" dirty="0">
              <a:latin typeface="微软雅黑" panose="020B0503020204020204" pitchFamily="34" charset="-122"/>
              <a:ea typeface="微软雅黑" panose="020B0503020204020204" pitchFamily="34" charset="-122"/>
            </a:rPr>
            <a:t>17</a:t>
          </a:r>
          <a:r>
            <a:rPr lang="zh-CN" altLang="en-US" sz="1100" b="0" dirty="0">
              <a:latin typeface="微软雅黑" panose="020B0503020204020204" pitchFamily="34" charset="-122"/>
              <a:ea typeface="微软雅黑" panose="020B0503020204020204" pitchFamily="34" charset="-122"/>
            </a:rPr>
            <a:t>个办公室拥有约</a:t>
          </a:r>
          <a:r>
            <a:rPr lang="en-US" altLang="zh-CN" sz="1100" b="0" dirty="0">
              <a:latin typeface="微软雅黑" panose="020B0503020204020204" pitchFamily="34" charset="-122"/>
              <a:ea typeface="微软雅黑" panose="020B0503020204020204" pitchFamily="34" charset="-122"/>
            </a:rPr>
            <a:t>2,800</a:t>
          </a:r>
          <a:r>
            <a:rPr lang="zh-CN" altLang="en-US" sz="1100" b="0" dirty="0">
              <a:latin typeface="微软雅黑" panose="020B0503020204020204" pitchFamily="34" charset="-122"/>
              <a:ea typeface="微软雅黑" panose="020B0503020204020204" pitchFamily="34" charset="-122"/>
            </a:rPr>
            <a:t>名员工，其中投研团队约</a:t>
          </a:r>
          <a:r>
            <a:rPr lang="en-US" altLang="zh-CN" sz="1100" b="0" dirty="0">
              <a:latin typeface="微软雅黑" panose="020B0503020204020204" pitchFamily="34" charset="-122"/>
              <a:ea typeface="微软雅黑" panose="020B0503020204020204" pitchFamily="34" charset="-122"/>
            </a:rPr>
            <a:t>1,280</a:t>
          </a:r>
          <a:r>
            <a:rPr lang="zh-CN" altLang="en-US" sz="1100" b="0" dirty="0">
              <a:latin typeface="微软雅黑" panose="020B0503020204020204" pitchFamily="34" charset="-122"/>
              <a:ea typeface="微软雅黑" panose="020B0503020204020204" pitchFamily="34" charset="-122"/>
            </a:rPr>
            <a:t>人。</a:t>
          </a:r>
        </a:p>
      </dgm:t>
    </dgm:pt>
    <dgm:pt modelId="{AE329B3F-1439-4088-BF39-E02299F18443}" type="parTrans" cxnId="{11562552-AAFE-4958-A1F1-D20A7BDA5961}">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F1FF0D4F-4C26-4FAB-8F5E-D3FC1309C36F}" type="sibTrans" cxnId="{11562552-AAFE-4958-A1F1-D20A7BDA5961}">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C89EB15B-A896-4989-9107-BB1D6DCABE7E}">
      <dgm:prSet phldrT="[文本]" custT="1"/>
      <dgm:spPr>
        <a:solidFill>
          <a:srgbClr val="257000"/>
        </a:solidFill>
      </dgm:spPr>
      <dgm:t>
        <a:bodyPr/>
        <a:lstStyle/>
        <a:p>
          <a:r>
            <a:rPr lang="zh-CN" altLang="en-US" sz="1400" b="1" dirty="0">
              <a:latin typeface="微软雅黑" panose="020B0503020204020204" pitchFamily="34" charset="-122"/>
              <a:ea typeface="微软雅黑" panose="020B0503020204020204" pitchFamily="34" charset="-122"/>
            </a:rPr>
            <a:t>合作价值</a:t>
          </a:r>
        </a:p>
      </dgm:t>
    </dgm:pt>
    <dgm:pt modelId="{8077F391-E6B1-4330-BCF0-79B38F036359}" type="parTrans" cxnId="{3C835A83-572A-42B9-9E9D-171B85D0588B}">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19FD3B36-9095-4CEF-B5B7-E7C5D31C826F}" type="sibTrans" cxnId="{3C835A83-572A-42B9-9E9D-171B85D0588B}">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B41D4C6F-54CD-4034-8D4C-F8B3A445AAA4}">
      <dgm:prSet phldrT="[文本]" custT="1"/>
      <dgm:spPr>
        <a:solidFill>
          <a:schemeClr val="bg1">
            <a:lumMod val="95000"/>
            <a:alpha val="90000"/>
          </a:schemeClr>
        </a:solidFill>
      </dgm:spPr>
      <dgm:t>
        <a:bodyPr/>
        <a:lstStyle/>
        <a:p>
          <a:endParaRPr lang="zh-CN" altLang="en-US" sz="1100" dirty="0">
            <a:latin typeface="微软雅黑" panose="020B0503020204020204" pitchFamily="34" charset="-122"/>
            <a:ea typeface="微软雅黑" panose="020B0503020204020204" pitchFamily="34" charset="-122"/>
          </a:endParaRPr>
        </a:p>
      </dgm:t>
    </dgm:pt>
    <dgm:pt modelId="{A6CC41C3-288F-41FC-984E-6B551B3FCCA6}" type="parTrans" cxnId="{B27480B5-F8C8-4080-B4B1-BC30902460ED}">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95C53EB1-01B7-4604-8858-1A89C561022D}" type="sibTrans" cxnId="{B27480B5-F8C8-4080-B4B1-BC30902460ED}">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39A7F89A-1136-4188-94F1-3261497A0D57}">
      <dgm:prSet phldrT="[文本]" custT="1"/>
      <dgm:spPr>
        <a:solidFill>
          <a:srgbClr val="257000"/>
        </a:solidFill>
      </dgm:spPr>
      <dgm:t>
        <a:bodyPr/>
        <a:lstStyle/>
        <a:p>
          <a:r>
            <a:rPr lang="zh-CN" altLang="en-US" sz="1400" b="1">
              <a:latin typeface="微软雅黑" panose="020B0503020204020204" pitchFamily="34" charset="-122"/>
              <a:ea typeface="微软雅黑" panose="020B0503020204020204" pitchFamily="34" charset="-122"/>
            </a:rPr>
            <a:t>投资团队概况</a:t>
          </a:r>
          <a:endParaRPr lang="zh-CN" altLang="en-US" sz="1400" b="1" dirty="0">
            <a:latin typeface="微软雅黑" panose="020B0503020204020204" pitchFamily="34" charset="-122"/>
            <a:ea typeface="微软雅黑" panose="020B0503020204020204" pitchFamily="34" charset="-122"/>
          </a:endParaRPr>
        </a:p>
      </dgm:t>
    </dgm:pt>
    <dgm:pt modelId="{10F0D27A-3E43-40D7-ACA6-1BEF3A8D9FD7}" type="parTrans" cxnId="{467F1337-0886-4409-917B-6480676B8FA5}">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57B6496F-BAC8-45F7-9967-D3A185ED778A}" type="sibTrans" cxnId="{467F1337-0886-4409-917B-6480676B8FA5}">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34C25EF3-F9A6-4189-8965-8991BB0CEF82}">
      <dgm:prSet phldrT="[文本]" custT="1"/>
      <dgm:spPr>
        <a:solidFill>
          <a:schemeClr val="bg1">
            <a:lumMod val="95000"/>
            <a:alpha val="90000"/>
          </a:schemeClr>
        </a:solidFill>
      </dgm:spPr>
      <dgm:t>
        <a:bodyPr/>
        <a:lstStyle/>
        <a:p>
          <a:r>
            <a:rPr lang="en-US" altLang="zh-CN" sz="1100" dirty="0">
              <a:latin typeface="微软雅黑" panose="020B0503020204020204" pitchFamily="34" charset="-122"/>
              <a:ea typeface="微软雅黑" panose="020B0503020204020204" pitchFamily="34" charset="-122"/>
            </a:rPr>
            <a:t>Eric Sanchez</a:t>
          </a:r>
          <a:r>
            <a:rPr lang="zh-CN" altLang="en-US" sz="1100" dirty="0">
              <a:latin typeface="微软雅黑" panose="020B0503020204020204" pitchFamily="34" charset="-122"/>
              <a:ea typeface="微软雅黑" panose="020B0503020204020204" pitchFamily="34" charset="-122"/>
            </a:rPr>
            <a:t>是基金的投资经理，拥有</a:t>
          </a:r>
          <a:r>
            <a:rPr lang="en-US" altLang="zh-CN" sz="1100" dirty="0">
              <a:latin typeface="微软雅黑" panose="020B0503020204020204" pitchFamily="34" charset="-122"/>
              <a:ea typeface="微软雅黑" panose="020B0503020204020204" pitchFamily="34" charset="-122"/>
            </a:rPr>
            <a:t>13</a:t>
          </a:r>
          <a:r>
            <a:rPr lang="zh-CN" altLang="en-US" sz="1100" dirty="0">
              <a:latin typeface="微软雅黑" panose="020B0503020204020204" pitchFamily="34" charset="-122"/>
              <a:ea typeface="微软雅黑" panose="020B0503020204020204" pitchFamily="34" charset="-122"/>
            </a:rPr>
            <a:t>年以上科技领域的投资经验。</a:t>
          </a:r>
        </a:p>
      </dgm:t>
    </dgm:pt>
    <dgm:pt modelId="{F1B9868C-720F-4C2A-931A-EB9DB65885C2}" type="parTrans" cxnId="{58195AEF-704D-43B1-B9BF-F524D2402F6C}">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1B492B89-8379-40ED-8049-F141C5BDDA95}" type="sibTrans" cxnId="{58195AEF-704D-43B1-B9BF-F524D2402F6C}">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324EA1D5-C9F0-4792-BAC9-BF0E1DB2744B}">
      <dgm:prSet phldrT="[文本]" custT="1"/>
      <dgm:spPr>
        <a:solidFill>
          <a:srgbClr val="257000"/>
        </a:solidFill>
      </dgm:spPr>
      <dgm:t>
        <a:bodyPr/>
        <a:lstStyle/>
        <a:p>
          <a:r>
            <a:rPr lang="zh-CN" altLang="en-US" sz="1400" b="1" dirty="0">
              <a:latin typeface="微软雅黑" panose="020B0503020204020204" pitchFamily="34" charset="-122"/>
              <a:ea typeface="微软雅黑" panose="020B0503020204020204" pitchFamily="34" charset="-122"/>
            </a:rPr>
            <a:t>投资策略</a:t>
          </a:r>
        </a:p>
      </dgm:t>
    </dgm:pt>
    <dgm:pt modelId="{304EBA27-0650-4F08-9EAC-995ED9FD3DC0}" type="parTrans" cxnId="{4F6E860E-AD27-4692-AE0D-838EB24265A5}">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FC3F44C7-3984-4293-9386-13E5530AFE2E}" type="sibTrans" cxnId="{4F6E860E-AD27-4692-AE0D-838EB24265A5}">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900AF672-70D8-4F91-8C1F-3A3E71DCFB3F}">
      <dgm:prSet phldrT="[文本]" custT="1"/>
      <dgm:spPr>
        <a:solidFill>
          <a:srgbClr val="257000"/>
        </a:solidFill>
      </dgm:spPr>
      <dgm:t>
        <a:bodyPr/>
        <a:lstStyle/>
        <a:p>
          <a:r>
            <a:rPr lang="zh-CN" altLang="en-US" sz="1400" b="1" dirty="0">
              <a:latin typeface="微软雅黑" panose="020B0503020204020204" pitchFamily="34" charset="-122"/>
              <a:ea typeface="微软雅黑" panose="020B0503020204020204" pitchFamily="34" charset="-122"/>
            </a:rPr>
            <a:t>策略业绩</a:t>
          </a:r>
        </a:p>
      </dgm:t>
    </dgm:pt>
    <dgm:pt modelId="{7AB4DD27-0C6F-4235-BB92-37903604DF10}" type="parTrans" cxnId="{F3CA2057-90A1-4854-AF00-D7A9CD0DB21D}">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3DB79CFE-B9E7-4731-802B-C3563CE93F7A}" type="sibTrans" cxnId="{F3CA2057-90A1-4854-AF00-D7A9CD0DB21D}">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20978B3F-8BDF-4DDD-B092-7880F9D797B7}">
      <dgm:prSet phldrT="[文本]" custT="1"/>
      <dgm:spPr>
        <a:solidFill>
          <a:schemeClr val="bg1">
            <a:lumMod val="95000"/>
            <a:alpha val="90000"/>
          </a:schemeClr>
        </a:solidFill>
      </dgm:spPr>
      <dgm:t>
        <a:bodyPr/>
        <a:lstStyle/>
        <a:p>
          <a:r>
            <a:rPr kumimoji="0" lang="zh-CN" altLang="en-US" sz="1200" b="0" i="0" u="none" strike="noStrike" cap="none" spc="0" normalizeH="0" baseline="0" dirty="0" smtClean="0">
              <a:ln/>
              <a:effectLst/>
              <a:uLnTx/>
              <a:uFillTx/>
              <a:latin typeface="微软雅黑" panose="020B0503020204020204" pitchFamily="34" charset="-122"/>
              <a:ea typeface="微软雅黑" panose="020B0503020204020204" pitchFamily="34" charset="-122"/>
              <a:cs typeface="+mn-cs"/>
            </a:rPr>
            <a:t>账户历史</a:t>
          </a:r>
          <a:r>
            <a:rPr kumimoji="0" lang="zh-CN" altLang="en-US" sz="12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年化</a:t>
          </a:r>
          <a:r>
            <a:rPr kumimoji="0" lang="zh-CN" altLang="en-US" sz="1200" b="0" i="0" u="none" strike="noStrike" cap="none" spc="0" normalizeH="0" baseline="0" dirty="0" smtClean="0">
              <a:ln/>
              <a:effectLst/>
              <a:uLnTx/>
              <a:uFillTx/>
              <a:latin typeface="微软雅黑" panose="020B0503020204020204" pitchFamily="34" charset="-122"/>
              <a:ea typeface="微软雅黑" panose="020B0503020204020204" pitchFamily="34" charset="-122"/>
              <a:cs typeface="+mn-cs"/>
            </a:rPr>
            <a:t>收益</a:t>
          </a:r>
          <a:r>
            <a:rPr kumimoji="0" lang="en-US" altLang="zh-CN" sz="1200" b="1" i="0" u="none" strike="noStrike" cap="none" spc="0" normalizeH="0" baseline="0" dirty="0" smtClean="0">
              <a:ln/>
              <a:solidFill>
                <a:srgbClr val="C00000"/>
              </a:solidFill>
              <a:effectLst/>
              <a:uLnTx/>
              <a:uFillTx/>
              <a:latin typeface="微软雅黑" panose="020B0503020204020204" pitchFamily="34" charset="-122"/>
              <a:ea typeface="微软雅黑" panose="020B0503020204020204" pitchFamily="34" charset="-122"/>
              <a:cs typeface="+mn-cs"/>
            </a:rPr>
            <a:t>47.8%</a:t>
          </a:r>
          <a:r>
            <a:rPr kumimoji="0" lang="zh-CN" altLang="en-US" sz="1200" b="0" i="0" u="none" strike="noStrike" cap="none" spc="0" normalizeH="0" baseline="0" dirty="0" smtClean="0">
              <a:ln/>
              <a:effectLst/>
              <a:uLnTx/>
              <a:uFillTx/>
              <a:latin typeface="微软雅黑" panose="020B0503020204020204" pitchFamily="34" charset="-122"/>
              <a:ea typeface="微软雅黑" panose="020B0503020204020204" pitchFamily="34" charset="-122"/>
              <a:cs typeface="+mn-cs"/>
            </a:rPr>
            <a:t>，年化波动率</a:t>
          </a:r>
          <a:r>
            <a:rPr kumimoji="0" lang="en-US" altLang="zh-CN" sz="1200" b="1" i="0" u="none" strike="noStrike" cap="none" spc="0" normalizeH="0" baseline="0" dirty="0" smtClean="0">
              <a:ln/>
              <a:solidFill>
                <a:schemeClr val="accent6">
                  <a:lumMod val="75000"/>
                </a:schemeClr>
              </a:solidFill>
              <a:effectLst/>
              <a:uLnTx/>
              <a:uFillTx/>
              <a:latin typeface="微软雅黑" panose="020B0503020204020204" pitchFamily="34" charset="-122"/>
              <a:ea typeface="微软雅黑" panose="020B0503020204020204" pitchFamily="34" charset="-122"/>
              <a:cs typeface="+mn-cs"/>
            </a:rPr>
            <a:t>22.8%</a:t>
          </a:r>
          <a:r>
            <a:rPr kumimoji="0" lang="zh-CN" altLang="en-US" sz="1200" b="0" i="0" u="none" strike="noStrike" cap="none" spc="0" normalizeH="0" baseline="0" dirty="0" smtClean="0">
              <a:ln/>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最大回</a:t>
          </a:r>
          <a:r>
            <a:rPr kumimoji="0" lang="zh-CN" altLang="en-US" sz="1200" b="0" i="0" u="none" strike="noStrike" cap="none" spc="0" normalizeH="0" baseline="0" dirty="0" smtClean="0">
              <a:ln/>
              <a:effectLst/>
              <a:uLnTx/>
              <a:uFillTx/>
              <a:latin typeface="微软雅黑" panose="020B0503020204020204" pitchFamily="34" charset="-122"/>
              <a:ea typeface="微软雅黑" panose="020B0503020204020204" pitchFamily="34" charset="-122"/>
              <a:cs typeface="+mn-cs"/>
            </a:rPr>
            <a:t>撤</a:t>
          </a:r>
          <a:r>
            <a:rPr kumimoji="0" lang="en-US" altLang="zh-CN" sz="1200" b="1" i="0" u="none" strike="noStrike" cap="none" spc="0" normalizeH="0" baseline="0" dirty="0" smtClean="0">
              <a:ln/>
              <a:solidFill>
                <a:schemeClr val="accent6">
                  <a:lumMod val="75000"/>
                </a:schemeClr>
              </a:solidFill>
              <a:effectLst/>
              <a:uLnTx/>
              <a:uFillTx/>
              <a:latin typeface="微软雅黑" panose="020B0503020204020204" pitchFamily="34" charset="-122"/>
              <a:ea typeface="微软雅黑" panose="020B0503020204020204" pitchFamily="34" charset="-122"/>
              <a:cs typeface="+mn-cs"/>
            </a:rPr>
            <a:t>-10.9%</a:t>
          </a:r>
          <a:r>
            <a:rPr kumimoji="0" lang="zh-CN" altLang="en-US" sz="1200" b="0" i="0" u="none" strike="noStrike" cap="none" spc="0" normalizeH="0" baseline="0" dirty="0" smtClean="0">
              <a:ln/>
              <a:effectLst/>
              <a:uLnTx/>
              <a:uFillTx/>
              <a:latin typeface="微软雅黑" panose="020B0503020204020204" pitchFamily="34" charset="-122"/>
              <a:ea typeface="微软雅黑" panose="020B0503020204020204" pitchFamily="34" charset="-122"/>
              <a:cs typeface="+mn-cs"/>
            </a:rPr>
            <a:t>，夏普比率</a:t>
          </a:r>
          <a:r>
            <a:rPr kumimoji="0" lang="en-US" altLang="zh-CN" sz="1200" b="1" i="0" u="none" strike="noStrike" cap="none" spc="0" normalizeH="0" baseline="0" dirty="0" smtClean="0">
              <a:ln/>
              <a:solidFill>
                <a:srgbClr val="C00000"/>
              </a:solidFill>
              <a:effectLst/>
              <a:uLnTx/>
              <a:uFillTx/>
              <a:latin typeface="微软雅黑" panose="020B0503020204020204" pitchFamily="34" charset="-122"/>
              <a:ea typeface="微软雅黑" panose="020B0503020204020204" pitchFamily="34" charset="-122"/>
              <a:cs typeface="+mn-cs"/>
            </a:rPr>
            <a:t>2.1</a:t>
          </a:r>
          <a:r>
            <a:rPr kumimoji="0" lang="zh-CN" altLang="en-US" sz="1200" b="0" i="0" u="none" strike="noStrike" cap="none" spc="0" normalizeH="0" baseline="0" dirty="0" smtClean="0">
              <a:ln/>
              <a:effectLst/>
              <a:uLnTx/>
              <a:uFillTx/>
              <a:latin typeface="微软雅黑" panose="020B0503020204020204" pitchFamily="34" charset="-122"/>
              <a:ea typeface="微软雅黑" panose="020B0503020204020204" pitchFamily="34" charset="-122"/>
              <a:cs typeface="+mn-cs"/>
            </a:rPr>
            <a:t>。</a:t>
          </a:r>
          <a:endParaRPr kumimoji="0" lang="zh-CN" altLang="en-US" sz="1200" b="0" i="0" u="none" strike="noStrike" cap="none" spc="0" normalizeH="0" baseline="0" dirty="0">
            <a:ln/>
            <a:effectLst/>
            <a:uLnTx/>
            <a:uFillTx/>
            <a:latin typeface="微软雅黑" panose="020B0503020204020204" pitchFamily="34" charset="-122"/>
            <a:ea typeface="微软雅黑" panose="020B0503020204020204" pitchFamily="34" charset="-122"/>
            <a:cs typeface="+mn-cs"/>
          </a:endParaRPr>
        </a:p>
      </dgm:t>
    </dgm:pt>
    <dgm:pt modelId="{5C1B97E0-E3C3-4519-B712-94E43327BBF4}" type="parTrans" cxnId="{677639B5-CAD1-4BB4-8657-AD1A10F62290}">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EF69D0D0-8488-4DCE-9FEC-01F747341A8C}" type="sibTrans" cxnId="{677639B5-CAD1-4BB4-8657-AD1A10F62290}">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66A13611-FCA9-446B-BA5A-F7EF56D83D17}">
      <dgm:prSet phldrT="[文本]" custT="1"/>
      <dgm:spPr>
        <a:solidFill>
          <a:schemeClr val="bg1">
            <a:lumMod val="95000"/>
            <a:alpha val="90000"/>
          </a:schemeClr>
        </a:solidFill>
      </dgm:spPr>
      <dgm:t>
        <a:bodyPr/>
        <a:lstStyle/>
        <a:p>
          <a:r>
            <a:rPr lang="zh-CN" altLang="en-US" sz="1100" dirty="0">
              <a:latin typeface="微软雅黑" panose="020B0503020204020204" pitchFamily="34" charset="-122"/>
              <a:ea typeface="微软雅黑" panose="020B0503020204020204" pitchFamily="34" charset="-122"/>
              <a:cs typeface="Franklin Gothic Medium Cond"/>
            </a:rPr>
            <a:t>基本面驱动的股票多空策略，在全球股票市场中寻找投资机会，聚焦科技主题，主要关注被人工智能影响的美国科技股。</a:t>
          </a:r>
          <a:endParaRPr kumimoji="0" lang="zh-CN"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endParaRPr>
        </a:p>
      </dgm:t>
    </dgm:pt>
    <dgm:pt modelId="{C571B3B0-B9C6-4E47-A13B-C9ADCD0E7788}" type="parTrans" cxnId="{8D66FBBD-35F0-4F16-A3A0-5C891239F1DF}">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B93BAE46-4131-4E9B-8DCC-DBBC2631BF18}" type="sibTrans" cxnId="{8D66FBBD-35F0-4F16-A3A0-5C891239F1DF}">
      <dgm:prSet/>
      <dgm:spPr/>
      <dgm:t>
        <a:bodyPr/>
        <a:lstStyle/>
        <a:p>
          <a:endParaRPr lang="zh-CN" altLang="en-US" sz="1400">
            <a:latin typeface="微软雅黑" panose="020B0503020204020204" pitchFamily="34" charset="-122"/>
            <a:ea typeface="微软雅黑" panose="020B0503020204020204" pitchFamily="34" charset="-122"/>
          </a:endParaRPr>
        </a:p>
      </dgm:t>
    </dgm:pt>
    <dgm:pt modelId="{1215B0A8-CFB1-4D3F-9BF0-E520F57D7ACA}">
      <dgm:prSet custT="1"/>
      <dgm:spPr>
        <a:solidFill>
          <a:schemeClr val="bg1">
            <a:lumMod val="95000"/>
            <a:alpha val="90000"/>
          </a:schemeClr>
        </a:solidFill>
      </dgm:spPr>
      <dgm:t>
        <a:bodyPr/>
        <a:lstStyle/>
        <a:p>
          <a:endParaRPr lang="zh-CN" altLang="en-US" sz="1100" dirty="0">
            <a:latin typeface="微软雅黑" panose="020B0503020204020204" pitchFamily="34" charset="-122"/>
            <a:ea typeface="微软雅黑" panose="020B0503020204020204" pitchFamily="34" charset="-122"/>
          </a:endParaRPr>
        </a:p>
      </dgm:t>
    </dgm:pt>
    <dgm:pt modelId="{F685326E-FFB9-4D3B-AE58-533C18DF5337}" type="parTrans" cxnId="{4149DC28-C3A9-40FF-A593-EF8D14C35747}">
      <dgm:prSet/>
      <dgm:spPr/>
      <dgm:t>
        <a:bodyPr/>
        <a:lstStyle/>
        <a:p>
          <a:endParaRPr lang="zh-CN" altLang="en-US"/>
        </a:p>
      </dgm:t>
    </dgm:pt>
    <dgm:pt modelId="{CC64F0FB-43C7-49AC-ADBF-E28BEBDED0DD}" type="sibTrans" cxnId="{4149DC28-C3A9-40FF-A593-EF8D14C35747}">
      <dgm:prSet/>
      <dgm:spPr/>
      <dgm:t>
        <a:bodyPr/>
        <a:lstStyle/>
        <a:p>
          <a:endParaRPr lang="zh-CN" altLang="en-US"/>
        </a:p>
      </dgm:t>
    </dgm:pt>
    <dgm:pt modelId="{C62088D6-76A4-4714-A98B-8AD5842870F1}">
      <dgm:prSet phldrT="[文本]" custT="1"/>
      <dgm:spPr>
        <a:solidFill>
          <a:schemeClr val="bg1">
            <a:lumMod val="95000"/>
            <a:alpha val="90000"/>
          </a:schemeClr>
        </a:solidFill>
      </dgm:spPr>
      <dgm:t>
        <a:bodyPr/>
        <a:lstStyle/>
        <a:p>
          <a:r>
            <a:rPr lang="zh-CN" altLang="en-US" sz="1100" b="0" dirty="0">
              <a:latin typeface="微软雅黑" panose="020B0503020204020204" pitchFamily="34" charset="-122"/>
              <a:ea typeface="微软雅黑" panose="020B0503020204020204" pitchFamily="34" charset="-122"/>
            </a:rPr>
            <a:t>创始人</a:t>
          </a:r>
          <a:r>
            <a:rPr lang="en-US" altLang="zh-CN" sz="1100" b="0" dirty="0">
              <a:latin typeface="微软雅黑" panose="020B0503020204020204" pitchFamily="34" charset="-122"/>
              <a:ea typeface="微软雅黑" panose="020B0503020204020204" pitchFamily="34" charset="-122"/>
            </a:rPr>
            <a:t>Steve Cohen</a:t>
          </a:r>
          <a:r>
            <a:rPr lang="zh-CN" altLang="en-US" sz="1100" b="0" dirty="0">
              <a:latin typeface="微软雅黑" panose="020B0503020204020204" pitchFamily="34" charset="-122"/>
              <a:ea typeface="微软雅黑" panose="020B0503020204020204" pitchFamily="34" charset="-122"/>
            </a:rPr>
            <a:t>担任基金的投委会主席，负责设定策略目标和风险框架，并计划在该基金投资</a:t>
          </a:r>
          <a:r>
            <a:rPr lang="en-US" altLang="zh-CN" sz="1100" b="0" dirty="0">
              <a:latin typeface="微软雅黑" panose="020B0503020204020204" pitchFamily="34" charset="-122"/>
              <a:ea typeface="微软雅黑" panose="020B0503020204020204" pitchFamily="34" charset="-122"/>
            </a:rPr>
            <a:t>1.5</a:t>
          </a:r>
          <a:r>
            <a:rPr lang="zh-CN" altLang="en-US" sz="1100" b="0" dirty="0">
              <a:latin typeface="微软雅黑" panose="020B0503020204020204" pitchFamily="34" charset="-122"/>
              <a:ea typeface="微软雅黑" panose="020B0503020204020204" pitchFamily="34" charset="-122"/>
            </a:rPr>
            <a:t>亿美金。</a:t>
          </a:r>
        </a:p>
      </dgm:t>
    </dgm:pt>
    <dgm:pt modelId="{B7DB5762-4B9F-4235-BF75-2AC5A8F4B463}" type="parTrans" cxnId="{D48F78DE-80EB-4AFE-BA6F-CDAC7CAE4B4B}">
      <dgm:prSet/>
      <dgm:spPr/>
      <dgm:t>
        <a:bodyPr/>
        <a:lstStyle/>
        <a:p>
          <a:endParaRPr lang="zh-CN" altLang="en-US"/>
        </a:p>
      </dgm:t>
    </dgm:pt>
    <dgm:pt modelId="{C5432AC5-D1EA-4729-97A7-D73404FCB4AE}" type="sibTrans" cxnId="{D48F78DE-80EB-4AFE-BA6F-CDAC7CAE4B4B}">
      <dgm:prSet/>
      <dgm:spPr/>
      <dgm:t>
        <a:bodyPr/>
        <a:lstStyle/>
        <a:p>
          <a:endParaRPr lang="zh-CN" altLang="en-US"/>
        </a:p>
      </dgm:t>
    </dgm:pt>
    <dgm:pt modelId="{0C30BA9A-433A-4936-9D45-1E6ED1F19990}">
      <dgm:prSet phldrT="[文本]" custT="1"/>
      <dgm:spPr>
        <a:solidFill>
          <a:schemeClr val="bg1">
            <a:lumMod val="95000"/>
            <a:alpha val="90000"/>
          </a:schemeClr>
        </a:solidFill>
      </dgm:spPr>
      <dgm:t>
        <a:bodyPr/>
        <a:lstStyle/>
        <a:p>
          <a:r>
            <a:rPr kumimoji="0" lang="zh-CN" altLang="en-US" sz="1100" b="0" i="0" u="none" strike="noStrike" cap="none" spc="0" normalizeH="0" baseline="0">
              <a:ln/>
              <a:effectLst/>
              <a:uLnTx/>
              <a:uFillTx/>
              <a:latin typeface="微软雅黑" panose="020B0503020204020204" pitchFamily="34" charset="-122"/>
              <a:ea typeface="微软雅黑" panose="020B0503020204020204" pitchFamily="34" charset="-122"/>
              <a:cs typeface="+mn-cs"/>
            </a:rPr>
            <a:t>多头：总仓位</a:t>
          </a:r>
          <a:r>
            <a:rPr kumimoji="0" lang="en-US" altLang="en-US" sz="1100" b="0" i="0" u="none" strike="noStrike" cap="none" spc="0" normalizeH="0" baseline="0">
              <a:ln/>
              <a:effectLst/>
              <a:uLnTx/>
              <a:uFillTx/>
              <a:latin typeface="微软雅黑" panose="020B0503020204020204" pitchFamily="34" charset="-122"/>
              <a:ea typeface="微软雅黑" panose="020B0503020204020204" pitchFamily="34" charset="-122"/>
              <a:cs typeface="+mn-cs"/>
            </a:rPr>
            <a:t>100%-130%</a:t>
          </a:r>
          <a:r>
            <a:rPr kumimoji="0" lang="zh-CN" altLang="en-US" sz="1100" b="0" i="0" u="none" strike="noStrike" cap="none" spc="0" normalizeH="0" baseline="0">
              <a:ln/>
              <a:effectLst/>
              <a:uLnTx/>
              <a:uFillTx/>
              <a:latin typeface="微软雅黑" panose="020B0503020204020204" pitchFamily="34" charset="-122"/>
              <a:ea typeface="微软雅黑" panose="020B0503020204020204" pitchFamily="34" charset="-122"/>
              <a:cs typeface="+mn-cs"/>
            </a:rPr>
            <a:t>，</a:t>
          </a:r>
          <a:r>
            <a:rPr kumimoji="0" lang="en-US" altLang="zh-CN" sz="1100" b="0" i="0" u="none" strike="noStrike" cap="none" spc="0" normalizeH="0" baseline="0">
              <a:ln/>
              <a:effectLst/>
              <a:uLnTx/>
              <a:uFillTx/>
              <a:latin typeface="微软雅黑" panose="020B0503020204020204" pitchFamily="34" charset="-122"/>
              <a:ea typeface="微软雅黑" panose="020B0503020204020204" pitchFamily="34" charset="-122"/>
              <a:cs typeface="+mn-cs"/>
            </a:rPr>
            <a:t>20-30</a:t>
          </a:r>
          <a:r>
            <a:rPr kumimoji="0" lang="zh-CN" altLang="en-US" sz="1100" b="0" i="0" u="none" strike="noStrike" cap="none" spc="0" normalizeH="0" baseline="0">
              <a:ln/>
              <a:effectLst/>
              <a:uLnTx/>
              <a:uFillTx/>
              <a:latin typeface="微软雅黑" panose="020B0503020204020204" pitchFamily="34" charset="-122"/>
              <a:ea typeface="微软雅黑" panose="020B0503020204020204" pitchFamily="34" charset="-122"/>
              <a:cs typeface="+mn-cs"/>
            </a:rPr>
            <a:t>个标的，持仓周期＞</a:t>
          </a:r>
          <a:r>
            <a:rPr kumimoji="0" lang="en-US" altLang="zh-CN" sz="1100" b="0" i="0" u="none" strike="noStrike" cap="none" spc="0" normalizeH="0" baseline="0">
              <a:ln/>
              <a:effectLst/>
              <a:uLnTx/>
              <a:uFillTx/>
              <a:latin typeface="微软雅黑" panose="020B0503020204020204" pitchFamily="34" charset="-122"/>
              <a:ea typeface="微软雅黑" panose="020B0503020204020204" pitchFamily="34" charset="-122"/>
              <a:cs typeface="+mn-cs"/>
            </a:rPr>
            <a:t>2</a:t>
          </a:r>
          <a:r>
            <a:rPr kumimoji="0" lang="zh-CN" altLang="en-US" sz="1100" b="0" i="0" u="none" strike="noStrike" cap="none" spc="0" normalizeH="0" baseline="0">
              <a:ln/>
              <a:effectLst/>
              <a:uLnTx/>
              <a:uFillTx/>
              <a:latin typeface="微软雅黑" panose="020B0503020204020204" pitchFamily="34" charset="-122"/>
              <a:ea typeface="微软雅黑" panose="020B0503020204020204" pitchFamily="34" charset="-122"/>
              <a:cs typeface="+mn-cs"/>
            </a:rPr>
            <a:t>年。</a:t>
          </a:r>
          <a:endParaRPr kumimoji="0" lang="zh-CN"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endParaRPr>
        </a:p>
      </dgm:t>
    </dgm:pt>
    <dgm:pt modelId="{7C27F04B-1DD6-42EF-B1C2-32E1A300BA99}" type="parTrans" cxnId="{64D61278-390F-4EAC-8A45-84700773B8A9}">
      <dgm:prSet/>
      <dgm:spPr/>
      <dgm:t>
        <a:bodyPr/>
        <a:lstStyle/>
        <a:p>
          <a:endParaRPr lang="zh-CN" altLang="en-US"/>
        </a:p>
      </dgm:t>
    </dgm:pt>
    <dgm:pt modelId="{A54837F0-B5C2-4857-A3AD-17E7A595806B}" type="sibTrans" cxnId="{64D61278-390F-4EAC-8A45-84700773B8A9}">
      <dgm:prSet/>
      <dgm:spPr/>
      <dgm:t>
        <a:bodyPr/>
        <a:lstStyle/>
        <a:p>
          <a:endParaRPr lang="zh-CN" altLang="en-US"/>
        </a:p>
      </dgm:t>
    </dgm:pt>
    <dgm:pt modelId="{AF65AD88-9022-4739-AF95-8441377AAB54}">
      <dgm:prSet phldrT="[文本]" custT="1"/>
      <dgm:spPr>
        <a:solidFill>
          <a:schemeClr val="bg1">
            <a:lumMod val="95000"/>
            <a:alpha val="90000"/>
          </a:schemeClr>
        </a:solidFill>
      </dgm:spPr>
      <dgm:t>
        <a:bodyPr/>
        <a:lstStyle/>
        <a:p>
          <a:r>
            <a:rPr kumimoji="0" lang="zh-CN"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空头：</a:t>
          </a:r>
          <a:r>
            <a:rPr kumimoji="0" lang="en-US"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-100%</a:t>
          </a:r>
          <a:r>
            <a:rPr kumimoji="0" lang="zh-CN"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至</a:t>
          </a:r>
          <a:r>
            <a:rPr kumimoji="0" lang="en-US"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-40%</a:t>
          </a:r>
          <a:r>
            <a:rPr kumimoji="0" lang="zh-CN"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a:t>
          </a:r>
          <a:r>
            <a:rPr kumimoji="0" lang="en-US"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10-20</a:t>
          </a:r>
          <a:r>
            <a:rPr kumimoji="0" lang="zh-CN"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个标的，持仓周期＜</a:t>
          </a:r>
          <a:r>
            <a:rPr kumimoji="0" lang="en-US" altLang="zh-CN"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1</a:t>
          </a:r>
          <a:r>
            <a:rPr kumimoji="0" lang="zh-CN"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rPr>
            <a:t>年。</a:t>
          </a:r>
        </a:p>
      </dgm:t>
    </dgm:pt>
    <dgm:pt modelId="{B29FA18D-1E86-462D-BE82-05AE615A3EB0}" type="parTrans" cxnId="{EDAB7EB1-BA77-47F7-8019-023C2BC230F8}">
      <dgm:prSet/>
      <dgm:spPr/>
      <dgm:t>
        <a:bodyPr/>
        <a:lstStyle/>
        <a:p>
          <a:endParaRPr lang="zh-CN" altLang="en-US"/>
        </a:p>
      </dgm:t>
    </dgm:pt>
    <dgm:pt modelId="{F8EE9D40-032D-4C98-AB59-86A63DF12FBC}" type="sibTrans" cxnId="{EDAB7EB1-BA77-47F7-8019-023C2BC230F8}">
      <dgm:prSet/>
      <dgm:spPr/>
      <dgm:t>
        <a:bodyPr/>
        <a:lstStyle/>
        <a:p>
          <a:endParaRPr lang="zh-CN" altLang="en-US"/>
        </a:p>
      </dgm:t>
    </dgm:pt>
    <dgm:pt modelId="{4B59CE42-94CC-46B5-826B-97409D255D17}">
      <dgm:prSet phldrT="[文本]" custT="1"/>
      <dgm:spPr>
        <a:solidFill>
          <a:schemeClr val="bg1">
            <a:lumMod val="95000"/>
            <a:alpha val="90000"/>
          </a:schemeClr>
        </a:solidFill>
      </dgm:spPr>
      <dgm:t>
        <a:bodyPr/>
        <a:lstStyle/>
        <a:p>
          <a:r>
            <a:rPr lang="en-US" altLang="en-US" sz="1100" b="0" dirty="0">
              <a:latin typeface="微软雅黑" panose="020B0503020204020204" pitchFamily="34" charset="-122"/>
              <a:ea typeface="微软雅黑" panose="020B0503020204020204" pitchFamily="34" charset="-122"/>
            </a:rPr>
            <a:t>Point 72</a:t>
          </a:r>
          <a:r>
            <a:rPr lang="zh-CN" altLang="en-US" sz="1100" b="0" dirty="0">
              <a:latin typeface="微软雅黑" panose="020B0503020204020204" pitchFamily="34" charset="-122"/>
              <a:ea typeface="微软雅黑" panose="020B0503020204020204" pitchFamily="34" charset="-122"/>
            </a:rPr>
            <a:t>的使命是</a:t>
          </a:r>
          <a:r>
            <a:rPr lang="zh-CN" altLang="zh-CN" sz="1100" b="0" dirty="0">
              <a:latin typeface="微软雅黑" panose="020B0503020204020204" pitchFamily="34" charset="-122"/>
              <a:ea typeface="微软雅黑" panose="020B0503020204020204" pitchFamily="34" charset="-122"/>
            </a:rPr>
            <a:t>通过提供卓越的风险调整回报、遵守最高道德标准并为行业最杰出的人才提供最大机会，成为行业首屈一指的资产管理公司。</a:t>
          </a:r>
          <a:endParaRPr lang="zh-CN" altLang="en-US" sz="1100" b="0" dirty="0">
            <a:latin typeface="微软雅黑" panose="020B0503020204020204" pitchFamily="34" charset="-122"/>
            <a:ea typeface="微软雅黑" panose="020B0503020204020204" pitchFamily="34" charset="-122"/>
          </a:endParaRPr>
        </a:p>
      </dgm:t>
    </dgm:pt>
    <dgm:pt modelId="{22E30DC3-87F4-4085-8FA5-1D20BEDEF774}" type="parTrans" cxnId="{02FB4DE4-9195-4CD2-AFCA-1CB45FFAD37C}">
      <dgm:prSet/>
      <dgm:spPr/>
      <dgm:t>
        <a:bodyPr/>
        <a:lstStyle/>
        <a:p>
          <a:endParaRPr lang="zh-CN" altLang="en-US"/>
        </a:p>
      </dgm:t>
    </dgm:pt>
    <dgm:pt modelId="{374C16A9-26CE-4113-B9A4-53FA24DDBD7B}" type="sibTrans" cxnId="{02FB4DE4-9195-4CD2-AFCA-1CB45FFAD37C}">
      <dgm:prSet/>
      <dgm:spPr/>
      <dgm:t>
        <a:bodyPr/>
        <a:lstStyle/>
        <a:p>
          <a:endParaRPr lang="zh-CN" altLang="en-US"/>
        </a:p>
      </dgm:t>
    </dgm:pt>
    <dgm:pt modelId="{FCB41C08-C936-4ADB-A7A9-68C93EC2820D}">
      <dgm:prSet custT="1"/>
      <dgm:spPr>
        <a:solidFill>
          <a:schemeClr val="bg1">
            <a:lumMod val="95000"/>
            <a:alpha val="90000"/>
          </a:schemeClr>
        </a:solidFill>
      </dgm:spPr>
      <dgm:t>
        <a:bodyPr/>
        <a:lstStyle/>
        <a:p>
          <a:r>
            <a:rPr lang="en-US" altLang="en-US" sz="1100" b="0">
              <a:latin typeface="微软雅黑" panose="020B0503020204020204" pitchFamily="34" charset="-122"/>
              <a:ea typeface="微软雅黑" panose="020B0503020204020204" pitchFamily="34" charset="-122"/>
            </a:rPr>
            <a:t>Point 72</a:t>
          </a:r>
          <a:r>
            <a:rPr lang="zh-CN" altLang="en-US" sz="1100" b="0">
              <a:latin typeface="微软雅黑" panose="020B0503020204020204" pitchFamily="34" charset="-122"/>
              <a:ea typeface="微软雅黑" panose="020B0503020204020204" pitchFamily="34" charset="-122"/>
            </a:rPr>
            <a:t>认为</a:t>
          </a:r>
          <a:r>
            <a:rPr lang="en-US" altLang="en-US" sz="1100" b="0">
              <a:latin typeface="微软雅黑" panose="020B0503020204020204" pitchFamily="34" charset="-122"/>
              <a:ea typeface="微软雅黑" panose="020B0503020204020204" pitchFamily="34" charset="-122"/>
            </a:rPr>
            <a:t>AI</a:t>
          </a:r>
          <a:r>
            <a:rPr lang="zh-CN" altLang="en-US" sz="1100" b="0">
              <a:latin typeface="微软雅黑" panose="020B0503020204020204" pitchFamily="34" charset="-122"/>
              <a:ea typeface="微软雅黑" panose="020B0503020204020204" pitchFamily="34" charset="-122"/>
            </a:rPr>
            <a:t>领域会带来巨大、长期的投资机会；因此在</a:t>
          </a:r>
          <a:r>
            <a:rPr lang="en-US" altLang="en-US" sz="1100" b="0">
              <a:latin typeface="微软雅黑" panose="020B0503020204020204" pitchFamily="34" charset="-122"/>
              <a:ea typeface="微软雅黑" panose="020B0503020204020204" pitchFamily="34" charset="-122"/>
            </a:rPr>
            <a:t>2024</a:t>
          </a:r>
          <a:r>
            <a:rPr lang="zh-CN" altLang="en-US" sz="1100" b="0">
              <a:latin typeface="微软雅黑" panose="020B0503020204020204" pitchFamily="34" charset="-122"/>
              <a:ea typeface="微软雅黑" panose="020B0503020204020204" pitchFamily="34" charset="-122"/>
            </a:rPr>
            <a:t>年</a:t>
          </a:r>
          <a:r>
            <a:rPr lang="en-US" altLang="en-US" sz="1100" b="0">
              <a:latin typeface="微软雅黑" panose="020B0503020204020204" pitchFamily="34" charset="-122"/>
              <a:ea typeface="微软雅黑" panose="020B0503020204020204" pitchFamily="34" charset="-122"/>
            </a:rPr>
            <a:t>7</a:t>
          </a:r>
          <a:r>
            <a:rPr lang="zh-CN" altLang="en-US" sz="1100" b="0">
              <a:latin typeface="微软雅黑" panose="020B0503020204020204" pitchFamily="34" charset="-122"/>
              <a:ea typeface="微软雅黑" panose="020B0503020204020204" pitchFamily="34" charset="-122"/>
            </a:rPr>
            <a:t>月成立科技主题的</a:t>
          </a:r>
          <a:r>
            <a:rPr lang="en-US" altLang="en-US" sz="1100" b="0">
              <a:latin typeface="微软雅黑" panose="020B0503020204020204" pitchFamily="34" charset="-122"/>
              <a:ea typeface="微软雅黑" panose="020B0503020204020204" pitchFamily="34" charset="-122"/>
            </a:rPr>
            <a:t>Turion</a:t>
          </a:r>
          <a:r>
            <a:rPr lang="zh-CN" altLang="en-US" sz="1100" b="0">
              <a:latin typeface="微软雅黑" panose="020B0503020204020204" pitchFamily="34" charset="-122"/>
              <a:ea typeface="微软雅黑" panose="020B0503020204020204" pitchFamily="34" charset="-122"/>
            </a:rPr>
            <a:t>基金，以把握</a:t>
          </a:r>
          <a:r>
            <a:rPr lang="en-US" altLang="en-US" sz="1100" b="0">
              <a:latin typeface="微软雅黑" panose="020B0503020204020204" pitchFamily="34" charset="-122"/>
              <a:ea typeface="微软雅黑" panose="020B0503020204020204" pitchFamily="34" charset="-122"/>
            </a:rPr>
            <a:t>AI</a:t>
          </a:r>
          <a:r>
            <a:rPr lang="zh-CN" altLang="en-US" sz="1100" b="0">
              <a:latin typeface="微软雅黑" panose="020B0503020204020204" pitchFamily="34" charset="-122"/>
              <a:ea typeface="微软雅黑" panose="020B0503020204020204" pitchFamily="34" charset="-122"/>
            </a:rPr>
            <a:t>机会。</a:t>
          </a:r>
          <a:endParaRPr lang="zh-CN" altLang="en-US" sz="1100" b="0" dirty="0">
            <a:latin typeface="微软雅黑" panose="020B0503020204020204" pitchFamily="34" charset="-122"/>
            <a:ea typeface="微软雅黑" panose="020B0503020204020204" pitchFamily="34" charset="-122"/>
          </a:endParaRPr>
        </a:p>
      </dgm:t>
    </dgm:pt>
    <dgm:pt modelId="{67A35793-C148-4EF1-BDAE-4EDA38917642}" type="parTrans" cxnId="{7F9400F7-6402-4E9F-82DC-EEF435D4B001}">
      <dgm:prSet/>
      <dgm:spPr/>
      <dgm:t>
        <a:bodyPr/>
        <a:lstStyle/>
        <a:p>
          <a:endParaRPr lang="zh-CN" altLang="en-US"/>
        </a:p>
      </dgm:t>
    </dgm:pt>
    <dgm:pt modelId="{93BA2291-C240-4ABF-AD50-EC9E3A3E0090}" type="sibTrans" cxnId="{7F9400F7-6402-4E9F-82DC-EEF435D4B001}">
      <dgm:prSet/>
      <dgm:spPr/>
      <dgm:t>
        <a:bodyPr/>
        <a:lstStyle/>
        <a:p>
          <a:endParaRPr lang="zh-CN" altLang="en-US"/>
        </a:p>
      </dgm:t>
    </dgm:pt>
    <dgm:pt modelId="{0E0B839D-E44A-4D00-9245-B066726177E3}">
      <dgm:prSet custT="1"/>
      <dgm:spPr>
        <a:solidFill>
          <a:schemeClr val="bg1">
            <a:lumMod val="95000"/>
            <a:alpha val="90000"/>
          </a:schemeClr>
        </a:solidFill>
      </dgm:spPr>
      <dgm:t>
        <a:bodyPr/>
        <a:lstStyle/>
        <a:p>
          <a:r>
            <a:rPr lang="zh-CN" altLang="en-US" sz="1100" b="0" dirty="0">
              <a:latin typeface="微软雅黑" panose="020B0503020204020204" pitchFamily="34" charset="-122"/>
              <a:ea typeface="微软雅黑" panose="020B0503020204020204" pitchFamily="34" charset="-122"/>
            </a:rPr>
            <a:t>目前诺亚为大中华地区首批代销该基金的机构，能有限把握该机会。</a:t>
          </a:r>
        </a:p>
      </dgm:t>
    </dgm:pt>
    <dgm:pt modelId="{2435C5A7-23E7-4FF4-A08E-E33D6228CC6C}" type="parTrans" cxnId="{42A8EEE5-2C15-43FF-80C2-BCA1D2D4D4F3}">
      <dgm:prSet/>
      <dgm:spPr/>
      <dgm:t>
        <a:bodyPr/>
        <a:lstStyle/>
        <a:p>
          <a:endParaRPr lang="zh-CN" altLang="en-US"/>
        </a:p>
      </dgm:t>
    </dgm:pt>
    <dgm:pt modelId="{FE457E3A-4550-4177-8BB1-E0F7984FF395}" type="sibTrans" cxnId="{42A8EEE5-2C15-43FF-80C2-BCA1D2D4D4F3}">
      <dgm:prSet/>
      <dgm:spPr/>
      <dgm:t>
        <a:bodyPr/>
        <a:lstStyle/>
        <a:p>
          <a:endParaRPr lang="zh-CN" altLang="en-US"/>
        </a:p>
      </dgm:t>
    </dgm:pt>
    <dgm:pt modelId="{EDCB7F0E-1BF4-4A03-9874-679C79EDB4DD}">
      <dgm:prSet phldrT="[文本]" custT="1"/>
      <dgm:spPr>
        <a:solidFill>
          <a:schemeClr val="bg1">
            <a:lumMod val="95000"/>
            <a:alpha val="90000"/>
          </a:schemeClr>
        </a:solidFill>
      </dgm:spPr>
      <dgm:t>
        <a:bodyPr/>
        <a:lstStyle/>
        <a:p>
          <a:r>
            <a:rPr kumimoji="0" lang="zh-CN" altLang="en-US" sz="1100" b="0" i="0" u="none" strike="noStrike" cap="none" spc="0" normalizeH="0" baseline="0" dirty="0" smtClean="0">
              <a:ln/>
              <a:effectLst/>
              <a:uLnTx/>
              <a:uFillTx/>
              <a:latin typeface="微软雅黑" panose="020B0503020204020204" pitchFamily="34" charset="-122"/>
              <a:ea typeface="微软雅黑" panose="020B0503020204020204" pitchFamily="34" charset="-122"/>
              <a:cs typeface="+mn-cs"/>
            </a:rPr>
            <a:t>目标波动：</a:t>
          </a:r>
          <a:r>
            <a:rPr kumimoji="0" lang="en-US" altLang="zh-CN" sz="1100" b="0" i="0" u="none" strike="noStrike" cap="none" spc="0" normalizeH="0" baseline="0" dirty="0" smtClean="0">
              <a:ln/>
              <a:effectLst/>
              <a:uLnTx/>
              <a:uFillTx/>
              <a:latin typeface="微软雅黑" panose="020B0503020204020204" pitchFamily="34" charset="-122"/>
              <a:ea typeface="微软雅黑" panose="020B0503020204020204" pitchFamily="34" charset="-122"/>
              <a:cs typeface="+mn-cs"/>
            </a:rPr>
            <a:t>10-20%</a:t>
          </a:r>
          <a:endParaRPr kumimoji="0" lang="zh-CN" altLang="en-US" sz="1100" b="0" i="0" u="none" strike="noStrike" cap="none" spc="0" normalizeH="0" baseline="0" dirty="0">
            <a:ln/>
            <a:effectLst/>
            <a:uLnTx/>
            <a:uFillTx/>
            <a:latin typeface="微软雅黑" panose="020B0503020204020204" pitchFamily="34" charset="-122"/>
            <a:ea typeface="微软雅黑" panose="020B0503020204020204" pitchFamily="34" charset="-122"/>
            <a:cs typeface="+mn-cs"/>
          </a:endParaRPr>
        </a:p>
      </dgm:t>
    </dgm:pt>
    <dgm:pt modelId="{5DB49157-82DD-44CC-9FF8-52B7F5360CC4}" type="parTrans" cxnId="{5AC56CB1-BA6E-4DDC-B37C-8B1F7648C12F}">
      <dgm:prSet/>
      <dgm:spPr/>
      <dgm:t>
        <a:bodyPr/>
        <a:lstStyle/>
        <a:p>
          <a:endParaRPr lang="zh-CN" altLang="en-US"/>
        </a:p>
      </dgm:t>
    </dgm:pt>
    <dgm:pt modelId="{3624FF4F-5114-4148-AA51-169941E34AFF}" type="sibTrans" cxnId="{5AC56CB1-BA6E-4DDC-B37C-8B1F7648C12F}">
      <dgm:prSet/>
      <dgm:spPr/>
      <dgm:t>
        <a:bodyPr/>
        <a:lstStyle/>
        <a:p>
          <a:endParaRPr lang="zh-CN" altLang="en-US"/>
        </a:p>
      </dgm:t>
    </dgm:pt>
    <dgm:pt modelId="{F2A8B338-C461-4950-A0A1-E0F6D2BF2E24}" type="pres">
      <dgm:prSet presAssocID="{D7C84B3B-8F0A-4805-A67B-03E815971521}" presName="Name0" presStyleCnt="0">
        <dgm:presLayoutVars>
          <dgm:dir/>
          <dgm:animLvl val="lvl"/>
          <dgm:resizeHandles val="exact"/>
        </dgm:presLayoutVars>
      </dgm:prSet>
      <dgm:spPr/>
      <dgm:t>
        <a:bodyPr/>
        <a:lstStyle/>
        <a:p>
          <a:endParaRPr lang="zh-CN" altLang="en-US"/>
        </a:p>
      </dgm:t>
    </dgm:pt>
    <dgm:pt modelId="{92345171-F4AF-416F-810A-8CE42394EF4E}" type="pres">
      <dgm:prSet presAssocID="{39985453-B511-42CA-B183-9BE2CF87CACF}" presName="linNode" presStyleCnt="0"/>
      <dgm:spPr/>
    </dgm:pt>
    <dgm:pt modelId="{AFB18733-3AE3-4B93-8264-F035F80B0035}" type="pres">
      <dgm:prSet presAssocID="{39985453-B511-42CA-B183-9BE2CF87CACF}" presName="parentText" presStyleLbl="node1" presStyleIdx="0" presStyleCnt="5" custScaleX="49958">
        <dgm:presLayoutVars>
          <dgm:chMax val="1"/>
          <dgm:bulletEnabled val="1"/>
        </dgm:presLayoutVars>
      </dgm:prSet>
      <dgm:spPr/>
      <dgm:t>
        <a:bodyPr/>
        <a:lstStyle/>
        <a:p>
          <a:endParaRPr lang="zh-CN" altLang="en-US"/>
        </a:p>
      </dgm:t>
    </dgm:pt>
    <dgm:pt modelId="{96048F1C-DEAA-4382-92F9-82F46F369F94}" type="pres">
      <dgm:prSet presAssocID="{39985453-B511-42CA-B183-9BE2CF87CACF}" presName="descendantText" presStyleLbl="alignAccFollowNode1" presStyleIdx="0" presStyleCnt="5" custScaleX="108920" custScaleY="112914">
        <dgm:presLayoutVars>
          <dgm:bulletEnabled val="1"/>
        </dgm:presLayoutVars>
      </dgm:prSet>
      <dgm:spPr/>
      <dgm:t>
        <a:bodyPr/>
        <a:lstStyle/>
        <a:p>
          <a:endParaRPr lang="zh-CN" altLang="en-US"/>
        </a:p>
      </dgm:t>
    </dgm:pt>
    <dgm:pt modelId="{16C0D12E-DDD1-4B1F-8AA6-8FE5EF470975}" type="pres">
      <dgm:prSet presAssocID="{DE9A8BF7-B716-4C6A-9D6D-437D962249AF}" presName="sp" presStyleCnt="0"/>
      <dgm:spPr/>
    </dgm:pt>
    <dgm:pt modelId="{08C590C4-7181-47CB-A187-B9CD8582F4F6}" type="pres">
      <dgm:prSet presAssocID="{C89EB15B-A896-4989-9107-BB1D6DCABE7E}" presName="linNode" presStyleCnt="0"/>
      <dgm:spPr/>
    </dgm:pt>
    <dgm:pt modelId="{063B8A64-9C54-49B8-84C8-2EEA22A1F5FD}" type="pres">
      <dgm:prSet presAssocID="{C89EB15B-A896-4989-9107-BB1D6DCABE7E}" presName="parentText" presStyleLbl="node1" presStyleIdx="1" presStyleCnt="5" custScaleX="49958">
        <dgm:presLayoutVars>
          <dgm:chMax val="1"/>
          <dgm:bulletEnabled val="1"/>
        </dgm:presLayoutVars>
      </dgm:prSet>
      <dgm:spPr/>
      <dgm:t>
        <a:bodyPr/>
        <a:lstStyle/>
        <a:p>
          <a:endParaRPr lang="zh-CN" altLang="en-US"/>
        </a:p>
      </dgm:t>
    </dgm:pt>
    <dgm:pt modelId="{D6E1787E-3007-4045-99E4-661458965A3B}" type="pres">
      <dgm:prSet presAssocID="{C89EB15B-A896-4989-9107-BB1D6DCABE7E}" presName="descendantText" presStyleLbl="alignAccFollowNode1" presStyleIdx="1" presStyleCnt="5" custScaleX="108920">
        <dgm:presLayoutVars>
          <dgm:bulletEnabled val="1"/>
        </dgm:presLayoutVars>
      </dgm:prSet>
      <dgm:spPr/>
      <dgm:t>
        <a:bodyPr/>
        <a:lstStyle/>
        <a:p>
          <a:endParaRPr lang="zh-CN" altLang="en-US"/>
        </a:p>
      </dgm:t>
    </dgm:pt>
    <dgm:pt modelId="{C84FBB93-0C2C-4A56-89B3-08E045379270}" type="pres">
      <dgm:prSet presAssocID="{19FD3B36-9095-4CEF-B5B7-E7C5D31C826F}" presName="sp" presStyleCnt="0"/>
      <dgm:spPr/>
    </dgm:pt>
    <dgm:pt modelId="{110E754E-69C3-4E06-B578-145B7CA47148}" type="pres">
      <dgm:prSet presAssocID="{39A7F89A-1136-4188-94F1-3261497A0D57}" presName="linNode" presStyleCnt="0"/>
      <dgm:spPr/>
    </dgm:pt>
    <dgm:pt modelId="{3ACC9378-29DB-4F46-A181-AEFC5292686C}" type="pres">
      <dgm:prSet presAssocID="{39A7F89A-1136-4188-94F1-3261497A0D57}" presName="parentText" presStyleLbl="node1" presStyleIdx="2" presStyleCnt="5" custScaleX="49958">
        <dgm:presLayoutVars>
          <dgm:chMax val="1"/>
          <dgm:bulletEnabled val="1"/>
        </dgm:presLayoutVars>
      </dgm:prSet>
      <dgm:spPr/>
      <dgm:t>
        <a:bodyPr/>
        <a:lstStyle/>
        <a:p>
          <a:endParaRPr lang="zh-CN" altLang="en-US"/>
        </a:p>
      </dgm:t>
    </dgm:pt>
    <dgm:pt modelId="{AED29F11-3C91-469E-B499-A439531B0D94}" type="pres">
      <dgm:prSet presAssocID="{39A7F89A-1136-4188-94F1-3261497A0D57}" presName="descendantText" presStyleLbl="alignAccFollowNode1" presStyleIdx="2" presStyleCnt="5" custScaleX="108920" custScaleY="120464">
        <dgm:presLayoutVars>
          <dgm:bulletEnabled val="1"/>
        </dgm:presLayoutVars>
      </dgm:prSet>
      <dgm:spPr/>
      <dgm:t>
        <a:bodyPr/>
        <a:lstStyle/>
        <a:p>
          <a:endParaRPr lang="zh-CN" altLang="en-US"/>
        </a:p>
      </dgm:t>
    </dgm:pt>
    <dgm:pt modelId="{D3C59A1F-CB1C-4AF1-8798-92258B830B5E}" type="pres">
      <dgm:prSet presAssocID="{57B6496F-BAC8-45F7-9967-D3A185ED778A}" presName="sp" presStyleCnt="0"/>
      <dgm:spPr/>
    </dgm:pt>
    <dgm:pt modelId="{4D173755-0D53-400A-A6EC-0AA1C5F8ECE0}" type="pres">
      <dgm:prSet presAssocID="{324EA1D5-C9F0-4792-BAC9-BF0E1DB2744B}" presName="linNode" presStyleCnt="0"/>
      <dgm:spPr/>
    </dgm:pt>
    <dgm:pt modelId="{BB6CB170-49B6-4A64-A5DB-DE8032A19E4C}" type="pres">
      <dgm:prSet presAssocID="{324EA1D5-C9F0-4792-BAC9-BF0E1DB2744B}" presName="parentText" presStyleLbl="node1" presStyleIdx="3" presStyleCnt="5" custScaleX="49958">
        <dgm:presLayoutVars>
          <dgm:chMax val="1"/>
          <dgm:bulletEnabled val="1"/>
        </dgm:presLayoutVars>
      </dgm:prSet>
      <dgm:spPr/>
      <dgm:t>
        <a:bodyPr/>
        <a:lstStyle/>
        <a:p>
          <a:endParaRPr lang="zh-CN" altLang="en-US"/>
        </a:p>
      </dgm:t>
    </dgm:pt>
    <dgm:pt modelId="{962134A3-D41B-4D3B-AF7A-3D22B9DD339C}" type="pres">
      <dgm:prSet presAssocID="{324EA1D5-C9F0-4792-BAC9-BF0E1DB2744B}" presName="descendantText" presStyleLbl="alignAccFollowNode1" presStyleIdx="3" presStyleCnt="5" custScaleX="108920" custScaleY="133549">
        <dgm:presLayoutVars>
          <dgm:bulletEnabled val="1"/>
        </dgm:presLayoutVars>
      </dgm:prSet>
      <dgm:spPr/>
      <dgm:t>
        <a:bodyPr/>
        <a:lstStyle/>
        <a:p>
          <a:endParaRPr lang="zh-CN" altLang="en-US"/>
        </a:p>
      </dgm:t>
    </dgm:pt>
    <dgm:pt modelId="{6CDADD2E-DD3A-4BEC-8DC6-93C2E3587459}" type="pres">
      <dgm:prSet presAssocID="{FC3F44C7-3984-4293-9386-13E5530AFE2E}" presName="sp" presStyleCnt="0"/>
      <dgm:spPr/>
    </dgm:pt>
    <dgm:pt modelId="{67A23E4F-F211-4CC3-BCC4-3FEA0A41D5EA}" type="pres">
      <dgm:prSet presAssocID="{900AF672-70D8-4F91-8C1F-3A3E71DCFB3F}" presName="linNode" presStyleCnt="0"/>
      <dgm:spPr/>
    </dgm:pt>
    <dgm:pt modelId="{535E7F23-66E3-4305-B1B2-EE13E3427453}" type="pres">
      <dgm:prSet presAssocID="{900AF672-70D8-4F91-8C1F-3A3E71DCFB3F}" presName="parentText" presStyleLbl="node1" presStyleIdx="4" presStyleCnt="5" custScaleX="49958" custLinFactNeighborY="1033">
        <dgm:presLayoutVars>
          <dgm:chMax val="1"/>
          <dgm:bulletEnabled val="1"/>
        </dgm:presLayoutVars>
      </dgm:prSet>
      <dgm:spPr/>
      <dgm:t>
        <a:bodyPr/>
        <a:lstStyle/>
        <a:p>
          <a:endParaRPr lang="zh-CN" altLang="en-US"/>
        </a:p>
      </dgm:t>
    </dgm:pt>
    <dgm:pt modelId="{4DE92364-6B56-4C01-859D-B96E3B3FFFE8}" type="pres">
      <dgm:prSet presAssocID="{900AF672-70D8-4F91-8C1F-3A3E71DCFB3F}" presName="descendantText" presStyleLbl="alignAccFollowNode1" presStyleIdx="4" presStyleCnt="5" custScaleX="108920" custScaleY="119925" custLinFactNeighborY="1291">
        <dgm:presLayoutVars>
          <dgm:bulletEnabled val="1"/>
        </dgm:presLayoutVars>
      </dgm:prSet>
      <dgm:spPr/>
      <dgm:t>
        <a:bodyPr/>
        <a:lstStyle/>
        <a:p>
          <a:endParaRPr lang="zh-CN" altLang="en-US"/>
        </a:p>
      </dgm:t>
    </dgm:pt>
  </dgm:ptLst>
  <dgm:cxnLst>
    <dgm:cxn modelId="{00184201-94BD-456F-B1B4-08F8C8121DC4}" type="presOf" srcId="{900AF672-70D8-4F91-8C1F-3A3E71DCFB3F}" destId="{535E7F23-66E3-4305-B1B2-EE13E3427453}" srcOrd="0" destOrd="0" presId="urn:microsoft.com/office/officeart/2005/8/layout/vList5"/>
    <dgm:cxn modelId="{D48F78DE-80EB-4AFE-BA6F-CDAC7CAE4B4B}" srcId="{39A7F89A-1136-4188-94F1-3261497A0D57}" destId="{C62088D6-76A4-4714-A98B-8AD5842870F1}" srcOrd="0" destOrd="0" parTransId="{B7DB5762-4B9F-4235-BF75-2AC5A8F4B463}" sibTransId="{C5432AC5-D1EA-4729-97A7-D73404FCB4AE}"/>
    <dgm:cxn modelId="{11562552-AAFE-4958-A1F1-D20A7BDA5961}" srcId="{39985453-B511-42CA-B183-9BE2CF87CACF}" destId="{7BE7D251-5014-4CF4-A123-7E214DDC17FA}" srcOrd="0" destOrd="0" parTransId="{AE329B3F-1439-4088-BF39-E02299F18443}" sibTransId="{F1FF0D4F-4C26-4FAB-8F5E-D3FC1309C36F}"/>
    <dgm:cxn modelId="{1CFB6FA9-8B65-450E-9749-F6EB4FBA5945}" type="presOf" srcId="{D7C84B3B-8F0A-4805-A67B-03E815971521}" destId="{F2A8B338-C461-4950-A0A1-E0F6D2BF2E24}" srcOrd="0" destOrd="0" presId="urn:microsoft.com/office/officeart/2005/8/layout/vList5"/>
    <dgm:cxn modelId="{02FB4DE4-9195-4CD2-AFCA-1CB45FFAD37C}" srcId="{39985453-B511-42CA-B183-9BE2CF87CACF}" destId="{4B59CE42-94CC-46B5-826B-97409D255D17}" srcOrd="1" destOrd="0" parTransId="{22E30DC3-87F4-4085-8FA5-1D20BEDEF774}" sibTransId="{374C16A9-26CE-4113-B9A4-53FA24DDBD7B}"/>
    <dgm:cxn modelId="{D8267011-2D34-436B-8D48-4B90C9898DD9}" type="presOf" srcId="{EDCB7F0E-1BF4-4A03-9874-679C79EDB4DD}" destId="{962134A3-D41B-4D3B-AF7A-3D22B9DD339C}" srcOrd="0" destOrd="3" presId="urn:microsoft.com/office/officeart/2005/8/layout/vList5"/>
    <dgm:cxn modelId="{8D66FBBD-35F0-4F16-A3A0-5C891239F1DF}" srcId="{324EA1D5-C9F0-4792-BAC9-BF0E1DB2744B}" destId="{66A13611-FCA9-446B-BA5A-F7EF56D83D17}" srcOrd="0" destOrd="0" parTransId="{C571B3B0-B9C6-4E47-A13B-C9ADCD0E7788}" sibTransId="{B93BAE46-4131-4E9B-8DCC-DBBC2631BF18}"/>
    <dgm:cxn modelId="{677639B5-CAD1-4BB4-8657-AD1A10F62290}" srcId="{900AF672-70D8-4F91-8C1F-3A3E71DCFB3F}" destId="{20978B3F-8BDF-4DDD-B092-7880F9D797B7}" srcOrd="0" destOrd="0" parTransId="{5C1B97E0-E3C3-4519-B712-94E43327BBF4}" sibTransId="{EF69D0D0-8488-4DCE-9FEC-01F747341A8C}"/>
    <dgm:cxn modelId="{6D5DC4B5-4C36-4EE8-846D-D37D135606DE}" type="presOf" srcId="{C62088D6-76A4-4714-A98B-8AD5842870F1}" destId="{AED29F11-3C91-469E-B499-A439531B0D94}" srcOrd="0" destOrd="0" presId="urn:microsoft.com/office/officeart/2005/8/layout/vList5"/>
    <dgm:cxn modelId="{DEC36AB4-C7A3-4EE0-95FF-82019C2D70BE}" type="presOf" srcId="{C89EB15B-A896-4989-9107-BB1D6DCABE7E}" destId="{063B8A64-9C54-49B8-84C8-2EEA22A1F5FD}" srcOrd="0" destOrd="0" presId="urn:microsoft.com/office/officeart/2005/8/layout/vList5"/>
    <dgm:cxn modelId="{64D61278-390F-4EAC-8A45-84700773B8A9}" srcId="{324EA1D5-C9F0-4792-BAC9-BF0E1DB2744B}" destId="{0C30BA9A-433A-4936-9D45-1E6ED1F19990}" srcOrd="1" destOrd="0" parTransId="{7C27F04B-1DD6-42EF-B1C2-32E1A300BA99}" sibTransId="{A54837F0-B5C2-4857-A3AD-17E7A595806B}"/>
    <dgm:cxn modelId="{B27480B5-F8C8-4080-B4B1-BC30902460ED}" srcId="{C89EB15B-A896-4989-9107-BB1D6DCABE7E}" destId="{B41D4C6F-54CD-4034-8D4C-F8B3A445AAA4}" srcOrd="0" destOrd="0" parTransId="{A6CC41C3-288F-41FC-984E-6B551B3FCCA6}" sibTransId="{95C53EB1-01B7-4604-8858-1A89C561022D}"/>
    <dgm:cxn modelId="{42A8EEE5-2C15-43FF-80C2-BCA1D2D4D4F3}" srcId="{C89EB15B-A896-4989-9107-BB1D6DCABE7E}" destId="{0E0B839D-E44A-4D00-9245-B066726177E3}" srcOrd="2" destOrd="0" parTransId="{2435C5A7-23E7-4FF4-A08E-E33D6228CC6C}" sibTransId="{FE457E3A-4550-4177-8BB1-E0F7984FF395}"/>
    <dgm:cxn modelId="{2CE5E3A4-0363-46E0-A61C-647B8D8881F9}" srcId="{D7C84B3B-8F0A-4805-A67B-03E815971521}" destId="{39985453-B511-42CA-B183-9BE2CF87CACF}" srcOrd="0" destOrd="0" parTransId="{F1603B1B-141D-4BFB-8A14-68D5FDC31CD5}" sibTransId="{DE9A8BF7-B716-4C6A-9D6D-437D962249AF}"/>
    <dgm:cxn modelId="{FA16B99D-C18C-447E-A7B9-EB7F5FA50695}" type="presOf" srcId="{34C25EF3-F9A6-4189-8965-8991BB0CEF82}" destId="{AED29F11-3C91-469E-B499-A439531B0D94}" srcOrd="0" destOrd="1" presId="urn:microsoft.com/office/officeart/2005/8/layout/vList5"/>
    <dgm:cxn modelId="{26EB0F61-BD67-46C6-BF41-C1A5482D1FAF}" type="presOf" srcId="{66A13611-FCA9-446B-BA5A-F7EF56D83D17}" destId="{962134A3-D41B-4D3B-AF7A-3D22B9DD339C}" srcOrd="0" destOrd="0" presId="urn:microsoft.com/office/officeart/2005/8/layout/vList5"/>
    <dgm:cxn modelId="{A02A3BE6-071F-47A8-A898-5A478D010072}" type="presOf" srcId="{39985453-B511-42CA-B183-9BE2CF87CACF}" destId="{AFB18733-3AE3-4B93-8264-F035F80B0035}" srcOrd="0" destOrd="0" presId="urn:microsoft.com/office/officeart/2005/8/layout/vList5"/>
    <dgm:cxn modelId="{7F9400F7-6402-4E9F-82DC-EEF435D4B001}" srcId="{C89EB15B-A896-4989-9107-BB1D6DCABE7E}" destId="{FCB41C08-C936-4ADB-A7A9-68C93EC2820D}" srcOrd="1" destOrd="0" parTransId="{67A35793-C148-4EF1-BDAE-4EDA38917642}" sibTransId="{93BA2291-C240-4ABF-AD50-EC9E3A3E0090}"/>
    <dgm:cxn modelId="{4F6E860E-AD27-4692-AE0D-838EB24265A5}" srcId="{D7C84B3B-8F0A-4805-A67B-03E815971521}" destId="{324EA1D5-C9F0-4792-BAC9-BF0E1DB2744B}" srcOrd="3" destOrd="0" parTransId="{304EBA27-0650-4F08-9EAC-995ED9FD3DC0}" sibTransId="{FC3F44C7-3984-4293-9386-13E5530AFE2E}"/>
    <dgm:cxn modelId="{9D03A1BE-72CD-447B-B7FD-05F30DA0ACC0}" type="presOf" srcId="{7BE7D251-5014-4CF4-A123-7E214DDC17FA}" destId="{96048F1C-DEAA-4382-92F9-82F46F369F94}" srcOrd="0" destOrd="0" presId="urn:microsoft.com/office/officeart/2005/8/layout/vList5"/>
    <dgm:cxn modelId="{FCB1ABBD-BD01-43D9-B845-94E87225AE2E}" type="presOf" srcId="{39A7F89A-1136-4188-94F1-3261497A0D57}" destId="{3ACC9378-29DB-4F46-A181-AEFC5292686C}" srcOrd="0" destOrd="0" presId="urn:microsoft.com/office/officeart/2005/8/layout/vList5"/>
    <dgm:cxn modelId="{55DA50B1-D940-4563-A34F-11D076D3A292}" type="presOf" srcId="{20978B3F-8BDF-4DDD-B092-7880F9D797B7}" destId="{4DE92364-6B56-4C01-859D-B96E3B3FFFE8}" srcOrd="0" destOrd="0" presId="urn:microsoft.com/office/officeart/2005/8/layout/vList5"/>
    <dgm:cxn modelId="{EDAB7EB1-BA77-47F7-8019-023C2BC230F8}" srcId="{324EA1D5-C9F0-4792-BAC9-BF0E1DB2744B}" destId="{AF65AD88-9022-4739-AF95-8441377AAB54}" srcOrd="2" destOrd="0" parTransId="{B29FA18D-1E86-462D-BE82-05AE615A3EB0}" sibTransId="{F8EE9D40-032D-4C98-AB59-86A63DF12FBC}"/>
    <dgm:cxn modelId="{F3CA2057-90A1-4854-AF00-D7A9CD0DB21D}" srcId="{D7C84B3B-8F0A-4805-A67B-03E815971521}" destId="{900AF672-70D8-4F91-8C1F-3A3E71DCFB3F}" srcOrd="4" destOrd="0" parTransId="{7AB4DD27-0C6F-4235-BB92-37903604DF10}" sibTransId="{3DB79CFE-B9E7-4731-802B-C3563CE93F7A}"/>
    <dgm:cxn modelId="{6121A931-5665-48A9-8BA3-849724CE87EF}" type="presOf" srcId="{AF65AD88-9022-4739-AF95-8441377AAB54}" destId="{962134A3-D41B-4D3B-AF7A-3D22B9DD339C}" srcOrd="0" destOrd="2" presId="urn:microsoft.com/office/officeart/2005/8/layout/vList5"/>
    <dgm:cxn modelId="{052B7353-1EA7-4BB9-A0CC-DA16517F679D}" type="presOf" srcId="{324EA1D5-C9F0-4792-BAC9-BF0E1DB2744B}" destId="{BB6CB170-49B6-4A64-A5DB-DE8032A19E4C}" srcOrd="0" destOrd="0" presId="urn:microsoft.com/office/officeart/2005/8/layout/vList5"/>
    <dgm:cxn modelId="{5AC56CB1-BA6E-4DDC-B37C-8B1F7648C12F}" srcId="{324EA1D5-C9F0-4792-BAC9-BF0E1DB2744B}" destId="{EDCB7F0E-1BF4-4A03-9874-679C79EDB4DD}" srcOrd="3" destOrd="0" parTransId="{5DB49157-82DD-44CC-9FF8-52B7F5360CC4}" sibTransId="{3624FF4F-5114-4148-AA51-169941E34AFF}"/>
    <dgm:cxn modelId="{7EEA2E08-3CD2-40F5-BD0B-C48079384C3D}" type="presOf" srcId="{1215B0A8-CFB1-4D3F-9BF0-E520F57D7ACA}" destId="{D6E1787E-3007-4045-99E4-661458965A3B}" srcOrd="0" destOrd="3" presId="urn:microsoft.com/office/officeart/2005/8/layout/vList5"/>
    <dgm:cxn modelId="{EFF99D8A-05BF-4C4B-9738-8DF9FBA29D32}" type="presOf" srcId="{0C30BA9A-433A-4936-9D45-1E6ED1F19990}" destId="{962134A3-D41B-4D3B-AF7A-3D22B9DD339C}" srcOrd="0" destOrd="1" presId="urn:microsoft.com/office/officeart/2005/8/layout/vList5"/>
    <dgm:cxn modelId="{58195AEF-704D-43B1-B9BF-F524D2402F6C}" srcId="{39A7F89A-1136-4188-94F1-3261497A0D57}" destId="{34C25EF3-F9A6-4189-8965-8991BB0CEF82}" srcOrd="1" destOrd="0" parTransId="{F1B9868C-720F-4C2A-931A-EB9DB65885C2}" sibTransId="{1B492B89-8379-40ED-8049-F141C5BDDA95}"/>
    <dgm:cxn modelId="{8235BA7B-70DE-4BC7-BCB3-9B4C5E9FC69D}" type="presOf" srcId="{B41D4C6F-54CD-4034-8D4C-F8B3A445AAA4}" destId="{D6E1787E-3007-4045-99E4-661458965A3B}" srcOrd="0" destOrd="0" presId="urn:microsoft.com/office/officeart/2005/8/layout/vList5"/>
    <dgm:cxn modelId="{467F1337-0886-4409-917B-6480676B8FA5}" srcId="{D7C84B3B-8F0A-4805-A67B-03E815971521}" destId="{39A7F89A-1136-4188-94F1-3261497A0D57}" srcOrd="2" destOrd="0" parTransId="{10F0D27A-3E43-40D7-ACA6-1BEF3A8D9FD7}" sibTransId="{57B6496F-BAC8-45F7-9967-D3A185ED778A}"/>
    <dgm:cxn modelId="{3C835A83-572A-42B9-9E9D-171B85D0588B}" srcId="{D7C84B3B-8F0A-4805-A67B-03E815971521}" destId="{C89EB15B-A896-4989-9107-BB1D6DCABE7E}" srcOrd="1" destOrd="0" parTransId="{8077F391-E6B1-4330-BCF0-79B38F036359}" sibTransId="{19FD3B36-9095-4CEF-B5B7-E7C5D31C826F}"/>
    <dgm:cxn modelId="{1F442BBF-14EF-48D0-8B23-513F85F8EC00}" type="presOf" srcId="{FCB41C08-C936-4ADB-A7A9-68C93EC2820D}" destId="{D6E1787E-3007-4045-99E4-661458965A3B}" srcOrd="0" destOrd="1" presId="urn:microsoft.com/office/officeart/2005/8/layout/vList5"/>
    <dgm:cxn modelId="{D57387EB-5A7C-455F-BE32-46F0FB87C1E7}" type="presOf" srcId="{0E0B839D-E44A-4D00-9245-B066726177E3}" destId="{D6E1787E-3007-4045-99E4-661458965A3B}" srcOrd="0" destOrd="2" presId="urn:microsoft.com/office/officeart/2005/8/layout/vList5"/>
    <dgm:cxn modelId="{4904C584-0D5E-4BA3-A4DE-AB0B48391D71}" type="presOf" srcId="{4B59CE42-94CC-46B5-826B-97409D255D17}" destId="{96048F1C-DEAA-4382-92F9-82F46F369F94}" srcOrd="0" destOrd="1" presId="urn:microsoft.com/office/officeart/2005/8/layout/vList5"/>
    <dgm:cxn modelId="{4149DC28-C3A9-40FF-A593-EF8D14C35747}" srcId="{C89EB15B-A896-4989-9107-BB1D6DCABE7E}" destId="{1215B0A8-CFB1-4D3F-9BF0-E520F57D7ACA}" srcOrd="3" destOrd="0" parTransId="{F685326E-FFB9-4D3B-AE58-533C18DF5337}" sibTransId="{CC64F0FB-43C7-49AC-ADBF-E28BEBDED0DD}"/>
    <dgm:cxn modelId="{4A4011BD-99DD-44CF-837E-84F5104F2EBF}" type="presParOf" srcId="{F2A8B338-C461-4950-A0A1-E0F6D2BF2E24}" destId="{92345171-F4AF-416F-810A-8CE42394EF4E}" srcOrd="0" destOrd="0" presId="urn:microsoft.com/office/officeart/2005/8/layout/vList5"/>
    <dgm:cxn modelId="{8E7C2B97-A0AF-44BE-A111-90C9457C1CBF}" type="presParOf" srcId="{92345171-F4AF-416F-810A-8CE42394EF4E}" destId="{AFB18733-3AE3-4B93-8264-F035F80B0035}" srcOrd="0" destOrd="0" presId="urn:microsoft.com/office/officeart/2005/8/layout/vList5"/>
    <dgm:cxn modelId="{0A92905D-C117-4C38-94A9-531CDE6207FD}" type="presParOf" srcId="{92345171-F4AF-416F-810A-8CE42394EF4E}" destId="{96048F1C-DEAA-4382-92F9-82F46F369F94}" srcOrd="1" destOrd="0" presId="urn:microsoft.com/office/officeart/2005/8/layout/vList5"/>
    <dgm:cxn modelId="{93461E00-F75E-4E40-8D70-5DFEC0754029}" type="presParOf" srcId="{F2A8B338-C461-4950-A0A1-E0F6D2BF2E24}" destId="{16C0D12E-DDD1-4B1F-8AA6-8FE5EF470975}" srcOrd="1" destOrd="0" presId="urn:microsoft.com/office/officeart/2005/8/layout/vList5"/>
    <dgm:cxn modelId="{4DF315F0-8B06-4BD6-9FAD-389A5BAF011A}" type="presParOf" srcId="{F2A8B338-C461-4950-A0A1-E0F6D2BF2E24}" destId="{08C590C4-7181-47CB-A187-B9CD8582F4F6}" srcOrd="2" destOrd="0" presId="urn:microsoft.com/office/officeart/2005/8/layout/vList5"/>
    <dgm:cxn modelId="{138A8897-5078-40EA-9CFC-76A16D1BBB86}" type="presParOf" srcId="{08C590C4-7181-47CB-A187-B9CD8582F4F6}" destId="{063B8A64-9C54-49B8-84C8-2EEA22A1F5FD}" srcOrd="0" destOrd="0" presId="urn:microsoft.com/office/officeart/2005/8/layout/vList5"/>
    <dgm:cxn modelId="{7C0C92E0-BE9D-4F74-9CDB-EF07FE86882C}" type="presParOf" srcId="{08C590C4-7181-47CB-A187-B9CD8582F4F6}" destId="{D6E1787E-3007-4045-99E4-661458965A3B}" srcOrd="1" destOrd="0" presId="urn:microsoft.com/office/officeart/2005/8/layout/vList5"/>
    <dgm:cxn modelId="{192D4340-1B78-44BD-A81C-8CB94821CA34}" type="presParOf" srcId="{F2A8B338-C461-4950-A0A1-E0F6D2BF2E24}" destId="{C84FBB93-0C2C-4A56-89B3-08E045379270}" srcOrd="3" destOrd="0" presId="urn:microsoft.com/office/officeart/2005/8/layout/vList5"/>
    <dgm:cxn modelId="{AF77DE28-211B-4B7E-A673-83469DD977EE}" type="presParOf" srcId="{F2A8B338-C461-4950-A0A1-E0F6D2BF2E24}" destId="{110E754E-69C3-4E06-B578-145B7CA47148}" srcOrd="4" destOrd="0" presId="urn:microsoft.com/office/officeart/2005/8/layout/vList5"/>
    <dgm:cxn modelId="{B84DFB47-D74B-4188-947B-AEA4FACABB5C}" type="presParOf" srcId="{110E754E-69C3-4E06-B578-145B7CA47148}" destId="{3ACC9378-29DB-4F46-A181-AEFC5292686C}" srcOrd="0" destOrd="0" presId="urn:microsoft.com/office/officeart/2005/8/layout/vList5"/>
    <dgm:cxn modelId="{17D2EAE9-FDDB-4C25-A98E-1BB7D91A8AB3}" type="presParOf" srcId="{110E754E-69C3-4E06-B578-145B7CA47148}" destId="{AED29F11-3C91-469E-B499-A439531B0D94}" srcOrd="1" destOrd="0" presId="urn:microsoft.com/office/officeart/2005/8/layout/vList5"/>
    <dgm:cxn modelId="{745AEDB4-FE9E-4B9E-A4AB-D28F913D1EAF}" type="presParOf" srcId="{F2A8B338-C461-4950-A0A1-E0F6D2BF2E24}" destId="{D3C59A1F-CB1C-4AF1-8798-92258B830B5E}" srcOrd="5" destOrd="0" presId="urn:microsoft.com/office/officeart/2005/8/layout/vList5"/>
    <dgm:cxn modelId="{79496E8B-304E-44A1-985F-A4C6E77786E3}" type="presParOf" srcId="{F2A8B338-C461-4950-A0A1-E0F6D2BF2E24}" destId="{4D173755-0D53-400A-A6EC-0AA1C5F8ECE0}" srcOrd="6" destOrd="0" presId="urn:microsoft.com/office/officeart/2005/8/layout/vList5"/>
    <dgm:cxn modelId="{08C8BD7E-663A-4B1F-9E29-DA884E408C1A}" type="presParOf" srcId="{4D173755-0D53-400A-A6EC-0AA1C5F8ECE0}" destId="{BB6CB170-49B6-4A64-A5DB-DE8032A19E4C}" srcOrd="0" destOrd="0" presId="urn:microsoft.com/office/officeart/2005/8/layout/vList5"/>
    <dgm:cxn modelId="{7250CA9F-F34F-430D-8631-4F79798984F3}" type="presParOf" srcId="{4D173755-0D53-400A-A6EC-0AA1C5F8ECE0}" destId="{962134A3-D41B-4D3B-AF7A-3D22B9DD339C}" srcOrd="1" destOrd="0" presId="urn:microsoft.com/office/officeart/2005/8/layout/vList5"/>
    <dgm:cxn modelId="{27B2217E-BFDB-4D2B-87D8-40E84734803E}" type="presParOf" srcId="{F2A8B338-C461-4950-A0A1-E0F6D2BF2E24}" destId="{6CDADD2E-DD3A-4BEC-8DC6-93C2E3587459}" srcOrd="7" destOrd="0" presId="urn:microsoft.com/office/officeart/2005/8/layout/vList5"/>
    <dgm:cxn modelId="{6BD3D70B-3FBE-4940-9E86-289357D02651}" type="presParOf" srcId="{F2A8B338-C461-4950-A0A1-E0F6D2BF2E24}" destId="{67A23E4F-F211-4CC3-BCC4-3FEA0A41D5EA}" srcOrd="8" destOrd="0" presId="urn:microsoft.com/office/officeart/2005/8/layout/vList5"/>
    <dgm:cxn modelId="{43F4717E-8289-4153-9FD7-AE5E3F693B99}" type="presParOf" srcId="{67A23E4F-F211-4CC3-BCC4-3FEA0A41D5EA}" destId="{535E7F23-66E3-4305-B1B2-EE13E3427453}" srcOrd="0" destOrd="0" presId="urn:microsoft.com/office/officeart/2005/8/layout/vList5"/>
    <dgm:cxn modelId="{333D3661-8DBA-47F2-81E3-D691DA85C3FC}" type="presParOf" srcId="{67A23E4F-F211-4CC3-BCC4-3FEA0A41D5EA}" destId="{4DE92364-6B56-4C01-859D-B96E3B3FFFE8}" srcOrd="1" destOrd="0" presId="urn:microsoft.com/office/officeart/2005/8/layout/vList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048F1C-DEAA-4382-92F9-82F46F369F94}">
      <dsp:nvSpPr>
        <dsp:cNvPr id="0" name=""/>
        <dsp:cNvSpPr/>
      </dsp:nvSpPr>
      <dsp:spPr>
        <a:xfrm rot="5400000">
          <a:off x="5079753" y="-2761077"/>
          <a:ext cx="924295" cy="6548623"/>
        </a:xfrm>
        <a:prstGeom prst="round2SameRect">
          <a:avLst/>
        </a:prstGeom>
        <a:solidFill>
          <a:schemeClr val="bg1">
            <a:lumMod val="95000"/>
            <a:alpha val="9000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rtl="0">
            <a:lnSpc>
              <a:spcPct val="90000"/>
            </a:lnSpc>
            <a:spcBef>
              <a:spcPct val="0"/>
            </a:spcBef>
            <a:spcAft>
              <a:spcPct val="15000"/>
            </a:spcAft>
            <a:buChar char="••"/>
          </a:pPr>
          <a:r>
            <a:rPr lang="en-US" altLang="en-US" sz="1100" b="0" kern="1200" dirty="0">
              <a:latin typeface="微软雅黑" panose="020B0503020204020204" pitchFamily="34" charset="-122"/>
              <a:ea typeface="微软雅黑" panose="020B0503020204020204" pitchFamily="34" charset="-122"/>
            </a:rPr>
            <a:t>Point 72</a:t>
          </a:r>
          <a:r>
            <a:rPr lang="zh-CN" altLang="en-US" sz="1100" b="0" kern="1200" dirty="0">
              <a:latin typeface="微软雅黑" panose="020B0503020204020204" pitchFamily="34" charset="-122"/>
              <a:ea typeface="微软雅黑" panose="020B0503020204020204" pitchFamily="34" charset="-122"/>
            </a:rPr>
            <a:t>成立于</a:t>
          </a:r>
          <a:r>
            <a:rPr lang="en-US" altLang="zh-CN" sz="1100" b="0" kern="1200" dirty="0">
              <a:latin typeface="微软雅黑" panose="020B0503020204020204" pitchFamily="34" charset="-122"/>
              <a:ea typeface="微软雅黑" panose="020B0503020204020204" pitchFamily="34" charset="-122"/>
            </a:rPr>
            <a:t>2014</a:t>
          </a:r>
          <a:r>
            <a:rPr lang="zh-CN" altLang="en-US" sz="1100" b="0" kern="1200" dirty="0">
              <a:latin typeface="微软雅黑" panose="020B0503020204020204" pitchFamily="34" charset="-122"/>
              <a:ea typeface="微软雅黑" panose="020B0503020204020204" pitchFamily="34" charset="-122"/>
            </a:rPr>
            <a:t>年，总部位于康涅狄格州斯坦福市，是全球规模前</a:t>
          </a:r>
          <a:r>
            <a:rPr lang="en-US" altLang="zh-CN" sz="1100" b="0" kern="1200" dirty="0">
              <a:latin typeface="微软雅黑" panose="020B0503020204020204" pitchFamily="34" charset="-122"/>
              <a:ea typeface="微软雅黑" panose="020B0503020204020204" pitchFamily="34" charset="-122"/>
            </a:rPr>
            <a:t>20</a:t>
          </a:r>
          <a:r>
            <a:rPr lang="zh-CN" altLang="en-US" sz="1100" b="0" kern="1200" dirty="0">
              <a:latin typeface="微软雅黑" panose="020B0503020204020204" pitchFamily="34" charset="-122"/>
              <a:ea typeface="微软雅黑" panose="020B0503020204020204" pitchFamily="34" charset="-122"/>
            </a:rPr>
            <a:t>的对冲基金，管理规模超</a:t>
          </a:r>
          <a:r>
            <a:rPr lang="en-US" altLang="zh-CN" sz="1100" b="0" kern="1200" dirty="0">
              <a:latin typeface="微软雅黑" panose="020B0503020204020204" pitchFamily="34" charset="-122"/>
              <a:ea typeface="微软雅黑" panose="020B0503020204020204" pitchFamily="34" charset="-122"/>
            </a:rPr>
            <a:t>350</a:t>
          </a:r>
          <a:r>
            <a:rPr lang="zh-CN" altLang="en-US" sz="1100" b="0" kern="1200" dirty="0">
              <a:latin typeface="微软雅黑" panose="020B0503020204020204" pitchFamily="34" charset="-122"/>
              <a:ea typeface="微软雅黑" panose="020B0503020204020204" pitchFamily="34" charset="-122"/>
            </a:rPr>
            <a:t>亿美金。在全球</a:t>
          </a:r>
          <a:r>
            <a:rPr lang="en-US" altLang="zh-CN" sz="1100" b="0" kern="1200" dirty="0">
              <a:latin typeface="微软雅黑" panose="020B0503020204020204" pitchFamily="34" charset="-122"/>
              <a:ea typeface="微软雅黑" panose="020B0503020204020204" pitchFamily="34" charset="-122"/>
            </a:rPr>
            <a:t>17</a:t>
          </a:r>
          <a:r>
            <a:rPr lang="zh-CN" altLang="en-US" sz="1100" b="0" kern="1200" dirty="0">
              <a:latin typeface="微软雅黑" panose="020B0503020204020204" pitchFamily="34" charset="-122"/>
              <a:ea typeface="微软雅黑" panose="020B0503020204020204" pitchFamily="34" charset="-122"/>
            </a:rPr>
            <a:t>个办公室拥有约</a:t>
          </a:r>
          <a:r>
            <a:rPr lang="en-US" altLang="zh-CN" sz="1100" b="0" kern="1200" dirty="0">
              <a:latin typeface="微软雅黑" panose="020B0503020204020204" pitchFamily="34" charset="-122"/>
              <a:ea typeface="微软雅黑" panose="020B0503020204020204" pitchFamily="34" charset="-122"/>
            </a:rPr>
            <a:t>2,800</a:t>
          </a:r>
          <a:r>
            <a:rPr lang="zh-CN" altLang="en-US" sz="1100" b="0" kern="1200" dirty="0">
              <a:latin typeface="微软雅黑" panose="020B0503020204020204" pitchFamily="34" charset="-122"/>
              <a:ea typeface="微软雅黑" panose="020B0503020204020204" pitchFamily="34" charset="-122"/>
            </a:rPr>
            <a:t>名员工，其中投研团队约</a:t>
          </a:r>
          <a:r>
            <a:rPr lang="en-US" altLang="zh-CN" sz="1100" b="0" kern="1200" dirty="0">
              <a:latin typeface="微软雅黑" panose="020B0503020204020204" pitchFamily="34" charset="-122"/>
              <a:ea typeface="微软雅黑" panose="020B0503020204020204" pitchFamily="34" charset="-122"/>
            </a:rPr>
            <a:t>1,280</a:t>
          </a:r>
          <a:r>
            <a:rPr lang="zh-CN" altLang="en-US" sz="1100" b="0" kern="1200" dirty="0">
              <a:latin typeface="微软雅黑" panose="020B0503020204020204" pitchFamily="34" charset="-122"/>
              <a:ea typeface="微软雅黑" panose="020B0503020204020204" pitchFamily="34" charset="-122"/>
            </a:rPr>
            <a:t>人。</a:t>
          </a:r>
        </a:p>
        <a:p>
          <a:pPr marL="57150" lvl="1" indent="-57150" algn="l" defTabSz="488950">
            <a:lnSpc>
              <a:spcPct val="90000"/>
            </a:lnSpc>
            <a:spcBef>
              <a:spcPct val="0"/>
            </a:spcBef>
            <a:spcAft>
              <a:spcPct val="15000"/>
            </a:spcAft>
            <a:buChar char="••"/>
          </a:pPr>
          <a:r>
            <a:rPr lang="en-US" altLang="en-US" sz="1100" b="0" kern="1200" dirty="0">
              <a:latin typeface="微软雅黑" panose="020B0503020204020204" pitchFamily="34" charset="-122"/>
              <a:ea typeface="微软雅黑" panose="020B0503020204020204" pitchFamily="34" charset="-122"/>
            </a:rPr>
            <a:t>Point 72</a:t>
          </a:r>
          <a:r>
            <a:rPr lang="zh-CN" altLang="en-US" sz="1100" b="0" kern="1200" dirty="0">
              <a:latin typeface="微软雅黑" panose="020B0503020204020204" pitchFamily="34" charset="-122"/>
              <a:ea typeface="微软雅黑" panose="020B0503020204020204" pitchFamily="34" charset="-122"/>
            </a:rPr>
            <a:t>的使命是</a:t>
          </a:r>
          <a:r>
            <a:rPr lang="zh-CN" altLang="zh-CN" sz="1100" b="0" kern="1200" dirty="0">
              <a:latin typeface="微软雅黑" panose="020B0503020204020204" pitchFamily="34" charset="-122"/>
              <a:ea typeface="微软雅黑" panose="020B0503020204020204" pitchFamily="34" charset="-122"/>
            </a:rPr>
            <a:t>通过提供卓越的风险调整回报、遵守最高道德标准并为行业最杰出的人才提供最大机会，成为行业首屈一指的资产管理公司。</a:t>
          </a:r>
          <a:endParaRPr lang="zh-CN" altLang="en-US" sz="1100" b="0" kern="1200" dirty="0">
            <a:latin typeface="微软雅黑" panose="020B0503020204020204" pitchFamily="34" charset="-122"/>
            <a:ea typeface="微软雅黑" panose="020B0503020204020204" pitchFamily="34" charset="-122"/>
          </a:endParaRPr>
        </a:p>
      </dsp:txBody>
      <dsp:txXfrm rot="-5400000">
        <a:off x="2267589" y="96207"/>
        <a:ext cx="6503503" cy="834055"/>
      </dsp:txXfrm>
    </dsp:sp>
    <dsp:sp modelId="{AFB18733-3AE3-4B93-8264-F035F80B0035}">
      <dsp:nvSpPr>
        <dsp:cNvPr id="0" name=""/>
        <dsp:cNvSpPr/>
      </dsp:nvSpPr>
      <dsp:spPr>
        <a:xfrm>
          <a:off x="578043" y="1619"/>
          <a:ext cx="1689545" cy="1023229"/>
        </a:xfrm>
        <a:prstGeom prst="roundRect">
          <a:avLst/>
        </a:prstGeom>
        <a:solidFill>
          <a:srgbClr val="257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微软雅黑" panose="020B0503020204020204" pitchFamily="34" charset="-122"/>
              <a:ea typeface="微软雅黑" panose="020B0503020204020204" pitchFamily="34" charset="-122"/>
            </a:rPr>
            <a:t>头部知名对冲基金</a:t>
          </a:r>
        </a:p>
      </dsp:txBody>
      <dsp:txXfrm>
        <a:off x="627993" y="51569"/>
        <a:ext cx="1589645" cy="923329"/>
      </dsp:txXfrm>
    </dsp:sp>
    <dsp:sp modelId="{D6E1787E-3007-4045-99E4-661458965A3B}">
      <dsp:nvSpPr>
        <dsp:cNvPr id="0" name=""/>
        <dsp:cNvSpPr/>
      </dsp:nvSpPr>
      <dsp:spPr>
        <a:xfrm rot="5400000">
          <a:off x="5132609" y="-1686686"/>
          <a:ext cx="818583" cy="6548623"/>
        </a:xfrm>
        <a:prstGeom prst="round2SameRect">
          <a:avLst/>
        </a:prstGeom>
        <a:solidFill>
          <a:schemeClr val="bg1">
            <a:lumMod val="95000"/>
            <a:alpha val="9000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endParaRPr lang="zh-CN" altLang="en-US" sz="1100" kern="1200" dirty="0">
            <a:latin typeface="微软雅黑" panose="020B0503020204020204" pitchFamily="34" charset="-122"/>
            <a:ea typeface="微软雅黑" panose="020B0503020204020204" pitchFamily="34" charset="-122"/>
          </a:endParaRPr>
        </a:p>
        <a:p>
          <a:pPr marL="57150" lvl="1" indent="-57150" algn="l" defTabSz="488950">
            <a:lnSpc>
              <a:spcPct val="90000"/>
            </a:lnSpc>
            <a:spcBef>
              <a:spcPct val="0"/>
            </a:spcBef>
            <a:spcAft>
              <a:spcPct val="15000"/>
            </a:spcAft>
            <a:buChar char="••"/>
          </a:pPr>
          <a:r>
            <a:rPr lang="en-US" altLang="en-US" sz="1100" b="0" kern="1200">
              <a:latin typeface="微软雅黑" panose="020B0503020204020204" pitchFamily="34" charset="-122"/>
              <a:ea typeface="微软雅黑" panose="020B0503020204020204" pitchFamily="34" charset="-122"/>
            </a:rPr>
            <a:t>Point 72</a:t>
          </a:r>
          <a:r>
            <a:rPr lang="zh-CN" altLang="en-US" sz="1100" b="0" kern="1200">
              <a:latin typeface="微软雅黑" panose="020B0503020204020204" pitchFamily="34" charset="-122"/>
              <a:ea typeface="微软雅黑" panose="020B0503020204020204" pitchFamily="34" charset="-122"/>
            </a:rPr>
            <a:t>认为</a:t>
          </a:r>
          <a:r>
            <a:rPr lang="en-US" altLang="en-US" sz="1100" b="0" kern="1200">
              <a:latin typeface="微软雅黑" panose="020B0503020204020204" pitchFamily="34" charset="-122"/>
              <a:ea typeface="微软雅黑" panose="020B0503020204020204" pitchFamily="34" charset="-122"/>
            </a:rPr>
            <a:t>AI</a:t>
          </a:r>
          <a:r>
            <a:rPr lang="zh-CN" altLang="en-US" sz="1100" b="0" kern="1200">
              <a:latin typeface="微软雅黑" panose="020B0503020204020204" pitchFamily="34" charset="-122"/>
              <a:ea typeface="微软雅黑" panose="020B0503020204020204" pitchFamily="34" charset="-122"/>
            </a:rPr>
            <a:t>领域会带来巨大、长期的投资机会；因此在</a:t>
          </a:r>
          <a:r>
            <a:rPr lang="en-US" altLang="en-US" sz="1100" b="0" kern="1200">
              <a:latin typeface="微软雅黑" panose="020B0503020204020204" pitchFamily="34" charset="-122"/>
              <a:ea typeface="微软雅黑" panose="020B0503020204020204" pitchFamily="34" charset="-122"/>
            </a:rPr>
            <a:t>2024</a:t>
          </a:r>
          <a:r>
            <a:rPr lang="zh-CN" altLang="en-US" sz="1100" b="0" kern="1200">
              <a:latin typeface="微软雅黑" panose="020B0503020204020204" pitchFamily="34" charset="-122"/>
              <a:ea typeface="微软雅黑" panose="020B0503020204020204" pitchFamily="34" charset="-122"/>
            </a:rPr>
            <a:t>年</a:t>
          </a:r>
          <a:r>
            <a:rPr lang="en-US" altLang="en-US" sz="1100" b="0" kern="1200">
              <a:latin typeface="微软雅黑" panose="020B0503020204020204" pitchFamily="34" charset="-122"/>
              <a:ea typeface="微软雅黑" panose="020B0503020204020204" pitchFamily="34" charset="-122"/>
            </a:rPr>
            <a:t>7</a:t>
          </a:r>
          <a:r>
            <a:rPr lang="zh-CN" altLang="en-US" sz="1100" b="0" kern="1200">
              <a:latin typeface="微软雅黑" panose="020B0503020204020204" pitchFamily="34" charset="-122"/>
              <a:ea typeface="微软雅黑" panose="020B0503020204020204" pitchFamily="34" charset="-122"/>
            </a:rPr>
            <a:t>月成立科技主题的</a:t>
          </a:r>
          <a:r>
            <a:rPr lang="en-US" altLang="en-US" sz="1100" b="0" kern="1200">
              <a:latin typeface="微软雅黑" panose="020B0503020204020204" pitchFamily="34" charset="-122"/>
              <a:ea typeface="微软雅黑" panose="020B0503020204020204" pitchFamily="34" charset="-122"/>
            </a:rPr>
            <a:t>Turion</a:t>
          </a:r>
          <a:r>
            <a:rPr lang="zh-CN" altLang="en-US" sz="1100" b="0" kern="1200">
              <a:latin typeface="微软雅黑" panose="020B0503020204020204" pitchFamily="34" charset="-122"/>
              <a:ea typeface="微软雅黑" panose="020B0503020204020204" pitchFamily="34" charset="-122"/>
            </a:rPr>
            <a:t>基金，以把握</a:t>
          </a:r>
          <a:r>
            <a:rPr lang="en-US" altLang="en-US" sz="1100" b="0" kern="1200">
              <a:latin typeface="微软雅黑" panose="020B0503020204020204" pitchFamily="34" charset="-122"/>
              <a:ea typeface="微软雅黑" panose="020B0503020204020204" pitchFamily="34" charset="-122"/>
            </a:rPr>
            <a:t>AI</a:t>
          </a:r>
          <a:r>
            <a:rPr lang="zh-CN" altLang="en-US" sz="1100" b="0" kern="1200">
              <a:latin typeface="微软雅黑" panose="020B0503020204020204" pitchFamily="34" charset="-122"/>
              <a:ea typeface="微软雅黑" panose="020B0503020204020204" pitchFamily="34" charset="-122"/>
            </a:rPr>
            <a:t>机会。</a:t>
          </a:r>
          <a:endParaRPr lang="zh-CN" altLang="en-US" sz="1100" b="0" kern="1200" dirty="0">
            <a:latin typeface="微软雅黑" panose="020B0503020204020204" pitchFamily="34" charset="-122"/>
            <a:ea typeface="微软雅黑" panose="020B0503020204020204" pitchFamily="34" charset="-122"/>
          </a:endParaRPr>
        </a:p>
        <a:p>
          <a:pPr marL="57150" lvl="1" indent="-57150" algn="l" defTabSz="488950">
            <a:lnSpc>
              <a:spcPct val="90000"/>
            </a:lnSpc>
            <a:spcBef>
              <a:spcPct val="0"/>
            </a:spcBef>
            <a:spcAft>
              <a:spcPct val="15000"/>
            </a:spcAft>
            <a:buChar char="••"/>
          </a:pPr>
          <a:r>
            <a:rPr lang="zh-CN" altLang="en-US" sz="1100" b="0" kern="1200" dirty="0">
              <a:latin typeface="微软雅黑" panose="020B0503020204020204" pitchFamily="34" charset="-122"/>
              <a:ea typeface="微软雅黑" panose="020B0503020204020204" pitchFamily="34" charset="-122"/>
            </a:rPr>
            <a:t>目前诺亚为大中华地区首批代销该基金的机构，能有限把握该机会。</a:t>
          </a:r>
        </a:p>
        <a:p>
          <a:pPr marL="57150" lvl="1" indent="-57150" algn="l" defTabSz="488950">
            <a:lnSpc>
              <a:spcPct val="90000"/>
            </a:lnSpc>
            <a:spcBef>
              <a:spcPct val="0"/>
            </a:spcBef>
            <a:spcAft>
              <a:spcPct val="15000"/>
            </a:spcAft>
            <a:buChar char="••"/>
          </a:pPr>
          <a:endParaRPr lang="zh-CN" altLang="en-US" sz="1100" kern="1200" dirty="0">
            <a:latin typeface="微软雅黑" panose="020B0503020204020204" pitchFamily="34" charset="-122"/>
            <a:ea typeface="微软雅黑" panose="020B0503020204020204" pitchFamily="34" charset="-122"/>
          </a:endParaRPr>
        </a:p>
      </dsp:txBody>
      <dsp:txXfrm rot="-5400000">
        <a:off x="2267589" y="1218294"/>
        <a:ext cx="6508663" cy="738663"/>
      </dsp:txXfrm>
    </dsp:sp>
    <dsp:sp modelId="{063B8A64-9C54-49B8-84C8-2EEA22A1F5FD}">
      <dsp:nvSpPr>
        <dsp:cNvPr id="0" name=""/>
        <dsp:cNvSpPr/>
      </dsp:nvSpPr>
      <dsp:spPr>
        <a:xfrm>
          <a:off x="578043" y="1076010"/>
          <a:ext cx="1689545" cy="1023229"/>
        </a:xfrm>
        <a:prstGeom prst="roundRect">
          <a:avLst/>
        </a:prstGeom>
        <a:solidFill>
          <a:srgbClr val="257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微软雅黑" panose="020B0503020204020204" pitchFamily="34" charset="-122"/>
              <a:ea typeface="微软雅黑" panose="020B0503020204020204" pitchFamily="34" charset="-122"/>
            </a:rPr>
            <a:t>合作价值</a:t>
          </a:r>
        </a:p>
      </dsp:txBody>
      <dsp:txXfrm>
        <a:off x="627993" y="1125960"/>
        <a:ext cx="1589645" cy="923329"/>
      </dsp:txXfrm>
    </dsp:sp>
    <dsp:sp modelId="{AED29F11-3C91-469E-B499-A439531B0D94}">
      <dsp:nvSpPr>
        <dsp:cNvPr id="0" name=""/>
        <dsp:cNvSpPr/>
      </dsp:nvSpPr>
      <dsp:spPr>
        <a:xfrm rot="5400000">
          <a:off x="5048852" y="-612295"/>
          <a:ext cx="986098" cy="6548623"/>
        </a:xfrm>
        <a:prstGeom prst="round2SameRect">
          <a:avLst/>
        </a:prstGeom>
        <a:solidFill>
          <a:schemeClr val="bg1">
            <a:lumMod val="95000"/>
            <a:alpha val="9000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zh-CN" altLang="en-US" sz="1100" b="0" kern="1200" dirty="0">
              <a:latin typeface="微软雅黑" panose="020B0503020204020204" pitchFamily="34" charset="-122"/>
              <a:ea typeface="微软雅黑" panose="020B0503020204020204" pitchFamily="34" charset="-122"/>
            </a:rPr>
            <a:t>创始人</a:t>
          </a:r>
          <a:r>
            <a:rPr lang="en-US" altLang="zh-CN" sz="1100" b="0" kern="1200" dirty="0">
              <a:latin typeface="微软雅黑" panose="020B0503020204020204" pitchFamily="34" charset="-122"/>
              <a:ea typeface="微软雅黑" panose="020B0503020204020204" pitchFamily="34" charset="-122"/>
            </a:rPr>
            <a:t>Steve Cohen</a:t>
          </a:r>
          <a:r>
            <a:rPr lang="zh-CN" altLang="en-US" sz="1100" b="0" kern="1200" dirty="0">
              <a:latin typeface="微软雅黑" panose="020B0503020204020204" pitchFamily="34" charset="-122"/>
              <a:ea typeface="微软雅黑" panose="020B0503020204020204" pitchFamily="34" charset="-122"/>
            </a:rPr>
            <a:t>担任基金的投委会主席，负责设定策略目标和风险框架，并计划在该基金投资</a:t>
          </a:r>
          <a:r>
            <a:rPr lang="en-US" altLang="zh-CN" sz="1100" b="0" kern="1200" dirty="0">
              <a:latin typeface="微软雅黑" panose="020B0503020204020204" pitchFamily="34" charset="-122"/>
              <a:ea typeface="微软雅黑" panose="020B0503020204020204" pitchFamily="34" charset="-122"/>
            </a:rPr>
            <a:t>1.5</a:t>
          </a:r>
          <a:r>
            <a:rPr lang="zh-CN" altLang="en-US" sz="1100" b="0" kern="1200" dirty="0">
              <a:latin typeface="微软雅黑" panose="020B0503020204020204" pitchFamily="34" charset="-122"/>
              <a:ea typeface="微软雅黑" panose="020B0503020204020204" pitchFamily="34" charset="-122"/>
            </a:rPr>
            <a:t>亿美金。</a:t>
          </a:r>
        </a:p>
        <a:p>
          <a:pPr marL="57150" lvl="1" indent="-57150" algn="l" defTabSz="488950">
            <a:lnSpc>
              <a:spcPct val="90000"/>
            </a:lnSpc>
            <a:spcBef>
              <a:spcPct val="0"/>
            </a:spcBef>
            <a:spcAft>
              <a:spcPct val="15000"/>
            </a:spcAft>
            <a:buChar char="••"/>
          </a:pPr>
          <a:r>
            <a:rPr lang="en-US" altLang="zh-CN" sz="1100" kern="1200" dirty="0">
              <a:latin typeface="微软雅黑" panose="020B0503020204020204" pitchFamily="34" charset="-122"/>
              <a:ea typeface="微软雅黑" panose="020B0503020204020204" pitchFamily="34" charset="-122"/>
            </a:rPr>
            <a:t>Eric Sanchez</a:t>
          </a:r>
          <a:r>
            <a:rPr lang="zh-CN" altLang="en-US" sz="1100" kern="1200" dirty="0">
              <a:latin typeface="微软雅黑" panose="020B0503020204020204" pitchFamily="34" charset="-122"/>
              <a:ea typeface="微软雅黑" panose="020B0503020204020204" pitchFamily="34" charset="-122"/>
            </a:rPr>
            <a:t>是基金的投资经理，拥有</a:t>
          </a:r>
          <a:r>
            <a:rPr lang="en-US" altLang="zh-CN" sz="1100" kern="1200" dirty="0">
              <a:latin typeface="微软雅黑" panose="020B0503020204020204" pitchFamily="34" charset="-122"/>
              <a:ea typeface="微软雅黑" panose="020B0503020204020204" pitchFamily="34" charset="-122"/>
            </a:rPr>
            <a:t>13</a:t>
          </a:r>
          <a:r>
            <a:rPr lang="zh-CN" altLang="en-US" sz="1100" kern="1200" dirty="0">
              <a:latin typeface="微软雅黑" panose="020B0503020204020204" pitchFamily="34" charset="-122"/>
              <a:ea typeface="微软雅黑" panose="020B0503020204020204" pitchFamily="34" charset="-122"/>
            </a:rPr>
            <a:t>年以上科技领域的投资经验。</a:t>
          </a:r>
        </a:p>
      </dsp:txBody>
      <dsp:txXfrm rot="-5400000">
        <a:off x="2267590" y="2217104"/>
        <a:ext cx="6500486" cy="889824"/>
      </dsp:txXfrm>
    </dsp:sp>
    <dsp:sp modelId="{3ACC9378-29DB-4F46-A181-AEFC5292686C}">
      <dsp:nvSpPr>
        <dsp:cNvPr id="0" name=""/>
        <dsp:cNvSpPr/>
      </dsp:nvSpPr>
      <dsp:spPr>
        <a:xfrm>
          <a:off x="578043" y="2150401"/>
          <a:ext cx="1689545" cy="1023229"/>
        </a:xfrm>
        <a:prstGeom prst="roundRect">
          <a:avLst/>
        </a:prstGeom>
        <a:solidFill>
          <a:srgbClr val="257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lang="zh-CN" altLang="en-US" sz="1400" b="1" kern="1200">
              <a:latin typeface="微软雅黑" panose="020B0503020204020204" pitchFamily="34" charset="-122"/>
              <a:ea typeface="微软雅黑" panose="020B0503020204020204" pitchFamily="34" charset="-122"/>
            </a:rPr>
            <a:t>投资团队概况</a:t>
          </a:r>
          <a:endParaRPr lang="zh-CN" altLang="en-US" sz="1400" b="1" kern="1200" dirty="0">
            <a:latin typeface="微软雅黑" panose="020B0503020204020204" pitchFamily="34" charset="-122"/>
            <a:ea typeface="微软雅黑" panose="020B0503020204020204" pitchFamily="34" charset="-122"/>
          </a:endParaRPr>
        </a:p>
      </dsp:txBody>
      <dsp:txXfrm>
        <a:off x="627993" y="2200351"/>
        <a:ext cx="1589645" cy="923329"/>
      </dsp:txXfrm>
    </dsp:sp>
    <dsp:sp modelId="{962134A3-D41B-4D3B-AF7A-3D22B9DD339C}">
      <dsp:nvSpPr>
        <dsp:cNvPr id="0" name=""/>
        <dsp:cNvSpPr/>
      </dsp:nvSpPr>
      <dsp:spPr>
        <a:xfrm rot="5400000">
          <a:off x="4990448" y="500283"/>
          <a:ext cx="1093210" cy="6542228"/>
        </a:xfrm>
        <a:prstGeom prst="round2SameRect">
          <a:avLst/>
        </a:prstGeom>
        <a:solidFill>
          <a:schemeClr val="bg1">
            <a:lumMod val="95000"/>
            <a:alpha val="9000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88950">
            <a:lnSpc>
              <a:spcPct val="90000"/>
            </a:lnSpc>
            <a:spcBef>
              <a:spcPct val="0"/>
            </a:spcBef>
            <a:spcAft>
              <a:spcPct val="15000"/>
            </a:spcAft>
            <a:buChar char="••"/>
          </a:pPr>
          <a:r>
            <a:rPr lang="zh-CN" altLang="en-US" sz="1100" kern="1200" dirty="0">
              <a:latin typeface="微软雅黑" panose="020B0503020204020204" pitchFamily="34" charset="-122"/>
              <a:ea typeface="微软雅黑" panose="020B0503020204020204" pitchFamily="34" charset="-122"/>
              <a:cs typeface="Franklin Gothic Medium Cond"/>
            </a:rPr>
            <a:t>基本面驱动的股票多空策略，在全球股票市场中寻找投资机会，聚焦科技主题，主要关注被人工智能影响的美国科技股。</a:t>
          </a:r>
          <a:endParaRPr kumimoji="0" lang="zh-CN"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endParaRPr>
        </a:p>
        <a:p>
          <a:pPr marL="57150" lvl="1" indent="-57150" algn="l" defTabSz="488950">
            <a:lnSpc>
              <a:spcPct val="90000"/>
            </a:lnSpc>
            <a:spcBef>
              <a:spcPct val="0"/>
            </a:spcBef>
            <a:spcAft>
              <a:spcPct val="15000"/>
            </a:spcAft>
            <a:buChar char="••"/>
          </a:pPr>
          <a:r>
            <a:rPr kumimoji="0" lang="zh-CN" altLang="en-US" sz="1100" b="0" i="0" u="none" strike="noStrike" kern="1200" cap="none" spc="0" normalizeH="0" baseline="0">
              <a:ln/>
              <a:effectLst/>
              <a:uLnTx/>
              <a:uFillTx/>
              <a:latin typeface="微软雅黑" panose="020B0503020204020204" pitchFamily="34" charset="-122"/>
              <a:ea typeface="微软雅黑" panose="020B0503020204020204" pitchFamily="34" charset="-122"/>
              <a:cs typeface="+mn-cs"/>
            </a:rPr>
            <a:t>多头：总仓位</a:t>
          </a:r>
          <a:r>
            <a:rPr kumimoji="0" lang="en-US" altLang="en-US" sz="1100" b="0" i="0" u="none" strike="noStrike" kern="1200" cap="none" spc="0" normalizeH="0" baseline="0">
              <a:ln/>
              <a:effectLst/>
              <a:uLnTx/>
              <a:uFillTx/>
              <a:latin typeface="微软雅黑" panose="020B0503020204020204" pitchFamily="34" charset="-122"/>
              <a:ea typeface="微软雅黑" panose="020B0503020204020204" pitchFamily="34" charset="-122"/>
              <a:cs typeface="+mn-cs"/>
            </a:rPr>
            <a:t>100%-130%</a:t>
          </a:r>
          <a:r>
            <a:rPr kumimoji="0" lang="zh-CN" altLang="en-US" sz="1100" b="0" i="0" u="none" strike="noStrike" kern="1200" cap="none" spc="0" normalizeH="0" baseline="0">
              <a:ln/>
              <a:effectLst/>
              <a:uLnTx/>
              <a:uFillTx/>
              <a:latin typeface="微软雅黑" panose="020B0503020204020204" pitchFamily="34" charset="-122"/>
              <a:ea typeface="微软雅黑" panose="020B0503020204020204" pitchFamily="34" charset="-122"/>
              <a:cs typeface="+mn-cs"/>
            </a:rPr>
            <a:t>，</a:t>
          </a:r>
          <a:r>
            <a:rPr kumimoji="0" lang="en-US" altLang="zh-CN" sz="1100" b="0" i="0" u="none" strike="noStrike" kern="1200" cap="none" spc="0" normalizeH="0" baseline="0">
              <a:ln/>
              <a:effectLst/>
              <a:uLnTx/>
              <a:uFillTx/>
              <a:latin typeface="微软雅黑" panose="020B0503020204020204" pitchFamily="34" charset="-122"/>
              <a:ea typeface="微软雅黑" panose="020B0503020204020204" pitchFamily="34" charset="-122"/>
              <a:cs typeface="+mn-cs"/>
            </a:rPr>
            <a:t>20-30</a:t>
          </a:r>
          <a:r>
            <a:rPr kumimoji="0" lang="zh-CN" altLang="en-US" sz="1100" b="0" i="0" u="none" strike="noStrike" kern="1200" cap="none" spc="0" normalizeH="0" baseline="0">
              <a:ln/>
              <a:effectLst/>
              <a:uLnTx/>
              <a:uFillTx/>
              <a:latin typeface="微软雅黑" panose="020B0503020204020204" pitchFamily="34" charset="-122"/>
              <a:ea typeface="微软雅黑" panose="020B0503020204020204" pitchFamily="34" charset="-122"/>
              <a:cs typeface="+mn-cs"/>
            </a:rPr>
            <a:t>个标的，持仓周期＞</a:t>
          </a:r>
          <a:r>
            <a:rPr kumimoji="0" lang="en-US" altLang="zh-CN" sz="1100" b="0" i="0" u="none" strike="noStrike" kern="1200" cap="none" spc="0" normalizeH="0" baseline="0">
              <a:ln/>
              <a:effectLst/>
              <a:uLnTx/>
              <a:uFillTx/>
              <a:latin typeface="微软雅黑" panose="020B0503020204020204" pitchFamily="34" charset="-122"/>
              <a:ea typeface="微软雅黑" panose="020B0503020204020204" pitchFamily="34" charset="-122"/>
              <a:cs typeface="+mn-cs"/>
            </a:rPr>
            <a:t>2</a:t>
          </a:r>
          <a:r>
            <a:rPr kumimoji="0" lang="zh-CN" altLang="en-US" sz="1100" b="0" i="0" u="none" strike="noStrike" kern="1200" cap="none" spc="0" normalizeH="0" baseline="0">
              <a:ln/>
              <a:effectLst/>
              <a:uLnTx/>
              <a:uFillTx/>
              <a:latin typeface="微软雅黑" panose="020B0503020204020204" pitchFamily="34" charset="-122"/>
              <a:ea typeface="微软雅黑" panose="020B0503020204020204" pitchFamily="34" charset="-122"/>
              <a:cs typeface="+mn-cs"/>
            </a:rPr>
            <a:t>年。</a:t>
          </a:r>
          <a:endParaRPr kumimoji="0" lang="zh-CN"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endParaRPr>
        </a:p>
        <a:p>
          <a:pPr marL="57150" lvl="1" indent="-57150" algn="l" defTabSz="488950">
            <a:lnSpc>
              <a:spcPct val="90000"/>
            </a:lnSpc>
            <a:spcBef>
              <a:spcPct val="0"/>
            </a:spcBef>
            <a:spcAft>
              <a:spcPct val="15000"/>
            </a:spcAft>
            <a:buChar char="••"/>
          </a:pPr>
          <a:r>
            <a:rPr kumimoji="0" lang="zh-CN"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空头：</a:t>
          </a:r>
          <a:r>
            <a:rPr kumimoji="0" lang="en-US"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-100%</a:t>
          </a:r>
          <a:r>
            <a:rPr kumimoji="0" lang="zh-CN"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至</a:t>
          </a:r>
          <a:r>
            <a:rPr kumimoji="0" lang="en-US"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-40%</a:t>
          </a:r>
          <a:r>
            <a:rPr kumimoji="0" lang="zh-CN"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a:t>
          </a:r>
          <a:r>
            <a:rPr kumimoji="0" lang="en-US"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10-20</a:t>
          </a:r>
          <a:r>
            <a:rPr kumimoji="0" lang="zh-CN"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个标的，持仓周期＜</a:t>
          </a:r>
          <a:r>
            <a:rPr kumimoji="0" lang="en-US" altLang="zh-CN"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1</a:t>
          </a:r>
          <a:r>
            <a:rPr kumimoji="0" lang="zh-CN"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年。</a:t>
          </a:r>
        </a:p>
        <a:p>
          <a:pPr marL="57150" lvl="1" indent="-57150" algn="l" defTabSz="488950">
            <a:lnSpc>
              <a:spcPct val="90000"/>
            </a:lnSpc>
            <a:spcBef>
              <a:spcPct val="0"/>
            </a:spcBef>
            <a:spcAft>
              <a:spcPct val="15000"/>
            </a:spcAft>
            <a:buChar char="••"/>
          </a:pPr>
          <a:r>
            <a:rPr kumimoji="0" lang="zh-CN" altLang="en-US" sz="1100" b="0" i="0" u="none" strike="noStrike" kern="1200" cap="none" spc="0" normalizeH="0" baseline="0" dirty="0" smtClean="0">
              <a:ln/>
              <a:effectLst/>
              <a:uLnTx/>
              <a:uFillTx/>
              <a:latin typeface="微软雅黑" panose="020B0503020204020204" pitchFamily="34" charset="-122"/>
              <a:ea typeface="微软雅黑" panose="020B0503020204020204" pitchFamily="34" charset="-122"/>
              <a:cs typeface="+mn-cs"/>
            </a:rPr>
            <a:t>目标波动：</a:t>
          </a:r>
          <a:r>
            <a:rPr kumimoji="0" lang="en-US" altLang="zh-CN" sz="1100" b="0" i="0" u="none" strike="noStrike" kern="1200" cap="none" spc="0" normalizeH="0" baseline="0" dirty="0" smtClean="0">
              <a:ln/>
              <a:effectLst/>
              <a:uLnTx/>
              <a:uFillTx/>
              <a:latin typeface="微软雅黑" panose="020B0503020204020204" pitchFamily="34" charset="-122"/>
              <a:ea typeface="微软雅黑" panose="020B0503020204020204" pitchFamily="34" charset="-122"/>
              <a:cs typeface="+mn-cs"/>
            </a:rPr>
            <a:t>10-20%</a:t>
          </a:r>
          <a:endParaRPr kumimoji="0" lang="zh-CN" altLang="en-US" sz="11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endParaRPr>
        </a:p>
      </dsp:txBody>
      <dsp:txXfrm rot="-5400000">
        <a:off x="2265939" y="3278158"/>
        <a:ext cx="6488862" cy="986478"/>
      </dsp:txXfrm>
    </dsp:sp>
    <dsp:sp modelId="{BB6CB170-49B6-4A64-A5DB-DE8032A19E4C}">
      <dsp:nvSpPr>
        <dsp:cNvPr id="0" name=""/>
        <dsp:cNvSpPr/>
      </dsp:nvSpPr>
      <dsp:spPr>
        <a:xfrm>
          <a:off x="578043" y="3259782"/>
          <a:ext cx="1687895" cy="1023229"/>
        </a:xfrm>
        <a:prstGeom prst="roundRect">
          <a:avLst/>
        </a:prstGeom>
        <a:solidFill>
          <a:srgbClr val="257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微软雅黑" panose="020B0503020204020204" pitchFamily="34" charset="-122"/>
              <a:ea typeface="微软雅黑" panose="020B0503020204020204" pitchFamily="34" charset="-122"/>
            </a:rPr>
            <a:t>投资策略</a:t>
          </a:r>
        </a:p>
      </dsp:txBody>
      <dsp:txXfrm>
        <a:off x="627993" y="3309732"/>
        <a:ext cx="1587995" cy="923329"/>
      </dsp:txXfrm>
    </dsp:sp>
    <dsp:sp modelId="{4DE92364-6B56-4C01-859D-B96E3B3FFFE8}">
      <dsp:nvSpPr>
        <dsp:cNvPr id="0" name=""/>
        <dsp:cNvSpPr/>
      </dsp:nvSpPr>
      <dsp:spPr>
        <a:xfrm rot="5400000">
          <a:off x="5051058" y="1617034"/>
          <a:ext cx="981686" cy="6548623"/>
        </a:xfrm>
        <a:prstGeom prst="round2SameRect">
          <a:avLst/>
        </a:prstGeom>
        <a:solidFill>
          <a:schemeClr val="bg1">
            <a:lumMod val="95000"/>
            <a:alpha val="9000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kumimoji="0" lang="zh-CN" altLang="en-US" sz="1200" b="0" i="0" u="none" strike="noStrike" kern="1200" cap="none" spc="0" normalizeH="0" baseline="0" dirty="0" smtClean="0">
              <a:ln/>
              <a:effectLst/>
              <a:uLnTx/>
              <a:uFillTx/>
              <a:latin typeface="微软雅黑" panose="020B0503020204020204" pitchFamily="34" charset="-122"/>
              <a:ea typeface="微软雅黑" panose="020B0503020204020204" pitchFamily="34" charset="-122"/>
              <a:cs typeface="+mn-cs"/>
            </a:rPr>
            <a:t>账户历史</a:t>
          </a:r>
          <a:r>
            <a:rPr kumimoji="0" lang="zh-CN" altLang="en-US" sz="12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年化</a:t>
          </a:r>
          <a:r>
            <a:rPr kumimoji="0" lang="zh-CN" altLang="en-US" sz="1200" b="0" i="0" u="none" strike="noStrike" kern="1200" cap="none" spc="0" normalizeH="0" baseline="0" dirty="0" smtClean="0">
              <a:ln/>
              <a:effectLst/>
              <a:uLnTx/>
              <a:uFillTx/>
              <a:latin typeface="微软雅黑" panose="020B0503020204020204" pitchFamily="34" charset="-122"/>
              <a:ea typeface="微软雅黑" panose="020B0503020204020204" pitchFamily="34" charset="-122"/>
              <a:cs typeface="+mn-cs"/>
            </a:rPr>
            <a:t>收益</a:t>
          </a:r>
          <a:r>
            <a:rPr kumimoji="0" lang="en-US" altLang="zh-CN" sz="1200" b="1" i="0" u="none" strike="noStrike" kern="1200" cap="none" spc="0" normalizeH="0" baseline="0" dirty="0" smtClean="0">
              <a:ln/>
              <a:solidFill>
                <a:srgbClr val="C00000"/>
              </a:solidFill>
              <a:effectLst/>
              <a:uLnTx/>
              <a:uFillTx/>
              <a:latin typeface="微软雅黑" panose="020B0503020204020204" pitchFamily="34" charset="-122"/>
              <a:ea typeface="微软雅黑" panose="020B0503020204020204" pitchFamily="34" charset="-122"/>
              <a:cs typeface="+mn-cs"/>
            </a:rPr>
            <a:t>47.8%</a:t>
          </a:r>
          <a:r>
            <a:rPr kumimoji="0" lang="zh-CN" altLang="en-US" sz="1200" b="0" i="0" u="none" strike="noStrike" kern="1200" cap="none" spc="0" normalizeH="0" baseline="0" dirty="0" smtClean="0">
              <a:ln/>
              <a:effectLst/>
              <a:uLnTx/>
              <a:uFillTx/>
              <a:latin typeface="微软雅黑" panose="020B0503020204020204" pitchFamily="34" charset="-122"/>
              <a:ea typeface="微软雅黑" panose="020B0503020204020204" pitchFamily="34" charset="-122"/>
              <a:cs typeface="+mn-cs"/>
            </a:rPr>
            <a:t>，年化波动率</a:t>
          </a:r>
          <a:r>
            <a:rPr kumimoji="0" lang="en-US" altLang="zh-CN" sz="1200" b="1" i="0" u="none" strike="noStrike" kern="1200" cap="none" spc="0" normalizeH="0" baseline="0" dirty="0" smtClean="0">
              <a:ln/>
              <a:solidFill>
                <a:schemeClr val="accent6">
                  <a:lumMod val="75000"/>
                </a:schemeClr>
              </a:solidFill>
              <a:effectLst/>
              <a:uLnTx/>
              <a:uFillTx/>
              <a:latin typeface="微软雅黑" panose="020B0503020204020204" pitchFamily="34" charset="-122"/>
              <a:ea typeface="微软雅黑" panose="020B0503020204020204" pitchFamily="34" charset="-122"/>
              <a:cs typeface="+mn-cs"/>
            </a:rPr>
            <a:t>22.8%</a:t>
          </a:r>
          <a:r>
            <a:rPr kumimoji="0" lang="zh-CN" altLang="en-US" sz="1200" b="0" i="0" u="none" strike="noStrike" kern="1200" cap="none" spc="0" normalizeH="0" baseline="0" dirty="0" smtClean="0">
              <a:ln/>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rPr>
            <a:t>最大回</a:t>
          </a:r>
          <a:r>
            <a:rPr kumimoji="0" lang="zh-CN" altLang="en-US" sz="1200" b="0" i="0" u="none" strike="noStrike" kern="1200" cap="none" spc="0" normalizeH="0" baseline="0" dirty="0" smtClean="0">
              <a:ln/>
              <a:effectLst/>
              <a:uLnTx/>
              <a:uFillTx/>
              <a:latin typeface="微软雅黑" panose="020B0503020204020204" pitchFamily="34" charset="-122"/>
              <a:ea typeface="微软雅黑" panose="020B0503020204020204" pitchFamily="34" charset="-122"/>
              <a:cs typeface="+mn-cs"/>
            </a:rPr>
            <a:t>撤</a:t>
          </a:r>
          <a:r>
            <a:rPr kumimoji="0" lang="en-US" altLang="zh-CN" sz="1200" b="1" i="0" u="none" strike="noStrike" kern="1200" cap="none" spc="0" normalizeH="0" baseline="0" dirty="0" smtClean="0">
              <a:ln/>
              <a:solidFill>
                <a:schemeClr val="accent6">
                  <a:lumMod val="75000"/>
                </a:schemeClr>
              </a:solidFill>
              <a:effectLst/>
              <a:uLnTx/>
              <a:uFillTx/>
              <a:latin typeface="微软雅黑" panose="020B0503020204020204" pitchFamily="34" charset="-122"/>
              <a:ea typeface="微软雅黑" panose="020B0503020204020204" pitchFamily="34" charset="-122"/>
              <a:cs typeface="+mn-cs"/>
            </a:rPr>
            <a:t>-10.9%</a:t>
          </a:r>
          <a:r>
            <a:rPr kumimoji="0" lang="zh-CN" altLang="en-US" sz="1200" b="0" i="0" u="none" strike="noStrike" kern="1200" cap="none" spc="0" normalizeH="0" baseline="0" dirty="0" smtClean="0">
              <a:ln/>
              <a:effectLst/>
              <a:uLnTx/>
              <a:uFillTx/>
              <a:latin typeface="微软雅黑" panose="020B0503020204020204" pitchFamily="34" charset="-122"/>
              <a:ea typeface="微软雅黑" panose="020B0503020204020204" pitchFamily="34" charset="-122"/>
              <a:cs typeface="+mn-cs"/>
            </a:rPr>
            <a:t>，夏普比率</a:t>
          </a:r>
          <a:r>
            <a:rPr kumimoji="0" lang="en-US" altLang="zh-CN" sz="1200" b="1" i="0" u="none" strike="noStrike" kern="1200" cap="none" spc="0" normalizeH="0" baseline="0" dirty="0" smtClean="0">
              <a:ln/>
              <a:solidFill>
                <a:srgbClr val="C00000"/>
              </a:solidFill>
              <a:effectLst/>
              <a:uLnTx/>
              <a:uFillTx/>
              <a:latin typeface="微软雅黑" panose="020B0503020204020204" pitchFamily="34" charset="-122"/>
              <a:ea typeface="微软雅黑" panose="020B0503020204020204" pitchFamily="34" charset="-122"/>
              <a:cs typeface="+mn-cs"/>
            </a:rPr>
            <a:t>2.1</a:t>
          </a:r>
          <a:r>
            <a:rPr kumimoji="0" lang="zh-CN" altLang="en-US" sz="1200" b="0" i="0" u="none" strike="noStrike" kern="1200" cap="none" spc="0" normalizeH="0" baseline="0" dirty="0" smtClean="0">
              <a:ln/>
              <a:effectLst/>
              <a:uLnTx/>
              <a:uFillTx/>
              <a:latin typeface="微软雅黑" panose="020B0503020204020204" pitchFamily="34" charset="-122"/>
              <a:ea typeface="微软雅黑" panose="020B0503020204020204" pitchFamily="34" charset="-122"/>
              <a:cs typeface="+mn-cs"/>
            </a:rPr>
            <a:t>。</a:t>
          </a:r>
          <a:endParaRPr kumimoji="0" lang="zh-CN" altLang="en-US" sz="1200" b="0" i="0" u="none" strike="noStrike" kern="1200" cap="none" spc="0" normalizeH="0" baseline="0" dirty="0">
            <a:ln/>
            <a:effectLst/>
            <a:uLnTx/>
            <a:uFillTx/>
            <a:latin typeface="微软雅黑" panose="020B0503020204020204" pitchFamily="34" charset="-122"/>
            <a:ea typeface="微软雅黑" panose="020B0503020204020204" pitchFamily="34" charset="-122"/>
            <a:cs typeface="+mn-cs"/>
          </a:endParaRPr>
        </a:p>
      </dsp:txBody>
      <dsp:txXfrm rot="-5400000">
        <a:off x="2267590" y="4448424"/>
        <a:ext cx="6500701" cy="885842"/>
      </dsp:txXfrm>
    </dsp:sp>
    <dsp:sp modelId="{535E7F23-66E3-4305-B1B2-EE13E3427453}">
      <dsp:nvSpPr>
        <dsp:cNvPr id="0" name=""/>
        <dsp:cNvSpPr/>
      </dsp:nvSpPr>
      <dsp:spPr>
        <a:xfrm>
          <a:off x="578043" y="4370783"/>
          <a:ext cx="1689545" cy="1023229"/>
        </a:xfrm>
        <a:prstGeom prst="roundRect">
          <a:avLst/>
        </a:prstGeom>
        <a:solidFill>
          <a:srgbClr val="257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微软雅黑" panose="020B0503020204020204" pitchFamily="34" charset="-122"/>
              <a:ea typeface="微软雅黑" panose="020B0503020204020204" pitchFamily="34" charset="-122"/>
            </a:rPr>
            <a:t>策略业绩</a:t>
          </a:r>
        </a:p>
      </dsp:txBody>
      <dsp:txXfrm>
        <a:off x="627993" y="4420733"/>
        <a:ext cx="1589645" cy="92332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3E11F-E9B1-4BB2-8031-087FF23A4F91}" type="datetimeFigureOut">
              <a:rPr lang="zh-CN" altLang="en-US" smtClean="0"/>
              <a:t>2025/2/14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7FF4D1-8929-4235-B141-CD49BD8B4A3A}" type="slidenum">
              <a:rPr lang="zh-CN" altLang="en-US" smtClean="0"/>
              <a:t>‹#›</a:t>
            </a:fld>
            <a:endParaRPr lang="zh-CN" altLang="en-US"/>
          </a:p>
        </p:txBody>
      </p:sp>
    </p:spTree>
    <p:extLst>
      <p:ext uri="{BB962C8B-B14F-4D97-AF65-F5344CB8AC3E}">
        <p14:creationId xmlns:p14="http://schemas.microsoft.com/office/powerpoint/2010/main" val="379315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569534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672910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619258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598802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988048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874733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76DFA6B-26BE-41FD-B216-CA7C03E0A044}" type="slidenum">
              <a:rPr lang="zh-CN" altLang="en-US" smtClean="0"/>
              <a:t>9</a:t>
            </a:fld>
            <a:endParaRPr lang="zh-CN" altLang="en-US"/>
          </a:p>
        </p:txBody>
      </p:sp>
    </p:spTree>
    <p:extLst>
      <p:ext uri="{BB962C8B-B14F-4D97-AF65-F5344CB8AC3E}">
        <p14:creationId xmlns:p14="http://schemas.microsoft.com/office/powerpoint/2010/main" val="3957354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401681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641294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76DFA6B-26BE-41FD-B216-CA7C03E0A044}" type="slidenum">
              <a:rPr lang="zh-CN" altLang="en-US" smtClean="0"/>
              <a:t>12</a:t>
            </a:fld>
            <a:endParaRPr lang="zh-CN" altLang="en-US"/>
          </a:p>
        </p:txBody>
      </p:sp>
    </p:spTree>
    <p:extLst>
      <p:ext uri="{BB962C8B-B14F-4D97-AF65-F5344CB8AC3E}">
        <p14:creationId xmlns:p14="http://schemas.microsoft.com/office/powerpoint/2010/main" val="1175556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951798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76DFA6B-26BE-41FD-B216-CA7C03E0A044}" type="slidenum">
              <a:rPr lang="zh-CN" altLang="en-US" smtClean="0"/>
              <a:t>16</a:t>
            </a:fld>
            <a:endParaRPr lang="zh-CN" altLang="en-US"/>
          </a:p>
        </p:txBody>
      </p:sp>
    </p:spTree>
    <p:extLst>
      <p:ext uri="{BB962C8B-B14F-4D97-AF65-F5344CB8AC3E}">
        <p14:creationId xmlns:p14="http://schemas.microsoft.com/office/powerpoint/2010/main" val="2386479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522472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630187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519541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8693148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834612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3736634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142501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3580841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2655023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4108895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195817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2746594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2794926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2186331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2480408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0AEB6BA-1C81-4D49-928E-51E497791CE3}" type="datetimeFigureOut">
              <a:rPr lang="zh-CN" altLang="en-US" smtClean="0"/>
              <a:t>2025/2/14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4191511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EB6BA-1C81-4D49-928E-51E497791CE3}" type="datetimeFigureOut">
              <a:rPr lang="zh-CN" altLang="en-US" smtClean="0"/>
              <a:t>2025/2/14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E9F5A4-377A-49B7-94A5-7BC0B103E8C4}" type="slidenum">
              <a:rPr lang="zh-CN" altLang="en-US" smtClean="0"/>
              <a:t>‹#›</a:t>
            </a:fld>
            <a:endParaRPr lang="zh-CN" altLang="en-US"/>
          </a:p>
        </p:txBody>
      </p:sp>
    </p:spTree>
    <p:extLst>
      <p:ext uri="{BB962C8B-B14F-4D97-AF65-F5344CB8AC3E}">
        <p14:creationId xmlns:p14="http://schemas.microsoft.com/office/powerpoint/2010/main" val="1547992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xml"/><Relationship Id="rId7" Type="http://schemas.openxmlformats.org/officeDocument/2006/relationships/image" Target="../media/image4.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1.png"/><Relationship Id="rId10" Type="http://schemas.openxmlformats.org/officeDocument/2006/relationships/image" Target="../media/image7.png"/><Relationship Id="rId4" Type="http://schemas.openxmlformats.org/officeDocument/2006/relationships/notesSlide" Target="../notesSlides/notesSlide5.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10.xml"/><Relationship Id="rId7" Type="http://schemas.openxmlformats.org/officeDocument/2006/relationships/image" Target="../media/image1.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tags" Target="../tags/tag1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12.xml"/><Relationship Id="rId5" Type="http://schemas.openxmlformats.org/officeDocument/2006/relationships/image" Target="../media/image11.emf"/><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1.xml"/><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png"/><Relationship Id="rId10" Type="http://schemas.openxmlformats.org/officeDocument/2006/relationships/image" Target="../media/image16.png"/><Relationship Id="rId4" Type="http://schemas.openxmlformats.org/officeDocument/2006/relationships/notesSlide" Target="../notesSlides/notesSlide8.xml"/><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9.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7.xml"/><Relationship Id="rId5" Type="http://schemas.openxmlformats.org/officeDocument/2006/relationships/image" Target="../media/image11.emf"/><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0.png"/><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21.xml"/><Relationship Id="rId4" Type="http://schemas.openxmlformats.org/officeDocument/2006/relationships/chart" Target="../charts/chart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22.png"/><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8" Type="http://schemas.openxmlformats.org/officeDocument/2006/relationships/chart" Target="../charts/chart8.xml"/><Relationship Id="rId3" Type="http://schemas.openxmlformats.org/officeDocument/2006/relationships/slideLayout" Target="../slideLayouts/slideLayout1.xml"/><Relationship Id="rId7" Type="http://schemas.openxmlformats.org/officeDocument/2006/relationships/chart" Target="../charts/chart7.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chart" Target="../charts/chart6.xml"/><Relationship Id="rId5" Type="http://schemas.openxmlformats.org/officeDocument/2006/relationships/image" Target="../media/image1.png"/><Relationship Id="rId4" Type="http://schemas.openxmlformats.org/officeDocument/2006/relationships/notesSlide" Target="../notesSlides/notesSlide14.xml"/><Relationship Id="rId9" Type="http://schemas.openxmlformats.org/officeDocument/2006/relationships/chart" Target="../charts/chart9.xml"/></Relationships>
</file>

<file path=ppt/slides/_rels/slide1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1.xml"/><Relationship Id="rId7" Type="http://schemas.openxmlformats.org/officeDocument/2006/relationships/image" Target="../media/image2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chart" Target="../charts/chart10.xml"/><Relationship Id="rId5" Type="http://schemas.openxmlformats.org/officeDocument/2006/relationships/image" Target="../media/image1.png"/><Relationship Id="rId4" Type="http://schemas.openxmlformats.org/officeDocument/2006/relationships/notesSlide" Target="../notesSlides/notesSlide15.xml"/><Relationship Id="rId9"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chart" Target="../charts/chart13.xml"/><Relationship Id="rId3" Type="http://schemas.openxmlformats.org/officeDocument/2006/relationships/slideLayout" Target="../slideLayouts/slideLayout1.xml"/><Relationship Id="rId7" Type="http://schemas.openxmlformats.org/officeDocument/2006/relationships/chart" Target="../charts/chart1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chart" Target="../charts/chart11.xml"/><Relationship Id="rId5" Type="http://schemas.openxmlformats.org/officeDocument/2006/relationships/image" Target="../media/image1.png"/><Relationship Id="rId4" Type="http://schemas.openxmlformats.org/officeDocument/2006/relationships/notesSlide" Target="../notesSlides/notesSlide16.xml"/><Relationship Id="rId9" Type="http://schemas.openxmlformats.org/officeDocument/2006/relationships/chart" Target="../charts/chart14.xml"/></Relationships>
</file>

<file path=ppt/slides/_rels/slide21.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slideLayout" Target="../slideLayouts/slideLayout1.xml"/><Relationship Id="rId7" Type="http://schemas.openxmlformats.org/officeDocument/2006/relationships/diagramLayout" Target="../diagrams/layout1.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diagramData" Target="../diagrams/data1.xml"/><Relationship Id="rId5" Type="http://schemas.openxmlformats.org/officeDocument/2006/relationships/image" Target="../media/image1.png"/><Relationship Id="rId10" Type="http://schemas.microsoft.com/office/2007/relationships/diagramDrawing" Target="../diagrams/drawing1.xml"/><Relationship Id="rId4" Type="http://schemas.openxmlformats.org/officeDocument/2006/relationships/notesSlide" Target="../notesSlides/notesSlide17.xml"/><Relationship Id="rId9" Type="http://schemas.openxmlformats.org/officeDocument/2006/relationships/diagramColors" Target="../diagrams/colors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tags" Target="../tags/tag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descr="Rectangle 3"/>
          <p:cNvSpPr txBox="1"/>
          <p:nvPr/>
        </p:nvSpPr>
        <p:spPr bwMode="auto">
          <a:xfrm>
            <a:off x="1362484" y="2946739"/>
            <a:ext cx="8732862" cy="1512317"/>
          </a:xfrm>
          <a:prstGeom prst="rect">
            <a:avLst/>
          </a:prstGeom>
          <a:noFill/>
          <a:ln>
            <a:noFill/>
          </a:ln>
          <a:effectLst/>
        </p:spPr>
        <p:txBody>
          <a:bodyPr lIns="0" tIns="0" rIns="50800" bIns="50800">
            <a:normAutofit fontScale="92500" lnSpcReduction="20000"/>
          </a:bodyPr>
          <a:lstStyle/>
          <a:p>
            <a:pPr lvl="0">
              <a:lnSpc>
                <a:spcPct val="114000"/>
              </a:lnSpc>
              <a:defRPr/>
            </a:pPr>
            <a:r>
              <a:rPr lang="zh-CN" altLang="en-US" sz="3500" b="1" dirty="0" smtClean="0">
                <a:solidFill>
                  <a:srgbClr val="015658"/>
                </a:solidFill>
                <a:latin typeface="獅尾四季春加糖SC-Bold" panose="020B0500000000000000" pitchFamily="34" charset="-120"/>
                <a:ea typeface="獅尾四季春加糖SC-Bold" panose="020B0500000000000000" pitchFamily="34" charset="-120"/>
              </a:rPr>
              <a:t>重点项目：</a:t>
            </a:r>
            <a:r>
              <a:rPr lang="en-US" altLang="zh-CN" sz="3500" b="1" dirty="0" smtClean="0">
                <a:solidFill>
                  <a:srgbClr val="015658"/>
                </a:solidFill>
                <a:latin typeface="獅尾四季春加糖SC-Bold" panose="020B0500000000000000" pitchFamily="34" charset="-120"/>
                <a:ea typeface="獅尾四季春加糖SC-Bold" panose="020B0500000000000000" pitchFamily="34" charset="-120"/>
              </a:rPr>
              <a:t>P72 </a:t>
            </a:r>
            <a:r>
              <a:rPr lang="en-US" altLang="zh-CN" sz="3600" b="1" spc="300" dirty="0" err="1" smtClean="0">
                <a:solidFill>
                  <a:srgbClr val="015658"/>
                </a:solidFill>
                <a:latin typeface="獅尾四季春加糖SC-Bold" panose="020B0500000000000000" pitchFamily="34" charset="-120"/>
                <a:ea typeface="獅尾四季春加糖SC-Bold" panose="020B0500000000000000" pitchFamily="34" charset="-120"/>
                <a:sym typeface="+mn-ea"/>
              </a:rPr>
              <a:t>Turion</a:t>
            </a:r>
            <a:r>
              <a:rPr lang="zh-CN" altLang="en-US" sz="3500" b="1" dirty="0" smtClean="0">
                <a:solidFill>
                  <a:srgbClr val="015658"/>
                </a:solidFill>
                <a:latin typeface="獅尾四季春加糖SC-Bold" panose="020B0500000000000000" pitchFamily="34" charset="-120"/>
                <a:ea typeface="獅尾四季春加糖SC-Bold" panose="020B0500000000000000" pitchFamily="34" charset="-120"/>
              </a:rPr>
              <a:t>基金</a:t>
            </a:r>
            <a:endParaRPr lang="en-US" altLang="zh-CN" sz="3500" b="1" dirty="0" smtClean="0">
              <a:solidFill>
                <a:srgbClr val="015658"/>
              </a:solidFill>
              <a:latin typeface="獅尾四季春加糖SC-Bold" panose="020B0500000000000000" pitchFamily="34" charset="-120"/>
              <a:ea typeface="獅尾四季春加糖SC-Bold" panose="020B0500000000000000" pitchFamily="34" charset="-120"/>
            </a:endParaRPr>
          </a:p>
          <a:p>
            <a:pPr lvl="0">
              <a:lnSpc>
                <a:spcPct val="114000"/>
              </a:lnSpc>
              <a:defRPr/>
            </a:pPr>
            <a:endParaRPr lang="en-US" altLang="zh-CN" sz="3200" b="1" dirty="0" smtClean="0">
              <a:solidFill>
                <a:srgbClr val="015658"/>
              </a:solidFill>
              <a:latin typeface="獅尾四季春加糖SC-Bold" panose="020B0500000000000000" pitchFamily="34" charset="-120"/>
              <a:ea typeface="獅尾四季春加糖SC-Bold" panose="020B0500000000000000" pitchFamily="34" charset="-120"/>
            </a:endParaRPr>
          </a:p>
          <a:p>
            <a:pPr lvl="0">
              <a:lnSpc>
                <a:spcPct val="114000"/>
              </a:lnSpc>
              <a:defRPr/>
            </a:pPr>
            <a:r>
              <a:rPr lang="en-US" altLang="zh-CN" sz="3200" b="1" dirty="0" smtClean="0">
                <a:solidFill>
                  <a:srgbClr val="C00000"/>
                </a:solidFill>
                <a:latin typeface="獅尾四季春加糖SC-Bold" panose="020B0500000000000000" pitchFamily="34" charset="-120"/>
                <a:ea typeface="獅尾四季春加糖SC-Bold" panose="020B0500000000000000" pitchFamily="34" charset="-120"/>
              </a:rPr>
              <a:t>——</a:t>
            </a:r>
            <a:r>
              <a:rPr lang="zh-CN" altLang="en-US" sz="3200" b="1" dirty="0" smtClean="0">
                <a:solidFill>
                  <a:srgbClr val="C00000"/>
                </a:solidFill>
                <a:latin typeface="獅尾四季春加糖SC-Bold" panose="020B0500000000000000" pitchFamily="34" charset="-120"/>
                <a:ea typeface="獅尾四季春加糖SC-Bold" panose="020B0500000000000000" pitchFamily="34" charset="-120"/>
              </a:rPr>
              <a:t>聚焦</a:t>
            </a:r>
            <a:r>
              <a:rPr lang="en-US" altLang="zh-CN" sz="3200" b="1" dirty="0" smtClean="0">
                <a:solidFill>
                  <a:srgbClr val="C00000"/>
                </a:solidFill>
                <a:latin typeface="獅尾四季春加糖SC-Bold" panose="020B0500000000000000" pitchFamily="34" charset="-120"/>
                <a:ea typeface="獅尾四季春加糖SC-Bold" panose="020B0500000000000000" pitchFamily="34" charset="-120"/>
              </a:rPr>
              <a:t>AI</a:t>
            </a:r>
            <a:r>
              <a:rPr lang="zh-CN" altLang="en-US" sz="3200" b="1" dirty="0" smtClean="0">
                <a:solidFill>
                  <a:srgbClr val="C00000"/>
                </a:solidFill>
                <a:latin typeface="獅尾四季春加糖SC-Bold" panose="020B0500000000000000" pitchFamily="34" charset="-120"/>
                <a:ea typeface="獅尾四季春加糖SC-Bold" panose="020B0500000000000000" pitchFamily="34" charset="-120"/>
              </a:rPr>
              <a:t>科技投资，</a:t>
            </a:r>
            <a:r>
              <a:rPr lang="en-US" altLang="zh-CN" sz="3200" b="1" dirty="0" smtClean="0">
                <a:solidFill>
                  <a:srgbClr val="C00000"/>
                </a:solidFill>
                <a:latin typeface="獅尾四季春加糖SC-Bold" panose="020B0500000000000000" pitchFamily="34" charset="-120"/>
                <a:ea typeface="獅尾四季春加糖SC-Bold" panose="020B0500000000000000" pitchFamily="34" charset="-120"/>
              </a:rPr>
              <a:t>3</a:t>
            </a:r>
            <a:r>
              <a:rPr lang="zh-CN" altLang="en-US" sz="3200" b="1" dirty="0" smtClean="0">
                <a:solidFill>
                  <a:srgbClr val="C00000"/>
                </a:solidFill>
                <a:latin typeface="獅尾四季春加糖SC-Bold" panose="020B0500000000000000" pitchFamily="34" charset="-120"/>
                <a:ea typeface="獅尾四季春加糖SC-Bold" panose="020B0500000000000000" pitchFamily="34" charset="-120"/>
              </a:rPr>
              <a:t>月初上线</a:t>
            </a:r>
            <a:endParaRPr lang="en-US" altLang="zh-CN" sz="3200" b="1" dirty="0" smtClean="0">
              <a:solidFill>
                <a:srgbClr val="C00000"/>
              </a:solidFill>
              <a:latin typeface="獅尾四季春加糖SC-Bold" panose="020B0500000000000000" pitchFamily="34" charset="-120"/>
              <a:ea typeface="獅尾四季春加糖SC-Bold" panose="020B0500000000000000" pitchFamily="34" charset="-120"/>
            </a:endParaRPr>
          </a:p>
          <a:p>
            <a:pPr marL="0" marR="0" lvl="0" indent="0" algn="l" defTabSz="914400" rtl="0" eaLnBrk="1" fontAlgn="auto" latinLnBrk="0" hangingPunct="1">
              <a:lnSpc>
                <a:spcPct val="114000"/>
              </a:lnSpc>
              <a:spcBef>
                <a:spcPts val="0"/>
              </a:spcBef>
              <a:spcAft>
                <a:spcPts val="0"/>
              </a:spcAft>
              <a:buClrTx/>
              <a:buSzTx/>
              <a:buFontTx/>
              <a:buNone/>
              <a:defRPr/>
            </a:pPr>
            <a:endParaRPr kumimoji="0" lang="en-US" altLang="zh-CN" sz="1600" b="1" i="0" u="none" strike="noStrike" kern="1200" cap="none" spc="0" normalizeH="0" baseline="0" noProof="0" dirty="0" smtClean="0">
              <a:ln>
                <a:noFill/>
              </a:ln>
              <a:solidFill>
                <a:srgbClr val="015658"/>
              </a:solidFill>
              <a:effectLst/>
              <a:uLnTx/>
              <a:uFillTx/>
              <a:latin typeface="獅尾四季春加糖SC-Bold" panose="020B0500000000000000" pitchFamily="34" charset="-120"/>
              <a:ea typeface="獅尾四季春加糖SC-Bold" panose="020B0500000000000000" pitchFamily="34" charset="-120"/>
              <a:cs typeface="+mn-cs"/>
            </a:endParaRPr>
          </a:p>
        </p:txBody>
      </p:sp>
    </p:spTree>
    <p:extLst>
      <p:ext uri="{BB962C8B-B14F-4D97-AF65-F5344CB8AC3E}">
        <p14:creationId xmlns:p14="http://schemas.microsoft.com/office/powerpoint/2010/main" val="23388609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未标题-1"/>
          <p:cNvPicPr>
            <a:picLocks noChangeAspect="1"/>
          </p:cNvPicPr>
          <p:nvPr/>
        </p:nvPicPr>
        <p:blipFill>
          <a:blip r:embed="rId4"/>
          <a:stretch>
            <a:fillRect/>
          </a:stretch>
        </p:blipFill>
        <p:spPr>
          <a:xfrm>
            <a:off x="11133455" y="295910"/>
            <a:ext cx="771525" cy="187960"/>
          </a:xfrm>
          <a:prstGeom prst="rect">
            <a:avLst/>
          </a:prstGeom>
        </p:spPr>
      </p:pic>
      <p:sp>
        <p:nvSpPr>
          <p:cNvPr id="44" name="文本框 43"/>
          <p:cNvSpPr txBox="1"/>
          <p:nvPr/>
        </p:nvSpPr>
        <p:spPr>
          <a:xfrm>
            <a:off x="238539" y="178904"/>
            <a:ext cx="5460297" cy="461665"/>
          </a:xfrm>
          <a:prstGeom prst="rect">
            <a:avLst/>
          </a:prstGeom>
          <a:noFill/>
        </p:spPr>
        <p:txBody>
          <a:bodyPr wrap="square" rtlCol="0">
            <a:spAutoFit/>
          </a:bodyPr>
          <a:lstStyle/>
          <a:p>
            <a:pPr lvl="0">
              <a:defRPr/>
            </a:pPr>
            <a:r>
              <a:rPr lang="zh-CN" altLang="en-US" sz="2400" b="1" dirty="0" smtClean="0">
                <a:solidFill>
                  <a:srgbClr val="015658"/>
                </a:solidFill>
                <a:latin typeface="獅尾四季春加糖SC-Bold" panose="020B0500000000000000" pitchFamily="34" charset="-120"/>
                <a:ea typeface="獅尾四季春加糖SC-Bold" panose="020B0500000000000000" pitchFamily="34" charset="-120"/>
              </a:rPr>
              <a:t>全球</a:t>
            </a:r>
            <a:r>
              <a:rPr lang="en-US" altLang="zh-CN" sz="2400" b="1" dirty="0" smtClean="0">
                <a:solidFill>
                  <a:srgbClr val="015658"/>
                </a:solidFill>
                <a:latin typeface="獅尾四季春加糖SC-Bold" panose="020B0500000000000000" pitchFamily="34" charset="-120"/>
                <a:ea typeface="獅尾四季春加糖SC-Bold" panose="020B0500000000000000" pitchFamily="34" charset="-120"/>
              </a:rPr>
              <a:t>TOP50</a:t>
            </a:r>
            <a:r>
              <a:rPr lang="zh-CN" altLang="en-US" sz="2400" b="1" dirty="0" smtClean="0">
                <a:solidFill>
                  <a:srgbClr val="015658"/>
                </a:solidFill>
                <a:latin typeface="獅尾四季春加糖SC-Bold" panose="020B0500000000000000" pitchFamily="34" charset="-120"/>
                <a:ea typeface="獅尾四季春加糖SC-Bold" panose="020B0500000000000000" pitchFamily="34" charset="-120"/>
              </a:rPr>
              <a:t>对</a:t>
            </a:r>
            <a:r>
              <a:rPr lang="zh-CN" altLang="en-US" sz="2400" b="1" dirty="0">
                <a:solidFill>
                  <a:srgbClr val="015658"/>
                </a:solidFill>
                <a:latin typeface="獅尾四季春加糖SC-Bold" panose="020B0500000000000000" pitchFamily="34" charset="-120"/>
                <a:ea typeface="獅尾四季春加糖SC-Bold" panose="020B0500000000000000" pitchFamily="34" charset="-120"/>
              </a:rPr>
              <a:t>冲</a:t>
            </a:r>
            <a:r>
              <a:rPr lang="zh-CN" altLang="en-US" sz="2400" b="1" dirty="0" smtClean="0">
                <a:solidFill>
                  <a:srgbClr val="015658"/>
                </a:solidFill>
                <a:latin typeface="獅尾四季春加糖SC-Bold" panose="020B0500000000000000" pitchFamily="34" charset="-120"/>
                <a:ea typeface="獅尾四季春加糖SC-Bold" panose="020B0500000000000000" pitchFamily="34" charset="-120"/>
              </a:rPr>
              <a:t>基金名单</a:t>
            </a:r>
            <a:endParaRPr lang="zh-CN" altLang="en-US" sz="2400" b="1" dirty="0">
              <a:solidFill>
                <a:srgbClr val="015658"/>
              </a:solidFill>
              <a:latin typeface="獅尾四季春加糖SC-Bold" panose="020B0500000000000000" pitchFamily="34" charset="-120"/>
              <a:ea typeface="獅尾四季春加糖SC-Bold" panose="020B0500000000000000" pitchFamily="34" charset="-120"/>
            </a:endParaRPr>
          </a:p>
        </p:txBody>
      </p:sp>
      <p:sp>
        <p:nvSpPr>
          <p:cNvPr id="43" name="object 11">
            <a:extLst>
              <a:ext uri="{FF2B5EF4-FFF2-40B4-BE49-F238E27FC236}">
                <a16:creationId xmlns:a16="http://schemas.microsoft.com/office/drawing/2014/main" id="{504BF15D-D5C8-C8CC-5986-6219A8332966}"/>
              </a:ext>
            </a:extLst>
          </p:cNvPr>
          <p:cNvSpPr txBox="1"/>
          <p:nvPr/>
        </p:nvSpPr>
        <p:spPr>
          <a:xfrm>
            <a:off x="279179" y="6360501"/>
            <a:ext cx="5087496" cy="13593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800" b="0" i="0" u="none" strike="noStrike" kern="1200" cap="none" spc="0" normalizeH="0" baseline="0" noProof="0" dirty="0" err="1">
                <a:ln>
                  <a:noFill/>
                </a:ln>
                <a:solidFill>
                  <a:srgbClr val="190F07"/>
                </a:solidFill>
                <a:effectLst/>
                <a:uLnTx/>
                <a:uFillTx/>
                <a:latin typeface="Noto Sans CJK HK"/>
                <a:ea typeface="微软雅黑"/>
                <a:cs typeface="Noto Sans CJK HK"/>
              </a:rPr>
              <a:t>資料來源</a:t>
            </a:r>
            <a:r>
              <a:rPr kumimoji="0" sz="800" b="0" i="0" u="none" strike="noStrike" kern="1200" cap="none" spc="0" normalizeH="0" baseline="0" noProof="0" dirty="0" err="1" smtClean="0">
                <a:ln>
                  <a:noFill/>
                </a:ln>
                <a:solidFill>
                  <a:srgbClr val="190F07"/>
                </a:solidFill>
                <a:effectLst/>
                <a:uLnTx/>
                <a:uFillTx/>
                <a:latin typeface="Noto Sans CJK HK"/>
                <a:ea typeface="微软雅黑"/>
                <a:cs typeface="Noto Sans CJK HK"/>
              </a:rPr>
              <a:t>：</a:t>
            </a:r>
            <a:r>
              <a:rPr kumimoji="0" sz="800" b="0" i="0" u="none" strike="noStrike" kern="1200" cap="none" spc="15" normalizeH="0" baseline="0" noProof="0" dirty="0" err="1" smtClean="0">
                <a:ln>
                  <a:noFill/>
                </a:ln>
                <a:solidFill>
                  <a:srgbClr val="190F07"/>
                </a:solidFill>
                <a:effectLst/>
                <a:uLnTx/>
                <a:uFillTx/>
                <a:latin typeface="Noto Sans CJK HK"/>
                <a:ea typeface="微软雅黑"/>
                <a:cs typeface="Noto Sans CJK HK"/>
              </a:rPr>
              <a:t>With</a:t>
            </a:r>
            <a:r>
              <a:rPr kumimoji="0" sz="800" b="0" i="0" u="none" strike="noStrike" kern="1200" cap="none" spc="20" normalizeH="0" baseline="0" noProof="0" dirty="0" smtClean="0">
                <a:ln>
                  <a:noFill/>
                </a:ln>
                <a:solidFill>
                  <a:srgbClr val="190F07"/>
                </a:solidFill>
                <a:effectLst/>
                <a:uLnTx/>
                <a:uFillTx/>
                <a:latin typeface="Noto Sans CJK HK"/>
                <a:ea typeface="微软雅黑"/>
                <a:cs typeface="Noto Sans CJK HK"/>
              </a:rPr>
              <a:t> </a:t>
            </a:r>
            <a:r>
              <a:rPr kumimoji="0" sz="800" b="0" i="0" u="none" strike="noStrike" kern="1200" cap="none" spc="0" normalizeH="0" baseline="0" noProof="0" dirty="0">
                <a:ln>
                  <a:noFill/>
                </a:ln>
                <a:solidFill>
                  <a:srgbClr val="190F07"/>
                </a:solidFill>
                <a:effectLst/>
                <a:uLnTx/>
                <a:uFillTx/>
                <a:latin typeface="Noto Sans CJK HK"/>
                <a:ea typeface="微软雅黑"/>
                <a:cs typeface="Noto Sans CJK HK"/>
              </a:rPr>
              <a:t>Intelligence</a:t>
            </a:r>
            <a:r>
              <a:rPr kumimoji="0" sz="800" b="0" i="0" u="none" strike="noStrike" kern="1200" cap="none" spc="20" normalizeH="0" baseline="0" noProof="0" dirty="0">
                <a:ln>
                  <a:noFill/>
                </a:ln>
                <a:solidFill>
                  <a:srgbClr val="190F07"/>
                </a:solidFill>
                <a:effectLst/>
                <a:uLnTx/>
                <a:uFillTx/>
                <a:latin typeface="Noto Sans CJK HK"/>
                <a:ea typeface="微软雅黑"/>
                <a:cs typeface="Noto Sans CJK HK"/>
              </a:rPr>
              <a:t> </a:t>
            </a:r>
            <a:r>
              <a:rPr kumimoji="0" sz="800" b="0" i="0" u="none" strike="noStrike" kern="1200" cap="none" spc="0" normalizeH="0" baseline="0" noProof="0" dirty="0">
                <a:ln>
                  <a:noFill/>
                </a:ln>
                <a:solidFill>
                  <a:srgbClr val="190F07"/>
                </a:solidFill>
                <a:effectLst/>
                <a:uLnTx/>
                <a:uFillTx/>
                <a:latin typeface="Noto Sans CJK HK"/>
                <a:ea typeface="微软雅黑"/>
                <a:cs typeface="Noto Sans CJK HK"/>
              </a:rPr>
              <a:t>data</a:t>
            </a:r>
            <a:r>
              <a:rPr kumimoji="0" sz="800" b="0" i="0" u="none" strike="noStrike" kern="1200" cap="none" spc="50" normalizeH="0" baseline="0" noProof="0" dirty="0">
                <a:ln>
                  <a:noFill/>
                </a:ln>
                <a:solidFill>
                  <a:srgbClr val="190F07"/>
                </a:solidFill>
                <a:effectLst/>
                <a:uLnTx/>
                <a:uFillTx/>
                <a:latin typeface="Noto Sans CJK HK"/>
                <a:ea typeface="微软雅黑"/>
                <a:cs typeface="Noto Sans CJK HK"/>
              </a:rPr>
              <a:t> </a:t>
            </a:r>
            <a:r>
              <a:rPr kumimoji="0" sz="800" b="0" i="0" u="none" strike="noStrike" kern="1200" cap="none" spc="0" normalizeH="0" baseline="0" noProof="0" dirty="0">
                <a:ln>
                  <a:noFill/>
                </a:ln>
                <a:solidFill>
                  <a:srgbClr val="190F07"/>
                </a:solidFill>
                <a:effectLst/>
                <a:uLnTx/>
                <a:uFillTx/>
                <a:latin typeface="Noto Sans CJK HK"/>
                <a:ea typeface="微软雅黑"/>
                <a:cs typeface="Noto Sans CJK HK"/>
              </a:rPr>
              <a:t>and</a:t>
            </a:r>
            <a:r>
              <a:rPr kumimoji="0" sz="800" b="0" i="0" u="none" strike="noStrike" kern="1200" cap="none" spc="60" normalizeH="0" baseline="0" noProof="0" dirty="0">
                <a:ln>
                  <a:noFill/>
                </a:ln>
                <a:solidFill>
                  <a:srgbClr val="190F07"/>
                </a:solidFill>
                <a:effectLst/>
                <a:uLnTx/>
                <a:uFillTx/>
                <a:latin typeface="Noto Sans CJK HK"/>
                <a:ea typeface="微软雅黑"/>
                <a:cs typeface="Noto Sans CJK HK"/>
              </a:rPr>
              <a:t> </a:t>
            </a:r>
            <a:r>
              <a:rPr kumimoji="0" sz="800" b="0" i="0" u="none" strike="noStrike" kern="1200" cap="none" spc="-5" normalizeH="0" baseline="0" noProof="0" dirty="0">
                <a:ln>
                  <a:noFill/>
                </a:ln>
                <a:solidFill>
                  <a:srgbClr val="190F07"/>
                </a:solidFill>
                <a:effectLst/>
                <a:uLnTx/>
                <a:uFillTx/>
                <a:latin typeface="Noto Sans CJK HK"/>
                <a:ea typeface="微软雅黑"/>
                <a:cs typeface="Noto Sans CJK HK"/>
              </a:rPr>
              <a:t>research；</a:t>
            </a:r>
            <a:r>
              <a:rPr kumimoji="0" sz="800" b="0" i="0" u="none" strike="noStrike" kern="1200" cap="none" spc="0" normalizeH="0" baseline="0" noProof="0" dirty="0">
                <a:ln>
                  <a:noFill/>
                </a:ln>
                <a:solidFill>
                  <a:srgbClr val="190F07"/>
                </a:solidFill>
                <a:effectLst/>
                <a:uLnTx/>
                <a:uFillTx/>
                <a:latin typeface="Noto Sans CJK HK"/>
                <a:ea typeface="微软雅黑"/>
                <a:cs typeface="Noto Sans CJK HK"/>
              </a:rPr>
              <a:t>資料</a:t>
            </a:r>
            <a:r>
              <a:rPr kumimoji="0" sz="800" b="0" i="0" u="none" strike="noStrike" kern="1200" cap="none" spc="-15" normalizeH="0" baseline="0" noProof="0" dirty="0">
                <a:ln>
                  <a:noFill/>
                </a:ln>
                <a:solidFill>
                  <a:srgbClr val="190F07"/>
                </a:solidFill>
                <a:effectLst/>
                <a:uLnTx/>
                <a:uFillTx/>
                <a:latin typeface="Noto Sans CJK HK"/>
                <a:ea typeface="微软雅黑"/>
                <a:cs typeface="Noto Sans CJK HK"/>
              </a:rPr>
              <a:t>截</a:t>
            </a:r>
            <a:r>
              <a:rPr kumimoji="0" sz="800" b="0" i="0" u="none" strike="noStrike" kern="1200" cap="none" spc="0" normalizeH="0" baseline="0" noProof="0" dirty="0">
                <a:ln>
                  <a:noFill/>
                </a:ln>
                <a:solidFill>
                  <a:srgbClr val="190F07"/>
                </a:solidFill>
                <a:effectLst/>
                <a:uLnTx/>
                <a:uFillTx/>
                <a:latin typeface="Noto Sans CJK HK"/>
                <a:ea typeface="微软雅黑"/>
                <a:cs typeface="Noto Sans CJK HK"/>
              </a:rPr>
              <a:t>止日</a:t>
            </a:r>
            <a:r>
              <a:rPr kumimoji="0" sz="800" b="0" i="0" u="none" strike="noStrike" kern="1200" cap="none" spc="-15" normalizeH="0" baseline="0" noProof="0" dirty="0">
                <a:ln>
                  <a:noFill/>
                </a:ln>
                <a:solidFill>
                  <a:srgbClr val="190F07"/>
                </a:solidFill>
                <a:effectLst/>
                <a:uLnTx/>
                <a:uFillTx/>
                <a:latin typeface="Noto Sans CJK HK"/>
                <a:ea typeface="微软雅黑"/>
                <a:cs typeface="Noto Sans CJK HK"/>
              </a:rPr>
              <a:t>期</a:t>
            </a:r>
            <a:r>
              <a:rPr kumimoji="0" sz="800" b="0" i="0" u="none" strike="noStrike" kern="1200" cap="none" spc="15" normalizeH="0" baseline="0" noProof="0" dirty="0">
                <a:ln>
                  <a:noFill/>
                </a:ln>
                <a:solidFill>
                  <a:srgbClr val="190F07"/>
                </a:solidFill>
                <a:effectLst/>
                <a:uLnTx/>
                <a:uFillTx/>
                <a:latin typeface="Noto Sans CJK HK"/>
                <a:ea typeface="微软雅黑"/>
                <a:cs typeface="Noto Sans CJK HK"/>
              </a:rPr>
              <a:t>：2023</a:t>
            </a:r>
            <a:r>
              <a:rPr kumimoji="0" sz="800" b="0" i="0" u="none" strike="noStrike" kern="1200" cap="none" spc="60" normalizeH="0" baseline="0" noProof="0" dirty="0">
                <a:ln>
                  <a:noFill/>
                </a:ln>
                <a:solidFill>
                  <a:srgbClr val="190F07"/>
                </a:solidFill>
                <a:effectLst/>
                <a:uLnTx/>
                <a:uFillTx/>
                <a:latin typeface="Noto Sans CJK HK"/>
                <a:ea typeface="微软雅黑"/>
                <a:cs typeface="Noto Sans CJK HK"/>
              </a:rPr>
              <a:t> </a:t>
            </a:r>
            <a:r>
              <a:rPr kumimoji="0" sz="800" b="0" i="0" u="none" strike="noStrike" kern="1200" cap="none" spc="0" normalizeH="0" baseline="0" noProof="0" dirty="0">
                <a:ln>
                  <a:noFill/>
                </a:ln>
                <a:solidFill>
                  <a:srgbClr val="190F07"/>
                </a:solidFill>
                <a:effectLst/>
                <a:uLnTx/>
                <a:uFillTx/>
                <a:latin typeface="Noto Sans CJK HK"/>
                <a:ea typeface="微软雅黑"/>
                <a:cs typeface="Noto Sans CJK HK"/>
              </a:rPr>
              <a:t>年</a:t>
            </a:r>
            <a:r>
              <a:rPr kumimoji="0" sz="800" b="0" i="0" u="none" strike="noStrike" kern="1200" cap="none" spc="75" normalizeH="0" baseline="0" noProof="0" dirty="0">
                <a:ln>
                  <a:noFill/>
                </a:ln>
                <a:solidFill>
                  <a:srgbClr val="190F07"/>
                </a:solidFill>
                <a:effectLst/>
                <a:uLnTx/>
                <a:uFillTx/>
                <a:latin typeface="Noto Sans CJK HK"/>
                <a:ea typeface="微软雅黑"/>
                <a:cs typeface="Noto Sans CJK HK"/>
              </a:rPr>
              <a:t> </a:t>
            </a:r>
            <a:r>
              <a:rPr kumimoji="0" lang="en-US" sz="800" b="0" i="0" u="none" strike="noStrike" kern="1200" cap="none" spc="25" normalizeH="0" baseline="0" noProof="0" dirty="0" smtClean="0">
                <a:ln>
                  <a:noFill/>
                </a:ln>
                <a:solidFill>
                  <a:srgbClr val="190F07"/>
                </a:solidFill>
                <a:effectLst/>
                <a:uLnTx/>
                <a:uFillTx/>
                <a:latin typeface="Noto Sans CJK HK"/>
                <a:ea typeface="微软雅黑"/>
                <a:cs typeface="Noto Sans CJK HK"/>
              </a:rPr>
              <a:t>11</a:t>
            </a:r>
            <a:r>
              <a:rPr kumimoji="0" sz="800" b="0" i="0" u="none" strike="noStrike" kern="1200" cap="none" spc="70" normalizeH="0" baseline="0" noProof="0" dirty="0" smtClean="0">
                <a:ln>
                  <a:noFill/>
                </a:ln>
                <a:solidFill>
                  <a:srgbClr val="190F07"/>
                </a:solidFill>
                <a:effectLst/>
                <a:uLnTx/>
                <a:uFillTx/>
                <a:latin typeface="Noto Sans CJK HK"/>
                <a:ea typeface="微软雅黑"/>
                <a:cs typeface="Noto Sans CJK HK"/>
              </a:rPr>
              <a:t> </a:t>
            </a:r>
            <a:r>
              <a:rPr kumimoji="0" sz="800" b="0" i="0" u="none" strike="noStrike" kern="1200" cap="none" spc="0" normalizeH="0" baseline="0" noProof="0" dirty="0">
                <a:ln>
                  <a:noFill/>
                </a:ln>
                <a:solidFill>
                  <a:srgbClr val="190F07"/>
                </a:solidFill>
                <a:effectLst/>
                <a:uLnTx/>
                <a:uFillTx/>
                <a:latin typeface="Noto Sans CJK HK"/>
                <a:ea typeface="微软雅黑"/>
                <a:cs typeface="Noto Sans CJK HK"/>
              </a:rPr>
              <a:t>月</a:t>
            </a:r>
          </a:p>
        </p:txBody>
      </p:sp>
      <p:graphicFrame>
        <p:nvGraphicFramePr>
          <p:cNvPr id="45" name="object 12">
            <a:extLst>
              <a:ext uri="{FF2B5EF4-FFF2-40B4-BE49-F238E27FC236}">
                <a16:creationId xmlns:a16="http://schemas.microsoft.com/office/drawing/2014/main" id="{A6C1D851-35B5-3257-4A66-BBF0FBC7A914}"/>
              </a:ext>
            </a:extLst>
          </p:cNvPr>
          <p:cNvGraphicFramePr>
            <a:graphicFrameLocks noGrp="1"/>
          </p:cNvGraphicFramePr>
          <p:nvPr>
            <p:extLst>
              <p:ext uri="{D42A27DB-BD31-4B8C-83A1-F6EECF244321}">
                <p14:modId xmlns:p14="http://schemas.microsoft.com/office/powerpoint/2010/main" val="1926981650"/>
              </p:ext>
            </p:extLst>
          </p:nvPr>
        </p:nvGraphicFramePr>
        <p:xfrm>
          <a:off x="166338" y="1316134"/>
          <a:ext cx="5754172" cy="4595142"/>
        </p:xfrm>
        <a:graphic>
          <a:graphicData uri="http://schemas.openxmlformats.org/drawingml/2006/table">
            <a:tbl>
              <a:tblPr firstRow="1" bandRow="1">
                <a:tableStyleId>{2D5ABB26-0587-4C30-8999-92F81FD0307C}</a:tableStyleId>
              </a:tblPr>
              <a:tblGrid>
                <a:gridCol w="638830">
                  <a:extLst>
                    <a:ext uri="{9D8B030D-6E8A-4147-A177-3AD203B41FA5}">
                      <a16:colId xmlns:a16="http://schemas.microsoft.com/office/drawing/2014/main" val="20000"/>
                    </a:ext>
                  </a:extLst>
                </a:gridCol>
                <a:gridCol w="2190849">
                  <a:extLst>
                    <a:ext uri="{9D8B030D-6E8A-4147-A177-3AD203B41FA5}">
                      <a16:colId xmlns:a16="http://schemas.microsoft.com/office/drawing/2014/main" val="20001"/>
                    </a:ext>
                  </a:extLst>
                </a:gridCol>
                <a:gridCol w="874187">
                  <a:extLst>
                    <a:ext uri="{9D8B030D-6E8A-4147-A177-3AD203B41FA5}">
                      <a16:colId xmlns:a16="http://schemas.microsoft.com/office/drawing/2014/main" val="20002"/>
                    </a:ext>
                  </a:extLst>
                </a:gridCol>
                <a:gridCol w="961607">
                  <a:extLst>
                    <a:ext uri="{9D8B030D-6E8A-4147-A177-3AD203B41FA5}">
                      <a16:colId xmlns:a16="http://schemas.microsoft.com/office/drawing/2014/main" val="20003"/>
                    </a:ext>
                  </a:extLst>
                </a:gridCol>
                <a:gridCol w="1088699">
                  <a:extLst>
                    <a:ext uri="{9D8B030D-6E8A-4147-A177-3AD203B41FA5}">
                      <a16:colId xmlns:a16="http://schemas.microsoft.com/office/drawing/2014/main" val="20004"/>
                    </a:ext>
                  </a:extLst>
                </a:gridCol>
              </a:tblGrid>
              <a:tr h="286049">
                <a:tc>
                  <a:txBody>
                    <a:bodyPr/>
                    <a:lstStyle/>
                    <a:p>
                      <a:pPr marR="127000" algn="ctr">
                        <a:lnSpc>
                          <a:spcPct val="100000"/>
                        </a:lnSpc>
                        <a:spcBef>
                          <a:spcPts val="530"/>
                        </a:spcBef>
                      </a:pPr>
                      <a:r>
                        <a:rPr sz="900" b="1" dirty="0">
                          <a:solidFill>
                            <a:srgbClr val="FFFFFF"/>
                          </a:solidFill>
                          <a:latin typeface="Noto Sans CJK HK"/>
                          <a:cs typeface="Noto Sans CJK HK"/>
                        </a:rPr>
                        <a:t>排名</a:t>
                      </a:r>
                      <a:endParaRPr sz="900" dirty="0">
                        <a:latin typeface="Noto Sans CJK HK"/>
                        <a:cs typeface="Noto Sans CJK HK"/>
                      </a:endParaRPr>
                    </a:p>
                  </a:txBody>
                  <a:tcPr marL="0" marR="0" marT="67310" marB="0">
                    <a:lnB w="6350">
                      <a:solidFill>
                        <a:srgbClr val="221F1F"/>
                      </a:solidFill>
                      <a:prstDash val="solid"/>
                    </a:lnB>
                    <a:solidFill>
                      <a:srgbClr val="165C59"/>
                    </a:solidFill>
                  </a:tcPr>
                </a:tc>
                <a:tc>
                  <a:txBody>
                    <a:bodyPr/>
                    <a:lstStyle/>
                    <a:p>
                      <a:pPr marL="9525" algn="ctr">
                        <a:lnSpc>
                          <a:spcPct val="100000"/>
                        </a:lnSpc>
                        <a:spcBef>
                          <a:spcPts val="530"/>
                        </a:spcBef>
                      </a:pPr>
                      <a:r>
                        <a:rPr sz="900" b="1" dirty="0">
                          <a:solidFill>
                            <a:srgbClr val="FFFFFF"/>
                          </a:solidFill>
                          <a:latin typeface="Noto Sans CJK HK"/>
                          <a:cs typeface="Noto Sans CJK HK"/>
                        </a:rPr>
                        <a:t>基金公司</a:t>
                      </a:r>
                      <a:endParaRPr sz="900" dirty="0">
                        <a:latin typeface="Noto Sans CJK HK"/>
                        <a:cs typeface="Noto Sans CJK HK"/>
                      </a:endParaRPr>
                    </a:p>
                  </a:txBody>
                  <a:tcPr marL="0" marR="0" marT="67310" marB="0">
                    <a:lnB w="6350">
                      <a:solidFill>
                        <a:srgbClr val="221F1F"/>
                      </a:solidFill>
                      <a:prstDash val="solid"/>
                    </a:lnB>
                    <a:solidFill>
                      <a:srgbClr val="165C59"/>
                    </a:solidFill>
                  </a:tcPr>
                </a:tc>
                <a:tc>
                  <a:txBody>
                    <a:bodyPr/>
                    <a:lstStyle/>
                    <a:p>
                      <a:pPr marL="83185" algn="ctr">
                        <a:lnSpc>
                          <a:spcPct val="100000"/>
                        </a:lnSpc>
                        <a:spcBef>
                          <a:spcPts val="530"/>
                        </a:spcBef>
                      </a:pPr>
                      <a:r>
                        <a:rPr sz="900" b="1" dirty="0">
                          <a:solidFill>
                            <a:srgbClr val="FFFFFF"/>
                          </a:solidFill>
                          <a:latin typeface="Noto Sans CJK HK"/>
                          <a:cs typeface="Noto Sans CJK HK"/>
                        </a:rPr>
                        <a:t>國家</a:t>
                      </a:r>
                      <a:endParaRPr sz="900" dirty="0">
                        <a:latin typeface="Noto Sans CJK HK"/>
                        <a:cs typeface="Noto Sans CJK HK"/>
                      </a:endParaRPr>
                    </a:p>
                  </a:txBody>
                  <a:tcPr marL="0" marR="0" marT="67310" marB="0">
                    <a:lnB w="6350">
                      <a:solidFill>
                        <a:srgbClr val="221F1F"/>
                      </a:solidFill>
                      <a:prstDash val="solid"/>
                    </a:lnB>
                    <a:solidFill>
                      <a:srgbClr val="165C59"/>
                    </a:solidFill>
                  </a:tcPr>
                </a:tc>
                <a:tc>
                  <a:txBody>
                    <a:bodyPr/>
                    <a:lstStyle/>
                    <a:p>
                      <a:pPr marR="23495" algn="ctr">
                        <a:lnSpc>
                          <a:spcPct val="100000"/>
                        </a:lnSpc>
                        <a:spcBef>
                          <a:spcPts val="530"/>
                        </a:spcBef>
                      </a:pPr>
                      <a:r>
                        <a:rPr sz="900" b="1" dirty="0">
                          <a:solidFill>
                            <a:srgbClr val="FFFFFF"/>
                          </a:solidFill>
                          <a:latin typeface="Noto Sans CJK HK"/>
                          <a:cs typeface="Noto Sans CJK HK"/>
                        </a:rPr>
                        <a:t>策略</a:t>
                      </a:r>
                      <a:endParaRPr sz="900" dirty="0">
                        <a:latin typeface="Noto Sans CJK HK"/>
                        <a:cs typeface="Noto Sans CJK HK"/>
                      </a:endParaRPr>
                    </a:p>
                  </a:txBody>
                  <a:tcPr marL="0" marR="0" marT="67310" marB="0">
                    <a:lnB w="6350">
                      <a:solidFill>
                        <a:srgbClr val="221F1F"/>
                      </a:solidFill>
                      <a:prstDash val="solid"/>
                    </a:lnB>
                    <a:solidFill>
                      <a:srgbClr val="165C59"/>
                    </a:solidFill>
                  </a:tcPr>
                </a:tc>
                <a:tc>
                  <a:txBody>
                    <a:bodyPr/>
                    <a:lstStyle/>
                    <a:p>
                      <a:pPr marL="29845" algn="ctr">
                        <a:lnSpc>
                          <a:spcPct val="100000"/>
                        </a:lnSpc>
                        <a:spcBef>
                          <a:spcPts val="530"/>
                        </a:spcBef>
                      </a:pPr>
                      <a:r>
                        <a:rPr sz="900" b="1" spc="85" dirty="0">
                          <a:solidFill>
                            <a:srgbClr val="FFFFFF"/>
                          </a:solidFill>
                          <a:latin typeface="Noto Sans CJK HK"/>
                          <a:cs typeface="Noto Sans CJK HK"/>
                        </a:rPr>
                        <a:t>AuM</a:t>
                      </a:r>
                      <a:r>
                        <a:rPr sz="900" b="1" spc="35" dirty="0">
                          <a:solidFill>
                            <a:srgbClr val="FFFFFF"/>
                          </a:solidFill>
                          <a:latin typeface="Noto Sans CJK HK"/>
                          <a:cs typeface="Noto Sans CJK HK"/>
                        </a:rPr>
                        <a:t> </a:t>
                      </a:r>
                      <a:r>
                        <a:rPr sz="900" b="1" spc="-5" dirty="0">
                          <a:solidFill>
                            <a:srgbClr val="FFFFFF"/>
                          </a:solidFill>
                          <a:latin typeface="Noto Sans CJK HK"/>
                          <a:cs typeface="Noto Sans CJK HK"/>
                        </a:rPr>
                        <a:t>Billion</a:t>
                      </a:r>
                      <a:endParaRPr sz="900" dirty="0">
                        <a:latin typeface="Noto Sans CJK HK"/>
                        <a:cs typeface="Noto Sans CJK HK"/>
                      </a:endParaRPr>
                    </a:p>
                  </a:txBody>
                  <a:tcPr marL="0" marR="0" marT="67310" marB="0">
                    <a:lnB w="6350">
                      <a:solidFill>
                        <a:srgbClr val="221F1F"/>
                      </a:solidFill>
                      <a:prstDash val="solid"/>
                    </a:lnB>
                    <a:solidFill>
                      <a:srgbClr val="165C59"/>
                    </a:solidFill>
                  </a:tcPr>
                </a:tc>
                <a:extLst>
                  <a:ext uri="{0D108BD9-81ED-4DB2-BD59-A6C34878D82A}">
                    <a16:rowId xmlns:a16="http://schemas.microsoft.com/office/drawing/2014/main" val="10000"/>
                  </a:ext>
                </a:extLst>
              </a:tr>
              <a:tr h="172411">
                <a:tc>
                  <a:txBody>
                    <a:bodyPr/>
                    <a:lstStyle/>
                    <a:p>
                      <a:pPr marR="127000" algn="ctr">
                        <a:lnSpc>
                          <a:spcPct val="100000"/>
                        </a:lnSpc>
                        <a:spcBef>
                          <a:spcPts val="200"/>
                        </a:spcBef>
                      </a:pPr>
                      <a:r>
                        <a:rPr sz="700" b="0" dirty="0">
                          <a:solidFill>
                            <a:srgbClr val="221F1F"/>
                          </a:solidFill>
                          <a:latin typeface="Trebuchet MS"/>
                          <a:cs typeface="Trebuchet MS"/>
                        </a:rPr>
                        <a:t>1</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tcPr>
                </a:tc>
                <a:tc>
                  <a:txBody>
                    <a:bodyPr/>
                    <a:lstStyle/>
                    <a:p>
                      <a:pPr marL="8890" algn="ctr">
                        <a:lnSpc>
                          <a:spcPct val="100000"/>
                        </a:lnSpc>
                        <a:spcBef>
                          <a:spcPts val="200"/>
                        </a:spcBef>
                      </a:pPr>
                      <a:r>
                        <a:rPr sz="700" b="0" spc="-5" dirty="0">
                          <a:solidFill>
                            <a:srgbClr val="221F1F"/>
                          </a:solidFill>
                          <a:latin typeface="Trebuchet MS"/>
                          <a:cs typeface="Trebuchet MS"/>
                        </a:rPr>
                        <a:t>Bridgewater</a:t>
                      </a:r>
                      <a:r>
                        <a:rPr sz="700" b="0" spc="15" dirty="0">
                          <a:solidFill>
                            <a:srgbClr val="221F1F"/>
                          </a:solidFill>
                          <a:latin typeface="Trebuchet MS"/>
                          <a:cs typeface="Trebuchet MS"/>
                        </a:rPr>
                        <a:t> </a:t>
                      </a:r>
                      <a:r>
                        <a:rPr sz="700" b="0" spc="-10" dirty="0">
                          <a:solidFill>
                            <a:srgbClr val="221F1F"/>
                          </a:solidFill>
                          <a:latin typeface="Trebuchet MS"/>
                          <a:cs typeface="Trebuchet MS"/>
                        </a:rPr>
                        <a:t>Associates</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tcPr>
                </a:tc>
                <a:tc>
                  <a:txBody>
                    <a:bodyPr/>
                    <a:lstStyle/>
                    <a:p>
                      <a:pPr marL="83185" algn="ctr">
                        <a:lnSpc>
                          <a:spcPct val="100000"/>
                        </a:lnSpc>
                        <a:spcBef>
                          <a:spcPts val="200"/>
                        </a:spcBef>
                      </a:pPr>
                      <a:r>
                        <a:rPr sz="700" b="0" spc="-5" dirty="0">
                          <a:solidFill>
                            <a:srgbClr val="221F1F"/>
                          </a:solidFill>
                          <a:latin typeface="Trebuchet MS"/>
                          <a:cs typeface="Trebuchet MS"/>
                        </a:rPr>
                        <a:t>USA</a:t>
                      </a:r>
                      <a:endParaRPr sz="700" b="0">
                        <a:latin typeface="Trebuchet MS"/>
                        <a:cs typeface="Trebuchet MS"/>
                      </a:endParaRPr>
                    </a:p>
                  </a:txBody>
                  <a:tcPr marL="0" marR="0" marT="25400" marB="0">
                    <a:lnT w="6350">
                      <a:solidFill>
                        <a:srgbClr val="221F1F"/>
                      </a:solidFill>
                      <a:prstDash val="solid"/>
                    </a:lnT>
                    <a:lnB w="6350">
                      <a:solidFill>
                        <a:srgbClr val="221F1F"/>
                      </a:solidFill>
                      <a:prstDash val="solid"/>
                    </a:lnB>
                  </a:tcPr>
                </a:tc>
                <a:tc>
                  <a:txBody>
                    <a:bodyPr/>
                    <a:lstStyle/>
                    <a:p>
                      <a:pPr marR="24130" algn="ctr">
                        <a:lnSpc>
                          <a:spcPct val="100000"/>
                        </a:lnSpc>
                        <a:spcBef>
                          <a:spcPts val="200"/>
                        </a:spcBef>
                      </a:pPr>
                      <a:r>
                        <a:rPr sz="700" b="0" spc="-5" dirty="0">
                          <a:solidFill>
                            <a:srgbClr val="221F1F"/>
                          </a:solidFill>
                          <a:latin typeface="Trebuchet MS"/>
                          <a:cs typeface="Trebuchet MS"/>
                        </a:rPr>
                        <a:t>Macro</a:t>
                      </a:r>
                      <a:endParaRPr sz="700" b="0">
                        <a:latin typeface="Trebuchet MS"/>
                        <a:cs typeface="Trebuchet MS"/>
                      </a:endParaRPr>
                    </a:p>
                  </a:txBody>
                  <a:tcPr marL="0" marR="0" marT="25400" marB="0">
                    <a:lnT w="6350">
                      <a:solidFill>
                        <a:srgbClr val="221F1F"/>
                      </a:solidFill>
                      <a:prstDash val="solid"/>
                    </a:lnT>
                    <a:lnB w="6350">
                      <a:solidFill>
                        <a:srgbClr val="221F1F"/>
                      </a:solidFill>
                      <a:prstDash val="solid"/>
                    </a:lnB>
                  </a:tcPr>
                </a:tc>
                <a:tc>
                  <a:txBody>
                    <a:bodyPr/>
                    <a:lstStyle/>
                    <a:p>
                      <a:pPr marL="29209" algn="ctr">
                        <a:lnSpc>
                          <a:spcPct val="100000"/>
                        </a:lnSpc>
                        <a:spcBef>
                          <a:spcPts val="200"/>
                        </a:spcBef>
                      </a:pPr>
                      <a:r>
                        <a:rPr sz="700" b="0" spc="-10" dirty="0">
                          <a:latin typeface="Trebuchet MS"/>
                          <a:cs typeface="Trebuchet MS"/>
                        </a:rPr>
                        <a:t>95</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01"/>
                  </a:ext>
                </a:extLst>
              </a:tr>
              <a:tr h="172274">
                <a:tc>
                  <a:txBody>
                    <a:bodyPr/>
                    <a:lstStyle/>
                    <a:p>
                      <a:pPr marR="127000" algn="ctr">
                        <a:lnSpc>
                          <a:spcPct val="100000"/>
                        </a:lnSpc>
                        <a:spcBef>
                          <a:spcPts val="200"/>
                        </a:spcBef>
                      </a:pPr>
                      <a:r>
                        <a:rPr sz="700" b="0" dirty="0">
                          <a:solidFill>
                            <a:srgbClr val="221F1F"/>
                          </a:solidFill>
                          <a:latin typeface="Trebuchet MS"/>
                          <a:cs typeface="Trebuchet MS"/>
                        </a:rPr>
                        <a:t>2</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noFill/>
                  </a:tcPr>
                </a:tc>
                <a:tc>
                  <a:txBody>
                    <a:bodyPr/>
                    <a:lstStyle/>
                    <a:p>
                      <a:pPr marL="8255" algn="ctr">
                        <a:lnSpc>
                          <a:spcPct val="100000"/>
                        </a:lnSpc>
                        <a:spcBef>
                          <a:spcPts val="200"/>
                        </a:spcBef>
                      </a:pPr>
                      <a:r>
                        <a:rPr sz="700" b="0" spc="-10" dirty="0">
                          <a:solidFill>
                            <a:srgbClr val="221F1F"/>
                          </a:solidFill>
                          <a:latin typeface="Trebuchet MS"/>
                          <a:cs typeface="Trebuchet MS"/>
                        </a:rPr>
                        <a:t>Man</a:t>
                      </a:r>
                      <a:r>
                        <a:rPr sz="700" b="0" spc="10" dirty="0">
                          <a:solidFill>
                            <a:srgbClr val="221F1F"/>
                          </a:solidFill>
                          <a:latin typeface="Trebuchet MS"/>
                          <a:cs typeface="Trebuchet MS"/>
                        </a:rPr>
                        <a:t> </a:t>
                      </a:r>
                      <a:r>
                        <a:rPr sz="700" b="0" spc="-5" dirty="0">
                          <a:solidFill>
                            <a:srgbClr val="221F1F"/>
                          </a:solidFill>
                          <a:latin typeface="Trebuchet MS"/>
                          <a:cs typeface="Trebuchet MS"/>
                        </a:rPr>
                        <a:t>Group</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noFill/>
                  </a:tcPr>
                </a:tc>
                <a:tc>
                  <a:txBody>
                    <a:bodyPr/>
                    <a:lstStyle/>
                    <a:p>
                      <a:pPr marL="83185" algn="ctr">
                        <a:lnSpc>
                          <a:spcPct val="100000"/>
                        </a:lnSpc>
                        <a:spcBef>
                          <a:spcPts val="200"/>
                        </a:spcBef>
                      </a:pPr>
                      <a:r>
                        <a:rPr sz="700" b="0" spc="-5" dirty="0">
                          <a:solidFill>
                            <a:srgbClr val="221F1F"/>
                          </a:solidFill>
                          <a:latin typeface="Trebuchet MS"/>
                          <a:cs typeface="Trebuchet MS"/>
                        </a:rPr>
                        <a:t>UK</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noFill/>
                  </a:tcPr>
                </a:tc>
                <a:tc>
                  <a:txBody>
                    <a:bodyPr/>
                    <a:lstStyle/>
                    <a:p>
                      <a:pPr marR="23495" algn="ctr">
                        <a:lnSpc>
                          <a:spcPct val="100000"/>
                        </a:lnSpc>
                        <a:spcBef>
                          <a:spcPts val="200"/>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noFill/>
                  </a:tcPr>
                </a:tc>
                <a:tc>
                  <a:txBody>
                    <a:bodyPr/>
                    <a:lstStyle/>
                    <a:p>
                      <a:pPr marL="31115" algn="ctr">
                        <a:lnSpc>
                          <a:spcPct val="100000"/>
                        </a:lnSpc>
                        <a:spcBef>
                          <a:spcPts val="200"/>
                        </a:spcBef>
                      </a:pPr>
                      <a:r>
                        <a:rPr sz="700" b="0" spc="-10" dirty="0">
                          <a:latin typeface="Trebuchet MS"/>
                          <a:cs typeface="Trebuchet MS"/>
                        </a:rPr>
                        <a:t>70.6</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02"/>
                  </a:ext>
                </a:extLst>
              </a:tr>
              <a:tr h="172411">
                <a:tc>
                  <a:txBody>
                    <a:bodyPr/>
                    <a:lstStyle/>
                    <a:p>
                      <a:pPr marR="127000" algn="ctr">
                        <a:lnSpc>
                          <a:spcPct val="100000"/>
                        </a:lnSpc>
                        <a:spcBef>
                          <a:spcPts val="204"/>
                        </a:spcBef>
                      </a:pPr>
                      <a:r>
                        <a:rPr sz="700" b="0" dirty="0">
                          <a:solidFill>
                            <a:srgbClr val="221F1F"/>
                          </a:solidFill>
                          <a:latin typeface="Trebuchet MS"/>
                          <a:cs typeface="Trebuchet MS"/>
                        </a:rPr>
                        <a:t>3</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7620" algn="ctr">
                        <a:lnSpc>
                          <a:spcPct val="100000"/>
                        </a:lnSpc>
                        <a:spcBef>
                          <a:spcPts val="204"/>
                        </a:spcBef>
                      </a:pPr>
                      <a:r>
                        <a:rPr sz="700" b="0" spc="-5" dirty="0">
                          <a:solidFill>
                            <a:srgbClr val="221F1F"/>
                          </a:solidFill>
                          <a:latin typeface="Trebuchet MS"/>
                          <a:cs typeface="Trebuchet MS"/>
                        </a:rPr>
                        <a:t>Elliott </a:t>
                      </a:r>
                      <a:r>
                        <a:rPr sz="700" b="0" spc="-10" dirty="0">
                          <a:solidFill>
                            <a:srgbClr val="221F1F"/>
                          </a:solidFill>
                          <a:latin typeface="Trebuchet MS"/>
                          <a:cs typeface="Trebuchet MS"/>
                        </a:rPr>
                        <a:t>Management</a:t>
                      </a:r>
                      <a:r>
                        <a:rPr sz="700" b="0" spc="40" dirty="0">
                          <a:solidFill>
                            <a:srgbClr val="221F1F"/>
                          </a:solidFill>
                          <a:latin typeface="Trebuchet MS"/>
                          <a:cs typeface="Trebuchet MS"/>
                        </a:rPr>
                        <a:t> </a:t>
                      </a:r>
                      <a:r>
                        <a:rPr sz="700" b="0" spc="-5" dirty="0">
                          <a:solidFill>
                            <a:srgbClr val="221F1F"/>
                          </a:solidFill>
                          <a:latin typeface="Trebuchet MS"/>
                          <a:cs typeface="Trebuchet MS"/>
                        </a:rPr>
                        <a:t>Corporation</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23495" algn="ctr">
                        <a:lnSpc>
                          <a:spcPct val="100000"/>
                        </a:lnSpc>
                        <a:spcBef>
                          <a:spcPts val="204"/>
                        </a:spcBef>
                      </a:pPr>
                      <a:r>
                        <a:rPr sz="700" b="0" spc="-5" dirty="0">
                          <a:solidFill>
                            <a:srgbClr val="221F1F"/>
                          </a:solidFill>
                          <a:latin typeface="Trebuchet MS"/>
                          <a:cs typeface="Trebuchet MS"/>
                        </a:rPr>
                        <a:t>Event-driven</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1115" algn="ctr">
                        <a:lnSpc>
                          <a:spcPct val="100000"/>
                        </a:lnSpc>
                        <a:spcBef>
                          <a:spcPts val="204"/>
                        </a:spcBef>
                      </a:pPr>
                      <a:r>
                        <a:rPr sz="700" b="0" spc="-10" dirty="0">
                          <a:latin typeface="Trebuchet MS"/>
                          <a:cs typeface="Trebuchet MS"/>
                        </a:rPr>
                        <a:t>59.2</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03"/>
                  </a:ext>
                </a:extLst>
              </a:tr>
              <a:tr h="172409">
                <a:tc>
                  <a:txBody>
                    <a:bodyPr/>
                    <a:lstStyle/>
                    <a:p>
                      <a:pPr marR="127000" algn="ctr">
                        <a:lnSpc>
                          <a:spcPct val="100000"/>
                        </a:lnSpc>
                        <a:spcBef>
                          <a:spcPts val="204"/>
                        </a:spcBef>
                      </a:pPr>
                      <a:r>
                        <a:rPr sz="700" b="0" dirty="0">
                          <a:solidFill>
                            <a:srgbClr val="221F1F"/>
                          </a:solidFill>
                          <a:latin typeface="Trebuchet MS"/>
                          <a:cs typeface="Trebuchet MS"/>
                        </a:rPr>
                        <a:t>4</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9525" algn="ctr">
                        <a:lnSpc>
                          <a:spcPct val="100000"/>
                        </a:lnSpc>
                        <a:spcBef>
                          <a:spcPts val="204"/>
                        </a:spcBef>
                      </a:pPr>
                      <a:r>
                        <a:rPr sz="700" b="0" spc="-5" dirty="0">
                          <a:solidFill>
                            <a:srgbClr val="221F1F"/>
                          </a:solidFill>
                          <a:latin typeface="Trebuchet MS"/>
                          <a:cs typeface="Trebuchet MS"/>
                        </a:rPr>
                        <a:t>Citadel</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23495" algn="ctr">
                        <a:lnSpc>
                          <a:spcPct val="100000"/>
                        </a:lnSpc>
                        <a:spcBef>
                          <a:spcPts val="204"/>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29209" algn="ctr">
                        <a:lnSpc>
                          <a:spcPct val="100000"/>
                        </a:lnSpc>
                        <a:spcBef>
                          <a:spcPts val="204"/>
                        </a:spcBef>
                      </a:pPr>
                      <a:r>
                        <a:rPr sz="700" b="0" spc="-10" dirty="0">
                          <a:latin typeface="Trebuchet MS"/>
                          <a:cs typeface="Trebuchet MS"/>
                        </a:rPr>
                        <a:t>59</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04"/>
                  </a:ext>
                </a:extLst>
              </a:tr>
              <a:tr h="172274">
                <a:tc>
                  <a:txBody>
                    <a:bodyPr/>
                    <a:lstStyle/>
                    <a:p>
                      <a:pPr marR="127000" algn="ctr">
                        <a:lnSpc>
                          <a:spcPct val="100000"/>
                        </a:lnSpc>
                        <a:spcBef>
                          <a:spcPts val="204"/>
                        </a:spcBef>
                      </a:pPr>
                      <a:r>
                        <a:rPr sz="700" b="0" dirty="0">
                          <a:solidFill>
                            <a:srgbClr val="221F1F"/>
                          </a:solidFill>
                          <a:latin typeface="Trebuchet MS"/>
                          <a:cs typeface="Trebuchet MS"/>
                        </a:rPr>
                        <a:t>5</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890" algn="ctr">
                        <a:lnSpc>
                          <a:spcPct val="100000"/>
                        </a:lnSpc>
                        <a:spcBef>
                          <a:spcPts val="204"/>
                        </a:spcBef>
                      </a:pPr>
                      <a:r>
                        <a:rPr sz="700" b="0" spc="-5" dirty="0">
                          <a:solidFill>
                            <a:srgbClr val="221F1F"/>
                          </a:solidFill>
                          <a:latin typeface="Trebuchet MS"/>
                          <a:cs typeface="Trebuchet MS"/>
                        </a:rPr>
                        <a:t>Millennium</a:t>
                      </a:r>
                      <a:r>
                        <a:rPr sz="700" b="0" spc="2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23495" algn="ctr">
                        <a:lnSpc>
                          <a:spcPct val="100000"/>
                        </a:lnSpc>
                        <a:spcBef>
                          <a:spcPts val="204"/>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1115" algn="ctr">
                        <a:lnSpc>
                          <a:spcPct val="100000"/>
                        </a:lnSpc>
                        <a:spcBef>
                          <a:spcPts val="204"/>
                        </a:spcBef>
                      </a:pPr>
                      <a:r>
                        <a:rPr sz="700" b="0" spc="-10" dirty="0">
                          <a:latin typeface="Trebuchet MS"/>
                          <a:cs typeface="Trebuchet MS"/>
                        </a:rPr>
                        <a:t>57.3</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05"/>
                  </a:ext>
                </a:extLst>
              </a:tr>
              <a:tr h="172411">
                <a:tc>
                  <a:txBody>
                    <a:bodyPr/>
                    <a:lstStyle/>
                    <a:p>
                      <a:pPr marR="127000" algn="ctr">
                        <a:lnSpc>
                          <a:spcPct val="100000"/>
                        </a:lnSpc>
                        <a:spcBef>
                          <a:spcPts val="204"/>
                        </a:spcBef>
                      </a:pPr>
                      <a:r>
                        <a:rPr sz="700" b="0" dirty="0">
                          <a:solidFill>
                            <a:srgbClr val="221F1F"/>
                          </a:solidFill>
                          <a:latin typeface="Trebuchet MS"/>
                          <a:cs typeface="Trebuchet MS"/>
                        </a:rPr>
                        <a:t>6</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255" algn="ctr">
                        <a:lnSpc>
                          <a:spcPct val="100000"/>
                        </a:lnSpc>
                        <a:spcBef>
                          <a:spcPts val="204"/>
                        </a:spcBef>
                      </a:pPr>
                      <a:r>
                        <a:rPr sz="700" b="0" spc="-5" dirty="0">
                          <a:solidFill>
                            <a:srgbClr val="221F1F"/>
                          </a:solidFill>
                          <a:latin typeface="Trebuchet MS"/>
                          <a:cs typeface="Trebuchet MS"/>
                        </a:rPr>
                        <a:t>DE Shaw Group</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23495" algn="ctr">
                        <a:lnSpc>
                          <a:spcPct val="100000"/>
                        </a:lnSpc>
                        <a:spcBef>
                          <a:spcPts val="204"/>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1115" algn="ctr">
                        <a:lnSpc>
                          <a:spcPct val="100000"/>
                        </a:lnSpc>
                        <a:spcBef>
                          <a:spcPts val="204"/>
                        </a:spcBef>
                      </a:pPr>
                      <a:r>
                        <a:rPr sz="700" b="0" spc="-10" dirty="0">
                          <a:latin typeface="Trebuchet MS"/>
                          <a:cs typeface="Trebuchet MS"/>
                        </a:rPr>
                        <a:t>56.9</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06"/>
                  </a:ext>
                </a:extLst>
              </a:tr>
              <a:tr h="172411">
                <a:tc>
                  <a:txBody>
                    <a:bodyPr/>
                    <a:lstStyle/>
                    <a:p>
                      <a:pPr marR="127000" algn="ctr">
                        <a:lnSpc>
                          <a:spcPct val="100000"/>
                        </a:lnSpc>
                        <a:spcBef>
                          <a:spcPts val="204"/>
                        </a:spcBef>
                      </a:pPr>
                      <a:r>
                        <a:rPr sz="700" b="0" dirty="0">
                          <a:solidFill>
                            <a:srgbClr val="221F1F"/>
                          </a:solidFill>
                          <a:latin typeface="Trebuchet MS"/>
                          <a:cs typeface="Trebuchet MS"/>
                        </a:rPr>
                        <a:t>7</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890" algn="ctr">
                        <a:lnSpc>
                          <a:spcPct val="100000"/>
                        </a:lnSpc>
                        <a:spcBef>
                          <a:spcPts val="204"/>
                        </a:spcBef>
                      </a:pPr>
                      <a:r>
                        <a:rPr sz="700" b="0" spc="-5" dirty="0">
                          <a:solidFill>
                            <a:srgbClr val="221F1F"/>
                          </a:solidFill>
                          <a:latin typeface="Trebuchet MS"/>
                          <a:cs typeface="Trebuchet MS"/>
                        </a:rPr>
                        <a:t>Two</a:t>
                      </a:r>
                      <a:r>
                        <a:rPr sz="700" b="0" spc="5" dirty="0">
                          <a:solidFill>
                            <a:srgbClr val="221F1F"/>
                          </a:solidFill>
                          <a:latin typeface="Trebuchet MS"/>
                          <a:cs typeface="Trebuchet MS"/>
                        </a:rPr>
                        <a:t> </a:t>
                      </a:r>
                      <a:r>
                        <a:rPr sz="700" b="0" spc="-5" dirty="0">
                          <a:solidFill>
                            <a:srgbClr val="221F1F"/>
                          </a:solidFill>
                          <a:latin typeface="Trebuchet MS"/>
                          <a:cs typeface="Trebuchet MS"/>
                        </a:rPr>
                        <a:t>Sigma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23495" algn="ctr">
                        <a:lnSpc>
                          <a:spcPct val="100000"/>
                        </a:lnSpc>
                        <a:spcBef>
                          <a:spcPts val="204"/>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1115" algn="ctr">
                        <a:lnSpc>
                          <a:spcPct val="100000"/>
                        </a:lnSpc>
                        <a:spcBef>
                          <a:spcPts val="204"/>
                        </a:spcBef>
                      </a:pPr>
                      <a:r>
                        <a:rPr sz="700" b="0" spc="-10" dirty="0">
                          <a:latin typeface="Trebuchet MS"/>
                          <a:cs typeface="Trebuchet MS"/>
                        </a:rPr>
                        <a:t>50.2</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07"/>
                  </a:ext>
                </a:extLst>
              </a:tr>
              <a:tr h="172274">
                <a:tc>
                  <a:txBody>
                    <a:bodyPr/>
                    <a:lstStyle/>
                    <a:p>
                      <a:pPr marR="127000" algn="ctr">
                        <a:lnSpc>
                          <a:spcPct val="100000"/>
                        </a:lnSpc>
                        <a:spcBef>
                          <a:spcPts val="204"/>
                        </a:spcBef>
                      </a:pPr>
                      <a:r>
                        <a:rPr sz="700" b="0" dirty="0">
                          <a:solidFill>
                            <a:srgbClr val="221F1F"/>
                          </a:solidFill>
                          <a:latin typeface="Trebuchet MS"/>
                          <a:cs typeface="Trebuchet MS"/>
                        </a:rPr>
                        <a:t>8</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255" algn="ctr">
                        <a:lnSpc>
                          <a:spcPct val="100000"/>
                        </a:lnSpc>
                        <a:spcBef>
                          <a:spcPts val="204"/>
                        </a:spcBef>
                      </a:pPr>
                      <a:r>
                        <a:rPr sz="700" b="0" spc="-5" dirty="0">
                          <a:solidFill>
                            <a:srgbClr val="221F1F"/>
                          </a:solidFill>
                          <a:latin typeface="Trebuchet MS"/>
                          <a:cs typeface="Trebuchet MS"/>
                        </a:rPr>
                        <a:t>BlackRock</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23495" algn="ctr">
                        <a:lnSpc>
                          <a:spcPct val="100000"/>
                        </a:lnSpc>
                        <a:spcBef>
                          <a:spcPts val="204"/>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1115" algn="ctr">
                        <a:lnSpc>
                          <a:spcPct val="100000"/>
                        </a:lnSpc>
                        <a:spcBef>
                          <a:spcPts val="204"/>
                        </a:spcBef>
                      </a:pPr>
                      <a:r>
                        <a:rPr sz="700" b="0" spc="-10" dirty="0">
                          <a:latin typeface="Trebuchet MS"/>
                          <a:cs typeface="Trebuchet MS"/>
                        </a:rPr>
                        <a:t>49.1</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08"/>
                  </a:ext>
                </a:extLst>
              </a:tr>
              <a:tr h="172409">
                <a:tc>
                  <a:txBody>
                    <a:bodyPr/>
                    <a:lstStyle/>
                    <a:p>
                      <a:pPr marR="127000" algn="ctr">
                        <a:lnSpc>
                          <a:spcPct val="100000"/>
                        </a:lnSpc>
                        <a:spcBef>
                          <a:spcPts val="204"/>
                        </a:spcBef>
                      </a:pPr>
                      <a:r>
                        <a:rPr sz="700" b="0" dirty="0">
                          <a:solidFill>
                            <a:srgbClr val="221F1F"/>
                          </a:solidFill>
                          <a:latin typeface="Trebuchet MS"/>
                          <a:cs typeface="Trebuchet MS"/>
                        </a:rPr>
                        <a:t>9</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890" algn="ctr">
                        <a:lnSpc>
                          <a:spcPct val="100000"/>
                        </a:lnSpc>
                        <a:spcBef>
                          <a:spcPts val="204"/>
                        </a:spcBef>
                      </a:pPr>
                      <a:r>
                        <a:rPr sz="700" b="0" spc="-5" dirty="0">
                          <a:solidFill>
                            <a:srgbClr val="221F1F"/>
                          </a:solidFill>
                          <a:latin typeface="Trebuchet MS"/>
                          <a:cs typeface="Trebuchet MS"/>
                        </a:rPr>
                        <a:t>JP Morgan </a:t>
                      </a:r>
                      <a:r>
                        <a:rPr sz="700" b="0" spc="-10" dirty="0">
                          <a:solidFill>
                            <a:srgbClr val="221F1F"/>
                          </a:solidFill>
                          <a:latin typeface="Trebuchet MS"/>
                          <a:cs typeface="Trebuchet MS"/>
                        </a:rPr>
                        <a:t>Asset</a:t>
                      </a:r>
                      <a:r>
                        <a:rPr sz="700" b="0" spc="6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23495" algn="ctr">
                        <a:lnSpc>
                          <a:spcPct val="100000"/>
                        </a:lnSpc>
                        <a:spcBef>
                          <a:spcPts val="204"/>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1115" algn="ctr">
                        <a:lnSpc>
                          <a:spcPct val="100000"/>
                        </a:lnSpc>
                        <a:spcBef>
                          <a:spcPts val="204"/>
                        </a:spcBef>
                      </a:pPr>
                      <a:r>
                        <a:rPr sz="700" b="0" spc="-10" dirty="0">
                          <a:latin typeface="Trebuchet MS"/>
                          <a:cs typeface="Trebuchet MS"/>
                        </a:rPr>
                        <a:t>44.3</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09"/>
                  </a:ext>
                </a:extLst>
              </a:tr>
              <a:tr h="172411">
                <a:tc>
                  <a:txBody>
                    <a:bodyPr/>
                    <a:lstStyle/>
                    <a:p>
                      <a:pPr marR="127000" algn="ctr">
                        <a:lnSpc>
                          <a:spcPct val="100000"/>
                        </a:lnSpc>
                        <a:spcBef>
                          <a:spcPts val="204"/>
                        </a:spcBef>
                      </a:pPr>
                      <a:r>
                        <a:rPr sz="700" b="0" spc="-10" dirty="0">
                          <a:solidFill>
                            <a:srgbClr val="221F1F"/>
                          </a:solidFill>
                          <a:latin typeface="Trebuchet MS"/>
                          <a:cs typeface="Trebuchet MS"/>
                        </a:rPr>
                        <a:t>10</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7620" algn="ctr">
                        <a:lnSpc>
                          <a:spcPct val="100000"/>
                        </a:lnSpc>
                        <a:spcBef>
                          <a:spcPts val="204"/>
                        </a:spcBef>
                      </a:pPr>
                      <a:r>
                        <a:rPr sz="700" b="0" spc="-10" dirty="0">
                          <a:solidFill>
                            <a:srgbClr val="221F1F"/>
                          </a:solidFill>
                          <a:latin typeface="Trebuchet MS"/>
                          <a:cs typeface="Trebuchet MS"/>
                        </a:rPr>
                        <a:t>AQR Capital</a:t>
                      </a:r>
                      <a:r>
                        <a:rPr sz="700" b="0" spc="2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23495" algn="ctr">
                        <a:lnSpc>
                          <a:spcPct val="100000"/>
                        </a:lnSpc>
                        <a:spcBef>
                          <a:spcPts val="204"/>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1115" algn="ctr">
                        <a:lnSpc>
                          <a:spcPct val="100000"/>
                        </a:lnSpc>
                        <a:spcBef>
                          <a:spcPts val="204"/>
                        </a:spcBef>
                      </a:pPr>
                      <a:r>
                        <a:rPr sz="700" b="0" spc="-10" dirty="0">
                          <a:latin typeface="Trebuchet MS"/>
                          <a:cs typeface="Trebuchet MS"/>
                        </a:rPr>
                        <a:t>43.3</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10"/>
                  </a:ext>
                </a:extLst>
              </a:tr>
              <a:tr h="172275">
                <a:tc>
                  <a:txBody>
                    <a:bodyPr/>
                    <a:lstStyle/>
                    <a:p>
                      <a:pPr marR="127000" algn="ctr">
                        <a:lnSpc>
                          <a:spcPct val="100000"/>
                        </a:lnSpc>
                        <a:spcBef>
                          <a:spcPts val="204"/>
                        </a:spcBef>
                      </a:pPr>
                      <a:r>
                        <a:rPr sz="700" b="0" spc="-10" dirty="0">
                          <a:solidFill>
                            <a:srgbClr val="221F1F"/>
                          </a:solidFill>
                          <a:latin typeface="Trebuchet MS"/>
                          <a:cs typeface="Trebuchet MS"/>
                        </a:rPr>
                        <a:t>11</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7620" algn="ctr">
                        <a:lnSpc>
                          <a:spcPct val="100000"/>
                        </a:lnSpc>
                        <a:spcBef>
                          <a:spcPts val="204"/>
                        </a:spcBef>
                      </a:pPr>
                      <a:r>
                        <a:rPr sz="700" b="0" spc="-5" dirty="0">
                          <a:solidFill>
                            <a:srgbClr val="221F1F"/>
                          </a:solidFill>
                          <a:latin typeface="Trebuchet MS"/>
                          <a:cs typeface="Trebuchet MS"/>
                        </a:rPr>
                        <a:t>TCI Fund</a:t>
                      </a:r>
                      <a:r>
                        <a:rPr sz="700" b="0" spc="1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3185" algn="ctr">
                        <a:lnSpc>
                          <a:spcPct val="100000"/>
                        </a:lnSpc>
                        <a:spcBef>
                          <a:spcPts val="204"/>
                        </a:spcBef>
                      </a:pPr>
                      <a:r>
                        <a:rPr sz="700" b="0" spc="-5" dirty="0">
                          <a:solidFill>
                            <a:srgbClr val="221F1F"/>
                          </a:solidFill>
                          <a:latin typeface="Trebuchet MS"/>
                          <a:cs typeface="Trebuchet MS"/>
                        </a:rPr>
                        <a:t>UK</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26034" algn="ctr">
                        <a:lnSpc>
                          <a:spcPct val="100000"/>
                        </a:lnSpc>
                        <a:spcBef>
                          <a:spcPts val="204"/>
                        </a:spcBef>
                      </a:pPr>
                      <a:r>
                        <a:rPr sz="700" b="0" spc="-5" dirty="0">
                          <a:solidFill>
                            <a:srgbClr val="221F1F"/>
                          </a:solidFill>
                          <a:latin typeface="Trebuchet MS"/>
                          <a:cs typeface="Trebuchet MS"/>
                        </a:rPr>
                        <a:t>Equity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29209" algn="ctr">
                        <a:lnSpc>
                          <a:spcPct val="100000"/>
                        </a:lnSpc>
                        <a:spcBef>
                          <a:spcPts val="204"/>
                        </a:spcBef>
                      </a:pPr>
                      <a:r>
                        <a:rPr sz="700" b="0" spc="-10" dirty="0">
                          <a:latin typeface="Trebuchet MS"/>
                          <a:cs typeface="Trebuchet MS"/>
                        </a:rPr>
                        <a:t>43</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1"/>
                  </a:ext>
                </a:extLst>
              </a:tr>
              <a:tr h="172411">
                <a:tc>
                  <a:txBody>
                    <a:bodyPr/>
                    <a:lstStyle/>
                    <a:p>
                      <a:pPr marR="127000" algn="ctr">
                        <a:lnSpc>
                          <a:spcPct val="100000"/>
                        </a:lnSpc>
                        <a:spcBef>
                          <a:spcPts val="204"/>
                        </a:spcBef>
                      </a:pPr>
                      <a:r>
                        <a:rPr sz="700" b="0" spc="-10" dirty="0">
                          <a:solidFill>
                            <a:srgbClr val="221F1F"/>
                          </a:solidFill>
                          <a:latin typeface="Trebuchet MS"/>
                          <a:cs typeface="Trebuchet MS"/>
                        </a:rPr>
                        <a:t>12</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9525" algn="ctr">
                        <a:lnSpc>
                          <a:spcPct val="100000"/>
                        </a:lnSpc>
                        <a:spcBef>
                          <a:spcPts val="204"/>
                        </a:spcBef>
                      </a:pPr>
                      <a:r>
                        <a:rPr sz="700" b="0" spc="-10" dirty="0">
                          <a:solidFill>
                            <a:srgbClr val="221F1F"/>
                          </a:solidFill>
                          <a:latin typeface="Trebuchet MS"/>
                          <a:cs typeface="Trebuchet MS"/>
                        </a:rPr>
                        <a:t>Renaissance</a:t>
                      </a:r>
                      <a:r>
                        <a:rPr sz="700" b="0" spc="35" dirty="0">
                          <a:solidFill>
                            <a:srgbClr val="221F1F"/>
                          </a:solidFill>
                          <a:latin typeface="Trebuchet MS"/>
                          <a:cs typeface="Trebuchet MS"/>
                        </a:rPr>
                        <a:t> </a:t>
                      </a:r>
                      <a:r>
                        <a:rPr sz="700" b="0" spc="-5" dirty="0">
                          <a:solidFill>
                            <a:srgbClr val="221F1F"/>
                          </a:solidFill>
                          <a:latin typeface="Trebuchet MS"/>
                          <a:cs typeface="Trebuchet MS"/>
                        </a:rPr>
                        <a:t>Technologies</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26034" algn="ctr">
                        <a:lnSpc>
                          <a:spcPct val="100000"/>
                        </a:lnSpc>
                        <a:spcBef>
                          <a:spcPts val="204"/>
                        </a:spcBef>
                      </a:pPr>
                      <a:r>
                        <a:rPr sz="700" b="0" spc="-5" dirty="0">
                          <a:solidFill>
                            <a:srgbClr val="221F1F"/>
                          </a:solidFill>
                          <a:latin typeface="Trebuchet MS"/>
                          <a:cs typeface="Trebuchet MS"/>
                        </a:rPr>
                        <a:t>Equity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1115" algn="ctr">
                        <a:lnSpc>
                          <a:spcPct val="100000"/>
                        </a:lnSpc>
                        <a:spcBef>
                          <a:spcPts val="204"/>
                        </a:spcBef>
                      </a:pPr>
                      <a:r>
                        <a:rPr sz="700" b="0" spc="-10" dirty="0">
                          <a:latin typeface="Trebuchet MS"/>
                          <a:cs typeface="Trebuchet MS"/>
                        </a:rPr>
                        <a:t>41.9</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2"/>
                  </a:ext>
                </a:extLst>
              </a:tr>
              <a:tr h="172411">
                <a:tc>
                  <a:txBody>
                    <a:bodyPr/>
                    <a:lstStyle/>
                    <a:p>
                      <a:pPr marR="127000" algn="ctr">
                        <a:lnSpc>
                          <a:spcPct val="100000"/>
                        </a:lnSpc>
                        <a:spcBef>
                          <a:spcPts val="204"/>
                        </a:spcBef>
                      </a:pPr>
                      <a:r>
                        <a:rPr sz="700" b="0" spc="-10" dirty="0">
                          <a:solidFill>
                            <a:srgbClr val="221F1F"/>
                          </a:solidFill>
                          <a:latin typeface="Trebuchet MS"/>
                          <a:cs typeface="Trebuchet MS"/>
                        </a:rPr>
                        <a:t>13</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255" algn="ctr">
                        <a:lnSpc>
                          <a:spcPct val="100000"/>
                        </a:lnSpc>
                        <a:spcBef>
                          <a:spcPts val="204"/>
                        </a:spcBef>
                      </a:pPr>
                      <a:r>
                        <a:rPr sz="700" b="0" spc="-10" dirty="0">
                          <a:solidFill>
                            <a:srgbClr val="221F1F"/>
                          </a:solidFill>
                          <a:latin typeface="Trebuchet MS"/>
                          <a:cs typeface="Trebuchet MS"/>
                        </a:rPr>
                        <a:t>Marshall Wace</a:t>
                      </a:r>
                      <a:r>
                        <a:rPr sz="700" b="0" spc="70" dirty="0">
                          <a:solidFill>
                            <a:srgbClr val="221F1F"/>
                          </a:solidFill>
                          <a:latin typeface="Trebuchet MS"/>
                          <a:cs typeface="Trebuchet MS"/>
                        </a:rPr>
                        <a:t> </a:t>
                      </a:r>
                      <a:r>
                        <a:rPr sz="700" b="0" spc="-10" dirty="0">
                          <a:solidFill>
                            <a:srgbClr val="221F1F"/>
                          </a:solidFill>
                          <a:latin typeface="Trebuchet MS"/>
                          <a:cs typeface="Trebuchet MS"/>
                        </a:rPr>
                        <a:t>AM</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3185" algn="ctr">
                        <a:lnSpc>
                          <a:spcPct val="100000"/>
                        </a:lnSpc>
                        <a:spcBef>
                          <a:spcPts val="204"/>
                        </a:spcBef>
                      </a:pPr>
                      <a:r>
                        <a:rPr sz="700" b="0" spc="-5" dirty="0">
                          <a:solidFill>
                            <a:srgbClr val="221F1F"/>
                          </a:solidFill>
                          <a:latin typeface="Trebuchet MS"/>
                          <a:cs typeface="Trebuchet MS"/>
                        </a:rPr>
                        <a:t>UK</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26034" algn="ctr">
                        <a:lnSpc>
                          <a:spcPct val="100000"/>
                        </a:lnSpc>
                        <a:spcBef>
                          <a:spcPts val="204"/>
                        </a:spcBef>
                      </a:pPr>
                      <a:r>
                        <a:rPr sz="700" b="0" spc="-5" dirty="0">
                          <a:solidFill>
                            <a:srgbClr val="221F1F"/>
                          </a:solidFill>
                          <a:latin typeface="Trebuchet MS"/>
                          <a:cs typeface="Trebuchet MS"/>
                        </a:rPr>
                        <a:t>Equity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1115" algn="ctr">
                        <a:lnSpc>
                          <a:spcPct val="100000"/>
                        </a:lnSpc>
                        <a:spcBef>
                          <a:spcPts val="204"/>
                        </a:spcBef>
                      </a:pPr>
                      <a:r>
                        <a:rPr sz="700" b="0" spc="-10" dirty="0">
                          <a:latin typeface="Trebuchet MS"/>
                          <a:cs typeface="Trebuchet MS"/>
                        </a:rPr>
                        <a:t>41.1</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13"/>
                  </a:ext>
                </a:extLst>
              </a:tr>
              <a:tr h="172274">
                <a:tc>
                  <a:txBody>
                    <a:bodyPr/>
                    <a:lstStyle/>
                    <a:p>
                      <a:pPr marR="127000" algn="ctr">
                        <a:lnSpc>
                          <a:spcPct val="100000"/>
                        </a:lnSpc>
                        <a:spcBef>
                          <a:spcPts val="204"/>
                        </a:spcBef>
                      </a:pPr>
                      <a:r>
                        <a:rPr sz="700" b="0" spc="-15" dirty="0">
                          <a:solidFill>
                            <a:srgbClr val="221F1F"/>
                          </a:solidFill>
                          <a:latin typeface="Trebuchet MS"/>
                          <a:cs typeface="Trebuchet MS"/>
                        </a:rPr>
                        <a:t>14</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255" algn="ctr">
                        <a:lnSpc>
                          <a:spcPct val="100000"/>
                        </a:lnSpc>
                        <a:spcBef>
                          <a:spcPts val="204"/>
                        </a:spcBef>
                      </a:pPr>
                      <a:r>
                        <a:rPr sz="700" b="0" spc="-10" dirty="0">
                          <a:solidFill>
                            <a:srgbClr val="221F1F"/>
                          </a:solidFill>
                          <a:latin typeface="Trebuchet MS"/>
                          <a:cs typeface="Trebuchet MS"/>
                        </a:rPr>
                        <a:t>Davidson </a:t>
                      </a:r>
                      <a:r>
                        <a:rPr sz="700" b="0" spc="-5" dirty="0">
                          <a:solidFill>
                            <a:srgbClr val="221F1F"/>
                          </a:solidFill>
                          <a:latin typeface="Trebuchet MS"/>
                          <a:cs typeface="Trebuchet MS"/>
                        </a:rPr>
                        <a:t>Kempner Capital</a:t>
                      </a:r>
                      <a:r>
                        <a:rPr sz="700" b="0" spc="30" dirty="0">
                          <a:solidFill>
                            <a:srgbClr val="221F1F"/>
                          </a:solidFill>
                          <a:latin typeface="Trebuchet MS"/>
                          <a:cs typeface="Trebuchet MS"/>
                        </a:rPr>
                        <a:t> </a:t>
                      </a:r>
                      <a:r>
                        <a:rPr sz="700" b="0" spc="-5" dirty="0">
                          <a:solidFill>
                            <a:srgbClr val="221F1F"/>
                          </a:solidFill>
                          <a:latin typeface="Trebuchet MS"/>
                          <a:cs typeface="Trebuchet MS"/>
                        </a:rPr>
                        <a:t>Management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3820" algn="ctr">
                        <a:lnSpc>
                          <a:spcPct val="100000"/>
                        </a:lnSpc>
                        <a:spcBef>
                          <a:spcPts val="204"/>
                        </a:spcBef>
                      </a:pPr>
                      <a:r>
                        <a:rPr sz="700" b="0" spc="-5" dirty="0">
                          <a:solidFill>
                            <a:srgbClr val="221F1F"/>
                          </a:solidFill>
                          <a:latin typeface="Trebuchet MS"/>
                          <a:cs typeface="Trebuchet MS"/>
                        </a:rPr>
                        <a:t>USA</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23495" algn="ctr">
                        <a:lnSpc>
                          <a:spcPct val="100000"/>
                        </a:lnSpc>
                        <a:spcBef>
                          <a:spcPts val="204"/>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1115" algn="ctr">
                        <a:lnSpc>
                          <a:spcPct val="100000"/>
                        </a:lnSpc>
                        <a:spcBef>
                          <a:spcPts val="204"/>
                        </a:spcBef>
                      </a:pPr>
                      <a:r>
                        <a:rPr sz="700" b="0" spc="-10" dirty="0">
                          <a:latin typeface="Trebuchet MS"/>
                          <a:cs typeface="Trebuchet MS"/>
                        </a:rPr>
                        <a:t>37.2</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4"/>
                  </a:ext>
                </a:extLst>
              </a:tr>
              <a:tr h="172411">
                <a:tc>
                  <a:txBody>
                    <a:bodyPr/>
                    <a:lstStyle/>
                    <a:p>
                      <a:pPr marR="127000" algn="ctr">
                        <a:lnSpc>
                          <a:spcPct val="100000"/>
                        </a:lnSpc>
                        <a:spcBef>
                          <a:spcPts val="204"/>
                        </a:spcBef>
                      </a:pPr>
                      <a:r>
                        <a:rPr sz="700" b="0" spc="-10" dirty="0">
                          <a:solidFill>
                            <a:srgbClr val="221F1F"/>
                          </a:solidFill>
                          <a:latin typeface="Trebuchet MS"/>
                          <a:cs typeface="Trebuchet MS"/>
                        </a:rPr>
                        <a:t>15</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7620" algn="ctr">
                        <a:lnSpc>
                          <a:spcPct val="100000"/>
                        </a:lnSpc>
                        <a:spcBef>
                          <a:spcPts val="204"/>
                        </a:spcBef>
                      </a:pPr>
                      <a:r>
                        <a:rPr sz="700" b="0" spc="-10" dirty="0">
                          <a:solidFill>
                            <a:srgbClr val="221F1F"/>
                          </a:solidFill>
                          <a:latin typeface="Trebuchet MS"/>
                          <a:cs typeface="Trebuchet MS"/>
                        </a:rPr>
                        <a:t>Adage Capital</a:t>
                      </a:r>
                      <a:r>
                        <a:rPr sz="700" b="0" spc="2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26034" algn="ctr">
                        <a:lnSpc>
                          <a:spcPct val="100000"/>
                        </a:lnSpc>
                        <a:spcBef>
                          <a:spcPts val="204"/>
                        </a:spcBef>
                      </a:pPr>
                      <a:r>
                        <a:rPr sz="700" b="0" spc="-5" dirty="0">
                          <a:solidFill>
                            <a:srgbClr val="221F1F"/>
                          </a:solidFill>
                          <a:latin typeface="Trebuchet MS"/>
                          <a:cs typeface="Trebuchet MS"/>
                        </a:rPr>
                        <a:t>Equity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1115" algn="ctr">
                        <a:lnSpc>
                          <a:spcPct val="100000"/>
                        </a:lnSpc>
                        <a:spcBef>
                          <a:spcPts val="204"/>
                        </a:spcBef>
                      </a:pPr>
                      <a:r>
                        <a:rPr sz="700" b="0" spc="-10" dirty="0">
                          <a:latin typeface="Trebuchet MS"/>
                          <a:cs typeface="Trebuchet MS"/>
                        </a:rPr>
                        <a:t>35.7</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5"/>
                  </a:ext>
                </a:extLst>
              </a:tr>
              <a:tr h="172275">
                <a:tc>
                  <a:txBody>
                    <a:bodyPr/>
                    <a:lstStyle/>
                    <a:p>
                      <a:pPr marR="127000" algn="ctr">
                        <a:lnSpc>
                          <a:spcPct val="100000"/>
                        </a:lnSpc>
                        <a:spcBef>
                          <a:spcPts val="204"/>
                        </a:spcBef>
                      </a:pPr>
                      <a:r>
                        <a:rPr sz="700" b="0" spc="-10" dirty="0">
                          <a:solidFill>
                            <a:srgbClr val="221F1F"/>
                          </a:solidFill>
                          <a:latin typeface="Trebuchet MS"/>
                          <a:cs typeface="Trebuchet MS"/>
                        </a:rPr>
                        <a:t>16</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255" algn="ctr">
                        <a:lnSpc>
                          <a:spcPct val="100000"/>
                        </a:lnSpc>
                        <a:spcBef>
                          <a:spcPts val="204"/>
                        </a:spcBef>
                      </a:pPr>
                      <a:r>
                        <a:rPr sz="700" b="0" spc="-5" dirty="0">
                          <a:solidFill>
                            <a:srgbClr val="221F1F"/>
                          </a:solidFill>
                          <a:latin typeface="Trebuchet MS"/>
                          <a:cs typeface="Trebuchet MS"/>
                        </a:rPr>
                        <a:t>Brevan </a:t>
                      </a:r>
                      <a:r>
                        <a:rPr sz="700" b="0" spc="-10" dirty="0">
                          <a:solidFill>
                            <a:srgbClr val="221F1F"/>
                          </a:solidFill>
                          <a:latin typeface="Trebuchet MS"/>
                          <a:cs typeface="Trebuchet MS"/>
                        </a:rPr>
                        <a:t>Howard</a:t>
                      </a:r>
                      <a:r>
                        <a:rPr sz="700" b="0" spc="45" dirty="0">
                          <a:solidFill>
                            <a:srgbClr val="221F1F"/>
                          </a:solidFill>
                          <a:latin typeface="Trebuchet MS"/>
                          <a:cs typeface="Trebuchet MS"/>
                        </a:rPr>
                        <a:t> </a:t>
                      </a:r>
                      <a:r>
                        <a:rPr sz="700" b="0" spc="-10" dirty="0">
                          <a:solidFill>
                            <a:srgbClr val="221F1F"/>
                          </a:solidFill>
                          <a:latin typeface="Trebuchet MS"/>
                          <a:cs typeface="Trebuchet MS"/>
                        </a:rPr>
                        <a:t>AM</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3185" algn="ctr">
                        <a:lnSpc>
                          <a:spcPct val="100000"/>
                        </a:lnSpc>
                        <a:spcBef>
                          <a:spcPts val="204"/>
                        </a:spcBef>
                      </a:pPr>
                      <a:r>
                        <a:rPr sz="700" b="0" spc="-5" dirty="0">
                          <a:solidFill>
                            <a:srgbClr val="221F1F"/>
                          </a:solidFill>
                          <a:latin typeface="Trebuchet MS"/>
                          <a:cs typeface="Trebuchet MS"/>
                        </a:rPr>
                        <a:t>UK</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24130" algn="ctr">
                        <a:lnSpc>
                          <a:spcPct val="100000"/>
                        </a:lnSpc>
                        <a:spcBef>
                          <a:spcPts val="204"/>
                        </a:spcBef>
                      </a:pPr>
                      <a:r>
                        <a:rPr sz="700" b="0" spc="-5" dirty="0">
                          <a:solidFill>
                            <a:srgbClr val="221F1F"/>
                          </a:solidFill>
                          <a:latin typeface="Trebuchet MS"/>
                          <a:cs typeface="Trebuchet MS"/>
                        </a:rPr>
                        <a:t>Macro</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29209" algn="ctr">
                        <a:lnSpc>
                          <a:spcPct val="100000"/>
                        </a:lnSpc>
                        <a:spcBef>
                          <a:spcPts val="204"/>
                        </a:spcBef>
                      </a:pPr>
                      <a:r>
                        <a:rPr sz="700" b="0" spc="-10" dirty="0">
                          <a:latin typeface="Trebuchet MS"/>
                          <a:cs typeface="Trebuchet MS"/>
                        </a:rPr>
                        <a:t>33</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16"/>
                  </a:ext>
                </a:extLst>
              </a:tr>
              <a:tr h="172411">
                <a:tc>
                  <a:txBody>
                    <a:bodyPr/>
                    <a:lstStyle/>
                    <a:p>
                      <a:pPr marR="127000" algn="ctr">
                        <a:lnSpc>
                          <a:spcPct val="100000"/>
                        </a:lnSpc>
                        <a:spcBef>
                          <a:spcPts val="204"/>
                        </a:spcBef>
                      </a:pPr>
                      <a:r>
                        <a:rPr sz="700" b="0" spc="-10" dirty="0">
                          <a:solidFill>
                            <a:srgbClr val="221F1F"/>
                          </a:solidFill>
                          <a:latin typeface="Trebuchet MS"/>
                          <a:cs typeface="Trebuchet MS"/>
                        </a:rPr>
                        <a:t>17</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7620" algn="ctr">
                        <a:lnSpc>
                          <a:spcPct val="100000"/>
                        </a:lnSpc>
                        <a:spcBef>
                          <a:spcPts val="204"/>
                        </a:spcBef>
                      </a:pPr>
                      <a:r>
                        <a:rPr sz="700" b="0" spc="-10" dirty="0">
                          <a:solidFill>
                            <a:srgbClr val="221F1F"/>
                          </a:solidFill>
                          <a:latin typeface="Trebuchet MS"/>
                          <a:cs typeface="Trebuchet MS"/>
                        </a:rPr>
                        <a:t>Farallon Capital</a:t>
                      </a:r>
                      <a:r>
                        <a:rPr sz="700" b="0" spc="4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23495" algn="ctr">
                        <a:lnSpc>
                          <a:spcPct val="100000"/>
                        </a:lnSpc>
                        <a:spcBef>
                          <a:spcPts val="204"/>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1115" algn="ctr">
                        <a:lnSpc>
                          <a:spcPct val="100000"/>
                        </a:lnSpc>
                        <a:spcBef>
                          <a:spcPts val="204"/>
                        </a:spcBef>
                      </a:pPr>
                      <a:r>
                        <a:rPr sz="700" b="0" spc="-10" dirty="0">
                          <a:latin typeface="Trebuchet MS"/>
                          <a:cs typeface="Trebuchet MS"/>
                        </a:rPr>
                        <a:t>32.7</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7"/>
                  </a:ext>
                </a:extLst>
              </a:tr>
              <a:tr h="172411">
                <a:tc>
                  <a:txBody>
                    <a:bodyPr/>
                    <a:lstStyle/>
                    <a:p>
                      <a:pPr marR="127000" algn="ctr">
                        <a:lnSpc>
                          <a:spcPct val="100000"/>
                        </a:lnSpc>
                        <a:spcBef>
                          <a:spcPts val="204"/>
                        </a:spcBef>
                      </a:pPr>
                      <a:r>
                        <a:rPr sz="700" b="1" spc="-10" dirty="0">
                          <a:solidFill>
                            <a:srgbClr val="221F1F"/>
                          </a:solidFill>
                          <a:latin typeface="Trebuchet MS"/>
                          <a:cs typeface="Trebuchet MS"/>
                        </a:rPr>
                        <a:t>18</a:t>
                      </a:r>
                      <a:endParaRPr sz="700" b="1" dirty="0">
                        <a:latin typeface="Trebuchet MS"/>
                        <a:cs typeface="Trebuchet MS"/>
                      </a:endParaRPr>
                    </a:p>
                  </a:txBody>
                  <a:tcPr marL="0" marR="0" marT="26034" marB="0">
                    <a:lnT w="6350">
                      <a:solidFill>
                        <a:srgbClr val="221F1F"/>
                      </a:solidFill>
                      <a:prstDash val="solid"/>
                    </a:lnT>
                    <a:lnB w="6350">
                      <a:solidFill>
                        <a:srgbClr val="221F1F"/>
                      </a:solidFill>
                      <a:prstDash val="solid"/>
                    </a:lnB>
                    <a:solidFill>
                      <a:schemeClr val="accent2">
                        <a:lumMod val="20000"/>
                        <a:lumOff val="80000"/>
                      </a:schemeClr>
                    </a:solidFill>
                  </a:tcPr>
                </a:tc>
                <a:tc>
                  <a:txBody>
                    <a:bodyPr/>
                    <a:lstStyle/>
                    <a:p>
                      <a:pPr marL="9525" algn="ctr">
                        <a:lnSpc>
                          <a:spcPct val="100000"/>
                        </a:lnSpc>
                        <a:spcBef>
                          <a:spcPts val="204"/>
                        </a:spcBef>
                      </a:pPr>
                      <a:r>
                        <a:rPr sz="700" b="1" spc="-5" dirty="0">
                          <a:solidFill>
                            <a:srgbClr val="221F1F"/>
                          </a:solidFill>
                          <a:latin typeface="Trebuchet MS"/>
                          <a:cs typeface="Trebuchet MS"/>
                        </a:rPr>
                        <a:t>Point72 </a:t>
                      </a:r>
                      <a:r>
                        <a:rPr sz="700" b="1" spc="-10" dirty="0">
                          <a:solidFill>
                            <a:srgbClr val="221F1F"/>
                          </a:solidFill>
                          <a:latin typeface="Trebuchet MS"/>
                          <a:cs typeface="Trebuchet MS"/>
                        </a:rPr>
                        <a:t>Asset</a:t>
                      </a:r>
                      <a:r>
                        <a:rPr sz="700" b="1" spc="35" dirty="0">
                          <a:solidFill>
                            <a:srgbClr val="221F1F"/>
                          </a:solidFill>
                          <a:latin typeface="Trebuchet MS"/>
                          <a:cs typeface="Trebuchet MS"/>
                        </a:rPr>
                        <a:t> </a:t>
                      </a:r>
                      <a:r>
                        <a:rPr sz="700" b="1" spc="-10" dirty="0">
                          <a:solidFill>
                            <a:srgbClr val="221F1F"/>
                          </a:solidFill>
                          <a:latin typeface="Trebuchet MS"/>
                          <a:cs typeface="Trebuchet MS"/>
                        </a:rPr>
                        <a:t>Management</a:t>
                      </a:r>
                      <a:endParaRPr sz="700" b="1" dirty="0">
                        <a:latin typeface="Trebuchet MS"/>
                        <a:cs typeface="Trebuchet MS"/>
                      </a:endParaRPr>
                    </a:p>
                  </a:txBody>
                  <a:tcPr marL="0" marR="0" marT="26034" marB="0">
                    <a:lnT w="6350">
                      <a:solidFill>
                        <a:srgbClr val="221F1F"/>
                      </a:solidFill>
                      <a:prstDash val="solid"/>
                    </a:lnT>
                    <a:lnB w="6350">
                      <a:solidFill>
                        <a:srgbClr val="221F1F"/>
                      </a:solidFill>
                      <a:prstDash val="solid"/>
                    </a:lnB>
                    <a:solidFill>
                      <a:schemeClr val="accent2">
                        <a:lumMod val="20000"/>
                        <a:lumOff val="80000"/>
                      </a:schemeClr>
                    </a:solidFill>
                  </a:tcPr>
                </a:tc>
                <a:tc>
                  <a:txBody>
                    <a:bodyPr/>
                    <a:lstStyle/>
                    <a:p>
                      <a:pPr marL="83185" algn="ctr">
                        <a:lnSpc>
                          <a:spcPct val="100000"/>
                        </a:lnSpc>
                        <a:spcBef>
                          <a:spcPts val="204"/>
                        </a:spcBef>
                      </a:pPr>
                      <a:r>
                        <a:rPr sz="700" b="1" spc="-5" dirty="0">
                          <a:solidFill>
                            <a:srgbClr val="221F1F"/>
                          </a:solidFill>
                          <a:latin typeface="Trebuchet MS"/>
                          <a:cs typeface="Trebuchet MS"/>
                        </a:rPr>
                        <a:t>USA</a:t>
                      </a:r>
                      <a:endParaRPr sz="700" b="1" dirty="0">
                        <a:latin typeface="Trebuchet MS"/>
                        <a:cs typeface="Trebuchet MS"/>
                      </a:endParaRPr>
                    </a:p>
                  </a:txBody>
                  <a:tcPr marL="0" marR="0" marT="26034" marB="0">
                    <a:lnT w="6350">
                      <a:solidFill>
                        <a:srgbClr val="221F1F"/>
                      </a:solidFill>
                      <a:prstDash val="solid"/>
                    </a:lnT>
                    <a:lnB w="6350">
                      <a:solidFill>
                        <a:srgbClr val="221F1F"/>
                      </a:solidFill>
                      <a:prstDash val="solid"/>
                    </a:lnB>
                    <a:solidFill>
                      <a:schemeClr val="accent2">
                        <a:lumMod val="20000"/>
                        <a:lumOff val="80000"/>
                      </a:schemeClr>
                    </a:solidFill>
                  </a:tcPr>
                </a:tc>
                <a:tc>
                  <a:txBody>
                    <a:bodyPr/>
                    <a:lstStyle/>
                    <a:p>
                      <a:pPr marR="23495" algn="ctr">
                        <a:lnSpc>
                          <a:spcPct val="100000"/>
                        </a:lnSpc>
                        <a:spcBef>
                          <a:spcPts val="204"/>
                        </a:spcBef>
                      </a:pPr>
                      <a:r>
                        <a:rPr sz="700" b="1" spc="-5" dirty="0">
                          <a:solidFill>
                            <a:srgbClr val="221F1F"/>
                          </a:solidFill>
                          <a:latin typeface="Trebuchet MS"/>
                          <a:cs typeface="Trebuchet MS"/>
                        </a:rPr>
                        <a:t>Multi-strategy</a:t>
                      </a:r>
                      <a:endParaRPr sz="700" b="1" dirty="0">
                        <a:latin typeface="Trebuchet MS"/>
                        <a:cs typeface="Trebuchet MS"/>
                      </a:endParaRPr>
                    </a:p>
                  </a:txBody>
                  <a:tcPr marL="0" marR="0" marT="26034" marB="0">
                    <a:lnT w="6350">
                      <a:solidFill>
                        <a:srgbClr val="221F1F"/>
                      </a:solidFill>
                      <a:prstDash val="solid"/>
                    </a:lnT>
                    <a:lnB w="6350">
                      <a:solidFill>
                        <a:srgbClr val="221F1F"/>
                      </a:solidFill>
                      <a:prstDash val="solid"/>
                    </a:lnB>
                    <a:solidFill>
                      <a:schemeClr val="accent2">
                        <a:lumMod val="20000"/>
                        <a:lumOff val="80000"/>
                      </a:schemeClr>
                    </a:solidFill>
                  </a:tcPr>
                </a:tc>
                <a:tc>
                  <a:txBody>
                    <a:bodyPr/>
                    <a:lstStyle/>
                    <a:p>
                      <a:pPr marL="31115" algn="ctr">
                        <a:lnSpc>
                          <a:spcPct val="100000"/>
                        </a:lnSpc>
                        <a:spcBef>
                          <a:spcPts val="204"/>
                        </a:spcBef>
                      </a:pPr>
                      <a:r>
                        <a:rPr sz="700" b="1" spc="-10" dirty="0">
                          <a:latin typeface="Trebuchet MS"/>
                          <a:cs typeface="Trebuchet MS"/>
                        </a:rPr>
                        <a:t>30.6</a:t>
                      </a:r>
                      <a:endParaRPr sz="700" b="1" dirty="0">
                        <a:latin typeface="Trebuchet MS"/>
                        <a:cs typeface="Trebuchet MS"/>
                      </a:endParaRPr>
                    </a:p>
                  </a:txBody>
                  <a:tcPr marL="0" marR="0" marT="26034" marB="0">
                    <a:lnT w="6350">
                      <a:solidFill>
                        <a:srgbClr val="221F1F"/>
                      </a:solidFill>
                      <a:prstDash val="solid"/>
                    </a:lnT>
                    <a:lnB w="6350">
                      <a:solidFill>
                        <a:srgbClr val="221F1F"/>
                      </a:solidFill>
                      <a:prstDash val="solid"/>
                    </a:lnB>
                    <a:solidFill>
                      <a:schemeClr val="accent2">
                        <a:lumMod val="20000"/>
                        <a:lumOff val="80000"/>
                      </a:schemeClr>
                    </a:solidFill>
                  </a:tcPr>
                </a:tc>
                <a:extLst>
                  <a:ext uri="{0D108BD9-81ED-4DB2-BD59-A6C34878D82A}">
                    <a16:rowId xmlns:a16="http://schemas.microsoft.com/office/drawing/2014/main" val="10018"/>
                  </a:ext>
                </a:extLst>
              </a:tr>
              <a:tr h="172275">
                <a:tc>
                  <a:txBody>
                    <a:bodyPr/>
                    <a:lstStyle/>
                    <a:p>
                      <a:pPr marR="127000" algn="ctr">
                        <a:lnSpc>
                          <a:spcPct val="100000"/>
                        </a:lnSpc>
                        <a:spcBef>
                          <a:spcPts val="204"/>
                        </a:spcBef>
                      </a:pPr>
                      <a:r>
                        <a:rPr sz="700" b="0" spc="-10" dirty="0">
                          <a:solidFill>
                            <a:srgbClr val="221F1F"/>
                          </a:solidFill>
                          <a:latin typeface="Trebuchet MS"/>
                          <a:cs typeface="Trebuchet MS"/>
                        </a:rPr>
                        <a:t>19</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255" algn="ctr">
                        <a:lnSpc>
                          <a:spcPct val="100000"/>
                        </a:lnSpc>
                        <a:spcBef>
                          <a:spcPts val="204"/>
                        </a:spcBef>
                      </a:pPr>
                      <a:r>
                        <a:rPr sz="700" b="0" spc="-10" dirty="0">
                          <a:solidFill>
                            <a:srgbClr val="221F1F"/>
                          </a:solidFill>
                          <a:latin typeface="Trebuchet MS"/>
                          <a:cs typeface="Trebuchet MS"/>
                        </a:rPr>
                        <a:t>PIMCO</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24765" algn="ctr">
                        <a:lnSpc>
                          <a:spcPct val="100000"/>
                        </a:lnSpc>
                        <a:spcBef>
                          <a:spcPts val="204"/>
                        </a:spcBef>
                      </a:pPr>
                      <a:r>
                        <a:rPr sz="700" b="0" spc="-5" dirty="0">
                          <a:solidFill>
                            <a:srgbClr val="221F1F"/>
                          </a:solidFill>
                          <a:latin typeface="Trebuchet MS"/>
                          <a:cs typeface="Trebuchet MS"/>
                        </a:rPr>
                        <a:t>Credit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1115" algn="ctr">
                        <a:lnSpc>
                          <a:spcPct val="100000"/>
                        </a:lnSpc>
                        <a:spcBef>
                          <a:spcPts val="204"/>
                        </a:spcBef>
                      </a:pPr>
                      <a:r>
                        <a:rPr sz="700" b="0" spc="-10" dirty="0">
                          <a:latin typeface="Trebuchet MS"/>
                          <a:cs typeface="Trebuchet MS"/>
                        </a:rPr>
                        <a:t>30.2</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19"/>
                  </a:ext>
                </a:extLst>
              </a:tr>
              <a:tr h="172411">
                <a:tc>
                  <a:txBody>
                    <a:bodyPr/>
                    <a:lstStyle/>
                    <a:p>
                      <a:pPr marR="127000" algn="ctr">
                        <a:lnSpc>
                          <a:spcPct val="100000"/>
                        </a:lnSpc>
                        <a:spcBef>
                          <a:spcPts val="209"/>
                        </a:spcBef>
                      </a:pPr>
                      <a:r>
                        <a:rPr sz="700" b="0" spc="-10" dirty="0">
                          <a:solidFill>
                            <a:srgbClr val="221F1F"/>
                          </a:solidFill>
                          <a:latin typeface="Trebuchet MS"/>
                          <a:cs typeface="Trebuchet MS"/>
                        </a:rPr>
                        <a:t>20</a:t>
                      </a:r>
                      <a:endParaRPr sz="700" b="0">
                        <a:latin typeface="Trebuchet MS"/>
                        <a:cs typeface="Trebuchet MS"/>
                      </a:endParaRPr>
                    </a:p>
                  </a:txBody>
                  <a:tcPr marL="0" marR="0" marT="26669" marB="0">
                    <a:lnT w="6350">
                      <a:solidFill>
                        <a:srgbClr val="221F1F"/>
                      </a:solidFill>
                      <a:prstDash val="solid"/>
                    </a:lnT>
                    <a:lnB w="6350">
                      <a:solidFill>
                        <a:srgbClr val="221F1F"/>
                      </a:solidFill>
                      <a:prstDash val="solid"/>
                    </a:lnB>
                  </a:tcPr>
                </a:tc>
                <a:tc>
                  <a:txBody>
                    <a:bodyPr/>
                    <a:lstStyle/>
                    <a:p>
                      <a:pPr marL="8890" algn="ctr">
                        <a:lnSpc>
                          <a:spcPct val="100000"/>
                        </a:lnSpc>
                        <a:spcBef>
                          <a:spcPts val="209"/>
                        </a:spcBef>
                      </a:pPr>
                      <a:r>
                        <a:rPr sz="700" b="0" spc="-10" dirty="0">
                          <a:solidFill>
                            <a:srgbClr val="221F1F"/>
                          </a:solidFill>
                          <a:latin typeface="Trebuchet MS"/>
                          <a:cs typeface="Trebuchet MS"/>
                        </a:rPr>
                        <a:t>HHLR</a:t>
                      </a:r>
                      <a:r>
                        <a:rPr sz="700" b="0" spc="10" dirty="0">
                          <a:solidFill>
                            <a:srgbClr val="221F1F"/>
                          </a:solidFill>
                          <a:latin typeface="Trebuchet MS"/>
                          <a:cs typeface="Trebuchet MS"/>
                        </a:rPr>
                        <a:t> </a:t>
                      </a:r>
                      <a:r>
                        <a:rPr sz="700" b="0" spc="-5" dirty="0">
                          <a:solidFill>
                            <a:srgbClr val="221F1F"/>
                          </a:solidFill>
                          <a:latin typeface="Trebuchet MS"/>
                          <a:cs typeface="Trebuchet MS"/>
                        </a:rPr>
                        <a:t>Advisors</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tcPr>
                </a:tc>
                <a:tc>
                  <a:txBody>
                    <a:bodyPr/>
                    <a:lstStyle/>
                    <a:p>
                      <a:pPr marL="83185" algn="ctr">
                        <a:lnSpc>
                          <a:spcPct val="100000"/>
                        </a:lnSpc>
                        <a:spcBef>
                          <a:spcPts val="209"/>
                        </a:spcBef>
                      </a:pPr>
                      <a:r>
                        <a:rPr sz="700" b="0" spc="-5" dirty="0">
                          <a:solidFill>
                            <a:srgbClr val="221F1F"/>
                          </a:solidFill>
                          <a:latin typeface="Trebuchet MS"/>
                          <a:cs typeface="Trebuchet MS"/>
                        </a:rPr>
                        <a:t>Hong</a:t>
                      </a:r>
                      <a:r>
                        <a:rPr sz="700" b="0" dirty="0">
                          <a:solidFill>
                            <a:srgbClr val="221F1F"/>
                          </a:solidFill>
                          <a:latin typeface="Trebuchet MS"/>
                          <a:cs typeface="Trebuchet MS"/>
                        </a:rPr>
                        <a:t> </a:t>
                      </a:r>
                      <a:r>
                        <a:rPr sz="700" b="0" spc="-5" dirty="0">
                          <a:solidFill>
                            <a:srgbClr val="221F1F"/>
                          </a:solidFill>
                          <a:latin typeface="Trebuchet MS"/>
                          <a:cs typeface="Trebuchet MS"/>
                        </a:rPr>
                        <a:t>Kong</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tcPr>
                </a:tc>
                <a:tc>
                  <a:txBody>
                    <a:bodyPr/>
                    <a:lstStyle/>
                    <a:p>
                      <a:pPr marR="26034" algn="ctr">
                        <a:lnSpc>
                          <a:spcPct val="100000"/>
                        </a:lnSpc>
                        <a:spcBef>
                          <a:spcPts val="209"/>
                        </a:spcBef>
                      </a:pPr>
                      <a:r>
                        <a:rPr sz="700" b="0" spc="-5" dirty="0">
                          <a:solidFill>
                            <a:srgbClr val="221F1F"/>
                          </a:solidFill>
                          <a:latin typeface="Trebuchet MS"/>
                          <a:cs typeface="Trebuchet MS"/>
                        </a:rPr>
                        <a:t>Equity</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tcPr>
                </a:tc>
                <a:tc>
                  <a:txBody>
                    <a:bodyPr/>
                    <a:lstStyle/>
                    <a:p>
                      <a:pPr marL="29209" algn="ctr">
                        <a:lnSpc>
                          <a:spcPct val="100000"/>
                        </a:lnSpc>
                        <a:spcBef>
                          <a:spcPts val="209"/>
                        </a:spcBef>
                      </a:pPr>
                      <a:r>
                        <a:rPr sz="700" b="0" spc="-10" dirty="0">
                          <a:latin typeface="Trebuchet MS"/>
                          <a:cs typeface="Trebuchet MS"/>
                        </a:rPr>
                        <a:t>30</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20"/>
                  </a:ext>
                </a:extLst>
              </a:tr>
              <a:tr h="172411">
                <a:tc>
                  <a:txBody>
                    <a:bodyPr/>
                    <a:lstStyle/>
                    <a:p>
                      <a:pPr marR="127000" algn="ctr">
                        <a:lnSpc>
                          <a:spcPct val="100000"/>
                        </a:lnSpc>
                        <a:spcBef>
                          <a:spcPts val="209"/>
                        </a:spcBef>
                      </a:pPr>
                      <a:r>
                        <a:rPr sz="700" b="0" spc="-10" dirty="0">
                          <a:solidFill>
                            <a:srgbClr val="221F1F"/>
                          </a:solidFill>
                          <a:latin typeface="Trebuchet MS"/>
                          <a:cs typeface="Trebuchet MS"/>
                        </a:rPr>
                        <a:t>21</a:t>
                      </a:r>
                      <a:endParaRPr sz="700" b="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L="7620" algn="ctr">
                        <a:lnSpc>
                          <a:spcPct val="100000"/>
                        </a:lnSpc>
                        <a:spcBef>
                          <a:spcPts val="209"/>
                        </a:spcBef>
                      </a:pPr>
                      <a:r>
                        <a:rPr sz="700" b="0" spc="-5" dirty="0">
                          <a:solidFill>
                            <a:srgbClr val="221F1F"/>
                          </a:solidFill>
                          <a:latin typeface="Trebuchet MS"/>
                          <a:cs typeface="Trebuchet MS"/>
                        </a:rPr>
                        <a:t>Capula Investment</a:t>
                      </a:r>
                      <a:r>
                        <a:rPr sz="700" b="0" spc="3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L="83185" algn="ctr">
                        <a:lnSpc>
                          <a:spcPct val="100000"/>
                        </a:lnSpc>
                        <a:spcBef>
                          <a:spcPts val="209"/>
                        </a:spcBef>
                      </a:pPr>
                      <a:r>
                        <a:rPr sz="700" b="0" spc="-5" dirty="0">
                          <a:solidFill>
                            <a:srgbClr val="221F1F"/>
                          </a:solidFill>
                          <a:latin typeface="Trebuchet MS"/>
                          <a:cs typeface="Trebuchet MS"/>
                        </a:rPr>
                        <a:t>UK</a:t>
                      </a:r>
                      <a:endParaRPr sz="700" b="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R="24765" algn="ctr">
                        <a:lnSpc>
                          <a:spcPct val="100000"/>
                        </a:lnSpc>
                        <a:spcBef>
                          <a:spcPts val="209"/>
                        </a:spcBef>
                      </a:pPr>
                      <a:r>
                        <a:rPr sz="700" b="0" spc="-5" dirty="0">
                          <a:solidFill>
                            <a:srgbClr val="221F1F"/>
                          </a:solidFill>
                          <a:latin typeface="Trebuchet MS"/>
                          <a:cs typeface="Trebuchet MS"/>
                        </a:rPr>
                        <a:t>Credit</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L="31115" algn="ctr">
                        <a:lnSpc>
                          <a:spcPct val="100000"/>
                        </a:lnSpc>
                        <a:spcBef>
                          <a:spcPts val="209"/>
                        </a:spcBef>
                      </a:pPr>
                      <a:r>
                        <a:rPr sz="700" b="0" spc="-10" dirty="0">
                          <a:latin typeface="Trebuchet MS"/>
                          <a:cs typeface="Trebuchet MS"/>
                        </a:rPr>
                        <a:t>26.9</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21"/>
                  </a:ext>
                </a:extLst>
              </a:tr>
              <a:tr h="172328">
                <a:tc>
                  <a:txBody>
                    <a:bodyPr/>
                    <a:lstStyle/>
                    <a:p>
                      <a:pPr marR="127000" algn="ctr">
                        <a:lnSpc>
                          <a:spcPct val="100000"/>
                        </a:lnSpc>
                        <a:spcBef>
                          <a:spcPts val="204"/>
                        </a:spcBef>
                      </a:pPr>
                      <a:r>
                        <a:rPr sz="700" b="0" spc="-10" dirty="0">
                          <a:solidFill>
                            <a:srgbClr val="221F1F"/>
                          </a:solidFill>
                          <a:latin typeface="Trebuchet MS"/>
                          <a:cs typeface="Trebuchet MS"/>
                        </a:rPr>
                        <a:t>22</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255" algn="ctr">
                        <a:lnSpc>
                          <a:spcPct val="100000"/>
                        </a:lnSpc>
                        <a:spcBef>
                          <a:spcPts val="204"/>
                        </a:spcBef>
                      </a:pPr>
                      <a:r>
                        <a:rPr sz="700" b="0" spc="-5" dirty="0">
                          <a:solidFill>
                            <a:srgbClr val="221F1F"/>
                          </a:solidFill>
                          <a:latin typeface="Trebuchet MS"/>
                          <a:cs typeface="Trebuchet MS"/>
                        </a:rPr>
                        <a:t>Viking </a:t>
                      </a:r>
                      <a:r>
                        <a:rPr sz="700" b="0" spc="-10" dirty="0">
                          <a:solidFill>
                            <a:srgbClr val="221F1F"/>
                          </a:solidFill>
                          <a:latin typeface="Trebuchet MS"/>
                          <a:cs typeface="Trebuchet MS"/>
                        </a:rPr>
                        <a:t>Global</a:t>
                      </a:r>
                      <a:r>
                        <a:rPr sz="700" b="0" spc="25" dirty="0">
                          <a:solidFill>
                            <a:srgbClr val="221F1F"/>
                          </a:solidFill>
                          <a:latin typeface="Trebuchet MS"/>
                          <a:cs typeface="Trebuchet MS"/>
                        </a:rPr>
                        <a:t> </a:t>
                      </a:r>
                      <a:r>
                        <a:rPr sz="700" b="0" spc="-10" dirty="0">
                          <a:solidFill>
                            <a:srgbClr val="221F1F"/>
                          </a:solidFill>
                          <a:latin typeface="Trebuchet MS"/>
                          <a:cs typeface="Trebuchet MS"/>
                        </a:rPr>
                        <a:t>Investors</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83185" algn="ctr">
                        <a:lnSpc>
                          <a:spcPct val="100000"/>
                        </a:lnSpc>
                        <a:spcBef>
                          <a:spcPts val="204"/>
                        </a:spcBef>
                      </a:pPr>
                      <a:r>
                        <a:rPr sz="700" b="0" spc="-5" dirty="0">
                          <a:solidFill>
                            <a:srgbClr val="221F1F"/>
                          </a:solidFill>
                          <a:latin typeface="Trebuchet MS"/>
                          <a:cs typeface="Trebuchet MS"/>
                        </a:rPr>
                        <a:t>USA</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26034" algn="ctr">
                        <a:lnSpc>
                          <a:spcPct val="100000"/>
                        </a:lnSpc>
                        <a:spcBef>
                          <a:spcPts val="204"/>
                        </a:spcBef>
                      </a:pPr>
                      <a:r>
                        <a:rPr sz="700" b="0" spc="-5" dirty="0">
                          <a:solidFill>
                            <a:srgbClr val="221F1F"/>
                          </a:solidFill>
                          <a:latin typeface="Trebuchet MS"/>
                          <a:cs typeface="Trebuchet MS"/>
                        </a:rPr>
                        <a:t>Equity</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29209" algn="ctr">
                        <a:lnSpc>
                          <a:spcPct val="100000"/>
                        </a:lnSpc>
                        <a:spcBef>
                          <a:spcPts val="204"/>
                        </a:spcBef>
                      </a:pPr>
                      <a:r>
                        <a:rPr sz="700" b="0" spc="-10" dirty="0">
                          <a:latin typeface="Trebuchet MS"/>
                          <a:cs typeface="Trebuchet MS"/>
                        </a:rPr>
                        <a:t>26</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22"/>
                  </a:ext>
                </a:extLst>
              </a:tr>
              <a:tr h="172356">
                <a:tc>
                  <a:txBody>
                    <a:bodyPr/>
                    <a:lstStyle/>
                    <a:p>
                      <a:pPr marR="127000" algn="ctr">
                        <a:lnSpc>
                          <a:spcPct val="100000"/>
                        </a:lnSpc>
                        <a:spcBef>
                          <a:spcPts val="209"/>
                        </a:spcBef>
                      </a:pPr>
                      <a:r>
                        <a:rPr sz="700" b="0" spc="-10" dirty="0">
                          <a:solidFill>
                            <a:srgbClr val="221F1F"/>
                          </a:solidFill>
                          <a:latin typeface="Trebuchet MS"/>
                          <a:cs typeface="Trebuchet MS"/>
                        </a:rPr>
                        <a:t>23</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L="7620" algn="ctr">
                        <a:lnSpc>
                          <a:spcPct val="100000"/>
                        </a:lnSpc>
                        <a:spcBef>
                          <a:spcPts val="209"/>
                        </a:spcBef>
                      </a:pPr>
                      <a:r>
                        <a:rPr sz="700" b="0" spc="-5" dirty="0">
                          <a:solidFill>
                            <a:srgbClr val="221F1F"/>
                          </a:solidFill>
                          <a:latin typeface="Trebuchet MS"/>
                          <a:cs typeface="Trebuchet MS"/>
                        </a:rPr>
                        <a:t>Wellington</a:t>
                      </a:r>
                      <a:r>
                        <a:rPr sz="700" b="0" spc="35"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L="83185" algn="ctr">
                        <a:lnSpc>
                          <a:spcPct val="100000"/>
                        </a:lnSpc>
                        <a:spcBef>
                          <a:spcPts val="209"/>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R="23495" algn="ctr">
                        <a:lnSpc>
                          <a:spcPct val="100000"/>
                        </a:lnSpc>
                        <a:spcBef>
                          <a:spcPts val="209"/>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L="31115" algn="ctr">
                        <a:lnSpc>
                          <a:spcPct val="100000"/>
                        </a:lnSpc>
                        <a:spcBef>
                          <a:spcPts val="209"/>
                        </a:spcBef>
                      </a:pPr>
                      <a:r>
                        <a:rPr sz="700" b="0" spc="-10" dirty="0">
                          <a:latin typeface="Trebuchet MS"/>
                          <a:cs typeface="Trebuchet MS"/>
                        </a:rPr>
                        <a:t>24.9</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23"/>
                  </a:ext>
                </a:extLst>
              </a:tr>
              <a:tr h="172369">
                <a:tc>
                  <a:txBody>
                    <a:bodyPr/>
                    <a:lstStyle/>
                    <a:p>
                      <a:pPr marR="127000" algn="ctr">
                        <a:lnSpc>
                          <a:spcPct val="100000"/>
                        </a:lnSpc>
                        <a:spcBef>
                          <a:spcPts val="209"/>
                        </a:spcBef>
                      </a:pPr>
                      <a:r>
                        <a:rPr sz="700" b="0" spc="-10" dirty="0">
                          <a:solidFill>
                            <a:srgbClr val="221F1F"/>
                          </a:solidFill>
                          <a:latin typeface="Trebuchet MS"/>
                          <a:cs typeface="Trebuchet MS"/>
                        </a:rPr>
                        <a:t>24</a:t>
                      </a:r>
                      <a:endParaRPr sz="700" b="0">
                        <a:latin typeface="Trebuchet MS"/>
                        <a:cs typeface="Trebuchet MS"/>
                      </a:endParaRPr>
                    </a:p>
                  </a:txBody>
                  <a:tcPr marL="0" marR="0" marT="26669" marB="0">
                    <a:lnT w="6350">
                      <a:solidFill>
                        <a:srgbClr val="221F1F"/>
                      </a:solidFill>
                      <a:prstDash val="solid"/>
                    </a:lnT>
                    <a:lnB w="6350">
                      <a:solidFill>
                        <a:srgbClr val="221F1F"/>
                      </a:solidFill>
                      <a:prstDash val="solid"/>
                    </a:lnB>
                  </a:tcPr>
                </a:tc>
                <a:tc>
                  <a:txBody>
                    <a:bodyPr/>
                    <a:lstStyle/>
                    <a:p>
                      <a:pPr marL="8890" algn="ctr">
                        <a:lnSpc>
                          <a:spcPct val="100000"/>
                        </a:lnSpc>
                        <a:spcBef>
                          <a:spcPts val="209"/>
                        </a:spcBef>
                      </a:pPr>
                      <a:r>
                        <a:rPr sz="700" b="0" spc="-5" dirty="0">
                          <a:solidFill>
                            <a:srgbClr val="221F1F"/>
                          </a:solidFill>
                          <a:latin typeface="Trebuchet MS"/>
                          <a:cs typeface="Trebuchet MS"/>
                        </a:rPr>
                        <a:t>Baupost</a:t>
                      </a:r>
                      <a:r>
                        <a:rPr sz="700" b="0" spc="20" dirty="0">
                          <a:solidFill>
                            <a:srgbClr val="221F1F"/>
                          </a:solidFill>
                          <a:latin typeface="Trebuchet MS"/>
                          <a:cs typeface="Trebuchet MS"/>
                        </a:rPr>
                        <a:t> </a:t>
                      </a:r>
                      <a:r>
                        <a:rPr sz="700" b="0" spc="-5" dirty="0">
                          <a:solidFill>
                            <a:srgbClr val="221F1F"/>
                          </a:solidFill>
                          <a:latin typeface="Trebuchet MS"/>
                          <a:cs typeface="Trebuchet MS"/>
                        </a:rPr>
                        <a:t>Group</a:t>
                      </a:r>
                      <a:endParaRPr sz="700" b="0">
                        <a:latin typeface="Trebuchet MS"/>
                        <a:cs typeface="Trebuchet MS"/>
                      </a:endParaRPr>
                    </a:p>
                  </a:txBody>
                  <a:tcPr marL="0" marR="0" marT="26669" marB="0">
                    <a:lnT w="6350">
                      <a:solidFill>
                        <a:srgbClr val="221F1F"/>
                      </a:solidFill>
                      <a:prstDash val="solid"/>
                    </a:lnT>
                    <a:lnB w="6350">
                      <a:solidFill>
                        <a:srgbClr val="221F1F"/>
                      </a:solidFill>
                      <a:prstDash val="solid"/>
                    </a:lnB>
                  </a:tcPr>
                </a:tc>
                <a:tc>
                  <a:txBody>
                    <a:bodyPr/>
                    <a:lstStyle/>
                    <a:p>
                      <a:pPr marL="83185" algn="ctr">
                        <a:lnSpc>
                          <a:spcPct val="100000"/>
                        </a:lnSpc>
                        <a:spcBef>
                          <a:spcPts val="209"/>
                        </a:spcBef>
                      </a:pPr>
                      <a:r>
                        <a:rPr sz="700" b="0" spc="-5" dirty="0">
                          <a:solidFill>
                            <a:srgbClr val="221F1F"/>
                          </a:solidFill>
                          <a:latin typeface="Trebuchet MS"/>
                          <a:cs typeface="Trebuchet MS"/>
                        </a:rPr>
                        <a:t>USA</a:t>
                      </a:r>
                      <a:endParaRPr sz="700" b="0">
                        <a:latin typeface="Trebuchet MS"/>
                        <a:cs typeface="Trebuchet MS"/>
                      </a:endParaRPr>
                    </a:p>
                  </a:txBody>
                  <a:tcPr marL="0" marR="0" marT="26669" marB="0">
                    <a:lnT w="6350">
                      <a:solidFill>
                        <a:srgbClr val="221F1F"/>
                      </a:solidFill>
                      <a:prstDash val="solid"/>
                    </a:lnT>
                    <a:lnB w="6350">
                      <a:solidFill>
                        <a:srgbClr val="221F1F"/>
                      </a:solidFill>
                      <a:prstDash val="solid"/>
                    </a:lnB>
                  </a:tcPr>
                </a:tc>
                <a:tc>
                  <a:txBody>
                    <a:bodyPr/>
                    <a:lstStyle/>
                    <a:p>
                      <a:pPr marR="26034" algn="ctr">
                        <a:lnSpc>
                          <a:spcPct val="100000"/>
                        </a:lnSpc>
                        <a:spcBef>
                          <a:spcPts val="209"/>
                        </a:spcBef>
                      </a:pPr>
                      <a:r>
                        <a:rPr sz="700" b="0" spc="-5" dirty="0">
                          <a:solidFill>
                            <a:srgbClr val="221F1F"/>
                          </a:solidFill>
                          <a:latin typeface="Trebuchet MS"/>
                          <a:cs typeface="Trebuchet MS"/>
                        </a:rPr>
                        <a:t>Equity</a:t>
                      </a:r>
                      <a:endParaRPr sz="700" b="0">
                        <a:latin typeface="Trebuchet MS"/>
                        <a:cs typeface="Trebuchet MS"/>
                      </a:endParaRPr>
                    </a:p>
                  </a:txBody>
                  <a:tcPr marL="0" marR="0" marT="26669" marB="0">
                    <a:lnT w="6350">
                      <a:solidFill>
                        <a:srgbClr val="221F1F"/>
                      </a:solidFill>
                      <a:prstDash val="solid"/>
                    </a:lnT>
                    <a:lnB w="6350">
                      <a:solidFill>
                        <a:srgbClr val="221F1F"/>
                      </a:solidFill>
                      <a:prstDash val="solid"/>
                    </a:lnB>
                  </a:tcPr>
                </a:tc>
                <a:tc>
                  <a:txBody>
                    <a:bodyPr/>
                    <a:lstStyle/>
                    <a:p>
                      <a:pPr marL="29209" algn="ctr">
                        <a:lnSpc>
                          <a:spcPct val="100000"/>
                        </a:lnSpc>
                        <a:spcBef>
                          <a:spcPts val="209"/>
                        </a:spcBef>
                      </a:pPr>
                      <a:r>
                        <a:rPr sz="700" b="0" spc="-10" dirty="0">
                          <a:latin typeface="Trebuchet MS"/>
                          <a:cs typeface="Trebuchet MS"/>
                        </a:rPr>
                        <a:t>24</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24"/>
                  </a:ext>
                </a:extLst>
              </a:tr>
              <a:tr h="172369">
                <a:tc>
                  <a:txBody>
                    <a:bodyPr/>
                    <a:lstStyle/>
                    <a:p>
                      <a:pPr marR="127000" algn="ctr">
                        <a:lnSpc>
                          <a:spcPct val="100000"/>
                        </a:lnSpc>
                        <a:spcBef>
                          <a:spcPts val="210"/>
                        </a:spcBef>
                      </a:pPr>
                      <a:r>
                        <a:rPr sz="700" b="0" spc="-10" dirty="0">
                          <a:solidFill>
                            <a:srgbClr val="221F1F"/>
                          </a:solidFill>
                          <a:latin typeface="Trebuchet MS"/>
                          <a:cs typeface="Trebuchet MS"/>
                        </a:rPr>
                        <a:t>25</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9525" algn="ctr">
                        <a:lnSpc>
                          <a:spcPct val="100000"/>
                        </a:lnSpc>
                        <a:spcBef>
                          <a:spcPts val="210"/>
                        </a:spcBef>
                      </a:pPr>
                      <a:r>
                        <a:rPr sz="700" b="0" spc="-5" dirty="0">
                          <a:solidFill>
                            <a:srgbClr val="221F1F"/>
                          </a:solidFill>
                          <a:latin typeface="Trebuchet MS"/>
                          <a:cs typeface="Trebuchet MS"/>
                        </a:rPr>
                        <a:t>Balyasny </a:t>
                      </a:r>
                      <a:r>
                        <a:rPr sz="700" b="0" spc="-10" dirty="0">
                          <a:solidFill>
                            <a:srgbClr val="221F1F"/>
                          </a:solidFill>
                          <a:latin typeface="Trebuchet MS"/>
                          <a:cs typeface="Trebuchet MS"/>
                        </a:rPr>
                        <a:t>Asset</a:t>
                      </a:r>
                      <a:r>
                        <a:rPr sz="700" b="0" spc="7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83185" algn="ctr">
                        <a:lnSpc>
                          <a:spcPct val="100000"/>
                        </a:lnSpc>
                        <a:spcBef>
                          <a:spcPts val="210"/>
                        </a:spcBef>
                      </a:pPr>
                      <a:r>
                        <a:rPr sz="700" b="0" spc="-5" dirty="0">
                          <a:solidFill>
                            <a:srgbClr val="221F1F"/>
                          </a:solidFill>
                          <a:latin typeface="Trebuchet MS"/>
                          <a:cs typeface="Trebuchet MS"/>
                        </a:rPr>
                        <a:t>USA</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R="23495" algn="ctr">
                        <a:lnSpc>
                          <a:spcPct val="100000"/>
                        </a:lnSpc>
                        <a:spcBef>
                          <a:spcPts val="210"/>
                        </a:spcBef>
                      </a:pPr>
                      <a:r>
                        <a:rPr sz="700" b="0" spc="-5" dirty="0">
                          <a:solidFill>
                            <a:srgbClr val="221F1F"/>
                          </a:solidFill>
                          <a:latin typeface="Trebuchet MS"/>
                          <a:cs typeface="Trebuchet MS"/>
                        </a:rPr>
                        <a:t>Multi-strategy</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29209" algn="ctr">
                        <a:lnSpc>
                          <a:spcPct val="100000"/>
                        </a:lnSpc>
                        <a:spcBef>
                          <a:spcPts val="210"/>
                        </a:spcBef>
                      </a:pPr>
                      <a:r>
                        <a:rPr sz="700" b="0" spc="-10" dirty="0">
                          <a:latin typeface="Trebuchet MS"/>
                          <a:cs typeface="Trebuchet MS"/>
                        </a:rPr>
                        <a:t>21</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25"/>
                  </a:ext>
                </a:extLst>
              </a:tr>
            </a:tbl>
          </a:graphicData>
        </a:graphic>
      </p:graphicFrame>
      <p:graphicFrame>
        <p:nvGraphicFramePr>
          <p:cNvPr id="46" name="object 13">
            <a:extLst>
              <a:ext uri="{FF2B5EF4-FFF2-40B4-BE49-F238E27FC236}">
                <a16:creationId xmlns:a16="http://schemas.microsoft.com/office/drawing/2014/main" id="{252CBFD9-E58E-6EAF-E0C9-9A7B94B32652}"/>
              </a:ext>
            </a:extLst>
          </p:cNvPr>
          <p:cNvGraphicFramePr>
            <a:graphicFrameLocks noGrp="1"/>
          </p:cNvGraphicFramePr>
          <p:nvPr>
            <p:extLst>
              <p:ext uri="{D42A27DB-BD31-4B8C-83A1-F6EECF244321}">
                <p14:modId xmlns:p14="http://schemas.microsoft.com/office/powerpoint/2010/main" val="183896219"/>
              </p:ext>
            </p:extLst>
          </p:nvPr>
        </p:nvGraphicFramePr>
        <p:xfrm>
          <a:off x="6085325" y="1297662"/>
          <a:ext cx="5866529" cy="4595146"/>
        </p:xfrm>
        <a:graphic>
          <a:graphicData uri="http://schemas.openxmlformats.org/drawingml/2006/table">
            <a:tbl>
              <a:tblPr firstRow="1" bandRow="1">
                <a:tableStyleId>{2D5ABB26-0587-4C30-8999-92F81FD0307C}</a:tableStyleId>
              </a:tblPr>
              <a:tblGrid>
                <a:gridCol w="678120">
                  <a:extLst>
                    <a:ext uri="{9D8B030D-6E8A-4147-A177-3AD203B41FA5}">
                      <a16:colId xmlns:a16="http://schemas.microsoft.com/office/drawing/2014/main" val="20000"/>
                    </a:ext>
                  </a:extLst>
                </a:gridCol>
                <a:gridCol w="2149552">
                  <a:extLst>
                    <a:ext uri="{9D8B030D-6E8A-4147-A177-3AD203B41FA5}">
                      <a16:colId xmlns:a16="http://schemas.microsoft.com/office/drawing/2014/main" val="20001"/>
                    </a:ext>
                  </a:extLst>
                </a:gridCol>
                <a:gridCol w="1044264">
                  <a:extLst>
                    <a:ext uri="{9D8B030D-6E8A-4147-A177-3AD203B41FA5}">
                      <a16:colId xmlns:a16="http://schemas.microsoft.com/office/drawing/2014/main" val="20002"/>
                    </a:ext>
                  </a:extLst>
                </a:gridCol>
                <a:gridCol w="906446">
                  <a:extLst>
                    <a:ext uri="{9D8B030D-6E8A-4147-A177-3AD203B41FA5}">
                      <a16:colId xmlns:a16="http://schemas.microsoft.com/office/drawing/2014/main" val="20003"/>
                    </a:ext>
                  </a:extLst>
                </a:gridCol>
                <a:gridCol w="1088147">
                  <a:extLst>
                    <a:ext uri="{9D8B030D-6E8A-4147-A177-3AD203B41FA5}">
                      <a16:colId xmlns:a16="http://schemas.microsoft.com/office/drawing/2014/main" val="20004"/>
                    </a:ext>
                  </a:extLst>
                </a:gridCol>
              </a:tblGrid>
              <a:tr h="287836">
                <a:tc>
                  <a:txBody>
                    <a:bodyPr/>
                    <a:lstStyle/>
                    <a:p>
                      <a:pPr marR="150495" algn="ctr">
                        <a:lnSpc>
                          <a:spcPct val="100000"/>
                        </a:lnSpc>
                        <a:spcBef>
                          <a:spcPts val="530"/>
                        </a:spcBef>
                      </a:pPr>
                      <a:r>
                        <a:rPr sz="900" b="1" spc="-5" dirty="0">
                          <a:solidFill>
                            <a:srgbClr val="FFFFFF"/>
                          </a:solidFill>
                          <a:latin typeface="Noto Sans CJK HK"/>
                          <a:cs typeface="Noto Sans CJK HK"/>
                        </a:rPr>
                        <a:t>排名</a:t>
                      </a:r>
                      <a:endParaRPr sz="900" dirty="0">
                        <a:latin typeface="Noto Sans CJK HK"/>
                        <a:cs typeface="Noto Sans CJK HK"/>
                      </a:endParaRPr>
                    </a:p>
                  </a:txBody>
                  <a:tcPr marL="0" marR="0" marT="67310" marB="0">
                    <a:lnB w="6350">
                      <a:solidFill>
                        <a:srgbClr val="221F1F"/>
                      </a:solidFill>
                      <a:prstDash val="solid"/>
                    </a:lnB>
                    <a:solidFill>
                      <a:srgbClr val="165C59"/>
                    </a:solidFill>
                  </a:tcPr>
                </a:tc>
                <a:tc>
                  <a:txBody>
                    <a:bodyPr/>
                    <a:lstStyle/>
                    <a:p>
                      <a:pPr marL="40005" algn="ctr">
                        <a:lnSpc>
                          <a:spcPct val="100000"/>
                        </a:lnSpc>
                        <a:spcBef>
                          <a:spcPts val="530"/>
                        </a:spcBef>
                      </a:pPr>
                      <a:r>
                        <a:rPr sz="900" b="1" dirty="0">
                          <a:solidFill>
                            <a:srgbClr val="FFFFFF"/>
                          </a:solidFill>
                          <a:latin typeface="Noto Sans CJK HK"/>
                          <a:cs typeface="Noto Sans CJK HK"/>
                        </a:rPr>
                        <a:t>基金公司</a:t>
                      </a:r>
                      <a:endParaRPr sz="900" dirty="0">
                        <a:latin typeface="Noto Sans CJK HK"/>
                        <a:cs typeface="Noto Sans CJK HK"/>
                      </a:endParaRPr>
                    </a:p>
                  </a:txBody>
                  <a:tcPr marL="0" marR="0" marT="67310" marB="0">
                    <a:lnB w="6350">
                      <a:solidFill>
                        <a:srgbClr val="221F1F"/>
                      </a:solidFill>
                      <a:prstDash val="solid"/>
                    </a:lnB>
                    <a:solidFill>
                      <a:srgbClr val="165C59"/>
                    </a:solidFill>
                  </a:tcPr>
                </a:tc>
                <a:tc>
                  <a:txBody>
                    <a:bodyPr/>
                    <a:lstStyle/>
                    <a:p>
                      <a:pPr marL="127000" algn="ctr">
                        <a:lnSpc>
                          <a:spcPct val="100000"/>
                        </a:lnSpc>
                        <a:spcBef>
                          <a:spcPts val="530"/>
                        </a:spcBef>
                      </a:pPr>
                      <a:r>
                        <a:rPr sz="900" b="1" spc="-5" dirty="0">
                          <a:solidFill>
                            <a:srgbClr val="FFFFFF"/>
                          </a:solidFill>
                          <a:latin typeface="Noto Sans CJK HK"/>
                          <a:cs typeface="Noto Sans CJK HK"/>
                        </a:rPr>
                        <a:t>國家</a:t>
                      </a:r>
                      <a:endParaRPr sz="900">
                        <a:latin typeface="Noto Sans CJK HK"/>
                        <a:cs typeface="Noto Sans CJK HK"/>
                      </a:endParaRPr>
                    </a:p>
                  </a:txBody>
                  <a:tcPr marL="0" marR="0" marT="67310" marB="0">
                    <a:lnB w="6350">
                      <a:solidFill>
                        <a:srgbClr val="221F1F"/>
                      </a:solidFill>
                      <a:prstDash val="solid"/>
                    </a:lnB>
                    <a:solidFill>
                      <a:srgbClr val="165C59"/>
                    </a:solidFill>
                  </a:tcPr>
                </a:tc>
                <a:tc>
                  <a:txBody>
                    <a:bodyPr/>
                    <a:lstStyle/>
                    <a:p>
                      <a:pPr marR="53340" algn="ctr">
                        <a:lnSpc>
                          <a:spcPct val="100000"/>
                        </a:lnSpc>
                        <a:spcBef>
                          <a:spcPts val="530"/>
                        </a:spcBef>
                      </a:pPr>
                      <a:r>
                        <a:rPr sz="900" b="1" spc="-5" dirty="0">
                          <a:solidFill>
                            <a:srgbClr val="FFFFFF"/>
                          </a:solidFill>
                          <a:latin typeface="Noto Sans CJK HK"/>
                          <a:cs typeface="Noto Sans CJK HK"/>
                        </a:rPr>
                        <a:t>策略</a:t>
                      </a:r>
                      <a:endParaRPr sz="900">
                        <a:latin typeface="Noto Sans CJK HK"/>
                        <a:cs typeface="Noto Sans CJK HK"/>
                      </a:endParaRPr>
                    </a:p>
                  </a:txBody>
                  <a:tcPr marL="0" marR="0" marT="67310" marB="0">
                    <a:lnB w="6350">
                      <a:solidFill>
                        <a:srgbClr val="221F1F"/>
                      </a:solidFill>
                      <a:prstDash val="solid"/>
                    </a:lnB>
                    <a:solidFill>
                      <a:srgbClr val="165C59"/>
                    </a:solidFill>
                  </a:tcPr>
                </a:tc>
                <a:tc>
                  <a:txBody>
                    <a:bodyPr/>
                    <a:lstStyle/>
                    <a:p>
                      <a:pPr marL="11430" algn="ctr">
                        <a:lnSpc>
                          <a:spcPct val="100000"/>
                        </a:lnSpc>
                        <a:spcBef>
                          <a:spcPts val="530"/>
                        </a:spcBef>
                      </a:pPr>
                      <a:r>
                        <a:rPr sz="900" b="1" spc="85" dirty="0">
                          <a:solidFill>
                            <a:srgbClr val="FFFFFF"/>
                          </a:solidFill>
                          <a:latin typeface="Noto Sans CJK HK"/>
                          <a:cs typeface="Noto Sans CJK HK"/>
                        </a:rPr>
                        <a:t>AuM</a:t>
                      </a:r>
                      <a:r>
                        <a:rPr sz="900" b="1" spc="40" dirty="0">
                          <a:solidFill>
                            <a:srgbClr val="FFFFFF"/>
                          </a:solidFill>
                          <a:latin typeface="Noto Sans CJK HK"/>
                          <a:cs typeface="Noto Sans CJK HK"/>
                        </a:rPr>
                        <a:t> </a:t>
                      </a:r>
                      <a:r>
                        <a:rPr sz="900" b="1" spc="-5" dirty="0">
                          <a:solidFill>
                            <a:srgbClr val="FFFFFF"/>
                          </a:solidFill>
                          <a:latin typeface="Noto Sans CJK HK"/>
                          <a:cs typeface="Noto Sans CJK HK"/>
                        </a:rPr>
                        <a:t>Billion</a:t>
                      </a:r>
                      <a:endParaRPr sz="900" dirty="0">
                        <a:latin typeface="Noto Sans CJK HK"/>
                        <a:cs typeface="Noto Sans CJK HK"/>
                      </a:endParaRPr>
                    </a:p>
                  </a:txBody>
                  <a:tcPr marL="0" marR="0" marT="67310" marB="0">
                    <a:lnB w="6350">
                      <a:solidFill>
                        <a:srgbClr val="221F1F"/>
                      </a:solidFill>
                      <a:prstDash val="solid"/>
                    </a:lnB>
                    <a:solidFill>
                      <a:srgbClr val="165C59"/>
                    </a:solidFill>
                  </a:tcPr>
                </a:tc>
                <a:extLst>
                  <a:ext uri="{0D108BD9-81ED-4DB2-BD59-A6C34878D82A}">
                    <a16:rowId xmlns:a16="http://schemas.microsoft.com/office/drawing/2014/main" val="10000"/>
                  </a:ext>
                </a:extLst>
              </a:tr>
              <a:tr h="173422">
                <a:tc>
                  <a:txBody>
                    <a:bodyPr/>
                    <a:lstStyle/>
                    <a:p>
                      <a:pPr marR="150495" algn="ctr">
                        <a:lnSpc>
                          <a:spcPct val="100000"/>
                        </a:lnSpc>
                        <a:spcBef>
                          <a:spcPts val="200"/>
                        </a:spcBef>
                      </a:pPr>
                      <a:r>
                        <a:rPr sz="700" b="0" spc="-15" dirty="0">
                          <a:solidFill>
                            <a:srgbClr val="221F1F"/>
                          </a:solidFill>
                          <a:latin typeface="Trebuchet MS"/>
                          <a:cs typeface="Trebuchet MS"/>
                        </a:rPr>
                        <a:t>26</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tcPr>
                </a:tc>
                <a:tc>
                  <a:txBody>
                    <a:bodyPr/>
                    <a:lstStyle/>
                    <a:p>
                      <a:pPr marL="36830" algn="ctr">
                        <a:lnSpc>
                          <a:spcPct val="100000"/>
                        </a:lnSpc>
                        <a:spcBef>
                          <a:spcPts val="200"/>
                        </a:spcBef>
                      </a:pPr>
                      <a:r>
                        <a:rPr sz="700" b="0" spc="-5" dirty="0">
                          <a:solidFill>
                            <a:srgbClr val="221F1F"/>
                          </a:solidFill>
                          <a:latin typeface="Trebuchet MS"/>
                          <a:cs typeface="Trebuchet MS"/>
                        </a:rPr>
                        <a:t>GoldenTree </a:t>
                      </a:r>
                      <a:r>
                        <a:rPr sz="700" b="0" spc="-10" dirty="0">
                          <a:solidFill>
                            <a:srgbClr val="221F1F"/>
                          </a:solidFill>
                          <a:latin typeface="Trebuchet MS"/>
                          <a:cs typeface="Trebuchet MS"/>
                        </a:rPr>
                        <a:t>Asset</a:t>
                      </a:r>
                      <a:r>
                        <a:rPr sz="700" b="0" spc="65" dirty="0">
                          <a:solidFill>
                            <a:srgbClr val="221F1F"/>
                          </a:solidFill>
                          <a:latin typeface="Trebuchet MS"/>
                          <a:cs typeface="Trebuchet MS"/>
                        </a:rPr>
                        <a:t> </a:t>
                      </a:r>
                      <a:r>
                        <a:rPr sz="700" b="0" spc="-5" dirty="0">
                          <a:solidFill>
                            <a:srgbClr val="221F1F"/>
                          </a:solidFill>
                          <a:latin typeface="Trebuchet MS"/>
                          <a:cs typeface="Trebuchet MS"/>
                        </a:rPr>
                        <a:t>Management</a:t>
                      </a:r>
                      <a:endParaRPr sz="700" b="0">
                        <a:latin typeface="Trebuchet MS"/>
                        <a:cs typeface="Trebuchet MS"/>
                      </a:endParaRPr>
                    </a:p>
                  </a:txBody>
                  <a:tcPr marL="0" marR="0" marT="25400" marB="0">
                    <a:lnT w="6350">
                      <a:solidFill>
                        <a:srgbClr val="221F1F"/>
                      </a:solidFill>
                      <a:prstDash val="solid"/>
                    </a:lnT>
                    <a:lnB w="6350">
                      <a:solidFill>
                        <a:srgbClr val="221F1F"/>
                      </a:solidFill>
                      <a:prstDash val="solid"/>
                    </a:lnB>
                  </a:tcPr>
                </a:tc>
                <a:tc>
                  <a:txBody>
                    <a:bodyPr/>
                    <a:lstStyle/>
                    <a:p>
                      <a:pPr marL="127635" algn="ctr">
                        <a:lnSpc>
                          <a:spcPct val="100000"/>
                        </a:lnSpc>
                        <a:spcBef>
                          <a:spcPts val="200"/>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tcPr>
                </a:tc>
                <a:tc>
                  <a:txBody>
                    <a:bodyPr/>
                    <a:lstStyle/>
                    <a:p>
                      <a:pPr marR="53340" algn="ctr">
                        <a:lnSpc>
                          <a:spcPct val="100000"/>
                        </a:lnSpc>
                        <a:spcBef>
                          <a:spcPts val="200"/>
                        </a:spcBef>
                      </a:pPr>
                      <a:r>
                        <a:rPr sz="700" b="0" spc="-5" dirty="0">
                          <a:solidFill>
                            <a:srgbClr val="221F1F"/>
                          </a:solidFill>
                          <a:latin typeface="Trebuchet MS"/>
                          <a:cs typeface="Trebuchet MS"/>
                        </a:rPr>
                        <a:t>Credit</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tcPr>
                </a:tc>
                <a:tc>
                  <a:txBody>
                    <a:bodyPr/>
                    <a:lstStyle/>
                    <a:p>
                      <a:pPr marL="12700" algn="ctr">
                        <a:lnSpc>
                          <a:spcPct val="100000"/>
                        </a:lnSpc>
                        <a:spcBef>
                          <a:spcPts val="200"/>
                        </a:spcBef>
                      </a:pPr>
                      <a:r>
                        <a:rPr sz="700" b="0" spc="-10" dirty="0">
                          <a:latin typeface="Trebuchet MS"/>
                          <a:cs typeface="Trebuchet MS"/>
                        </a:rPr>
                        <a:t>20.6</a:t>
                      </a:r>
                      <a:endParaRPr sz="700" b="0" dirty="0">
                        <a:latin typeface="Trebuchet MS"/>
                        <a:cs typeface="Trebuchet MS"/>
                      </a:endParaRPr>
                    </a:p>
                  </a:txBody>
                  <a:tcPr marL="0" marR="0" marT="25400"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01"/>
                  </a:ext>
                </a:extLst>
              </a:tr>
              <a:tr h="173420">
                <a:tc>
                  <a:txBody>
                    <a:bodyPr/>
                    <a:lstStyle/>
                    <a:p>
                      <a:pPr marR="150495" algn="ctr">
                        <a:lnSpc>
                          <a:spcPct val="100000"/>
                        </a:lnSpc>
                        <a:spcBef>
                          <a:spcPts val="204"/>
                        </a:spcBef>
                      </a:pPr>
                      <a:r>
                        <a:rPr sz="700" b="0" spc="-10" dirty="0">
                          <a:solidFill>
                            <a:srgbClr val="221F1F"/>
                          </a:solidFill>
                          <a:latin typeface="Trebuchet MS"/>
                          <a:cs typeface="Trebuchet MS"/>
                        </a:rPr>
                        <a:t>27</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8100" algn="ctr">
                        <a:lnSpc>
                          <a:spcPct val="100000"/>
                        </a:lnSpc>
                        <a:spcBef>
                          <a:spcPts val="204"/>
                        </a:spcBef>
                      </a:pPr>
                      <a:r>
                        <a:rPr sz="700" b="0" spc="-10" dirty="0">
                          <a:solidFill>
                            <a:srgbClr val="221F1F"/>
                          </a:solidFill>
                          <a:latin typeface="Trebuchet MS"/>
                          <a:cs typeface="Trebuchet MS"/>
                        </a:rPr>
                        <a:t>Hudson </a:t>
                      </a:r>
                      <a:r>
                        <a:rPr sz="700" b="0" spc="-5" dirty="0">
                          <a:solidFill>
                            <a:srgbClr val="221F1F"/>
                          </a:solidFill>
                          <a:latin typeface="Trebuchet MS"/>
                          <a:cs typeface="Trebuchet MS"/>
                        </a:rPr>
                        <a:t>Bay </a:t>
                      </a:r>
                      <a:r>
                        <a:rPr sz="700" b="0" spc="-10" dirty="0">
                          <a:solidFill>
                            <a:srgbClr val="221F1F"/>
                          </a:solidFill>
                          <a:latin typeface="Trebuchet MS"/>
                          <a:cs typeface="Trebuchet MS"/>
                        </a:rPr>
                        <a:t>Capital</a:t>
                      </a:r>
                      <a:r>
                        <a:rPr sz="700" b="0" spc="65"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2069" algn="ctr">
                        <a:lnSpc>
                          <a:spcPct val="100000"/>
                        </a:lnSpc>
                        <a:spcBef>
                          <a:spcPts val="204"/>
                        </a:spcBef>
                      </a:pPr>
                      <a:r>
                        <a:rPr sz="700" b="0" spc="-5" dirty="0">
                          <a:solidFill>
                            <a:srgbClr val="221F1F"/>
                          </a:solidFill>
                          <a:latin typeface="Trebuchet MS"/>
                          <a:cs typeface="Trebuchet MS"/>
                        </a:rPr>
                        <a:t>Multi-strategy</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 algn="ctr">
                        <a:lnSpc>
                          <a:spcPct val="100000"/>
                        </a:lnSpc>
                        <a:spcBef>
                          <a:spcPts val="204"/>
                        </a:spcBef>
                      </a:pPr>
                      <a:r>
                        <a:rPr sz="700" b="0" spc="-10" dirty="0">
                          <a:latin typeface="Trebuchet MS"/>
                          <a:cs typeface="Trebuchet MS"/>
                        </a:rPr>
                        <a:t>19.7</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02"/>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28</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7465" algn="ctr">
                        <a:lnSpc>
                          <a:spcPct val="100000"/>
                        </a:lnSpc>
                        <a:spcBef>
                          <a:spcPts val="204"/>
                        </a:spcBef>
                      </a:pPr>
                      <a:r>
                        <a:rPr sz="700" b="0" spc="-5" dirty="0">
                          <a:solidFill>
                            <a:srgbClr val="221F1F"/>
                          </a:solidFill>
                          <a:latin typeface="Trebuchet MS"/>
                          <a:cs typeface="Trebuchet MS"/>
                        </a:rPr>
                        <a:t>D1 </a:t>
                      </a:r>
                      <a:r>
                        <a:rPr sz="700" b="0" spc="-10" dirty="0">
                          <a:solidFill>
                            <a:srgbClr val="221F1F"/>
                          </a:solidFill>
                          <a:latin typeface="Trebuchet MS"/>
                          <a:cs typeface="Trebuchet MS"/>
                        </a:rPr>
                        <a:t>Capital</a:t>
                      </a:r>
                      <a:r>
                        <a:rPr sz="700" b="0" spc="-15" dirty="0">
                          <a:solidFill>
                            <a:srgbClr val="221F1F"/>
                          </a:solidFill>
                          <a:latin typeface="Trebuchet MS"/>
                          <a:cs typeface="Trebuchet MS"/>
                        </a:rPr>
                        <a:t> </a:t>
                      </a:r>
                      <a:r>
                        <a:rPr sz="700" b="0" spc="-5" dirty="0">
                          <a:solidFill>
                            <a:srgbClr val="221F1F"/>
                          </a:solidFill>
                          <a:latin typeface="Trebuchet MS"/>
                          <a:cs typeface="Trebuchet MS"/>
                        </a:rPr>
                        <a:t>Partners</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3975" algn="ctr">
                        <a:lnSpc>
                          <a:spcPct val="100000"/>
                        </a:lnSpc>
                        <a:spcBef>
                          <a:spcPts val="204"/>
                        </a:spcBef>
                      </a:pPr>
                      <a:r>
                        <a:rPr sz="700" b="0" spc="-5" dirty="0">
                          <a:solidFill>
                            <a:srgbClr val="221F1F"/>
                          </a:solidFill>
                          <a:latin typeface="Trebuchet MS"/>
                          <a:cs typeface="Trebuchet MS"/>
                        </a:rPr>
                        <a:t>Equity</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 algn="ctr">
                        <a:lnSpc>
                          <a:spcPct val="100000"/>
                        </a:lnSpc>
                        <a:spcBef>
                          <a:spcPts val="204"/>
                        </a:spcBef>
                      </a:pPr>
                      <a:r>
                        <a:rPr sz="700" b="0" spc="-10" dirty="0">
                          <a:latin typeface="Trebuchet MS"/>
                          <a:cs typeface="Trebuchet MS"/>
                        </a:rPr>
                        <a:t>19.5</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03"/>
                  </a:ext>
                </a:extLst>
              </a:tr>
              <a:tr h="173420">
                <a:tc>
                  <a:txBody>
                    <a:bodyPr/>
                    <a:lstStyle/>
                    <a:p>
                      <a:pPr marR="150495" algn="ctr">
                        <a:lnSpc>
                          <a:spcPct val="100000"/>
                        </a:lnSpc>
                        <a:spcBef>
                          <a:spcPts val="204"/>
                        </a:spcBef>
                      </a:pPr>
                      <a:r>
                        <a:rPr sz="700" b="0" spc="-10" dirty="0">
                          <a:solidFill>
                            <a:srgbClr val="221F1F"/>
                          </a:solidFill>
                          <a:latin typeface="Trebuchet MS"/>
                          <a:cs typeface="Trebuchet MS"/>
                        </a:rPr>
                        <a:t>29</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6830" algn="ctr">
                        <a:lnSpc>
                          <a:spcPct val="100000"/>
                        </a:lnSpc>
                        <a:spcBef>
                          <a:spcPts val="204"/>
                        </a:spcBef>
                      </a:pPr>
                      <a:r>
                        <a:rPr sz="700" b="0" spc="-5" dirty="0">
                          <a:solidFill>
                            <a:srgbClr val="221F1F"/>
                          </a:solidFill>
                          <a:latin typeface="Trebuchet MS"/>
                          <a:cs typeface="Trebuchet MS"/>
                        </a:rPr>
                        <a:t>Tiger </a:t>
                      </a:r>
                      <a:r>
                        <a:rPr sz="700" b="0" spc="-10" dirty="0">
                          <a:solidFill>
                            <a:srgbClr val="221F1F"/>
                          </a:solidFill>
                          <a:latin typeface="Trebuchet MS"/>
                          <a:cs typeface="Trebuchet MS"/>
                        </a:rPr>
                        <a:t>Global</a:t>
                      </a:r>
                      <a:r>
                        <a:rPr sz="700" b="0" spc="4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53975" algn="ctr">
                        <a:lnSpc>
                          <a:spcPct val="100000"/>
                        </a:lnSpc>
                        <a:spcBef>
                          <a:spcPts val="204"/>
                        </a:spcBef>
                      </a:pPr>
                      <a:r>
                        <a:rPr sz="700" b="0" spc="-5" dirty="0">
                          <a:solidFill>
                            <a:srgbClr val="221F1F"/>
                          </a:solidFill>
                          <a:latin typeface="Trebuchet MS"/>
                          <a:cs typeface="Trebuchet MS"/>
                        </a:rPr>
                        <a:t>Equity</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10795" algn="ctr">
                        <a:lnSpc>
                          <a:spcPct val="100000"/>
                        </a:lnSpc>
                        <a:spcBef>
                          <a:spcPts val="204"/>
                        </a:spcBef>
                      </a:pPr>
                      <a:r>
                        <a:rPr sz="700" b="0" spc="-10" dirty="0">
                          <a:latin typeface="Trebuchet MS"/>
                          <a:cs typeface="Trebuchet MS"/>
                        </a:rPr>
                        <a:t>19</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04"/>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30</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8100" algn="ctr">
                        <a:lnSpc>
                          <a:spcPct val="100000"/>
                        </a:lnSpc>
                        <a:spcBef>
                          <a:spcPts val="204"/>
                        </a:spcBef>
                      </a:pPr>
                      <a:r>
                        <a:rPr sz="700" b="0" spc="-10" dirty="0">
                          <a:solidFill>
                            <a:srgbClr val="221F1F"/>
                          </a:solidFill>
                          <a:latin typeface="Trebuchet MS"/>
                          <a:cs typeface="Trebuchet MS"/>
                        </a:rPr>
                        <a:t>Graham Capital</a:t>
                      </a:r>
                      <a:r>
                        <a:rPr sz="700" b="0" spc="2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53340" algn="ctr">
                        <a:lnSpc>
                          <a:spcPct val="100000"/>
                        </a:lnSpc>
                        <a:spcBef>
                          <a:spcPts val="204"/>
                        </a:spcBef>
                      </a:pPr>
                      <a:r>
                        <a:rPr sz="700" b="0" spc="-5" dirty="0">
                          <a:solidFill>
                            <a:srgbClr val="221F1F"/>
                          </a:solidFill>
                          <a:latin typeface="Trebuchet MS"/>
                          <a:cs typeface="Trebuchet MS"/>
                        </a:rPr>
                        <a:t>Macro</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12700" algn="ctr">
                        <a:lnSpc>
                          <a:spcPct val="100000"/>
                        </a:lnSpc>
                        <a:spcBef>
                          <a:spcPts val="204"/>
                        </a:spcBef>
                      </a:pPr>
                      <a:r>
                        <a:rPr sz="700" b="0" spc="-10" dirty="0">
                          <a:latin typeface="Trebuchet MS"/>
                          <a:cs typeface="Trebuchet MS"/>
                        </a:rPr>
                        <a:t>18.5</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05"/>
                  </a:ext>
                </a:extLst>
              </a:tr>
              <a:tr h="173558">
                <a:tc>
                  <a:txBody>
                    <a:bodyPr/>
                    <a:lstStyle/>
                    <a:p>
                      <a:pPr marR="150495" algn="ctr">
                        <a:lnSpc>
                          <a:spcPct val="100000"/>
                        </a:lnSpc>
                        <a:spcBef>
                          <a:spcPts val="204"/>
                        </a:spcBef>
                      </a:pPr>
                      <a:r>
                        <a:rPr sz="700" b="0" spc="-10" dirty="0">
                          <a:solidFill>
                            <a:srgbClr val="221F1F"/>
                          </a:solidFill>
                          <a:latin typeface="Trebuchet MS"/>
                          <a:cs typeface="Trebuchet MS"/>
                        </a:rPr>
                        <a:t>31</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8735" algn="ctr">
                        <a:lnSpc>
                          <a:spcPct val="100000"/>
                        </a:lnSpc>
                        <a:spcBef>
                          <a:spcPts val="204"/>
                        </a:spcBef>
                      </a:pPr>
                      <a:r>
                        <a:rPr sz="700" b="0" spc="-5" dirty="0">
                          <a:solidFill>
                            <a:srgbClr val="221F1F"/>
                          </a:solidFill>
                          <a:latin typeface="Trebuchet MS"/>
                          <a:cs typeface="Trebuchet MS"/>
                        </a:rPr>
                        <a:t>Coatue</a:t>
                      </a:r>
                      <a:r>
                        <a:rPr sz="700" b="0" spc="5"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53975" algn="ctr">
                        <a:lnSpc>
                          <a:spcPct val="100000"/>
                        </a:lnSpc>
                        <a:spcBef>
                          <a:spcPts val="204"/>
                        </a:spcBef>
                      </a:pPr>
                      <a:r>
                        <a:rPr sz="700" b="0" spc="-5" dirty="0">
                          <a:solidFill>
                            <a:srgbClr val="221F1F"/>
                          </a:solidFill>
                          <a:latin typeface="Trebuchet MS"/>
                          <a:cs typeface="Trebuchet MS"/>
                        </a:rPr>
                        <a:t>Equity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10795" algn="ctr">
                        <a:lnSpc>
                          <a:spcPct val="100000"/>
                        </a:lnSpc>
                        <a:spcBef>
                          <a:spcPts val="204"/>
                        </a:spcBef>
                      </a:pPr>
                      <a:r>
                        <a:rPr sz="700" b="0" spc="-10" dirty="0">
                          <a:latin typeface="Trebuchet MS"/>
                          <a:cs typeface="Trebuchet MS"/>
                        </a:rPr>
                        <a:t>17</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06"/>
                  </a:ext>
                </a:extLst>
              </a:tr>
              <a:tr h="175738">
                <a:tc>
                  <a:txBody>
                    <a:bodyPr/>
                    <a:lstStyle/>
                    <a:p>
                      <a:pPr marR="150495" algn="ctr">
                        <a:lnSpc>
                          <a:spcPct val="100000"/>
                        </a:lnSpc>
                        <a:spcBef>
                          <a:spcPts val="210"/>
                        </a:spcBef>
                      </a:pPr>
                      <a:r>
                        <a:rPr sz="700" b="0" spc="-10" dirty="0">
                          <a:solidFill>
                            <a:srgbClr val="221F1F"/>
                          </a:solidFill>
                          <a:latin typeface="Trebuchet MS"/>
                          <a:cs typeface="Trebuchet MS"/>
                        </a:rPr>
                        <a:t>32</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noFill/>
                  </a:tcPr>
                </a:tc>
                <a:tc>
                  <a:txBody>
                    <a:bodyPr/>
                    <a:lstStyle/>
                    <a:p>
                      <a:pPr marL="37465" algn="ctr">
                        <a:lnSpc>
                          <a:spcPct val="100000"/>
                        </a:lnSpc>
                        <a:spcBef>
                          <a:spcPts val="210"/>
                        </a:spcBef>
                      </a:pPr>
                      <a:r>
                        <a:rPr sz="700" b="0" spc="-5" dirty="0">
                          <a:solidFill>
                            <a:srgbClr val="221F1F"/>
                          </a:solidFill>
                          <a:latin typeface="Trebuchet MS"/>
                          <a:cs typeface="Trebuchet MS"/>
                        </a:rPr>
                        <a:t>Systematica</a:t>
                      </a:r>
                      <a:r>
                        <a:rPr sz="700" b="0" spc="5" dirty="0">
                          <a:solidFill>
                            <a:srgbClr val="221F1F"/>
                          </a:solidFill>
                          <a:latin typeface="Trebuchet MS"/>
                          <a:cs typeface="Trebuchet MS"/>
                        </a:rPr>
                        <a:t> </a:t>
                      </a:r>
                      <a:r>
                        <a:rPr sz="700" b="0" spc="-10" dirty="0">
                          <a:solidFill>
                            <a:srgbClr val="221F1F"/>
                          </a:solidFill>
                          <a:latin typeface="Trebuchet MS"/>
                          <a:cs typeface="Trebuchet MS"/>
                        </a:rPr>
                        <a:t>Investments</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noFill/>
                  </a:tcPr>
                </a:tc>
                <a:tc>
                  <a:txBody>
                    <a:bodyPr/>
                    <a:lstStyle/>
                    <a:p>
                      <a:pPr marL="127000" algn="ctr">
                        <a:lnSpc>
                          <a:spcPct val="100000"/>
                        </a:lnSpc>
                        <a:spcBef>
                          <a:spcPts val="210"/>
                        </a:spcBef>
                      </a:pPr>
                      <a:r>
                        <a:rPr sz="700" b="0" spc="-5" dirty="0">
                          <a:solidFill>
                            <a:srgbClr val="221F1F"/>
                          </a:solidFill>
                          <a:latin typeface="Trebuchet MS"/>
                          <a:cs typeface="Trebuchet MS"/>
                        </a:rPr>
                        <a:t>Channel</a:t>
                      </a:r>
                      <a:r>
                        <a:rPr sz="700" b="0" dirty="0">
                          <a:solidFill>
                            <a:srgbClr val="221F1F"/>
                          </a:solidFill>
                          <a:latin typeface="Trebuchet MS"/>
                          <a:cs typeface="Trebuchet MS"/>
                        </a:rPr>
                        <a:t> </a:t>
                      </a:r>
                      <a:r>
                        <a:rPr sz="700" b="0" spc="-10" dirty="0">
                          <a:solidFill>
                            <a:srgbClr val="221F1F"/>
                          </a:solidFill>
                          <a:latin typeface="Trebuchet MS"/>
                          <a:cs typeface="Trebuchet MS"/>
                        </a:rPr>
                        <a:t>Islands</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noFill/>
                  </a:tcPr>
                </a:tc>
                <a:tc>
                  <a:txBody>
                    <a:bodyPr/>
                    <a:lstStyle/>
                    <a:p>
                      <a:pPr marR="50800" algn="ctr">
                        <a:lnSpc>
                          <a:spcPct val="100000"/>
                        </a:lnSpc>
                        <a:spcBef>
                          <a:spcPts val="210"/>
                        </a:spcBef>
                      </a:pPr>
                      <a:r>
                        <a:rPr sz="700" b="0" spc="-5" dirty="0">
                          <a:solidFill>
                            <a:srgbClr val="221F1F"/>
                          </a:solidFill>
                          <a:latin typeface="Trebuchet MS"/>
                          <a:cs typeface="Trebuchet MS"/>
                        </a:rPr>
                        <a:t>CTA</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noFill/>
                  </a:tcPr>
                </a:tc>
                <a:tc>
                  <a:txBody>
                    <a:bodyPr/>
                    <a:lstStyle/>
                    <a:p>
                      <a:pPr marL="12700" algn="ctr">
                        <a:lnSpc>
                          <a:spcPct val="100000"/>
                        </a:lnSpc>
                        <a:spcBef>
                          <a:spcPts val="210"/>
                        </a:spcBef>
                      </a:pPr>
                      <a:r>
                        <a:rPr sz="700" b="0" spc="-10" dirty="0">
                          <a:latin typeface="Trebuchet MS"/>
                          <a:cs typeface="Trebuchet MS"/>
                        </a:rPr>
                        <a:t>16.5</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07"/>
                  </a:ext>
                </a:extLst>
              </a:tr>
              <a:tr h="173420">
                <a:tc>
                  <a:txBody>
                    <a:bodyPr/>
                    <a:lstStyle/>
                    <a:p>
                      <a:pPr marR="150495" algn="ctr">
                        <a:lnSpc>
                          <a:spcPct val="100000"/>
                        </a:lnSpc>
                        <a:spcBef>
                          <a:spcPts val="204"/>
                        </a:spcBef>
                      </a:pPr>
                      <a:r>
                        <a:rPr sz="700" b="0" spc="-10" dirty="0">
                          <a:solidFill>
                            <a:srgbClr val="221F1F"/>
                          </a:solidFill>
                          <a:latin typeface="Trebuchet MS"/>
                          <a:cs typeface="Trebuchet MS"/>
                        </a:rPr>
                        <a:t>33</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7465" algn="ctr">
                        <a:lnSpc>
                          <a:spcPct val="100000"/>
                        </a:lnSpc>
                        <a:spcBef>
                          <a:spcPts val="204"/>
                        </a:spcBef>
                      </a:pPr>
                      <a:r>
                        <a:rPr sz="700" b="0" spc="-10" dirty="0">
                          <a:solidFill>
                            <a:srgbClr val="221F1F"/>
                          </a:solidFill>
                          <a:latin typeface="Trebuchet MS"/>
                          <a:cs typeface="Trebuchet MS"/>
                        </a:rPr>
                        <a:t>Calamos</a:t>
                      </a:r>
                      <a:r>
                        <a:rPr sz="700" b="0" spc="5" dirty="0">
                          <a:solidFill>
                            <a:srgbClr val="221F1F"/>
                          </a:solidFill>
                          <a:latin typeface="Trebuchet MS"/>
                          <a:cs typeface="Trebuchet MS"/>
                        </a:rPr>
                        <a:t> </a:t>
                      </a:r>
                      <a:r>
                        <a:rPr sz="700" b="0" spc="-10" dirty="0">
                          <a:solidFill>
                            <a:srgbClr val="221F1F"/>
                          </a:solidFill>
                          <a:latin typeface="Trebuchet MS"/>
                          <a:cs typeface="Trebuchet MS"/>
                        </a:rPr>
                        <a:t>Investments</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2705" algn="ctr">
                        <a:lnSpc>
                          <a:spcPct val="100000"/>
                        </a:lnSpc>
                        <a:spcBef>
                          <a:spcPts val="204"/>
                        </a:spcBef>
                      </a:pPr>
                      <a:r>
                        <a:rPr sz="700" b="0" spc="-5" dirty="0">
                          <a:solidFill>
                            <a:srgbClr val="221F1F"/>
                          </a:solidFill>
                          <a:latin typeface="Trebuchet MS"/>
                          <a:cs typeface="Trebuchet MS"/>
                        </a:rPr>
                        <a:t>RV</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 algn="ctr">
                        <a:lnSpc>
                          <a:spcPct val="100000"/>
                        </a:lnSpc>
                        <a:spcBef>
                          <a:spcPts val="204"/>
                        </a:spcBef>
                      </a:pPr>
                      <a:r>
                        <a:rPr sz="700" b="0" spc="-10" dirty="0">
                          <a:latin typeface="Trebuchet MS"/>
                          <a:cs typeface="Trebuchet MS"/>
                        </a:rPr>
                        <a:t>16.4</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08"/>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34</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40005" algn="ctr">
                        <a:lnSpc>
                          <a:spcPct val="100000"/>
                        </a:lnSpc>
                        <a:spcBef>
                          <a:spcPts val="204"/>
                        </a:spcBef>
                      </a:pPr>
                      <a:r>
                        <a:rPr sz="700" b="0" spc="-5" dirty="0">
                          <a:solidFill>
                            <a:srgbClr val="221F1F"/>
                          </a:solidFill>
                          <a:latin typeface="Trebuchet MS"/>
                          <a:cs typeface="Trebuchet MS"/>
                        </a:rPr>
                        <a:t>Centerbridge</a:t>
                      </a:r>
                      <a:r>
                        <a:rPr sz="700" b="0" spc="10" dirty="0">
                          <a:solidFill>
                            <a:srgbClr val="221F1F"/>
                          </a:solidFill>
                          <a:latin typeface="Trebuchet MS"/>
                          <a:cs typeface="Trebuchet MS"/>
                        </a:rPr>
                        <a:t> </a:t>
                      </a:r>
                      <a:r>
                        <a:rPr sz="700" b="0" spc="-5" dirty="0">
                          <a:solidFill>
                            <a:srgbClr val="221F1F"/>
                          </a:solidFill>
                          <a:latin typeface="Trebuchet MS"/>
                          <a:cs typeface="Trebuchet MS"/>
                        </a:rPr>
                        <a:t>Partners</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3340" algn="ctr">
                        <a:lnSpc>
                          <a:spcPct val="100000"/>
                        </a:lnSpc>
                        <a:spcBef>
                          <a:spcPts val="204"/>
                        </a:spcBef>
                      </a:pPr>
                      <a:r>
                        <a:rPr sz="700" b="0" spc="-5" dirty="0">
                          <a:solidFill>
                            <a:srgbClr val="221F1F"/>
                          </a:solidFill>
                          <a:latin typeface="Trebuchet MS"/>
                          <a:cs typeface="Trebuchet MS"/>
                        </a:rPr>
                        <a:t>Credit</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0795" algn="ctr">
                        <a:lnSpc>
                          <a:spcPct val="100000"/>
                        </a:lnSpc>
                        <a:spcBef>
                          <a:spcPts val="204"/>
                        </a:spcBef>
                      </a:pPr>
                      <a:r>
                        <a:rPr sz="700" b="0" spc="-10" dirty="0">
                          <a:latin typeface="Trebuchet MS"/>
                          <a:cs typeface="Trebuchet MS"/>
                        </a:rPr>
                        <a:t>15</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09"/>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35</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7465" algn="ctr">
                        <a:lnSpc>
                          <a:spcPct val="100000"/>
                        </a:lnSpc>
                        <a:spcBef>
                          <a:spcPts val="204"/>
                        </a:spcBef>
                      </a:pPr>
                      <a:r>
                        <a:rPr sz="700" b="0" spc="-5" dirty="0">
                          <a:solidFill>
                            <a:srgbClr val="221F1F"/>
                          </a:solidFill>
                          <a:latin typeface="Trebuchet MS"/>
                          <a:cs typeface="Trebuchet MS"/>
                        </a:rPr>
                        <a:t>Pershing Square </a:t>
                      </a:r>
                      <a:r>
                        <a:rPr sz="700" b="0" spc="-10" dirty="0">
                          <a:solidFill>
                            <a:srgbClr val="221F1F"/>
                          </a:solidFill>
                          <a:latin typeface="Trebuchet MS"/>
                          <a:cs typeface="Trebuchet MS"/>
                        </a:rPr>
                        <a:t>Capital</a:t>
                      </a:r>
                      <a:r>
                        <a:rPr sz="700" b="0" spc="35"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2069" algn="ctr">
                        <a:lnSpc>
                          <a:spcPct val="100000"/>
                        </a:lnSpc>
                        <a:spcBef>
                          <a:spcPts val="204"/>
                        </a:spcBef>
                      </a:pPr>
                      <a:r>
                        <a:rPr sz="700" b="0" spc="-5" dirty="0">
                          <a:solidFill>
                            <a:srgbClr val="221F1F"/>
                          </a:solidFill>
                          <a:latin typeface="Trebuchet MS"/>
                          <a:cs typeface="Trebuchet MS"/>
                        </a:rPr>
                        <a:t>Event-driven</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0795" algn="ctr">
                        <a:lnSpc>
                          <a:spcPct val="100000"/>
                        </a:lnSpc>
                        <a:spcBef>
                          <a:spcPts val="204"/>
                        </a:spcBef>
                      </a:pPr>
                      <a:r>
                        <a:rPr sz="700" b="0" spc="-10" dirty="0">
                          <a:latin typeface="Trebuchet MS"/>
                          <a:cs typeface="Trebuchet MS"/>
                        </a:rPr>
                        <a:t>15</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0"/>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36</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8735" algn="ctr">
                        <a:lnSpc>
                          <a:spcPct val="100000"/>
                        </a:lnSpc>
                        <a:spcBef>
                          <a:spcPts val="204"/>
                        </a:spcBef>
                      </a:pPr>
                      <a:r>
                        <a:rPr sz="700" b="0" spc="-10" dirty="0">
                          <a:solidFill>
                            <a:srgbClr val="221F1F"/>
                          </a:solidFill>
                          <a:latin typeface="Trebuchet MS"/>
                          <a:cs typeface="Trebuchet MS"/>
                        </a:rPr>
                        <a:t>Appaloosa</a:t>
                      </a:r>
                      <a:r>
                        <a:rPr sz="700" b="0" spc="25"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3340" algn="ctr">
                        <a:lnSpc>
                          <a:spcPct val="100000"/>
                        </a:lnSpc>
                        <a:spcBef>
                          <a:spcPts val="204"/>
                        </a:spcBef>
                      </a:pPr>
                      <a:r>
                        <a:rPr sz="700" b="0" spc="-5" dirty="0">
                          <a:solidFill>
                            <a:srgbClr val="221F1F"/>
                          </a:solidFill>
                          <a:latin typeface="Trebuchet MS"/>
                          <a:cs typeface="Trebuchet MS"/>
                        </a:rPr>
                        <a:t>Credit</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 algn="ctr">
                        <a:lnSpc>
                          <a:spcPct val="100000"/>
                        </a:lnSpc>
                        <a:spcBef>
                          <a:spcPts val="204"/>
                        </a:spcBef>
                      </a:pPr>
                      <a:r>
                        <a:rPr sz="700" b="0" spc="-10" dirty="0">
                          <a:latin typeface="Trebuchet MS"/>
                          <a:cs typeface="Trebuchet MS"/>
                        </a:rPr>
                        <a:t>14.9</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1"/>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37</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6830" algn="ctr">
                        <a:lnSpc>
                          <a:spcPct val="100000"/>
                        </a:lnSpc>
                        <a:spcBef>
                          <a:spcPts val="204"/>
                        </a:spcBef>
                      </a:pPr>
                      <a:r>
                        <a:rPr sz="700" b="0" spc="-5" dirty="0">
                          <a:solidFill>
                            <a:srgbClr val="221F1F"/>
                          </a:solidFill>
                          <a:latin typeface="Trebuchet MS"/>
                          <a:cs typeface="Trebuchet MS"/>
                        </a:rPr>
                        <a:t>Rokos </a:t>
                      </a:r>
                      <a:r>
                        <a:rPr sz="700" b="0" spc="-10" dirty="0">
                          <a:solidFill>
                            <a:srgbClr val="221F1F"/>
                          </a:solidFill>
                          <a:latin typeface="Trebuchet MS"/>
                          <a:cs typeface="Trebuchet MS"/>
                        </a:rPr>
                        <a:t>Capital</a:t>
                      </a:r>
                      <a:r>
                        <a:rPr sz="700" b="0" spc="2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UK</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3340" algn="ctr">
                        <a:lnSpc>
                          <a:spcPct val="100000"/>
                        </a:lnSpc>
                        <a:spcBef>
                          <a:spcPts val="204"/>
                        </a:spcBef>
                      </a:pPr>
                      <a:r>
                        <a:rPr sz="700" b="0" spc="-5" dirty="0">
                          <a:solidFill>
                            <a:srgbClr val="221F1F"/>
                          </a:solidFill>
                          <a:latin typeface="Trebuchet MS"/>
                          <a:cs typeface="Trebuchet MS"/>
                        </a:rPr>
                        <a:t>Macro</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 algn="ctr">
                        <a:lnSpc>
                          <a:spcPct val="100000"/>
                        </a:lnSpc>
                        <a:spcBef>
                          <a:spcPts val="204"/>
                        </a:spcBef>
                      </a:pPr>
                      <a:r>
                        <a:rPr sz="700" b="0" spc="-10" dirty="0">
                          <a:latin typeface="Trebuchet MS"/>
                          <a:cs typeface="Trebuchet MS"/>
                        </a:rPr>
                        <a:t>14.8</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2"/>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38</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6195" algn="ctr">
                        <a:lnSpc>
                          <a:spcPct val="100000"/>
                        </a:lnSpc>
                        <a:spcBef>
                          <a:spcPts val="204"/>
                        </a:spcBef>
                      </a:pPr>
                      <a:r>
                        <a:rPr sz="700" b="0" spc="-10" dirty="0">
                          <a:solidFill>
                            <a:srgbClr val="221F1F"/>
                          </a:solidFill>
                          <a:latin typeface="Trebuchet MS"/>
                          <a:cs typeface="Trebuchet MS"/>
                        </a:rPr>
                        <a:t>Himalaya Capital</a:t>
                      </a:r>
                      <a:r>
                        <a:rPr sz="700" b="0" spc="2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53975" algn="ctr">
                        <a:lnSpc>
                          <a:spcPct val="100000"/>
                        </a:lnSpc>
                        <a:spcBef>
                          <a:spcPts val="204"/>
                        </a:spcBef>
                      </a:pPr>
                      <a:r>
                        <a:rPr sz="700" b="0" spc="-5" dirty="0">
                          <a:solidFill>
                            <a:srgbClr val="221F1F"/>
                          </a:solidFill>
                          <a:latin typeface="Trebuchet MS"/>
                          <a:cs typeface="Trebuchet MS"/>
                        </a:rPr>
                        <a:t>Equity</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12700" algn="ctr">
                        <a:lnSpc>
                          <a:spcPct val="100000"/>
                        </a:lnSpc>
                        <a:spcBef>
                          <a:spcPts val="204"/>
                        </a:spcBef>
                      </a:pPr>
                      <a:r>
                        <a:rPr sz="700" b="0" spc="-10" dirty="0">
                          <a:latin typeface="Trebuchet MS"/>
                          <a:cs typeface="Trebuchet MS"/>
                        </a:rPr>
                        <a:t>14.6</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13"/>
                  </a:ext>
                </a:extLst>
              </a:tr>
              <a:tr h="173557">
                <a:tc>
                  <a:txBody>
                    <a:bodyPr/>
                    <a:lstStyle/>
                    <a:p>
                      <a:pPr marR="150495" algn="ctr">
                        <a:lnSpc>
                          <a:spcPct val="100000"/>
                        </a:lnSpc>
                        <a:spcBef>
                          <a:spcPts val="204"/>
                        </a:spcBef>
                      </a:pPr>
                      <a:r>
                        <a:rPr sz="700" b="0" spc="-10" dirty="0">
                          <a:solidFill>
                            <a:srgbClr val="221F1F"/>
                          </a:solidFill>
                          <a:latin typeface="Trebuchet MS"/>
                          <a:cs typeface="Trebuchet MS"/>
                        </a:rPr>
                        <a:t>39</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8100" algn="ctr">
                        <a:lnSpc>
                          <a:spcPct val="100000"/>
                        </a:lnSpc>
                        <a:spcBef>
                          <a:spcPts val="204"/>
                        </a:spcBef>
                      </a:pPr>
                      <a:r>
                        <a:rPr sz="700" b="0" spc="-5" dirty="0">
                          <a:solidFill>
                            <a:srgbClr val="221F1F"/>
                          </a:solidFill>
                          <a:latin typeface="Trebuchet MS"/>
                          <a:cs typeface="Trebuchet MS"/>
                        </a:rPr>
                        <a:t>BlueBay </a:t>
                      </a:r>
                      <a:r>
                        <a:rPr sz="700" b="0" spc="-10" dirty="0">
                          <a:solidFill>
                            <a:srgbClr val="221F1F"/>
                          </a:solidFill>
                          <a:latin typeface="Trebuchet MS"/>
                          <a:cs typeface="Trebuchet MS"/>
                        </a:rPr>
                        <a:t>Asset</a:t>
                      </a:r>
                      <a:r>
                        <a:rPr sz="700" b="0" spc="55"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UK</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3340" algn="ctr">
                        <a:lnSpc>
                          <a:spcPct val="100000"/>
                        </a:lnSpc>
                        <a:spcBef>
                          <a:spcPts val="204"/>
                        </a:spcBef>
                      </a:pPr>
                      <a:r>
                        <a:rPr sz="700" b="0" spc="-5" dirty="0">
                          <a:solidFill>
                            <a:srgbClr val="221F1F"/>
                          </a:solidFill>
                          <a:latin typeface="Trebuchet MS"/>
                          <a:cs typeface="Trebuchet MS"/>
                        </a:rPr>
                        <a:t>Credit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 algn="ctr">
                        <a:lnSpc>
                          <a:spcPct val="100000"/>
                        </a:lnSpc>
                        <a:spcBef>
                          <a:spcPts val="204"/>
                        </a:spcBef>
                      </a:pPr>
                      <a:r>
                        <a:rPr sz="700" b="0" spc="-10" dirty="0">
                          <a:latin typeface="Trebuchet MS"/>
                          <a:cs typeface="Trebuchet MS"/>
                        </a:rPr>
                        <a:t>14.4</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4"/>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40</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7465" algn="ctr">
                        <a:lnSpc>
                          <a:spcPct val="100000"/>
                        </a:lnSpc>
                        <a:spcBef>
                          <a:spcPts val="204"/>
                        </a:spcBef>
                      </a:pPr>
                      <a:r>
                        <a:rPr sz="700" b="0" spc="-5" dirty="0">
                          <a:solidFill>
                            <a:srgbClr val="221F1F"/>
                          </a:solidFill>
                          <a:latin typeface="Trebuchet MS"/>
                          <a:cs typeface="Trebuchet MS"/>
                        </a:rPr>
                        <a:t>Tudor Investment</a:t>
                      </a:r>
                      <a:r>
                        <a:rPr sz="700" b="0" spc="35" dirty="0">
                          <a:solidFill>
                            <a:srgbClr val="221F1F"/>
                          </a:solidFill>
                          <a:latin typeface="Trebuchet MS"/>
                          <a:cs typeface="Trebuchet MS"/>
                        </a:rPr>
                        <a:t> </a:t>
                      </a:r>
                      <a:r>
                        <a:rPr sz="700" b="0" spc="-5" dirty="0">
                          <a:solidFill>
                            <a:srgbClr val="221F1F"/>
                          </a:solidFill>
                          <a:latin typeface="Trebuchet MS"/>
                          <a:cs typeface="Trebuchet MS"/>
                        </a:rPr>
                        <a:t>Corporation</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3340" algn="ctr">
                        <a:lnSpc>
                          <a:spcPct val="100000"/>
                        </a:lnSpc>
                        <a:spcBef>
                          <a:spcPts val="204"/>
                        </a:spcBef>
                      </a:pPr>
                      <a:r>
                        <a:rPr sz="700" b="0" spc="-5" dirty="0">
                          <a:solidFill>
                            <a:srgbClr val="221F1F"/>
                          </a:solidFill>
                          <a:latin typeface="Trebuchet MS"/>
                          <a:cs typeface="Trebuchet MS"/>
                        </a:rPr>
                        <a:t>Macro</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 algn="ctr">
                        <a:lnSpc>
                          <a:spcPct val="100000"/>
                        </a:lnSpc>
                        <a:spcBef>
                          <a:spcPts val="204"/>
                        </a:spcBef>
                      </a:pPr>
                      <a:r>
                        <a:rPr sz="700" b="0" spc="-10" dirty="0">
                          <a:latin typeface="Trebuchet MS"/>
                          <a:cs typeface="Trebuchet MS"/>
                        </a:rPr>
                        <a:t>14.1</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5"/>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41</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8100" algn="ctr">
                        <a:lnSpc>
                          <a:spcPct val="100000"/>
                        </a:lnSpc>
                        <a:spcBef>
                          <a:spcPts val="204"/>
                        </a:spcBef>
                      </a:pPr>
                      <a:r>
                        <a:rPr sz="700" b="0" spc="-5" dirty="0">
                          <a:solidFill>
                            <a:srgbClr val="221F1F"/>
                          </a:solidFill>
                          <a:latin typeface="Trebuchet MS"/>
                          <a:cs typeface="Trebuchet MS"/>
                        </a:rPr>
                        <a:t>Santa </a:t>
                      </a:r>
                      <a:r>
                        <a:rPr sz="700" b="0" spc="-10" dirty="0">
                          <a:solidFill>
                            <a:srgbClr val="221F1F"/>
                          </a:solidFill>
                          <a:latin typeface="Trebuchet MS"/>
                          <a:cs typeface="Trebuchet MS"/>
                        </a:rPr>
                        <a:t>Fe</a:t>
                      </a:r>
                      <a:r>
                        <a:rPr sz="700" b="0" spc="10" dirty="0">
                          <a:solidFill>
                            <a:srgbClr val="221F1F"/>
                          </a:solidFill>
                          <a:latin typeface="Trebuchet MS"/>
                          <a:cs typeface="Trebuchet MS"/>
                        </a:rPr>
                        <a:t> </a:t>
                      </a:r>
                      <a:r>
                        <a:rPr sz="700" b="0" spc="-5" dirty="0">
                          <a:solidFill>
                            <a:srgbClr val="221F1F"/>
                          </a:solidFill>
                          <a:latin typeface="Trebuchet MS"/>
                          <a:cs typeface="Trebuchet MS"/>
                        </a:rPr>
                        <a:t>Portfolios</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Brazil</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2705" algn="ctr">
                        <a:lnSpc>
                          <a:spcPct val="100000"/>
                        </a:lnSpc>
                        <a:spcBef>
                          <a:spcPts val="204"/>
                        </a:spcBef>
                      </a:pPr>
                      <a:r>
                        <a:rPr sz="700" b="0" spc="-5" dirty="0">
                          <a:solidFill>
                            <a:srgbClr val="221F1F"/>
                          </a:solidFill>
                          <a:latin typeface="Trebuchet MS"/>
                          <a:cs typeface="Trebuchet MS"/>
                        </a:rPr>
                        <a:t>RV</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 algn="ctr">
                        <a:lnSpc>
                          <a:spcPct val="100000"/>
                        </a:lnSpc>
                        <a:spcBef>
                          <a:spcPts val="204"/>
                        </a:spcBef>
                      </a:pPr>
                      <a:r>
                        <a:rPr sz="700" b="0" spc="-10" dirty="0">
                          <a:latin typeface="Trebuchet MS"/>
                          <a:cs typeface="Trebuchet MS"/>
                        </a:rPr>
                        <a:t>13.6</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6"/>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42</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8735" algn="ctr">
                        <a:lnSpc>
                          <a:spcPct val="100000"/>
                        </a:lnSpc>
                        <a:spcBef>
                          <a:spcPts val="204"/>
                        </a:spcBef>
                      </a:pPr>
                      <a:r>
                        <a:rPr sz="700" b="0" spc="-5" dirty="0">
                          <a:solidFill>
                            <a:srgbClr val="221F1F"/>
                          </a:solidFill>
                          <a:latin typeface="Trebuchet MS"/>
                          <a:cs typeface="Trebuchet MS"/>
                        </a:rPr>
                        <a:t>Cevian</a:t>
                      </a:r>
                      <a:r>
                        <a:rPr sz="700" b="0" spc="5" dirty="0">
                          <a:solidFill>
                            <a:srgbClr val="221F1F"/>
                          </a:solidFill>
                          <a:latin typeface="Trebuchet MS"/>
                          <a:cs typeface="Trebuchet MS"/>
                        </a:rPr>
                        <a:t> </a:t>
                      </a:r>
                      <a:r>
                        <a:rPr sz="700" b="0" spc="-10" dirty="0">
                          <a:solidFill>
                            <a:srgbClr val="221F1F"/>
                          </a:solidFill>
                          <a:latin typeface="Trebuchet MS"/>
                          <a:cs typeface="Trebuchet MS"/>
                        </a:rPr>
                        <a:t>Capital</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5095" algn="ctr">
                        <a:lnSpc>
                          <a:spcPct val="100000"/>
                        </a:lnSpc>
                        <a:spcBef>
                          <a:spcPts val="204"/>
                        </a:spcBef>
                      </a:pPr>
                      <a:r>
                        <a:rPr sz="700" b="0" spc="-5" dirty="0">
                          <a:solidFill>
                            <a:srgbClr val="221F1F"/>
                          </a:solidFill>
                          <a:latin typeface="Trebuchet MS"/>
                          <a:cs typeface="Trebuchet MS"/>
                        </a:rPr>
                        <a:t>Sweden</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2069" algn="ctr">
                        <a:lnSpc>
                          <a:spcPct val="100000"/>
                        </a:lnSpc>
                        <a:spcBef>
                          <a:spcPts val="204"/>
                        </a:spcBef>
                      </a:pPr>
                      <a:r>
                        <a:rPr sz="700" b="0" spc="-5" dirty="0">
                          <a:solidFill>
                            <a:srgbClr val="221F1F"/>
                          </a:solidFill>
                          <a:latin typeface="Trebuchet MS"/>
                          <a:cs typeface="Trebuchet MS"/>
                        </a:rPr>
                        <a:t>Event-driven</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 algn="ctr">
                        <a:lnSpc>
                          <a:spcPct val="100000"/>
                        </a:lnSpc>
                        <a:spcBef>
                          <a:spcPts val="204"/>
                        </a:spcBef>
                      </a:pPr>
                      <a:r>
                        <a:rPr sz="700" b="0" spc="-10" dirty="0">
                          <a:latin typeface="Trebuchet MS"/>
                          <a:cs typeface="Trebuchet MS"/>
                        </a:rPr>
                        <a:t>13.1</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7"/>
                  </a:ext>
                </a:extLst>
              </a:tr>
              <a:tr h="173422">
                <a:tc>
                  <a:txBody>
                    <a:bodyPr/>
                    <a:lstStyle/>
                    <a:p>
                      <a:pPr marR="150495" algn="ctr">
                        <a:lnSpc>
                          <a:spcPct val="100000"/>
                        </a:lnSpc>
                        <a:spcBef>
                          <a:spcPts val="204"/>
                        </a:spcBef>
                      </a:pPr>
                      <a:r>
                        <a:rPr sz="700" b="0" spc="-10" dirty="0">
                          <a:solidFill>
                            <a:srgbClr val="221F1F"/>
                          </a:solidFill>
                          <a:latin typeface="Trebuchet MS"/>
                          <a:cs typeface="Trebuchet MS"/>
                        </a:rPr>
                        <a:t>43</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6830" algn="ctr">
                        <a:lnSpc>
                          <a:spcPct val="100000"/>
                        </a:lnSpc>
                        <a:spcBef>
                          <a:spcPts val="204"/>
                        </a:spcBef>
                      </a:pPr>
                      <a:r>
                        <a:rPr sz="700" b="0" spc="-5" dirty="0">
                          <a:solidFill>
                            <a:srgbClr val="221F1F"/>
                          </a:solidFill>
                          <a:latin typeface="Trebuchet MS"/>
                          <a:cs typeface="Trebuchet MS"/>
                        </a:rPr>
                        <a:t>Angelo</a:t>
                      </a:r>
                      <a:r>
                        <a:rPr sz="700" b="0" spc="20" dirty="0">
                          <a:solidFill>
                            <a:srgbClr val="221F1F"/>
                          </a:solidFill>
                          <a:latin typeface="Trebuchet MS"/>
                          <a:cs typeface="Trebuchet MS"/>
                        </a:rPr>
                        <a:t> </a:t>
                      </a:r>
                      <a:r>
                        <a:rPr sz="700" b="0" spc="-5" dirty="0">
                          <a:solidFill>
                            <a:srgbClr val="221F1F"/>
                          </a:solidFill>
                          <a:latin typeface="Trebuchet MS"/>
                          <a:cs typeface="Trebuchet MS"/>
                        </a:rPr>
                        <a:t>Gordon</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3340" algn="ctr">
                        <a:lnSpc>
                          <a:spcPct val="100000"/>
                        </a:lnSpc>
                        <a:spcBef>
                          <a:spcPts val="204"/>
                        </a:spcBef>
                      </a:pPr>
                      <a:r>
                        <a:rPr sz="700" b="0" spc="-5" dirty="0">
                          <a:solidFill>
                            <a:srgbClr val="221F1F"/>
                          </a:solidFill>
                          <a:latin typeface="Trebuchet MS"/>
                          <a:cs typeface="Trebuchet MS"/>
                        </a:rPr>
                        <a:t>Credit</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0795" algn="ctr">
                        <a:lnSpc>
                          <a:spcPct val="100000"/>
                        </a:lnSpc>
                        <a:spcBef>
                          <a:spcPts val="204"/>
                        </a:spcBef>
                      </a:pPr>
                      <a:r>
                        <a:rPr sz="700" b="0" spc="-10" dirty="0">
                          <a:latin typeface="Trebuchet MS"/>
                          <a:cs typeface="Trebuchet MS"/>
                        </a:rPr>
                        <a:t>13</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18"/>
                  </a:ext>
                </a:extLst>
              </a:tr>
              <a:tr h="142472">
                <a:tc>
                  <a:txBody>
                    <a:bodyPr/>
                    <a:lstStyle/>
                    <a:p>
                      <a:pPr marR="150495" algn="ctr">
                        <a:lnSpc>
                          <a:spcPct val="100000"/>
                        </a:lnSpc>
                        <a:spcBef>
                          <a:spcPts val="204"/>
                        </a:spcBef>
                      </a:pPr>
                      <a:r>
                        <a:rPr sz="700" b="0" spc="-10" dirty="0">
                          <a:solidFill>
                            <a:srgbClr val="221F1F"/>
                          </a:solidFill>
                          <a:latin typeface="Trebuchet MS"/>
                          <a:cs typeface="Trebuchet MS"/>
                        </a:rPr>
                        <a:t>44</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38735" algn="ctr">
                        <a:lnSpc>
                          <a:spcPct val="100000"/>
                        </a:lnSpc>
                        <a:spcBef>
                          <a:spcPts val="204"/>
                        </a:spcBef>
                      </a:pPr>
                      <a:r>
                        <a:rPr sz="700" b="0" spc="-5" dirty="0">
                          <a:solidFill>
                            <a:srgbClr val="221F1F"/>
                          </a:solidFill>
                          <a:latin typeface="Trebuchet MS"/>
                          <a:cs typeface="Trebuchet MS"/>
                        </a:rPr>
                        <a:t>Schonfeld Strategic</a:t>
                      </a:r>
                      <a:r>
                        <a:rPr sz="700" b="0" spc="35" dirty="0">
                          <a:solidFill>
                            <a:srgbClr val="221F1F"/>
                          </a:solidFill>
                          <a:latin typeface="Trebuchet MS"/>
                          <a:cs typeface="Trebuchet MS"/>
                        </a:rPr>
                        <a:t> </a:t>
                      </a:r>
                      <a:r>
                        <a:rPr sz="700" b="0" spc="-5" dirty="0">
                          <a:solidFill>
                            <a:srgbClr val="221F1F"/>
                          </a:solidFill>
                          <a:latin typeface="Trebuchet MS"/>
                          <a:cs typeface="Trebuchet MS"/>
                        </a:rPr>
                        <a:t>Advisors</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127000"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R="52069" algn="ctr">
                        <a:lnSpc>
                          <a:spcPct val="100000"/>
                        </a:lnSpc>
                        <a:spcBef>
                          <a:spcPts val="204"/>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tc>
                  <a:txBody>
                    <a:bodyPr/>
                    <a:lstStyle/>
                    <a:p>
                      <a:pPr marL="10795" algn="ctr">
                        <a:lnSpc>
                          <a:spcPct val="100000"/>
                        </a:lnSpc>
                        <a:spcBef>
                          <a:spcPts val="204"/>
                        </a:spcBef>
                      </a:pPr>
                      <a:r>
                        <a:rPr sz="700" b="0" spc="-10" dirty="0">
                          <a:latin typeface="Trebuchet MS"/>
                          <a:cs typeface="Trebuchet MS"/>
                        </a:rPr>
                        <a:t>13</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19"/>
                  </a:ext>
                </a:extLst>
              </a:tr>
              <a:tr h="173420">
                <a:tc>
                  <a:txBody>
                    <a:bodyPr/>
                    <a:lstStyle/>
                    <a:p>
                      <a:pPr marR="150495" algn="ctr">
                        <a:lnSpc>
                          <a:spcPct val="100000"/>
                        </a:lnSpc>
                        <a:spcBef>
                          <a:spcPts val="204"/>
                        </a:spcBef>
                      </a:pPr>
                      <a:r>
                        <a:rPr sz="700" b="0" spc="-15" dirty="0">
                          <a:solidFill>
                            <a:srgbClr val="221F1F"/>
                          </a:solidFill>
                          <a:latin typeface="Trebuchet MS"/>
                          <a:cs typeface="Trebuchet MS"/>
                        </a:rPr>
                        <a:t>45</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38100" algn="ctr">
                        <a:lnSpc>
                          <a:spcPct val="100000"/>
                        </a:lnSpc>
                        <a:spcBef>
                          <a:spcPts val="204"/>
                        </a:spcBef>
                      </a:pPr>
                      <a:r>
                        <a:rPr sz="700" b="0" spc="-10" dirty="0">
                          <a:solidFill>
                            <a:srgbClr val="221F1F"/>
                          </a:solidFill>
                          <a:latin typeface="Trebuchet MS"/>
                          <a:cs typeface="Trebuchet MS"/>
                        </a:rPr>
                        <a:t>P/E</a:t>
                      </a:r>
                      <a:r>
                        <a:rPr sz="700" b="0" spc="-5" dirty="0">
                          <a:solidFill>
                            <a:srgbClr val="221F1F"/>
                          </a:solidFill>
                          <a:latin typeface="Trebuchet MS"/>
                          <a:cs typeface="Trebuchet MS"/>
                        </a:rPr>
                        <a:t> Investments</a:t>
                      </a:r>
                      <a:endParaRPr sz="700" b="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635" algn="ctr">
                        <a:lnSpc>
                          <a:spcPct val="100000"/>
                        </a:lnSpc>
                        <a:spcBef>
                          <a:spcPts val="204"/>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R="53340" algn="ctr">
                        <a:lnSpc>
                          <a:spcPct val="100000"/>
                        </a:lnSpc>
                        <a:spcBef>
                          <a:spcPts val="204"/>
                        </a:spcBef>
                      </a:pPr>
                      <a:r>
                        <a:rPr sz="700" b="0" spc="-5" dirty="0">
                          <a:solidFill>
                            <a:srgbClr val="221F1F"/>
                          </a:solidFill>
                          <a:latin typeface="Trebuchet MS"/>
                          <a:cs typeface="Trebuchet MS"/>
                        </a:rPr>
                        <a:t>Macro</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tc>
                  <a:txBody>
                    <a:bodyPr/>
                    <a:lstStyle/>
                    <a:p>
                      <a:pPr marL="12700" algn="ctr">
                        <a:lnSpc>
                          <a:spcPct val="100000"/>
                        </a:lnSpc>
                        <a:spcBef>
                          <a:spcPts val="204"/>
                        </a:spcBef>
                      </a:pPr>
                      <a:r>
                        <a:rPr sz="700" b="0" spc="-10" dirty="0">
                          <a:latin typeface="Trebuchet MS"/>
                          <a:cs typeface="Trebuchet MS"/>
                        </a:rPr>
                        <a:t>12.9</a:t>
                      </a:r>
                      <a:endParaRPr sz="700" b="0" dirty="0">
                        <a:latin typeface="Trebuchet MS"/>
                        <a:cs typeface="Trebuchet MS"/>
                      </a:endParaRPr>
                    </a:p>
                  </a:txBody>
                  <a:tcPr marL="0" marR="0" marT="26034"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20"/>
                  </a:ext>
                </a:extLst>
              </a:tr>
              <a:tr h="173422">
                <a:tc>
                  <a:txBody>
                    <a:bodyPr/>
                    <a:lstStyle/>
                    <a:p>
                      <a:pPr marR="150495" algn="ctr">
                        <a:lnSpc>
                          <a:spcPct val="100000"/>
                        </a:lnSpc>
                        <a:spcBef>
                          <a:spcPts val="210"/>
                        </a:spcBef>
                      </a:pPr>
                      <a:r>
                        <a:rPr sz="700" b="0" spc="-10" dirty="0">
                          <a:solidFill>
                            <a:srgbClr val="221F1F"/>
                          </a:solidFill>
                          <a:latin typeface="Trebuchet MS"/>
                          <a:cs typeface="Trebuchet MS"/>
                        </a:rPr>
                        <a:t>46</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38735" algn="ctr">
                        <a:lnSpc>
                          <a:spcPct val="100000"/>
                        </a:lnSpc>
                        <a:spcBef>
                          <a:spcPts val="210"/>
                        </a:spcBef>
                      </a:pPr>
                      <a:r>
                        <a:rPr sz="700" b="0" spc="-5" dirty="0">
                          <a:solidFill>
                            <a:srgbClr val="221F1F"/>
                          </a:solidFill>
                          <a:latin typeface="Trebuchet MS"/>
                          <a:cs typeface="Trebuchet MS"/>
                        </a:rPr>
                        <a:t>Qube Research &amp;</a:t>
                      </a:r>
                      <a:r>
                        <a:rPr sz="700" b="0" spc="60" dirty="0">
                          <a:solidFill>
                            <a:srgbClr val="221F1F"/>
                          </a:solidFill>
                          <a:latin typeface="Trebuchet MS"/>
                          <a:cs typeface="Trebuchet MS"/>
                        </a:rPr>
                        <a:t> </a:t>
                      </a:r>
                      <a:r>
                        <a:rPr sz="700" b="0" spc="-5" dirty="0">
                          <a:solidFill>
                            <a:srgbClr val="221F1F"/>
                          </a:solidFill>
                          <a:latin typeface="Trebuchet MS"/>
                          <a:cs typeface="Trebuchet MS"/>
                        </a:rPr>
                        <a:t>Technologies</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127000" algn="ctr">
                        <a:lnSpc>
                          <a:spcPct val="100000"/>
                        </a:lnSpc>
                        <a:spcBef>
                          <a:spcPts val="210"/>
                        </a:spcBef>
                      </a:pPr>
                      <a:r>
                        <a:rPr sz="700" b="0" spc="-5" dirty="0">
                          <a:solidFill>
                            <a:srgbClr val="221F1F"/>
                          </a:solidFill>
                          <a:latin typeface="Trebuchet MS"/>
                          <a:cs typeface="Trebuchet MS"/>
                        </a:rPr>
                        <a:t>UK</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R="52069" algn="ctr">
                        <a:lnSpc>
                          <a:spcPct val="100000"/>
                        </a:lnSpc>
                        <a:spcBef>
                          <a:spcPts val="210"/>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12700" algn="ctr">
                        <a:lnSpc>
                          <a:spcPct val="100000"/>
                        </a:lnSpc>
                        <a:spcBef>
                          <a:spcPts val="210"/>
                        </a:spcBef>
                      </a:pPr>
                      <a:r>
                        <a:rPr sz="700" b="0" spc="-10" dirty="0">
                          <a:latin typeface="Trebuchet MS"/>
                          <a:cs typeface="Trebuchet MS"/>
                        </a:rPr>
                        <a:t>12.7</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21"/>
                  </a:ext>
                </a:extLst>
              </a:tr>
              <a:tr h="173503">
                <a:tc>
                  <a:txBody>
                    <a:bodyPr/>
                    <a:lstStyle/>
                    <a:p>
                      <a:pPr marR="150495" algn="ctr">
                        <a:lnSpc>
                          <a:spcPct val="100000"/>
                        </a:lnSpc>
                        <a:spcBef>
                          <a:spcPts val="210"/>
                        </a:spcBef>
                      </a:pPr>
                      <a:r>
                        <a:rPr sz="700" b="0" spc="-10" dirty="0">
                          <a:solidFill>
                            <a:srgbClr val="221F1F"/>
                          </a:solidFill>
                          <a:latin typeface="Trebuchet MS"/>
                          <a:cs typeface="Trebuchet MS"/>
                        </a:rPr>
                        <a:t>47</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38735" algn="ctr">
                        <a:lnSpc>
                          <a:spcPct val="100000"/>
                        </a:lnSpc>
                        <a:spcBef>
                          <a:spcPts val="210"/>
                        </a:spcBef>
                      </a:pPr>
                      <a:r>
                        <a:rPr sz="700" b="0" spc="-5" dirty="0">
                          <a:solidFill>
                            <a:srgbClr val="221F1F"/>
                          </a:solidFill>
                          <a:latin typeface="Trebuchet MS"/>
                          <a:cs typeface="Trebuchet MS"/>
                        </a:rPr>
                        <a:t>SPX </a:t>
                      </a:r>
                      <a:r>
                        <a:rPr sz="700" b="0" spc="-10" dirty="0">
                          <a:solidFill>
                            <a:srgbClr val="221F1F"/>
                          </a:solidFill>
                          <a:latin typeface="Trebuchet MS"/>
                          <a:cs typeface="Trebuchet MS"/>
                        </a:rPr>
                        <a:t>Capital</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127000" algn="ctr">
                        <a:lnSpc>
                          <a:spcPct val="100000"/>
                        </a:lnSpc>
                        <a:spcBef>
                          <a:spcPts val="210"/>
                        </a:spcBef>
                      </a:pPr>
                      <a:r>
                        <a:rPr sz="700" b="0" spc="-5" dirty="0">
                          <a:solidFill>
                            <a:srgbClr val="221F1F"/>
                          </a:solidFill>
                          <a:latin typeface="Trebuchet MS"/>
                          <a:cs typeface="Trebuchet MS"/>
                        </a:rPr>
                        <a:t>Brazil</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R="53340" algn="ctr">
                        <a:lnSpc>
                          <a:spcPct val="100000"/>
                        </a:lnSpc>
                        <a:spcBef>
                          <a:spcPts val="210"/>
                        </a:spcBef>
                      </a:pPr>
                      <a:r>
                        <a:rPr sz="700" b="0" spc="-5" dirty="0">
                          <a:solidFill>
                            <a:srgbClr val="221F1F"/>
                          </a:solidFill>
                          <a:latin typeface="Trebuchet MS"/>
                          <a:cs typeface="Trebuchet MS"/>
                        </a:rPr>
                        <a:t>Macro</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12700" algn="ctr">
                        <a:lnSpc>
                          <a:spcPct val="100000"/>
                        </a:lnSpc>
                        <a:spcBef>
                          <a:spcPts val="210"/>
                        </a:spcBef>
                      </a:pPr>
                      <a:r>
                        <a:rPr sz="700" b="0" spc="-10" dirty="0">
                          <a:latin typeface="Trebuchet MS"/>
                          <a:cs typeface="Trebuchet MS"/>
                        </a:rPr>
                        <a:t>12.6</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22"/>
                  </a:ext>
                </a:extLst>
              </a:tr>
              <a:tr h="173434">
                <a:tc>
                  <a:txBody>
                    <a:bodyPr/>
                    <a:lstStyle/>
                    <a:p>
                      <a:pPr marR="150495" algn="ctr">
                        <a:lnSpc>
                          <a:spcPct val="100000"/>
                        </a:lnSpc>
                        <a:spcBef>
                          <a:spcPts val="210"/>
                        </a:spcBef>
                      </a:pPr>
                      <a:r>
                        <a:rPr sz="700" b="0" spc="-10" dirty="0">
                          <a:solidFill>
                            <a:srgbClr val="221F1F"/>
                          </a:solidFill>
                          <a:latin typeface="Trebuchet MS"/>
                          <a:cs typeface="Trebuchet MS"/>
                        </a:rPr>
                        <a:t>48</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38735" algn="ctr">
                        <a:lnSpc>
                          <a:spcPct val="100000"/>
                        </a:lnSpc>
                        <a:spcBef>
                          <a:spcPts val="210"/>
                        </a:spcBef>
                      </a:pPr>
                      <a:r>
                        <a:rPr sz="700" b="0" spc="-5" dirty="0">
                          <a:solidFill>
                            <a:srgbClr val="221F1F"/>
                          </a:solidFill>
                          <a:latin typeface="Trebuchet MS"/>
                          <a:cs typeface="Trebuchet MS"/>
                        </a:rPr>
                        <a:t>ExodusPoint </a:t>
                      </a:r>
                      <a:r>
                        <a:rPr sz="700" b="0" spc="-10" dirty="0">
                          <a:solidFill>
                            <a:srgbClr val="221F1F"/>
                          </a:solidFill>
                          <a:latin typeface="Trebuchet MS"/>
                          <a:cs typeface="Trebuchet MS"/>
                        </a:rPr>
                        <a:t>Capital</a:t>
                      </a:r>
                      <a:r>
                        <a:rPr sz="700" b="0" spc="3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127000" algn="ctr">
                        <a:lnSpc>
                          <a:spcPct val="100000"/>
                        </a:lnSpc>
                        <a:spcBef>
                          <a:spcPts val="210"/>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R="52069" algn="ctr">
                        <a:lnSpc>
                          <a:spcPct val="100000"/>
                        </a:lnSpc>
                        <a:spcBef>
                          <a:spcPts val="210"/>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12700" algn="ctr">
                        <a:lnSpc>
                          <a:spcPct val="100000"/>
                        </a:lnSpc>
                        <a:spcBef>
                          <a:spcPts val="210"/>
                        </a:spcBef>
                      </a:pPr>
                      <a:r>
                        <a:rPr sz="700" b="0" spc="-10" dirty="0">
                          <a:latin typeface="Trebuchet MS"/>
                          <a:cs typeface="Trebuchet MS"/>
                        </a:rPr>
                        <a:t>12.5</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23"/>
                  </a:ext>
                </a:extLst>
              </a:tr>
              <a:tr h="173434">
                <a:tc>
                  <a:txBody>
                    <a:bodyPr/>
                    <a:lstStyle/>
                    <a:p>
                      <a:pPr marR="150495" algn="ctr">
                        <a:lnSpc>
                          <a:spcPct val="100000"/>
                        </a:lnSpc>
                        <a:spcBef>
                          <a:spcPts val="210"/>
                        </a:spcBef>
                      </a:pPr>
                      <a:r>
                        <a:rPr sz="700" b="0" spc="-10" dirty="0">
                          <a:solidFill>
                            <a:srgbClr val="221F1F"/>
                          </a:solidFill>
                          <a:latin typeface="Trebuchet MS"/>
                          <a:cs typeface="Trebuchet MS"/>
                        </a:rPr>
                        <a:t>49</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38100" algn="ctr">
                        <a:lnSpc>
                          <a:spcPct val="100000"/>
                        </a:lnSpc>
                        <a:spcBef>
                          <a:spcPts val="210"/>
                        </a:spcBef>
                      </a:pPr>
                      <a:r>
                        <a:rPr sz="700" b="0" spc="-5" dirty="0">
                          <a:solidFill>
                            <a:srgbClr val="221F1F"/>
                          </a:solidFill>
                          <a:latin typeface="Trebuchet MS"/>
                          <a:cs typeface="Trebuchet MS"/>
                        </a:rPr>
                        <a:t>Caxton</a:t>
                      </a:r>
                      <a:r>
                        <a:rPr sz="700" b="0" dirty="0">
                          <a:solidFill>
                            <a:srgbClr val="221F1F"/>
                          </a:solidFill>
                          <a:latin typeface="Trebuchet MS"/>
                          <a:cs typeface="Trebuchet MS"/>
                        </a:rPr>
                        <a:t> </a:t>
                      </a:r>
                      <a:r>
                        <a:rPr sz="700" b="0" spc="-10" dirty="0">
                          <a:solidFill>
                            <a:srgbClr val="221F1F"/>
                          </a:solidFill>
                          <a:latin typeface="Trebuchet MS"/>
                          <a:cs typeface="Trebuchet MS"/>
                        </a:rPr>
                        <a:t>Associates</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127000" algn="ctr">
                        <a:lnSpc>
                          <a:spcPct val="100000"/>
                        </a:lnSpc>
                        <a:spcBef>
                          <a:spcPts val="210"/>
                        </a:spcBef>
                      </a:pPr>
                      <a:r>
                        <a:rPr sz="700" b="0" spc="-5" dirty="0">
                          <a:solidFill>
                            <a:srgbClr val="221F1F"/>
                          </a:solidFill>
                          <a:latin typeface="Trebuchet MS"/>
                          <a:cs typeface="Trebuchet MS"/>
                        </a:rPr>
                        <a:t>UK</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R="53340" algn="ctr">
                        <a:lnSpc>
                          <a:spcPct val="100000"/>
                        </a:lnSpc>
                        <a:spcBef>
                          <a:spcPts val="210"/>
                        </a:spcBef>
                      </a:pPr>
                      <a:r>
                        <a:rPr sz="700" b="0" spc="-5" dirty="0">
                          <a:solidFill>
                            <a:srgbClr val="221F1F"/>
                          </a:solidFill>
                          <a:latin typeface="Trebuchet MS"/>
                          <a:cs typeface="Trebuchet MS"/>
                        </a:rPr>
                        <a:t>Macro</a:t>
                      </a:r>
                      <a:endParaRPr sz="700" b="0">
                        <a:latin typeface="Trebuchet MS"/>
                        <a:cs typeface="Trebuchet MS"/>
                      </a:endParaRPr>
                    </a:p>
                  </a:txBody>
                  <a:tcPr marL="0" marR="0" marT="26670" marB="0">
                    <a:lnT w="6350">
                      <a:solidFill>
                        <a:srgbClr val="221F1F"/>
                      </a:solidFill>
                      <a:prstDash val="solid"/>
                    </a:lnT>
                    <a:lnB w="6350">
                      <a:solidFill>
                        <a:srgbClr val="221F1F"/>
                      </a:solidFill>
                      <a:prstDash val="solid"/>
                    </a:lnB>
                  </a:tcPr>
                </a:tc>
                <a:tc>
                  <a:txBody>
                    <a:bodyPr/>
                    <a:lstStyle/>
                    <a:p>
                      <a:pPr marL="12700" algn="ctr">
                        <a:lnSpc>
                          <a:spcPct val="100000"/>
                        </a:lnSpc>
                        <a:spcBef>
                          <a:spcPts val="210"/>
                        </a:spcBef>
                      </a:pPr>
                      <a:r>
                        <a:rPr sz="700" b="0" spc="-10" dirty="0">
                          <a:latin typeface="Trebuchet MS"/>
                          <a:cs typeface="Trebuchet MS"/>
                        </a:rPr>
                        <a:t>11.9</a:t>
                      </a:r>
                      <a:endParaRPr sz="700" b="0" dirty="0">
                        <a:latin typeface="Trebuchet MS"/>
                        <a:cs typeface="Trebuchet MS"/>
                      </a:endParaRPr>
                    </a:p>
                  </a:txBody>
                  <a:tcPr marL="0" marR="0" marT="26670" marB="0">
                    <a:lnT w="6350">
                      <a:solidFill>
                        <a:srgbClr val="221F1F"/>
                      </a:solidFill>
                      <a:prstDash val="solid"/>
                    </a:lnT>
                    <a:lnB w="6350">
                      <a:solidFill>
                        <a:srgbClr val="221F1F"/>
                      </a:solidFill>
                      <a:prstDash val="solid"/>
                    </a:lnB>
                  </a:tcPr>
                </a:tc>
                <a:extLst>
                  <a:ext uri="{0D108BD9-81ED-4DB2-BD59-A6C34878D82A}">
                    <a16:rowId xmlns:a16="http://schemas.microsoft.com/office/drawing/2014/main" val="10024"/>
                  </a:ext>
                </a:extLst>
              </a:tr>
              <a:tr h="173448">
                <a:tc>
                  <a:txBody>
                    <a:bodyPr/>
                    <a:lstStyle/>
                    <a:p>
                      <a:pPr marR="150495" algn="ctr">
                        <a:lnSpc>
                          <a:spcPct val="100000"/>
                        </a:lnSpc>
                        <a:spcBef>
                          <a:spcPts val="209"/>
                        </a:spcBef>
                      </a:pPr>
                      <a:r>
                        <a:rPr sz="700" b="0" spc="-10" dirty="0">
                          <a:solidFill>
                            <a:srgbClr val="221F1F"/>
                          </a:solidFill>
                          <a:latin typeface="Trebuchet MS"/>
                          <a:cs typeface="Trebuchet MS"/>
                        </a:rPr>
                        <a:t>50</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L="36830" algn="ctr">
                        <a:lnSpc>
                          <a:spcPct val="100000"/>
                        </a:lnSpc>
                        <a:spcBef>
                          <a:spcPts val="209"/>
                        </a:spcBef>
                      </a:pPr>
                      <a:r>
                        <a:rPr sz="700" b="0" spc="-10" dirty="0">
                          <a:solidFill>
                            <a:srgbClr val="221F1F"/>
                          </a:solidFill>
                          <a:latin typeface="Trebuchet MS"/>
                          <a:cs typeface="Trebuchet MS"/>
                        </a:rPr>
                        <a:t>Goldman </a:t>
                      </a:r>
                      <a:r>
                        <a:rPr sz="700" b="0" spc="-5" dirty="0">
                          <a:solidFill>
                            <a:srgbClr val="221F1F"/>
                          </a:solidFill>
                          <a:latin typeface="Trebuchet MS"/>
                          <a:cs typeface="Trebuchet MS"/>
                        </a:rPr>
                        <a:t>Sachs </a:t>
                      </a:r>
                      <a:r>
                        <a:rPr sz="700" b="0" spc="-10" dirty="0">
                          <a:solidFill>
                            <a:srgbClr val="221F1F"/>
                          </a:solidFill>
                          <a:latin typeface="Trebuchet MS"/>
                          <a:cs typeface="Trebuchet MS"/>
                        </a:rPr>
                        <a:t>Asset</a:t>
                      </a:r>
                      <a:r>
                        <a:rPr sz="700" b="0" spc="90" dirty="0">
                          <a:solidFill>
                            <a:srgbClr val="221F1F"/>
                          </a:solidFill>
                          <a:latin typeface="Trebuchet MS"/>
                          <a:cs typeface="Trebuchet MS"/>
                        </a:rPr>
                        <a:t> </a:t>
                      </a:r>
                      <a:r>
                        <a:rPr sz="700" b="0" spc="-10" dirty="0">
                          <a:solidFill>
                            <a:srgbClr val="221F1F"/>
                          </a:solidFill>
                          <a:latin typeface="Trebuchet MS"/>
                          <a:cs typeface="Trebuchet MS"/>
                        </a:rPr>
                        <a:t>Management</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L="127000" algn="ctr">
                        <a:lnSpc>
                          <a:spcPct val="100000"/>
                        </a:lnSpc>
                        <a:spcBef>
                          <a:spcPts val="209"/>
                        </a:spcBef>
                      </a:pPr>
                      <a:r>
                        <a:rPr sz="700" b="0" spc="-5" dirty="0">
                          <a:solidFill>
                            <a:srgbClr val="221F1F"/>
                          </a:solidFill>
                          <a:latin typeface="Trebuchet MS"/>
                          <a:cs typeface="Trebuchet MS"/>
                        </a:rPr>
                        <a:t>USA</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R="52069" algn="ctr">
                        <a:lnSpc>
                          <a:spcPct val="100000"/>
                        </a:lnSpc>
                        <a:spcBef>
                          <a:spcPts val="209"/>
                        </a:spcBef>
                      </a:pPr>
                      <a:r>
                        <a:rPr sz="700" b="0" spc="-5" dirty="0">
                          <a:solidFill>
                            <a:srgbClr val="221F1F"/>
                          </a:solidFill>
                          <a:latin typeface="Trebuchet MS"/>
                          <a:cs typeface="Trebuchet MS"/>
                        </a:rPr>
                        <a:t>Multi-strategy</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tc>
                  <a:txBody>
                    <a:bodyPr/>
                    <a:lstStyle/>
                    <a:p>
                      <a:pPr marL="12700" algn="ctr">
                        <a:lnSpc>
                          <a:spcPct val="100000"/>
                        </a:lnSpc>
                        <a:spcBef>
                          <a:spcPts val="209"/>
                        </a:spcBef>
                      </a:pPr>
                      <a:r>
                        <a:rPr sz="700" b="0" spc="-10" dirty="0">
                          <a:latin typeface="Trebuchet MS"/>
                          <a:cs typeface="Trebuchet MS"/>
                        </a:rPr>
                        <a:t>11.6</a:t>
                      </a:r>
                      <a:endParaRPr sz="700" b="0" dirty="0">
                        <a:latin typeface="Trebuchet MS"/>
                        <a:cs typeface="Trebuchet MS"/>
                      </a:endParaRPr>
                    </a:p>
                  </a:txBody>
                  <a:tcPr marL="0" marR="0" marT="26669" marB="0">
                    <a:lnT w="6350">
                      <a:solidFill>
                        <a:srgbClr val="221F1F"/>
                      </a:solidFill>
                      <a:prstDash val="solid"/>
                    </a:lnT>
                    <a:lnB w="6350">
                      <a:solidFill>
                        <a:srgbClr val="221F1F"/>
                      </a:solidFill>
                      <a:prstDash val="solid"/>
                    </a:lnB>
                    <a:noFill/>
                  </a:tcPr>
                </a:tc>
                <a:extLst>
                  <a:ext uri="{0D108BD9-81ED-4DB2-BD59-A6C34878D82A}">
                    <a16:rowId xmlns:a16="http://schemas.microsoft.com/office/drawing/2014/main" val="10025"/>
                  </a:ext>
                </a:extLst>
              </a:tr>
            </a:tbl>
          </a:graphicData>
        </a:graphic>
      </p:graphicFrame>
    </p:spTree>
    <p:custDataLst>
      <p:tags r:id="rId1"/>
    </p:custDataLst>
    <p:extLst>
      <p:ext uri="{BB962C8B-B14F-4D97-AF65-F5344CB8AC3E}">
        <p14:creationId xmlns:p14="http://schemas.microsoft.com/office/powerpoint/2010/main" val="39548115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未标题-1"/>
          <p:cNvPicPr>
            <a:picLocks noChangeAspect="1"/>
          </p:cNvPicPr>
          <p:nvPr/>
        </p:nvPicPr>
        <p:blipFill>
          <a:blip r:embed="rId4"/>
          <a:stretch>
            <a:fillRect/>
          </a:stretch>
        </p:blipFill>
        <p:spPr>
          <a:xfrm>
            <a:off x="11133455" y="295910"/>
            <a:ext cx="771525" cy="187960"/>
          </a:xfrm>
          <a:prstGeom prst="rect">
            <a:avLst/>
          </a:prstGeom>
        </p:spPr>
      </p:pic>
      <p:sp>
        <p:nvSpPr>
          <p:cNvPr id="44" name="文本框 43"/>
          <p:cNvSpPr txBox="1"/>
          <p:nvPr/>
        </p:nvSpPr>
        <p:spPr>
          <a:xfrm>
            <a:off x="238539" y="178904"/>
            <a:ext cx="546029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dirty="0" smtClean="0">
                <a:solidFill>
                  <a:srgbClr val="015658"/>
                </a:solidFill>
                <a:latin typeface="獅尾四季春加糖SC-Bold" panose="020B0500000000000000" pitchFamily="34" charset="-120"/>
                <a:ea typeface="獅尾四季春加糖SC-Bold" panose="020B0500000000000000" pitchFamily="34" charset="-120"/>
              </a:rPr>
              <a:t>平台型多策略基金规模增长迅速</a:t>
            </a:r>
            <a:endParaRPr kumimoji="0" lang="zh-CN" altLang="en-US" sz="2400" b="1" i="0" u="none" strike="noStrike" kern="1200" cap="none" spc="0" normalizeH="0" baseline="0" noProof="0" dirty="0">
              <a:ln>
                <a:noFill/>
              </a:ln>
              <a:solidFill>
                <a:srgbClr val="015658"/>
              </a:solidFill>
              <a:effectLst/>
              <a:uLnTx/>
              <a:uFillTx/>
              <a:latin typeface="獅尾四季春加糖SC-Bold" panose="020B0500000000000000" pitchFamily="34" charset="-120"/>
              <a:ea typeface="獅尾四季春加糖SC-Bold" panose="020B0500000000000000" pitchFamily="34" charset="-120"/>
              <a:cs typeface="+mn-cs"/>
            </a:endParaRPr>
          </a:p>
        </p:txBody>
      </p:sp>
      <p:graphicFrame>
        <p:nvGraphicFramePr>
          <p:cNvPr id="43" name="图表 42"/>
          <p:cNvGraphicFramePr/>
          <p:nvPr/>
        </p:nvGraphicFramePr>
        <p:xfrm>
          <a:off x="404020" y="2612966"/>
          <a:ext cx="5947570" cy="3762436"/>
        </p:xfrm>
        <a:graphic>
          <a:graphicData uri="http://schemas.openxmlformats.org/drawingml/2006/chart">
            <c:chart xmlns:c="http://schemas.openxmlformats.org/drawingml/2006/chart" xmlns:r="http://schemas.openxmlformats.org/officeDocument/2006/relationships" r:id="rId5"/>
          </a:graphicData>
        </a:graphic>
      </p:graphicFrame>
      <p:cxnSp>
        <p:nvCxnSpPr>
          <p:cNvPr id="45" name="直接箭头连接符 44"/>
          <p:cNvCxnSpPr/>
          <p:nvPr/>
        </p:nvCxnSpPr>
        <p:spPr>
          <a:xfrm flipV="1">
            <a:off x="928689" y="4635500"/>
            <a:ext cx="2959100" cy="317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4243389" y="3340100"/>
            <a:ext cx="1739900" cy="1168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2057005" y="4332585"/>
            <a:ext cx="1005284" cy="461665"/>
          </a:xfrm>
          <a:prstGeom prst="rect">
            <a:avLst/>
          </a:prstGeom>
          <a:noFill/>
        </p:spPr>
        <p:txBody>
          <a:bodyPr wrap="square" rtlCol="0">
            <a:spAutoFit/>
          </a:bodyPr>
          <a:lstStyle/>
          <a:p>
            <a:r>
              <a:rPr lang="en-US" altLang="zh-CN" sz="1200" dirty="0"/>
              <a:t>2010-17</a:t>
            </a:r>
          </a:p>
          <a:p>
            <a:r>
              <a:rPr lang="en-US" altLang="zh-CN" sz="1200" dirty="0"/>
              <a:t>CAGR:4.9%</a:t>
            </a:r>
            <a:endParaRPr lang="zh-CN" altLang="en-US" sz="1200" dirty="0"/>
          </a:p>
        </p:txBody>
      </p:sp>
      <p:sp>
        <p:nvSpPr>
          <p:cNvPr id="48" name="文本框 47"/>
          <p:cNvSpPr txBox="1"/>
          <p:nvPr/>
        </p:nvSpPr>
        <p:spPr>
          <a:xfrm>
            <a:off x="4525368" y="3310431"/>
            <a:ext cx="1005284" cy="461665"/>
          </a:xfrm>
          <a:prstGeom prst="rect">
            <a:avLst/>
          </a:prstGeom>
          <a:noFill/>
        </p:spPr>
        <p:txBody>
          <a:bodyPr wrap="square" rtlCol="0">
            <a:spAutoFit/>
          </a:bodyPr>
          <a:lstStyle/>
          <a:p>
            <a:r>
              <a:rPr lang="en-US" altLang="zh-CN" sz="1200" dirty="0"/>
              <a:t>2017-22</a:t>
            </a:r>
          </a:p>
          <a:p>
            <a:r>
              <a:rPr lang="en-US" altLang="zh-CN" sz="1200" b="1" dirty="0">
                <a:solidFill>
                  <a:srgbClr val="FF0000"/>
                </a:solidFill>
              </a:rPr>
              <a:t>CAGR:18.8%</a:t>
            </a:r>
            <a:endParaRPr lang="zh-CN" altLang="en-US" sz="1200" b="1" dirty="0">
              <a:solidFill>
                <a:srgbClr val="FF0000"/>
              </a:solidFill>
            </a:endParaRPr>
          </a:p>
        </p:txBody>
      </p:sp>
      <p:graphicFrame>
        <p:nvGraphicFramePr>
          <p:cNvPr id="49" name="图表 48"/>
          <p:cNvGraphicFramePr/>
          <p:nvPr/>
        </p:nvGraphicFramePr>
        <p:xfrm>
          <a:off x="6451600" y="2612966"/>
          <a:ext cx="5336380" cy="3762436"/>
        </p:xfrm>
        <a:graphic>
          <a:graphicData uri="http://schemas.openxmlformats.org/drawingml/2006/chart">
            <c:chart xmlns:c="http://schemas.openxmlformats.org/drawingml/2006/chart" xmlns:r="http://schemas.openxmlformats.org/officeDocument/2006/relationships" r:id="rId6"/>
          </a:graphicData>
        </a:graphic>
      </p:graphicFrame>
      <p:cxnSp>
        <p:nvCxnSpPr>
          <p:cNvPr id="50" name="直接箭头连接符 49"/>
          <p:cNvCxnSpPr/>
          <p:nvPr/>
        </p:nvCxnSpPr>
        <p:spPr>
          <a:xfrm flipV="1">
            <a:off x="6934200" y="3909716"/>
            <a:ext cx="2743798" cy="738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flipV="1">
            <a:off x="9906201" y="3625851"/>
            <a:ext cx="1518542" cy="230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7532690" y="3856683"/>
            <a:ext cx="1005284" cy="461665"/>
          </a:xfrm>
          <a:prstGeom prst="rect">
            <a:avLst/>
          </a:prstGeom>
          <a:noFill/>
        </p:spPr>
        <p:txBody>
          <a:bodyPr wrap="square" rtlCol="0">
            <a:spAutoFit/>
          </a:bodyPr>
          <a:lstStyle/>
          <a:p>
            <a:r>
              <a:rPr lang="en-US" altLang="zh-CN" sz="1200" dirty="0"/>
              <a:t>2010-17</a:t>
            </a:r>
          </a:p>
          <a:p>
            <a:r>
              <a:rPr lang="en-US" altLang="zh-CN" sz="1200" dirty="0"/>
              <a:t>CAGR:7.8%</a:t>
            </a:r>
            <a:endParaRPr lang="zh-CN" altLang="en-US" sz="1200" dirty="0"/>
          </a:p>
        </p:txBody>
      </p:sp>
      <p:sp>
        <p:nvSpPr>
          <p:cNvPr id="53" name="文本框 52"/>
          <p:cNvSpPr txBox="1"/>
          <p:nvPr/>
        </p:nvSpPr>
        <p:spPr>
          <a:xfrm>
            <a:off x="10162830" y="3164186"/>
            <a:ext cx="1005284" cy="461665"/>
          </a:xfrm>
          <a:prstGeom prst="rect">
            <a:avLst/>
          </a:prstGeom>
          <a:noFill/>
        </p:spPr>
        <p:txBody>
          <a:bodyPr wrap="square" rtlCol="0">
            <a:spAutoFit/>
          </a:bodyPr>
          <a:lstStyle/>
          <a:p>
            <a:r>
              <a:rPr lang="en-US" altLang="zh-CN" sz="1200" dirty="0"/>
              <a:t>2017-22</a:t>
            </a:r>
          </a:p>
          <a:p>
            <a:r>
              <a:rPr lang="en-US" altLang="zh-CN" sz="1200" b="1" dirty="0">
                <a:solidFill>
                  <a:srgbClr val="FF0000"/>
                </a:solidFill>
              </a:rPr>
              <a:t>CAGR:2.6%</a:t>
            </a:r>
            <a:endParaRPr lang="zh-CN" altLang="en-US" sz="1200" b="1" dirty="0">
              <a:solidFill>
                <a:srgbClr val="FF0000"/>
              </a:solidFill>
            </a:endParaRPr>
          </a:p>
        </p:txBody>
      </p:sp>
      <p:sp>
        <p:nvSpPr>
          <p:cNvPr id="54" name="矩形 53"/>
          <p:cNvSpPr/>
          <p:nvPr/>
        </p:nvSpPr>
        <p:spPr>
          <a:xfrm>
            <a:off x="567343" y="1036369"/>
            <a:ext cx="11337637" cy="646331"/>
          </a:xfrm>
          <a:prstGeom prst="rect">
            <a:avLst/>
          </a:prstGeom>
        </p:spPr>
        <p:txBody>
          <a:bodyPr wrap="square">
            <a:spAutoFit/>
          </a:bodyPr>
          <a:lstStyle/>
          <a:p>
            <a:r>
              <a:rPr lang="zh-CN" altLang="en-US" dirty="0"/>
              <a:t>相较于传统的多策略基金，近几年多基金经理（</a:t>
            </a:r>
            <a:r>
              <a:rPr lang="en-US" altLang="zh-CN" dirty="0"/>
              <a:t>Multi-PM</a:t>
            </a:r>
            <a:r>
              <a:rPr lang="zh-CN" altLang="en-US" dirty="0"/>
              <a:t>）型对冲基金由于其出色而稳定的回报，获得了资金的青睐。自</a:t>
            </a:r>
            <a:r>
              <a:rPr lang="en-US" altLang="zh-CN" dirty="0"/>
              <a:t>2018</a:t>
            </a:r>
            <a:r>
              <a:rPr lang="zh-CN" altLang="en-US" dirty="0"/>
              <a:t>年起，该类对冲基金的规模增长水平远超对冲基金行业平均水平。</a:t>
            </a:r>
            <a:endParaRPr lang="en-US" altLang="zh-CN" dirty="0"/>
          </a:p>
        </p:txBody>
      </p:sp>
      <p:sp>
        <p:nvSpPr>
          <p:cNvPr id="55" name="矩形 54"/>
          <p:cNvSpPr/>
          <p:nvPr/>
        </p:nvSpPr>
        <p:spPr>
          <a:xfrm>
            <a:off x="431801" y="2235200"/>
            <a:ext cx="11413836" cy="338554"/>
          </a:xfrm>
          <a:prstGeom prst="rect">
            <a:avLst/>
          </a:prstGeom>
          <a:solidFill>
            <a:schemeClr val="accent5">
              <a:lumMod val="75000"/>
            </a:schemeClr>
          </a:solidFill>
        </p:spPr>
        <p:txBody>
          <a:bodyPr wrap="square">
            <a:spAutoFit/>
          </a:bodyPr>
          <a:lstStyle/>
          <a:p>
            <a:pPr algn="ctr"/>
            <a:r>
              <a:rPr lang="zh-CN" altLang="en-US" sz="1600" dirty="0">
                <a:solidFill>
                  <a:schemeClr val="bg1"/>
                </a:solidFill>
              </a:rPr>
              <a:t>多基金经理对冲基金与其余对冲基金规模对比，</a:t>
            </a:r>
            <a:r>
              <a:rPr lang="en-US" altLang="zh-CN" sz="1600" dirty="0">
                <a:solidFill>
                  <a:schemeClr val="bg1"/>
                </a:solidFill>
              </a:rPr>
              <a:t>2010-2022</a:t>
            </a:r>
          </a:p>
        </p:txBody>
      </p:sp>
      <p:sp>
        <p:nvSpPr>
          <p:cNvPr id="56" name="矩形 55"/>
          <p:cNvSpPr/>
          <p:nvPr/>
        </p:nvSpPr>
        <p:spPr>
          <a:xfrm>
            <a:off x="252084" y="6441958"/>
            <a:ext cx="3446858" cy="230832"/>
          </a:xfrm>
          <a:prstGeom prst="rect">
            <a:avLst/>
          </a:prstGeom>
        </p:spPr>
        <p:txBody>
          <a:bodyPr wrap="square">
            <a:spAutoFit/>
          </a:bodyPr>
          <a:lstStyle/>
          <a:p>
            <a:r>
              <a:rPr lang="zh-CN" altLang="en-US" sz="900" dirty="0"/>
              <a:t>数据来源：高盛</a:t>
            </a:r>
            <a:endParaRPr lang="en-US" altLang="zh-CN" sz="900" dirty="0"/>
          </a:p>
        </p:txBody>
      </p:sp>
    </p:spTree>
    <p:custDataLst>
      <p:tags r:id="rId1"/>
    </p:custDataLst>
    <p:extLst>
      <p:ext uri="{BB962C8B-B14F-4D97-AF65-F5344CB8AC3E}">
        <p14:creationId xmlns:p14="http://schemas.microsoft.com/office/powerpoint/2010/main" val="20312426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标题 14"/>
          <p:cNvSpPr>
            <a:spLocks noGrp="1"/>
          </p:cNvSpPr>
          <p:nvPr>
            <p:ph type="ctrTitle"/>
          </p:nvPr>
        </p:nvSpPr>
        <p:spPr>
          <a:xfrm>
            <a:off x="424873" y="22144"/>
            <a:ext cx="5852266" cy="800735"/>
          </a:xfrm>
        </p:spPr>
        <p:txBody>
          <a:bodyPr vert="horz" lIns="90000" tIns="46800" rIns="90000" bIns="46800" rtlCol="0" anchor="b" anchorCtr="0">
            <a:noAutofit/>
          </a:bodyPr>
          <a:lstStyle/>
          <a:p>
            <a:pPr lvl="0" algn="l">
              <a:spcBef>
                <a:spcPts val="0"/>
              </a:spcBef>
              <a:buClrTx/>
              <a:buSzTx/>
              <a:defRPr/>
            </a:pP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平台</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型</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对冲基金三巨头</a:t>
            </a:r>
            <a:endPar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endParaRPr>
          </a:p>
        </p:txBody>
      </p:sp>
      <p:pic>
        <p:nvPicPr>
          <p:cNvPr id="5" name="图片 4" descr="未标题-1"/>
          <p:cNvPicPr>
            <a:picLocks noChangeAspect="1"/>
          </p:cNvPicPr>
          <p:nvPr/>
        </p:nvPicPr>
        <p:blipFill>
          <a:blip r:embed="rId5"/>
          <a:stretch>
            <a:fillRect/>
          </a:stretch>
        </p:blipFill>
        <p:spPr>
          <a:xfrm>
            <a:off x="11133455" y="295910"/>
            <a:ext cx="771525" cy="187960"/>
          </a:xfrm>
          <a:prstGeom prst="rect">
            <a:avLst/>
          </a:prstGeom>
        </p:spPr>
      </p:pic>
      <p:graphicFrame>
        <p:nvGraphicFramePr>
          <p:cNvPr id="19" name="表格 18">
            <a:extLst>
              <a:ext uri="{FF2B5EF4-FFF2-40B4-BE49-F238E27FC236}">
                <a16:creationId xmlns:a16="http://schemas.microsoft.com/office/drawing/2014/main" id="{BE7C4804-505E-401C-B08C-51443E00234A}"/>
              </a:ext>
            </a:extLst>
          </p:cNvPr>
          <p:cNvGraphicFramePr>
            <a:graphicFrameLocks noGrp="1"/>
          </p:cNvGraphicFramePr>
          <p:nvPr>
            <p:extLst>
              <p:ext uri="{D42A27DB-BD31-4B8C-83A1-F6EECF244321}">
                <p14:modId xmlns:p14="http://schemas.microsoft.com/office/powerpoint/2010/main" val="1496013473"/>
              </p:ext>
            </p:extLst>
          </p:nvPr>
        </p:nvGraphicFramePr>
        <p:xfrm>
          <a:off x="339365" y="1269837"/>
          <a:ext cx="11565615" cy="5243735"/>
        </p:xfrm>
        <a:graphic>
          <a:graphicData uri="http://schemas.openxmlformats.org/drawingml/2006/table">
            <a:tbl>
              <a:tblPr firstRow="1" bandRow="1">
                <a:tableStyleId>{3B4B98B0-60AC-42C2-AFA5-B58CD77FA1E5}</a:tableStyleId>
              </a:tblPr>
              <a:tblGrid>
                <a:gridCol w="1699411">
                  <a:extLst>
                    <a:ext uri="{9D8B030D-6E8A-4147-A177-3AD203B41FA5}">
                      <a16:colId xmlns:a16="http://schemas.microsoft.com/office/drawing/2014/main" val="3912527386"/>
                    </a:ext>
                  </a:extLst>
                </a:gridCol>
                <a:gridCol w="3398818">
                  <a:extLst>
                    <a:ext uri="{9D8B030D-6E8A-4147-A177-3AD203B41FA5}">
                      <a16:colId xmlns:a16="http://schemas.microsoft.com/office/drawing/2014/main" val="3510195278"/>
                    </a:ext>
                  </a:extLst>
                </a:gridCol>
                <a:gridCol w="3302495">
                  <a:extLst>
                    <a:ext uri="{9D8B030D-6E8A-4147-A177-3AD203B41FA5}">
                      <a16:colId xmlns:a16="http://schemas.microsoft.com/office/drawing/2014/main" val="156977276"/>
                    </a:ext>
                  </a:extLst>
                </a:gridCol>
                <a:gridCol w="3164891">
                  <a:extLst>
                    <a:ext uri="{9D8B030D-6E8A-4147-A177-3AD203B41FA5}">
                      <a16:colId xmlns:a16="http://schemas.microsoft.com/office/drawing/2014/main" val="3082971795"/>
                    </a:ext>
                  </a:extLst>
                </a:gridCol>
              </a:tblGrid>
              <a:tr h="1651468">
                <a:tc>
                  <a:txBody>
                    <a:bodyPr/>
                    <a:lstStyle/>
                    <a:p>
                      <a:endParaRPr lang="zh-CN" altLang="en-US" sz="105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05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05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sz="1050"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229087"/>
                  </a:ext>
                </a:extLst>
              </a:tr>
              <a:tr h="363313">
                <a:tc>
                  <a:txBody>
                    <a:bodyPr/>
                    <a:lstStyle/>
                    <a:p>
                      <a:pPr marL="0" indent="0" algn="ctr" defTabSz="914400" rtl="0" eaLnBrk="1" latinLnBrk="0" hangingPunct="1">
                        <a:lnSpc>
                          <a:spcPct val="150000"/>
                        </a:lnSpc>
                        <a:buFont typeface="Arial" panose="020B0604020202020204" pitchFamily="34" charset="0"/>
                        <a:buNone/>
                      </a:pPr>
                      <a:endParaRPr lang="zh-CN" altLang="en-US" sz="1200" b="1" kern="1200" spc="200" dirty="0">
                        <a:solidFill>
                          <a:srgbClr val="FFFFFF"/>
                        </a:solidFill>
                        <a:latin typeface="+mn-lt"/>
                        <a:ea typeface="思源黑体 CN Light" panose="020B0300000000000000" charset="-122"/>
                        <a:cs typeface="+mn-cs"/>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57000"/>
                    </a:solidFill>
                  </a:tcPr>
                </a:tc>
                <a:tc>
                  <a:txBody>
                    <a:bodyPr/>
                    <a:lstStyle/>
                    <a:p>
                      <a:pPr marL="0" indent="0" algn="ctr" defTabSz="914400" rtl="0" eaLnBrk="1" latinLnBrk="0" hangingPunct="1">
                        <a:lnSpc>
                          <a:spcPct val="150000"/>
                        </a:lnSpc>
                        <a:buFont typeface="Arial" panose="020B0604020202020204" pitchFamily="34" charset="0"/>
                        <a:buNone/>
                      </a:pPr>
                      <a:r>
                        <a:rPr lang="en-US" altLang="zh-CN" sz="1200" b="1" kern="1200" spc="200" dirty="0" smtClean="0">
                          <a:solidFill>
                            <a:srgbClr val="FFFFFF"/>
                          </a:solidFill>
                          <a:latin typeface="+mn-lt"/>
                          <a:ea typeface="思源黑体 CN Light" panose="020B0300000000000000" charset="-122"/>
                          <a:cs typeface="+mn-cs"/>
                        </a:rPr>
                        <a:t>Millennium</a:t>
                      </a:r>
                      <a:endParaRPr lang="zh-CN" altLang="en-US" sz="1200" b="1" kern="1200" spc="200" dirty="0">
                        <a:solidFill>
                          <a:srgbClr val="FFFFFF"/>
                        </a:solidFill>
                        <a:latin typeface="+mn-lt"/>
                        <a:ea typeface="思源黑体 CN Light" panose="020B0300000000000000"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57000"/>
                    </a:solidFill>
                  </a:tcPr>
                </a:tc>
                <a:tc>
                  <a:txBody>
                    <a:bodyPr/>
                    <a:lstStyle/>
                    <a:p>
                      <a:pPr marL="0" indent="0" algn="ctr" defTabSz="914400" rtl="0" eaLnBrk="1" latinLnBrk="0" hangingPunct="1">
                        <a:lnSpc>
                          <a:spcPct val="150000"/>
                        </a:lnSpc>
                        <a:buFont typeface="Arial" panose="020B0604020202020204" pitchFamily="34" charset="0"/>
                        <a:buNone/>
                      </a:pPr>
                      <a:r>
                        <a:rPr lang="en-US" altLang="zh-CN" sz="1200" b="1" kern="1200" spc="200" dirty="0">
                          <a:solidFill>
                            <a:srgbClr val="FFFFFF"/>
                          </a:solidFill>
                          <a:latin typeface="+mn-lt"/>
                          <a:ea typeface="思源黑体 CN Light" panose="020B0300000000000000" charset="-122"/>
                          <a:cs typeface="+mn-cs"/>
                        </a:rPr>
                        <a:t>Citadel</a:t>
                      </a:r>
                      <a:endParaRPr lang="zh-CN" altLang="en-US" sz="1200" b="1" kern="1200" spc="200" dirty="0">
                        <a:solidFill>
                          <a:srgbClr val="FFFFFF"/>
                        </a:solidFill>
                        <a:latin typeface="+mn-lt"/>
                        <a:ea typeface="思源黑体 CN Light" panose="020B0300000000000000"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57000"/>
                    </a:solidFill>
                  </a:tcPr>
                </a:tc>
                <a:tc>
                  <a:txBody>
                    <a:bodyPr/>
                    <a:lstStyle/>
                    <a:p>
                      <a:pPr marL="0" indent="0" algn="ctr" defTabSz="914400" rtl="0" eaLnBrk="1" latinLnBrk="0" hangingPunct="1">
                        <a:lnSpc>
                          <a:spcPct val="150000"/>
                        </a:lnSpc>
                        <a:buFont typeface="Arial" panose="020B0604020202020204" pitchFamily="34" charset="0"/>
                        <a:buNone/>
                      </a:pPr>
                      <a:r>
                        <a:rPr lang="en-US" altLang="zh-CN" sz="1200" b="1" kern="1200" spc="200" dirty="0" smtClean="0">
                          <a:solidFill>
                            <a:srgbClr val="FFFFFF"/>
                          </a:solidFill>
                          <a:latin typeface="+mn-lt"/>
                          <a:ea typeface="思源黑体 CN Light" panose="020B0300000000000000" charset="-122"/>
                          <a:cs typeface="+mn-cs"/>
                        </a:rPr>
                        <a:t>Point72</a:t>
                      </a:r>
                      <a:endParaRPr lang="zh-CN" altLang="en-US" sz="1200" b="1" kern="1200" spc="200" dirty="0">
                        <a:solidFill>
                          <a:srgbClr val="FFFFFF"/>
                        </a:solidFill>
                        <a:latin typeface="+mn-lt"/>
                        <a:ea typeface="思源黑体 CN Light" panose="020B0300000000000000" charset="-122"/>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57000"/>
                    </a:solidFill>
                  </a:tcPr>
                </a:tc>
                <a:extLst>
                  <a:ext uri="{0D108BD9-81ED-4DB2-BD59-A6C34878D82A}">
                    <a16:rowId xmlns:a16="http://schemas.microsoft.com/office/drawing/2014/main" val="2229703147"/>
                  </a:ext>
                </a:extLst>
              </a:tr>
              <a:tr h="363313">
                <a:tc>
                  <a:txBody>
                    <a:bodyPr/>
                    <a:lstStyle/>
                    <a:p>
                      <a:pPr marL="0" indent="0" algn="ctr" defTabSz="914400" rtl="0" eaLnBrk="1" latinLnBrk="0" hangingPunct="1">
                        <a:lnSpc>
                          <a:spcPct val="15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AUM</a:t>
                      </a:r>
                      <a:endParaRPr lang="zh-CN" altLang="en-US" sz="1050" kern="1200" spc="200" dirty="0">
                        <a:solidFill>
                          <a:schemeClr val="tx1"/>
                        </a:solidFill>
                        <a:latin typeface="+mn-lt"/>
                        <a:ea typeface="思源黑体 CN Light" panose="020B0300000000000000" charset="-122"/>
                        <a:cs typeface="+mn-cs"/>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682</a:t>
                      </a:r>
                      <a:r>
                        <a:rPr lang="zh-CN" altLang="en-US" sz="1050" kern="1200" spc="200" dirty="0">
                          <a:solidFill>
                            <a:schemeClr val="tx1"/>
                          </a:solidFill>
                          <a:latin typeface="+mn-lt"/>
                          <a:ea typeface="思源黑体 CN Light" panose="020B0300000000000000" charset="-122"/>
                          <a:cs typeface="+mn-cs"/>
                        </a:rPr>
                        <a:t>亿美元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630</a:t>
                      </a:r>
                      <a:r>
                        <a:rPr lang="zh-CN" altLang="en-US" sz="1050" kern="1200" spc="200" dirty="0">
                          <a:solidFill>
                            <a:schemeClr val="tx1"/>
                          </a:solidFill>
                          <a:latin typeface="+mn-lt"/>
                          <a:ea typeface="思源黑体 CN Light" panose="020B0300000000000000" charset="-122"/>
                          <a:cs typeface="+mn-cs"/>
                        </a:rPr>
                        <a:t>亿美元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352</a:t>
                      </a:r>
                      <a:r>
                        <a:rPr lang="zh-CN" altLang="en-US" sz="1050" kern="1200" spc="200" dirty="0">
                          <a:solidFill>
                            <a:schemeClr val="tx1"/>
                          </a:solidFill>
                          <a:latin typeface="+mn-lt"/>
                          <a:ea typeface="思源黑体 CN Light" panose="020B0300000000000000" charset="-122"/>
                          <a:cs typeface="+mn-cs"/>
                        </a:rPr>
                        <a:t>亿美元</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736472"/>
                  </a:ext>
                </a:extLst>
              </a:tr>
              <a:tr h="363313">
                <a:tc>
                  <a:txBody>
                    <a:bodyPr/>
                    <a:lstStyle/>
                    <a:p>
                      <a:pPr marL="0" indent="0" algn="ctr" defTabSz="914400" rtl="0" eaLnBrk="1" latinLnBrk="0" hangingPunct="1">
                        <a:lnSpc>
                          <a:spcPct val="150000"/>
                        </a:lnSpc>
                        <a:buFont typeface="Arial" panose="020B0604020202020204" pitchFamily="34" charset="0"/>
                        <a:buNone/>
                      </a:pPr>
                      <a:r>
                        <a:rPr lang="zh-CN" altLang="en-US" sz="1050" kern="1200" spc="200" dirty="0">
                          <a:solidFill>
                            <a:schemeClr val="tx1"/>
                          </a:solidFill>
                          <a:latin typeface="+mn-lt"/>
                          <a:ea typeface="思源黑体 CN Light" panose="020B0300000000000000" charset="-122"/>
                          <a:cs typeface="+mn-cs"/>
                        </a:rPr>
                        <a:t>投资团队</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330+</a:t>
                      </a:r>
                      <a:endParaRPr lang="zh-CN" altLang="en-US" sz="1050" kern="1200" spc="200" dirty="0">
                        <a:solidFill>
                          <a:schemeClr val="tx1"/>
                        </a:solidFill>
                        <a:latin typeface="+mn-lt"/>
                        <a:ea typeface="思源黑体 CN Light" panose="020B0300000000000000"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Arial" panose="020B0604020202020204" pitchFamily="34" charset="0"/>
                        <a:buNone/>
                      </a:pPr>
                      <a:r>
                        <a:rPr lang="zh-CN" altLang="en-US" sz="1050" kern="1200" spc="200" dirty="0" smtClean="0">
                          <a:solidFill>
                            <a:schemeClr val="tx1"/>
                          </a:solidFill>
                          <a:latin typeface="+mn-lt"/>
                          <a:ea typeface="思源黑体 CN Light" panose="020B0300000000000000" charset="-122"/>
                          <a:cs typeface="+mn-cs"/>
                        </a:rPr>
                        <a:t>约</a:t>
                      </a:r>
                      <a:r>
                        <a:rPr lang="en-US" altLang="zh-CN" sz="1050" kern="1200" spc="200" dirty="0" smtClean="0">
                          <a:solidFill>
                            <a:schemeClr val="tx1"/>
                          </a:solidFill>
                          <a:latin typeface="+mn-lt"/>
                          <a:ea typeface="思源黑体 CN Light" panose="020B0300000000000000" charset="-122"/>
                          <a:cs typeface="+mn-cs"/>
                        </a:rPr>
                        <a:t>150</a:t>
                      </a:r>
                      <a:endParaRPr lang="zh-CN" altLang="en-US" sz="1050" kern="1200" spc="200" dirty="0">
                        <a:solidFill>
                          <a:schemeClr val="tx1"/>
                        </a:solidFill>
                        <a:latin typeface="+mn-lt"/>
                        <a:ea typeface="思源黑体 CN Light" panose="020B0300000000000000"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ctr" defTabSz="914400" rtl="0" eaLnBrk="1" latinLnBrk="0" hangingPunct="1">
                        <a:lnSpc>
                          <a:spcPct val="15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185+</a:t>
                      </a:r>
                      <a:endParaRPr lang="zh-CN" altLang="en-US" sz="1050" kern="1200" spc="200" dirty="0">
                        <a:solidFill>
                          <a:schemeClr val="tx1"/>
                        </a:solidFill>
                        <a:latin typeface="+mn-lt"/>
                        <a:ea typeface="思源黑体 CN Light" panose="020B0300000000000000" charset="-122"/>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3068202"/>
                  </a:ext>
                </a:extLst>
              </a:tr>
              <a:tr h="1987465">
                <a:tc>
                  <a:txBody>
                    <a:bodyPr/>
                    <a:lstStyle/>
                    <a:p>
                      <a:pPr marL="0" indent="0" algn="ctr" defTabSz="914400" rtl="0" eaLnBrk="1" latinLnBrk="0" hangingPunct="1">
                        <a:lnSpc>
                          <a:spcPct val="150000"/>
                        </a:lnSpc>
                        <a:buFont typeface="Arial" panose="020B0604020202020204" pitchFamily="34" charset="0"/>
                        <a:buNone/>
                      </a:pPr>
                      <a:r>
                        <a:rPr lang="zh-CN" altLang="en-US" sz="1050" kern="1200" spc="200" dirty="0">
                          <a:solidFill>
                            <a:schemeClr val="tx1"/>
                          </a:solidFill>
                          <a:latin typeface="+mn-lt"/>
                          <a:ea typeface="思源黑体 CN Light" panose="020B0300000000000000" charset="-122"/>
                          <a:cs typeface="+mn-cs"/>
                        </a:rPr>
                        <a:t>发展历程</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just" defTabSz="914400" rtl="0" eaLnBrk="1" latinLnBrk="0" hangingPunct="1">
                        <a:lnSpc>
                          <a:spcPct val="10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1989</a:t>
                      </a:r>
                      <a:r>
                        <a:rPr lang="zh-CN" altLang="en-US" sz="1050" kern="1200" spc="200" dirty="0">
                          <a:solidFill>
                            <a:schemeClr val="tx1"/>
                          </a:solidFill>
                          <a:latin typeface="+mn-lt"/>
                          <a:ea typeface="思源黑体 CN Light" panose="020B0300000000000000" charset="-122"/>
                          <a:cs typeface="+mn-cs"/>
                        </a:rPr>
                        <a:t>年，</a:t>
                      </a:r>
                      <a:r>
                        <a:rPr lang="en-US" altLang="zh-CN" sz="1050" kern="1200" spc="200" dirty="0">
                          <a:solidFill>
                            <a:schemeClr val="tx1"/>
                          </a:solidFill>
                          <a:latin typeface="+mn-lt"/>
                          <a:ea typeface="思源黑体 CN Light" panose="020B0300000000000000" charset="-122"/>
                          <a:cs typeface="+mn-cs"/>
                        </a:rPr>
                        <a:t>Izzy Englander</a:t>
                      </a:r>
                      <a:r>
                        <a:rPr lang="zh-CN" altLang="en-US" sz="1050" kern="1200" spc="200" dirty="0">
                          <a:solidFill>
                            <a:schemeClr val="tx1"/>
                          </a:solidFill>
                          <a:latin typeface="+mn-lt"/>
                          <a:ea typeface="思源黑体 CN Light" panose="020B0300000000000000" charset="-122"/>
                          <a:cs typeface="+mn-cs"/>
                        </a:rPr>
                        <a:t>在纽约创立了</a:t>
                      </a:r>
                      <a:r>
                        <a:rPr lang="en-US" altLang="zh-CN" sz="1050" kern="1200" spc="200" dirty="0">
                          <a:solidFill>
                            <a:schemeClr val="tx1"/>
                          </a:solidFill>
                          <a:latin typeface="+mn-lt"/>
                          <a:ea typeface="思源黑体 CN Light" panose="020B0300000000000000" charset="-122"/>
                          <a:cs typeface="+mn-cs"/>
                        </a:rPr>
                        <a:t>Millennium Management</a:t>
                      </a:r>
                      <a:r>
                        <a:rPr lang="zh-CN" altLang="en-US" sz="1050" kern="1200" spc="200" dirty="0">
                          <a:solidFill>
                            <a:schemeClr val="tx1"/>
                          </a:solidFill>
                          <a:latin typeface="+mn-lt"/>
                          <a:ea typeface="思源黑体 CN Light" panose="020B0300000000000000" charset="-122"/>
                          <a:cs typeface="+mn-cs"/>
                        </a:rPr>
                        <a:t>，最初的资本为</a:t>
                      </a:r>
                      <a:r>
                        <a:rPr lang="en-US" altLang="zh-CN" sz="1050" kern="1200" spc="200" dirty="0">
                          <a:solidFill>
                            <a:schemeClr val="tx1"/>
                          </a:solidFill>
                          <a:latin typeface="+mn-lt"/>
                          <a:ea typeface="思源黑体 CN Light" panose="020B0300000000000000" charset="-122"/>
                          <a:cs typeface="+mn-cs"/>
                        </a:rPr>
                        <a:t>3500</a:t>
                      </a:r>
                      <a:r>
                        <a:rPr lang="zh-CN" altLang="en-US" sz="1050" kern="1200" spc="200" dirty="0">
                          <a:solidFill>
                            <a:schemeClr val="tx1"/>
                          </a:solidFill>
                          <a:latin typeface="+mn-lt"/>
                          <a:ea typeface="思源黑体 CN Light" panose="020B0300000000000000" charset="-122"/>
                          <a:cs typeface="+mn-cs"/>
                        </a:rPr>
                        <a:t>万美。基金最初专注于股票市场中性策略，通过对冲市场风险来实现稳定回报，后来逐渐扩展其投资策略，进入了固定收益、商品和外汇等多个领域。</a:t>
                      </a:r>
                      <a:endParaRPr lang="en-US" altLang="zh-CN" sz="1050" kern="1200" spc="200" dirty="0">
                        <a:solidFill>
                          <a:schemeClr val="tx1"/>
                        </a:solidFill>
                        <a:latin typeface="+mn-lt"/>
                        <a:ea typeface="思源黑体 CN Light" panose="020B0300000000000000" charset="-122"/>
                        <a:cs typeface="+mn-cs"/>
                      </a:endParaRPr>
                    </a:p>
                    <a:p>
                      <a:pPr marL="0" indent="0" algn="just" defTabSz="914400" rtl="0" eaLnBrk="1" latinLnBrk="0" hangingPunct="1">
                        <a:lnSpc>
                          <a:spcPct val="10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2000</a:t>
                      </a:r>
                      <a:r>
                        <a:rPr lang="zh-CN" altLang="en-US" sz="1050" kern="1200" spc="200" dirty="0">
                          <a:solidFill>
                            <a:schemeClr val="tx1"/>
                          </a:solidFill>
                          <a:latin typeface="+mn-lt"/>
                          <a:ea typeface="思源黑体 CN Light" panose="020B0300000000000000" charset="-122"/>
                          <a:cs typeface="+mn-cs"/>
                        </a:rPr>
                        <a:t>年代初，</a:t>
                      </a:r>
                      <a:r>
                        <a:rPr lang="en-US" altLang="zh-CN" sz="1050" kern="1200" spc="200" dirty="0">
                          <a:solidFill>
                            <a:schemeClr val="tx1"/>
                          </a:solidFill>
                          <a:latin typeface="+mn-lt"/>
                          <a:ea typeface="思源黑体 CN Light" panose="020B0300000000000000" charset="-122"/>
                          <a:cs typeface="+mn-cs"/>
                        </a:rPr>
                        <a:t>Millennium</a:t>
                      </a:r>
                      <a:r>
                        <a:rPr lang="zh-CN" altLang="en-US" sz="1050" kern="1200" spc="200" dirty="0">
                          <a:solidFill>
                            <a:schemeClr val="tx1"/>
                          </a:solidFill>
                          <a:latin typeface="+mn-lt"/>
                          <a:ea typeface="思源黑体 CN Light" panose="020B0300000000000000" charset="-122"/>
                          <a:cs typeface="+mn-cs"/>
                        </a:rPr>
                        <a:t>开始采用多</a:t>
                      </a:r>
                      <a:r>
                        <a:rPr lang="en-US" altLang="zh-CN" sz="1050" kern="1200" spc="200" dirty="0">
                          <a:solidFill>
                            <a:schemeClr val="tx1"/>
                          </a:solidFill>
                          <a:latin typeface="+mn-lt"/>
                          <a:ea typeface="思源黑体 CN Light" panose="020B0300000000000000" charset="-122"/>
                          <a:cs typeface="+mn-cs"/>
                        </a:rPr>
                        <a:t>PM</a:t>
                      </a:r>
                      <a:r>
                        <a:rPr lang="zh-CN" altLang="en-US" sz="1050" kern="1200" spc="200" dirty="0">
                          <a:solidFill>
                            <a:schemeClr val="tx1"/>
                          </a:solidFill>
                          <a:latin typeface="+mn-lt"/>
                          <a:ea typeface="思源黑体 CN Light" panose="020B0300000000000000" charset="-122"/>
                          <a:cs typeface="+mn-cs"/>
                        </a:rPr>
                        <a:t>的投资方法，允许多个独立的投资团队各自管理策略。这一商业模式也使得</a:t>
                      </a:r>
                      <a:r>
                        <a:rPr lang="en-US" altLang="zh-CN" sz="1050" kern="1200" spc="200" dirty="0">
                          <a:solidFill>
                            <a:schemeClr val="tx1"/>
                          </a:solidFill>
                          <a:latin typeface="+mn-lt"/>
                          <a:ea typeface="思源黑体 CN Light" panose="020B0300000000000000" charset="-122"/>
                          <a:cs typeface="+mn-cs"/>
                        </a:rPr>
                        <a:t>Millennium</a:t>
                      </a:r>
                      <a:r>
                        <a:rPr lang="zh-CN" altLang="en-US" sz="1050" kern="1200" spc="200" dirty="0">
                          <a:solidFill>
                            <a:schemeClr val="tx1"/>
                          </a:solidFill>
                          <a:latin typeface="+mn-lt"/>
                          <a:ea typeface="思源黑体 CN Light" panose="020B0300000000000000" charset="-122"/>
                          <a:cs typeface="+mn-cs"/>
                        </a:rPr>
                        <a:t>在成立至今</a:t>
                      </a:r>
                      <a:r>
                        <a:rPr lang="en-US" altLang="zh-CN" sz="1050" kern="1200" spc="200" dirty="0">
                          <a:solidFill>
                            <a:schemeClr val="tx1"/>
                          </a:solidFill>
                          <a:latin typeface="+mn-lt"/>
                          <a:ea typeface="思源黑体 CN Light" panose="020B0300000000000000" charset="-122"/>
                          <a:cs typeface="+mn-cs"/>
                        </a:rPr>
                        <a:t>30</a:t>
                      </a:r>
                      <a:r>
                        <a:rPr lang="zh-CN" altLang="en-US" sz="1050" kern="1200" spc="200" dirty="0">
                          <a:solidFill>
                            <a:schemeClr val="tx1"/>
                          </a:solidFill>
                          <a:latin typeface="+mn-lt"/>
                          <a:ea typeface="思源黑体 CN Light" panose="020B0300000000000000" charset="-122"/>
                          <a:cs typeface="+mn-cs"/>
                        </a:rPr>
                        <a:t>年的时间中，仅在</a:t>
                      </a:r>
                      <a:r>
                        <a:rPr lang="en-US" altLang="zh-CN" sz="1050" kern="1200" spc="200" dirty="0">
                          <a:solidFill>
                            <a:schemeClr val="tx1"/>
                          </a:solidFill>
                          <a:latin typeface="+mn-lt"/>
                          <a:ea typeface="思源黑体 CN Light" panose="020B0300000000000000" charset="-122"/>
                          <a:cs typeface="+mn-cs"/>
                        </a:rPr>
                        <a:t>2008</a:t>
                      </a:r>
                      <a:r>
                        <a:rPr lang="zh-CN" altLang="en-US" sz="1050" kern="1200" spc="200" dirty="0">
                          <a:solidFill>
                            <a:schemeClr val="tx1"/>
                          </a:solidFill>
                          <a:latin typeface="+mn-lt"/>
                          <a:ea typeface="思源黑体 CN Light" panose="020B0300000000000000" charset="-122"/>
                          <a:cs typeface="+mn-cs"/>
                        </a:rPr>
                        <a:t>年略微亏损，其余年份全部取得正收益。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just" defTabSz="914400" rtl="0" eaLnBrk="1" latinLnBrk="0" hangingPunct="1">
                        <a:lnSpc>
                          <a:spcPct val="10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1990</a:t>
                      </a:r>
                      <a:r>
                        <a:rPr lang="zh-CN" altLang="en-US" sz="1050" kern="1200" spc="200" dirty="0">
                          <a:solidFill>
                            <a:schemeClr val="tx1"/>
                          </a:solidFill>
                          <a:latin typeface="+mn-lt"/>
                          <a:ea typeface="思源黑体 CN Light" panose="020B0300000000000000" charset="-122"/>
                          <a:cs typeface="+mn-cs"/>
                        </a:rPr>
                        <a:t>年，</a:t>
                      </a:r>
                      <a:r>
                        <a:rPr lang="en-US" altLang="zh-CN" sz="1050" kern="1200" spc="200" dirty="0">
                          <a:solidFill>
                            <a:schemeClr val="tx1"/>
                          </a:solidFill>
                          <a:latin typeface="+mn-lt"/>
                          <a:ea typeface="思源黑体 CN Light" panose="020B0300000000000000" charset="-122"/>
                          <a:cs typeface="+mn-cs"/>
                        </a:rPr>
                        <a:t>Ken Griffin</a:t>
                      </a:r>
                      <a:r>
                        <a:rPr lang="zh-CN" altLang="en-US" sz="1050" kern="1200" spc="200" dirty="0">
                          <a:solidFill>
                            <a:schemeClr val="tx1"/>
                          </a:solidFill>
                          <a:latin typeface="+mn-lt"/>
                          <a:ea typeface="思源黑体 CN Light" panose="020B0300000000000000" charset="-122"/>
                          <a:cs typeface="+mn-cs"/>
                        </a:rPr>
                        <a:t>以创立</a:t>
                      </a:r>
                      <a:r>
                        <a:rPr lang="en-US" altLang="zh-CN" sz="1050" kern="1200" spc="200" dirty="0">
                          <a:solidFill>
                            <a:schemeClr val="tx1"/>
                          </a:solidFill>
                          <a:latin typeface="+mn-lt"/>
                          <a:ea typeface="思源黑体 CN Light" panose="020B0300000000000000" charset="-122"/>
                          <a:cs typeface="+mn-cs"/>
                        </a:rPr>
                        <a:t>Citadel</a:t>
                      </a:r>
                      <a:r>
                        <a:rPr lang="zh-CN" altLang="en-US" sz="1050" kern="1200" spc="200" dirty="0">
                          <a:solidFill>
                            <a:schemeClr val="tx1"/>
                          </a:solidFill>
                          <a:latin typeface="+mn-lt"/>
                          <a:ea typeface="思源黑体 CN Light" panose="020B0300000000000000" charset="-122"/>
                          <a:cs typeface="+mn-cs"/>
                        </a:rPr>
                        <a:t>，初始策略主要为可转债套利。</a:t>
                      </a:r>
                      <a:r>
                        <a:rPr lang="en-US" altLang="zh-CN" sz="1050" kern="1200" spc="200" dirty="0">
                          <a:solidFill>
                            <a:schemeClr val="tx1"/>
                          </a:solidFill>
                          <a:latin typeface="+mn-lt"/>
                          <a:ea typeface="思源黑体 CN Light" panose="020B0300000000000000" charset="-122"/>
                          <a:cs typeface="+mn-cs"/>
                        </a:rPr>
                        <a:t>1999</a:t>
                      </a:r>
                      <a:r>
                        <a:rPr lang="zh-CN" altLang="en-US" sz="1050" kern="1200" spc="200" dirty="0">
                          <a:solidFill>
                            <a:schemeClr val="tx1"/>
                          </a:solidFill>
                          <a:latin typeface="+mn-lt"/>
                          <a:ea typeface="思源黑体 CN Light" panose="020B0300000000000000" charset="-122"/>
                          <a:cs typeface="+mn-cs"/>
                        </a:rPr>
                        <a:t>年，基金添加了宏观策略；</a:t>
                      </a:r>
                      <a:r>
                        <a:rPr lang="en-US" altLang="zh-CN" sz="1050" kern="1200" spc="200" dirty="0">
                          <a:solidFill>
                            <a:schemeClr val="tx1"/>
                          </a:solidFill>
                          <a:latin typeface="+mn-lt"/>
                          <a:ea typeface="思源黑体 CN Light" panose="020B0300000000000000" charset="-122"/>
                          <a:cs typeface="+mn-cs"/>
                        </a:rPr>
                        <a:t>2001</a:t>
                      </a:r>
                      <a:r>
                        <a:rPr lang="zh-CN" altLang="en-US" sz="1050" kern="1200" spc="200" dirty="0">
                          <a:solidFill>
                            <a:schemeClr val="tx1"/>
                          </a:solidFill>
                          <a:latin typeface="+mn-lt"/>
                          <a:ea typeface="思源黑体 CN Light" panose="020B0300000000000000" charset="-122"/>
                          <a:cs typeface="+mn-cs"/>
                        </a:rPr>
                        <a:t>年，添加了股票多空策略；</a:t>
                      </a:r>
                      <a:r>
                        <a:rPr lang="en-US" altLang="zh-CN" sz="1050" kern="1200" spc="200" dirty="0">
                          <a:solidFill>
                            <a:schemeClr val="tx1"/>
                          </a:solidFill>
                          <a:latin typeface="+mn-lt"/>
                          <a:ea typeface="思源黑体 CN Light" panose="020B0300000000000000" charset="-122"/>
                          <a:cs typeface="+mn-cs"/>
                        </a:rPr>
                        <a:t>2002</a:t>
                      </a:r>
                      <a:r>
                        <a:rPr lang="zh-CN" altLang="en-US" sz="1050" kern="1200" spc="200" dirty="0">
                          <a:solidFill>
                            <a:schemeClr val="tx1"/>
                          </a:solidFill>
                          <a:latin typeface="+mn-lt"/>
                          <a:ea typeface="思源黑体 CN Light" panose="020B0300000000000000" charset="-122"/>
                          <a:cs typeface="+mn-cs"/>
                        </a:rPr>
                        <a:t>年，添加了大宗商品交易。</a:t>
                      </a:r>
                      <a:endParaRPr lang="en-US" altLang="zh-CN" sz="1050" kern="1200" spc="200" dirty="0">
                        <a:solidFill>
                          <a:schemeClr val="tx1"/>
                        </a:solidFill>
                        <a:latin typeface="+mn-lt"/>
                        <a:ea typeface="思源黑体 CN Light" panose="020B0300000000000000" charset="-122"/>
                        <a:cs typeface="+mn-cs"/>
                      </a:endParaRPr>
                    </a:p>
                    <a:p>
                      <a:pPr marL="0" indent="0" algn="just" defTabSz="914400" rtl="0" eaLnBrk="1" latinLnBrk="0" hangingPunct="1">
                        <a:lnSpc>
                          <a:spcPct val="10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2008</a:t>
                      </a:r>
                      <a:r>
                        <a:rPr lang="zh-CN" altLang="en-US" sz="1050" kern="1200" spc="200" dirty="0">
                          <a:solidFill>
                            <a:schemeClr val="tx1"/>
                          </a:solidFill>
                          <a:latin typeface="+mn-lt"/>
                          <a:ea typeface="思源黑体 CN Light" panose="020B0300000000000000" charset="-122"/>
                          <a:cs typeface="+mn-cs"/>
                        </a:rPr>
                        <a:t>年，</a:t>
                      </a:r>
                      <a:r>
                        <a:rPr lang="en-US" altLang="zh-CN" sz="1050" kern="1200" spc="200" dirty="0">
                          <a:solidFill>
                            <a:schemeClr val="tx1"/>
                          </a:solidFill>
                          <a:latin typeface="+mn-lt"/>
                          <a:ea typeface="思源黑体 CN Light" panose="020B0300000000000000" charset="-122"/>
                          <a:cs typeface="+mn-cs"/>
                        </a:rPr>
                        <a:t>Citadel</a:t>
                      </a:r>
                      <a:r>
                        <a:rPr lang="zh-CN" altLang="en-US" sz="1050" kern="1200" spc="200" dirty="0">
                          <a:solidFill>
                            <a:schemeClr val="tx1"/>
                          </a:solidFill>
                          <a:latin typeface="+mn-lt"/>
                          <a:ea typeface="思源黑体 CN Light" panose="020B0300000000000000" charset="-122"/>
                          <a:cs typeface="+mn-cs"/>
                        </a:rPr>
                        <a:t>在金融危机中回撤</a:t>
                      </a:r>
                      <a:r>
                        <a:rPr lang="en-US" altLang="zh-CN" sz="1050" kern="1200" spc="200" dirty="0">
                          <a:solidFill>
                            <a:schemeClr val="tx1"/>
                          </a:solidFill>
                          <a:latin typeface="+mn-lt"/>
                          <a:ea typeface="思源黑体 CN Light" panose="020B0300000000000000" charset="-122"/>
                          <a:cs typeface="+mn-cs"/>
                        </a:rPr>
                        <a:t>55%</a:t>
                      </a:r>
                      <a:r>
                        <a:rPr lang="zh-CN" altLang="en-US" sz="1050" kern="1200" spc="200" dirty="0">
                          <a:solidFill>
                            <a:schemeClr val="tx1"/>
                          </a:solidFill>
                          <a:latin typeface="+mn-lt"/>
                          <a:ea typeface="思源黑体 CN Light" panose="020B0300000000000000" charset="-122"/>
                          <a:cs typeface="+mn-cs"/>
                        </a:rPr>
                        <a:t>，但来年便强劲反弹</a:t>
                      </a:r>
                      <a:r>
                        <a:rPr lang="en-US" altLang="zh-CN" sz="1050" kern="1200" spc="200" dirty="0">
                          <a:solidFill>
                            <a:schemeClr val="tx1"/>
                          </a:solidFill>
                          <a:latin typeface="+mn-lt"/>
                          <a:ea typeface="思源黑体 CN Light" panose="020B0300000000000000" charset="-122"/>
                          <a:cs typeface="+mn-cs"/>
                        </a:rPr>
                        <a:t>62%</a:t>
                      </a:r>
                      <a:r>
                        <a:rPr lang="zh-CN" altLang="en-US" sz="1050" kern="1200" spc="200" dirty="0">
                          <a:solidFill>
                            <a:schemeClr val="tx1"/>
                          </a:solidFill>
                          <a:latin typeface="+mn-lt"/>
                          <a:ea typeface="思源黑体 CN Light" panose="020B0300000000000000" charset="-122"/>
                          <a:cs typeface="+mn-cs"/>
                        </a:rPr>
                        <a:t>，此后更新迭代了风控模型，</a:t>
                      </a:r>
                      <a:r>
                        <a:rPr lang="en-US" altLang="zh-CN" sz="1050" kern="1200" spc="200" dirty="0">
                          <a:solidFill>
                            <a:schemeClr val="tx1"/>
                          </a:solidFill>
                          <a:latin typeface="+mn-lt"/>
                          <a:ea typeface="思源黑体 CN Light" panose="020B0300000000000000" charset="-122"/>
                          <a:cs typeface="+mn-cs"/>
                        </a:rPr>
                        <a:t>2008</a:t>
                      </a:r>
                      <a:r>
                        <a:rPr lang="zh-CN" altLang="en-US" sz="1050" kern="1200" spc="200" dirty="0">
                          <a:solidFill>
                            <a:schemeClr val="tx1"/>
                          </a:solidFill>
                          <a:latin typeface="+mn-lt"/>
                          <a:ea typeface="思源黑体 CN Light" panose="020B0300000000000000" charset="-122"/>
                          <a:cs typeface="+mn-cs"/>
                        </a:rPr>
                        <a:t>年也成为其之后唯一一个负收益的年份。</a:t>
                      </a:r>
                      <a:endParaRPr lang="en-US" altLang="zh-CN" sz="1050" kern="1200" spc="200" dirty="0">
                        <a:solidFill>
                          <a:schemeClr val="tx1"/>
                        </a:solidFill>
                        <a:latin typeface="+mn-lt"/>
                        <a:ea typeface="思源黑体 CN Light" panose="020B0300000000000000" charset="-122"/>
                        <a:cs typeface="+mn-cs"/>
                      </a:endParaRPr>
                    </a:p>
                    <a:p>
                      <a:pPr marL="0" indent="0" algn="just" defTabSz="914400" rtl="0" eaLnBrk="1" latinLnBrk="0" hangingPunct="1">
                        <a:lnSpc>
                          <a:spcPct val="10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2022</a:t>
                      </a:r>
                      <a:r>
                        <a:rPr lang="zh-CN" altLang="en-US" sz="1050" kern="1200" spc="200" dirty="0">
                          <a:solidFill>
                            <a:schemeClr val="tx1"/>
                          </a:solidFill>
                          <a:latin typeface="+mn-lt"/>
                          <a:ea typeface="思源黑体 CN Light" panose="020B0300000000000000" charset="-122"/>
                          <a:cs typeface="+mn-cs"/>
                        </a:rPr>
                        <a:t>年，在众多对冲基金遭遇滑铁卢的年份，</a:t>
                      </a:r>
                      <a:r>
                        <a:rPr lang="en-US" altLang="zh-CN" sz="1050" kern="1200" spc="200" dirty="0">
                          <a:solidFill>
                            <a:schemeClr val="tx1"/>
                          </a:solidFill>
                          <a:latin typeface="+mn-lt"/>
                          <a:ea typeface="思源黑体 CN Light" panose="020B0300000000000000" charset="-122"/>
                          <a:cs typeface="+mn-cs"/>
                        </a:rPr>
                        <a:t>Citadel</a:t>
                      </a:r>
                      <a:r>
                        <a:rPr lang="zh-CN" altLang="en-US" sz="1050" kern="1200" spc="200" dirty="0">
                          <a:solidFill>
                            <a:schemeClr val="tx1"/>
                          </a:solidFill>
                          <a:latin typeface="+mn-lt"/>
                          <a:ea typeface="思源黑体 CN Light" panose="020B0300000000000000" charset="-122"/>
                          <a:cs typeface="+mn-cs"/>
                        </a:rPr>
                        <a:t>以</a:t>
                      </a:r>
                      <a:r>
                        <a:rPr lang="en-US" altLang="zh-CN" sz="1050" kern="1200" spc="200" dirty="0">
                          <a:solidFill>
                            <a:schemeClr val="tx1"/>
                          </a:solidFill>
                          <a:latin typeface="+mn-lt"/>
                          <a:ea typeface="思源黑体 CN Light" panose="020B0300000000000000" charset="-122"/>
                          <a:cs typeface="+mn-cs"/>
                        </a:rPr>
                        <a:t>38%</a:t>
                      </a:r>
                      <a:r>
                        <a:rPr lang="zh-CN" altLang="en-US" sz="1050" kern="1200" spc="200" dirty="0">
                          <a:solidFill>
                            <a:schemeClr val="tx1"/>
                          </a:solidFill>
                          <a:latin typeface="+mn-lt"/>
                          <a:ea typeface="思源黑体 CN Light" panose="020B0300000000000000" charset="-122"/>
                          <a:cs typeface="+mn-cs"/>
                        </a:rPr>
                        <a:t>的收益傲视群雄，成为了有史以来最赚钱的对冲基金。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just" defTabSz="914400" rtl="0" eaLnBrk="1" latinLnBrk="0" hangingPunct="1">
                        <a:lnSpc>
                          <a:spcPct val="10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1992</a:t>
                      </a:r>
                      <a:r>
                        <a:rPr lang="zh-CN" altLang="en-US" sz="1050" kern="1200" spc="200" dirty="0">
                          <a:solidFill>
                            <a:schemeClr val="tx1"/>
                          </a:solidFill>
                          <a:latin typeface="+mn-lt"/>
                          <a:ea typeface="思源黑体 CN Light" panose="020B0300000000000000" charset="-122"/>
                          <a:cs typeface="+mn-cs"/>
                        </a:rPr>
                        <a:t>年，顶级交易员出身的</a:t>
                      </a:r>
                      <a:r>
                        <a:rPr lang="en-US" altLang="zh-CN" sz="1050" kern="1200" spc="200" dirty="0">
                          <a:solidFill>
                            <a:schemeClr val="tx1"/>
                          </a:solidFill>
                          <a:latin typeface="+mn-lt"/>
                          <a:ea typeface="思源黑体 CN Light" panose="020B0300000000000000" charset="-122"/>
                          <a:cs typeface="+mn-cs"/>
                        </a:rPr>
                        <a:t>Steve Cohen</a:t>
                      </a:r>
                      <a:r>
                        <a:rPr lang="zh-CN" altLang="en-US" sz="1050" kern="1200" spc="200" dirty="0">
                          <a:solidFill>
                            <a:schemeClr val="tx1"/>
                          </a:solidFill>
                          <a:latin typeface="+mn-lt"/>
                          <a:ea typeface="思源黑体 CN Light" panose="020B0300000000000000" charset="-122"/>
                          <a:cs typeface="+mn-cs"/>
                        </a:rPr>
                        <a:t>创立了</a:t>
                      </a:r>
                      <a:r>
                        <a:rPr lang="en-US" altLang="zh-CN" sz="1050" kern="1200" spc="200" dirty="0">
                          <a:solidFill>
                            <a:schemeClr val="tx1"/>
                          </a:solidFill>
                          <a:latin typeface="+mn-lt"/>
                          <a:ea typeface="思源黑体 CN Light" panose="020B0300000000000000" charset="-122"/>
                          <a:cs typeface="+mn-cs"/>
                        </a:rPr>
                        <a:t>Point72</a:t>
                      </a:r>
                      <a:r>
                        <a:rPr lang="zh-CN" altLang="en-US" sz="1050" kern="1200" spc="200" dirty="0">
                          <a:solidFill>
                            <a:schemeClr val="tx1"/>
                          </a:solidFill>
                          <a:latin typeface="+mn-lt"/>
                          <a:ea typeface="思源黑体 CN Light" panose="020B0300000000000000" charset="-122"/>
                          <a:cs typeface="+mn-cs"/>
                        </a:rPr>
                        <a:t>的前身</a:t>
                      </a:r>
                      <a:r>
                        <a:rPr lang="en-US" altLang="zh-CN" sz="1050" kern="1200" spc="200" dirty="0">
                          <a:solidFill>
                            <a:schemeClr val="tx1"/>
                          </a:solidFill>
                          <a:latin typeface="+mn-lt"/>
                          <a:ea typeface="思源黑体 CN Light" panose="020B0300000000000000" charset="-122"/>
                          <a:cs typeface="+mn-cs"/>
                        </a:rPr>
                        <a:t>SAC Capital Advisors</a:t>
                      </a:r>
                      <a:r>
                        <a:rPr lang="zh-CN" altLang="en-US" sz="1050" kern="1200" spc="200" dirty="0">
                          <a:solidFill>
                            <a:schemeClr val="tx1"/>
                          </a:solidFill>
                          <a:latin typeface="+mn-lt"/>
                          <a:ea typeface="思源黑体 CN Light" panose="020B0300000000000000" charset="-122"/>
                          <a:cs typeface="+mn-cs"/>
                        </a:rPr>
                        <a:t>。</a:t>
                      </a:r>
                      <a:r>
                        <a:rPr lang="zh-CN" altLang="en-US" sz="1050" b="1" kern="1200" spc="200" dirty="0">
                          <a:solidFill>
                            <a:schemeClr val="tx1"/>
                          </a:solidFill>
                          <a:latin typeface="+mn-lt"/>
                          <a:ea typeface="思源黑体 CN Light" panose="020B0300000000000000" charset="-122"/>
                          <a:cs typeface="+mn-cs"/>
                        </a:rPr>
                        <a:t>基金成立初期表现出色，年均回报率超过</a:t>
                      </a:r>
                      <a:r>
                        <a:rPr lang="en-US" altLang="zh-CN" sz="1050" b="1" kern="1200" spc="200" dirty="0">
                          <a:solidFill>
                            <a:schemeClr val="tx1"/>
                          </a:solidFill>
                          <a:latin typeface="+mn-lt"/>
                          <a:ea typeface="思源黑体 CN Light" panose="020B0300000000000000" charset="-122"/>
                          <a:cs typeface="+mn-cs"/>
                        </a:rPr>
                        <a:t>30%</a:t>
                      </a:r>
                      <a:r>
                        <a:rPr lang="zh-CN" altLang="en-US" sz="1050" b="1" kern="1200" spc="200" dirty="0">
                          <a:solidFill>
                            <a:schemeClr val="tx1"/>
                          </a:solidFill>
                          <a:latin typeface="+mn-lt"/>
                          <a:ea typeface="思源黑体 CN Light" panose="020B0300000000000000" charset="-122"/>
                          <a:cs typeface="+mn-cs"/>
                        </a:rPr>
                        <a:t>，且其中连续两年回报超过</a:t>
                      </a:r>
                      <a:r>
                        <a:rPr lang="en-US" altLang="zh-CN" sz="1050" b="1" kern="1200" spc="200" dirty="0">
                          <a:solidFill>
                            <a:schemeClr val="tx1"/>
                          </a:solidFill>
                          <a:latin typeface="+mn-lt"/>
                          <a:ea typeface="思源黑体 CN Light" panose="020B0300000000000000" charset="-122"/>
                          <a:cs typeface="+mn-cs"/>
                        </a:rPr>
                        <a:t>70%</a:t>
                      </a:r>
                      <a:r>
                        <a:rPr lang="zh-CN" altLang="en-US" sz="1050" b="1" kern="1200" spc="200" dirty="0">
                          <a:solidFill>
                            <a:schemeClr val="tx1"/>
                          </a:solidFill>
                          <a:latin typeface="+mn-lt"/>
                          <a:ea typeface="思源黑体 CN Light" panose="020B0300000000000000" charset="-122"/>
                          <a:cs typeface="+mn-cs"/>
                        </a:rPr>
                        <a:t>。</a:t>
                      </a:r>
                    </a:p>
                    <a:p>
                      <a:pPr marL="0" indent="0" algn="just" defTabSz="914400" rtl="0" eaLnBrk="1" latinLnBrk="0" hangingPunct="1">
                        <a:lnSpc>
                          <a:spcPct val="100000"/>
                        </a:lnSpc>
                        <a:buFont typeface="Arial" panose="020B0604020202020204" pitchFamily="34" charset="0"/>
                        <a:buNone/>
                      </a:pPr>
                      <a:r>
                        <a:rPr lang="en-US" altLang="zh-CN" sz="1050" kern="1200" spc="200" dirty="0">
                          <a:solidFill>
                            <a:schemeClr val="tx1"/>
                          </a:solidFill>
                          <a:latin typeface="+mn-lt"/>
                          <a:ea typeface="思源黑体 CN Light" panose="020B0300000000000000" charset="-122"/>
                          <a:cs typeface="+mn-cs"/>
                        </a:rPr>
                        <a:t>2014</a:t>
                      </a:r>
                      <a:r>
                        <a:rPr lang="zh-CN" altLang="en-US" sz="1050" kern="1200" spc="200" dirty="0">
                          <a:solidFill>
                            <a:schemeClr val="tx1"/>
                          </a:solidFill>
                          <a:latin typeface="+mn-lt"/>
                          <a:ea typeface="思源黑体 CN Light" panose="020B0300000000000000" charset="-122"/>
                          <a:cs typeface="+mn-cs"/>
                        </a:rPr>
                        <a:t>年，</a:t>
                      </a:r>
                      <a:r>
                        <a:rPr lang="en-US" altLang="zh-CN" sz="1050" kern="1200" spc="200" dirty="0">
                          <a:solidFill>
                            <a:schemeClr val="tx1"/>
                          </a:solidFill>
                          <a:latin typeface="+mn-lt"/>
                          <a:ea typeface="思源黑体 CN Light" panose="020B0300000000000000" charset="-122"/>
                          <a:cs typeface="+mn-cs"/>
                        </a:rPr>
                        <a:t>Steve Cohen</a:t>
                      </a:r>
                      <a:r>
                        <a:rPr lang="zh-CN" altLang="en-US" sz="1050" kern="1200" spc="200" dirty="0">
                          <a:solidFill>
                            <a:schemeClr val="tx1"/>
                          </a:solidFill>
                          <a:latin typeface="+mn-lt"/>
                          <a:ea typeface="思源黑体 CN Light" panose="020B0300000000000000" charset="-122"/>
                          <a:cs typeface="+mn-cs"/>
                        </a:rPr>
                        <a:t>将</a:t>
                      </a:r>
                      <a:r>
                        <a:rPr lang="en-US" altLang="zh-CN" sz="1050" kern="1200" spc="200" dirty="0">
                          <a:solidFill>
                            <a:schemeClr val="tx1"/>
                          </a:solidFill>
                          <a:latin typeface="+mn-lt"/>
                          <a:ea typeface="思源黑体 CN Light" panose="020B0300000000000000" charset="-122"/>
                          <a:cs typeface="+mn-cs"/>
                        </a:rPr>
                        <a:t>SAC Capital</a:t>
                      </a:r>
                      <a:r>
                        <a:rPr lang="zh-CN" altLang="en-US" sz="1050" kern="1200" spc="200" dirty="0">
                          <a:solidFill>
                            <a:schemeClr val="tx1"/>
                          </a:solidFill>
                          <a:latin typeface="+mn-lt"/>
                          <a:ea typeface="思源黑体 CN Light" panose="020B0300000000000000" charset="-122"/>
                          <a:cs typeface="+mn-cs"/>
                        </a:rPr>
                        <a:t>重组为</a:t>
                      </a:r>
                      <a:r>
                        <a:rPr lang="en-US" altLang="zh-CN" sz="1050" kern="1200" spc="200" dirty="0">
                          <a:solidFill>
                            <a:schemeClr val="tx1"/>
                          </a:solidFill>
                          <a:latin typeface="+mn-lt"/>
                          <a:ea typeface="思源黑体 CN Light" panose="020B0300000000000000" charset="-122"/>
                          <a:cs typeface="+mn-cs"/>
                        </a:rPr>
                        <a:t>Point72 Asset Management</a:t>
                      </a:r>
                      <a:r>
                        <a:rPr lang="zh-CN" altLang="en-US" sz="1050" kern="1200" spc="200" dirty="0">
                          <a:solidFill>
                            <a:schemeClr val="tx1"/>
                          </a:solidFill>
                          <a:latin typeface="+mn-lt"/>
                          <a:ea typeface="思源黑体 CN Light" panose="020B0300000000000000" charset="-122"/>
                          <a:cs typeface="+mn-cs"/>
                        </a:rPr>
                        <a:t>，专注于管理家族办公室的资金，并于</a:t>
                      </a:r>
                      <a:r>
                        <a:rPr lang="en-US" altLang="zh-CN" sz="1050" kern="1200" spc="200" dirty="0">
                          <a:solidFill>
                            <a:schemeClr val="tx1"/>
                          </a:solidFill>
                          <a:latin typeface="+mn-lt"/>
                          <a:ea typeface="思源黑体 CN Light" panose="020B0300000000000000" charset="-122"/>
                          <a:cs typeface="+mn-cs"/>
                        </a:rPr>
                        <a:t>2018</a:t>
                      </a:r>
                      <a:r>
                        <a:rPr lang="zh-CN" altLang="en-US" sz="1050" kern="1200" spc="200" dirty="0">
                          <a:solidFill>
                            <a:schemeClr val="tx1"/>
                          </a:solidFill>
                          <a:latin typeface="+mn-lt"/>
                          <a:ea typeface="思源黑体 CN Light" panose="020B0300000000000000" charset="-122"/>
                          <a:cs typeface="+mn-cs"/>
                        </a:rPr>
                        <a:t>年重新开始接受外部资金。</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7940678"/>
                  </a:ext>
                </a:extLst>
              </a:tr>
              <a:tr h="512416">
                <a:tc>
                  <a:txBody>
                    <a:bodyPr/>
                    <a:lstStyle/>
                    <a:p>
                      <a:pPr marL="0" indent="0" algn="ctr" defTabSz="914400" rtl="0" eaLnBrk="1" latinLnBrk="0" hangingPunct="1">
                        <a:lnSpc>
                          <a:spcPct val="150000"/>
                        </a:lnSpc>
                        <a:buFont typeface="Arial" panose="020B0604020202020204" pitchFamily="34" charset="0"/>
                        <a:buNone/>
                      </a:pPr>
                      <a:r>
                        <a:rPr lang="zh-CN" altLang="en-US" sz="1050" kern="1200" spc="200" dirty="0">
                          <a:solidFill>
                            <a:schemeClr val="tx1"/>
                          </a:solidFill>
                          <a:latin typeface="+mn-lt"/>
                          <a:ea typeface="思源黑体 CN Light" panose="020B0300000000000000" charset="-122"/>
                          <a:cs typeface="+mn-cs"/>
                        </a:rPr>
                        <a:t>基金特点</a:t>
                      </a:r>
                      <a:endParaRPr lang="en-US" altLang="zh-CN" sz="1050" kern="1200" spc="200" dirty="0">
                        <a:solidFill>
                          <a:schemeClr val="tx1"/>
                        </a:solidFill>
                        <a:latin typeface="+mn-lt"/>
                        <a:ea typeface="思源黑体 CN Light" panose="020B0300000000000000" charset="-122"/>
                        <a:cs typeface="+mn-cs"/>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just" defTabSz="914400" rtl="0" eaLnBrk="1" latinLnBrk="0" hangingPunct="1">
                        <a:lnSpc>
                          <a:spcPct val="100000"/>
                        </a:lnSpc>
                        <a:buFont typeface="Arial" panose="020B0604020202020204" pitchFamily="34" charset="0"/>
                        <a:buNone/>
                      </a:pPr>
                      <a:r>
                        <a:rPr lang="zh-CN" altLang="en-US" sz="1050" b="1" kern="1200" spc="200" dirty="0" smtClean="0">
                          <a:solidFill>
                            <a:schemeClr val="tx1"/>
                          </a:solidFill>
                          <a:latin typeface="+mn-lt"/>
                          <a:ea typeface="思源黑体 CN Light" panose="020B0300000000000000" charset="-122"/>
                          <a:cs typeface="+mn-cs"/>
                        </a:rPr>
                        <a:t>更加分散的多策略，产品波动较低</a:t>
                      </a:r>
                      <a:endParaRPr lang="en-US" altLang="zh-CN" sz="1050" b="1" kern="1200" spc="200" dirty="0" smtClean="0">
                        <a:solidFill>
                          <a:schemeClr val="tx1"/>
                        </a:solidFill>
                        <a:latin typeface="+mn-lt"/>
                        <a:ea typeface="思源黑体 CN Light" panose="020B0300000000000000" charset="-122"/>
                        <a:cs typeface="+mn-cs"/>
                      </a:endParaRPr>
                    </a:p>
                    <a:p>
                      <a:pPr marL="0" indent="0" algn="just" defTabSz="914400" rtl="0" eaLnBrk="1" latinLnBrk="0" hangingPunct="1">
                        <a:lnSpc>
                          <a:spcPct val="100000"/>
                        </a:lnSpc>
                        <a:buFont typeface="Arial" panose="020B0604020202020204" pitchFamily="34" charset="0"/>
                        <a:buNone/>
                      </a:pPr>
                      <a:r>
                        <a:rPr lang="zh-CN" altLang="en-US" sz="1050" b="1" kern="1200" spc="200" dirty="0" smtClean="0">
                          <a:solidFill>
                            <a:schemeClr val="tx1"/>
                          </a:solidFill>
                          <a:latin typeface="+mn-lt"/>
                          <a:ea typeface="思源黑体 CN Light" panose="020B0300000000000000" charset="-122"/>
                          <a:cs typeface="+mn-cs"/>
                        </a:rPr>
                        <a:t>资金</a:t>
                      </a:r>
                      <a:r>
                        <a:rPr lang="zh-CN" altLang="en-US" sz="1050" b="1" kern="1200" spc="200" dirty="0">
                          <a:solidFill>
                            <a:schemeClr val="tx1"/>
                          </a:solidFill>
                          <a:latin typeface="+mn-lt"/>
                          <a:ea typeface="思源黑体 CN Light" panose="020B0300000000000000" charset="-122"/>
                          <a:cs typeface="+mn-cs"/>
                        </a:rPr>
                        <a:t>分配纪律严格，运行起来更像一部机器</a:t>
                      </a:r>
                      <a:endParaRPr lang="en-US" altLang="zh-CN" sz="1050" b="1" kern="1200" spc="200" dirty="0">
                        <a:solidFill>
                          <a:schemeClr val="tx1"/>
                        </a:solidFill>
                        <a:latin typeface="+mn-lt"/>
                        <a:ea typeface="思源黑体 CN Light" panose="020B0300000000000000"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just" defTabSz="914400" rtl="0" eaLnBrk="1" latinLnBrk="0" hangingPunct="1">
                        <a:lnSpc>
                          <a:spcPct val="100000"/>
                        </a:lnSpc>
                        <a:buFont typeface="Arial" panose="020B0604020202020204" pitchFamily="34" charset="0"/>
                        <a:buNone/>
                      </a:pPr>
                      <a:r>
                        <a:rPr lang="zh-CN" altLang="en-US" sz="1050" b="1" kern="1200" spc="200" dirty="0">
                          <a:solidFill>
                            <a:schemeClr val="tx1"/>
                          </a:solidFill>
                          <a:latin typeface="+mn-lt"/>
                          <a:ea typeface="思源黑体 CN Light" panose="020B0300000000000000" charset="-122"/>
                          <a:cs typeface="+mn-cs"/>
                        </a:rPr>
                        <a:t>杠杆较高</a:t>
                      </a:r>
                      <a:r>
                        <a:rPr lang="zh-CN" altLang="en-US" sz="1050" b="1" kern="1200" spc="200" dirty="0" smtClean="0">
                          <a:solidFill>
                            <a:schemeClr val="tx1"/>
                          </a:solidFill>
                          <a:latin typeface="+mn-lt"/>
                          <a:ea typeface="思源黑体 CN Light" panose="020B0300000000000000" charset="-122"/>
                          <a:cs typeface="+mn-cs"/>
                        </a:rPr>
                        <a:t>，擅长宏观与量化</a:t>
                      </a:r>
                      <a:endParaRPr lang="en-US" altLang="zh-CN" sz="1050" b="1" kern="1200" spc="200" dirty="0">
                        <a:solidFill>
                          <a:schemeClr val="tx1"/>
                        </a:solidFill>
                        <a:latin typeface="+mn-lt"/>
                        <a:ea typeface="思源黑体 CN Light" panose="020B0300000000000000" charset="-122"/>
                        <a:cs typeface="+mn-cs"/>
                      </a:endParaRPr>
                    </a:p>
                    <a:p>
                      <a:pPr marL="0" indent="0" algn="just" defTabSz="914400" rtl="0" eaLnBrk="1" latinLnBrk="0" hangingPunct="1">
                        <a:lnSpc>
                          <a:spcPct val="100000"/>
                        </a:lnSpc>
                        <a:buFont typeface="Arial" panose="020B0604020202020204" pitchFamily="34" charset="0"/>
                        <a:buNone/>
                      </a:pPr>
                      <a:r>
                        <a:rPr lang="zh-CN" altLang="en-US" sz="1050" b="1" kern="1200" spc="200" dirty="0">
                          <a:solidFill>
                            <a:schemeClr val="tx1"/>
                          </a:solidFill>
                          <a:latin typeface="+mn-lt"/>
                          <a:ea typeface="思源黑体 CN Light" panose="020B0300000000000000" charset="-122"/>
                          <a:cs typeface="+mn-cs"/>
                        </a:rPr>
                        <a:t>资金分配更灵活，因此收益也更有爆发性</a:t>
                      </a:r>
                      <a:endParaRPr lang="en-US" altLang="zh-CN" sz="1050" b="1" kern="1200" spc="200" dirty="0">
                        <a:solidFill>
                          <a:schemeClr val="tx1"/>
                        </a:solidFill>
                        <a:latin typeface="+mn-lt"/>
                        <a:ea typeface="思源黑体 CN Light" panose="020B0300000000000000"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just" defTabSz="914400" rtl="0" eaLnBrk="1" latinLnBrk="0" hangingPunct="1">
                        <a:lnSpc>
                          <a:spcPct val="100000"/>
                        </a:lnSpc>
                        <a:buFont typeface="Arial" panose="020B0604020202020204" pitchFamily="34" charset="0"/>
                        <a:buNone/>
                      </a:pPr>
                      <a:r>
                        <a:rPr lang="zh-CN" altLang="en-US" sz="1050" b="1" kern="1200" spc="200" dirty="0">
                          <a:solidFill>
                            <a:srgbClr val="FF0000"/>
                          </a:solidFill>
                          <a:latin typeface="+mn-lt"/>
                          <a:ea typeface="思源黑体 CN Light" panose="020B0300000000000000" charset="-122"/>
                          <a:cs typeface="+mn-cs"/>
                        </a:rPr>
                        <a:t>策略以股票基本</a:t>
                      </a:r>
                      <a:r>
                        <a:rPr lang="zh-CN" altLang="en-US" sz="1050" b="1" kern="1200" spc="200" dirty="0" smtClean="0">
                          <a:solidFill>
                            <a:srgbClr val="FF0000"/>
                          </a:solidFill>
                          <a:latin typeface="+mn-lt"/>
                          <a:ea typeface="思源黑体 CN Light" panose="020B0300000000000000" charset="-122"/>
                          <a:cs typeface="+mn-cs"/>
                        </a:rPr>
                        <a:t>面多空为主</a:t>
                      </a:r>
                      <a:endParaRPr lang="en-US" altLang="zh-CN" sz="1050" b="1" kern="1200" spc="200" dirty="0">
                        <a:solidFill>
                          <a:srgbClr val="FF0000"/>
                        </a:solidFill>
                        <a:latin typeface="+mn-lt"/>
                        <a:ea typeface="思源黑体 CN Light" panose="020B0300000000000000" charset="-122"/>
                        <a:cs typeface="+mn-cs"/>
                      </a:endParaRPr>
                    </a:p>
                    <a:p>
                      <a:pPr marL="0" indent="0" algn="just" defTabSz="914400" rtl="0" eaLnBrk="1" latinLnBrk="0" hangingPunct="1">
                        <a:lnSpc>
                          <a:spcPct val="100000"/>
                        </a:lnSpc>
                        <a:buFont typeface="Arial" panose="020B0604020202020204" pitchFamily="34" charset="0"/>
                        <a:buNone/>
                      </a:pPr>
                      <a:r>
                        <a:rPr lang="zh-CN" altLang="en-US" sz="1050" b="1" kern="1200" spc="200" dirty="0">
                          <a:solidFill>
                            <a:srgbClr val="FF0000"/>
                          </a:solidFill>
                          <a:latin typeface="+mn-lt"/>
                          <a:ea typeface="思源黑体 CN Light" panose="020B0300000000000000" charset="-122"/>
                          <a:cs typeface="+mn-cs"/>
                        </a:rPr>
                        <a:t>更多来自人才培养，而非从其他平台挖人</a:t>
                      </a:r>
                      <a:endParaRPr lang="en-US" altLang="zh-CN" sz="1050" b="1" kern="1200" spc="200" dirty="0">
                        <a:solidFill>
                          <a:srgbClr val="FF0000"/>
                        </a:solidFill>
                        <a:latin typeface="+mn-lt"/>
                        <a:ea typeface="思源黑体 CN Light" panose="020B0300000000000000" charset="-122"/>
                        <a:cs typeface="+mn-cs"/>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6278461"/>
                  </a:ext>
                </a:extLst>
              </a:tr>
            </a:tbl>
          </a:graphicData>
        </a:graphic>
      </p:graphicFrame>
      <p:pic>
        <p:nvPicPr>
          <p:cNvPr id="20" name="Picture 2" descr="https://pics7.baidu.com/feed/960a304e251f95cad20f4225cfb3b535650952de.png@f_auto?token=344f418c2c07cdd08aa26fe4853f4de6">
            <a:extLst>
              <a:ext uri="{FF2B5EF4-FFF2-40B4-BE49-F238E27FC236}">
                <a16:creationId xmlns:a16="http://schemas.microsoft.com/office/drawing/2014/main" id="{D23AF759-BFEA-4905-B8D6-4034A1DA2F9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66559"/>
          <a:stretch/>
        </p:blipFill>
        <p:spPr bwMode="auto">
          <a:xfrm>
            <a:off x="3180464" y="1316355"/>
            <a:ext cx="1033317" cy="158846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https://pics7.baidu.com/feed/960a304e251f95cad20f4225cfb3b535650952de.png@f_auto?token=344f418c2c07cdd08aa26fe4853f4de6">
            <a:extLst>
              <a:ext uri="{FF2B5EF4-FFF2-40B4-BE49-F238E27FC236}">
                <a16:creationId xmlns:a16="http://schemas.microsoft.com/office/drawing/2014/main" id="{2A5214B2-B850-4AEB-9B95-2156296BE5F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1951"/>
          <a:stretch/>
        </p:blipFill>
        <p:spPr bwMode="auto">
          <a:xfrm>
            <a:off x="10078612" y="1307026"/>
            <a:ext cx="871812" cy="159779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https://pics7.baidu.com/feed/960a304e251f95cad20f4225cfb3b535650952de.png@f_auto?token=344f418c2c07cdd08aa26fe4853f4de6">
            <a:extLst>
              <a:ext uri="{FF2B5EF4-FFF2-40B4-BE49-F238E27FC236}">
                <a16:creationId xmlns:a16="http://schemas.microsoft.com/office/drawing/2014/main" id="{60830EA8-0EE2-4D59-A472-7190C2C25F3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4135" r="27884"/>
          <a:stretch/>
        </p:blipFill>
        <p:spPr bwMode="auto">
          <a:xfrm>
            <a:off x="6640102" y="1307027"/>
            <a:ext cx="1184300" cy="15977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001607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未标题-1"/>
          <p:cNvPicPr>
            <a:picLocks noChangeAspect="1"/>
          </p:cNvPicPr>
          <p:nvPr/>
        </p:nvPicPr>
        <p:blipFill>
          <a:blip r:embed="rId4"/>
          <a:stretch>
            <a:fillRect/>
          </a:stretch>
        </p:blipFill>
        <p:spPr>
          <a:xfrm>
            <a:off x="11133455" y="295910"/>
            <a:ext cx="771525" cy="187960"/>
          </a:xfrm>
          <a:prstGeom prst="rect">
            <a:avLst/>
          </a:prstGeom>
        </p:spPr>
      </p:pic>
      <p:grpSp>
        <p:nvGrpSpPr>
          <p:cNvPr id="9" name="组合 8"/>
          <p:cNvGrpSpPr/>
          <p:nvPr/>
        </p:nvGrpSpPr>
        <p:grpSpPr>
          <a:xfrm>
            <a:off x="6820160" y="1944598"/>
            <a:ext cx="5046784" cy="3261081"/>
            <a:chOff x="2479431" y="1767254"/>
            <a:chExt cx="6770078" cy="4106008"/>
          </a:xfrm>
        </p:grpSpPr>
        <p:cxnSp>
          <p:nvCxnSpPr>
            <p:cNvPr id="10" name="直接箭头连接符 9"/>
            <p:cNvCxnSpPr/>
            <p:nvPr/>
          </p:nvCxnSpPr>
          <p:spPr>
            <a:xfrm flipH="1" flipV="1">
              <a:off x="2479431" y="1767254"/>
              <a:ext cx="1" cy="41060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479431" y="5873262"/>
              <a:ext cx="67700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文本框 11"/>
          <p:cNvSpPr txBox="1"/>
          <p:nvPr/>
        </p:nvSpPr>
        <p:spPr>
          <a:xfrm>
            <a:off x="8580536" y="2509963"/>
            <a:ext cx="1731155"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多头：股票组合</a:t>
            </a:r>
            <a:endParaRPr lang="zh-CN" altLang="en-US" sz="1400"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8911371" y="4333719"/>
            <a:ext cx="1731155"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空头：股票组合</a:t>
            </a:r>
            <a:endParaRPr lang="zh-CN" altLang="en-US" sz="14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8696959" y="1532605"/>
            <a:ext cx="3007075" cy="338554"/>
          </a:xfrm>
          <a:prstGeom prst="rect">
            <a:avLst/>
          </a:prstGeom>
          <a:noFill/>
        </p:spPr>
        <p:txBody>
          <a:bodyPr wrap="square" rtlCol="0">
            <a:spAutoFit/>
          </a:bodyPr>
          <a:lstStyle/>
          <a:p>
            <a:r>
              <a:rPr lang="zh-CN" altLang="en-US" sz="1600" b="1" dirty="0" smtClean="0">
                <a:latin typeface="微软雅黑" panose="020B0503020204020204" pitchFamily="34" charset="-122"/>
                <a:ea typeface="微软雅黑" panose="020B0503020204020204" pitchFamily="34" charset="-122"/>
              </a:rPr>
              <a:t>股票多空</a:t>
            </a:r>
            <a:endParaRPr lang="zh-CN" altLang="en-US" sz="1600" b="1"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11326422" y="5260924"/>
            <a:ext cx="1731155"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时间</a:t>
            </a:r>
            <a:endParaRPr lang="zh-CN" altLang="en-US" sz="1400" dirty="0">
              <a:latin typeface="微软雅黑" panose="020B0503020204020204" pitchFamily="34" charset="-122"/>
              <a:ea typeface="微软雅黑" panose="020B0503020204020204" pitchFamily="34" charset="-122"/>
            </a:endParaRPr>
          </a:p>
        </p:txBody>
      </p:sp>
      <p:cxnSp>
        <p:nvCxnSpPr>
          <p:cNvPr id="17" name="直接箭头连接符 16"/>
          <p:cNvCxnSpPr/>
          <p:nvPr/>
        </p:nvCxnSpPr>
        <p:spPr>
          <a:xfrm>
            <a:off x="10869482" y="2915920"/>
            <a:ext cx="0" cy="617441"/>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7122160" y="5659092"/>
            <a:ext cx="4744784" cy="685316"/>
          </a:xfrm>
          <a:prstGeom prst="rect">
            <a:avLst/>
          </a:prstGeom>
          <a:solidFill>
            <a:sysClr val="window" lastClr="FFFFFF">
              <a:lumMod val="95000"/>
            </a:sysClr>
          </a:solidFill>
        </p:spPr>
        <p:txBody>
          <a:bodyPr wrap="square" rtlCol="0" anchor="t">
            <a:spAutoFit/>
          </a:bodyPr>
          <a:lstStyle/>
          <a:p>
            <a:pPr marL="285750" marR="0" lvl="0" indent="-285750" defTabSz="914400" eaLnBrk="1" fontAlgn="auto" latinLnBrk="0" hangingPunct="1">
              <a:lnSpc>
                <a:spcPct val="110000"/>
              </a:lnSpc>
              <a:spcBef>
                <a:spcPts val="100"/>
              </a:spcBef>
              <a:spcAft>
                <a:spcPts val="300"/>
              </a:spcAft>
              <a:buClrTx/>
              <a:buSzTx/>
              <a:buFont typeface="Arial" panose="020B0604020202020204" pitchFamily="34" charset="0"/>
              <a:buChar char="•"/>
              <a:tabLst/>
              <a:defRPr/>
            </a:pPr>
            <a:r>
              <a:rPr lang="zh-CN" altLang="en-US" sz="1600" kern="0" noProof="0" dirty="0" smtClean="0">
                <a:solidFill>
                  <a:prstClr val="black"/>
                </a:solidFill>
                <a:latin typeface="微软雅黑" panose="020B0503020204020204" pitchFamily="34" charset="-122"/>
                <a:ea typeface="微软雅黑" panose="020B0503020204020204" pitchFamily="34" charset="-122"/>
                <a:sym typeface="+mn-ea"/>
              </a:rPr>
              <a:t>股票多空收益 </a:t>
            </a:r>
            <a:r>
              <a:rPr lang="en-US" altLang="zh-CN" sz="1600" kern="0" dirty="0" smtClean="0">
                <a:solidFill>
                  <a:prstClr val="black"/>
                </a:solidFill>
                <a:latin typeface="微软雅黑" panose="020B0503020204020204" pitchFamily="34" charset="-122"/>
                <a:ea typeface="微软雅黑" panose="020B0503020204020204" pitchFamily="34" charset="-122"/>
                <a:sym typeface="+mn-ea"/>
              </a:rPr>
              <a:t>=</a:t>
            </a:r>
            <a:r>
              <a:rPr kumimoji="0" lang="en-US" altLang="zh-CN" sz="16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sym typeface="+mn-ea"/>
              </a:rPr>
              <a:t> </a:t>
            </a:r>
            <a:r>
              <a:rPr kumimoji="0" lang="zh-CN" altLang="en-US" sz="16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sym typeface="+mn-ea"/>
              </a:rPr>
              <a:t>股票</a:t>
            </a:r>
            <a:r>
              <a:rPr lang="zh-CN" altLang="en-US" sz="1600" kern="0" noProof="0" dirty="0" smtClean="0">
                <a:solidFill>
                  <a:prstClr val="black"/>
                </a:solidFill>
                <a:latin typeface="微软雅黑" panose="020B0503020204020204" pitchFamily="34" charset="-122"/>
                <a:ea typeface="微软雅黑" panose="020B0503020204020204" pitchFamily="34" charset="-122"/>
                <a:sym typeface="+mn-ea"/>
              </a:rPr>
              <a:t>做多收益 </a:t>
            </a:r>
            <a:r>
              <a:rPr lang="en-US" altLang="zh-CN" sz="1600" kern="0" noProof="0" dirty="0" smtClean="0">
                <a:solidFill>
                  <a:prstClr val="black"/>
                </a:solidFill>
                <a:latin typeface="微软雅黑" panose="020B0503020204020204" pitchFamily="34" charset="-122"/>
                <a:ea typeface="微软雅黑" panose="020B0503020204020204" pitchFamily="34" charset="-122"/>
                <a:sym typeface="+mn-ea"/>
              </a:rPr>
              <a:t>+ </a:t>
            </a:r>
            <a:r>
              <a:rPr lang="zh-CN" altLang="en-US" sz="1600" kern="0" noProof="0" dirty="0" smtClean="0">
                <a:solidFill>
                  <a:prstClr val="black"/>
                </a:solidFill>
                <a:latin typeface="微软雅黑" panose="020B0503020204020204" pitchFamily="34" charset="-122"/>
                <a:ea typeface="微软雅黑" panose="020B0503020204020204" pitchFamily="34" charset="-122"/>
                <a:sym typeface="+mn-ea"/>
              </a:rPr>
              <a:t>股票做空</a:t>
            </a:r>
            <a:r>
              <a:rPr lang="zh-CN" altLang="en-US" sz="1600" kern="0" noProof="0" dirty="0" smtClean="0">
                <a:solidFill>
                  <a:prstClr val="black"/>
                </a:solidFill>
                <a:latin typeface="微软雅黑" panose="020B0503020204020204" pitchFamily="34" charset="-122"/>
                <a:ea typeface="微软雅黑" panose="020B0503020204020204" pitchFamily="34" charset="-122"/>
                <a:sym typeface="+mn-ea"/>
              </a:rPr>
              <a:t>收益</a:t>
            </a:r>
            <a:endParaRPr lang="en-US" altLang="zh-CN" sz="1600" kern="0" noProof="0" dirty="0" smtClean="0">
              <a:solidFill>
                <a:prstClr val="black"/>
              </a:solidFill>
              <a:latin typeface="微软雅黑" panose="020B0503020204020204" pitchFamily="34" charset="-122"/>
              <a:ea typeface="微软雅黑" panose="020B0503020204020204" pitchFamily="34" charset="-122"/>
              <a:sym typeface="+mn-ea"/>
            </a:endParaRPr>
          </a:p>
          <a:p>
            <a:pPr marL="285750" marR="0" lvl="0" indent="-285750" defTabSz="914400" eaLnBrk="1" fontAlgn="auto" latinLnBrk="0" hangingPunct="1">
              <a:lnSpc>
                <a:spcPct val="110000"/>
              </a:lnSpc>
              <a:spcBef>
                <a:spcPts val="100"/>
              </a:spcBef>
              <a:spcAft>
                <a:spcPts val="300"/>
              </a:spcAft>
              <a:buClrTx/>
              <a:buSzTx/>
              <a:buFont typeface="Arial" panose="020B0604020202020204" pitchFamily="34" charset="0"/>
              <a:buChar char="•"/>
              <a:tabLst/>
              <a:defRPr/>
            </a:pPr>
            <a:r>
              <a:rPr kumimoji="0" lang="zh-CN" altLang="en-US" sz="16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rPr>
              <a:t>基金经理专注特定板块</a:t>
            </a:r>
            <a:endPar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3" name="文本框 22"/>
          <p:cNvSpPr txBox="1"/>
          <p:nvPr/>
        </p:nvSpPr>
        <p:spPr>
          <a:xfrm>
            <a:off x="10869482" y="3112135"/>
            <a:ext cx="1163783" cy="307777"/>
          </a:xfrm>
          <a:prstGeom prst="rect">
            <a:avLst/>
          </a:prstGeom>
          <a:noFill/>
        </p:spPr>
        <p:txBody>
          <a:bodyPr wrap="square" rtlCol="0">
            <a:spAutoFit/>
          </a:bodyPr>
          <a:lstStyle/>
          <a:p>
            <a:r>
              <a:rPr lang="zh-CN" altLang="en-US" sz="1400" dirty="0">
                <a:solidFill>
                  <a:srgbClr val="FF0000"/>
                </a:solidFill>
                <a:latin typeface="微软雅黑" panose="020B0503020204020204" pitchFamily="34" charset="-122"/>
                <a:ea typeface="微软雅黑" panose="020B0503020204020204" pitchFamily="34" charset="-122"/>
              </a:rPr>
              <a:t>做多</a:t>
            </a:r>
            <a:r>
              <a:rPr lang="zh-CN" altLang="en-US" sz="1400" dirty="0" smtClean="0">
                <a:solidFill>
                  <a:srgbClr val="FF0000"/>
                </a:solidFill>
                <a:latin typeface="微软雅黑" panose="020B0503020204020204" pitchFamily="34" charset="-122"/>
                <a:ea typeface="微软雅黑" panose="020B0503020204020204" pitchFamily="34" charset="-122"/>
              </a:rPr>
              <a:t>收益</a:t>
            </a:r>
            <a:endParaRPr lang="zh-CN" altLang="en-US" sz="1400" dirty="0">
              <a:solidFill>
                <a:srgbClr val="FF0000"/>
              </a:solidFill>
              <a:latin typeface="微软雅黑" panose="020B0503020204020204" pitchFamily="34" charset="-122"/>
              <a:ea typeface="微软雅黑" panose="020B0503020204020204" pitchFamily="34" charset="-122"/>
            </a:endParaRPr>
          </a:p>
        </p:txBody>
      </p:sp>
      <p:sp>
        <p:nvSpPr>
          <p:cNvPr id="24" name="任意多边形 23"/>
          <p:cNvSpPr/>
          <p:nvPr/>
        </p:nvSpPr>
        <p:spPr>
          <a:xfrm>
            <a:off x="7122160" y="2712720"/>
            <a:ext cx="3931920" cy="894080"/>
          </a:xfrm>
          <a:custGeom>
            <a:avLst/>
            <a:gdLst>
              <a:gd name="connsiteX0" fmla="*/ 0 w 3931920"/>
              <a:gd name="connsiteY0" fmla="*/ 894080 h 894080"/>
              <a:gd name="connsiteX1" fmla="*/ 1503680 w 3931920"/>
              <a:gd name="connsiteY1" fmla="*/ 243840 h 894080"/>
              <a:gd name="connsiteX2" fmla="*/ 3048000 w 3931920"/>
              <a:gd name="connsiteY2" fmla="*/ 436880 h 894080"/>
              <a:gd name="connsiteX3" fmla="*/ 3931920 w 3931920"/>
              <a:gd name="connsiteY3" fmla="*/ 0 h 894080"/>
            </a:gdLst>
            <a:ahLst/>
            <a:cxnLst>
              <a:cxn ang="0">
                <a:pos x="connsiteX0" y="connsiteY0"/>
              </a:cxn>
              <a:cxn ang="0">
                <a:pos x="connsiteX1" y="connsiteY1"/>
              </a:cxn>
              <a:cxn ang="0">
                <a:pos x="connsiteX2" y="connsiteY2"/>
              </a:cxn>
              <a:cxn ang="0">
                <a:pos x="connsiteX3" y="connsiteY3"/>
              </a:cxn>
            </a:cxnLst>
            <a:rect l="l" t="t" r="r" b="b"/>
            <a:pathLst>
              <a:path w="3931920" h="894080">
                <a:moveTo>
                  <a:pt x="0" y="894080"/>
                </a:moveTo>
                <a:cubicBezTo>
                  <a:pt x="497840" y="607060"/>
                  <a:pt x="995680" y="320040"/>
                  <a:pt x="1503680" y="243840"/>
                </a:cubicBezTo>
                <a:cubicBezTo>
                  <a:pt x="2011680" y="167640"/>
                  <a:pt x="2643293" y="477520"/>
                  <a:pt x="3048000" y="436880"/>
                </a:cubicBezTo>
                <a:cubicBezTo>
                  <a:pt x="3452707" y="396240"/>
                  <a:pt x="3743960" y="116840"/>
                  <a:pt x="3931920" y="0"/>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olidFill>
              </a:ln>
            </a:endParaRPr>
          </a:p>
        </p:txBody>
      </p:sp>
      <p:sp>
        <p:nvSpPr>
          <p:cNvPr id="25" name="任意多边形 24"/>
          <p:cNvSpPr/>
          <p:nvPr/>
        </p:nvSpPr>
        <p:spPr>
          <a:xfrm>
            <a:off x="7122160" y="3606800"/>
            <a:ext cx="3972560" cy="768831"/>
          </a:xfrm>
          <a:custGeom>
            <a:avLst/>
            <a:gdLst>
              <a:gd name="connsiteX0" fmla="*/ 0 w 3972560"/>
              <a:gd name="connsiteY0" fmla="*/ 6831 h 768831"/>
              <a:gd name="connsiteX1" fmla="*/ 1595120 w 3972560"/>
              <a:gd name="connsiteY1" fmla="*/ 88111 h 768831"/>
              <a:gd name="connsiteX2" fmla="*/ 3037840 w 3972560"/>
              <a:gd name="connsiteY2" fmla="*/ 626591 h 768831"/>
              <a:gd name="connsiteX3" fmla="*/ 3972560 w 3972560"/>
              <a:gd name="connsiteY3" fmla="*/ 768831 h 768831"/>
            </a:gdLst>
            <a:ahLst/>
            <a:cxnLst>
              <a:cxn ang="0">
                <a:pos x="connsiteX0" y="connsiteY0"/>
              </a:cxn>
              <a:cxn ang="0">
                <a:pos x="connsiteX1" y="connsiteY1"/>
              </a:cxn>
              <a:cxn ang="0">
                <a:pos x="connsiteX2" y="connsiteY2"/>
              </a:cxn>
              <a:cxn ang="0">
                <a:pos x="connsiteX3" y="connsiteY3"/>
              </a:cxn>
            </a:cxnLst>
            <a:rect l="l" t="t" r="r" b="b"/>
            <a:pathLst>
              <a:path w="3972560" h="768831">
                <a:moveTo>
                  <a:pt x="0" y="6831"/>
                </a:moveTo>
                <a:cubicBezTo>
                  <a:pt x="544406" y="-4176"/>
                  <a:pt x="1088813" y="-15182"/>
                  <a:pt x="1595120" y="88111"/>
                </a:cubicBezTo>
                <a:cubicBezTo>
                  <a:pt x="2101427" y="191404"/>
                  <a:pt x="2641600" y="513138"/>
                  <a:pt x="3037840" y="626591"/>
                </a:cubicBezTo>
                <a:cubicBezTo>
                  <a:pt x="3434080" y="740044"/>
                  <a:pt x="3810000" y="750204"/>
                  <a:pt x="3972560" y="768831"/>
                </a:cubicBezTo>
              </a:path>
            </a:pathLst>
          </a:cu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76200">
                <a:solidFill>
                  <a:schemeClr val="accent3">
                    <a:lumMod val="50000"/>
                  </a:schemeClr>
                </a:solidFill>
              </a:ln>
              <a:solidFill>
                <a:schemeClr val="accent2"/>
              </a:solidFill>
            </a:endParaRPr>
          </a:p>
        </p:txBody>
      </p:sp>
      <p:cxnSp>
        <p:nvCxnSpPr>
          <p:cNvPr id="26" name="直接连接符 25"/>
          <p:cNvCxnSpPr/>
          <p:nvPr/>
        </p:nvCxnSpPr>
        <p:spPr>
          <a:xfrm flipV="1">
            <a:off x="7122160" y="3544659"/>
            <a:ext cx="4305131" cy="3849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10867764" y="3606800"/>
            <a:ext cx="1718" cy="74551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0865786" y="3890645"/>
            <a:ext cx="1163783" cy="307777"/>
          </a:xfrm>
          <a:prstGeom prst="rect">
            <a:avLst/>
          </a:prstGeom>
          <a:noFill/>
        </p:spPr>
        <p:txBody>
          <a:bodyPr wrap="square" rtlCol="0">
            <a:spAutoFit/>
          </a:bodyPr>
          <a:lstStyle/>
          <a:p>
            <a:r>
              <a:rPr lang="zh-CN" altLang="en-US" sz="1400" dirty="0" smtClean="0">
                <a:solidFill>
                  <a:srgbClr val="FF0000"/>
                </a:solidFill>
                <a:latin typeface="微软雅黑" panose="020B0503020204020204" pitchFamily="34" charset="-122"/>
                <a:ea typeface="微软雅黑" panose="020B0503020204020204" pitchFamily="34" charset="-122"/>
              </a:rPr>
              <a:t>做空收益</a:t>
            </a:r>
            <a:endParaRPr lang="zh-CN" altLang="en-US" sz="1400" dirty="0">
              <a:solidFill>
                <a:srgbClr val="FF0000"/>
              </a:solidFill>
              <a:latin typeface="微软雅黑" panose="020B0503020204020204" pitchFamily="34" charset="-122"/>
              <a:ea typeface="微软雅黑" panose="020B0503020204020204" pitchFamily="34" charset="-122"/>
            </a:endParaRPr>
          </a:p>
        </p:txBody>
      </p:sp>
      <p:grpSp>
        <p:nvGrpSpPr>
          <p:cNvPr id="29" name="组合 28"/>
          <p:cNvGrpSpPr/>
          <p:nvPr/>
        </p:nvGrpSpPr>
        <p:grpSpPr>
          <a:xfrm>
            <a:off x="1018800" y="1944598"/>
            <a:ext cx="5046784" cy="3261081"/>
            <a:chOff x="2479431" y="1767254"/>
            <a:chExt cx="6770078" cy="4106008"/>
          </a:xfrm>
        </p:grpSpPr>
        <p:cxnSp>
          <p:nvCxnSpPr>
            <p:cNvPr id="31" name="直接箭头连接符 30"/>
            <p:cNvCxnSpPr/>
            <p:nvPr/>
          </p:nvCxnSpPr>
          <p:spPr>
            <a:xfrm flipH="1" flipV="1">
              <a:off x="2479431" y="1767254"/>
              <a:ext cx="1" cy="41060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2479431" y="5873262"/>
              <a:ext cx="67700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文本框 32"/>
          <p:cNvSpPr txBox="1"/>
          <p:nvPr/>
        </p:nvSpPr>
        <p:spPr>
          <a:xfrm>
            <a:off x="2779176" y="2703003"/>
            <a:ext cx="1731155"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多头：股票组合</a:t>
            </a:r>
            <a:endParaRPr lang="zh-CN" altLang="en-US" sz="1400" dirty="0">
              <a:latin typeface="微软雅黑" panose="020B0503020204020204" pitchFamily="34" charset="-122"/>
              <a:ea typeface="微软雅黑" panose="020B0503020204020204" pitchFamily="34" charset="-122"/>
            </a:endParaRPr>
          </a:p>
        </p:txBody>
      </p:sp>
      <p:sp>
        <p:nvSpPr>
          <p:cNvPr id="34" name="文本框 33"/>
          <p:cNvSpPr txBox="1"/>
          <p:nvPr/>
        </p:nvSpPr>
        <p:spPr>
          <a:xfrm>
            <a:off x="2779175" y="1532605"/>
            <a:ext cx="3123499" cy="338554"/>
          </a:xfrm>
          <a:prstGeom prst="rect">
            <a:avLst/>
          </a:prstGeom>
          <a:noFill/>
        </p:spPr>
        <p:txBody>
          <a:bodyPr wrap="square" rtlCol="0">
            <a:spAutoFit/>
          </a:bodyPr>
          <a:lstStyle/>
          <a:p>
            <a:r>
              <a:rPr lang="zh-CN" altLang="en-US" sz="1600" b="1" dirty="0" smtClean="0">
                <a:latin typeface="微软雅黑" panose="020B0503020204020204" pitchFamily="34" charset="-122"/>
                <a:ea typeface="微软雅黑" panose="020B0503020204020204" pitchFamily="34" charset="-122"/>
              </a:rPr>
              <a:t>股票多头</a:t>
            </a:r>
            <a:endParaRPr lang="zh-CN" altLang="en-US" sz="1600" b="1" dirty="0">
              <a:latin typeface="微软雅黑" panose="020B0503020204020204" pitchFamily="34" charset="-122"/>
              <a:ea typeface="微软雅黑" panose="020B0503020204020204" pitchFamily="34" charset="-122"/>
            </a:endParaRPr>
          </a:p>
        </p:txBody>
      </p:sp>
      <p:cxnSp>
        <p:nvCxnSpPr>
          <p:cNvPr id="35" name="直接箭头连接符 34"/>
          <p:cNvCxnSpPr/>
          <p:nvPr/>
        </p:nvCxnSpPr>
        <p:spPr>
          <a:xfrm>
            <a:off x="5068122" y="3108960"/>
            <a:ext cx="0" cy="617441"/>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1506480" y="5659092"/>
            <a:ext cx="4045626" cy="685316"/>
          </a:xfrm>
          <a:prstGeom prst="rect">
            <a:avLst/>
          </a:prstGeom>
          <a:solidFill>
            <a:sysClr val="window" lastClr="FFFFFF">
              <a:lumMod val="95000"/>
            </a:sysClr>
          </a:solidFill>
        </p:spPr>
        <p:txBody>
          <a:bodyPr wrap="square" rtlCol="0" anchor="t">
            <a:spAutoFit/>
          </a:bodyPr>
          <a:lstStyle/>
          <a:p>
            <a:pPr marL="285750" marR="0" lvl="0" indent="-285750" defTabSz="914400" eaLnBrk="1" fontAlgn="auto" latinLnBrk="0" hangingPunct="1">
              <a:lnSpc>
                <a:spcPct val="110000"/>
              </a:lnSpc>
              <a:spcBef>
                <a:spcPts val="100"/>
              </a:spcBef>
              <a:spcAft>
                <a:spcPts val="300"/>
              </a:spcAft>
              <a:buClrTx/>
              <a:buSzTx/>
              <a:buFont typeface="Arial" panose="020B0604020202020204" pitchFamily="34" charset="0"/>
              <a:buChar char="•"/>
              <a:tabLst/>
              <a:defRPr/>
            </a:pPr>
            <a:r>
              <a:rPr lang="zh-CN" altLang="en-US" sz="1600" kern="0" noProof="0" dirty="0" smtClean="0">
                <a:solidFill>
                  <a:prstClr val="black"/>
                </a:solidFill>
                <a:latin typeface="微软雅黑" panose="020B0503020204020204" pitchFamily="34" charset="-122"/>
                <a:ea typeface="微软雅黑" panose="020B0503020204020204" pitchFamily="34" charset="-122"/>
                <a:sym typeface="+mn-ea"/>
              </a:rPr>
              <a:t>股票多头收益 </a:t>
            </a:r>
            <a:r>
              <a:rPr lang="en-US" altLang="zh-CN" sz="1600" kern="0" dirty="0" smtClean="0">
                <a:solidFill>
                  <a:prstClr val="black"/>
                </a:solidFill>
                <a:latin typeface="微软雅黑" panose="020B0503020204020204" pitchFamily="34" charset="-122"/>
                <a:ea typeface="微软雅黑" panose="020B0503020204020204" pitchFamily="34" charset="-122"/>
                <a:sym typeface="+mn-ea"/>
              </a:rPr>
              <a:t>=</a:t>
            </a:r>
            <a:r>
              <a:rPr kumimoji="0" lang="en-US" altLang="zh-CN" sz="16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sym typeface="+mn-ea"/>
              </a:rPr>
              <a:t> </a:t>
            </a:r>
            <a:r>
              <a:rPr kumimoji="0" lang="zh-CN" altLang="en-US" sz="16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sym typeface="+mn-ea"/>
              </a:rPr>
              <a:t>股票</a:t>
            </a:r>
            <a:r>
              <a:rPr lang="zh-CN" altLang="en-US" sz="1600" kern="0" noProof="0" dirty="0" smtClean="0">
                <a:solidFill>
                  <a:prstClr val="black"/>
                </a:solidFill>
                <a:latin typeface="微软雅黑" panose="020B0503020204020204" pitchFamily="34" charset="-122"/>
                <a:ea typeface="微软雅黑" panose="020B0503020204020204" pitchFamily="34" charset="-122"/>
                <a:sym typeface="+mn-ea"/>
              </a:rPr>
              <a:t>做多</a:t>
            </a:r>
            <a:r>
              <a:rPr lang="zh-CN" altLang="en-US" sz="1600" kern="0" noProof="0" dirty="0" smtClean="0">
                <a:solidFill>
                  <a:prstClr val="black"/>
                </a:solidFill>
                <a:latin typeface="微软雅黑" panose="020B0503020204020204" pitchFamily="34" charset="-122"/>
                <a:ea typeface="微软雅黑" panose="020B0503020204020204" pitchFamily="34" charset="-122"/>
                <a:sym typeface="+mn-ea"/>
              </a:rPr>
              <a:t>收益</a:t>
            </a:r>
            <a:endParaRPr lang="en-US" altLang="zh-CN" sz="1600" kern="0" noProof="0" dirty="0" smtClean="0">
              <a:solidFill>
                <a:prstClr val="black"/>
              </a:solidFill>
              <a:latin typeface="微软雅黑" panose="020B0503020204020204" pitchFamily="34" charset="-122"/>
              <a:ea typeface="微软雅黑" panose="020B0503020204020204" pitchFamily="34" charset="-122"/>
              <a:sym typeface="+mn-ea"/>
            </a:endParaRPr>
          </a:p>
          <a:p>
            <a:pPr marL="285750" marR="0" lvl="0" indent="-285750" defTabSz="914400" eaLnBrk="1" fontAlgn="auto" latinLnBrk="0" hangingPunct="1">
              <a:lnSpc>
                <a:spcPct val="110000"/>
              </a:lnSpc>
              <a:spcBef>
                <a:spcPts val="100"/>
              </a:spcBef>
              <a:spcAft>
                <a:spcPts val="300"/>
              </a:spcAft>
              <a:buClrTx/>
              <a:buSzTx/>
              <a:buFont typeface="Arial" panose="020B0604020202020204" pitchFamily="34" charset="0"/>
              <a:buChar char="•"/>
              <a:tabLst/>
              <a:defRPr/>
            </a:pPr>
            <a:r>
              <a:rPr kumimoji="0" lang="zh-CN" altLang="en-US" sz="1600" b="0" i="0" u="none" strike="noStrike" kern="0" cap="none" spc="0" normalizeH="0" baseline="0" dirty="0" smtClean="0">
                <a:ln>
                  <a:noFill/>
                </a:ln>
                <a:solidFill>
                  <a:prstClr val="black"/>
                </a:solidFill>
                <a:effectLst/>
                <a:uLnTx/>
                <a:uFillTx/>
                <a:latin typeface="微软雅黑" panose="020B0503020204020204" pitchFamily="34" charset="-122"/>
                <a:ea typeface="微软雅黑" panose="020B0503020204020204" pitchFamily="34" charset="-122"/>
                <a:sym typeface="+mn-ea"/>
              </a:rPr>
              <a:t>基金经理覆盖多个行业</a:t>
            </a:r>
            <a:endParaRPr kumimoji="0" lang="zh-CN" altLang="en-US"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37" name="文本框 36"/>
          <p:cNvSpPr txBox="1"/>
          <p:nvPr/>
        </p:nvSpPr>
        <p:spPr>
          <a:xfrm>
            <a:off x="5068122" y="3264535"/>
            <a:ext cx="1163783" cy="307777"/>
          </a:xfrm>
          <a:prstGeom prst="rect">
            <a:avLst/>
          </a:prstGeom>
          <a:noFill/>
        </p:spPr>
        <p:txBody>
          <a:bodyPr wrap="square" rtlCol="0">
            <a:spAutoFit/>
          </a:bodyPr>
          <a:lstStyle/>
          <a:p>
            <a:r>
              <a:rPr lang="zh-CN" altLang="en-US" sz="1400" dirty="0">
                <a:solidFill>
                  <a:srgbClr val="FF0000"/>
                </a:solidFill>
                <a:latin typeface="微软雅黑" panose="020B0503020204020204" pitchFamily="34" charset="-122"/>
                <a:ea typeface="微软雅黑" panose="020B0503020204020204" pitchFamily="34" charset="-122"/>
              </a:rPr>
              <a:t>做多</a:t>
            </a:r>
            <a:r>
              <a:rPr lang="zh-CN" altLang="en-US" sz="1400" dirty="0" smtClean="0">
                <a:solidFill>
                  <a:srgbClr val="FF0000"/>
                </a:solidFill>
                <a:latin typeface="微软雅黑" panose="020B0503020204020204" pitchFamily="34" charset="-122"/>
                <a:ea typeface="微软雅黑" panose="020B0503020204020204" pitchFamily="34" charset="-122"/>
              </a:rPr>
              <a:t>收益</a:t>
            </a:r>
            <a:endParaRPr lang="zh-CN" altLang="en-US" sz="1400" dirty="0">
              <a:solidFill>
                <a:srgbClr val="FF0000"/>
              </a:solidFill>
              <a:latin typeface="微软雅黑" panose="020B0503020204020204" pitchFamily="34" charset="-122"/>
              <a:ea typeface="微软雅黑" panose="020B0503020204020204" pitchFamily="34" charset="-122"/>
            </a:endParaRPr>
          </a:p>
        </p:txBody>
      </p:sp>
      <p:sp>
        <p:nvSpPr>
          <p:cNvPr id="38" name="任意多边形 37"/>
          <p:cNvSpPr/>
          <p:nvPr/>
        </p:nvSpPr>
        <p:spPr>
          <a:xfrm>
            <a:off x="1320800" y="2905760"/>
            <a:ext cx="3931920" cy="894080"/>
          </a:xfrm>
          <a:custGeom>
            <a:avLst/>
            <a:gdLst>
              <a:gd name="connsiteX0" fmla="*/ 0 w 3931920"/>
              <a:gd name="connsiteY0" fmla="*/ 894080 h 894080"/>
              <a:gd name="connsiteX1" fmla="*/ 1503680 w 3931920"/>
              <a:gd name="connsiteY1" fmla="*/ 243840 h 894080"/>
              <a:gd name="connsiteX2" fmla="*/ 3048000 w 3931920"/>
              <a:gd name="connsiteY2" fmla="*/ 436880 h 894080"/>
              <a:gd name="connsiteX3" fmla="*/ 3931920 w 3931920"/>
              <a:gd name="connsiteY3" fmla="*/ 0 h 894080"/>
            </a:gdLst>
            <a:ahLst/>
            <a:cxnLst>
              <a:cxn ang="0">
                <a:pos x="connsiteX0" y="connsiteY0"/>
              </a:cxn>
              <a:cxn ang="0">
                <a:pos x="connsiteX1" y="connsiteY1"/>
              </a:cxn>
              <a:cxn ang="0">
                <a:pos x="connsiteX2" y="connsiteY2"/>
              </a:cxn>
              <a:cxn ang="0">
                <a:pos x="connsiteX3" y="connsiteY3"/>
              </a:cxn>
            </a:cxnLst>
            <a:rect l="l" t="t" r="r" b="b"/>
            <a:pathLst>
              <a:path w="3931920" h="894080">
                <a:moveTo>
                  <a:pt x="0" y="894080"/>
                </a:moveTo>
                <a:cubicBezTo>
                  <a:pt x="497840" y="607060"/>
                  <a:pt x="995680" y="320040"/>
                  <a:pt x="1503680" y="243840"/>
                </a:cubicBezTo>
                <a:cubicBezTo>
                  <a:pt x="2011680" y="167640"/>
                  <a:pt x="2643293" y="477520"/>
                  <a:pt x="3048000" y="436880"/>
                </a:cubicBezTo>
                <a:cubicBezTo>
                  <a:pt x="3452707" y="396240"/>
                  <a:pt x="3743960" y="116840"/>
                  <a:pt x="3931920" y="0"/>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olidFill>
              </a:ln>
            </a:endParaRPr>
          </a:p>
        </p:txBody>
      </p:sp>
      <p:cxnSp>
        <p:nvCxnSpPr>
          <p:cNvPr id="39" name="直接连接符 38"/>
          <p:cNvCxnSpPr/>
          <p:nvPr/>
        </p:nvCxnSpPr>
        <p:spPr>
          <a:xfrm flipV="1">
            <a:off x="1320800" y="3737699"/>
            <a:ext cx="4305131" cy="3849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5552106" y="5260924"/>
            <a:ext cx="1731155"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时间</a:t>
            </a:r>
            <a:endParaRPr lang="zh-CN" altLang="en-US" sz="1400"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1048020" y="3811138"/>
            <a:ext cx="1731155"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买入点</a:t>
            </a:r>
            <a:endParaRPr lang="zh-CN" altLang="en-US" sz="1400" dirty="0">
              <a:latin typeface="微软雅黑" panose="020B0503020204020204" pitchFamily="34" charset="-122"/>
              <a:ea typeface="微软雅黑" panose="020B0503020204020204" pitchFamily="34" charset="-122"/>
            </a:endParaRPr>
          </a:p>
        </p:txBody>
      </p:sp>
      <p:sp>
        <p:nvSpPr>
          <p:cNvPr id="42" name="文本框 41"/>
          <p:cNvSpPr txBox="1"/>
          <p:nvPr/>
        </p:nvSpPr>
        <p:spPr>
          <a:xfrm>
            <a:off x="6803422" y="3618098"/>
            <a:ext cx="1731155" cy="307777"/>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买入点</a:t>
            </a:r>
            <a:endParaRPr lang="zh-CN" altLang="en-US" sz="1400" dirty="0">
              <a:latin typeface="微软雅黑" panose="020B0503020204020204" pitchFamily="34" charset="-122"/>
              <a:ea typeface="微软雅黑" panose="020B0503020204020204" pitchFamily="34" charset="-122"/>
            </a:endParaRPr>
          </a:p>
        </p:txBody>
      </p:sp>
      <p:sp>
        <p:nvSpPr>
          <p:cNvPr id="44" name="文本框 43"/>
          <p:cNvSpPr txBox="1"/>
          <p:nvPr/>
        </p:nvSpPr>
        <p:spPr>
          <a:xfrm>
            <a:off x="238539" y="178904"/>
            <a:ext cx="714131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dirty="0" smtClean="0">
                <a:solidFill>
                  <a:srgbClr val="015658"/>
                </a:solidFill>
                <a:latin typeface="獅尾四季春加糖SC-Bold" panose="020B0500000000000000" pitchFamily="34" charset="-120"/>
                <a:ea typeface="獅尾四季春加糖SC-Bold" panose="020B0500000000000000" pitchFamily="34" charset="-120"/>
              </a:rPr>
              <a:t>权益做多：国内</a:t>
            </a:r>
            <a:r>
              <a:rPr kumimoji="0" lang="zh-CN" altLang="en-US" sz="2400" b="1" i="0" u="none" strike="noStrike" kern="1200" cap="none" spc="0" normalizeH="0" baseline="0" noProof="0" dirty="0" smtClean="0">
                <a:ln>
                  <a:noFill/>
                </a:ln>
                <a:solidFill>
                  <a:srgbClr val="015658"/>
                </a:solidFill>
                <a:effectLst/>
                <a:uLnTx/>
                <a:uFillTx/>
                <a:latin typeface="獅尾四季春加糖SC-Bold" panose="020B0500000000000000" pitchFamily="34" charset="-120"/>
                <a:ea typeface="獅尾四季春加糖SC-Bold" panose="020B0500000000000000" pitchFamily="34" charset="-120"/>
                <a:cs typeface="+mn-cs"/>
              </a:rPr>
              <a:t>股票多头</a:t>
            </a:r>
            <a:r>
              <a:rPr kumimoji="0" lang="en-US" altLang="zh-CN" sz="2400" b="1" i="0" u="none" strike="noStrike" kern="1200" cap="none" spc="0" normalizeH="0" baseline="0" noProof="0" dirty="0" smtClean="0">
                <a:ln>
                  <a:noFill/>
                </a:ln>
                <a:solidFill>
                  <a:srgbClr val="015658"/>
                </a:solidFill>
                <a:effectLst/>
                <a:uLnTx/>
                <a:uFillTx/>
                <a:latin typeface="獅尾四季春加糖SC-Bold" panose="020B0500000000000000" pitchFamily="34" charset="-120"/>
                <a:ea typeface="獅尾四季春加糖SC-Bold" panose="020B0500000000000000" pitchFamily="34" charset="-120"/>
                <a:cs typeface="+mn-cs"/>
              </a:rPr>
              <a:t>&amp;</a:t>
            </a:r>
            <a:r>
              <a:rPr kumimoji="0" lang="zh-CN" altLang="en-US" sz="2400" b="1" i="0" u="none" strike="noStrike" kern="1200" cap="none" spc="0" normalizeH="0" baseline="0" noProof="0" dirty="0" smtClean="0">
                <a:ln>
                  <a:noFill/>
                </a:ln>
                <a:solidFill>
                  <a:srgbClr val="015658"/>
                </a:solidFill>
                <a:effectLst/>
                <a:uLnTx/>
                <a:uFillTx/>
                <a:latin typeface="獅尾四季春加糖SC-Bold" panose="020B0500000000000000" pitchFamily="34" charset="-120"/>
                <a:ea typeface="獅尾四季春加糖SC-Bold" panose="020B0500000000000000" pitchFamily="34" charset="-120"/>
                <a:cs typeface="+mn-cs"/>
              </a:rPr>
              <a:t>海外股票多空</a:t>
            </a:r>
            <a:endParaRPr kumimoji="0" lang="zh-CN" altLang="en-US" sz="2400" b="1" i="0" u="none" strike="noStrike" kern="1200" cap="none" spc="0" normalizeH="0" baseline="0" noProof="0" dirty="0">
              <a:ln>
                <a:noFill/>
              </a:ln>
              <a:solidFill>
                <a:srgbClr val="015658"/>
              </a:solidFill>
              <a:effectLst/>
              <a:uLnTx/>
              <a:uFillTx/>
              <a:latin typeface="獅尾四季春加糖SC-Bold" panose="020B0500000000000000" pitchFamily="34" charset="-120"/>
              <a:ea typeface="獅尾四季春加糖SC-Bold" panose="020B0500000000000000" pitchFamily="34" charset="-120"/>
              <a:cs typeface="+mn-cs"/>
            </a:endParaRPr>
          </a:p>
        </p:txBody>
      </p:sp>
    </p:spTree>
    <p:custDataLst>
      <p:tags r:id="rId1"/>
    </p:custDataLst>
    <p:extLst>
      <p:ext uri="{BB962C8B-B14F-4D97-AF65-F5344CB8AC3E}">
        <p14:creationId xmlns:p14="http://schemas.microsoft.com/office/powerpoint/2010/main" val="8439320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5" name="标题 14"/>
          <p:cNvSpPr>
            <a:spLocks noGrp="1"/>
          </p:cNvSpPr>
          <p:nvPr>
            <p:ph type="ctrTitle"/>
          </p:nvPr>
        </p:nvSpPr>
        <p:spPr>
          <a:xfrm>
            <a:off x="267854" y="9583"/>
            <a:ext cx="4720590" cy="800735"/>
          </a:xfrm>
        </p:spPr>
        <p:txBody>
          <a:bodyPr vert="horz" lIns="90000" tIns="46800" rIns="90000" bIns="46800" rtlCol="0" anchor="b" anchorCtr="0">
            <a:noAutofit/>
          </a:bodyPr>
          <a:lstStyle/>
          <a:p>
            <a:pPr algn="l">
              <a:lnSpc>
                <a:spcPct val="90000"/>
              </a:lnSpc>
              <a:spcBef>
                <a:spcPts val="0"/>
              </a:spcBef>
              <a:defRPr/>
            </a:pPr>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P72</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公司概览</a:t>
            </a:r>
          </a:p>
        </p:txBody>
      </p:sp>
      <p:pic>
        <p:nvPicPr>
          <p:cNvPr id="5" name="图片 4" descr="未标题-1"/>
          <p:cNvPicPr>
            <a:picLocks noChangeAspect="1"/>
          </p:cNvPicPr>
          <p:nvPr/>
        </p:nvPicPr>
        <p:blipFill>
          <a:blip r:embed="rId5"/>
          <a:stretch>
            <a:fillRect/>
          </a:stretch>
        </p:blipFill>
        <p:spPr>
          <a:xfrm>
            <a:off x="11133455" y="295910"/>
            <a:ext cx="771525" cy="187960"/>
          </a:xfrm>
          <a:prstGeom prst="rect">
            <a:avLst/>
          </a:prstGeom>
        </p:spPr>
      </p:pic>
      <p:sp>
        <p:nvSpPr>
          <p:cNvPr id="6" name="矩形 5">
            <a:extLst>
              <a:ext uri="{FF2B5EF4-FFF2-40B4-BE49-F238E27FC236}">
                <a16:creationId xmlns:a16="http://schemas.microsoft.com/office/drawing/2014/main" id="{7B5A8294-753F-4FDD-AC0A-949FC6C27E33}"/>
              </a:ext>
            </a:extLst>
          </p:cNvPr>
          <p:cNvSpPr/>
          <p:nvPr/>
        </p:nvSpPr>
        <p:spPr>
          <a:xfrm>
            <a:off x="894691" y="1288941"/>
            <a:ext cx="9959173" cy="1384995"/>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Point 72</a:t>
            </a:r>
            <a:r>
              <a:rPr kumimoji="0" lang="zh-CN" altLang="en-US"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（简称：</a:t>
            </a:r>
            <a:r>
              <a:rPr kumimoji="0" lang="en-US" altLang="zh-CN"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P72</a:t>
            </a:r>
            <a:r>
              <a:rPr kumimoji="0" lang="zh-CN" altLang="en-US"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是美国一家头部对冲基金，成立于</a:t>
            </a:r>
            <a:r>
              <a:rPr kumimoji="0" lang="en-US" altLang="zh-CN"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2014</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年，公司</a:t>
            </a:r>
            <a:r>
              <a:rPr kumimoji="0" lang="zh-CN" altLang="en-US" sz="1400" b="0" i="0" u="none" strike="noStrike" kern="1200" cap="none" spc="200" normalizeH="0" baseline="0" noProof="0" dirty="0" smtClean="0">
                <a:ln>
                  <a:noFill/>
                </a:ln>
                <a:solidFill>
                  <a:srgbClr val="000000">
                    <a:lumMod val="65000"/>
                    <a:lumOff val="35000"/>
                  </a:srgbClr>
                </a:solidFill>
                <a:effectLst/>
                <a:uLnTx/>
                <a:uFillTx/>
                <a:latin typeface="Arial"/>
                <a:ea typeface="思源黑体 CN Light" panose="020B0300000000000000" charset="-122"/>
                <a:cs typeface="+mn-cs"/>
              </a:rPr>
              <a:t>前身</a:t>
            </a:r>
            <a:r>
              <a:rPr kumimoji="0" lang="en-US" altLang="zh-CN" sz="1400" b="0" i="0" u="none" strike="noStrike" kern="1200" cap="none" spc="200" normalizeH="0" baseline="0" noProof="0" dirty="0" smtClean="0">
                <a:ln>
                  <a:noFill/>
                </a:ln>
                <a:solidFill>
                  <a:srgbClr val="000000">
                    <a:lumMod val="65000"/>
                    <a:lumOff val="35000"/>
                  </a:srgbClr>
                </a:solidFill>
                <a:effectLst/>
                <a:uLnTx/>
                <a:uFillTx/>
                <a:latin typeface="Arial"/>
                <a:ea typeface="思源黑体 CN Light" panose="020B0300000000000000" charset="-122"/>
                <a:cs typeface="+mn-cs"/>
              </a:rPr>
              <a:t>SAC</a:t>
            </a:r>
            <a:r>
              <a:rPr kumimoji="0" lang="zh-CN" altLang="en-US" sz="1400" b="0" i="0" u="none" strike="noStrike" kern="1200" cap="none" spc="200" normalizeH="0" baseline="0" noProof="0" dirty="0" smtClean="0">
                <a:ln>
                  <a:noFill/>
                </a:ln>
                <a:solidFill>
                  <a:srgbClr val="000000">
                    <a:lumMod val="65000"/>
                    <a:lumOff val="35000"/>
                  </a:srgbClr>
                </a:solidFill>
                <a:effectLst/>
                <a:uLnTx/>
                <a:uFillTx/>
                <a:latin typeface="Arial"/>
                <a:ea typeface="思源黑体 CN Light" panose="020B0300000000000000" charset="-122"/>
                <a:cs typeface="+mn-cs"/>
              </a:rPr>
              <a:t>由</a:t>
            </a:r>
            <a:r>
              <a:rPr kumimoji="0" lang="en-US" altLang="zh-CN"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Steven Cohen</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于</a:t>
            </a:r>
            <a:r>
              <a:rPr kumimoji="0" lang="en-US" altLang="zh-CN"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1992</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年成立，最初只有</a:t>
            </a:r>
            <a:r>
              <a:rPr kumimoji="0" lang="en-US" altLang="zh-CN"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9</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名员工管理约</a:t>
            </a:r>
            <a:r>
              <a:rPr kumimoji="0" lang="en-US" altLang="zh-CN"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2,500</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万美元资产。截至</a:t>
            </a:r>
            <a:r>
              <a:rPr kumimoji="0" lang="en-US" altLang="zh-CN"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2024</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年</a:t>
            </a:r>
            <a:r>
              <a:rPr kumimoji="0" lang="en-US" altLang="zh-CN"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7</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月</a:t>
            </a:r>
            <a:r>
              <a:rPr kumimoji="0" lang="en-US" altLang="zh-CN"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1</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日，</a:t>
            </a:r>
            <a:r>
              <a:rPr kumimoji="0" lang="zh-CN" altLang="en-US" sz="1400" b="1"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管理规模约</a:t>
            </a:r>
            <a:r>
              <a:rPr kumimoji="0" lang="en-US" altLang="zh-CN" sz="1400"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350</a:t>
            </a:r>
            <a:r>
              <a:rPr kumimoji="0" lang="zh-CN" altLang="en-US"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亿美元</a:t>
            </a:r>
            <a:r>
              <a:rPr kumimoji="0" lang="zh-CN" altLang="en-US" sz="1400" b="1"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Point72</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在全球</a:t>
            </a:r>
            <a:r>
              <a:rPr kumimoji="0" lang="en-US" altLang="zh-CN"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17</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个办公室拥有约</a:t>
            </a:r>
            <a:r>
              <a:rPr kumimoji="0" lang="en-US" altLang="zh-CN"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2,800</a:t>
            </a:r>
            <a:r>
              <a:rPr kumimoji="0" lang="zh-CN" altLang="en-US"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名员工</a:t>
            </a: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rPr>
              <a:t>三大核心策略：</a:t>
            </a:r>
            <a:r>
              <a:rPr kumimoji="0" lang="zh-CN" altLang="en-US"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股票基本面多</a:t>
            </a:r>
            <a:r>
              <a:rPr kumimoji="0" lang="en-US" altLang="zh-CN"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a:t>
            </a:r>
            <a:r>
              <a:rPr kumimoji="0" lang="zh-CN" altLang="en-US" sz="1400" b="1" i="0" u="none" strike="noStrike" kern="1200" cap="none" spc="200" normalizeH="0" baseline="0" noProof="0" dirty="0" smtClean="0">
                <a:ln>
                  <a:noFill/>
                </a:ln>
                <a:solidFill>
                  <a:srgbClr val="C00000"/>
                </a:solidFill>
                <a:effectLst/>
                <a:uLnTx/>
                <a:uFillTx/>
                <a:latin typeface="Arial"/>
                <a:ea typeface="思源黑体 CN Light" panose="020B0300000000000000" charset="-122"/>
                <a:cs typeface="+mn-cs"/>
              </a:rPr>
              <a:t>空策略（</a:t>
            </a:r>
            <a:r>
              <a:rPr kumimoji="0" lang="en-US" altLang="zh-CN" sz="1400" b="1" i="0" u="none" strike="noStrike" kern="1200" cap="none" spc="200" normalizeH="0" baseline="0" noProof="0" dirty="0" smtClean="0">
                <a:ln>
                  <a:noFill/>
                </a:ln>
                <a:solidFill>
                  <a:srgbClr val="C00000"/>
                </a:solidFill>
                <a:effectLst/>
                <a:uLnTx/>
                <a:uFillTx/>
                <a:latin typeface="Arial"/>
                <a:ea typeface="思源黑体 CN Light" panose="020B0300000000000000" charset="-122"/>
                <a:cs typeface="+mn-cs"/>
              </a:rPr>
              <a:t>65%</a:t>
            </a:r>
            <a:r>
              <a:rPr kumimoji="0" lang="zh-CN" altLang="en-US" sz="1400" b="1" i="0" u="none" strike="noStrike" kern="1200" cap="none" spc="200" normalizeH="0" baseline="0" noProof="0" dirty="0" smtClean="0">
                <a:ln>
                  <a:noFill/>
                </a:ln>
                <a:solidFill>
                  <a:srgbClr val="C00000"/>
                </a:solidFill>
                <a:effectLst/>
                <a:uLnTx/>
                <a:uFillTx/>
                <a:latin typeface="Arial"/>
                <a:ea typeface="思源黑体 CN Light" panose="020B0300000000000000" charset="-122"/>
                <a:cs typeface="+mn-cs"/>
              </a:rPr>
              <a:t>）、</a:t>
            </a:r>
            <a:r>
              <a:rPr kumimoji="0" lang="zh-CN" altLang="en-US"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算法程序交易</a:t>
            </a:r>
            <a:r>
              <a:rPr kumimoji="0" lang="zh-CN" altLang="en-US" sz="1400" b="1" i="0" u="none" strike="noStrike" kern="1200" cap="none" spc="200" normalizeH="0" baseline="0" noProof="0" dirty="0" smtClean="0">
                <a:ln>
                  <a:noFill/>
                </a:ln>
                <a:solidFill>
                  <a:srgbClr val="C00000"/>
                </a:solidFill>
                <a:effectLst/>
                <a:uLnTx/>
                <a:uFillTx/>
                <a:latin typeface="Arial"/>
                <a:ea typeface="思源黑体 CN Light" panose="020B0300000000000000" charset="-122"/>
                <a:cs typeface="+mn-cs"/>
              </a:rPr>
              <a:t>策略（</a:t>
            </a:r>
            <a:r>
              <a:rPr kumimoji="0" lang="en-US" altLang="zh-CN" sz="1400" b="1" i="0" u="none" strike="noStrike" kern="1200" cap="none" spc="200" normalizeH="0" baseline="0" noProof="0" dirty="0" smtClean="0">
                <a:ln>
                  <a:noFill/>
                </a:ln>
                <a:solidFill>
                  <a:srgbClr val="C00000"/>
                </a:solidFill>
                <a:effectLst/>
                <a:uLnTx/>
                <a:uFillTx/>
                <a:latin typeface="Arial"/>
                <a:ea typeface="思源黑体 CN Light" panose="020B0300000000000000" charset="-122"/>
                <a:cs typeface="+mn-cs"/>
              </a:rPr>
              <a:t>20%</a:t>
            </a:r>
            <a:r>
              <a:rPr kumimoji="0" lang="zh-CN" altLang="en-US" sz="1400" b="1" i="0" u="none" strike="noStrike" kern="1200" cap="none" spc="200" normalizeH="0" baseline="0" noProof="0" dirty="0" smtClean="0">
                <a:ln>
                  <a:noFill/>
                </a:ln>
                <a:solidFill>
                  <a:srgbClr val="C00000"/>
                </a:solidFill>
                <a:effectLst/>
                <a:uLnTx/>
                <a:uFillTx/>
                <a:latin typeface="Arial"/>
                <a:ea typeface="思源黑体 CN Light" panose="020B0300000000000000" charset="-122"/>
                <a:cs typeface="+mn-cs"/>
              </a:rPr>
              <a:t>）、</a:t>
            </a:r>
            <a:r>
              <a:rPr kumimoji="0" lang="zh-CN" altLang="en-US" sz="1400" b="1" i="0" u="none" strike="noStrike" kern="1200" cap="none" spc="200" normalizeH="0" baseline="0" noProof="0" dirty="0">
                <a:ln>
                  <a:noFill/>
                </a:ln>
                <a:solidFill>
                  <a:srgbClr val="C00000"/>
                </a:solidFill>
                <a:effectLst/>
                <a:uLnTx/>
                <a:uFillTx/>
                <a:latin typeface="Arial"/>
                <a:ea typeface="思源黑体 CN Light" panose="020B0300000000000000" charset="-122"/>
                <a:cs typeface="+mn-cs"/>
              </a:rPr>
              <a:t>全球宏观</a:t>
            </a:r>
            <a:r>
              <a:rPr kumimoji="0" lang="zh-CN" altLang="en-US" sz="1400" b="1" i="0" u="none" strike="noStrike" kern="1200" cap="none" spc="200" normalizeH="0" baseline="0" noProof="0" dirty="0" smtClean="0">
                <a:ln>
                  <a:noFill/>
                </a:ln>
                <a:solidFill>
                  <a:srgbClr val="C00000"/>
                </a:solidFill>
                <a:effectLst/>
                <a:uLnTx/>
                <a:uFillTx/>
                <a:latin typeface="Arial"/>
                <a:ea typeface="思源黑体 CN Light" panose="020B0300000000000000" charset="-122"/>
                <a:cs typeface="+mn-cs"/>
              </a:rPr>
              <a:t>策略（</a:t>
            </a:r>
            <a:r>
              <a:rPr kumimoji="0" lang="en-US" altLang="zh-CN" sz="1400" b="1" i="0" u="none" strike="noStrike" kern="1200" cap="none" spc="200" normalizeH="0" baseline="0" noProof="0" dirty="0" smtClean="0">
                <a:ln>
                  <a:noFill/>
                </a:ln>
                <a:solidFill>
                  <a:srgbClr val="C00000"/>
                </a:solidFill>
                <a:effectLst/>
                <a:uLnTx/>
                <a:uFillTx/>
                <a:latin typeface="Arial"/>
                <a:ea typeface="思源黑体 CN Light" panose="020B0300000000000000" charset="-122"/>
                <a:cs typeface="+mn-cs"/>
              </a:rPr>
              <a:t>15%</a:t>
            </a:r>
            <a:r>
              <a:rPr kumimoji="0" lang="zh-CN" altLang="en-US" sz="1400" b="1" i="0" u="none" strike="noStrike" kern="1200" cap="none" spc="200" normalizeH="0" baseline="0" noProof="0" dirty="0" smtClean="0">
                <a:ln>
                  <a:noFill/>
                </a:ln>
                <a:solidFill>
                  <a:srgbClr val="C00000"/>
                </a:solidFill>
                <a:effectLst/>
                <a:uLnTx/>
                <a:uFillTx/>
                <a:latin typeface="Arial"/>
                <a:ea typeface="思源黑体 CN Light" panose="020B0300000000000000" charset="-122"/>
                <a:cs typeface="+mn-cs"/>
              </a:rPr>
              <a:t>）</a:t>
            </a:r>
            <a:r>
              <a:rPr kumimoji="0" lang="zh-CN" altLang="en-US" sz="1400" b="0" i="0" u="none" strike="noStrike" kern="1200" cap="none" spc="200" normalizeH="0" baseline="0" noProof="0" dirty="0" smtClean="0">
                <a:ln>
                  <a:noFill/>
                </a:ln>
                <a:solidFill>
                  <a:srgbClr val="000000">
                    <a:lumMod val="65000"/>
                    <a:lumOff val="35000"/>
                  </a:srgbClr>
                </a:solidFill>
                <a:effectLst/>
                <a:uLnTx/>
                <a:uFillTx/>
                <a:latin typeface="Arial"/>
                <a:ea typeface="思源黑体 CN Light" panose="020B0300000000000000" charset="-122"/>
                <a:cs typeface="+mn-cs"/>
              </a:rPr>
              <a:t>。</a:t>
            </a:r>
            <a:endParaRPr kumimoji="0" lang="zh-CN" altLang="en-US" sz="1400" b="0" i="0" u="none" strike="noStrike" kern="1200" cap="none" spc="200" normalizeH="0" baseline="0" noProof="0" dirty="0">
              <a:ln>
                <a:noFill/>
              </a:ln>
              <a:solidFill>
                <a:srgbClr val="000000">
                  <a:lumMod val="65000"/>
                  <a:lumOff val="35000"/>
                </a:srgbClr>
              </a:solidFill>
              <a:effectLst/>
              <a:uLnTx/>
              <a:uFillTx/>
              <a:latin typeface="Arial"/>
              <a:ea typeface="思源黑体 CN Light" panose="020B0300000000000000" charset="-122"/>
              <a:cs typeface="+mn-cs"/>
            </a:endParaRPr>
          </a:p>
        </p:txBody>
      </p:sp>
      <p:pic>
        <p:nvPicPr>
          <p:cNvPr id="7" name="picture 58">
            <a:extLst>
              <a:ext uri="{FF2B5EF4-FFF2-40B4-BE49-F238E27FC236}">
                <a16:creationId xmlns:a16="http://schemas.microsoft.com/office/drawing/2014/main" id="{C2DB626F-57FC-4E59-954B-3BA0CB15DCD9}"/>
              </a:ext>
            </a:extLst>
          </p:cNvPr>
          <p:cNvPicPr>
            <a:picLocks noChangeAspect="1"/>
          </p:cNvPicPr>
          <p:nvPr/>
        </p:nvPicPr>
        <p:blipFill>
          <a:blip r:embed="rId6"/>
          <a:stretch>
            <a:fillRect/>
          </a:stretch>
        </p:blipFill>
        <p:spPr>
          <a:xfrm rot="21600000">
            <a:off x="9047934" y="2894302"/>
            <a:ext cx="1756755" cy="1202515"/>
          </a:xfrm>
          <a:prstGeom prst="rect">
            <a:avLst/>
          </a:prstGeom>
        </p:spPr>
      </p:pic>
      <p:sp>
        <p:nvSpPr>
          <p:cNvPr id="8" name="textbox 60">
            <a:extLst>
              <a:ext uri="{FF2B5EF4-FFF2-40B4-BE49-F238E27FC236}">
                <a16:creationId xmlns:a16="http://schemas.microsoft.com/office/drawing/2014/main" id="{1ADA54DB-81F1-446E-873B-87744BD142B5}"/>
              </a:ext>
            </a:extLst>
          </p:cNvPr>
          <p:cNvSpPr/>
          <p:nvPr/>
        </p:nvSpPr>
        <p:spPr>
          <a:xfrm>
            <a:off x="9190982" y="4009793"/>
            <a:ext cx="2498704" cy="1865629"/>
          </a:xfrm>
          <a:prstGeom prst="rect">
            <a:avLst/>
          </a:prstGeom>
          <a:noFill/>
          <a:ln w="0" cap="flat">
            <a:noFill/>
            <a:prstDash val="solid"/>
            <a:miter lim="0"/>
          </a:ln>
        </p:spPr>
        <p:txBody>
          <a:bodyPr vert="horz" wrap="square" lIns="0" tIns="0" rIns="0" bIns="0"/>
          <a:lstStyle/>
          <a:p>
            <a:pPr marL="0" marR="0" lvl="0" indent="0" algn="l" defTabSz="914400" rtl="0" eaLnBrk="0" fontAlgn="auto" latinLnBrk="0" hangingPunct="1">
              <a:lnSpc>
                <a:spcPct val="150000"/>
              </a:lnSpc>
              <a:spcBef>
                <a:spcPts val="0"/>
              </a:spcBef>
              <a:spcAft>
                <a:spcPts val="0"/>
              </a:spcAft>
              <a:buClrTx/>
              <a:buSzTx/>
              <a:buFontTx/>
              <a:buNone/>
              <a:tabLst/>
              <a:defRPr/>
            </a:pPr>
            <a:endParaRPr kumimoji="0" sz="100" b="0" i="0" u="none" strike="noStrike" kern="1200" cap="none" spc="0" normalizeH="0" baseline="0" noProof="0" dirty="0">
              <a:ln>
                <a:noFill/>
              </a:ln>
              <a:solidFill>
                <a:srgbClr val="000000"/>
              </a:solidFill>
              <a:effectLst/>
              <a:uLnTx/>
              <a:uFillTx/>
              <a:latin typeface="Arial"/>
              <a:ea typeface="Arial"/>
              <a:cs typeface="Arial"/>
            </a:endParaRPr>
          </a:p>
          <a:p>
            <a:pPr marL="12700" marR="0" lvl="0" indent="0" algn="l" defTabSz="914400" rtl="0" eaLnBrk="0" fontAlgn="auto" latinLnBrk="0" hangingPunct="1">
              <a:lnSpc>
                <a:spcPct val="150000"/>
              </a:lnSpc>
              <a:spcBef>
                <a:spcPts val="0"/>
              </a:spcBef>
              <a:spcAft>
                <a:spcPts val="0"/>
              </a:spcAft>
              <a:buClrTx/>
              <a:buSzTx/>
              <a:buFontTx/>
              <a:buNone/>
              <a:tabLst/>
              <a:defRPr/>
            </a:pPr>
            <a:r>
              <a:rPr kumimoji="0" lang="zh-CN" altLang="en-US" sz="1200" b="1" i="0" u="none" strike="noStrike" kern="0" cap="none" spc="-20" normalizeH="0" baseline="0" noProof="0" dirty="0">
                <a:ln>
                  <a:noFill/>
                </a:ln>
                <a:solidFill>
                  <a:srgbClr val="005F9D">
                    <a:alpha val="100000"/>
                  </a:srgbClr>
                </a:solidFill>
                <a:effectLst/>
                <a:uLnTx/>
                <a:uFillTx/>
                <a:latin typeface="Franklin Gothic Medium Cond"/>
                <a:ea typeface="Franklin Gothic Medium Cond"/>
                <a:cs typeface="Franklin Gothic Medium Cond"/>
              </a:rPr>
              <a:t>亚太地区</a:t>
            </a:r>
            <a:endParaRPr kumimoji="0" sz="1200" b="0" i="0" u="none" strike="noStrike" kern="1200" cap="none" spc="0" normalizeH="0" baseline="0" noProof="0" dirty="0">
              <a:ln>
                <a:noFill/>
              </a:ln>
              <a:solidFill>
                <a:srgbClr val="000000"/>
              </a:solidFill>
              <a:effectLst/>
              <a:uLnTx/>
              <a:uFillTx/>
              <a:latin typeface="Franklin Gothic Medium Cond"/>
              <a:ea typeface="Franklin Gothic Medium Cond"/>
              <a:cs typeface="Franklin Gothic Medium Cond"/>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香港（区域总部）</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新加坡</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悉尼</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台北（系统性研究）</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东京</a:t>
            </a:r>
            <a:endParaRPr kumimoji="0"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endParaRPr>
          </a:p>
        </p:txBody>
      </p:sp>
      <p:sp>
        <p:nvSpPr>
          <p:cNvPr id="9" name="textbox 70">
            <a:extLst>
              <a:ext uri="{FF2B5EF4-FFF2-40B4-BE49-F238E27FC236}">
                <a16:creationId xmlns:a16="http://schemas.microsoft.com/office/drawing/2014/main" id="{A22B01FA-10BE-453B-97D3-EAD46B2F0C7F}"/>
              </a:ext>
            </a:extLst>
          </p:cNvPr>
          <p:cNvSpPr/>
          <p:nvPr/>
        </p:nvSpPr>
        <p:spPr>
          <a:xfrm>
            <a:off x="5341923" y="4036170"/>
            <a:ext cx="2512058" cy="2124710"/>
          </a:xfrm>
          <a:prstGeom prst="rect">
            <a:avLst/>
          </a:prstGeom>
          <a:noFill/>
          <a:ln w="0" cap="flat">
            <a:noFill/>
            <a:prstDash val="solid"/>
            <a:miter lim="0"/>
          </a:ln>
        </p:spPr>
        <p:txBody>
          <a:bodyPr vert="horz" wrap="square" lIns="0" tIns="0" rIns="0" bIns="0"/>
          <a:lstStyle/>
          <a:p>
            <a:pPr marL="0" marR="0" lvl="0" indent="0" algn="l" defTabSz="914400" rtl="0" eaLnBrk="0" fontAlgn="auto" latinLnBrk="0" hangingPunct="1">
              <a:lnSpc>
                <a:spcPct val="78474"/>
              </a:lnSpc>
              <a:spcBef>
                <a:spcPts val="0"/>
              </a:spcBef>
              <a:spcAft>
                <a:spcPts val="0"/>
              </a:spcAft>
              <a:buClrTx/>
              <a:buSzTx/>
              <a:buFontTx/>
              <a:buNone/>
              <a:tabLst/>
              <a:defRPr/>
            </a:pPr>
            <a:endParaRPr kumimoji="0" sz="100" b="0" i="0" u="none" strike="noStrike" kern="1200" cap="none" spc="0" normalizeH="0" baseline="0" noProof="0" dirty="0">
              <a:ln>
                <a:noFill/>
              </a:ln>
              <a:solidFill>
                <a:srgbClr val="000000"/>
              </a:solidFill>
              <a:effectLst/>
              <a:uLnTx/>
              <a:uFillTx/>
              <a:latin typeface="Arial"/>
              <a:ea typeface="Arial"/>
              <a:cs typeface="Arial"/>
            </a:endParaRPr>
          </a:p>
          <a:p>
            <a:pPr marL="15875" marR="0" lvl="0" indent="0" algn="l" defTabSz="914400" rtl="0" eaLnBrk="0" fontAlgn="auto" latinLnBrk="0" hangingPunct="1">
              <a:lnSpc>
                <a:spcPct val="150000"/>
              </a:lnSpc>
              <a:spcBef>
                <a:spcPts val="0"/>
              </a:spcBef>
              <a:spcAft>
                <a:spcPts val="0"/>
              </a:spcAft>
              <a:buClrTx/>
              <a:buSzTx/>
              <a:buFontTx/>
              <a:buNone/>
              <a:tabLst/>
              <a:defRPr/>
            </a:pPr>
            <a:r>
              <a:rPr kumimoji="0" lang="zh-CN" altLang="en-US" sz="1200" b="1" i="0" u="none" strike="noStrike" kern="0" cap="none" spc="-20" normalizeH="0" baseline="0" noProof="0" dirty="0">
                <a:ln>
                  <a:noFill/>
                </a:ln>
                <a:solidFill>
                  <a:srgbClr val="005F9D">
                    <a:alpha val="100000"/>
                  </a:srgbClr>
                </a:solidFill>
                <a:effectLst/>
                <a:uLnTx/>
                <a:uFillTx/>
                <a:latin typeface="Franklin Gothic Medium Cond"/>
                <a:ea typeface="Franklin Gothic Medium Cond"/>
                <a:cs typeface="Franklin Gothic Medium Cond"/>
              </a:rPr>
              <a:t>美国</a:t>
            </a:r>
            <a:endParaRPr kumimoji="0" sz="1200" b="0" i="0" u="none" strike="noStrike" kern="1200" cap="none" spc="0" normalizeH="0" baseline="0" noProof="0" dirty="0">
              <a:ln>
                <a:noFill/>
              </a:ln>
              <a:solidFill>
                <a:srgbClr val="000000"/>
              </a:solidFill>
              <a:effectLst/>
              <a:uLnTx/>
              <a:uFillTx/>
              <a:latin typeface="Franklin Gothic Medium Cond"/>
              <a:ea typeface="Franklin Gothic Medium Cond"/>
              <a:cs typeface="Franklin Gothic Medium Cond"/>
            </a:endParaRPr>
          </a:p>
          <a:p>
            <a:pPr marL="171450" marR="0" lvl="0" indent="-171450" algn="l" defTabSz="914400" rtl="0" eaLnBrk="0"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康涅狄格州斯坦福市（总部）</a:t>
            </a:r>
            <a:endPar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Franklin Gothic Medium Cond"/>
            </a:endParaRPr>
          </a:p>
          <a:p>
            <a:pPr marL="171450" marR="0" lvl="0" indent="-171450" algn="l" defTabSz="914400" rtl="0" eaLnBrk="0"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纽约</a:t>
            </a:r>
            <a:endParaRPr kumimoji="0" lang="en-US" altLang="zh-CN"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Franklin Gothic Medium Cond"/>
            </a:endParaRPr>
          </a:p>
          <a:p>
            <a:pPr marL="171450" marR="0" lvl="0" indent="-171450" algn="l" defTabSz="914400" rtl="0" eaLnBrk="0"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旧金山</a:t>
            </a:r>
            <a:endParaRPr kumimoji="0"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Franklin Gothic Medium Cond"/>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4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Arial"/>
              </a:rPr>
              <a:t>西棕榈滩</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4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Arial"/>
              </a:rPr>
              <a:t>迈阿密</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4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Arial"/>
              </a:rPr>
              <a:t>芝加哥</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40" normalizeH="0" baseline="0" noProof="0" dirty="0">
                <a:ln>
                  <a:noFill/>
                </a:ln>
                <a:solidFill>
                  <a:srgbClr val="000000">
                    <a:alpha val="100000"/>
                  </a:srgbClr>
                </a:solidFill>
                <a:effectLst/>
                <a:uLnTx/>
                <a:uFillTx/>
                <a:latin typeface="微软雅黑" panose="020B0503020204020204" pitchFamily="34" charset="-122"/>
                <a:ea typeface="微软雅黑" panose="020B0503020204020204" pitchFamily="34" charset="-122"/>
                <a:cs typeface="Arial"/>
              </a:rPr>
              <a:t>西雅图</a:t>
            </a:r>
          </a:p>
          <a:p>
            <a:pPr marL="12700" marR="0" lvl="0" indent="0" algn="l" defTabSz="914400" rtl="0" eaLnBrk="1" fontAlgn="auto" latinLnBrk="0" hangingPunct="1">
              <a:lnSpc>
                <a:spcPct val="79000"/>
              </a:lnSpc>
              <a:spcBef>
                <a:spcPts val="1056"/>
              </a:spcBef>
              <a:spcAft>
                <a:spcPts val="0"/>
              </a:spcAft>
              <a:buClrTx/>
              <a:buSzTx/>
              <a:buFontTx/>
              <a:buNone/>
              <a:tabLst/>
              <a:defRPr/>
            </a:pPr>
            <a:endParaRPr kumimoji="0" lang="zh-CN" altLang="en-US" sz="1800" b="0" i="0" u="none" strike="noStrike" kern="0" cap="none" spc="40" normalizeH="0" baseline="0" noProof="0" dirty="0">
              <a:ln>
                <a:noFill/>
              </a:ln>
              <a:solidFill>
                <a:srgbClr val="000000">
                  <a:alpha val="100000"/>
                </a:srgbClr>
              </a:solidFill>
              <a:effectLst/>
              <a:uLnTx/>
              <a:uFillTx/>
              <a:latin typeface="Arial"/>
              <a:ea typeface="Arial"/>
              <a:cs typeface="Arial"/>
            </a:endParaRPr>
          </a:p>
        </p:txBody>
      </p:sp>
      <p:pic>
        <p:nvPicPr>
          <p:cNvPr id="10" name="picture 72">
            <a:extLst>
              <a:ext uri="{FF2B5EF4-FFF2-40B4-BE49-F238E27FC236}">
                <a16:creationId xmlns:a16="http://schemas.microsoft.com/office/drawing/2014/main" id="{D259EE97-C9E7-4D7F-9394-1A1B67AA9BE2}"/>
              </a:ext>
            </a:extLst>
          </p:cNvPr>
          <p:cNvPicPr>
            <a:picLocks noChangeAspect="1"/>
          </p:cNvPicPr>
          <p:nvPr/>
        </p:nvPicPr>
        <p:blipFill>
          <a:blip r:embed="rId7"/>
          <a:stretch>
            <a:fillRect/>
          </a:stretch>
        </p:blipFill>
        <p:spPr>
          <a:xfrm rot="21600000">
            <a:off x="7168542" y="2871051"/>
            <a:ext cx="1703731" cy="1194114"/>
          </a:xfrm>
          <a:prstGeom prst="rect">
            <a:avLst/>
          </a:prstGeom>
        </p:spPr>
      </p:pic>
      <p:pic>
        <p:nvPicPr>
          <p:cNvPr id="11" name="picture 74">
            <a:extLst>
              <a:ext uri="{FF2B5EF4-FFF2-40B4-BE49-F238E27FC236}">
                <a16:creationId xmlns:a16="http://schemas.microsoft.com/office/drawing/2014/main" id="{172BBAED-6FE5-4BC7-9E28-0F550587B910}"/>
              </a:ext>
            </a:extLst>
          </p:cNvPr>
          <p:cNvPicPr>
            <a:picLocks noChangeAspect="1"/>
          </p:cNvPicPr>
          <p:nvPr/>
        </p:nvPicPr>
        <p:blipFill>
          <a:blip r:embed="rId8"/>
          <a:stretch>
            <a:fillRect/>
          </a:stretch>
        </p:blipFill>
        <p:spPr>
          <a:xfrm rot="21600000">
            <a:off x="5362327" y="3024624"/>
            <a:ext cx="1443227" cy="886967"/>
          </a:xfrm>
          <a:prstGeom prst="rect">
            <a:avLst/>
          </a:prstGeom>
        </p:spPr>
      </p:pic>
      <p:sp>
        <p:nvSpPr>
          <p:cNvPr id="12" name="textbox 78">
            <a:extLst>
              <a:ext uri="{FF2B5EF4-FFF2-40B4-BE49-F238E27FC236}">
                <a16:creationId xmlns:a16="http://schemas.microsoft.com/office/drawing/2014/main" id="{8F880564-8EC7-4A1A-80F2-18F8C80B684E}"/>
              </a:ext>
            </a:extLst>
          </p:cNvPr>
          <p:cNvSpPr/>
          <p:nvPr/>
        </p:nvSpPr>
        <p:spPr>
          <a:xfrm>
            <a:off x="7384909" y="4036170"/>
            <a:ext cx="1806073" cy="1532889"/>
          </a:xfrm>
          <a:prstGeom prst="rect">
            <a:avLst/>
          </a:prstGeom>
          <a:noFill/>
          <a:ln w="0" cap="flat">
            <a:noFill/>
            <a:prstDash val="solid"/>
            <a:miter lim="0"/>
          </a:ln>
        </p:spPr>
        <p:txBody>
          <a:bodyPr vert="horz" wrap="square" lIns="0" tIns="0" rIns="0" bIns="0"/>
          <a:lstStyle/>
          <a:p>
            <a:pPr marL="0" marR="0" lvl="0" indent="0" algn="l" defTabSz="914400" rtl="0" eaLnBrk="0" fontAlgn="auto" latinLnBrk="0" hangingPunct="1">
              <a:lnSpc>
                <a:spcPct val="79806"/>
              </a:lnSpc>
              <a:spcBef>
                <a:spcPts val="0"/>
              </a:spcBef>
              <a:spcAft>
                <a:spcPts val="0"/>
              </a:spcAft>
              <a:buClrTx/>
              <a:buSzTx/>
              <a:buFontTx/>
              <a:buNone/>
              <a:tabLst/>
              <a:defRPr/>
            </a:pPr>
            <a:endParaRPr kumimoji="0" sz="100" b="0" i="0" u="none" strike="noStrike" kern="1200" cap="none" spc="0" normalizeH="0" baseline="0" noProof="0" dirty="0">
              <a:ln>
                <a:noFill/>
              </a:ln>
              <a:solidFill>
                <a:srgbClr val="000000"/>
              </a:solidFill>
              <a:effectLst/>
              <a:uLnTx/>
              <a:uFillTx/>
              <a:latin typeface="Arial"/>
              <a:ea typeface="Arial"/>
              <a:cs typeface="Arial"/>
            </a:endParaRPr>
          </a:p>
          <a:p>
            <a:pPr marL="16509"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1" i="0" u="none" strike="noStrike" kern="0" cap="none" spc="-40" normalizeH="0" baseline="0" noProof="0" dirty="0">
                <a:ln>
                  <a:noFill/>
                </a:ln>
                <a:solidFill>
                  <a:srgbClr val="005F9D">
                    <a:alpha val="100000"/>
                  </a:srgbClr>
                </a:solidFill>
                <a:effectLst/>
                <a:uLnTx/>
                <a:uFillTx/>
                <a:latin typeface="Franklin Gothic Medium Cond"/>
                <a:ea typeface="Franklin Gothic Medium Cond"/>
                <a:cs typeface="Franklin Gothic Medium Cond"/>
              </a:rPr>
              <a:t>欧洲、中东和非洲地区</a:t>
            </a:r>
            <a:endParaRPr kumimoji="0" lang="en-US" altLang="zh-CN" sz="1200" b="1" i="0" u="none" strike="noStrike" kern="0" cap="none" spc="-40" normalizeH="0" baseline="0" noProof="0" dirty="0">
              <a:ln>
                <a:noFill/>
              </a:ln>
              <a:solidFill>
                <a:srgbClr val="005F9D">
                  <a:alpha val="100000"/>
                </a:srgbClr>
              </a:solidFill>
              <a:effectLst/>
              <a:uLnTx/>
              <a:uFillTx/>
              <a:latin typeface="Franklin Gothic Medium Cond"/>
              <a:ea typeface="Franklin Gothic Medium Cond"/>
              <a:cs typeface="Franklin Gothic Medium Cond"/>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伦敦</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巴黎</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华沙</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迪拜</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rPr>
              <a:t>米兰</a:t>
            </a:r>
            <a:endParaRPr kumimoji="0" sz="1100" b="1" i="0" u="none" strike="noStrike" kern="0" cap="none" spc="0" normalizeH="0" baseline="0" noProof="0" dirty="0">
              <a:ln>
                <a:noFill/>
              </a:ln>
              <a:solidFill>
                <a:srgbClr val="09283F">
                  <a:alpha val="100000"/>
                </a:srgbClr>
              </a:solidFill>
              <a:effectLst/>
              <a:uLnTx/>
              <a:uFillTx/>
              <a:latin typeface="微软雅黑" panose="020B0503020204020204" pitchFamily="34" charset="-122"/>
              <a:ea typeface="微软雅黑" panose="020B0503020204020204" pitchFamily="34" charset="-122"/>
              <a:cs typeface="Franklin Gothic Medium Cond"/>
            </a:endParaRPr>
          </a:p>
        </p:txBody>
      </p:sp>
      <p:pic>
        <p:nvPicPr>
          <p:cNvPr id="13" name="图片 12">
            <a:extLst>
              <a:ext uri="{FF2B5EF4-FFF2-40B4-BE49-F238E27FC236}">
                <a16:creationId xmlns:a16="http://schemas.microsoft.com/office/drawing/2014/main" id="{7FD8BB6B-9500-4C14-A967-A98DF9F27AB4}"/>
              </a:ext>
            </a:extLst>
          </p:cNvPr>
          <p:cNvPicPr>
            <a:picLocks noChangeAspect="1"/>
          </p:cNvPicPr>
          <p:nvPr/>
        </p:nvPicPr>
        <p:blipFill>
          <a:blip r:embed="rId9"/>
          <a:stretch>
            <a:fillRect/>
          </a:stretch>
        </p:blipFill>
        <p:spPr>
          <a:xfrm>
            <a:off x="1242483" y="2779699"/>
            <a:ext cx="1748715" cy="1728142"/>
          </a:xfrm>
          <a:prstGeom prst="rect">
            <a:avLst/>
          </a:prstGeom>
        </p:spPr>
      </p:pic>
      <p:pic>
        <p:nvPicPr>
          <p:cNvPr id="14" name="图片 13">
            <a:extLst>
              <a:ext uri="{FF2B5EF4-FFF2-40B4-BE49-F238E27FC236}">
                <a16:creationId xmlns:a16="http://schemas.microsoft.com/office/drawing/2014/main" id="{4D5CDD0C-C50C-497E-933E-728FB517FF43}"/>
              </a:ext>
            </a:extLst>
          </p:cNvPr>
          <p:cNvPicPr>
            <a:picLocks noChangeAspect="1"/>
          </p:cNvPicPr>
          <p:nvPr/>
        </p:nvPicPr>
        <p:blipFill>
          <a:blip r:embed="rId10"/>
          <a:stretch>
            <a:fillRect/>
          </a:stretch>
        </p:blipFill>
        <p:spPr>
          <a:xfrm>
            <a:off x="3212233" y="2956756"/>
            <a:ext cx="1673972" cy="1571184"/>
          </a:xfrm>
          <a:prstGeom prst="rect">
            <a:avLst/>
          </a:prstGeom>
        </p:spPr>
      </p:pic>
      <p:pic>
        <p:nvPicPr>
          <p:cNvPr id="16" name="图片 15">
            <a:extLst>
              <a:ext uri="{FF2B5EF4-FFF2-40B4-BE49-F238E27FC236}">
                <a16:creationId xmlns:a16="http://schemas.microsoft.com/office/drawing/2014/main" id="{3C25766E-1BA5-48C9-BC29-73D9E7EBEB6C}"/>
              </a:ext>
            </a:extLst>
          </p:cNvPr>
          <p:cNvPicPr>
            <a:picLocks noChangeAspect="1"/>
          </p:cNvPicPr>
          <p:nvPr/>
        </p:nvPicPr>
        <p:blipFill>
          <a:blip r:embed="rId11"/>
          <a:stretch>
            <a:fillRect/>
          </a:stretch>
        </p:blipFill>
        <p:spPr>
          <a:xfrm>
            <a:off x="2253798" y="4507841"/>
            <a:ext cx="1689851" cy="1856456"/>
          </a:xfrm>
          <a:prstGeom prst="rect">
            <a:avLst/>
          </a:prstGeom>
        </p:spPr>
      </p:pic>
      <p:sp>
        <p:nvSpPr>
          <p:cNvPr id="17" name="Rectangle 9">
            <a:extLst>
              <a:ext uri="{FF2B5EF4-FFF2-40B4-BE49-F238E27FC236}">
                <a16:creationId xmlns:a16="http://schemas.microsoft.com/office/drawing/2014/main" id="{3CD9C74F-6D33-48F8-AAE7-1A1121EB6BE7}"/>
              </a:ext>
            </a:extLst>
          </p:cNvPr>
          <p:cNvSpPr/>
          <p:nvPr/>
        </p:nvSpPr>
        <p:spPr>
          <a:xfrm>
            <a:off x="1242483" y="6485890"/>
            <a:ext cx="2170787"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000000"/>
                </a:solidFill>
                <a:effectLst/>
                <a:uLnTx/>
                <a:uFillTx/>
                <a:latin typeface="Arial"/>
                <a:ea typeface="思源黑体 CN Regular" panose="020B0500000000000000" pitchFamily="34" charset="-122"/>
                <a:cs typeface="+mn-cs"/>
              </a:rPr>
              <a:t>信息来源：</a:t>
            </a:r>
            <a:r>
              <a:rPr kumimoji="0" lang="en-US" altLang="zh-CN" sz="1000" b="0" i="0" u="none" strike="noStrike" kern="1200" cap="none" spc="0" normalizeH="0" baseline="0" noProof="0" dirty="0">
                <a:ln>
                  <a:noFill/>
                </a:ln>
                <a:solidFill>
                  <a:srgbClr val="000000"/>
                </a:solidFill>
                <a:effectLst/>
                <a:uLnTx/>
                <a:uFillTx/>
                <a:latin typeface="Arial"/>
                <a:ea typeface="思源黑体 CN Regular" panose="020B0500000000000000" pitchFamily="34" charset="-122"/>
                <a:cs typeface="+mn-cs"/>
              </a:rPr>
              <a:t> Point72</a:t>
            </a:r>
            <a:r>
              <a:rPr kumimoji="0" lang="zh-CN" altLang="en-US" sz="1000" b="0" i="0" u="none" strike="noStrike" kern="1200" cap="none" spc="0" normalizeH="0" baseline="0" noProof="0" dirty="0">
                <a:ln>
                  <a:noFill/>
                </a:ln>
                <a:solidFill>
                  <a:srgbClr val="000000"/>
                </a:solidFill>
                <a:effectLst/>
                <a:uLnTx/>
                <a:uFillTx/>
                <a:latin typeface="Arial"/>
                <a:ea typeface="思源黑体 CN Regular" panose="020B0500000000000000" pitchFamily="34" charset="-122"/>
                <a:cs typeface="+mn-cs"/>
              </a:rPr>
              <a:t>，截至</a:t>
            </a:r>
            <a:r>
              <a:rPr kumimoji="0" lang="en-US" altLang="zh-CN" sz="1000" b="0" i="0" u="none" strike="noStrike" kern="1200" cap="none" spc="0" normalizeH="0" baseline="0" noProof="0" dirty="0">
                <a:ln>
                  <a:noFill/>
                </a:ln>
                <a:solidFill>
                  <a:srgbClr val="000000"/>
                </a:solidFill>
                <a:effectLst/>
                <a:uLnTx/>
                <a:uFillTx/>
                <a:latin typeface="Arial"/>
                <a:ea typeface="思源黑体 CN Regular" panose="020B0500000000000000" pitchFamily="34" charset="-122"/>
                <a:cs typeface="+mn-cs"/>
              </a:rPr>
              <a:t>2024/7/1</a:t>
            </a:r>
            <a:endParaRPr kumimoji="0" lang="zh-CN" altLang="en-US" sz="1000" b="0" i="0" u="none" strike="noStrike" kern="1200" cap="none" spc="0" normalizeH="0" baseline="0" noProof="0" dirty="0">
              <a:ln>
                <a:noFill/>
              </a:ln>
              <a:solidFill>
                <a:srgbClr val="000000"/>
              </a:solidFill>
              <a:effectLst/>
              <a:uLnTx/>
              <a:uFillTx/>
              <a:latin typeface="Arial"/>
              <a:ea typeface="思源黑体 CN Regular" panose="020B0500000000000000" pitchFamily="34" charset="-122"/>
              <a:cs typeface="+mn-cs"/>
            </a:endParaRPr>
          </a:p>
        </p:txBody>
      </p:sp>
    </p:spTree>
    <p:custDataLst>
      <p:tags r:id="rId1"/>
    </p:custDataLst>
    <p:extLst>
      <p:ext uri="{BB962C8B-B14F-4D97-AF65-F5344CB8AC3E}">
        <p14:creationId xmlns:p14="http://schemas.microsoft.com/office/powerpoint/2010/main" val="25735341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433F6A59-9A46-4AF9-9017-80F94809F75A}"/>
              </a:ext>
            </a:extLst>
          </p:cNvPr>
          <p:cNvSpPr/>
          <p:nvPr>
            <p:custDataLst>
              <p:tags r:id="rId2"/>
            </p:custDataLst>
          </p:nvPr>
        </p:nvSpPr>
        <p:spPr>
          <a:xfrm>
            <a:off x="9650834" y="997880"/>
            <a:ext cx="2537825" cy="393001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30" name="矩形 29"/>
          <p:cNvSpPr/>
          <p:nvPr>
            <p:custDataLst>
              <p:tags r:id="rId3"/>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标题 14"/>
          <p:cNvSpPr>
            <a:spLocks noGrp="1"/>
          </p:cNvSpPr>
          <p:nvPr>
            <p:ph type="ctrTitle"/>
          </p:nvPr>
        </p:nvSpPr>
        <p:spPr>
          <a:xfrm>
            <a:off x="287443" y="-10478"/>
            <a:ext cx="4720590" cy="800735"/>
          </a:xfrm>
        </p:spPr>
        <p:txBody>
          <a:bodyPr vert="horz" lIns="90000" tIns="46800" rIns="90000" bIns="46800" rtlCol="0" anchor="b" anchorCtr="0">
            <a:noAutofit/>
          </a:bodyPr>
          <a:lstStyle/>
          <a:p>
            <a:pPr algn="l">
              <a:spcBef>
                <a:spcPts val="0"/>
              </a:spcBef>
              <a:defRPr/>
            </a:pPr>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P72</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核心人物</a:t>
            </a:r>
          </a:p>
        </p:txBody>
      </p:sp>
      <p:pic>
        <p:nvPicPr>
          <p:cNvPr id="5" name="图片 4" descr="未标题-1"/>
          <p:cNvPicPr>
            <a:picLocks noChangeAspect="1"/>
          </p:cNvPicPr>
          <p:nvPr/>
        </p:nvPicPr>
        <p:blipFill>
          <a:blip r:embed="rId7"/>
          <a:stretch>
            <a:fillRect/>
          </a:stretch>
        </p:blipFill>
        <p:spPr>
          <a:xfrm>
            <a:off x="11133455" y="295910"/>
            <a:ext cx="771525" cy="187960"/>
          </a:xfrm>
          <a:prstGeom prst="rect">
            <a:avLst/>
          </a:prstGeom>
        </p:spPr>
      </p:pic>
      <p:sp>
        <p:nvSpPr>
          <p:cNvPr id="6" name="矩形 5">
            <a:extLst>
              <a:ext uri="{FF2B5EF4-FFF2-40B4-BE49-F238E27FC236}">
                <a16:creationId xmlns:a16="http://schemas.microsoft.com/office/drawing/2014/main" id="{3384E3B4-444B-4091-A2B2-6D36FD93C8EE}"/>
              </a:ext>
            </a:extLst>
          </p:cNvPr>
          <p:cNvSpPr/>
          <p:nvPr>
            <p:custDataLst>
              <p:tags r:id="rId4"/>
            </p:custDataLst>
          </p:nvPr>
        </p:nvSpPr>
        <p:spPr>
          <a:xfrm>
            <a:off x="4548071" y="3202674"/>
            <a:ext cx="2652074" cy="3652251"/>
          </a:xfrm>
          <a:prstGeom prst="rect">
            <a:avLst/>
          </a:prstGeom>
          <a:solidFill>
            <a:srgbClr val="257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 name="îŝlídê">
            <a:extLst>
              <a:ext uri="{FF2B5EF4-FFF2-40B4-BE49-F238E27FC236}">
                <a16:creationId xmlns:a16="http://schemas.microsoft.com/office/drawing/2014/main" id="{EA66E4A5-0B91-4EA5-B313-D06A37C08938}"/>
              </a:ext>
            </a:extLst>
          </p:cNvPr>
          <p:cNvSpPr/>
          <p:nvPr/>
        </p:nvSpPr>
        <p:spPr>
          <a:xfrm>
            <a:off x="632771" y="1969135"/>
            <a:ext cx="3494224" cy="2727386"/>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108000" tIns="108000" rIns="108000" bIns="108000" rtlCol="0" anchor="t" anchorCtr="0">
            <a:spAutoFit/>
          </a:bodyPr>
          <a:lstStyle/>
          <a:p>
            <a:pPr marL="171450" indent="-171450" algn="just">
              <a:lnSpc>
                <a:spcPct val="150000"/>
              </a:lnSpc>
              <a:buClr>
                <a:srgbClr val="001D5A"/>
              </a:buClr>
              <a:buFont typeface="Arial" panose="020B0604020202020204" pitchFamily="34" charset="0"/>
              <a:buChar char="•"/>
            </a:pP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宾夕法尼亚大学沃顿商学学士学位。</a:t>
            </a:r>
          </a:p>
          <a:p>
            <a:pPr marL="171450" indent="-171450" algn="just">
              <a:lnSpc>
                <a:spcPct val="150000"/>
              </a:lnSpc>
              <a:buClr>
                <a:srgbClr val="001D5A"/>
              </a:buClr>
              <a:buFont typeface="Arial" panose="020B0604020202020204" pitchFamily="34" charset="0"/>
              <a:buChar char="•"/>
            </a:pP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Point 72</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创始人，首席执行官，合伙人。</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1992</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年创立</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S.A.C. Capital Advisors</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2014</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年将其投资业务转为</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Point72 Asset Management</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家族办公室。</a:t>
            </a:r>
            <a:endPar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endParaRPr>
          </a:p>
          <a:p>
            <a:pPr marL="171450" indent="-171450" algn="just">
              <a:lnSpc>
                <a:spcPct val="150000"/>
              </a:lnSpc>
              <a:buClr>
                <a:srgbClr val="001D5A"/>
              </a:buClr>
              <a:buFont typeface="Arial" panose="020B0604020202020204" pitchFamily="34" charset="0"/>
              <a:buChar char="•"/>
            </a:pP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2006 </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年被</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华尔街日报</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评为 “对冲基金之王”，</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2007 </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年被</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时代</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杂志评选为全球最有影响的 </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100 </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人中的第 </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94 </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位。</a:t>
            </a:r>
            <a:endPar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endParaRPr>
          </a:p>
          <a:p>
            <a:pPr marL="171450" indent="-171450" algn="just">
              <a:lnSpc>
                <a:spcPct val="150000"/>
              </a:lnSpc>
              <a:buClr>
                <a:srgbClr val="001D5A"/>
              </a:buClr>
              <a:buFont typeface="Arial" panose="020B0604020202020204" pitchFamily="34" charset="0"/>
              <a:buChar char="•"/>
            </a:pP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美剧</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亿万</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中</a:t>
            </a:r>
            <a:r>
              <a:rPr lang="en-US" altLang="zh-CN"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Bobby Axelrod</a:t>
            </a:r>
            <a:r>
              <a:rPr lang="zh-CN" altLang="en-US" sz="1100" dirty="0">
                <a:solidFill>
                  <a:schemeClr val="tx1"/>
                </a:solidFill>
                <a:latin typeface="思源黑体 CN Medium" panose="020B0600000000000000" charset="-122"/>
                <a:ea typeface="思源黑体 CN Medium" panose="020B0600000000000000" charset="-122"/>
                <a:cs typeface="思源黑体 CN Medium" panose="020B0600000000000000" charset="-122"/>
              </a:rPr>
              <a:t>的原型人物</a:t>
            </a:r>
          </a:p>
          <a:p>
            <a:pPr marL="171450" indent="-171450" algn="just">
              <a:lnSpc>
                <a:spcPct val="150000"/>
              </a:lnSpc>
              <a:buClr>
                <a:srgbClr val="001D5A"/>
              </a:buClr>
              <a:buFont typeface="Arial" panose="020B0604020202020204" pitchFamily="34" charset="0"/>
              <a:buChar char="•"/>
            </a:pPr>
            <a:r>
              <a:rPr lang="zh-CN" altLang="en-US" sz="1100" b="1" dirty="0">
                <a:solidFill>
                  <a:srgbClr val="FF0000"/>
                </a:solidFill>
                <a:latin typeface="思源黑体 CN Medium" panose="020B0600000000000000" charset="-122"/>
                <a:ea typeface="思源黑体 CN Medium" panose="020B0600000000000000" charset="-122"/>
                <a:cs typeface="思源黑体 CN Medium" panose="020B0600000000000000" charset="-122"/>
              </a:rPr>
              <a:t>担任</a:t>
            </a:r>
            <a:r>
              <a:rPr lang="en-US" altLang="zh-CN" sz="1100" b="1" dirty="0">
                <a:solidFill>
                  <a:srgbClr val="FF0000"/>
                </a:solidFill>
                <a:latin typeface="思源黑体 CN Medium" panose="020B0600000000000000" charset="-122"/>
                <a:ea typeface="思源黑体 CN Medium" panose="020B0600000000000000" charset="-122"/>
                <a:cs typeface="思源黑体 CN Medium" panose="020B0600000000000000" charset="-122"/>
              </a:rPr>
              <a:t>P72 Turion</a:t>
            </a:r>
            <a:r>
              <a:rPr lang="zh-CN" altLang="en-US" sz="1100" b="1" dirty="0">
                <a:solidFill>
                  <a:srgbClr val="FF0000"/>
                </a:solidFill>
                <a:latin typeface="思源黑体 CN Medium" panose="020B0600000000000000" charset="-122"/>
                <a:ea typeface="思源黑体 CN Medium" panose="020B0600000000000000" charset="-122"/>
                <a:cs typeface="思源黑体 CN Medium" panose="020B0600000000000000" charset="-122"/>
              </a:rPr>
              <a:t>基金的投委会主席，负责设定策略的目标和风险框架。</a:t>
            </a:r>
            <a:endParaRPr lang="en-US" altLang="zh-CN" sz="1100" b="1" dirty="0">
              <a:solidFill>
                <a:srgbClr val="FF0000"/>
              </a:solidFill>
              <a:latin typeface="思源黑体 CN Medium" panose="020B0600000000000000" charset="-122"/>
              <a:ea typeface="思源黑体 CN Medium" panose="020B0600000000000000" charset="-122"/>
              <a:cs typeface="思源黑体 CN Medium" panose="020B0600000000000000" charset="-122"/>
            </a:endParaRPr>
          </a:p>
        </p:txBody>
      </p:sp>
      <p:sp>
        <p:nvSpPr>
          <p:cNvPr id="9" name="矩形 8">
            <a:extLst>
              <a:ext uri="{FF2B5EF4-FFF2-40B4-BE49-F238E27FC236}">
                <a16:creationId xmlns:a16="http://schemas.microsoft.com/office/drawing/2014/main" id="{222F50BD-3750-4211-871C-CFE3441C77BC}"/>
              </a:ext>
            </a:extLst>
          </p:cNvPr>
          <p:cNvSpPr/>
          <p:nvPr/>
        </p:nvSpPr>
        <p:spPr>
          <a:xfrm>
            <a:off x="195671" y="1387516"/>
            <a:ext cx="4072379" cy="523220"/>
          </a:xfrm>
          <a:prstGeom prst="rect">
            <a:avLst/>
          </a:prstGeom>
          <a:noFill/>
        </p:spPr>
        <p:txBody>
          <a:bodyPr wrap="square">
            <a:spAutoFit/>
          </a:bodyPr>
          <a:lstStyle/>
          <a:p>
            <a:pPr algn="ctr"/>
            <a:r>
              <a:rPr lang="en-US" altLang="zh-CN" sz="2800" b="1" spc="300" dirty="0">
                <a:latin typeface="思源宋体 CN SemiBold" panose="02020600000000000000" charset="-122"/>
                <a:ea typeface="思源宋体 CN SemiBold" panose="02020600000000000000" charset="-122"/>
                <a:cs typeface="Domaine Display" charset="0"/>
                <a:sym typeface="+mn-lt"/>
              </a:rPr>
              <a:t>Steven Cohen</a:t>
            </a:r>
          </a:p>
        </p:txBody>
      </p:sp>
      <p:pic>
        <p:nvPicPr>
          <p:cNvPr id="10" name="picture 168">
            <a:extLst>
              <a:ext uri="{FF2B5EF4-FFF2-40B4-BE49-F238E27FC236}">
                <a16:creationId xmlns:a16="http://schemas.microsoft.com/office/drawing/2014/main" id="{60CC2981-DA36-44F1-8F46-1BED80C90A24}"/>
              </a:ext>
            </a:extLst>
          </p:cNvPr>
          <p:cNvPicPr>
            <a:picLocks noChangeAspect="1"/>
          </p:cNvPicPr>
          <p:nvPr/>
        </p:nvPicPr>
        <p:blipFill>
          <a:blip r:embed="rId8"/>
          <a:stretch>
            <a:fillRect/>
          </a:stretch>
        </p:blipFill>
        <p:spPr>
          <a:xfrm rot="21600000">
            <a:off x="7200144" y="2107125"/>
            <a:ext cx="2450690" cy="3743048"/>
          </a:xfrm>
          <a:prstGeom prst="rect">
            <a:avLst/>
          </a:prstGeom>
        </p:spPr>
      </p:pic>
      <p:sp>
        <p:nvSpPr>
          <p:cNvPr id="11" name="îŝlídê">
            <a:extLst>
              <a:ext uri="{FF2B5EF4-FFF2-40B4-BE49-F238E27FC236}">
                <a16:creationId xmlns:a16="http://schemas.microsoft.com/office/drawing/2014/main" id="{B5473135-58CA-434E-A49E-71C65AC0881C}"/>
              </a:ext>
            </a:extLst>
          </p:cNvPr>
          <p:cNvSpPr/>
          <p:nvPr/>
        </p:nvSpPr>
        <p:spPr>
          <a:xfrm>
            <a:off x="4590491" y="3381651"/>
            <a:ext cx="2567233" cy="3212134"/>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108000" tIns="108000" rIns="108000" bIns="108000" rtlCol="0" anchor="t" anchorCtr="0">
            <a:spAutoFit/>
          </a:bodyPr>
          <a:lstStyle/>
          <a:p>
            <a:pPr algn="just">
              <a:lnSpc>
                <a:spcPct val="150000"/>
              </a:lnSpc>
              <a:buClr>
                <a:srgbClr val="001D5A"/>
              </a:buClr>
            </a:pPr>
            <a:r>
              <a:rPr lang="zh-CN" altLang="en-US" sz="1600" b="1" dirty="0">
                <a:solidFill>
                  <a:schemeClr val="bg1"/>
                </a:solidFill>
                <a:latin typeface="思源黑体 CN Medium" panose="020B0600000000000000" charset="-122"/>
                <a:ea typeface="思源黑体 CN Medium" panose="020B0600000000000000" charset="-122"/>
                <a:cs typeface="思源黑体 CN Medium" panose="020B0600000000000000" charset="-122"/>
              </a:rPr>
              <a:t>所有者 和 </a:t>
            </a:r>
            <a:r>
              <a:rPr lang="en-US" altLang="zh-CN" sz="1600" b="1" dirty="0">
                <a:solidFill>
                  <a:schemeClr val="bg1"/>
                </a:solidFill>
                <a:latin typeface="思源黑体 CN Medium" panose="020B0600000000000000" charset="-122"/>
                <a:ea typeface="思源黑体 CN Medium" panose="020B0600000000000000" charset="-122"/>
                <a:cs typeface="思源黑体 CN Medium" panose="020B0600000000000000" charset="-122"/>
              </a:rPr>
              <a:t>CEO</a:t>
            </a:r>
          </a:p>
          <a:p>
            <a:pPr algn="just">
              <a:lnSpc>
                <a:spcPct val="150000"/>
              </a:lnSpc>
              <a:buClr>
                <a:srgbClr val="001D5A"/>
              </a:buClr>
            </a:pPr>
            <a:r>
              <a:rPr lang="en-US" altLang="zh-CN"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Steve</a:t>
            </a:r>
            <a:r>
              <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负责设定战略目标和风险框架，推动创新工作和公司文化发展。</a:t>
            </a:r>
          </a:p>
          <a:p>
            <a:pPr algn="just">
              <a:lnSpc>
                <a:spcPct val="150000"/>
              </a:lnSpc>
              <a:buClr>
                <a:srgbClr val="001D5A"/>
              </a:buClr>
            </a:pPr>
            <a:endPar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endParaRPr>
          </a:p>
          <a:p>
            <a:pPr algn="just">
              <a:lnSpc>
                <a:spcPct val="150000"/>
              </a:lnSpc>
              <a:buClr>
                <a:srgbClr val="001D5A"/>
              </a:buClr>
            </a:pPr>
            <a:endPar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endParaRPr>
          </a:p>
          <a:p>
            <a:pPr algn="just">
              <a:lnSpc>
                <a:spcPct val="150000"/>
              </a:lnSpc>
              <a:buClr>
                <a:srgbClr val="001D5A"/>
              </a:buClr>
            </a:pPr>
            <a:endPar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endParaRPr>
          </a:p>
          <a:p>
            <a:pPr algn="just">
              <a:lnSpc>
                <a:spcPct val="150000"/>
              </a:lnSpc>
              <a:buClr>
                <a:srgbClr val="001D5A"/>
              </a:buClr>
            </a:pPr>
            <a:endPar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endParaRPr>
          </a:p>
          <a:p>
            <a:pPr algn="just">
              <a:lnSpc>
                <a:spcPct val="150000"/>
              </a:lnSpc>
              <a:buClr>
                <a:srgbClr val="001D5A"/>
              </a:buClr>
            </a:pPr>
            <a:r>
              <a:rPr lang="zh-CN" altLang="en-US" sz="1600" b="1" dirty="0">
                <a:solidFill>
                  <a:schemeClr val="bg1"/>
                </a:solidFill>
                <a:latin typeface="思源黑体 CN Medium" panose="020B0600000000000000" charset="-122"/>
                <a:ea typeface="思源黑体 CN Medium" panose="020B0600000000000000" charset="-122"/>
                <a:cs typeface="思源黑体 CN Medium" panose="020B0600000000000000" charset="-122"/>
              </a:rPr>
              <a:t>人才培养者</a:t>
            </a:r>
          </a:p>
          <a:p>
            <a:pPr algn="just">
              <a:lnSpc>
                <a:spcPct val="150000"/>
              </a:lnSpc>
              <a:buClr>
                <a:srgbClr val="001D5A"/>
              </a:buClr>
            </a:pPr>
            <a:r>
              <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作为一名投资专业人士，</a:t>
            </a:r>
            <a:r>
              <a:rPr lang="en-US" altLang="zh-CN"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Steve</a:t>
            </a:r>
            <a:r>
              <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具有对市场的敏锐理解，这使他能够培养、指导和辅导投资人才充分发挥。</a:t>
            </a:r>
          </a:p>
        </p:txBody>
      </p:sp>
      <p:sp>
        <p:nvSpPr>
          <p:cNvPr id="13" name="îŝlídê">
            <a:extLst>
              <a:ext uri="{FF2B5EF4-FFF2-40B4-BE49-F238E27FC236}">
                <a16:creationId xmlns:a16="http://schemas.microsoft.com/office/drawing/2014/main" id="{B63DD752-E3EF-4313-BA73-BC8A9920D04D}"/>
              </a:ext>
            </a:extLst>
          </p:cNvPr>
          <p:cNvSpPr/>
          <p:nvPr/>
        </p:nvSpPr>
        <p:spPr>
          <a:xfrm>
            <a:off x="9574491" y="1007827"/>
            <a:ext cx="2567233" cy="37199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108000" tIns="108000" rIns="108000" bIns="108000" rtlCol="0" anchor="t" anchorCtr="0">
            <a:spAutoFit/>
          </a:bodyPr>
          <a:lstStyle/>
          <a:p>
            <a:pPr marL="171450" indent="-171450" algn="just">
              <a:lnSpc>
                <a:spcPct val="150000"/>
              </a:lnSpc>
              <a:buClr>
                <a:srgbClr val="001D5A"/>
              </a:buClr>
              <a:buFont typeface="Arial" panose="020B0604020202020204" pitchFamily="34" charset="0"/>
              <a:buChar char="•"/>
            </a:pPr>
            <a:endPar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endParaRPr>
          </a:p>
          <a:p>
            <a:pPr marL="171450" indent="-171450" algn="just">
              <a:lnSpc>
                <a:spcPct val="150000"/>
              </a:lnSpc>
              <a:buClr>
                <a:srgbClr val="001D5A"/>
              </a:buClr>
              <a:buFont typeface="Arial" panose="020B0604020202020204" pitchFamily="34" charset="0"/>
              <a:buChar char="•"/>
            </a:pPr>
            <a:r>
              <a:rPr lang="en-US" altLang="zh-CN" sz="1600" b="1" dirty="0">
                <a:solidFill>
                  <a:schemeClr val="bg1"/>
                </a:solidFill>
                <a:latin typeface="思源黑体 CN Medium" panose="020B0600000000000000" charset="-122"/>
                <a:ea typeface="思源黑体 CN Medium" panose="020B0600000000000000" charset="-122"/>
                <a:cs typeface="思源黑体 CN Medium" panose="020B0600000000000000" charset="-122"/>
              </a:rPr>
              <a:t>L.P.</a:t>
            </a:r>
          </a:p>
          <a:p>
            <a:pPr marL="171450" indent="-171450" algn="just">
              <a:lnSpc>
                <a:spcPct val="150000"/>
              </a:lnSpc>
              <a:buClr>
                <a:srgbClr val="001D5A"/>
              </a:buClr>
              <a:buFont typeface="Arial" panose="020B0604020202020204" pitchFamily="34" charset="0"/>
              <a:buChar char="•"/>
            </a:pPr>
            <a:r>
              <a:rPr lang="en-US" altLang="zh-CN"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Steve</a:t>
            </a:r>
            <a:r>
              <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计划在</a:t>
            </a:r>
            <a:r>
              <a:rPr lang="en-US" altLang="zh-CN" sz="1100" b="1" dirty="0">
                <a:solidFill>
                  <a:srgbClr val="FF0000"/>
                </a:solidFill>
                <a:latin typeface="思源黑体 CN Medium" panose="020B0600000000000000" charset="-122"/>
                <a:ea typeface="思源黑体 CN Medium" panose="020B0600000000000000" charset="-122"/>
                <a:cs typeface="思源黑体 CN Medium" panose="020B0600000000000000" charset="-122"/>
              </a:rPr>
              <a:t>Turion</a:t>
            </a:r>
            <a:r>
              <a:rPr lang="zh-CN" altLang="en-US" sz="1100" b="1" dirty="0">
                <a:solidFill>
                  <a:srgbClr val="FF0000"/>
                </a:solidFill>
                <a:latin typeface="思源黑体 CN Medium" panose="020B0600000000000000" charset="-122"/>
                <a:ea typeface="思源黑体 CN Medium" panose="020B0600000000000000" charset="-122"/>
                <a:cs typeface="思源黑体 CN Medium" panose="020B0600000000000000" charset="-122"/>
              </a:rPr>
              <a:t>策略</a:t>
            </a:r>
            <a:r>
              <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上投资</a:t>
            </a:r>
            <a:r>
              <a:rPr lang="en-US" altLang="zh-CN" sz="1100" b="1" dirty="0">
                <a:solidFill>
                  <a:srgbClr val="FF0000"/>
                </a:solidFill>
                <a:latin typeface="思源黑体 CN Medium" panose="020B0600000000000000" charset="-122"/>
                <a:ea typeface="思源黑体 CN Medium" panose="020B0600000000000000" charset="-122"/>
                <a:cs typeface="思源黑体 CN Medium" panose="020B0600000000000000" charset="-122"/>
              </a:rPr>
              <a:t>1.5</a:t>
            </a:r>
            <a:r>
              <a:rPr lang="zh-CN" altLang="en-US" sz="1100" b="1" dirty="0">
                <a:solidFill>
                  <a:srgbClr val="FF0000"/>
                </a:solidFill>
                <a:latin typeface="思源黑体 CN Medium" panose="020B0600000000000000" charset="-122"/>
                <a:ea typeface="思源黑体 CN Medium" panose="020B0600000000000000" charset="-122"/>
                <a:cs typeface="思源黑体 CN Medium" panose="020B0600000000000000" charset="-122"/>
              </a:rPr>
              <a:t>亿美元</a:t>
            </a:r>
            <a:r>
              <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，使得他的利益与其他投资者的利益保持一致。</a:t>
            </a:r>
          </a:p>
          <a:p>
            <a:pPr marL="171450" indent="-171450" algn="just">
              <a:lnSpc>
                <a:spcPct val="150000"/>
              </a:lnSpc>
              <a:buClr>
                <a:srgbClr val="001D5A"/>
              </a:buClr>
              <a:buFont typeface="Arial" panose="020B0604020202020204" pitchFamily="34" charset="0"/>
              <a:buChar char="•"/>
            </a:pPr>
            <a:endPar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endParaRPr>
          </a:p>
          <a:p>
            <a:pPr marL="171450" indent="-171450" algn="just">
              <a:lnSpc>
                <a:spcPct val="150000"/>
              </a:lnSpc>
              <a:buClr>
                <a:srgbClr val="001D5A"/>
              </a:buClr>
              <a:buFont typeface="Arial" panose="020B0604020202020204" pitchFamily="34" charset="0"/>
              <a:buChar char="•"/>
            </a:pPr>
            <a:endPar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endParaRPr>
          </a:p>
          <a:p>
            <a:pPr marL="171450" indent="-171450" algn="just">
              <a:lnSpc>
                <a:spcPct val="150000"/>
              </a:lnSpc>
              <a:buClr>
                <a:srgbClr val="001D5A"/>
              </a:buClr>
              <a:buFont typeface="Arial" panose="020B0604020202020204" pitchFamily="34" charset="0"/>
              <a:buChar char="•"/>
            </a:pPr>
            <a:endPar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endParaRPr>
          </a:p>
          <a:p>
            <a:pPr marL="171450" indent="-171450" algn="just">
              <a:lnSpc>
                <a:spcPct val="150000"/>
              </a:lnSpc>
              <a:buClr>
                <a:srgbClr val="001D5A"/>
              </a:buClr>
              <a:buFont typeface="Arial" panose="020B0604020202020204" pitchFamily="34" charset="0"/>
              <a:buChar char="•"/>
            </a:pPr>
            <a:r>
              <a:rPr lang="zh-CN" altLang="en-US" sz="1600" b="1" dirty="0">
                <a:solidFill>
                  <a:schemeClr val="bg1"/>
                </a:solidFill>
                <a:latin typeface="思源黑体 CN Medium" panose="020B0600000000000000" charset="-122"/>
                <a:ea typeface="思源黑体 CN Medium" panose="020B0600000000000000" charset="-122"/>
                <a:cs typeface="思源黑体 CN Medium" panose="020B0600000000000000" charset="-122"/>
              </a:rPr>
              <a:t>合作者</a:t>
            </a:r>
          </a:p>
          <a:p>
            <a:pPr marL="171450" indent="-171450" algn="just">
              <a:lnSpc>
                <a:spcPct val="150000"/>
              </a:lnSpc>
              <a:buClr>
                <a:srgbClr val="001D5A"/>
              </a:buClr>
              <a:buFont typeface="Arial" panose="020B0604020202020204" pitchFamily="34" charset="0"/>
              <a:buChar char="•"/>
            </a:pPr>
            <a:r>
              <a:rPr lang="en-US" altLang="zh-CN"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Steve</a:t>
            </a:r>
            <a:r>
              <a:rPr lang="zh-CN" altLang="en-US" sz="1100" dirty="0">
                <a:solidFill>
                  <a:schemeClr val="bg1"/>
                </a:solidFill>
                <a:latin typeface="思源黑体 CN Medium" panose="020B0600000000000000" charset="-122"/>
                <a:ea typeface="思源黑体 CN Medium" panose="020B0600000000000000" charset="-122"/>
                <a:cs typeface="思源黑体 CN Medium" panose="020B0600000000000000" charset="-122"/>
              </a:rPr>
              <a:t>鼓励员工跨部门合作，以利充分用公司的知识产权。让投资专业人员分享主题性想法，并获得可能影响其行业的趋势洞察。</a:t>
            </a:r>
          </a:p>
        </p:txBody>
      </p:sp>
    </p:spTree>
    <p:custDataLst>
      <p:tags r:id="rId1"/>
    </p:custDataLst>
    <p:extLst>
      <p:ext uri="{BB962C8B-B14F-4D97-AF65-F5344CB8AC3E}">
        <p14:creationId xmlns:p14="http://schemas.microsoft.com/office/powerpoint/2010/main" val="37675513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47780" y="205047"/>
            <a:ext cx="3011056" cy="424732"/>
          </a:xfrm>
          <a:prstGeom prst="rect">
            <a:avLst/>
          </a:prstGeom>
          <a:noFill/>
        </p:spPr>
        <p:txBody>
          <a:bodyPr wrap="square" rtlCol="0">
            <a:spAutoFit/>
          </a:bodyPr>
          <a:lstStyle/>
          <a:p>
            <a:pPr>
              <a:lnSpc>
                <a:spcPct val="90000"/>
              </a:lnSpc>
              <a:defRPr/>
            </a:pPr>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rPr>
              <a:t>P72</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rPr>
              <a:t>多</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rPr>
              <a:t>策略主基金</a:t>
            </a:r>
            <a:endParaRPr lang="zh-CN" altLang="en-US" sz="2400" b="1" spc="300" dirty="0">
              <a:solidFill>
                <a:srgbClr val="015658"/>
              </a:solidFill>
              <a:latin typeface="獅尾四季春加糖SC-Bold" panose="020B0500000000000000" pitchFamily="34" charset="-120"/>
              <a:ea typeface="獅尾四季春加糖SC-Bold" panose="020B0500000000000000" pitchFamily="34" charset="-120"/>
            </a:endParaRPr>
          </a:p>
        </p:txBody>
      </p:sp>
      <p:pic>
        <p:nvPicPr>
          <p:cNvPr id="2" name="图片 1"/>
          <p:cNvPicPr>
            <a:picLocks noChangeAspect="1"/>
          </p:cNvPicPr>
          <p:nvPr/>
        </p:nvPicPr>
        <p:blipFill>
          <a:blip r:embed="rId2"/>
          <a:stretch>
            <a:fillRect/>
          </a:stretch>
        </p:blipFill>
        <p:spPr>
          <a:xfrm>
            <a:off x="3364994" y="0"/>
            <a:ext cx="8279101" cy="6795023"/>
          </a:xfrm>
          <a:prstGeom prst="rect">
            <a:avLst/>
          </a:prstGeom>
        </p:spPr>
      </p:pic>
      <p:sp>
        <p:nvSpPr>
          <p:cNvPr id="5" name="椭圆 4"/>
          <p:cNvSpPr/>
          <p:nvPr/>
        </p:nvSpPr>
        <p:spPr>
          <a:xfrm>
            <a:off x="11028217" y="1514764"/>
            <a:ext cx="600364" cy="24938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1028217" y="3463637"/>
            <a:ext cx="600364" cy="23090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表格 3"/>
          <p:cNvGraphicFramePr>
            <a:graphicFrameLocks noGrp="1"/>
          </p:cNvGraphicFramePr>
          <p:nvPr/>
        </p:nvGraphicFramePr>
        <p:xfrm>
          <a:off x="147780" y="1764145"/>
          <a:ext cx="2872510" cy="1854200"/>
        </p:xfrm>
        <a:graphic>
          <a:graphicData uri="http://schemas.openxmlformats.org/drawingml/2006/table">
            <a:tbl>
              <a:tblPr firstRow="1" bandRow="1">
                <a:tableStyleId>{5C22544A-7EE6-4342-B048-85BDC9FD1C3A}</a:tableStyleId>
              </a:tblPr>
              <a:tblGrid>
                <a:gridCol w="1436255">
                  <a:extLst>
                    <a:ext uri="{9D8B030D-6E8A-4147-A177-3AD203B41FA5}">
                      <a16:colId xmlns:a16="http://schemas.microsoft.com/office/drawing/2014/main" val="1074698934"/>
                    </a:ext>
                  </a:extLst>
                </a:gridCol>
                <a:gridCol w="1436255">
                  <a:extLst>
                    <a:ext uri="{9D8B030D-6E8A-4147-A177-3AD203B41FA5}">
                      <a16:colId xmlns:a16="http://schemas.microsoft.com/office/drawing/2014/main" val="4176929101"/>
                    </a:ext>
                  </a:extLst>
                </a:gridCol>
              </a:tblGrid>
              <a:tr h="370840">
                <a:tc>
                  <a:txBody>
                    <a:bodyPr/>
                    <a:lstStyle/>
                    <a:p>
                      <a:pPr algn="r"/>
                      <a:r>
                        <a:rPr lang="en-US" altLang="zh-CN" sz="1400" dirty="0" smtClean="0">
                          <a:solidFill>
                            <a:srgbClr val="C00000"/>
                          </a:solidFill>
                        </a:rPr>
                        <a:t>P72</a:t>
                      </a:r>
                      <a:r>
                        <a:rPr lang="zh-CN" altLang="en-US" sz="1400" dirty="0" smtClean="0">
                          <a:solidFill>
                            <a:srgbClr val="C00000"/>
                          </a:solidFill>
                        </a:rPr>
                        <a:t>多策略基金</a:t>
                      </a:r>
                      <a:endParaRPr lang="zh-CN" altLang="en-US" sz="1400" dirty="0">
                        <a:solidFill>
                          <a:srgbClr val="C00000"/>
                        </a:solidFill>
                      </a:endParaRPr>
                    </a:p>
                  </a:txBody>
                  <a:tcPr>
                    <a:noFill/>
                  </a:tcPr>
                </a:tc>
                <a:tc>
                  <a:txBody>
                    <a:bodyPr/>
                    <a:lstStyle/>
                    <a:p>
                      <a:pPr algn="ctr"/>
                      <a:endParaRPr lang="zh-CN" altLang="en-US" sz="1400" dirty="0"/>
                    </a:p>
                  </a:txBody>
                  <a:tcPr>
                    <a:noFill/>
                  </a:tcPr>
                </a:tc>
                <a:extLst>
                  <a:ext uri="{0D108BD9-81ED-4DB2-BD59-A6C34878D82A}">
                    <a16:rowId xmlns:a16="http://schemas.microsoft.com/office/drawing/2014/main" val="795021853"/>
                  </a:ext>
                </a:extLst>
              </a:tr>
              <a:tr h="370840">
                <a:tc>
                  <a:txBody>
                    <a:bodyPr/>
                    <a:lstStyle/>
                    <a:p>
                      <a:pPr algn="r"/>
                      <a:r>
                        <a:rPr lang="zh-CN" altLang="en-US" sz="1400" b="0" dirty="0" smtClean="0">
                          <a:solidFill>
                            <a:schemeClr val="tx1"/>
                          </a:solidFill>
                          <a:latin typeface="+mn-ea"/>
                          <a:ea typeface="+mn-ea"/>
                        </a:rPr>
                        <a:t>年化收益率</a:t>
                      </a:r>
                      <a:endParaRPr lang="zh-CN" altLang="en-US" sz="1400" b="0" dirty="0">
                        <a:solidFill>
                          <a:schemeClr val="tx1"/>
                        </a:solidFill>
                        <a:latin typeface="+mn-ea"/>
                        <a:ea typeface="+mn-ea"/>
                      </a:endParaRPr>
                    </a:p>
                  </a:txBody>
                  <a:tcPr/>
                </a:tc>
                <a:tc>
                  <a:txBody>
                    <a:bodyPr/>
                    <a:lstStyle/>
                    <a:p>
                      <a:pPr algn="r"/>
                      <a:r>
                        <a:rPr lang="en-US" altLang="zh-CN" sz="1400" b="1" dirty="0" smtClean="0">
                          <a:solidFill>
                            <a:schemeClr val="tx1"/>
                          </a:solidFill>
                          <a:latin typeface="+mn-ea"/>
                          <a:ea typeface="+mn-ea"/>
                        </a:rPr>
                        <a:t>20.29%</a:t>
                      </a:r>
                      <a:endParaRPr lang="zh-CN" altLang="en-US" sz="1400" b="1" dirty="0">
                        <a:solidFill>
                          <a:schemeClr val="tx1"/>
                        </a:solidFill>
                        <a:latin typeface="+mn-ea"/>
                        <a:ea typeface="+mn-ea"/>
                      </a:endParaRPr>
                    </a:p>
                  </a:txBody>
                  <a:tcPr/>
                </a:tc>
                <a:extLst>
                  <a:ext uri="{0D108BD9-81ED-4DB2-BD59-A6C34878D82A}">
                    <a16:rowId xmlns:a16="http://schemas.microsoft.com/office/drawing/2014/main" val="4249722784"/>
                  </a:ext>
                </a:extLst>
              </a:tr>
              <a:tr h="370840">
                <a:tc>
                  <a:txBody>
                    <a:bodyPr/>
                    <a:lstStyle/>
                    <a:p>
                      <a:pPr algn="r"/>
                      <a:r>
                        <a:rPr lang="zh-CN" altLang="en-US" sz="1400" b="0" dirty="0" smtClean="0">
                          <a:solidFill>
                            <a:schemeClr val="tx1"/>
                          </a:solidFill>
                          <a:latin typeface="+mn-ea"/>
                          <a:ea typeface="+mn-ea"/>
                        </a:rPr>
                        <a:t>年化波动率</a:t>
                      </a:r>
                      <a:endParaRPr lang="zh-CN" altLang="en-US" sz="1400" b="0" dirty="0">
                        <a:solidFill>
                          <a:schemeClr val="tx1"/>
                        </a:solidFill>
                        <a:latin typeface="+mn-ea"/>
                        <a:ea typeface="+mn-ea"/>
                      </a:endParaRPr>
                    </a:p>
                  </a:txBody>
                  <a:tcPr/>
                </a:tc>
                <a:tc>
                  <a:txBody>
                    <a:bodyPr/>
                    <a:lstStyle/>
                    <a:p>
                      <a:pPr algn="r"/>
                      <a:r>
                        <a:rPr lang="en-US" altLang="zh-CN" sz="1400" b="1" dirty="0" smtClean="0">
                          <a:solidFill>
                            <a:schemeClr val="tx1"/>
                          </a:solidFill>
                          <a:latin typeface="+mn-ea"/>
                          <a:ea typeface="+mn-ea"/>
                        </a:rPr>
                        <a:t>7.97%</a:t>
                      </a:r>
                      <a:endParaRPr lang="zh-CN" altLang="en-US" sz="1400" b="1" dirty="0">
                        <a:solidFill>
                          <a:schemeClr val="tx1"/>
                        </a:solidFill>
                        <a:latin typeface="+mn-ea"/>
                        <a:ea typeface="+mn-ea"/>
                      </a:endParaRPr>
                    </a:p>
                  </a:txBody>
                  <a:tcPr/>
                </a:tc>
                <a:extLst>
                  <a:ext uri="{0D108BD9-81ED-4DB2-BD59-A6C34878D82A}">
                    <a16:rowId xmlns:a16="http://schemas.microsoft.com/office/drawing/2014/main" val="3291951027"/>
                  </a:ext>
                </a:extLst>
              </a:tr>
              <a:tr h="370840">
                <a:tc>
                  <a:txBody>
                    <a:bodyPr/>
                    <a:lstStyle/>
                    <a:p>
                      <a:pPr algn="r"/>
                      <a:r>
                        <a:rPr lang="zh-CN" altLang="en-US" sz="1400" b="0" dirty="0" smtClean="0">
                          <a:solidFill>
                            <a:schemeClr val="tx1"/>
                          </a:solidFill>
                          <a:latin typeface="+mn-ea"/>
                          <a:ea typeface="+mn-ea"/>
                        </a:rPr>
                        <a:t>夏普比率</a:t>
                      </a:r>
                      <a:endParaRPr lang="zh-CN" altLang="en-US" sz="1400" b="0" dirty="0">
                        <a:solidFill>
                          <a:schemeClr val="tx1"/>
                        </a:solidFill>
                        <a:latin typeface="+mn-ea"/>
                        <a:ea typeface="+mn-ea"/>
                      </a:endParaRPr>
                    </a:p>
                  </a:txBody>
                  <a:tcPr/>
                </a:tc>
                <a:tc>
                  <a:txBody>
                    <a:bodyPr/>
                    <a:lstStyle/>
                    <a:p>
                      <a:pPr algn="r"/>
                      <a:r>
                        <a:rPr lang="en-US" altLang="zh-CN" sz="1400" b="1" dirty="0" smtClean="0">
                          <a:solidFill>
                            <a:schemeClr val="tx1"/>
                          </a:solidFill>
                          <a:latin typeface="+mn-ea"/>
                          <a:ea typeface="+mn-ea"/>
                        </a:rPr>
                        <a:t>2.55</a:t>
                      </a:r>
                      <a:endParaRPr lang="zh-CN" altLang="en-US" sz="1400" b="1" dirty="0">
                        <a:solidFill>
                          <a:schemeClr val="tx1"/>
                        </a:solidFill>
                        <a:latin typeface="+mn-ea"/>
                        <a:ea typeface="+mn-ea"/>
                      </a:endParaRPr>
                    </a:p>
                  </a:txBody>
                  <a:tcPr/>
                </a:tc>
                <a:extLst>
                  <a:ext uri="{0D108BD9-81ED-4DB2-BD59-A6C34878D82A}">
                    <a16:rowId xmlns:a16="http://schemas.microsoft.com/office/drawing/2014/main" val="1147020000"/>
                  </a:ext>
                </a:extLst>
              </a:tr>
              <a:tr h="370840">
                <a:tc>
                  <a:txBody>
                    <a:bodyPr/>
                    <a:lstStyle/>
                    <a:p>
                      <a:pPr algn="r"/>
                      <a:r>
                        <a:rPr lang="zh-CN" altLang="en-US" sz="1400" b="0" dirty="0" smtClean="0">
                          <a:solidFill>
                            <a:schemeClr val="tx1"/>
                          </a:solidFill>
                          <a:latin typeface="+mn-ea"/>
                          <a:ea typeface="+mn-ea"/>
                        </a:rPr>
                        <a:t>起始时间</a:t>
                      </a:r>
                      <a:endParaRPr lang="zh-CN" altLang="en-US" sz="1400" b="0" dirty="0">
                        <a:solidFill>
                          <a:schemeClr val="tx1"/>
                        </a:solidFill>
                        <a:latin typeface="+mn-ea"/>
                        <a:ea typeface="+mn-ea"/>
                      </a:endParaRPr>
                    </a:p>
                  </a:txBody>
                  <a:tcPr/>
                </a:tc>
                <a:tc>
                  <a:txBody>
                    <a:bodyPr/>
                    <a:lstStyle/>
                    <a:p>
                      <a:pPr algn="r"/>
                      <a:r>
                        <a:rPr lang="en-US" altLang="zh-CN" sz="1400" b="0" dirty="0" smtClean="0">
                          <a:solidFill>
                            <a:schemeClr val="tx1"/>
                          </a:solidFill>
                          <a:latin typeface="+mn-ea"/>
                          <a:ea typeface="+mn-ea"/>
                        </a:rPr>
                        <a:t>1992</a:t>
                      </a:r>
                      <a:r>
                        <a:rPr lang="zh-CN" altLang="en-US" sz="1400" b="0" dirty="0" smtClean="0">
                          <a:solidFill>
                            <a:schemeClr val="tx1"/>
                          </a:solidFill>
                          <a:latin typeface="+mn-ea"/>
                          <a:ea typeface="+mn-ea"/>
                        </a:rPr>
                        <a:t>年</a:t>
                      </a:r>
                      <a:endParaRPr lang="zh-CN" altLang="en-US" sz="1400" b="0" dirty="0">
                        <a:solidFill>
                          <a:schemeClr val="tx1"/>
                        </a:solidFill>
                        <a:latin typeface="+mn-ea"/>
                        <a:ea typeface="+mn-ea"/>
                      </a:endParaRPr>
                    </a:p>
                  </a:txBody>
                  <a:tcPr/>
                </a:tc>
                <a:extLst>
                  <a:ext uri="{0D108BD9-81ED-4DB2-BD59-A6C34878D82A}">
                    <a16:rowId xmlns:a16="http://schemas.microsoft.com/office/drawing/2014/main" val="2677561587"/>
                  </a:ext>
                </a:extLst>
              </a:tr>
            </a:tbl>
          </a:graphicData>
        </a:graphic>
      </p:graphicFrame>
    </p:spTree>
    <p:extLst>
      <p:ext uri="{BB962C8B-B14F-4D97-AF65-F5344CB8AC3E}">
        <p14:creationId xmlns:p14="http://schemas.microsoft.com/office/powerpoint/2010/main" val="17225113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nvPr>
        </p:nvGraphicFramePr>
        <p:xfrm>
          <a:off x="8185877" y="947878"/>
          <a:ext cx="3390900" cy="3786679"/>
        </p:xfrm>
        <a:graphic>
          <a:graphicData uri="http://schemas.openxmlformats.org/drawingml/2006/table">
            <a:tbl>
              <a:tblPr firstRow="1">
                <a:tableStyleId>{9D7B26C5-4107-4FEC-AEDC-1716B250A1EF}</a:tableStyleId>
              </a:tblPr>
              <a:tblGrid>
                <a:gridCol w="1143000">
                  <a:extLst>
                    <a:ext uri="{9D8B030D-6E8A-4147-A177-3AD203B41FA5}">
                      <a16:colId xmlns:a16="http://schemas.microsoft.com/office/drawing/2014/main" val="4130805317"/>
                    </a:ext>
                  </a:extLst>
                </a:gridCol>
                <a:gridCol w="876300">
                  <a:extLst>
                    <a:ext uri="{9D8B030D-6E8A-4147-A177-3AD203B41FA5}">
                      <a16:colId xmlns:a16="http://schemas.microsoft.com/office/drawing/2014/main" val="2888952976"/>
                    </a:ext>
                  </a:extLst>
                </a:gridCol>
                <a:gridCol w="685800">
                  <a:extLst>
                    <a:ext uri="{9D8B030D-6E8A-4147-A177-3AD203B41FA5}">
                      <a16:colId xmlns:a16="http://schemas.microsoft.com/office/drawing/2014/main" val="3394859714"/>
                    </a:ext>
                  </a:extLst>
                </a:gridCol>
                <a:gridCol w="685800">
                  <a:extLst>
                    <a:ext uri="{9D8B030D-6E8A-4147-A177-3AD203B41FA5}">
                      <a16:colId xmlns:a16="http://schemas.microsoft.com/office/drawing/2014/main" val="2951163453"/>
                    </a:ext>
                  </a:extLst>
                </a:gridCol>
              </a:tblGrid>
              <a:tr h="291283">
                <a:tc>
                  <a:txBody>
                    <a:bodyPr/>
                    <a:lstStyle/>
                    <a:p>
                      <a:pPr algn="ctr" fontAlgn="ctr"/>
                      <a:r>
                        <a:rPr lang="zh-CN" altLang="en-US" sz="1100" u="none" strike="noStrike" dirty="0">
                          <a:effectLst/>
                        </a:rPr>
                        <a:t>　</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100" u="none" strike="noStrike" dirty="0">
                          <a:effectLst/>
                        </a:rPr>
                        <a:t>Eric </a:t>
                      </a:r>
                      <a:r>
                        <a:rPr lang="zh-CN" altLang="en-US" sz="1100" u="none" strike="noStrike" dirty="0">
                          <a:effectLst/>
                        </a:rPr>
                        <a:t>实盘业绩</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zh-CN" altLang="en-US" sz="1100" u="none" strike="noStrike">
                          <a:effectLst/>
                        </a:rPr>
                        <a:t>纳斯达克</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zh-CN" altLang="en-US" sz="1100" u="none" strike="noStrike">
                          <a:effectLst/>
                        </a:rPr>
                        <a:t>标普</a:t>
                      </a:r>
                      <a:r>
                        <a:rPr lang="en-US" altLang="zh-CN" sz="1100" u="none" strike="noStrike">
                          <a:effectLst/>
                        </a:rPr>
                        <a:t>500</a:t>
                      </a:r>
                      <a:endParaRPr lang="en-US" altLang="zh-CN" sz="1100" b="1"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283763862"/>
                  </a:ext>
                </a:extLst>
              </a:tr>
              <a:tr h="291283">
                <a:tc>
                  <a:txBody>
                    <a:bodyPr/>
                    <a:lstStyle/>
                    <a:p>
                      <a:pPr algn="ctr" fontAlgn="b"/>
                      <a:r>
                        <a:rPr lang="zh-CN" altLang="en-US" sz="1100" b="1" u="none" strike="noStrike" dirty="0">
                          <a:effectLst/>
                        </a:rPr>
                        <a:t>成立日期</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2020/7/31</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122265079"/>
                  </a:ext>
                </a:extLst>
              </a:tr>
              <a:tr h="291283">
                <a:tc>
                  <a:txBody>
                    <a:bodyPr/>
                    <a:lstStyle/>
                    <a:p>
                      <a:pPr algn="ctr" fontAlgn="b"/>
                      <a:r>
                        <a:rPr lang="zh-CN" altLang="en-US" sz="1100" b="1" u="none" strike="noStrike" dirty="0">
                          <a:effectLst/>
                        </a:rPr>
                        <a:t>最新净值</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510.52 </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169.28 </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176.16 </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433642057"/>
                  </a:ext>
                </a:extLst>
              </a:tr>
              <a:tr h="291283">
                <a:tc>
                  <a:txBody>
                    <a:bodyPr/>
                    <a:lstStyle/>
                    <a:p>
                      <a:pPr algn="ctr" fontAlgn="b"/>
                      <a:r>
                        <a:rPr lang="zh-CN" altLang="en-US" sz="1100" b="1" u="none" strike="noStrike" dirty="0">
                          <a:effectLst/>
                        </a:rPr>
                        <a:t>成立以来收益率</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410.5%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69.3%</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76.2%</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4287326534"/>
                  </a:ext>
                </a:extLst>
              </a:tr>
              <a:tr h="291283">
                <a:tc>
                  <a:txBody>
                    <a:bodyPr/>
                    <a:lstStyle/>
                    <a:p>
                      <a:pPr algn="ctr" fontAlgn="b"/>
                      <a:r>
                        <a:rPr lang="zh-CN" altLang="en-US" sz="1100" b="1" u="none" strike="noStrike" dirty="0">
                          <a:effectLst/>
                        </a:rPr>
                        <a:t>年化收益率</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b="1" u="none" strike="noStrike" dirty="0">
                          <a:solidFill>
                            <a:srgbClr val="C00000"/>
                          </a:solidFill>
                          <a:effectLst/>
                        </a:rPr>
                        <a:t>47.8%</a:t>
                      </a:r>
                      <a:endParaRPr lang="en-US" altLang="zh-CN" sz="1100" b="1" i="0" u="none" strike="noStrike" dirty="0">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b="1" u="none" strike="noStrike" dirty="0">
                          <a:solidFill>
                            <a:srgbClr val="C00000"/>
                          </a:solidFill>
                          <a:effectLst/>
                        </a:rPr>
                        <a:t>13.5%</a:t>
                      </a:r>
                      <a:endParaRPr lang="en-US" altLang="zh-CN" sz="1100" b="1" i="0" u="none" strike="noStrike" dirty="0">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b="1" u="none" strike="noStrike" dirty="0">
                          <a:solidFill>
                            <a:srgbClr val="C00000"/>
                          </a:solidFill>
                          <a:effectLst/>
                        </a:rPr>
                        <a:t>14.5%</a:t>
                      </a:r>
                      <a:endParaRPr lang="en-US" altLang="zh-CN" sz="1100" b="1" i="0" u="none" strike="noStrike" dirty="0">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788652950"/>
                  </a:ext>
                </a:extLst>
              </a:tr>
              <a:tr h="291283">
                <a:tc>
                  <a:txBody>
                    <a:bodyPr/>
                    <a:lstStyle/>
                    <a:p>
                      <a:pPr algn="ctr" fontAlgn="b"/>
                      <a:r>
                        <a:rPr lang="zh-CN" altLang="en-US" sz="1100" b="1" u="none" strike="noStrike" dirty="0">
                          <a:effectLst/>
                        </a:rPr>
                        <a:t>最大回撤（月度）</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u="none" strike="noStrike" dirty="0">
                          <a:effectLst/>
                        </a:rPr>
                        <a:t>-10.9%</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u="none" strike="noStrike" dirty="0">
                          <a:effectLst/>
                        </a:rPr>
                        <a:t>-33.1%</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u="none" strike="noStrike" dirty="0">
                          <a:effectLst/>
                        </a:rPr>
                        <a:t>-24.8%</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2039226522"/>
                  </a:ext>
                </a:extLst>
              </a:tr>
              <a:tr h="291283">
                <a:tc>
                  <a:txBody>
                    <a:bodyPr/>
                    <a:lstStyle/>
                    <a:p>
                      <a:pPr algn="ctr" fontAlgn="b"/>
                      <a:r>
                        <a:rPr lang="zh-CN" altLang="en-US" sz="1100" b="1" u="none" strike="noStrike" dirty="0">
                          <a:effectLst/>
                        </a:rPr>
                        <a:t>波动率</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22.6%</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20.4%</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16.6%</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555826924"/>
                  </a:ext>
                </a:extLst>
              </a:tr>
              <a:tr h="291283">
                <a:tc>
                  <a:txBody>
                    <a:bodyPr/>
                    <a:lstStyle/>
                    <a:p>
                      <a:pPr algn="ctr" fontAlgn="b"/>
                      <a:r>
                        <a:rPr lang="zh-CN" altLang="en-US" sz="1100" b="1" u="none" strike="noStrike" dirty="0">
                          <a:effectLst/>
                        </a:rPr>
                        <a:t>夏普比例</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2.12 </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0.66 </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0.88 </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407124520"/>
                  </a:ext>
                </a:extLst>
              </a:tr>
              <a:tr h="291283">
                <a:tc>
                  <a:txBody>
                    <a:bodyPr/>
                    <a:lstStyle/>
                    <a:p>
                      <a:pPr algn="ctr" fontAlgn="b"/>
                      <a:r>
                        <a:rPr lang="en-US" altLang="zh-CN" sz="1100" b="1" u="none" strike="noStrike" dirty="0" smtClean="0">
                          <a:effectLst/>
                        </a:rPr>
                        <a:t>2020*</a:t>
                      </a:r>
                      <a:endParaRPr lang="en-US" alt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smtClean="0">
                          <a:effectLst/>
                        </a:rPr>
                        <a:t>15.6%</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19.9%</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14.8%</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43670036"/>
                  </a:ext>
                </a:extLst>
              </a:tr>
              <a:tr h="291283">
                <a:tc>
                  <a:txBody>
                    <a:bodyPr/>
                    <a:lstStyle/>
                    <a:p>
                      <a:pPr algn="ctr" fontAlgn="b"/>
                      <a:r>
                        <a:rPr lang="en-US" altLang="zh-CN" sz="1100" b="1" u="none" strike="noStrike" dirty="0">
                          <a:effectLst/>
                        </a:rPr>
                        <a:t>2021</a:t>
                      </a:r>
                      <a:endParaRPr lang="en-US" alt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smtClean="0">
                          <a:effectLst/>
                        </a:rPr>
                        <a:t>82.1%</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21.4%</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26.9%</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932211959"/>
                  </a:ext>
                </a:extLst>
              </a:tr>
              <a:tr h="291283">
                <a:tc>
                  <a:txBody>
                    <a:bodyPr/>
                    <a:lstStyle/>
                    <a:p>
                      <a:pPr algn="ctr" fontAlgn="b"/>
                      <a:r>
                        <a:rPr lang="en-US" altLang="zh-CN" sz="1100" b="1" u="none" strike="noStrike" dirty="0">
                          <a:effectLst/>
                        </a:rPr>
                        <a:t>2022</a:t>
                      </a:r>
                      <a:endParaRPr lang="en-US" alt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smtClean="0">
                          <a:effectLst/>
                        </a:rPr>
                        <a:t>22.8%</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-33.1%</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-19.4%</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790280112"/>
                  </a:ext>
                </a:extLst>
              </a:tr>
              <a:tr h="291283">
                <a:tc>
                  <a:txBody>
                    <a:bodyPr/>
                    <a:lstStyle/>
                    <a:p>
                      <a:pPr algn="ctr" fontAlgn="b"/>
                      <a:r>
                        <a:rPr lang="en-US" altLang="zh-CN" sz="1100" b="1" u="none" strike="noStrike" dirty="0">
                          <a:effectLst/>
                        </a:rPr>
                        <a:t>2023</a:t>
                      </a:r>
                      <a:endParaRPr lang="en-US" alt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32.4%</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43.4%</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24.2%</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211508320"/>
                  </a:ext>
                </a:extLst>
              </a:tr>
              <a:tr h="291283">
                <a:tc>
                  <a:txBody>
                    <a:bodyPr/>
                    <a:lstStyle/>
                    <a:p>
                      <a:pPr algn="ctr" fontAlgn="b"/>
                      <a:r>
                        <a:rPr lang="en-US" altLang="zh-CN" sz="1100" b="1" u="none" strike="noStrike" dirty="0">
                          <a:effectLst/>
                        </a:rPr>
                        <a:t>2024/9/30</a:t>
                      </a:r>
                      <a:endParaRPr lang="en-US" alt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smtClean="0">
                          <a:effectLst/>
                        </a:rPr>
                        <a:t>49.1%</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21.2%</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20.8%</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4217165277"/>
                  </a:ext>
                </a:extLst>
              </a:tr>
            </a:tbl>
          </a:graphicData>
        </a:graphic>
      </p:graphicFrame>
      <p:sp>
        <p:nvSpPr>
          <p:cNvPr id="4" name="Rectangle 9">
            <a:extLst>
              <a:ext uri="{FF2B5EF4-FFF2-40B4-BE49-F238E27FC236}">
                <a16:creationId xmlns:a16="http://schemas.microsoft.com/office/drawing/2014/main" id="{02955F2D-E140-4863-8553-F5A7F99F14B2}"/>
              </a:ext>
            </a:extLst>
          </p:cNvPr>
          <p:cNvSpPr/>
          <p:nvPr/>
        </p:nvSpPr>
        <p:spPr>
          <a:xfrm>
            <a:off x="178349" y="6642556"/>
            <a:ext cx="11898945" cy="215444"/>
          </a:xfrm>
          <a:prstGeom prst="rect">
            <a:avLst/>
          </a:prstGeom>
        </p:spPr>
        <p:txBody>
          <a:bodyPr wrap="square">
            <a:spAutoFit/>
          </a:bodyPr>
          <a:lstStyle/>
          <a:p>
            <a:pPr>
              <a:spcBef>
                <a:spcPts val="81"/>
              </a:spcBef>
            </a:pPr>
            <a:r>
              <a:rPr lang="zh-CN" altLang="en-US" sz="800" dirty="0">
                <a:ea typeface="思源黑体 CN Regular" panose="020B0500000000000000" pitchFamily="34" charset="-122"/>
              </a:rPr>
              <a:t>资料来源</a:t>
            </a:r>
            <a:r>
              <a:rPr lang="zh-CN" altLang="en-US" sz="800" dirty="0" smtClean="0">
                <a:ea typeface="思源黑体 CN Regular" panose="020B0500000000000000" pitchFamily="34" charset="-122"/>
              </a:rPr>
              <a:t>：、</a:t>
            </a:r>
            <a:r>
              <a:rPr lang="en-US" altLang="zh-CN" sz="800" dirty="0" smtClean="0">
                <a:ea typeface="思源黑体 CN Regular" panose="020B0500000000000000" pitchFamily="34" charset="-122"/>
              </a:rPr>
              <a:t>Point72</a:t>
            </a:r>
            <a:r>
              <a:rPr lang="zh-CN" altLang="en-US" sz="800" dirty="0">
                <a:ea typeface="思源黑体 CN Regular" panose="020B0500000000000000" pitchFamily="34" charset="-122"/>
              </a:rPr>
              <a:t>，截至</a:t>
            </a:r>
            <a:r>
              <a:rPr lang="en-US" altLang="zh-CN" sz="800" dirty="0">
                <a:ea typeface="思源黑体 CN Regular" panose="020B0500000000000000" pitchFamily="34" charset="-122"/>
              </a:rPr>
              <a:t>2024</a:t>
            </a:r>
            <a:r>
              <a:rPr lang="zh-CN" altLang="en-US" sz="800" dirty="0" smtClean="0">
                <a:ea typeface="思源黑体 CN Regular" panose="020B0500000000000000" pitchFamily="34" charset="-122"/>
              </a:rPr>
              <a:t>年</a:t>
            </a:r>
            <a:r>
              <a:rPr lang="en-US" altLang="zh-CN" sz="800" dirty="0">
                <a:ea typeface="思源黑体 CN Regular" panose="020B0500000000000000" pitchFamily="34" charset="-122"/>
              </a:rPr>
              <a:t>9</a:t>
            </a:r>
            <a:r>
              <a:rPr lang="zh-CN" altLang="en-US" sz="800" dirty="0" smtClean="0">
                <a:ea typeface="思源黑体 CN Regular" panose="020B0500000000000000" pitchFamily="34" charset="-122"/>
              </a:rPr>
              <a:t>月</a:t>
            </a:r>
            <a:r>
              <a:rPr lang="en-US" altLang="zh-CN" sz="800" dirty="0" smtClean="0">
                <a:ea typeface="思源黑体 CN Regular" panose="020B0500000000000000" pitchFamily="34" charset="-122"/>
              </a:rPr>
              <a:t>30</a:t>
            </a:r>
            <a:r>
              <a:rPr lang="zh-CN" altLang="en-US" sz="800" dirty="0" smtClean="0">
                <a:ea typeface="思源黑体 CN Regular" panose="020B0500000000000000" pitchFamily="34" charset="-122"/>
              </a:rPr>
              <a:t>日，为扣除</a:t>
            </a:r>
            <a:r>
              <a:rPr lang="en-US" altLang="zh-CN" sz="800" dirty="0" smtClean="0">
                <a:ea typeface="思源黑体 CN Regular" panose="020B0500000000000000" pitchFamily="34" charset="-122"/>
              </a:rPr>
              <a:t>2%/</a:t>
            </a:r>
            <a:r>
              <a:rPr lang="zh-CN" altLang="en-US" sz="800" dirty="0" smtClean="0">
                <a:ea typeface="思源黑体 CN Regular" panose="020B0500000000000000" pitchFamily="34" charset="-122"/>
              </a:rPr>
              <a:t>年管理费</a:t>
            </a:r>
            <a:r>
              <a:rPr lang="en-US" altLang="zh-CN" sz="800" dirty="0" smtClean="0">
                <a:ea typeface="思源黑体 CN Regular" panose="020B0500000000000000" pitchFamily="34" charset="-122"/>
              </a:rPr>
              <a:t>+20%</a:t>
            </a:r>
            <a:r>
              <a:rPr lang="zh-CN" altLang="en-US" sz="800" dirty="0" smtClean="0">
                <a:ea typeface="思源黑体 CN Regular" panose="020B0500000000000000" pitchFamily="34" charset="-122"/>
              </a:rPr>
              <a:t>业绩报酬的费后收益。</a:t>
            </a:r>
            <a:r>
              <a:rPr lang="zh-CN" altLang="en-US" sz="800" b="1" dirty="0" smtClean="0">
                <a:solidFill>
                  <a:srgbClr val="C00000"/>
                </a:solidFill>
                <a:ea typeface="思源黑体 CN Regular" panose="020B0500000000000000" pitchFamily="34" charset="-122"/>
              </a:rPr>
              <a:t>所</a:t>
            </a:r>
            <a:r>
              <a:rPr lang="zh-CN" altLang="en-US" sz="800" b="1" dirty="0">
                <a:solidFill>
                  <a:srgbClr val="C00000"/>
                </a:solidFill>
                <a:ea typeface="思源黑体 CN Regular" panose="020B0500000000000000" pitchFamily="34" charset="-122"/>
              </a:rPr>
              <a:t>示业绩展示了投资经理过去实际业绩表现信息，这是投资经理所管理的投资组合中提取的投资子集的</a:t>
            </a:r>
            <a:r>
              <a:rPr lang="zh-CN" altLang="en-US" sz="800" b="1" dirty="0" smtClean="0">
                <a:solidFill>
                  <a:srgbClr val="C00000"/>
                </a:solidFill>
                <a:ea typeface="思源黑体 CN Regular" panose="020B0500000000000000" pitchFamily="34" charset="-122"/>
              </a:rPr>
              <a:t>表现</a:t>
            </a:r>
            <a:r>
              <a:rPr lang="zh-CN" altLang="en-US" sz="800" dirty="0" smtClean="0">
                <a:ea typeface="思源黑体 CN Regular" panose="020B0500000000000000" pitchFamily="34" charset="-122"/>
              </a:rPr>
              <a:t>，投资</a:t>
            </a:r>
            <a:r>
              <a:rPr lang="zh-CN" altLang="en-US" sz="800" dirty="0">
                <a:ea typeface="思源黑体 CN Regular" panose="020B0500000000000000" pitchFamily="34" charset="-122"/>
              </a:rPr>
              <a:t>涉及风险，过去表现不代表或不保证未来表现。</a:t>
            </a:r>
          </a:p>
        </p:txBody>
      </p:sp>
      <p:sp>
        <p:nvSpPr>
          <p:cNvPr id="5" name="矩形 4"/>
          <p:cNvSpPr/>
          <p:nvPr>
            <p:custDataLst>
              <p:tags r:id="rId1"/>
            </p:custDataLst>
          </p:nvPr>
        </p:nvSpPr>
        <p:spPr>
          <a:xfrm rot="5400000">
            <a:off x="1636943" y="-387737"/>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6" name="标题 14"/>
          <p:cNvSpPr txBox="1">
            <a:spLocks/>
          </p:cNvSpPr>
          <p:nvPr/>
        </p:nvSpPr>
        <p:spPr>
          <a:xfrm>
            <a:off x="321997" y="31998"/>
            <a:ext cx="7550552" cy="697903"/>
          </a:xfrm>
          <a:prstGeom prst="rect">
            <a:avLst/>
          </a:prstGeom>
        </p:spPr>
        <p:txBody>
          <a:bodyPr vert="horz" lIns="90000" tIns="46800" rIns="90000" bIns="468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Eric</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账户实盘业绩</a:t>
            </a:r>
            <a:endPar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endParaRPr>
          </a:p>
        </p:txBody>
      </p:sp>
      <p:graphicFrame>
        <p:nvGraphicFramePr>
          <p:cNvPr id="7" name="图表 6"/>
          <p:cNvGraphicFramePr>
            <a:graphicFrameLocks/>
          </p:cNvGraphicFramePr>
          <p:nvPr>
            <p:extLst/>
          </p:nvPr>
        </p:nvGraphicFramePr>
        <p:xfrm>
          <a:off x="178349" y="1079881"/>
          <a:ext cx="7147011" cy="3753376"/>
        </p:xfrm>
        <a:graphic>
          <a:graphicData uri="http://schemas.openxmlformats.org/drawingml/2006/chart">
            <c:chart xmlns:c="http://schemas.openxmlformats.org/drawingml/2006/chart" xmlns:r="http://schemas.openxmlformats.org/officeDocument/2006/relationships" r:id="rId4"/>
          </a:graphicData>
        </a:graphic>
      </p:graphicFrame>
      <p:pic>
        <p:nvPicPr>
          <p:cNvPr id="8" name="图片 7"/>
          <p:cNvPicPr>
            <a:picLocks noChangeAspect="1"/>
          </p:cNvPicPr>
          <p:nvPr/>
        </p:nvPicPr>
        <p:blipFill>
          <a:blip r:embed="rId5"/>
          <a:stretch>
            <a:fillRect/>
          </a:stretch>
        </p:blipFill>
        <p:spPr>
          <a:xfrm>
            <a:off x="446155" y="5084540"/>
            <a:ext cx="11130622" cy="1476736"/>
          </a:xfrm>
          <a:prstGeom prst="rect">
            <a:avLst/>
          </a:prstGeom>
        </p:spPr>
      </p:pic>
    </p:spTree>
    <p:extLst>
      <p:ext uri="{BB962C8B-B14F-4D97-AF65-F5344CB8AC3E}">
        <p14:creationId xmlns:p14="http://schemas.microsoft.com/office/powerpoint/2010/main" val="11694870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标题 14"/>
          <p:cNvSpPr>
            <a:spLocks noGrp="1"/>
          </p:cNvSpPr>
          <p:nvPr>
            <p:ph type="ctrTitle"/>
          </p:nvPr>
        </p:nvSpPr>
        <p:spPr>
          <a:xfrm>
            <a:off x="30707" y="60544"/>
            <a:ext cx="6588025" cy="800735"/>
          </a:xfrm>
        </p:spPr>
        <p:txBody>
          <a:bodyPr vert="horz" lIns="90000" tIns="46800" rIns="90000" bIns="46800" rtlCol="0" anchor="b" anchorCtr="0">
            <a:noAutofit/>
          </a:bodyPr>
          <a:lstStyle/>
          <a:p>
            <a:pPr lvl="0" algn="l">
              <a:spcBef>
                <a:spcPts val="0"/>
              </a:spcBef>
              <a:buClrTx/>
              <a:buSzTx/>
              <a:defRPr/>
            </a:pPr>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P72 Turion</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投资经理</a:t>
            </a:r>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&amp;</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研究团队</a:t>
            </a:r>
          </a:p>
        </p:txBody>
      </p:sp>
      <p:pic>
        <p:nvPicPr>
          <p:cNvPr id="5" name="图片 4" descr="未标题-1"/>
          <p:cNvPicPr>
            <a:picLocks noChangeAspect="1"/>
          </p:cNvPicPr>
          <p:nvPr/>
        </p:nvPicPr>
        <p:blipFill>
          <a:blip r:embed="rId5"/>
          <a:stretch>
            <a:fillRect/>
          </a:stretch>
        </p:blipFill>
        <p:spPr>
          <a:xfrm>
            <a:off x="11133455" y="295910"/>
            <a:ext cx="771525" cy="187960"/>
          </a:xfrm>
          <a:prstGeom prst="rect">
            <a:avLst/>
          </a:prstGeom>
        </p:spPr>
      </p:pic>
      <p:sp>
        <p:nvSpPr>
          <p:cNvPr id="6" name="Rectangle 9">
            <a:extLst>
              <a:ext uri="{FF2B5EF4-FFF2-40B4-BE49-F238E27FC236}">
                <a16:creationId xmlns:a16="http://schemas.microsoft.com/office/drawing/2014/main" id="{02955F2D-E140-4863-8553-F5A7F99F14B2}"/>
              </a:ext>
            </a:extLst>
          </p:cNvPr>
          <p:cNvSpPr/>
          <p:nvPr/>
        </p:nvSpPr>
        <p:spPr>
          <a:xfrm>
            <a:off x="6035" y="6485890"/>
            <a:ext cx="4637201" cy="412934"/>
          </a:xfrm>
          <a:prstGeom prst="rect">
            <a:avLst/>
          </a:prstGeom>
        </p:spPr>
        <p:txBody>
          <a:bodyPr wrap="square">
            <a:spAutoFit/>
          </a:bodyPr>
          <a:lstStyle/>
          <a:p>
            <a:pPr>
              <a:spcBef>
                <a:spcPts val="81"/>
              </a:spcBef>
            </a:pPr>
            <a:r>
              <a:rPr lang="zh-CN" altLang="en-US" sz="1000" dirty="0">
                <a:ea typeface="思源黑体 CN Regular" panose="020B0500000000000000" pitchFamily="34" charset="-122"/>
              </a:rPr>
              <a:t>信息来源： </a:t>
            </a:r>
            <a:r>
              <a:rPr lang="en-US" altLang="zh-CN" sz="1000" dirty="0">
                <a:ea typeface="思源黑体 CN Regular" panose="020B0500000000000000" pitchFamily="34" charset="-122"/>
              </a:rPr>
              <a:t>Point72</a:t>
            </a:r>
            <a:r>
              <a:rPr lang="zh-CN" altLang="en-US" sz="1000" dirty="0">
                <a:ea typeface="思源黑体 CN Regular" panose="020B0500000000000000" pitchFamily="34" charset="-122"/>
              </a:rPr>
              <a:t>，截至</a:t>
            </a:r>
            <a:r>
              <a:rPr lang="en-US" altLang="zh-CN" sz="1000" dirty="0">
                <a:ea typeface="思源黑体 CN Regular" panose="020B0500000000000000" pitchFamily="34" charset="-122"/>
              </a:rPr>
              <a:t>2024</a:t>
            </a:r>
            <a:r>
              <a:rPr lang="zh-CN" altLang="en-US" sz="1000" dirty="0">
                <a:ea typeface="思源黑体 CN Regular" panose="020B0500000000000000" pitchFamily="34" charset="-122"/>
              </a:rPr>
              <a:t>年</a:t>
            </a:r>
            <a:r>
              <a:rPr lang="en-US" altLang="zh-CN" sz="1000" dirty="0">
                <a:ea typeface="思源黑体 CN Regular" panose="020B0500000000000000" pitchFamily="34" charset="-122"/>
              </a:rPr>
              <a:t>7</a:t>
            </a:r>
            <a:r>
              <a:rPr lang="zh-CN" altLang="en-US" sz="1000" dirty="0">
                <a:ea typeface="思源黑体 CN Regular" panose="020B0500000000000000" pitchFamily="34" charset="-122"/>
              </a:rPr>
              <a:t>月</a:t>
            </a:r>
            <a:r>
              <a:rPr lang="en-US" altLang="zh-CN" sz="1000" dirty="0">
                <a:ea typeface="思源黑体 CN Regular" panose="020B0500000000000000" pitchFamily="34" charset="-122"/>
              </a:rPr>
              <a:t>1</a:t>
            </a:r>
            <a:r>
              <a:rPr lang="zh-CN" altLang="en-US" sz="1000" dirty="0">
                <a:ea typeface="思源黑体 CN Regular" panose="020B0500000000000000" pitchFamily="34" charset="-122"/>
              </a:rPr>
              <a:t>日</a:t>
            </a:r>
            <a:endParaRPr lang="en-US" altLang="zh-CN" sz="1000" dirty="0">
              <a:ea typeface="思源黑体 CN Regular" panose="020B0500000000000000" pitchFamily="34" charset="-122"/>
            </a:endParaRPr>
          </a:p>
          <a:p>
            <a:pPr>
              <a:spcBef>
                <a:spcPts val="81"/>
              </a:spcBef>
            </a:pPr>
            <a:r>
              <a:rPr lang="zh-CN" altLang="en-US" sz="1000" dirty="0">
                <a:ea typeface="思源黑体 CN Regular" panose="020B0500000000000000" pitchFamily="34" charset="-122"/>
              </a:rPr>
              <a:t>备注：</a:t>
            </a:r>
            <a:r>
              <a:rPr lang="en-US" altLang="zh-CN" sz="1000" dirty="0">
                <a:ea typeface="思源黑体 CN Regular" panose="020B0500000000000000" pitchFamily="34" charset="-122"/>
              </a:rPr>
              <a:t>1</a:t>
            </a:r>
            <a:r>
              <a:rPr lang="zh-CN" altLang="en-US" sz="1000" dirty="0">
                <a:ea typeface="思源黑体 CN Regular" panose="020B0500000000000000" pitchFamily="34" charset="-122"/>
              </a:rPr>
              <a:t>、管理规模为</a:t>
            </a:r>
            <a:r>
              <a:rPr lang="en-US" altLang="zh-CN" sz="1000" dirty="0">
                <a:ea typeface="思源黑体 CN Regular" panose="020B0500000000000000" pitchFamily="34" charset="-122"/>
              </a:rPr>
              <a:t>GMV</a:t>
            </a:r>
            <a:r>
              <a:rPr lang="zh-CN" altLang="en-US" sz="1000" dirty="0">
                <a:ea typeface="思源黑体 CN Regular" panose="020B0500000000000000" pitchFamily="34" charset="-122"/>
              </a:rPr>
              <a:t>口径。 </a:t>
            </a:r>
          </a:p>
        </p:txBody>
      </p:sp>
      <p:pic>
        <p:nvPicPr>
          <p:cNvPr id="7" name="picture 1194">
            <a:extLst>
              <a:ext uri="{FF2B5EF4-FFF2-40B4-BE49-F238E27FC236}">
                <a16:creationId xmlns:a16="http://schemas.microsoft.com/office/drawing/2014/main" id="{198342CD-F8C5-416D-9E6C-4CC5FE9198E8}"/>
              </a:ext>
            </a:extLst>
          </p:cNvPr>
          <p:cNvPicPr>
            <a:picLocks noChangeAspect="1"/>
          </p:cNvPicPr>
          <p:nvPr/>
        </p:nvPicPr>
        <p:blipFill>
          <a:blip r:embed="rId6"/>
          <a:stretch>
            <a:fillRect/>
          </a:stretch>
        </p:blipFill>
        <p:spPr>
          <a:xfrm rot="21600000">
            <a:off x="2169762" y="1372722"/>
            <a:ext cx="1383002" cy="1390625"/>
          </a:xfrm>
          <a:prstGeom prst="rect">
            <a:avLst/>
          </a:prstGeom>
        </p:spPr>
      </p:pic>
      <p:sp>
        <p:nvSpPr>
          <p:cNvPr id="8" name="textbox 1148">
            <a:extLst>
              <a:ext uri="{FF2B5EF4-FFF2-40B4-BE49-F238E27FC236}">
                <a16:creationId xmlns:a16="http://schemas.microsoft.com/office/drawing/2014/main" id="{70EA7D3D-DEB8-4AB9-A3AF-6F2C4C47B7B8}"/>
              </a:ext>
            </a:extLst>
          </p:cNvPr>
          <p:cNvSpPr/>
          <p:nvPr/>
        </p:nvSpPr>
        <p:spPr>
          <a:xfrm>
            <a:off x="4424209" y="1357581"/>
            <a:ext cx="6441944" cy="1998689"/>
          </a:xfrm>
          <a:prstGeom prst="rect">
            <a:avLst/>
          </a:prstGeom>
        </p:spPr>
        <p:txBody>
          <a:bodyPr wrap="square">
            <a:spAutoFit/>
          </a:bodyPr>
          <a:lstStyle/>
          <a:p>
            <a:pPr marL="285750" indent="-285750" eaLnBrk="1" hangingPunct="1">
              <a:lnSpc>
                <a:spcPct val="150000"/>
              </a:lnSpc>
              <a:buFont typeface="Arial" panose="020B0604020202020204" pitchFamily="34" charset="0"/>
              <a:buChar char="•"/>
            </a:pPr>
            <a:r>
              <a:rPr lang="en-US" altLang="zh-CN" sz="1200" dirty="0">
                <a:solidFill>
                  <a:schemeClr val="tx1"/>
                </a:solidFill>
                <a:latin typeface="微软雅黑" panose="020B0503020204020204" pitchFamily="34" charset="-122"/>
                <a:ea typeface="微软雅黑" panose="020B0503020204020204" pitchFamily="34" charset="-122"/>
              </a:rPr>
              <a:t>13</a:t>
            </a:r>
            <a:r>
              <a:rPr lang="zh-CN" altLang="en-US" sz="1200" dirty="0">
                <a:solidFill>
                  <a:schemeClr val="tx1"/>
                </a:solidFill>
                <a:latin typeface="微软雅黑" panose="020B0503020204020204" pitchFamily="34" charset="-122"/>
                <a:ea typeface="微软雅黑" panose="020B0503020204020204" pitchFamily="34" charset="-122"/>
              </a:rPr>
              <a:t>年以上的科技投资经验，历史管理规模约</a:t>
            </a:r>
            <a:r>
              <a:rPr lang="en-US" altLang="zh-CN" sz="1200" dirty="0">
                <a:solidFill>
                  <a:schemeClr val="tx1"/>
                </a:solidFill>
                <a:latin typeface="微软雅黑" panose="020B0503020204020204" pitchFamily="34" charset="-122"/>
                <a:ea typeface="微软雅黑" panose="020B0503020204020204" pitchFamily="34" charset="-122"/>
              </a:rPr>
              <a:t>18</a:t>
            </a:r>
            <a:r>
              <a:rPr lang="zh-CN" altLang="en-US" sz="1200" dirty="0">
                <a:solidFill>
                  <a:schemeClr val="tx1"/>
                </a:solidFill>
                <a:latin typeface="微软雅黑" panose="020B0503020204020204" pitchFamily="34" charset="-122"/>
                <a:ea typeface="微软雅黑" panose="020B0503020204020204" pitchFamily="34" charset="-122"/>
              </a:rPr>
              <a:t>亿美元；</a:t>
            </a:r>
            <a:endParaRPr lang="en-US" altLang="zh-CN" sz="1200" dirty="0">
              <a:solidFill>
                <a:schemeClr val="tx1"/>
              </a:solidFill>
              <a:latin typeface="微软雅黑" panose="020B0503020204020204" pitchFamily="34" charset="-122"/>
              <a:ea typeface="微软雅黑" panose="020B0503020204020204" pitchFamily="34" charset="-122"/>
            </a:endParaRPr>
          </a:p>
          <a:p>
            <a:pPr marL="285750" indent="-285750" eaLnBrk="1" hangingPunct="1">
              <a:lnSpc>
                <a:spcPct val="150000"/>
              </a:lnSpc>
              <a:buFont typeface="Arial" panose="020B0604020202020204" pitchFamily="34" charset="0"/>
              <a:buChar char="•"/>
            </a:pPr>
            <a:r>
              <a:rPr lang="zh-CN" altLang="en-US" sz="1200" dirty="0">
                <a:solidFill>
                  <a:schemeClr val="tx1"/>
                </a:solidFill>
                <a:latin typeface="微软雅黑" panose="020B0503020204020204" pitchFamily="34" charset="-122"/>
                <a:ea typeface="微软雅黑" panose="020B0503020204020204" pitchFamily="34" charset="-122"/>
              </a:rPr>
              <a:t>美国德保罗大学学士学位；</a:t>
            </a:r>
          </a:p>
          <a:p>
            <a:pPr marL="285750" indent="-285750" eaLnBrk="1" hangingPunct="1">
              <a:lnSpc>
                <a:spcPct val="150000"/>
              </a:lnSpc>
              <a:buFont typeface="Arial" panose="020B0604020202020204" pitchFamily="34" charset="0"/>
              <a:buChar char="•"/>
            </a:pPr>
            <a:r>
              <a:rPr lang="en-US" altLang="zh-CN" sz="1200" dirty="0">
                <a:solidFill>
                  <a:schemeClr val="tx1"/>
                </a:solidFill>
                <a:latin typeface="微软雅黑" panose="020B0503020204020204" pitchFamily="34" charset="-122"/>
                <a:ea typeface="微软雅黑" panose="020B0503020204020204" pitchFamily="34" charset="-122"/>
              </a:rPr>
              <a:t>2009-2011</a:t>
            </a:r>
            <a:r>
              <a:rPr lang="zh-CN" altLang="en-US" sz="1200" dirty="0">
                <a:solidFill>
                  <a:schemeClr val="tx1"/>
                </a:solidFill>
                <a:latin typeface="微软雅黑" panose="020B0503020204020204" pitchFamily="34" charset="-122"/>
                <a:ea typeface="微软雅黑" panose="020B0503020204020204" pitchFamily="34" charset="-122"/>
              </a:rPr>
              <a:t>：</a:t>
            </a:r>
            <a:r>
              <a:rPr lang="en-US" altLang="zh-CN" sz="1200" dirty="0">
                <a:solidFill>
                  <a:schemeClr val="tx1"/>
                </a:solidFill>
                <a:latin typeface="微软雅黑" panose="020B0503020204020204" pitchFamily="34" charset="-122"/>
                <a:ea typeface="微软雅黑" panose="020B0503020204020204" pitchFamily="34" charset="-122"/>
              </a:rPr>
              <a:t>Citadel </a:t>
            </a:r>
            <a:r>
              <a:rPr lang="zh-CN" altLang="en-US" sz="1200" dirty="0">
                <a:solidFill>
                  <a:schemeClr val="tx1"/>
                </a:solidFill>
                <a:latin typeface="微软雅黑" panose="020B0503020204020204" pitchFamily="34" charset="-122"/>
                <a:ea typeface="微软雅黑" panose="020B0503020204020204" pitchFamily="34" charset="-122"/>
              </a:rPr>
              <a:t>分析师；</a:t>
            </a:r>
            <a:endParaRPr lang="en-US" altLang="zh-CN" sz="1200" dirty="0">
              <a:solidFill>
                <a:schemeClr val="tx1"/>
              </a:solidFill>
              <a:latin typeface="微软雅黑" panose="020B0503020204020204" pitchFamily="34" charset="-122"/>
              <a:ea typeface="微软雅黑" panose="020B0503020204020204" pitchFamily="34" charset="-122"/>
            </a:endParaRPr>
          </a:p>
          <a:p>
            <a:pPr marL="285750" indent="-285750" eaLnBrk="1" hangingPunct="1">
              <a:lnSpc>
                <a:spcPct val="150000"/>
              </a:lnSpc>
              <a:buFont typeface="Arial" panose="020B0604020202020204" pitchFamily="34" charset="0"/>
              <a:buChar char="•"/>
            </a:pPr>
            <a:r>
              <a:rPr lang="en-US" altLang="zh-CN" sz="1200" dirty="0">
                <a:solidFill>
                  <a:schemeClr val="tx1"/>
                </a:solidFill>
                <a:latin typeface="微软雅黑" panose="020B0503020204020204" pitchFamily="34" charset="-122"/>
                <a:ea typeface="微软雅黑" panose="020B0503020204020204" pitchFamily="34" charset="-122"/>
              </a:rPr>
              <a:t>2011-2017</a:t>
            </a:r>
            <a:r>
              <a:rPr lang="zh-CN" altLang="en-US" sz="1200" dirty="0">
                <a:solidFill>
                  <a:schemeClr val="tx1"/>
                </a:solidFill>
                <a:latin typeface="微软雅黑" panose="020B0503020204020204" pitchFamily="34" charset="-122"/>
                <a:ea typeface="微软雅黑" panose="020B0503020204020204" pitchFamily="34" charset="-122"/>
              </a:rPr>
              <a:t>：</a:t>
            </a:r>
            <a:r>
              <a:rPr lang="en-US" altLang="zh-CN" sz="1200" dirty="0">
                <a:solidFill>
                  <a:schemeClr val="tx1"/>
                </a:solidFill>
                <a:latin typeface="微软雅黑" panose="020B0503020204020204" pitchFamily="34" charset="-122"/>
                <a:ea typeface="微软雅黑" panose="020B0503020204020204" pitchFamily="34" charset="-122"/>
              </a:rPr>
              <a:t>Criterion Capital </a:t>
            </a:r>
            <a:r>
              <a:rPr lang="zh-CN" altLang="en-US" sz="1200" dirty="0">
                <a:solidFill>
                  <a:schemeClr val="tx1"/>
                </a:solidFill>
                <a:latin typeface="微软雅黑" panose="020B0503020204020204" pitchFamily="34" charset="-122"/>
                <a:ea typeface="微软雅黑" panose="020B0503020204020204" pitchFamily="34" charset="-122"/>
              </a:rPr>
              <a:t>分析师、全球硬科技团队负责人；</a:t>
            </a:r>
            <a:endParaRPr lang="en-US" altLang="zh-CN" sz="1200" dirty="0">
              <a:solidFill>
                <a:schemeClr val="tx1"/>
              </a:solidFill>
              <a:latin typeface="微软雅黑" panose="020B0503020204020204" pitchFamily="34" charset="-122"/>
              <a:ea typeface="微软雅黑" panose="020B0503020204020204" pitchFamily="34" charset="-122"/>
            </a:endParaRPr>
          </a:p>
          <a:p>
            <a:pPr marL="285750" indent="-285750" eaLnBrk="1" hangingPunct="1">
              <a:lnSpc>
                <a:spcPct val="150000"/>
              </a:lnSpc>
              <a:buFont typeface="Arial" panose="020B0604020202020204" pitchFamily="34" charset="0"/>
              <a:buChar char="•"/>
            </a:pPr>
            <a:r>
              <a:rPr lang="en-US" altLang="zh-CN" sz="1200" dirty="0">
                <a:solidFill>
                  <a:schemeClr val="tx1"/>
                </a:solidFill>
                <a:latin typeface="微软雅黑" panose="020B0503020204020204" pitchFamily="34" charset="-122"/>
                <a:ea typeface="微软雅黑" panose="020B0503020204020204" pitchFamily="34" charset="-122"/>
              </a:rPr>
              <a:t>2017-2018</a:t>
            </a:r>
            <a:r>
              <a:rPr lang="zh-CN" altLang="en-US" sz="1200" dirty="0">
                <a:solidFill>
                  <a:schemeClr val="tx1"/>
                </a:solidFill>
                <a:latin typeface="微软雅黑" panose="020B0503020204020204" pitchFamily="34" charset="-122"/>
                <a:ea typeface="微软雅黑" panose="020B0503020204020204" pitchFamily="34" charset="-122"/>
              </a:rPr>
              <a:t>：</a:t>
            </a:r>
            <a:r>
              <a:rPr lang="en-US" altLang="zh-CN" sz="1200" dirty="0">
                <a:solidFill>
                  <a:schemeClr val="tx1"/>
                </a:solidFill>
                <a:latin typeface="微软雅黑" panose="020B0503020204020204" pitchFamily="34" charset="-122"/>
                <a:ea typeface="微软雅黑" panose="020B0503020204020204" pitchFamily="34" charset="-122"/>
              </a:rPr>
              <a:t> </a:t>
            </a:r>
            <a:r>
              <a:rPr lang="en-US" altLang="zh-CN" sz="1200" dirty="0" err="1">
                <a:solidFill>
                  <a:schemeClr val="tx1"/>
                </a:solidFill>
                <a:latin typeface="微软雅黑" panose="020B0503020204020204" pitchFamily="34" charset="-122"/>
                <a:ea typeface="微软雅黑" panose="020B0503020204020204" pitchFamily="34" charset="-122"/>
              </a:rPr>
              <a:t>Lanternback</a:t>
            </a:r>
            <a:r>
              <a:rPr lang="en-US" altLang="zh-CN" sz="1200" dirty="0">
                <a:solidFill>
                  <a:schemeClr val="tx1"/>
                </a:solidFill>
                <a:latin typeface="微软雅黑" panose="020B0503020204020204" pitchFamily="34" charset="-122"/>
                <a:ea typeface="微软雅黑" panose="020B0503020204020204" pitchFamily="34" charset="-122"/>
              </a:rPr>
              <a:t> Capital</a:t>
            </a:r>
            <a:r>
              <a:rPr lang="zh-CN" altLang="en-US" sz="1200" dirty="0">
                <a:solidFill>
                  <a:schemeClr val="tx1"/>
                </a:solidFill>
                <a:latin typeface="微软雅黑" panose="020B0503020204020204" pitchFamily="34" charset="-122"/>
                <a:ea typeface="微软雅黑" panose="020B0503020204020204" pitchFamily="34" charset="-122"/>
              </a:rPr>
              <a:t>合伙人，负责科技领域的投资；</a:t>
            </a:r>
            <a:endParaRPr lang="en-US" altLang="zh-CN" sz="1200" dirty="0">
              <a:solidFill>
                <a:schemeClr val="tx1"/>
              </a:solidFill>
              <a:latin typeface="微软雅黑" panose="020B0503020204020204" pitchFamily="34" charset="-122"/>
              <a:ea typeface="微软雅黑" panose="020B0503020204020204" pitchFamily="34" charset="-122"/>
            </a:endParaRPr>
          </a:p>
          <a:p>
            <a:pPr marL="285750" indent="-285750" eaLnBrk="1" hangingPunct="1">
              <a:lnSpc>
                <a:spcPct val="150000"/>
              </a:lnSpc>
              <a:buFont typeface="Arial" panose="020B0604020202020204" pitchFamily="34" charset="0"/>
              <a:buChar char="•"/>
            </a:pPr>
            <a:r>
              <a:rPr lang="en-US" altLang="zh-CN" sz="1200" dirty="0">
                <a:solidFill>
                  <a:schemeClr val="tx1"/>
                </a:solidFill>
                <a:latin typeface="微软雅黑" panose="020B0503020204020204" pitchFamily="34" charset="-122"/>
                <a:ea typeface="微软雅黑" panose="020B0503020204020204" pitchFamily="34" charset="-122"/>
              </a:rPr>
              <a:t>2019-</a:t>
            </a:r>
            <a:r>
              <a:rPr lang="zh-CN" altLang="en-US" sz="1200" dirty="0">
                <a:solidFill>
                  <a:schemeClr val="tx1"/>
                </a:solidFill>
                <a:latin typeface="微软雅黑" panose="020B0503020204020204" pitchFamily="34" charset="-122"/>
                <a:ea typeface="微软雅黑" panose="020B0503020204020204" pitchFamily="34" charset="-122"/>
              </a:rPr>
              <a:t>至今：</a:t>
            </a:r>
            <a:r>
              <a:rPr lang="en-US" sz="1200" dirty="0">
                <a:solidFill>
                  <a:schemeClr val="tx1"/>
                </a:solidFill>
                <a:latin typeface="微软雅黑" panose="020B0503020204020204" pitchFamily="34" charset="-122"/>
                <a:ea typeface="微软雅黑" panose="020B0503020204020204" pitchFamily="34" charset="-122"/>
              </a:rPr>
              <a:t>Point72</a:t>
            </a:r>
            <a:r>
              <a:rPr lang="zh-CN" altLang="en-US" sz="1200" dirty="0">
                <a:solidFill>
                  <a:schemeClr val="tx1"/>
                </a:solidFill>
                <a:latin typeface="微软雅黑" panose="020B0503020204020204" pitchFamily="34" charset="-122"/>
                <a:ea typeface="微软雅黑" panose="020B0503020204020204" pitchFamily="34" charset="-122"/>
              </a:rPr>
              <a:t>投资经理，管理</a:t>
            </a:r>
            <a:r>
              <a:rPr lang="en-US" altLang="zh-CN" sz="1200" dirty="0">
                <a:solidFill>
                  <a:schemeClr val="tx1"/>
                </a:solidFill>
                <a:latin typeface="微软雅黑" panose="020B0503020204020204" pitchFamily="34" charset="-122"/>
                <a:ea typeface="微软雅黑" panose="020B0503020204020204" pitchFamily="34" charset="-122"/>
              </a:rPr>
              <a:t>TMT</a:t>
            </a:r>
            <a:r>
              <a:rPr lang="zh-CN" altLang="en-US" sz="1200" dirty="0">
                <a:solidFill>
                  <a:schemeClr val="tx1"/>
                </a:solidFill>
                <a:latin typeface="微软雅黑" panose="020B0503020204020204" pitchFamily="34" charset="-122"/>
                <a:ea typeface="微软雅黑" panose="020B0503020204020204" pitchFamily="34" charset="-122"/>
              </a:rPr>
              <a:t>领域相关的主观多空组合，是</a:t>
            </a:r>
            <a:r>
              <a:rPr lang="en-US" altLang="zh-CN" sz="1200" dirty="0">
                <a:solidFill>
                  <a:schemeClr val="tx1"/>
                </a:solidFill>
                <a:latin typeface="微软雅黑" panose="020B0503020204020204" pitchFamily="34" charset="-122"/>
                <a:ea typeface="微软雅黑" panose="020B0503020204020204" pitchFamily="34" charset="-122"/>
              </a:rPr>
              <a:t>P72</a:t>
            </a:r>
            <a:r>
              <a:rPr lang="zh-CN" altLang="en-US" sz="1200" dirty="0">
                <a:solidFill>
                  <a:schemeClr val="tx1"/>
                </a:solidFill>
                <a:latin typeface="微软雅黑" panose="020B0503020204020204" pitchFamily="34" charset="-122"/>
                <a:ea typeface="微软雅黑" panose="020B0503020204020204" pitchFamily="34" charset="-122"/>
              </a:rPr>
              <a:t>旗舰基金的投资经理之一；</a:t>
            </a:r>
            <a:r>
              <a:rPr lang="en-US" altLang="zh-CN" sz="1200" b="1" dirty="0">
                <a:solidFill>
                  <a:srgbClr val="C00000"/>
                </a:solidFill>
                <a:latin typeface="微软雅黑" panose="020B0503020204020204" pitchFamily="34" charset="-122"/>
                <a:ea typeface="微软雅黑" panose="020B0503020204020204" pitchFamily="34" charset="-122"/>
              </a:rPr>
              <a:t>2024</a:t>
            </a:r>
            <a:r>
              <a:rPr lang="zh-CN" altLang="en-US" sz="1200" b="1" dirty="0">
                <a:solidFill>
                  <a:srgbClr val="C00000"/>
                </a:solidFill>
                <a:latin typeface="微软雅黑" panose="020B0503020204020204" pitchFamily="34" charset="-122"/>
                <a:ea typeface="微软雅黑" panose="020B0503020204020204" pitchFamily="34" charset="-122"/>
              </a:rPr>
              <a:t>年起担任</a:t>
            </a:r>
            <a:r>
              <a:rPr lang="en-US" altLang="zh-CN" sz="1200" b="1" dirty="0">
                <a:solidFill>
                  <a:srgbClr val="C00000"/>
                </a:solidFill>
                <a:latin typeface="微软雅黑" panose="020B0503020204020204" pitchFamily="34" charset="-122"/>
                <a:ea typeface="微软雅黑" panose="020B0503020204020204" pitchFamily="34" charset="-122"/>
              </a:rPr>
              <a:t>P72 </a:t>
            </a:r>
            <a:r>
              <a:rPr lang="en-US" altLang="zh-CN" sz="1200" b="1" dirty="0" err="1">
                <a:solidFill>
                  <a:srgbClr val="C00000"/>
                </a:solidFill>
                <a:latin typeface="微软雅黑" panose="020B0503020204020204" pitchFamily="34" charset="-122"/>
                <a:ea typeface="微软雅黑" panose="020B0503020204020204" pitchFamily="34" charset="-122"/>
              </a:rPr>
              <a:t>Turion</a:t>
            </a:r>
            <a:r>
              <a:rPr lang="en-US" altLang="zh-CN" sz="1200" b="1" dirty="0">
                <a:solidFill>
                  <a:srgbClr val="C00000"/>
                </a:solidFill>
                <a:latin typeface="微软雅黑" panose="020B0503020204020204" pitchFamily="34" charset="-122"/>
                <a:ea typeface="微软雅黑" panose="020B0503020204020204" pitchFamily="34" charset="-122"/>
              </a:rPr>
              <a:t> </a:t>
            </a:r>
            <a:r>
              <a:rPr lang="zh-CN" altLang="en-US" sz="1200" b="1" dirty="0">
                <a:solidFill>
                  <a:srgbClr val="C00000"/>
                </a:solidFill>
                <a:latin typeface="微软雅黑" panose="020B0503020204020204" pitchFamily="34" charset="-122"/>
                <a:ea typeface="微软雅黑" panose="020B0503020204020204" pitchFamily="34" charset="-122"/>
              </a:rPr>
              <a:t>基金的投资经理。</a:t>
            </a:r>
            <a:endParaRPr lang="en-US" altLang="zh-CN" sz="1200" dirty="0">
              <a:solidFill>
                <a:schemeClr val="tx1"/>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85B6E295-C188-4EF3-A29A-7094950FB6CC}"/>
              </a:ext>
            </a:extLst>
          </p:cNvPr>
          <p:cNvSpPr/>
          <p:nvPr/>
        </p:nvSpPr>
        <p:spPr>
          <a:xfrm>
            <a:off x="1809028" y="2708511"/>
            <a:ext cx="2104469" cy="700576"/>
          </a:xfrm>
          <a:prstGeom prst="rect">
            <a:avLst/>
          </a:prstGeom>
        </p:spPr>
        <p:txBody>
          <a:bodyPr wrap="square">
            <a:spAutoFit/>
          </a:bodyPr>
          <a:lstStyle/>
          <a:p>
            <a:pPr marL="19050" algn="ctr">
              <a:lnSpc>
                <a:spcPct val="150000"/>
              </a:lnSpc>
            </a:pPr>
            <a:r>
              <a:rPr lang="en-US" altLang="zh-CN" sz="1400" b="1" kern="0" spc="-60" dirty="0">
                <a:solidFill>
                  <a:srgbClr val="09283F">
                    <a:alpha val="100000"/>
                  </a:srgbClr>
                </a:solidFill>
                <a:latin typeface="微软雅黑" panose="020B0503020204020204" pitchFamily="34" charset="-122"/>
                <a:ea typeface="微软雅黑" panose="020B0503020204020204" pitchFamily="34" charset="-122"/>
                <a:cs typeface="Franklin Gothic Demi Cond"/>
              </a:rPr>
              <a:t>Eric Sanchez</a:t>
            </a:r>
          </a:p>
          <a:p>
            <a:pPr marL="19050" algn="ctr">
              <a:lnSpc>
                <a:spcPct val="150000"/>
              </a:lnSpc>
            </a:pPr>
            <a:r>
              <a:rPr lang="en-US" altLang="zh-CN" sz="1400" b="1" kern="0" spc="-60" dirty="0" err="1">
                <a:solidFill>
                  <a:srgbClr val="09283F">
                    <a:alpha val="100000"/>
                  </a:srgbClr>
                </a:solidFill>
                <a:latin typeface="微软雅黑" panose="020B0503020204020204" pitchFamily="34" charset="-122"/>
                <a:ea typeface="微软雅黑" panose="020B0503020204020204" pitchFamily="34" charset="-122"/>
                <a:cs typeface="Franklin Gothic Demi Cond"/>
              </a:rPr>
              <a:t>Turion</a:t>
            </a:r>
            <a:r>
              <a:rPr lang="en-US" altLang="zh-CN" sz="1400" b="1" kern="0" spc="-60" dirty="0">
                <a:solidFill>
                  <a:srgbClr val="09283F">
                    <a:alpha val="100000"/>
                  </a:srgbClr>
                </a:solidFill>
                <a:latin typeface="微软雅黑" panose="020B0503020204020204" pitchFamily="34" charset="-122"/>
                <a:ea typeface="微软雅黑" panose="020B0503020204020204" pitchFamily="34" charset="-122"/>
                <a:cs typeface="Franklin Gothic Demi Cond"/>
              </a:rPr>
              <a:t> </a:t>
            </a:r>
            <a:r>
              <a:rPr lang="zh-CN" altLang="en-US" sz="1400" b="1" kern="0" spc="-60" dirty="0">
                <a:solidFill>
                  <a:srgbClr val="09283F">
                    <a:alpha val="100000"/>
                  </a:srgbClr>
                </a:solidFill>
                <a:latin typeface="微软雅黑" panose="020B0503020204020204" pitchFamily="34" charset="-122"/>
                <a:ea typeface="微软雅黑" panose="020B0503020204020204" pitchFamily="34" charset="-122"/>
                <a:cs typeface="Franklin Gothic Demi Cond"/>
              </a:rPr>
              <a:t>基金投资经理</a:t>
            </a:r>
            <a:endParaRPr lang="zh-CN" altLang="en-US" sz="1400" b="1" dirty="0">
              <a:latin typeface="微软雅黑" panose="020B0503020204020204" pitchFamily="34" charset="-122"/>
              <a:ea typeface="微软雅黑" panose="020B0503020204020204" pitchFamily="34" charset="-122"/>
              <a:cs typeface="Franklin Gothic Demi Cond"/>
            </a:endParaRPr>
          </a:p>
        </p:txBody>
      </p:sp>
      <p:pic>
        <p:nvPicPr>
          <p:cNvPr id="17" name="picture 1198">
            <a:extLst>
              <a:ext uri="{FF2B5EF4-FFF2-40B4-BE49-F238E27FC236}">
                <a16:creationId xmlns:a16="http://schemas.microsoft.com/office/drawing/2014/main" id="{47FBF4BE-792C-48C9-821D-B69D8E2C575E}"/>
              </a:ext>
            </a:extLst>
          </p:cNvPr>
          <p:cNvPicPr>
            <a:picLocks noChangeAspect="1"/>
          </p:cNvPicPr>
          <p:nvPr/>
        </p:nvPicPr>
        <p:blipFill>
          <a:blip r:embed="rId7"/>
          <a:stretch>
            <a:fillRect/>
          </a:stretch>
        </p:blipFill>
        <p:spPr>
          <a:xfrm rot="21600000">
            <a:off x="4328680" y="3950616"/>
            <a:ext cx="894512" cy="887787"/>
          </a:xfrm>
          <a:prstGeom prst="rect">
            <a:avLst/>
          </a:prstGeom>
        </p:spPr>
      </p:pic>
      <p:pic>
        <p:nvPicPr>
          <p:cNvPr id="18" name="picture 1274">
            <a:extLst>
              <a:ext uri="{FF2B5EF4-FFF2-40B4-BE49-F238E27FC236}">
                <a16:creationId xmlns:a16="http://schemas.microsoft.com/office/drawing/2014/main" id="{AA22CA94-4CC8-4D62-BE4F-39A4144D2178}"/>
              </a:ext>
            </a:extLst>
          </p:cNvPr>
          <p:cNvPicPr>
            <a:picLocks noChangeAspect="1"/>
          </p:cNvPicPr>
          <p:nvPr/>
        </p:nvPicPr>
        <p:blipFill>
          <a:blip r:embed="rId8"/>
          <a:stretch>
            <a:fillRect/>
          </a:stretch>
        </p:blipFill>
        <p:spPr>
          <a:xfrm rot="21600000">
            <a:off x="7539255" y="5459981"/>
            <a:ext cx="837574" cy="830579"/>
          </a:xfrm>
          <a:prstGeom prst="rect">
            <a:avLst/>
          </a:prstGeom>
        </p:spPr>
      </p:pic>
      <p:pic>
        <p:nvPicPr>
          <p:cNvPr id="19" name="picture 1276">
            <a:extLst>
              <a:ext uri="{FF2B5EF4-FFF2-40B4-BE49-F238E27FC236}">
                <a16:creationId xmlns:a16="http://schemas.microsoft.com/office/drawing/2014/main" id="{C67C9BE5-93C4-4C68-82C5-521519808448}"/>
              </a:ext>
            </a:extLst>
          </p:cNvPr>
          <p:cNvPicPr>
            <a:picLocks noChangeAspect="1"/>
          </p:cNvPicPr>
          <p:nvPr/>
        </p:nvPicPr>
        <p:blipFill>
          <a:blip r:embed="rId9"/>
          <a:stretch>
            <a:fillRect/>
          </a:stretch>
        </p:blipFill>
        <p:spPr>
          <a:xfrm rot="21600000">
            <a:off x="7518759" y="3957512"/>
            <a:ext cx="878566" cy="871770"/>
          </a:xfrm>
          <a:prstGeom prst="rect">
            <a:avLst/>
          </a:prstGeom>
        </p:spPr>
      </p:pic>
      <p:pic>
        <p:nvPicPr>
          <p:cNvPr id="20" name="picture 1278">
            <a:extLst>
              <a:ext uri="{FF2B5EF4-FFF2-40B4-BE49-F238E27FC236}">
                <a16:creationId xmlns:a16="http://schemas.microsoft.com/office/drawing/2014/main" id="{0CDC4086-A0A5-4DD0-8AA2-21E0B970F7FE}"/>
              </a:ext>
            </a:extLst>
          </p:cNvPr>
          <p:cNvPicPr>
            <a:picLocks noChangeAspect="1"/>
          </p:cNvPicPr>
          <p:nvPr/>
        </p:nvPicPr>
        <p:blipFill>
          <a:blip r:embed="rId10"/>
          <a:stretch>
            <a:fillRect/>
          </a:stretch>
        </p:blipFill>
        <p:spPr>
          <a:xfrm rot="21600000">
            <a:off x="4375886" y="5489349"/>
            <a:ext cx="800100" cy="804671"/>
          </a:xfrm>
          <a:prstGeom prst="rect">
            <a:avLst/>
          </a:prstGeom>
        </p:spPr>
      </p:pic>
      <p:pic>
        <p:nvPicPr>
          <p:cNvPr id="21" name="picture 1280">
            <a:extLst>
              <a:ext uri="{FF2B5EF4-FFF2-40B4-BE49-F238E27FC236}">
                <a16:creationId xmlns:a16="http://schemas.microsoft.com/office/drawing/2014/main" id="{EFCEA9B8-661C-4036-AE6A-17416234DD80}"/>
              </a:ext>
            </a:extLst>
          </p:cNvPr>
          <p:cNvPicPr>
            <a:picLocks noChangeAspect="1"/>
          </p:cNvPicPr>
          <p:nvPr/>
        </p:nvPicPr>
        <p:blipFill>
          <a:blip r:embed="rId11"/>
          <a:stretch>
            <a:fillRect/>
          </a:stretch>
        </p:blipFill>
        <p:spPr>
          <a:xfrm rot="21600000">
            <a:off x="1218651" y="5525095"/>
            <a:ext cx="827531" cy="777239"/>
          </a:xfrm>
          <a:prstGeom prst="rect">
            <a:avLst/>
          </a:prstGeom>
        </p:spPr>
      </p:pic>
      <p:pic>
        <p:nvPicPr>
          <p:cNvPr id="22" name="picture 1284">
            <a:extLst>
              <a:ext uri="{FF2B5EF4-FFF2-40B4-BE49-F238E27FC236}">
                <a16:creationId xmlns:a16="http://schemas.microsoft.com/office/drawing/2014/main" id="{CFDF5475-0F06-41E3-A9D0-34205B969EA3}"/>
              </a:ext>
            </a:extLst>
          </p:cNvPr>
          <p:cNvPicPr>
            <a:picLocks noChangeAspect="1"/>
          </p:cNvPicPr>
          <p:nvPr/>
        </p:nvPicPr>
        <p:blipFill>
          <a:blip r:embed="rId12"/>
          <a:stretch>
            <a:fillRect/>
          </a:stretch>
        </p:blipFill>
        <p:spPr>
          <a:xfrm rot="21600000">
            <a:off x="1154223" y="3950616"/>
            <a:ext cx="878889" cy="877141"/>
          </a:xfrm>
          <a:prstGeom prst="rect">
            <a:avLst/>
          </a:prstGeom>
        </p:spPr>
      </p:pic>
      <p:sp>
        <p:nvSpPr>
          <p:cNvPr id="23" name="îŝlídê">
            <a:extLst>
              <a:ext uri="{FF2B5EF4-FFF2-40B4-BE49-F238E27FC236}">
                <a16:creationId xmlns:a16="http://schemas.microsoft.com/office/drawing/2014/main" id="{024092C6-867E-4443-9AFE-718F9539A2C2}"/>
              </a:ext>
            </a:extLst>
          </p:cNvPr>
          <p:cNvSpPr/>
          <p:nvPr/>
        </p:nvSpPr>
        <p:spPr>
          <a:xfrm>
            <a:off x="2033113" y="3810772"/>
            <a:ext cx="2104469" cy="115682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108000" tIns="108000" rIns="108000" bIns="108000" rtlCol="0" anchor="t" anchorCtr="0">
            <a:spAutoFit/>
          </a:bodyPr>
          <a:lstStyle/>
          <a:p>
            <a:pPr algn="just">
              <a:spcAft>
                <a:spcPts val="600"/>
              </a:spcAft>
              <a:buClr>
                <a:srgbClr val="001D5A"/>
              </a:buClr>
            </a:pPr>
            <a:r>
              <a:rPr lang="en-US" altLang="zh-CN" sz="1100" b="1" dirty="0">
                <a:solidFill>
                  <a:srgbClr val="09283F"/>
                </a:solidFill>
                <a:latin typeface="思源黑体 CN Medium" panose="020B0600000000000000" charset="-122"/>
                <a:ea typeface="思源黑体 CN Medium" panose="020B0600000000000000" charset="-122"/>
                <a:cs typeface="思源黑体 CN Medium" panose="020B0600000000000000" charset="-122"/>
              </a:rPr>
              <a:t>Zack Baker</a:t>
            </a:r>
          </a:p>
          <a:p>
            <a:pPr marL="171450" indent="-171450" algn="just">
              <a:buClr>
                <a:srgbClr val="001D5A"/>
              </a:buClr>
              <a:buFont typeface="Arial" panose="020B0604020202020204" pitchFamily="34" charset="0"/>
              <a:buChar char="•"/>
            </a:pP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2019</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年加入</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之前就职于</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Point72</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学院</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约翰霍普金斯大学 </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 </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应用数学硕士； 应用数学和统计学，经济学学士学位（</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’19</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p>
        </p:txBody>
      </p:sp>
      <p:sp>
        <p:nvSpPr>
          <p:cNvPr id="24" name="îŝlídê">
            <a:extLst>
              <a:ext uri="{FF2B5EF4-FFF2-40B4-BE49-F238E27FC236}">
                <a16:creationId xmlns:a16="http://schemas.microsoft.com/office/drawing/2014/main" id="{C0DFEA03-59DF-474B-8BB9-230DDFEA0B70}"/>
              </a:ext>
            </a:extLst>
          </p:cNvPr>
          <p:cNvSpPr/>
          <p:nvPr/>
        </p:nvSpPr>
        <p:spPr>
          <a:xfrm>
            <a:off x="5318741" y="3810772"/>
            <a:ext cx="2104469" cy="115682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108000" tIns="108000" rIns="108000" bIns="108000" rtlCol="0" anchor="t" anchorCtr="0">
            <a:spAutoFit/>
          </a:bodyPr>
          <a:lstStyle/>
          <a:p>
            <a:pPr algn="just">
              <a:spcAft>
                <a:spcPts val="600"/>
              </a:spcAft>
              <a:buClr>
                <a:srgbClr val="001D5A"/>
              </a:buClr>
            </a:pPr>
            <a:r>
              <a:rPr lang="en-US" altLang="zh-CN" sz="1100" b="1" dirty="0">
                <a:solidFill>
                  <a:srgbClr val="09283F"/>
                </a:solidFill>
                <a:latin typeface="思源黑体 CN Medium" panose="020B0600000000000000" charset="-122"/>
                <a:ea typeface="思源黑体 CN Medium" panose="020B0600000000000000" charset="-122"/>
                <a:cs typeface="思源黑体 CN Medium" panose="020B0600000000000000" charset="-122"/>
              </a:rPr>
              <a:t>Matthew </a:t>
            </a:r>
            <a:r>
              <a:rPr lang="en-US" altLang="zh-CN" sz="1100" b="1" dirty="0" err="1">
                <a:solidFill>
                  <a:srgbClr val="09283F"/>
                </a:solidFill>
                <a:latin typeface="思源黑体 CN Medium" panose="020B0600000000000000" charset="-122"/>
                <a:ea typeface="思源黑体 CN Medium" panose="020B0600000000000000" charset="-122"/>
                <a:cs typeface="思源黑体 CN Medium" panose="020B0600000000000000" charset="-122"/>
              </a:rPr>
              <a:t>Petricone</a:t>
            </a:r>
            <a:endParaRPr lang="en-US" altLang="zh-CN" sz="1100" b="1" dirty="0">
              <a:solidFill>
                <a:srgbClr val="09283F"/>
              </a:solidFill>
              <a:latin typeface="思源黑体 CN Medium" panose="020B0600000000000000" charset="-122"/>
              <a:ea typeface="思源黑体 CN Medium" panose="020B0600000000000000" charset="-122"/>
              <a:cs typeface="思源黑体 CN Medium" panose="020B0600000000000000" charset="-122"/>
            </a:endParaRPr>
          </a:p>
          <a:p>
            <a:pPr marL="171450" indent="-171450" algn="just">
              <a:buClr>
                <a:srgbClr val="001D5A"/>
              </a:buClr>
              <a:buFont typeface="Arial" panose="020B0604020202020204" pitchFamily="34" charset="0"/>
              <a:buChar char="•"/>
            </a:pP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2021</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年加入</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之前就职于</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Shelter Haven Capital</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Balyasny</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、瑞银</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神圣十字学院 </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 </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经济学和工作室艺术学士学位（</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'04</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p>
        </p:txBody>
      </p:sp>
      <p:sp>
        <p:nvSpPr>
          <p:cNvPr id="25" name="îŝlídê">
            <a:extLst>
              <a:ext uri="{FF2B5EF4-FFF2-40B4-BE49-F238E27FC236}">
                <a16:creationId xmlns:a16="http://schemas.microsoft.com/office/drawing/2014/main" id="{30BCDD03-91EC-4EC5-B1A7-8044E894C462}"/>
              </a:ext>
            </a:extLst>
          </p:cNvPr>
          <p:cNvSpPr/>
          <p:nvPr/>
        </p:nvSpPr>
        <p:spPr>
          <a:xfrm>
            <a:off x="8653600" y="3816197"/>
            <a:ext cx="2357700" cy="101832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108000" tIns="108000" rIns="108000" bIns="108000" rtlCol="0" anchor="t" anchorCtr="0">
            <a:spAutoFit/>
          </a:bodyPr>
          <a:lstStyle/>
          <a:p>
            <a:pPr algn="just">
              <a:spcAft>
                <a:spcPts val="600"/>
              </a:spcAft>
              <a:buClr>
                <a:srgbClr val="001D5A"/>
              </a:buClr>
            </a:pPr>
            <a:r>
              <a:rPr lang="en-US" altLang="zh-CN" sz="1100" b="1" dirty="0">
                <a:solidFill>
                  <a:srgbClr val="09283F"/>
                </a:solidFill>
                <a:latin typeface="思源黑体 CN Medium" panose="020B0600000000000000" charset="-122"/>
                <a:ea typeface="思源黑体 CN Medium" panose="020B0600000000000000" charset="-122"/>
                <a:cs typeface="思源黑体 CN Medium" panose="020B0600000000000000" charset="-122"/>
              </a:rPr>
              <a:t>Josh Elkin, </a:t>
            </a:r>
            <a:r>
              <a:rPr lang="zh-CN" altLang="en-US" sz="1100" b="1" dirty="0">
                <a:solidFill>
                  <a:srgbClr val="09283F"/>
                </a:solidFill>
                <a:latin typeface="思源黑体 CN Medium" panose="020B0600000000000000" charset="-122"/>
                <a:ea typeface="思源黑体 CN Medium" panose="020B0600000000000000" charset="-122"/>
                <a:cs typeface="思源黑体 CN Medium" panose="020B0600000000000000" charset="-122"/>
              </a:rPr>
              <a:t>数据工程师</a:t>
            </a:r>
          </a:p>
          <a:p>
            <a:pPr marL="171450" indent="-171450" algn="just">
              <a:buClr>
                <a:srgbClr val="001D5A"/>
              </a:buClr>
              <a:buFont typeface="Arial" panose="020B0604020202020204" pitchFamily="34" charset="0"/>
              <a:buChar char="•"/>
            </a:pP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2016</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年加入</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之前就职于</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Point72 L/S</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Point72 MI-Data</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en-US" altLang="zh-CN" sz="900" dirty="0" err="1">
                <a:solidFill>
                  <a:schemeClr val="tx1"/>
                </a:solidFill>
                <a:latin typeface="思源黑体 CN Medium" panose="020B0600000000000000" charset="-122"/>
                <a:ea typeface="思源黑体 CN Medium" panose="020B0600000000000000" charset="-122"/>
                <a:cs typeface="思源黑体 CN Medium" panose="020B0600000000000000" charset="-122"/>
              </a:rPr>
              <a:t>AllianceBernstein</a:t>
            </a:r>
            <a:endPar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endParaRP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普林斯顿大学 </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 </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数学学士学位（</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'13</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p>
        </p:txBody>
      </p:sp>
      <p:sp>
        <p:nvSpPr>
          <p:cNvPr id="26" name="îŝlídê">
            <a:extLst>
              <a:ext uri="{FF2B5EF4-FFF2-40B4-BE49-F238E27FC236}">
                <a16:creationId xmlns:a16="http://schemas.microsoft.com/office/drawing/2014/main" id="{0E4525BD-F70F-4D36-81EF-BBE2788F08D7}"/>
              </a:ext>
            </a:extLst>
          </p:cNvPr>
          <p:cNvSpPr/>
          <p:nvPr/>
        </p:nvSpPr>
        <p:spPr>
          <a:xfrm>
            <a:off x="2077018" y="5256336"/>
            <a:ext cx="2104469" cy="101832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108000" tIns="108000" rIns="108000" bIns="108000" rtlCol="0" anchor="t" anchorCtr="0">
            <a:spAutoFit/>
          </a:bodyPr>
          <a:lstStyle/>
          <a:p>
            <a:pPr algn="just">
              <a:spcAft>
                <a:spcPts val="600"/>
              </a:spcAft>
              <a:buClr>
                <a:srgbClr val="001D5A"/>
              </a:buClr>
            </a:pPr>
            <a:r>
              <a:rPr lang="en-US" altLang="zh-CN" sz="1100" b="1" dirty="0" err="1">
                <a:solidFill>
                  <a:srgbClr val="09283F"/>
                </a:solidFill>
                <a:latin typeface="思源黑体 CN Medium" panose="020B0600000000000000" charset="-122"/>
                <a:ea typeface="思源黑体 CN Medium" panose="020B0600000000000000" charset="-122"/>
                <a:cs typeface="思源黑体 CN Medium" panose="020B0600000000000000" charset="-122"/>
              </a:rPr>
              <a:t>Tristyn</a:t>
            </a:r>
            <a:r>
              <a:rPr lang="en-US" altLang="zh-CN" sz="1100" b="1" dirty="0">
                <a:solidFill>
                  <a:srgbClr val="09283F"/>
                </a:solidFill>
                <a:latin typeface="思源黑体 CN Medium" panose="020B0600000000000000" charset="-122"/>
                <a:ea typeface="思源黑体 CN Medium" panose="020B0600000000000000" charset="-122"/>
                <a:cs typeface="思源黑体 CN Medium" panose="020B0600000000000000" charset="-122"/>
              </a:rPr>
              <a:t> Martin</a:t>
            </a:r>
          </a:p>
          <a:p>
            <a:pPr marL="171450" indent="-171450" algn="just">
              <a:buClr>
                <a:srgbClr val="001D5A"/>
              </a:buClr>
              <a:buFont typeface="Arial" panose="020B0604020202020204" pitchFamily="34" charset="0"/>
              <a:buChar char="•"/>
            </a:pP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2022</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年加入</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之前就职于高盛股票研究部</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圣塔克拉拉大学 </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 </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金融学学士，经济学辅修（</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'18</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p>
        </p:txBody>
      </p:sp>
      <p:sp>
        <p:nvSpPr>
          <p:cNvPr id="27" name="îŝlídê">
            <a:extLst>
              <a:ext uri="{FF2B5EF4-FFF2-40B4-BE49-F238E27FC236}">
                <a16:creationId xmlns:a16="http://schemas.microsoft.com/office/drawing/2014/main" id="{A183E818-9C57-4DC4-9E3C-CB6E72E6B3AC}"/>
              </a:ext>
            </a:extLst>
          </p:cNvPr>
          <p:cNvSpPr/>
          <p:nvPr/>
        </p:nvSpPr>
        <p:spPr>
          <a:xfrm>
            <a:off x="5370384" y="5253911"/>
            <a:ext cx="2104469" cy="115682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108000" tIns="108000" rIns="108000" bIns="108000" rtlCol="0" anchor="t" anchorCtr="0">
            <a:spAutoFit/>
          </a:bodyPr>
          <a:lstStyle/>
          <a:p>
            <a:pPr algn="just">
              <a:spcAft>
                <a:spcPts val="600"/>
              </a:spcAft>
              <a:buClr>
                <a:srgbClr val="001D5A"/>
              </a:buClr>
            </a:pPr>
            <a:r>
              <a:rPr lang="en-US" altLang="zh-CN" sz="1100" b="1" dirty="0">
                <a:solidFill>
                  <a:srgbClr val="09283F"/>
                </a:solidFill>
                <a:latin typeface="思源黑体 CN Medium" panose="020B0600000000000000" charset="-122"/>
                <a:ea typeface="思源黑体 CN Medium" panose="020B0600000000000000" charset="-122"/>
                <a:cs typeface="思源黑体 CN Medium" panose="020B0600000000000000" charset="-122"/>
              </a:rPr>
              <a:t>Chris Moreno</a:t>
            </a:r>
          </a:p>
          <a:p>
            <a:pPr marL="171450" indent="-171450" algn="just">
              <a:buClr>
                <a:srgbClr val="001D5A"/>
              </a:buClr>
              <a:buFont typeface="Arial" panose="020B0604020202020204" pitchFamily="34" charset="0"/>
              <a:buChar char="•"/>
            </a:pP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2020</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年加入</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之前就职于</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First Pacific Advisors</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C12</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、巴克莱</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哈维默德学院 </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 </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工程学学士学位，经济学专业（</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'01</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p>
        </p:txBody>
      </p:sp>
      <p:sp>
        <p:nvSpPr>
          <p:cNvPr id="28" name="îŝlídê">
            <a:extLst>
              <a:ext uri="{FF2B5EF4-FFF2-40B4-BE49-F238E27FC236}">
                <a16:creationId xmlns:a16="http://schemas.microsoft.com/office/drawing/2014/main" id="{C3FB6E68-7BD8-4A11-81A8-42EC82EC582F}"/>
              </a:ext>
            </a:extLst>
          </p:cNvPr>
          <p:cNvSpPr/>
          <p:nvPr/>
        </p:nvSpPr>
        <p:spPr>
          <a:xfrm>
            <a:off x="8653600" y="5296856"/>
            <a:ext cx="2357700" cy="101832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108000" tIns="108000" rIns="108000" bIns="108000" rtlCol="0" anchor="t" anchorCtr="0">
            <a:spAutoFit/>
          </a:bodyPr>
          <a:lstStyle/>
          <a:p>
            <a:pPr algn="just">
              <a:spcAft>
                <a:spcPts val="600"/>
              </a:spcAft>
              <a:buClr>
                <a:srgbClr val="001D5A"/>
              </a:buClr>
            </a:pPr>
            <a:r>
              <a:rPr lang="en-US" altLang="zh-CN" sz="1100" b="1" dirty="0">
                <a:solidFill>
                  <a:srgbClr val="09283F"/>
                </a:solidFill>
                <a:latin typeface="思源黑体 CN Medium" panose="020B0600000000000000" charset="-122"/>
                <a:ea typeface="思源黑体 CN Medium" panose="020B0600000000000000" charset="-122"/>
                <a:cs typeface="思源黑体 CN Medium" panose="020B0600000000000000" charset="-122"/>
              </a:rPr>
              <a:t>Nathan </a:t>
            </a:r>
            <a:r>
              <a:rPr lang="en-US" altLang="zh-CN" sz="1100" b="1" dirty="0" err="1">
                <a:solidFill>
                  <a:srgbClr val="09283F"/>
                </a:solidFill>
                <a:latin typeface="思源黑体 CN Medium" panose="020B0600000000000000" charset="-122"/>
                <a:ea typeface="思源黑体 CN Medium" panose="020B0600000000000000" charset="-122"/>
                <a:cs typeface="思源黑体 CN Medium" panose="020B0600000000000000" charset="-122"/>
              </a:rPr>
              <a:t>Ruchelman</a:t>
            </a:r>
            <a:r>
              <a:rPr lang="zh-CN" altLang="en-US" sz="1100" b="1" dirty="0">
                <a:solidFill>
                  <a:srgbClr val="09283F"/>
                </a:solidFill>
                <a:latin typeface="思源黑体 CN Medium" panose="020B0600000000000000" charset="-122"/>
                <a:ea typeface="思源黑体 CN Medium" panose="020B0600000000000000" charset="-122"/>
                <a:cs typeface="思源黑体 CN Medium" panose="020B0600000000000000" charset="-122"/>
              </a:rPr>
              <a:t>，研究助理</a:t>
            </a:r>
          </a:p>
          <a:p>
            <a:pPr marL="171450" indent="-171450" algn="just">
              <a:buClr>
                <a:srgbClr val="001D5A"/>
              </a:buClr>
              <a:buFont typeface="Arial" panose="020B0604020202020204" pitchFamily="34" charset="0"/>
              <a:buChar char="•"/>
            </a:pP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2022</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年加入</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之前就职于美国国家癌症研究所</a:t>
            </a:r>
          </a:p>
          <a:p>
            <a:pPr marL="171450" indent="-171450" algn="just">
              <a:buClr>
                <a:srgbClr val="001D5A"/>
              </a:buClr>
              <a:buFont typeface="Arial" panose="020B0604020202020204" pitchFamily="34" charset="0"/>
              <a:buChar char="•"/>
            </a:pP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兰德学院（托罗学院）</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 </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生物学学士学位（</a:t>
            </a:r>
            <a:r>
              <a:rPr lang="en-US" altLang="zh-CN"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'19</a:t>
            </a:r>
            <a:r>
              <a:rPr lang="zh-CN" altLang="en-US" sz="900" dirty="0">
                <a:solidFill>
                  <a:schemeClr val="tx1"/>
                </a:solidFill>
                <a:latin typeface="思源黑体 CN Medium" panose="020B0600000000000000" charset="-122"/>
                <a:ea typeface="思源黑体 CN Medium" panose="020B0600000000000000" charset="-122"/>
                <a:cs typeface="思源黑体 CN Medium" panose="020B0600000000000000" charset="-122"/>
              </a:rPr>
              <a:t>）</a:t>
            </a:r>
          </a:p>
        </p:txBody>
      </p:sp>
      <p:sp>
        <p:nvSpPr>
          <p:cNvPr id="29" name="textbox 1290">
            <a:extLst>
              <a:ext uri="{FF2B5EF4-FFF2-40B4-BE49-F238E27FC236}">
                <a16:creationId xmlns:a16="http://schemas.microsoft.com/office/drawing/2014/main" id="{69ED3898-F745-433E-8473-E34C8B025E30}"/>
              </a:ext>
            </a:extLst>
          </p:cNvPr>
          <p:cNvSpPr/>
          <p:nvPr/>
        </p:nvSpPr>
        <p:spPr>
          <a:xfrm>
            <a:off x="1314534" y="3493232"/>
            <a:ext cx="1463296" cy="217432"/>
          </a:xfrm>
          <a:prstGeom prst="rect">
            <a:avLst/>
          </a:prstGeom>
          <a:noFill/>
          <a:ln w="0" cap="flat">
            <a:noFill/>
            <a:prstDash val="solid"/>
            <a:miter lim="0"/>
          </a:ln>
        </p:spPr>
        <p:txBody>
          <a:bodyPr vert="horz" wrap="square" lIns="0" tIns="0" rIns="0" bIns="0"/>
          <a:lstStyle/>
          <a:p>
            <a:pPr marL="12700" algn="l" rtl="0" eaLnBrk="0">
              <a:lnSpc>
                <a:spcPct val="77000"/>
              </a:lnSpc>
              <a:tabLst/>
            </a:pPr>
            <a:r>
              <a:rPr lang="zh-CN" altLang="en-US" sz="1600" b="1" dirty="0">
                <a:solidFill>
                  <a:srgbClr val="09283F"/>
                </a:solidFill>
                <a:ea typeface="思源黑体 CN Medium" panose="020B0600000000000000" charset="-122"/>
              </a:rPr>
              <a:t>分析员</a:t>
            </a:r>
            <a:endParaRPr sz="1600" b="1" dirty="0">
              <a:solidFill>
                <a:srgbClr val="09283F"/>
              </a:solidFill>
              <a:ea typeface="思源黑体 CN Medium" panose="020B0600000000000000" charset="-122"/>
            </a:endParaRPr>
          </a:p>
        </p:txBody>
      </p:sp>
      <p:sp>
        <p:nvSpPr>
          <p:cNvPr id="31" name="textbox 1290">
            <a:extLst>
              <a:ext uri="{FF2B5EF4-FFF2-40B4-BE49-F238E27FC236}">
                <a16:creationId xmlns:a16="http://schemas.microsoft.com/office/drawing/2014/main" id="{7D4FB84D-4271-4858-9581-1D32CB087761}"/>
              </a:ext>
            </a:extLst>
          </p:cNvPr>
          <p:cNvSpPr/>
          <p:nvPr/>
        </p:nvSpPr>
        <p:spPr>
          <a:xfrm>
            <a:off x="7645181" y="3500092"/>
            <a:ext cx="1463296" cy="217432"/>
          </a:xfrm>
          <a:prstGeom prst="rect">
            <a:avLst/>
          </a:prstGeom>
          <a:noFill/>
          <a:ln w="0" cap="flat">
            <a:noFill/>
            <a:prstDash val="solid"/>
            <a:miter lim="0"/>
          </a:ln>
        </p:spPr>
        <p:txBody>
          <a:bodyPr vert="horz" wrap="square" lIns="0" tIns="0" rIns="0" bIns="0"/>
          <a:lstStyle/>
          <a:p>
            <a:pPr marL="12700" eaLnBrk="0">
              <a:lnSpc>
                <a:spcPct val="77000"/>
              </a:lnSpc>
            </a:pPr>
            <a:r>
              <a:rPr lang="zh-CN" altLang="en-US" sz="1600" b="1" dirty="0">
                <a:solidFill>
                  <a:srgbClr val="09283F"/>
                </a:solidFill>
                <a:ea typeface="思源黑体 CN Medium" panose="020B0600000000000000" charset="-122"/>
              </a:rPr>
              <a:t>风控和研究</a:t>
            </a:r>
          </a:p>
        </p:txBody>
      </p:sp>
    </p:spTree>
    <p:custDataLst>
      <p:tags r:id="rId1"/>
    </p:custDataLst>
    <p:extLst>
      <p:ext uri="{BB962C8B-B14F-4D97-AF65-F5344CB8AC3E}">
        <p14:creationId xmlns:p14="http://schemas.microsoft.com/office/powerpoint/2010/main" val="23283884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标题 14"/>
          <p:cNvSpPr>
            <a:spLocks noGrp="1"/>
          </p:cNvSpPr>
          <p:nvPr>
            <p:ph type="ctrTitle"/>
          </p:nvPr>
        </p:nvSpPr>
        <p:spPr>
          <a:xfrm>
            <a:off x="30707" y="60544"/>
            <a:ext cx="6588025" cy="800735"/>
          </a:xfrm>
        </p:spPr>
        <p:txBody>
          <a:bodyPr vert="horz" lIns="90000" tIns="46800" rIns="90000" bIns="46800" rtlCol="0" anchor="b" anchorCtr="0">
            <a:noAutofit/>
          </a:bodyPr>
          <a:lstStyle/>
          <a:p>
            <a:pPr lvl="0" algn="l">
              <a:spcBef>
                <a:spcPts val="0"/>
              </a:spcBef>
              <a:buClrTx/>
              <a:buSzTx/>
              <a:defRPr/>
            </a:pPr>
            <a:r>
              <a:rPr lang="en-US" altLang="zh-CN"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2025.01.09 </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基金经理交流</a:t>
            </a:r>
            <a:endPar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endParaRPr>
          </a:p>
        </p:txBody>
      </p:sp>
      <p:pic>
        <p:nvPicPr>
          <p:cNvPr id="5" name="图片 4" descr="未标题-1"/>
          <p:cNvPicPr>
            <a:picLocks noChangeAspect="1"/>
          </p:cNvPicPr>
          <p:nvPr/>
        </p:nvPicPr>
        <p:blipFill>
          <a:blip r:embed="rId5"/>
          <a:stretch>
            <a:fillRect/>
          </a:stretch>
        </p:blipFill>
        <p:spPr>
          <a:xfrm>
            <a:off x="11133455" y="295910"/>
            <a:ext cx="771525" cy="187960"/>
          </a:xfrm>
          <a:prstGeom prst="rect">
            <a:avLst/>
          </a:prstGeom>
        </p:spPr>
      </p:pic>
      <p:sp>
        <p:nvSpPr>
          <p:cNvPr id="6" name="Rectangle 9">
            <a:extLst>
              <a:ext uri="{FF2B5EF4-FFF2-40B4-BE49-F238E27FC236}">
                <a16:creationId xmlns:a16="http://schemas.microsoft.com/office/drawing/2014/main" id="{02955F2D-E140-4863-8553-F5A7F99F14B2}"/>
              </a:ext>
            </a:extLst>
          </p:cNvPr>
          <p:cNvSpPr/>
          <p:nvPr/>
        </p:nvSpPr>
        <p:spPr>
          <a:xfrm>
            <a:off x="6035" y="6485890"/>
            <a:ext cx="4637201" cy="412934"/>
          </a:xfrm>
          <a:prstGeom prst="rect">
            <a:avLst/>
          </a:prstGeom>
        </p:spPr>
        <p:txBody>
          <a:bodyPr wrap="square">
            <a:spAutoFit/>
          </a:bodyPr>
          <a:lstStyle/>
          <a:p>
            <a:pPr>
              <a:spcBef>
                <a:spcPts val="81"/>
              </a:spcBef>
            </a:pPr>
            <a:r>
              <a:rPr lang="zh-CN" altLang="en-US" sz="1000" dirty="0">
                <a:ea typeface="思源黑体 CN Regular" panose="020B0500000000000000" pitchFamily="34" charset="-122"/>
              </a:rPr>
              <a:t>信息来源： </a:t>
            </a:r>
            <a:r>
              <a:rPr lang="en-US" altLang="zh-CN" sz="1000" dirty="0">
                <a:ea typeface="思源黑体 CN Regular" panose="020B0500000000000000" pitchFamily="34" charset="-122"/>
              </a:rPr>
              <a:t>Point72</a:t>
            </a:r>
            <a:r>
              <a:rPr lang="zh-CN" altLang="en-US" sz="1000" dirty="0">
                <a:ea typeface="思源黑体 CN Regular" panose="020B0500000000000000" pitchFamily="34" charset="-122"/>
              </a:rPr>
              <a:t>，截至</a:t>
            </a:r>
            <a:r>
              <a:rPr lang="en-US" altLang="zh-CN" sz="1000" dirty="0">
                <a:ea typeface="思源黑体 CN Regular" panose="020B0500000000000000" pitchFamily="34" charset="-122"/>
              </a:rPr>
              <a:t>2024</a:t>
            </a:r>
            <a:r>
              <a:rPr lang="zh-CN" altLang="en-US" sz="1000" dirty="0">
                <a:ea typeface="思源黑体 CN Regular" panose="020B0500000000000000" pitchFamily="34" charset="-122"/>
              </a:rPr>
              <a:t>年</a:t>
            </a:r>
            <a:r>
              <a:rPr lang="en-US" altLang="zh-CN" sz="1000" dirty="0">
                <a:ea typeface="思源黑体 CN Regular" panose="020B0500000000000000" pitchFamily="34" charset="-122"/>
              </a:rPr>
              <a:t>7</a:t>
            </a:r>
            <a:r>
              <a:rPr lang="zh-CN" altLang="en-US" sz="1000" dirty="0">
                <a:ea typeface="思源黑体 CN Regular" panose="020B0500000000000000" pitchFamily="34" charset="-122"/>
              </a:rPr>
              <a:t>月</a:t>
            </a:r>
            <a:r>
              <a:rPr lang="en-US" altLang="zh-CN" sz="1000" dirty="0">
                <a:ea typeface="思源黑体 CN Regular" panose="020B0500000000000000" pitchFamily="34" charset="-122"/>
              </a:rPr>
              <a:t>1</a:t>
            </a:r>
            <a:r>
              <a:rPr lang="zh-CN" altLang="en-US" sz="1000" dirty="0">
                <a:ea typeface="思源黑体 CN Regular" panose="020B0500000000000000" pitchFamily="34" charset="-122"/>
              </a:rPr>
              <a:t>日</a:t>
            </a:r>
            <a:endParaRPr lang="en-US" altLang="zh-CN" sz="1000" dirty="0">
              <a:ea typeface="思源黑体 CN Regular" panose="020B0500000000000000" pitchFamily="34" charset="-122"/>
            </a:endParaRPr>
          </a:p>
          <a:p>
            <a:pPr>
              <a:spcBef>
                <a:spcPts val="81"/>
              </a:spcBef>
            </a:pPr>
            <a:r>
              <a:rPr lang="zh-CN" altLang="en-US" sz="1000" dirty="0">
                <a:ea typeface="思源黑体 CN Regular" panose="020B0500000000000000" pitchFamily="34" charset="-122"/>
              </a:rPr>
              <a:t>备注：</a:t>
            </a:r>
            <a:r>
              <a:rPr lang="en-US" altLang="zh-CN" sz="1000" dirty="0">
                <a:ea typeface="思源黑体 CN Regular" panose="020B0500000000000000" pitchFamily="34" charset="-122"/>
              </a:rPr>
              <a:t>1</a:t>
            </a:r>
            <a:r>
              <a:rPr lang="zh-CN" altLang="en-US" sz="1000" dirty="0">
                <a:ea typeface="思源黑体 CN Regular" panose="020B0500000000000000" pitchFamily="34" charset="-122"/>
              </a:rPr>
              <a:t>、管理规模为</a:t>
            </a:r>
            <a:r>
              <a:rPr lang="en-US" altLang="zh-CN" sz="1000" dirty="0">
                <a:ea typeface="思源黑体 CN Regular" panose="020B0500000000000000" pitchFamily="34" charset="-122"/>
              </a:rPr>
              <a:t>GMV</a:t>
            </a:r>
            <a:r>
              <a:rPr lang="zh-CN" altLang="en-US" sz="1000" dirty="0">
                <a:ea typeface="思源黑体 CN Regular" panose="020B0500000000000000" pitchFamily="34" charset="-122"/>
              </a:rPr>
              <a:t>口径。 </a:t>
            </a:r>
          </a:p>
        </p:txBody>
      </p:sp>
      <p:pic>
        <p:nvPicPr>
          <p:cNvPr id="7" name="picture 1194">
            <a:extLst>
              <a:ext uri="{FF2B5EF4-FFF2-40B4-BE49-F238E27FC236}">
                <a16:creationId xmlns:a16="http://schemas.microsoft.com/office/drawing/2014/main" id="{198342CD-F8C5-416D-9E6C-4CC5FE9198E8}"/>
              </a:ext>
            </a:extLst>
          </p:cNvPr>
          <p:cNvPicPr>
            <a:picLocks noChangeAspect="1"/>
          </p:cNvPicPr>
          <p:nvPr/>
        </p:nvPicPr>
        <p:blipFill>
          <a:blip r:embed="rId6"/>
          <a:stretch>
            <a:fillRect/>
          </a:stretch>
        </p:blipFill>
        <p:spPr>
          <a:xfrm rot="21600000">
            <a:off x="1134368" y="1478621"/>
            <a:ext cx="1383002" cy="1390625"/>
          </a:xfrm>
          <a:prstGeom prst="rect">
            <a:avLst/>
          </a:prstGeom>
        </p:spPr>
      </p:pic>
      <p:sp>
        <p:nvSpPr>
          <p:cNvPr id="9" name="矩形 8">
            <a:extLst>
              <a:ext uri="{FF2B5EF4-FFF2-40B4-BE49-F238E27FC236}">
                <a16:creationId xmlns:a16="http://schemas.microsoft.com/office/drawing/2014/main" id="{85B6E295-C188-4EF3-A29A-7094950FB6CC}"/>
              </a:ext>
            </a:extLst>
          </p:cNvPr>
          <p:cNvSpPr/>
          <p:nvPr/>
        </p:nvSpPr>
        <p:spPr>
          <a:xfrm>
            <a:off x="2517371" y="2096851"/>
            <a:ext cx="2104469" cy="700576"/>
          </a:xfrm>
          <a:prstGeom prst="rect">
            <a:avLst/>
          </a:prstGeom>
        </p:spPr>
        <p:txBody>
          <a:bodyPr wrap="square">
            <a:spAutoFit/>
          </a:bodyPr>
          <a:lstStyle/>
          <a:p>
            <a:pPr marL="19050" algn="ctr">
              <a:lnSpc>
                <a:spcPct val="150000"/>
              </a:lnSpc>
            </a:pPr>
            <a:r>
              <a:rPr lang="en-US" altLang="zh-CN" sz="1400" b="1" kern="0" spc="-60" dirty="0">
                <a:solidFill>
                  <a:srgbClr val="09283F">
                    <a:alpha val="100000"/>
                  </a:srgbClr>
                </a:solidFill>
                <a:latin typeface="微软雅黑" panose="020B0503020204020204" pitchFamily="34" charset="-122"/>
                <a:ea typeface="微软雅黑" panose="020B0503020204020204" pitchFamily="34" charset="-122"/>
                <a:cs typeface="Franklin Gothic Demi Cond"/>
              </a:rPr>
              <a:t>Eric Sanchez</a:t>
            </a:r>
          </a:p>
          <a:p>
            <a:pPr marL="19050" algn="ctr">
              <a:lnSpc>
                <a:spcPct val="150000"/>
              </a:lnSpc>
            </a:pPr>
            <a:r>
              <a:rPr lang="en-US" altLang="zh-CN" sz="1400" b="1" kern="0" spc="-60" dirty="0" err="1">
                <a:solidFill>
                  <a:srgbClr val="09283F">
                    <a:alpha val="100000"/>
                  </a:srgbClr>
                </a:solidFill>
                <a:latin typeface="微软雅黑" panose="020B0503020204020204" pitchFamily="34" charset="-122"/>
                <a:ea typeface="微软雅黑" panose="020B0503020204020204" pitchFamily="34" charset="-122"/>
                <a:cs typeface="Franklin Gothic Demi Cond"/>
              </a:rPr>
              <a:t>Turion</a:t>
            </a:r>
            <a:r>
              <a:rPr lang="en-US" altLang="zh-CN" sz="1400" b="1" kern="0" spc="-60" dirty="0">
                <a:solidFill>
                  <a:srgbClr val="09283F">
                    <a:alpha val="100000"/>
                  </a:srgbClr>
                </a:solidFill>
                <a:latin typeface="微软雅黑" panose="020B0503020204020204" pitchFamily="34" charset="-122"/>
                <a:ea typeface="微软雅黑" panose="020B0503020204020204" pitchFamily="34" charset="-122"/>
                <a:cs typeface="Franklin Gothic Demi Cond"/>
              </a:rPr>
              <a:t> </a:t>
            </a:r>
            <a:r>
              <a:rPr lang="zh-CN" altLang="en-US" sz="1400" b="1" kern="0" spc="-60" dirty="0">
                <a:solidFill>
                  <a:srgbClr val="09283F">
                    <a:alpha val="100000"/>
                  </a:srgbClr>
                </a:solidFill>
                <a:latin typeface="微软雅黑" panose="020B0503020204020204" pitchFamily="34" charset="-122"/>
                <a:ea typeface="微软雅黑" panose="020B0503020204020204" pitchFamily="34" charset="-122"/>
                <a:cs typeface="Franklin Gothic Demi Cond"/>
              </a:rPr>
              <a:t>基金投资经理</a:t>
            </a:r>
            <a:endParaRPr lang="zh-CN" altLang="en-US" sz="1400" b="1" dirty="0">
              <a:latin typeface="微软雅黑" panose="020B0503020204020204" pitchFamily="34" charset="-122"/>
              <a:ea typeface="微软雅黑" panose="020B0503020204020204" pitchFamily="34" charset="-122"/>
              <a:cs typeface="Franklin Gothic Demi Cond"/>
            </a:endParaRPr>
          </a:p>
        </p:txBody>
      </p:sp>
      <p:pic>
        <p:nvPicPr>
          <p:cNvPr id="2" name="图片 1"/>
          <p:cNvPicPr>
            <a:picLocks noChangeAspect="1"/>
          </p:cNvPicPr>
          <p:nvPr/>
        </p:nvPicPr>
        <p:blipFill>
          <a:blip r:embed="rId7"/>
          <a:stretch>
            <a:fillRect/>
          </a:stretch>
        </p:blipFill>
        <p:spPr>
          <a:xfrm>
            <a:off x="6150761" y="1478620"/>
            <a:ext cx="6041239" cy="4746688"/>
          </a:xfrm>
          <a:prstGeom prst="rect">
            <a:avLst/>
          </a:prstGeom>
        </p:spPr>
      </p:pic>
      <p:sp>
        <p:nvSpPr>
          <p:cNvPr id="32" name="矩形 31"/>
          <p:cNvSpPr/>
          <p:nvPr/>
        </p:nvSpPr>
        <p:spPr>
          <a:xfrm>
            <a:off x="554181" y="3056609"/>
            <a:ext cx="5283201" cy="3170099"/>
          </a:xfrm>
          <a:prstGeom prst="rect">
            <a:avLst/>
          </a:prstGeom>
          <a:solidFill>
            <a:schemeClr val="bg1">
              <a:lumMod val="95000"/>
            </a:schemeClr>
          </a:solidFill>
        </p:spPr>
        <p:txBody>
          <a:bodyPr wrap="square">
            <a:spAutoFit/>
          </a:bodyPr>
          <a:lstStyle/>
          <a:p>
            <a:pPr>
              <a:lnSpc>
                <a:spcPct val="200000"/>
              </a:lnSpc>
            </a:pPr>
            <a:r>
              <a:rPr lang="zh-CN" altLang="en-US" sz="1400" b="1" dirty="0" smtClean="0">
                <a:latin typeface="微软雅黑" panose="020B0503020204020204" pitchFamily="34" charset="-122"/>
                <a:ea typeface="微软雅黑" panose="020B0503020204020204" pitchFamily="34" charset="-122"/>
                <a:cs typeface="Franklin Gothic Medium Cond"/>
              </a:rPr>
              <a:t>选股理念：</a:t>
            </a:r>
            <a:endParaRPr lang="en-US" altLang="zh-CN" sz="1400" b="1" dirty="0" smtClean="0">
              <a:latin typeface="微软雅黑" panose="020B0503020204020204" pitchFamily="34" charset="-122"/>
              <a:ea typeface="微软雅黑" panose="020B0503020204020204" pitchFamily="34" charset="-122"/>
              <a:cs typeface="Franklin Gothic Medium Cond"/>
            </a:endParaRPr>
          </a:p>
          <a:p>
            <a:pPr marL="285750" indent="-285750">
              <a:lnSpc>
                <a:spcPct val="200000"/>
              </a:lnSpc>
              <a:buFont typeface="Arial" panose="020B0604020202020204" pitchFamily="34" charset="0"/>
              <a:buChar char="•"/>
            </a:pPr>
            <a:r>
              <a:rPr lang="zh-CN" altLang="en-US" sz="1200" dirty="0" smtClean="0">
                <a:latin typeface="微软雅黑" panose="020B0503020204020204" pitchFamily="34" charset="-122"/>
                <a:ea typeface="微软雅黑" panose="020B0503020204020204" pitchFamily="34" charset="-122"/>
                <a:cs typeface="Franklin Gothic Medium Cond"/>
              </a:rPr>
              <a:t>投资</a:t>
            </a:r>
            <a:r>
              <a:rPr lang="zh-CN" altLang="en-US" sz="1200" dirty="0">
                <a:latin typeface="微软雅黑" panose="020B0503020204020204" pitchFamily="34" charset="-122"/>
                <a:ea typeface="微软雅黑" panose="020B0503020204020204" pitchFamily="34" charset="-122"/>
                <a:cs typeface="Franklin Gothic Medium Cond"/>
              </a:rPr>
              <a:t>经理</a:t>
            </a:r>
            <a:r>
              <a:rPr lang="zh-CN" altLang="en-US" sz="1200" dirty="0" smtClean="0">
                <a:latin typeface="微软雅黑" panose="020B0503020204020204" pitchFamily="34" charset="-122"/>
                <a:ea typeface="微软雅黑" panose="020B0503020204020204" pitchFamily="34" charset="-122"/>
                <a:cs typeface="Franklin Gothic Medium Cond"/>
              </a:rPr>
              <a:t>认为，企业</a:t>
            </a:r>
            <a:r>
              <a:rPr lang="zh-CN" altLang="en-US" sz="1200" dirty="0">
                <a:latin typeface="微软雅黑" panose="020B0503020204020204" pitchFamily="34" charset="-122"/>
                <a:ea typeface="微软雅黑" panose="020B0503020204020204" pitchFamily="34" charset="-122"/>
                <a:cs typeface="Franklin Gothic Medium Cond"/>
              </a:rPr>
              <a:t>的盈利主要受其知识产权、商业模式和人力资本驱动，仅仅进行传统的基本研究和管理尽职调查在投资科技和科技驱动业务中并不是充分的，</a:t>
            </a:r>
            <a:r>
              <a:rPr lang="zh-CN" altLang="en-US" sz="1200" b="1" dirty="0">
                <a:solidFill>
                  <a:srgbClr val="C00000"/>
                </a:solidFill>
                <a:latin typeface="微软雅黑" panose="020B0503020204020204" pitchFamily="34" charset="-122"/>
                <a:ea typeface="微软雅黑" panose="020B0503020204020204" pitchFamily="34" charset="-122"/>
                <a:cs typeface="Franklin Gothic Medium Cond"/>
              </a:rPr>
              <a:t>对企业实际技术和知识产权的研究和尽职调查是才是更加必要的</a:t>
            </a:r>
            <a:r>
              <a:rPr lang="zh-CN" altLang="en-US" sz="1200" dirty="0" smtClean="0">
                <a:solidFill>
                  <a:srgbClr val="C00000"/>
                </a:solidFill>
                <a:latin typeface="微软雅黑" panose="020B0503020204020204" pitchFamily="34" charset="-122"/>
                <a:ea typeface="微软雅黑" panose="020B0503020204020204" pitchFamily="34" charset="-122"/>
                <a:cs typeface="Franklin Gothic Medium Cond"/>
              </a:rPr>
              <a:t>。</a:t>
            </a:r>
            <a:endParaRPr lang="en-US" altLang="zh-CN" sz="1200" dirty="0" smtClean="0">
              <a:solidFill>
                <a:srgbClr val="C00000"/>
              </a:solidFill>
              <a:latin typeface="微软雅黑" panose="020B0503020204020204" pitchFamily="34" charset="-122"/>
              <a:ea typeface="微软雅黑" panose="020B0503020204020204" pitchFamily="34" charset="-122"/>
              <a:cs typeface="Franklin Gothic Medium Cond"/>
            </a:endParaRPr>
          </a:p>
          <a:p>
            <a:pPr marL="285750" indent="-285750">
              <a:lnSpc>
                <a:spcPct val="200000"/>
              </a:lnSpc>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Franklin Gothic Medium Cond"/>
              </a:rPr>
              <a:t>投资经理相信，</a:t>
            </a:r>
            <a:r>
              <a:rPr lang="zh-CN" altLang="en-US" sz="1200" b="1" dirty="0" smtClean="0">
                <a:solidFill>
                  <a:srgbClr val="C00000"/>
                </a:solidFill>
                <a:latin typeface="微软雅黑" panose="020B0503020204020204" pitchFamily="34" charset="-122"/>
                <a:ea typeface="微软雅黑" panose="020B0503020204020204" pitchFamily="34" charset="-122"/>
                <a:cs typeface="Franklin Gothic Medium Cond"/>
              </a:rPr>
              <a:t>通过</a:t>
            </a:r>
            <a:r>
              <a:rPr lang="zh-CN" altLang="en-US" sz="1200" b="1" dirty="0">
                <a:solidFill>
                  <a:srgbClr val="C00000"/>
                </a:solidFill>
                <a:latin typeface="微软雅黑" panose="020B0503020204020204" pitchFamily="34" charset="-122"/>
                <a:ea typeface="微软雅黑" panose="020B0503020204020204" pitchFamily="34" charset="-122"/>
                <a:cs typeface="Franklin Gothic Medium Cond"/>
              </a:rPr>
              <a:t>对</a:t>
            </a:r>
            <a:r>
              <a:rPr lang="zh-CN" altLang="en-US" sz="1200" b="1" dirty="0" smtClean="0">
                <a:solidFill>
                  <a:srgbClr val="C00000"/>
                </a:solidFill>
                <a:latin typeface="微软雅黑" panose="020B0503020204020204" pitchFamily="34" charset="-122"/>
                <a:ea typeface="微软雅黑" panose="020B0503020204020204" pitchFamily="34" charset="-122"/>
                <a:cs typeface="Franklin Gothic Medium Cond"/>
              </a:rPr>
              <a:t>快速</a:t>
            </a:r>
            <a:r>
              <a:rPr lang="zh-CN" altLang="en-US" sz="1200" b="1" dirty="0">
                <a:solidFill>
                  <a:srgbClr val="C00000"/>
                </a:solidFill>
                <a:latin typeface="微软雅黑" panose="020B0503020204020204" pitchFamily="34" charset="-122"/>
                <a:ea typeface="微软雅黑" panose="020B0503020204020204" pitchFamily="34" charset="-122"/>
                <a:cs typeface="Franklin Gothic Medium Cond"/>
              </a:rPr>
              <a:t>更迭的行业进行深入的基本面分析，可以获取超额回报</a:t>
            </a:r>
            <a:r>
              <a:rPr lang="zh-CN" altLang="en-US" sz="1200" b="1" dirty="0">
                <a:latin typeface="微软雅黑" panose="020B0503020204020204" pitchFamily="34" charset="-122"/>
                <a:ea typeface="微软雅黑" panose="020B0503020204020204" pitchFamily="34" charset="-122"/>
                <a:cs typeface="Franklin Gothic Medium Cond"/>
              </a:rPr>
              <a:t>。</a:t>
            </a:r>
            <a:r>
              <a:rPr lang="zh-CN" altLang="en-US" sz="1200" dirty="0">
                <a:latin typeface="微软雅黑" panose="020B0503020204020204" pitchFamily="34" charset="-122"/>
                <a:ea typeface="微软雅黑" panose="020B0503020204020204" pitchFamily="34" charset="-122"/>
                <a:cs typeface="Franklin Gothic Medium Cond"/>
              </a:rPr>
              <a:t>识别并投资于具有独特性、长期性优势，并有多年财务边际改善的企业</a:t>
            </a:r>
            <a:r>
              <a:rPr lang="zh-CN" altLang="en-US" sz="1200" dirty="0" smtClean="0">
                <a:latin typeface="微软雅黑" panose="020B0503020204020204" pitchFamily="34" charset="-122"/>
                <a:ea typeface="微软雅黑" panose="020B0503020204020204" pitchFamily="34" charset="-122"/>
                <a:cs typeface="Franklin Gothic Medium Cond"/>
              </a:rPr>
              <a:t>。</a:t>
            </a:r>
            <a:endParaRPr lang="en-US" altLang="zh-CN" sz="1200" dirty="0">
              <a:latin typeface="微软雅黑" panose="020B0503020204020204" pitchFamily="34" charset="-122"/>
              <a:ea typeface="微软雅黑" panose="020B0503020204020204" pitchFamily="34" charset="-122"/>
              <a:cs typeface="Franklin Gothic Medium Cond"/>
            </a:endParaRPr>
          </a:p>
        </p:txBody>
      </p:sp>
    </p:spTree>
    <p:custDataLst>
      <p:tags r:id="rId1"/>
    </p:custDataLst>
    <p:extLst>
      <p:ext uri="{BB962C8B-B14F-4D97-AF65-F5344CB8AC3E}">
        <p14:creationId xmlns:p14="http://schemas.microsoft.com/office/powerpoint/2010/main" val="32218016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nvPr>
        </p:nvGraphicFramePr>
        <p:xfrm>
          <a:off x="8185877" y="947878"/>
          <a:ext cx="3390900" cy="3786679"/>
        </p:xfrm>
        <a:graphic>
          <a:graphicData uri="http://schemas.openxmlformats.org/drawingml/2006/table">
            <a:tbl>
              <a:tblPr firstRow="1">
                <a:tableStyleId>{9D7B26C5-4107-4FEC-AEDC-1716B250A1EF}</a:tableStyleId>
              </a:tblPr>
              <a:tblGrid>
                <a:gridCol w="1143000">
                  <a:extLst>
                    <a:ext uri="{9D8B030D-6E8A-4147-A177-3AD203B41FA5}">
                      <a16:colId xmlns:a16="http://schemas.microsoft.com/office/drawing/2014/main" val="4130805317"/>
                    </a:ext>
                  </a:extLst>
                </a:gridCol>
                <a:gridCol w="876300">
                  <a:extLst>
                    <a:ext uri="{9D8B030D-6E8A-4147-A177-3AD203B41FA5}">
                      <a16:colId xmlns:a16="http://schemas.microsoft.com/office/drawing/2014/main" val="2888952976"/>
                    </a:ext>
                  </a:extLst>
                </a:gridCol>
                <a:gridCol w="685800">
                  <a:extLst>
                    <a:ext uri="{9D8B030D-6E8A-4147-A177-3AD203B41FA5}">
                      <a16:colId xmlns:a16="http://schemas.microsoft.com/office/drawing/2014/main" val="3394859714"/>
                    </a:ext>
                  </a:extLst>
                </a:gridCol>
                <a:gridCol w="685800">
                  <a:extLst>
                    <a:ext uri="{9D8B030D-6E8A-4147-A177-3AD203B41FA5}">
                      <a16:colId xmlns:a16="http://schemas.microsoft.com/office/drawing/2014/main" val="2951163453"/>
                    </a:ext>
                  </a:extLst>
                </a:gridCol>
              </a:tblGrid>
              <a:tr h="291283">
                <a:tc>
                  <a:txBody>
                    <a:bodyPr/>
                    <a:lstStyle/>
                    <a:p>
                      <a:pPr algn="ctr" fontAlgn="ctr"/>
                      <a:r>
                        <a:rPr lang="zh-CN" altLang="en-US" sz="1100" u="none" strike="noStrike" dirty="0">
                          <a:effectLst/>
                        </a:rPr>
                        <a:t>　</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en-US" sz="1100" u="none" strike="noStrike" dirty="0">
                          <a:effectLst/>
                        </a:rPr>
                        <a:t>Eric </a:t>
                      </a:r>
                      <a:r>
                        <a:rPr lang="zh-CN" altLang="en-US" sz="1100" u="none" strike="noStrike" dirty="0">
                          <a:effectLst/>
                        </a:rPr>
                        <a:t>实盘业绩</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zh-CN" altLang="en-US" sz="1100" u="none" strike="noStrike">
                          <a:effectLst/>
                        </a:rPr>
                        <a:t>纳斯达克</a:t>
                      </a:r>
                      <a:endParaRPr lang="zh-CN"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zh-CN" altLang="en-US" sz="1100" u="none" strike="noStrike">
                          <a:effectLst/>
                        </a:rPr>
                        <a:t>标普</a:t>
                      </a:r>
                      <a:r>
                        <a:rPr lang="en-US" altLang="zh-CN" sz="1100" u="none" strike="noStrike">
                          <a:effectLst/>
                        </a:rPr>
                        <a:t>500</a:t>
                      </a:r>
                      <a:endParaRPr lang="en-US" altLang="zh-CN" sz="1100" b="1"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283763862"/>
                  </a:ext>
                </a:extLst>
              </a:tr>
              <a:tr h="291283">
                <a:tc>
                  <a:txBody>
                    <a:bodyPr/>
                    <a:lstStyle/>
                    <a:p>
                      <a:pPr algn="ctr" fontAlgn="b"/>
                      <a:r>
                        <a:rPr lang="zh-CN" altLang="en-US" sz="1100" b="1" u="none" strike="noStrike" dirty="0">
                          <a:effectLst/>
                        </a:rPr>
                        <a:t>成立日期</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2020/7/31</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9525" marR="9525" marT="9525" marB="0" anchor="ctr"/>
                </a:tc>
                <a:tc>
                  <a:txBody>
                    <a:bodyPr/>
                    <a:lstStyle/>
                    <a:p>
                      <a:pPr algn="l" fontAlgn="ctr"/>
                      <a:endParaRPr lang="zh-CN" altLang="en-US" sz="14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122265079"/>
                  </a:ext>
                </a:extLst>
              </a:tr>
              <a:tr h="291283">
                <a:tc>
                  <a:txBody>
                    <a:bodyPr/>
                    <a:lstStyle/>
                    <a:p>
                      <a:pPr algn="ctr" fontAlgn="b"/>
                      <a:r>
                        <a:rPr lang="zh-CN" altLang="en-US" sz="1100" b="1" u="none" strike="noStrike" dirty="0">
                          <a:effectLst/>
                        </a:rPr>
                        <a:t>最新净值</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510.52 </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169.28 </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176.16 </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433642057"/>
                  </a:ext>
                </a:extLst>
              </a:tr>
              <a:tr h="291283">
                <a:tc>
                  <a:txBody>
                    <a:bodyPr/>
                    <a:lstStyle/>
                    <a:p>
                      <a:pPr algn="ctr" fontAlgn="b"/>
                      <a:r>
                        <a:rPr lang="zh-CN" altLang="en-US" sz="1100" b="1" u="none" strike="noStrike" dirty="0">
                          <a:effectLst/>
                        </a:rPr>
                        <a:t>成立以来收益率</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410.5%</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69.3%</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76.2%</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4287326534"/>
                  </a:ext>
                </a:extLst>
              </a:tr>
              <a:tr h="291283">
                <a:tc>
                  <a:txBody>
                    <a:bodyPr/>
                    <a:lstStyle/>
                    <a:p>
                      <a:pPr algn="ctr" fontAlgn="b"/>
                      <a:r>
                        <a:rPr lang="zh-CN" altLang="en-US" sz="1100" b="1" u="none" strike="noStrike" dirty="0">
                          <a:effectLst/>
                        </a:rPr>
                        <a:t>年化收益率</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b="1" u="none" strike="noStrike" dirty="0">
                          <a:solidFill>
                            <a:srgbClr val="C00000"/>
                          </a:solidFill>
                          <a:effectLst/>
                        </a:rPr>
                        <a:t>47.8%</a:t>
                      </a:r>
                      <a:endParaRPr lang="en-US" altLang="zh-CN" sz="1100" b="1" i="0" u="none" strike="noStrike" dirty="0">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b="1" u="none" strike="noStrike" dirty="0">
                          <a:solidFill>
                            <a:srgbClr val="C00000"/>
                          </a:solidFill>
                          <a:effectLst/>
                        </a:rPr>
                        <a:t>13.5%</a:t>
                      </a:r>
                      <a:endParaRPr lang="en-US" altLang="zh-CN" sz="1100" b="1" i="0" u="none" strike="noStrike" dirty="0">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b="1" u="none" strike="noStrike" dirty="0">
                          <a:solidFill>
                            <a:srgbClr val="C00000"/>
                          </a:solidFill>
                          <a:effectLst/>
                        </a:rPr>
                        <a:t>14.5%</a:t>
                      </a:r>
                      <a:endParaRPr lang="en-US" altLang="zh-CN" sz="1100" b="1" i="0" u="none" strike="noStrike" dirty="0">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1788652950"/>
                  </a:ext>
                </a:extLst>
              </a:tr>
              <a:tr h="291283">
                <a:tc>
                  <a:txBody>
                    <a:bodyPr/>
                    <a:lstStyle/>
                    <a:p>
                      <a:pPr algn="ctr" fontAlgn="b"/>
                      <a:r>
                        <a:rPr lang="zh-CN" altLang="en-US" sz="1100" b="1" u="none" strike="noStrike" dirty="0">
                          <a:effectLst/>
                        </a:rPr>
                        <a:t>最大回撤（月度）</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u="none" strike="noStrike" dirty="0">
                          <a:effectLst/>
                        </a:rPr>
                        <a:t>-10.9%</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u="none" strike="noStrike" dirty="0">
                          <a:effectLst/>
                        </a:rPr>
                        <a:t>-33.1%</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100" u="none" strike="noStrike" dirty="0">
                          <a:effectLst/>
                        </a:rPr>
                        <a:t>-24.8%</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2039226522"/>
                  </a:ext>
                </a:extLst>
              </a:tr>
              <a:tr h="291283">
                <a:tc>
                  <a:txBody>
                    <a:bodyPr/>
                    <a:lstStyle/>
                    <a:p>
                      <a:pPr algn="ctr" fontAlgn="b"/>
                      <a:r>
                        <a:rPr lang="zh-CN" altLang="en-US" sz="1100" b="1" u="none" strike="noStrike" dirty="0">
                          <a:effectLst/>
                        </a:rPr>
                        <a:t>波动率</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22.6%</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20.4%</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16.6%</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555826924"/>
                  </a:ext>
                </a:extLst>
              </a:tr>
              <a:tr h="291283">
                <a:tc>
                  <a:txBody>
                    <a:bodyPr/>
                    <a:lstStyle/>
                    <a:p>
                      <a:pPr algn="ctr" fontAlgn="b"/>
                      <a:r>
                        <a:rPr lang="zh-CN" altLang="en-US" sz="1100" b="1" u="none" strike="noStrike" dirty="0">
                          <a:effectLst/>
                        </a:rPr>
                        <a:t>夏普比例</a:t>
                      </a:r>
                      <a:endParaRPr lang="zh-CN" altLang="en-US"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2.12 </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0.66 </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0.88 </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407124520"/>
                  </a:ext>
                </a:extLst>
              </a:tr>
              <a:tr h="291283">
                <a:tc>
                  <a:txBody>
                    <a:bodyPr/>
                    <a:lstStyle/>
                    <a:p>
                      <a:pPr algn="ctr" fontAlgn="b"/>
                      <a:r>
                        <a:rPr lang="en-US" altLang="zh-CN" sz="1100" b="1" u="none" strike="noStrike" dirty="0" smtClean="0">
                          <a:effectLst/>
                        </a:rPr>
                        <a:t>2020*</a:t>
                      </a:r>
                      <a:endParaRPr lang="en-US" alt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smtClean="0">
                          <a:effectLst/>
                        </a:rPr>
                        <a:t>15.6%</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19.9%</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a:effectLst/>
                        </a:rPr>
                        <a:t>14.8%</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43670036"/>
                  </a:ext>
                </a:extLst>
              </a:tr>
              <a:tr h="291283">
                <a:tc>
                  <a:txBody>
                    <a:bodyPr/>
                    <a:lstStyle/>
                    <a:p>
                      <a:pPr algn="ctr" fontAlgn="b"/>
                      <a:r>
                        <a:rPr lang="en-US" altLang="zh-CN" sz="1100" b="1" u="none" strike="noStrike" dirty="0">
                          <a:effectLst/>
                        </a:rPr>
                        <a:t>2021</a:t>
                      </a:r>
                      <a:endParaRPr lang="en-US" alt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smtClean="0">
                          <a:effectLst/>
                        </a:rPr>
                        <a:t>82.1%</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21.4%</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26.9%</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932211959"/>
                  </a:ext>
                </a:extLst>
              </a:tr>
              <a:tr h="291283">
                <a:tc>
                  <a:txBody>
                    <a:bodyPr/>
                    <a:lstStyle/>
                    <a:p>
                      <a:pPr algn="ctr" fontAlgn="b"/>
                      <a:r>
                        <a:rPr lang="en-US" altLang="zh-CN" sz="1100" b="1" u="none" strike="noStrike" dirty="0">
                          <a:effectLst/>
                        </a:rPr>
                        <a:t>2022</a:t>
                      </a:r>
                      <a:endParaRPr lang="en-US" alt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smtClean="0">
                          <a:effectLst/>
                        </a:rPr>
                        <a:t>22.8%</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-33.1%</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-19.4%</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790280112"/>
                  </a:ext>
                </a:extLst>
              </a:tr>
              <a:tr h="291283">
                <a:tc>
                  <a:txBody>
                    <a:bodyPr/>
                    <a:lstStyle/>
                    <a:p>
                      <a:pPr algn="ctr" fontAlgn="b"/>
                      <a:r>
                        <a:rPr lang="en-US" altLang="zh-CN" sz="1100" b="1" u="none" strike="noStrike" dirty="0">
                          <a:effectLst/>
                        </a:rPr>
                        <a:t>2023</a:t>
                      </a:r>
                      <a:endParaRPr lang="en-US" alt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32.4%</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43.4%</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24.2%</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211508320"/>
                  </a:ext>
                </a:extLst>
              </a:tr>
              <a:tr h="291283">
                <a:tc>
                  <a:txBody>
                    <a:bodyPr/>
                    <a:lstStyle/>
                    <a:p>
                      <a:pPr algn="ctr" fontAlgn="b"/>
                      <a:r>
                        <a:rPr lang="en-US" altLang="zh-CN" sz="1100" b="1" u="none" strike="noStrike" dirty="0">
                          <a:effectLst/>
                        </a:rPr>
                        <a:t>2024/9/30</a:t>
                      </a:r>
                      <a:endParaRPr lang="en-US" altLang="zh-CN" sz="11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smtClean="0">
                          <a:effectLst/>
                        </a:rPr>
                        <a:t>49.1%</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21.2%</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100" u="none" strike="noStrike" dirty="0">
                          <a:effectLst/>
                        </a:rPr>
                        <a:t>20.8%</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4217165277"/>
                  </a:ext>
                </a:extLst>
              </a:tr>
            </a:tbl>
          </a:graphicData>
        </a:graphic>
      </p:graphicFrame>
      <p:sp>
        <p:nvSpPr>
          <p:cNvPr id="4" name="Rectangle 9">
            <a:extLst>
              <a:ext uri="{FF2B5EF4-FFF2-40B4-BE49-F238E27FC236}">
                <a16:creationId xmlns:a16="http://schemas.microsoft.com/office/drawing/2014/main" id="{02955F2D-E140-4863-8553-F5A7F99F14B2}"/>
              </a:ext>
            </a:extLst>
          </p:cNvPr>
          <p:cNvSpPr/>
          <p:nvPr/>
        </p:nvSpPr>
        <p:spPr>
          <a:xfrm>
            <a:off x="178349" y="6642556"/>
            <a:ext cx="11898945" cy="215444"/>
          </a:xfrm>
          <a:prstGeom prst="rect">
            <a:avLst/>
          </a:prstGeom>
        </p:spPr>
        <p:txBody>
          <a:bodyPr wrap="square">
            <a:spAutoFit/>
          </a:bodyPr>
          <a:lstStyle/>
          <a:p>
            <a:pPr>
              <a:spcBef>
                <a:spcPts val="81"/>
              </a:spcBef>
            </a:pPr>
            <a:r>
              <a:rPr lang="zh-CN" altLang="en-US" sz="800" dirty="0">
                <a:ea typeface="思源黑体 CN Regular" panose="020B0500000000000000" pitchFamily="34" charset="-122"/>
              </a:rPr>
              <a:t>资料来源</a:t>
            </a:r>
            <a:r>
              <a:rPr lang="zh-CN" altLang="en-US" sz="800" dirty="0" smtClean="0">
                <a:ea typeface="思源黑体 CN Regular" panose="020B0500000000000000" pitchFamily="34" charset="-122"/>
              </a:rPr>
              <a:t>：、</a:t>
            </a:r>
            <a:r>
              <a:rPr lang="en-US" altLang="zh-CN" sz="800" dirty="0" smtClean="0">
                <a:ea typeface="思源黑体 CN Regular" panose="020B0500000000000000" pitchFamily="34" charset="-122"/>
              </a:rPr>
              <a:t>Point72</a:t>
            </a:r>
            <a:r>
              <a:rPr lang="zh-CN" altLang="en-US" sz="800" dirty="0">
                <a:ea typeface="思源黑体 CN Regular" panose="020B0500000000000000" pitchFamily="34" charset="-122"/>
              </a:rPr>
              <a:t>，截至</a:t>
            </a:r>
            <a:r>
              <a:rPr lang="en-US" altLang="zh-CN" sz="800" dirty="0">
                <a:ea typeface="思源黑体 CN Regular" panose="020B0500000000000000" pitchFamily="34" charset="-122"/>
              </a:rPr>
              <a:t>2024</a:t>
            </a:r>
            <a:r>
              <a:rPr lang="zh-CN" altLang="en-US" sz="800" dirty="0" smtClean="0">
                <a:ea typeface="思源黑体 CN Regular" panose="020B0500000000000000" pitchFamily="34" charset="-122"/>
              </a:rPr>
              <a:t>年</a:t>
            </a:r>
            <a:r>
              <a:rPr lang="en-US" altLang="zh-CN" sz="800" dirty="0">
                <a:ea typeface="思源黑体 CN Regular" panose="020B0500000000000000" pitchFamily="34" charset="-122"/>
              </a:rPr>
              <a:t>9</a:t>
            </a:r>
            <a:r>
              <a:rPr lang="zh-CN" altLang="en-US" sz="800" dirty="0" smtClean="0">
                <a:ea typeface="思源黑体 CN Regular" panose="020B0500000000000000" pitchFamily="34" charset="-122"/>
              </a:rPr>
              <a:t>月</a:t>
            </a:r>
            <a:r>
              <a:rPr lang="en-US" altLang="zh-CN" sz="800" dirty="0" smtClean="0">
                <a:ea typeface="思源黑体 CN Regular" panose="020B0500000000000000" pitchFamily="34" charset="-122"/>
              </a:rPr>
              <a:t>30</a:t>
            </a:r>
            <a:r>
              <a:rPr lang="zh-CN" altLang="en-US" sz="800" dirty="0" smtClean="0">
                <a:ea typeface="思源黑体 CN Regular" panose="020B0500000000000000" pitchFamily="34" charset="-122"/>
              </a:rPr>
              <a:t>日，为扣除</a:t>
            </a:r>
            <a:r>
              <a:rPr lang="en-US" altLang="zh-CN" sz="800" dirty="0" smtClean="0">
                <a:ea typeface="思源黑体 CN Regular" panose="020B0500000000000000" pitchFamily="34" charset="-122"/>
              </a:rPr>
              <a:t>2%/</a:t>
            </a:r>
            <a:r>
              <a:rPr lang="zh-CN" altLang="en-US" sz="800" dirty="0" smtClean="0">
                <a:ea typeface="思源黑体 CN Regular" panose="020B0500000000000000" pitchFamily="34" charset="-122"/>
              </a:rPr>
              <a:t>年管理费</a:t>
            </a:r>
            <a:r>
              <a:rPr lang="en-US" altLang="zh-CN" sz="800" dirty="0" smtClean="0">
                <a:ea typeface="思源黑体 CN Regular" panose="020B0500000000000000" pitchFamily="34" charset="-122"/>
              </a:rPr>
              <a:t>+20%</a:t>
            </a:r>
            <a:r>
              <a:rPr lang="zh-CN" altLang="en-US" sz="800" dirty="0" smtClean="0">
                <a:ea typeface="思源黑体 CN Regular" panose="020B0500000000000000" pitchFamily="34" charset="-122"/>
              </a:rPr>
              <a:t>业绩报酬的费后收益。</a:t>
            </a:r>
            <a:r>
              <a:rPr lang="zh-CN" altLang="en-US" sz="800" b="1" dirty="0" smtClean="0">
                <a:solidFill>
                  <a:srgbClr val="C00000"/>
                </a:solidFill>
                <a:ea typeface="思源黑体 CN Regular" panose="020B0500000000000000" pitchFamily="34" charset="-122"/>
              </a:rPr>
              <a:t>所</a:t>
            </a:r>
            <a:r>
              <a:rPr lang="zh-CN" altLang="en-US" sz="800" b="1" dirty="0">
                <a:solidFill>
                  <a:srgbClr val="C00000"/>
                </a:solidFill>
                <a:ea typeface="思源黑体 CN Regular" panose="020B0500000000000000" pitchFamily="34" charset="-122"/>
              </a:rPr>
              <a:t>示业绩展示了投资经理过去实际业绩表现信息，这是投资经理所管理的投资组合中提取的投资子集的</a:t>
            </a:r>
            <a:r>
              <a:rPr lang="zh-CN" altLang="en-US" sz="800" b="1" dirty="0" smtClean="0">
                <a:solidFill>
                  <a:srgbClr val="C00000"/>
                </a:solidFill>
                <a:ea typeface="思源黑体 CN Regular" panose="020B0500000000000000" pitchFamily="34" charset="-122"/>
              </a:rPr>
              <a:t>表现</a:t>
            </a:r>
            <a:r>
              <a:rPr lang="zh-CN" altLang="en-US" sz="800" dirty="0" smtClean="0">
                <a:ea typeface="思源黑体 CN Regular" panose="020B0500000000000000" pitchFamily="34" charset="-122"/>
              </a:rPr>
              <a:t>，投资</a:t>
            </a:r>
            <a:r>
              <a:rPr lang="zh-CN" altLang="en-US" sz="800" dirty="0">
                <a:ea typeface="思源黑体 CN Regular" panose="020B0500000000000000" pitchFamily="34" charset="-122"/>
              </a:rPr>
              <a:t>涉及风险，过去表现不代表或不保证未来表现。</a:t>
            </a:r>
          </a:p>
        </p:txBody>
      </p:sp>
      <p:sp>
        <p:nvSpPr>
          <p:cNvPr id="5" name="矩形 4"/>
          <p:cNvSpPr/>
          <p:nvPr>
            <p:custDataLst>
              <p:tags r:id="rId1"/>
            </p:custDataLst>
          </p:nvPr>
        </p:nvSpPr>
        <p:spPr>
          <a:xfrm rot="5400000">
            <a:off x="1636943" y="-387737"/>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6" name="标题 14"/>
          <p:cNvSpPr txBox="1">
            <a:spLocks/>
          </p:cNvSpPr>
          <p:nvPr/>
        </p:nvSpPr>
        <p:spPr>
          <a:xfrm>
            <a:off x="321997" y="31998"/>
            <a:ext cx="7550552" cy="697903"/>
          </a:xfrm>
          <a:prstGeom prst="rect">
            <a:avLst/>
          </a:prstGeom>
        </p:spPr>
        <p:txBody>
          <a:bodyPr vert="horz" lIns="90000" tIns="46800" rIns="90000" bIns="468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Eric</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账户实</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盘业绩 </a:t>
            </a:r>
            <a:r>
              <a:rPr lang="en-US" altLang="zh-CN"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&amp; </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纳</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指、标</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普</a:t>
            </a:r>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500</a:t>
            </a:r>
            <a:endPar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endParaRPr>
          </a:p>
        </p:txBody>
      </p:sp>
      <p:graphicFrame>
        <p:nvGraphicFramePr>
          <p:cNvPr id="7" name="图表 6"/>
          <p:cNvGraphicFramePr>
            <a:graphicFrameLocks/>
          </p:cNvGraphicFramePr>
          <p:nvPr>
            <p:extLst>
              <p:ext uri="{D42A27DB-BD31-4B8C-83A1-F6EECF244321}">
                <p14:modId xmlns:p14="http://schemas.microsoft.com/office/powerpoint/2010/main" val="2110625288"/>
              </p:ext>
            </p:extLst>
          </p:nvPr>
        </p:nvGraphicFramePr>
        <p:xfrm>
          <a:off x="178349" y="1079881"/>
          <a:ext cx="7147011" cy="3753376"/>
        </p:xfrm>
        <a:graphic>
          <a:graphicData uri="http://schemas.openxmlformats.org/drawingml/2006/chart">
            <c:chart xmlns:c="http://schemas.openxmlformats.org/drawingml/2006/chart" xmlns:r="http://schemas.openxmlformats.org/officeDocument/2006/relationships" r:id="rId4"/>
          </a:graphicData>
        </a:graphic>
      </p:graphicFrame>
      <p:pic>
        <p:nvPicPr>
          <p:cNvPr id="8" name="图片 7"/>
          <p:cNvPicPr>
            <a:picLocks noChangeAspect="1"/>
          </p:cNvPicPr>
          <p:nvPr/>
        </p:nvPicPr>
        <p:blipFill>
          <a:blip r:embed="rId5"/>
          <a:stretch>
            <a:fillRect/>
          </a:stretch>
        </p:blipFill>
        <p:spPr>
          <a:xfrm>
            <a:off x="446155" y="5084540"/>
            <a:ext cx="11130622" cy="1476736"/>
          </a:xfrm>
          <a:prstGeom prst="rect">
            <a:avLst/>
          </a:prstGeom>
        </p:spPr>
      </p:pic>
    </p:spTree>
    <p:extLst>
      <p:ext uri="{BB962C8B-B14F-4D97-AF65-F5344CB8AC3E}">
        <p14:creationId xmlns:p14="http://schemas.microsoft.com/office/powerpoint/2010/main" val="30177375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标题 14"/>
          <p:cNvSpPr>
            <a:spLocks noGrp="1"/>
          </p:cNvSpPr>
          <p:nvPr>
            <p:ph type="ctrTitle"/>
          </p:nvPr>
        </p:nvSpPr>
        <p:spPr>
          <a:xfrm>
            <a:off x="219709" y="146893"/>
            <a:ext cx="7550552" cy="800735"/>
          </a:xfrm>
        </p:spPr>
        <p:txBody>
          <a:bodyPr vert="horz" lIns="90000" tIns="46800" rIns="90000" bIns="46800" rtlCol="0" anchor="b" anchorCtr="0">
            <a:noAutofit/>
          </a:bodyPr>
          <a:lstStyle/>
          <a:p>
            <a:pPr algn="l">
              <a:defRPr/>
            </a:pP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实盘账户</a:t>
            </a:r>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多空仓位配置参考</a:t>
            </a:r>
          </a:p>
        </p:txBody>
      </p:sp>
      <p:pic>
        <p:nvPicPr>
          <p:cNvPr id="5" name="图片 4" descr="未标题-1"/>
          <p:cNvPicPr>
            <a:picLocks noChangeAspect="1"/>
          </p:cNvPicPr>
          <p:nvPr/>
        </p:nvPicPr>
        <p:blipFill>
          <a:blip r:embed="rId5"/>
          <a:stretch>
            <a:fillRect/>
          </a:stretch>
        </p:blipFill>
        <p:spPr>
          <a:xfrm>
            <a:off x="11133455" y="295910"/>
            <a:ext cx="771525" cy="187960"/>
          </a:xfrm>
          <a:prstGeom prst="rect">
            <a:avLst/>
          </a:prstGeom>
        </p:spPr>
      </p:pic>
      <p:sp>
        <p:nvSpPr>
          <p:cNvPr id="6" name="Rectangle 9">
            <a:extLst>
              <a:ext uri="{FF2B5EF4-FFF2-40B4-BE49-F238E27FC236}">
                <a16:creationId xmlns:a16="http://schemas.microsoft.com/office/drawing/2014/main" id="{02955F2D-E140-4863-8553-F5A7F99F14B2}"/>
              </a:ext>
            </a:extLst>
          </p:cNvPr>
          <p:cNvSpPr/>
          <p:nvPr/>
        </p:nvSpPr>
        <p:spPr>
          <a:xfrm>
            <a:off x="391625" y="6085780"/>
            <a:ext cx="10458628" cy="400110"/>
          </a:xfrm>
          <a:prstGeom prst="rect">
            <a:avLst/>
          </a:prstGeom>
        </p:spPr>
        <p:txBody>
          <a:bodyPr wrap="square">
            <a:spAutoFit/>
          </a:bodyPr>
          <a:lstStyle/>
          <a:p>
            <a:pPr>
              <a:spcBef>
                <a:spcPts val="81"/>
              </a:spcBef>
            </a:pPr>
            <a:r>
              <a:rPr lang="zh-CN" altLang="en-US" sz="1000" dirty="0">
                <a:ea typeface="思源黑体 CN Regular" panose="020B0500000000000000" pitchFamily="34" charset="-122"/>
              </a:rPr>
              <a:t>资料来源：</a:t>
            </a:r>
            <a:r>
              <a:rPr lang="en-US" altLang="zh-CN" sz="1000" dirty="0">
                <a:ea typeface="思源黑体 CN Regular" panose="020B0500000000000000" pitchFamily="34" charset="-122"/>
              </a:rPr>
              <a:t>Point 72</a:t>
            </a:r>
            <a:r>
              <a:rPr lang="zh-CN" altLang="en-US" sz="1000" dirty="0">
                <a:ea typeface="思源黑体 CN Regular" panose="020B0500000000000000" pitchFamily="34" charset="-122"/>
              </a:rPr>
              <a:t>，截至</a:t>
            </a:r>
            <a:r>
              <a:rPr lang="en-US" altLang="zh-CN" sz="1000" dirty="0">
                <a:ea typeface="思源黑体 CN Regular" panose="020B0500000000000000" pitchFamily="34" charset="-122"/>
              </a:rPr>
              <a:t>2024</a:t>
            </a:r>
            <a:r>
              <a:rPr lang="zh-CN" altLang="en-US" sz="1000" dirty="0">
                <a:ea typeface="思源黑体 CN Regular" panose="020B0500000000000000" pitchFamily="34" charset="-122"/>
              </a:rPr>
              <a:t>年</a:t>
            </a:r>
            <a:r>
              <a:rPr lang="en-US" altLang="zh-CN" sz="1000" dirty="0">
                <a:ea typeface="思源黑体 CN Regular" panose="020B0500000000000000" pitchFamily="34" charset="-122"/>
              </a:rPr>
              <a:t>8</a:t>
            </a:r>
            <a:r>
              <a:rPr lang="zh-CN" altLang="en-US" sz="1000" dirty="0">
                <a:ea typeface="思源黑体 CN Regular" panose="020B0500000000000000" pitchFamily="34" charset="-122"/>
              </a:rPr>
              <a:t>月</a:t>
            </a:r>
            <a:r>
              <a:rPr lang="en-US" altLang="zh-CN" sz="1000" dirty="0">
                <a:ea typeface="思源黑体 CN Regular" panose="020B0500000000000000" pitchFamily="34" charset="-122"/>
              </a:rPr>
              <a:t>31</a:t>
            </a:r>
            <a:r>
              <a:rPr lang="zh-CN" altLang="en-US" sz="1000" dirty="0">
                <a:ea typeface="思源黑体 CN Regular" panose="020B0500000000000000" pitchFamily="34" charset="-122"/>
              </a:rPr>
              <a:t>日。本基金所示业绩为</a:t>
            </a:r>
            <a:r>
              <a:rPr lang="en-US" altLang="zh-CN" sz="1000" dirty="0">
                <a:ea typeface="思源黑体 CN Regular" panose="020B0500000000000000" pitchFamily="34" charset="-122"/>
              </a:rPr>
              <a:t>P72 PM Pro Forma</a:t>
            </a:r>
            <a:r>
              <a:rPr lang="zh-CN" altLang="en-US" sz="1000" dirty="0">
                <a:ea typeface="思源黑体 CN Regular" panose="020B0500000000000000" pitchFamily="34" charset="-122"/>
              </a:rPr>
              <a:t>业绩扣除管理费和业绩表现费后的模拟业绩，与所代销的</a:t>
            </a:r>
            <a:r>
              <a:rPr lang="en-US" altLang="zh-CN" sz="1000" dirty="0">
                <a:ea typeface="思源黑体 CN Regular" panose="020B0500000000000000" pitchFamily="34" charset="-122"/>
              </a:rPr>
              <a:t>Turion Class B</a:t>
            </a:r>
            <a:r>
              <a:rPr lang="zh-CN" altLang="en-US" sz="1000" dirty="0">
                <a:ea typeface="思源黑体 CN Regular" panose="020B0500000000000000" pitchFamily="34" charset="-122"/>
              </a:rPr>
              <a:t>业绩有所不同。投资涉及风险，过去表现不代表或不保证未来表现。</a:t>
            </a:r>
          </a:p>
        </p:txBody>
      </p:sp>
      <p:sp>
        <p:nvSpPr>
          <p:cNvPr id="9" name="textbox 1148">
            <a:extLst>
              <a:ext uri="{FF2B5EF4-FFF2-40B4-BE49-F238E27FC236}">
                <a16:creationId xmlns:a16="http://schemas.microsoft.com/office/drawing/2014/main" id="{0ADB1A53-006A-40B7-9389-152DD1BBD569}"/>
              </a:ext>
            </a:extLst>
          </p:cNvPr>
          <p:cNvSpPr/>
          <p:nvPr/>
        </p:nvSpPr>
        <p:spPr>
          <a:xfrm>
            <a:off x="1277884" y="1497607"/>
            <a:ext cx="10002924" cy="70057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此业绩为</a:t>
            </a:r>
            <a:r>
              <a:rPr lang="zh-CN" altLang="en-US" sz="1400" b="1" dirty="0">
                <a:latin typeface="微软雅黑" panose="020B0503020204020204" pitchFamily="34" charset="-122"/>
                <a:ea typeface="微软雅黑" panose="020B0503020204020204" pitchFamily="34" charset="-122"/>
              </a:rPr>
              <a:t>投资经理</a:t>
            </a:r>
            <a:r>
              <a:rPr lang="en-US" altLang="zh-CN" sz="1400" b="1" dirty="0">
                <a:latin typeface="微软雅黑" panose="020B0503020204020204" pitchFamily="34" charset="-122"/>
                <a:ea typeface="微软雅黑" panose="020B0503020204020204" pitchFamily="34" charset="-122"/>
              </a:rPr>
              <a:t>2020</a:t>
            </a:r>
            <a:r>
              <a:rPr lang="zh-CN" altLang="en-US" sz="1400" b="1" dirty="0">
                <a:latin typeface="微软雅黑" panose="020B0503020204020204" pitchFamily="34" charset="-122"/>
                <a:ea typeface="微软雅黑" panose="020B0503020204020204" pitchFamily="34" charset="-122"/>
              </a:rPr>
              <a:t>年至</a:t>
            </a:r>
            <a:r>
              <a:rPr lang="en-US" altLang="zh-CN" sz="1400" b="1" dirty="0">
                <a:latin typeface="微软雅黑" panose="020B0503020204020204" pitchFamily="34" charset="-122"/>
                <a:ea typeface="微软雅黑" panose="020B0503020204020204" pitchFamily="34" charset="-122"/>
              </a:rPr>
              <a:t>2024</a:t>
            </a:r>
            <a:r>
              <a:rPr lang="zh-CN" altLang="en-US" sz="1400" b="1" dirty="0">
                <a:latin typeface="微软雅黑" panose="020B0503020204020204" pitchFamily="34" charset="-122"/>
                <a:ea typeface="微软雅黑" panose="020B0503020204020204" pitchFamily="34" charset="-122"/>
              </a:rPr>
              <a:t>年期间在</a:t>
            </a:r>
            <a:r>
              <a:rPr lang="en-US" altLang="zh-CN" sz="1400" b="1" dirty="0">
                <a:latin typeface="微软雅黑" panose="020B0503020204020204" pitchFamily="34" charset="-122"/>
                <a:ea typeface="微软雅黑" panose="020B0503020204020204" pitchFamily="34" charset="-122"/>
              </a:rPr>
              <a:t>P72</a:t>
            </a:r>
            <a:r>
              <a:rPr lang="zh-CN" altLang="en-US" sz="1400" b="1" dirty="0">
                <a:latin typeface="微软雅黑" panose="020B0503020204020204" pitchFamily="34" charset="-122"/>
                <a:ea typeface="微软雅黑" panose="020B0503020204020204" pitchFamily="34" charset="-122"/>
              </a:rPr>
              <a:t>所管理的实盘账户</a:t>
            </a:r>
            <a:r>
              <a:rPr lang="zh-CN" altLang="en-US" sz="1400" dirty="0">
                <a:latin typeface="微软雅黑" panose="020B0503020204020204" pitchFamily="34" charset="-122"/>
                <a:ea typeface="微软雅黑" panose="020B0503020204020204" pitchFamily="34" charset="-122"/>
              </a:rPr>
              <a:t>的仓位配置。敞口计算口径分母为其管理账户的</a:t>
            </a:r>
            <a:r>
              <a:rPr lang="en-US" altLang="zh-CN" sz="1400" dirty="0">
                <a:latin typeface="微软雅黑" panose="020B0503020204020204" pitchFamily="34" charset="-122"/>
                <a:ea typeface="微软雅黑" panose="020B0503020204020204" pitchFamily="34" charset="-122"/>
              </a:rPr>
              <a:t>GMV</a:t>
            </a:r>
            <a:r>
              <a:rPr lang="zh-CN" altLang="en-US" sz="1400" dirty="0">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其中</a:t>
            </a:r>
            <a:r>
              <a:rPr lang="zh-CN" altLang="en-US" sz="1400" b="1" dirty="0">
                <a:solidFill>
                  <a:srgbClr val="C00000"/>
                </a:solidFill>
                <a:latin typeface="微软雅黑" panose="020B0503020204020204" pitchFamily="34" charset="-122"/>
                <a:ea typeface="微软雅黑" panose="020B0503020204020204" pitchFamily="34" charset="-122"/>
              </a:rPr>
              <a:t>多头持仓平均敞口为</a:t>
            </a:r>
            <a:r>
              <a:rPr lang="en-US" altLang="zh-CN" sz="1400" b="1" dirty="0">
                <a:solidFill>
                  <a:srgbClr val="C00000"/>
                </a:solidFill>
                <a:latin typeface="微软雅黑" panose="020B0503020204020204" pitchFamily="34" charset="-122"/>
                <a:ea typeface="微软雅黑" panose="020B0503020204020204" pitchFamily="34" charset="-122"/>
              </a:rPr>
              <a:t>52.2%</a:t>
            </a:r>
            <a:r>
              <a:rPr lang="zh-CN" altLang="en-US" sz="1400" b="1" dirty="0">
                <a:solidFill>
                  <a:srgbClr val="C00000"/>
                </a:solidFill>
                <a:latin typeface="微软雅黑" panose="020B0503020204020204" pitchFamily="34" charset="-122"/>
                <a:ea typeface="微软雅黑" panose="020B0503020204020204" pitchFamily="34" charset="-122"/>
              </a:rPr>
              <a:t>，空头持仓平均为敞口</a:t>
            </a:r>
            <a:r>
              <a:rPr lang="en-US" altLang="zh-CN" sz="1400" b="1" dirty="0">
                <a:solidFill>
                  <a:srgbClr val="C00000"/>
                </a:solidFill>
                <a:latin typeface="微软雅黑" panose="020B0503020204020204" pitchFamily="34" charset="-122"/>
                <a:ea typeface="微软雅黑" panose="020B0503020204020204" pitchFamily="34" charset="-122"/>
              </a:rPr>
              <a:t>47.8%</a:t>
            </a:r>
            <a:r>
              <a:rPr lang="zh-CN" altLang="en-US" sz="1400" b="1" dirty="0">
                <a:solidFill>
                  <a:srgbClr val="C00000"/>
                </a:solidFill>
                <a:latin typeface="微软雅黑" panose="020B0503020204020204" pitchFamily="34" charset="-122"/>
                <a:ea typeface="微软雅黑" panose="020B0503020204020204" pitchFamily="34" charset="-122"/>
              </a:rPr>
              <a:t>，净敞口平均为</a:t>
            </a:r>
            <a:r>
              <a:rPr lang="en-US" altLang="zh-CN" sz="1400" b="1" dirty="0">
                <a:solidFill>
                  <a:srgbClr val="C00000"/>
                </a:solidFill>
                <a:latin typeface="微软雅黑" panose="020B0503020204020204" pitchFamily="34" charset="-122"/>
                <a:ea typeface="微软雅黑" panose="020B0503020204020204" pitchFamily="34" charset="-122"/>
              </a:rPr>
              <a:t>4.4%</a:t>
            </a:r>
            <a:r>
              <a:rPr lang="zh-CN" altLang="en-US" sz="1400" b="1" dirty="0">
                <a:solidFill>
                  <a:srgbClr val="C00000"/>
                </a:solidFill>
                <a:latin typeface="微软雅黑" panose="020B0503020204020204" pitchFamily="34" charset="-122"/>
                <a:ea typeface="微软雅黑" panose="020B0503020204020204" pitchFamily="34" charset="-122"/>
              </a:rPr>
              <a:t>。</a:t>
            </a:r>
          </a:p>
        </p:txBody>
      </p:sp>
      <p:pic>
        <p:nvPicPr>
          <p:cNvPr id="2" name="图片 1">
            <a:extLst>
              <a:ext uri="{FF2B5EF4-FFF2-40B4-BE49-F238E27FC236}">
                <a16:creationId xmlns:a16="http://schemas.microsoft.com/office/drawing/2014/main" id="{7C955541-DB87-4445-84BE-94C7233D0891}"/>
              </a:ext>
            </a:extLst>
          </p:cNvPr>
          <p:cNvPicPr>
            <a:picLocks noChangeAspect="1"/>
          </p:cNvPicPr>
          <p:nvPr/>
        </p:nvPicPr>
        <p:blipFill>
          <a:blip r:embed="rId6"/>
          <a:stretch>
            <a:fillRect/>
          </a:stretch>
        </p:blipFill>
        <p:spPr>
          <a:xfrm>
            <a:off x="3013336" y="2639726"/>
            <a:ext cx="5989262" cy="3196866"/>
          </a:xfrm>
          <a:prstGeom prst="rect">
            <a:avLst/>
          </a:prstGeom>
        </p:spPr>
      </p:pic>
    </p:spTree>
    <p:custDataLst>
      <p:tags r:id="rId1"/>
    </p:custDataLst>
    <p:extLst>
      <p:ext uri="{BB962C8B-B14F-4D97-AF65-F5344CB8AC3E}">
        <p14:creationId xmlns:p14="http://schemas.microsoft.com/office/powerpoint/2010/main" val="33502197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rot="5400000">
            <a:off x="1603598" y="-238180"/>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 name="标题 14"/>
          <p:cNvSpPr txBox="1">
            <a:spLocks/>
          </p:cNvSpPr>
          <p:nvPr/>
        </p:nvSpPr>
        <p:spPr>
          <a:xfrm>
            <a:off x="288652" y="181556"/>
            <a:ext cx="7550552" cy="521102"/>
          </a:xfrm>
          <a:prstGeom prst="rect">
            <a:avLst/>
          </a:prstGeom>
        </p:spPr>
        <p:txBody>
          <a:bodyPr vert="horz" lIns="90000" tIns="46800" rIns="90000" bIns="468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P72 </a:t>
            </a:r>
            <a:r>
              <a:rPr lang="en-US" altLang="zh-CN" sz="2400" b="1" spc="300" dirty="0" err="1">
                <a:solidFill>
                  <a:srgbClr val="015658"/>
                </a:solidFill>
                <a:latin typeface="獅尾四季春加糖SC-Bold" panose="020B0500000000000000" pitchFamily="34" charset="-120"/>
                <a:ea typeface="獅尾四季春加糖SC-Bold" panose="020B0500000000000000" pitchFamily="34" charset="-120"/>
                <a:cs typeface="+mn-cs"/>
                <a:sym typeface="+mn-ea"/>
              </a:rPr>
              <a:t>Turion</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基金实盘业绩</a:t>
            </a:r>
          </a:p>
        </p:txBody>
      </p:sp>
      <p:sp>
        <p:nvSpPr>
          <p:cNvPr id="6" name="矩形 5">
            <a:extLst>
              <a:ext uri="{FF2B5EF4-FFF2-40B4-BE49-F238E27FC236}">
                <a16:creationId xmlns:a16="http://schemas.microsoft.com/office/drawing/2014/main" id="{150D7285-593D-474E-815E-1C5284B90D14}"/>
              </a:ext>
            </a:extLst>
          </p:cNvPr>
          <p:cNvSpPr/>
          <p:nvPr/>
        </p:nvSpPr>
        <p:spPr>
          <a:xfrm>
            <a:off x="717549" y="1472925"/>
            <a:ext cx="6934986" cy="1061829"/>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Turion Performance: Point72 Turion Offshore, L.P</a:t>
            </a:r>
            <a:r>
              <a:rPr lang="en-US" altLang="zh-CN" sz="1400" dirty="0" smtClean="0">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en-US" altLang="zh-CN" sz="1400" dirty="0" smtClean="0">
                <a:latin typeface="微软雅黑" panose="020B0503020204020204" pitchFamily="34" charset="-122"/>
                <a:ea typeface="微软雅黑" panose="020B0503020204020204" pitchFamily="34" charset="-122"/>
              </a:rPr>
              <a:t>Share Class B: 2.0% Management Fee &amp; 20% Incentive Fee</a:t>
            </a:r>
          </a:p>
          <a:p>
            <a:pPr marL="285750" indent="-285750">
              <a:lnSpc>
                <a:spcPct val="150000"/>
              </a:lnSpc>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B56AF504-F257-4CA9-B8A8-BB1EEAE5B120}"/>
              </a:ext>
            </a:extLst>
          </p:cNvPr>
          <p:cNvPicPr>
            <a:picLocks noChangeAspect="1"/>
          </p:cNvPicPr>
          <p:nvPr/>
        </p:nvPicPr>
        <p:blipFill>
          <a:blip r:embed="rId3"/>
          <a:stretch>
            <a:fillRect/>
          </a:stretch>
        </p:blipFill>
        <p:spPr>
          <a:xfrm>
            <a:off x="518160" y="2663214"/>
            <a:ext cx="11508352" cy="862630"/>
          </a:xfrm>
          <a:prstGeom prst="rect">
            <a:avLst/>
          </a:prstGeom>
        </p:spPr>
      </p:pic>
      <p:sp>
        <p:nvSpPr>
          <p:cNvPr id="9" name="矩形 8">
            <a:extLst>
              <a:ext uri="{FF2B5EF4-FFF2-40B4-BE49-F238E27FC236}">
                <a16:creationId xmlns:a16="http://schemas.microsoft.com/office/drawing/2014/main" id="{921924B7-10F8-4553-B20E-D2A1FD028388}"/>
              </a:ext>
            </a:extLst>
          </p:cNvPr>
          <p:cNvSpPr/>
          <p:nvPr/>
        </p:nvSpPr>
        <p:spPr>
          <a:xfrm>
            <a:off x="8069095" y="2956560"/>
            <a:ext cx="2806459" cy="569283"/>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17549" y="3801032"/>
            <a:ext cx="4075611" cy="276999"/>
          </a:xfrm>
          <a:prstGeom prst="rect">
            <a:avLst/>
          </a:prstGeom>
          <a:noFill/>
        </p:spPr>
        <p:txBody>
          <a:bodyPr wrap="square" rtlCol="0">
            <a:spAutoFit/>
          </a:bodyPr>
          <a:lstStyle/>
          <a:p>
            <a:r>
              <a:rPr lang="en-US" altLang="zh-CN" sz="1200" b="1" dirty="0" smtClean="0">
                <a:latin typeface="+mj-ea"/>
                <a:ea typeface="+mj-ea"/>
              </a:rPr>
              <a:t>*    2025</a:t>
            </a:r>
            <a:r>
              <a:rPr lang="zh-CN" altLang="en-US" sz="1200" b="1" dirty="0" smtClean="0">
                <a:latin typeface="+mj-ea"/>
                <a:ea typeface="+mj-ea"/>
              </a:rPr>
              <a:t>年</a:t>
            </a:r>
            <a:r>
              <a:rPr lang="en-US" altLang="zh-CN" sz="1200" b="1" dirty="0" smtClean="0">
                <a:latin typeface="+mj-ea"/>
                <a:ea typeface="+mj-ea"/>
              </a:rPr>
              <a:t>1</a:t>
            </a:r>
            <a:r>
              <a:rPr lang="zh-CN" altLang="en-US" sz="1200" b="1" dirty="0" smtClean="0">
                <a:latin typeface="+mj-ea"/>
                <a:ea typeface="+mj-ea"/>
              </a:rPr>
              <a:t>月预估 </a:t>
            </a:r>
            <a:r>
              <a:rPr lang="en-US" altLang="zh-CN" sz="1200" b="1" dirty="0" smtClean="0">
                <a:solidFill>
                  <a:srgbClr val="C00000"/>
                </a:solidFill>
                <a:latin typeface="+mj-ea"/>
                <a:ea typeface="+mj-ea"/>
              </a:rPr>
              <a:t>0.21%</a:t>
            </a:r>
            <a:endParaRPr lang="zh-CN" altLang="en-US" sz="1200" b="1" dirty="0">
              <a:solidFill>
                <a:srgbClr val="C00000"/>
              </a:solidFill>
              <a:latin typeface="+mj-ea"/>
              <a:ea typeface="+mj-ea"/>
            </a:endParaRPr>
          </a:p>
        </p:txBody>
      </p:sp>
      <p:sp>
        <p:nvSpPr>
          <p:cNvPr id="12" name="Rectangle 9">
            <a:extLst>
              <a:ext uri="{FF2B5EF4-FFF2-40B4-BE49-F238E27FC236}">
                <a16:creationId xmlns:a16="http://schemas.microsoft.com/office/drawing/2014/main" id="{02955F2D-E140-4863-8553-F5A7F99F14B2}"/>
              </a:ext>
            </a:extLst>
          </p:cNvPr>
          <p:cNvSpPr/>
          <p:nvPr/>
        </p:nvSpPr>
        <p:spPr>
          <a:xfrm>
            <a:off x="204475" y="6048322"/>
            <a:ext cx="11898945" cy="487313"/>
          </a:xfrm>
          <a:prstGeom prst="rect">
            <a:avLst/>
          </a:prstGeom>
        </p:spPr>
        <p:txBody>
          <a:bodyPr wrap="square">
            <a:spAutoFit/>
          </a:bodyPr>
          <a:lstStyle/>
          <a:p>
            <a:pPr>
              <a:spcBef>
                <a:spcPts val="81"/>
              </a:spcBef>
            </a:pPr>
            <a:r>
              <a:rPr lang="zh-CN" altLang="en-US" sz="800" dirty="0">
                <a:ea typeface="思源黑体 CN Regular" panose="020B0500000000000000" pitchFamily="34" charset="-122"/>
              </a:rPr>
              <a:t>资料来源</a:t>
            </a:r>
            <a:r>
              <a:rPr lang="zh-CN" altLang="en-US" sz="800" dirty="0" smtClean="0">
                <a:ea typeface="思源黑体 CN Regular" panose="020B0500000000000000" pitchFamily="34" charset="-122"/>
              </a:rPr>
              <a:t>：</a:t>
            </a:r>
            <a:endParaRPr lang="en-US" altLang="zh-CN" sz="800" dirty="0" smtClean="0">
              <a:ea typeface="思源黑体 CN Regular" panose="020B0500000000000000" pitchFamily="34" charset="-122"/>
            </a:endParaRPr>
          </a:p>
          <a:p>
            <a:pPr>
              <a:spcBef>
                <a:spcPts val="81"/>
              </a:spcBef>
            </a:pPr>
            <a:r>
              <a:rPr lang="en-US" altLang="zh-CN" sz="800" dirty="0" smtClean="0">
                <a:ea typeface="思源黑体 CN Regular" panose="020B0500000000000000" pitchFamily="34" charset="-122"/>
              </a:rPr>
              <a:t>1</a:t>
            </a:r>
            <a:r>
              <a:rPr lang="zh-CN" altLang="en-US" sz="800" dirty="0" smtClean="0">
                <a:ea typeface="思源黑体 CN Regular" panose="020B0500000000000000" pitchFamily="34" charset="-122"/>
              </a:rPr>
              <a:t>、</a:t>
            </a:r>
            <a:r>
              <a:rPr lang="en-US" altLang="zh-CN" sz="800" dirty="0" smtClean="0">
                <a:ea typeface="思源黑体 CN Regular" panose="020B0500000000000000" pitchFamily="34" charset="-122"/>
              </a:rPr>
              <a:t>Point72</a:t>
            </a:r>
            <a:r>
              <a:rPr lang="zh-CN" altLang="en-US" sz="800" dirty="0">
                <a:ea typeface="思源黑体 CN Regular" panose="020B0500000000000000" pitchFamily="34" charset="-122"/>
              </a:rPr>
              <a:t>，截至</a:t>
            </a:r>
            <a:r>
              <a:rPr lang="en-US" altLang="zh-CN" sz="800" dirty="0">
                <a:ea typeface="思源黑体 CN Regular" panose="020B0500000000000000" pitchFamily="34" charset="-122"/>
              </a:rPr>
              <a:t>2024</a:t>
            </a:r>
            <a:r>
              <a:rPr lang="zh-CN" altLang="en-US" sz="800" dirty="0" smtClean="0">
                <a:ea typeface="思源黑体 CN Regular" panose="020B0500000000000000" pitchFamily="34" charset="-122"/>
              </a:rPr>
              <a:t>年</a:t>
            </a:r>
            <a:r>
              <a:rPr lang="en-US" altLang="zh-CN" sz="800" dirty="0">
                <a:ea typeface="思源黑体 CN Regular" panose="020B0500000000000000" pitchFamily="34" charset="-122"/>
              </a:rPr>
              <a:t>9</a:t>
            </a:r>
            <a:r>
              <a:rPr lang="zh-CN" altLang="en-US" sz="800" dirty="0" smtClean="0">
                <a:ea typeface="思源黑体 CN Regular" panose="020B0500000000000000" pitchFamily="34" charset="-122"/>
              </a:rPr>
              <a:t>月</a:t>
            </a:r>
            <a:r>
              <a:rPr lang="en-US" altLang="zh-CN" sz="800" dirty="0" smtClean="0">
                <a:ea typeface="思源黑体 CN Regular" panose="020B0500000000000000" pitchFamily="34" charset="-122"/>
              </a:rPr>
              <a:t>30</a:t>
            </a:r>
            <a:r>
              <a:rPr lang="zh-CN" altLang="en-US" sz="800" dirty="0" smtClean="0">
                <a:ea typeface="思源黑体 CN Regular" panose="020B0500000000000000" pitchFamily="34" charset="-122"/>
              </a:rPr>
              <a:t>日，为扣除</a:t>
            </a:r>
            <a:r>
              <a:rPr lang="en-US" altLang="zh-CN" sz="800" dirty="0" smtClean="0">
                <a:ea typeface="思源黑体 CN Regular" panose="020B0500000000000000" pitchFamily="34" charset="-122"/>
              </a:rPr>
              <a:t>2%/</a:t>
            </a:r>
            <a:r>
              <a:rPr lang="zh-CN" altLang="en-US" sz="800" dirty="0" smtClean="0">
                <a:ea typeface="思源黑体 CN Regular" panose="020B0500000000000000" pitchFamily="34" charset="-122"/>
              </a:rPr>
              <a:t>年管理费</a:t>
            </a:r>
            <a:r>
              <a:rPr lang="en-US" altLang="zh-CN" sz="800" dirty="0" smtClean="0">
                <a:ea typeface="思源黑体 CN Regular" panose="020B0500000000000000" pitchFamily="34" charset="-122"/>
              </a:rPr>
              <a:t>+20%</a:t>
            </a:r>
            <a:r>
              <a:rPr lang="zh-CN" altLang="en-US" sz="800" dirty="0" smtClean="0">
                <a:ea typeface="思源黑体 CN Regular" panose="020B0500000000000000" pitchFamily="34" charset="-122"/>
              </a:rPr>
              <a:t>业绩报酬的费后收益。</a:t>
            </a:r>
            <a:endParaRPr lang="en-US" altLang="zh-CN" sz="800" dirty="0" smtClean="0">
              <a:ea typeface="思源黑体 CN Regular" panose="020B0500000000000000" pitchFamily="34" charset="-122"/>
            </a:endParaRPr>
          </a:p>
          <a:p>
            <a:pPr>
              <a:spcBef>
                <a:spcPts val="81"/>
              </a:spcBef>
            </a:pPr>
            <a:r>
              <a:rPr lang="en-US" altLang="zh-CN" sz="800" dirty="0" smtClean="0">
                <a:ea typeface="思源黑体 CN Regular" panose="020B0500000000000000" pitchFamily="34" charset="-122"/>
              </a:rPr>
              <a:t>2</a:t>
            </a:r>
            <a:r>
              <a:rPr lang="zh-CN" altLang="en-US" sz="800" dirty="0" smtClean="0">
                <a:ea typeface="思源黑体 CN Regular" panose="020B0500000000000000" pitchFamily="34" charset="-122"/>
              </a:rPr>
              <a:t>、</a:t>
            </a:r>
            <a:r>
              <a:rPr lang="en-US" altLang="zh-CN" sz="800" b="1" dirty="0" smtClean="0">
                <a:solidFill>
                  <a:srgbClr val="C00000"/>
                </a:solidFill>
                <a:ea typeface="思源黑体 CN Regular" panose="020B0500000000000000" pitchFamily="34" charset="-122"/>
              </a:rPr>
              <a:t>2025</a:t>
            </a:r>
            <a:r>
              <a:rPr lang="zh-CN" altLang="en-US" sz="800" b="1" dirty="0" smtClean="0">
                <a:solidFill>
                  <a:srgbClr val="C00000"/>
                </a:solidFill>
                <a:ea typeface="思源黑体 CN Regular" panose="020B0500000000000000" pitchFamily="34" charset="-122"/>
              </a:rPr>
              <a:t>年</a:t>
            </a:r>
            <a:r>
              <a:rPr lang="en-US" altLang="zh-CN" sz="800" b="1" dirty="0" smtClean="0">
                <a:solidFill>
                  <a:srgbClr val="C00000"/>
                </a:solidFill>
                <a:ea typeface="思源黑体 CN Regular" panose="020B0500000000000000" pitchFamily="34" charset="-122"/>
              </a:rPr>
              <a:t>1</a:t>
            </a:r>
            <a:r>
              <a:rPr lang="zh-CN" altLang="en-US" sz="800" b="1" dirty="0" smtClean="0">
                <a:solidFill>
                  <a:srgbClr val="C00000"/>
                </a:solidFill>
                <a:ea typeface="思源黑体 CN Regular" panose="020B0500000000000000" pitchFamily="34" charset="-122"/>
              </a:rPr>
              <a:t>月表现为预估收益。</a:t>
            </a:r>
            <a:endParaRPr lang="zh-CN" altLang="en-US" sz="800" dirty="0">
              <a:ea typeface="思源黑体 CN Regular" panose="020B0500000000000000" pitchFamily="34" charset="-122"/>
            </a:endParaRPr>
          </a:p>
        </p:txBody>
      </p:sp>
    </p:spTree>
    <p:extLst>
      <p:ext uri="{BB962C8B-B14F-4D97-AF65-F5344CB8AC3E}">
        <p14:creationId xmlns:p14="http://schemas.microsoft.com/office/powerpoint/2010/main" val="20547657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38539" y="178904"/>
            <a:ext cx="546029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dirty="0">
                <a:solidFill>
                  <a:srgbClr val="015658"/>
                </a:solidFill>
                <a:latin typeface="獅尾四季春加糖SC-Bold" panose="020B0500000000000000" pitchFamily="34" charset="-120"/>
                <a:ea typeface="獅尾四季春加糖SC-Bold" panose="020B0500000000000000" pitchFamily="34" charset="-120"/>
              </a:rPr>
              <a:t>二者</a:t>
            </a:r>
            <a:r>
              <a:rPr lang="zh-CN" altLang="en-US" sz="2400" b="1" noProof="0" dirty="0" smtClean="0">
                <a:solidFill>
                  <a:srgbClr val="015658"/>
                </a:solidFill>
                <a:latin typeface="獅尾四季春加糖SC-Bold" panose="020B0500000000000000" pitchFamily="34" charset="-120"/>
                <a:ea typeface="獅尾四季春加糖SC-Bold" panose="020B0500000000000000" pitchFamily="34" charset="-120"/>
              </a:rPr>
              <a:t>收益</a:t>
            </a:r>
            <a:r>
              <a:rPr lang="zh-CN" altLang="en-US" sz="2400" b="1" noProof="0" dirty="0" smtClean="0">
                <a:solidFill>
                  <a:srgbClr val="015658"/>
                </a:solidFill>
                <a:latin typeface="獅尾四季春加糖SC-Bold" panose="020B0500000000000000" pitchFamily="34" charset="-120"/>
                <a:ea typeface="獅尾四季春加糖SC-Bold" panose="020B0500000000000000" pitchFamily="34" charset="-120"/>
              </a:rPr>
              <a:t>特征区别</a:t>
            </a:r>
            <a:endParaRPr kumimoji="0" lang="zh-CN" altLang="en-US" sz="2400" b="1" i="0" u="none" strike="noStrike" kern="1200" cap="none" spc="0" normalizeH="0" baseline="0" noProof="0" dirty="0">
              <a:ln>
                <a:noFill/>
              </a:ln>
              <a:solidFill>
                <a:srgbClr val="015658"/>
              </a:solidFill>
              <a:effectLst/>
              <a:uLnTx/>
              <a:uFillTx/>
              <a:latin typeface="獅尾四季春加糖SC-Bold" panose="020B0500000000000000" pitchFamily="34" charset="-120"/>
              <a:ea typeface="獅尾四季春加糖SC-Bold" panose="020B0500000000000000" pitchFamily="34" charset="-120"/>
              <a:cs typeface="+mn-cs"/>
            </a:endParaRPr>
          </a:p>
        </p:txBody>
      </p:sp>
      <p:sp>
        <p:nvSpPr>
          <p:cNvPr id="4" name="矩形 3"/>
          <p:cNvSpPr/>
          <p:nvPr/>
        </p:nvSpPr>
        <p:spPr>
          <a:xfrm>
            <a:off x="1819563" y="2567707"/>
            <a:ext cx="2512291" cy="204123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多头：主动做多</a:t>
            </a:r>
            <a:endParaRPr lang="zh-CN" altLang="en-US" dirty="0"/>
          </a:p>
        </p:txBody>
      </p:sp>
      <p:cxnSp>
        <p:nvCxnSpPr>
          <p:cNvPr id="7" name="直接连接符 6"/>
          <p:cNvCxnSpPr/>
          <p:nvPr/>
        </p:nvCxnSpPr>
        <p:spPr>
          <a:xfrm>
            <a:off x="1477819" y="4608944"/>
            <a:ext cx="320501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1819563" y="4627416"/>
            <a:ext cx="2512291" cy="95134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空头：主动做空</a:t>
            </a:r>
            <a:endParaRPr lang="zh-CN" altLang="en-US" dirty="0"/>
          </a:p>
        </p:txBody>
      </p:sp>
      <p:sp>
        <p:nvSpPr>
          <p:cNvPr id="39" name="矩形 38"/>
          <p:cNvSpPr/>
          <p:nvPr/>
        </p:nvSpPr>
        <p:spPr>
          <a:xfrm>
            <a:off x="1819563" y="5578761"/>
            <a:ext cx="2512291" cy="979055"/>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空头：被动做空</a:t>
            </a:r>
            <a:endParaRPr lang="zh-CN" altLang="en-US" dirty="0"/>
          </a:p>
        </p:txBody>
      </p:sp>
      <p:sp>
        <p:nvSpPr>
          <p:cNvPr id="56" name="文本框 55"/>
          <p:cNvSpPr txBox="1"/>
          <p:nvPr/>
        </p:nvSpPr>
        <p:spPr>
          <a:xfrm>
            <a:off x="7449127" y="1348694"/>
            <a:ext cx="3639128" cy="369332"/>
          </a:xfrm>
          <a:prstGeom prst="rect">
            <a:avLst/>
          </a:prstGeom>
          <a:noFill/>
        </p:spPr>
        <p:txBody>
          <a:bodyPr wrap="square" rtlCol="0">
            <a:spAutoFit/>
          </a:bodyPr>
          <a:lstStyle/>
          <a:p>
            <a:r>
              <a:rPr lang="zh-CN" altLang="en-US" b="1" dirty="0" smtClean="0"/>
              <a:t>新产品：多头 </a:t>
            </a:r>
            <a:r>
              <a:rPr lang="en-US" altLang="zh-CN" b="1" dirty="0" smtClean="0"/>
              <a:t>- </a:t>
            </a:r>
            <a:r>
              <a:rPr lang="zh-CN" altLang="en-US" b="1" dirty="0" smtClean="0"/>
              <a:t>空头 </a:t>
            </a:r>
            <a:r>
              <a:rPr lang="en-US" altLang="zh-CN" b="1" dirty="0" smtClean="0"/>
              <a:t>= 30%~60%</a:t>
            </a:r>
            <a:endParaRPr lang="zh-CN" altLang="en-US" b="1" dirty="0"/>
          </a:p>
        </p:txBody>
      </p:sp>
      <p:sp>
        <p:nvSpPr>
          <p:cNvPr id="59" name="文本框 58"/>
          <p:cNvSpPr txBox="1"/>
          <p:nvPr/>
        </p:nvSpPr>
        <p:spPr>
          <a:xfrm>
            <a:off x="1717965" y="1348694"/>
            <a:ext cx="4054762" cy="369332"/>
          </a:xfrm>
          <a:prstGeom prst="rect">
            <a:avLst/>
          </a:prstGeom>
          <a:noFill/>
        </p:spPr>
        <p:txBody>
          <a:bodyPr wrap="square" rtlCol="0">
            <a:spAutoFit/>
          </a:bodyPr>
          <a:lstStyle/>
          <a:p>
            <a:r>
              <a:rPr lang="zh-CN" altLang="en-US" b="1" dirty="0"/>
              <a:t>老</a:t>
            </a:r>
            <a:r>
              <a:rPr lang="zh-CN" altLang="en-US" b="1" dirty="0" smtClean="0"/>
              <a:t>账户：多头 </a:t>
            </a:r>
            <a:r>
              <a:rPr lang="en-US" altLang="zh-CN" b="1" dirty="0" smtClean="0"/>
              <a:t>= </a:t>
            </a:r>
            <a:r>
              <a:rPr lang="zh-CN" altLang="en-US" b="1" dirty="0" smtClean="0"/>
              <a:t>空头</a:t>
            </a:r>
            <a:endParaRPr lang="zh-CN" altLang="en-US" b="1" dirty="0"/>
          </a:p>
        </p:txBody>
      </p:sp>
      <p:sp>
        <p:nvSpPr>
          <p:cNvPr id="61" name="文本框 60"/>
          <p:cNvSpPr txBox="1"/>
          <p:nvPr/>
        </p:nvSpPr>
        <p:spPr>
          <a:xfrm>
            <a:off x="1717965" y="1901362"/>
            <a:ext cx="4054762" cy="400110"/>
          </a:xfrm>
          <a:prstGeom prst="rect">
            <a:avLst/>
          </a:prstGeom>
          <a:noFill/>
        </p:spPr>
        <p:txBody>
          <a:bodyPr wrap="square" rtlCol="0">
            <a:spAutoFit/>
          </a:bodyPr>
          <a:lstStyle/>
          <a:p>
            <a:r>
              <a:rPr lang="zh-CN" altLang="en-US" b="1" dirty="0" smtClean="0"/>
              <a:t>收益来源：  </a:t>
            </a:r>
            <a:r>
              <a:rPr lang="en-US" altLang="zh-CN" sz="2000" b="1" dirty="0" smtClean="0"/>
              <a:t>α</a:t>
            </a:r>
            <a:endParaRPr lang="zh-CN" altLang="en-US" b="1" dirty="0"/>
          </a:p>
        </p:txBody>
      </p:sp>
      <p:sp>
        <p:nvSpPr>
          <p:cNvPr id="62" name="文本框 61"/>
          <p:cNvSpPr txBox="1"/>
          <p:nvPr/>
        </p:nvSpPr>
        <p:spPr>
          <a:xfrm>
            <a:off x="7449140" y="1901362"/>
            <a:ext cx="4054762" cy="400110"/>
          </a:xfrm>
          <a:prstGeom prst="rect">
            <a:avLst/>
          </a:prstGeom>
          <a:noFill/>
        </p:spPr>
        <p:txBody>
          <a:bodyPr wrap="square" rtlCol="0">
            <a:spAutoFit/>
          </a:bodyPr>
          <a:lstStyle/>
          <a:p>
            <a:r>
              <a:rPr lang="zh-CN" altLang="en-US" b="1" dirty="0" smtClean="0"/>
              <a:t>收益来源：</a:t>
            </a:r>
            <a:r>
              <a:rPr lang="en-US" altLang="zh-CN" sz="2000" b="1" dirty="0" smtClean="0"/>
              <a:t>α + β</a:t>
            </a:r>
            <a:endParaRPr lang="zh-CN" altLang="en-US" b="1" dirty="0"/>
          </a:p>
        </p:txBody>
      </p:sp>
      <p:sp>
        <p:nvSpPr>
          <p:cNvPr id="12" name="右箭头 11"/>
          <p:cNvSpPr/>
          <p:nvPr/>
        </p:nvSpPr>
        <p:spPr>
          <a:xfrm>
            <a:off x="5523346" y="4285673"/>
            <a:ext cx="849745" cy="665018"/>
          </a:xfrm>
          <a:prstGeom prst="right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7550738" y="2526144"/>
            <a:ext cx="2512291" cy="2041237"/>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多头：主动做多</a:t>
            </a:r>
            <a:endParaRPr lang="zh-CN" altLang="en-US" dirty="0"/>
          </a:p>
        </p:txBody>
      </p:sp>
      <p:cxnSp>
        <p:nvCxnSpPr>
          <p:cNvPr id="64" name="直接连接符 63"/>
          <p:cNvCxnSpPr/>
          <p:nvPr/>
        </p:nvCxnSpPr>
        <p:spPr>
          <a:xfrm>
            <a:off x="7208994" y="4567381"/>
            <a:ext cx="320501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7550738" y="4585853"/>
            <a:ext cx="2512291" cy="95134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空头：主动做空</a:t>
            </a:r>
            <a:endParaRPr lang="zh-CN" altLang="en-US" dirty="0"/>
          </a:p>
        </p:txBody>
      </p:sp>
    </p:spTree>
    <p:extLst>
      <p:ext uri="{BB962C8B-B14F-4D97-AF65-F5344CB8AC3E}">
        <p14:creationId xmlns:p14="http://schemas.microsoft.com/office/powerpoint/2010/main" val="2980565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02955F2D-E140-4863-8553-F5A7F99F14B2}"/>
              </a:ext>
            </a:extLst>
          </p:cNvPr>
          <p:cNvSpPr/>
          <p:nvPr/>
        </p:nvSpPr>
        <p:spPr>
          <a:xfrm>
            <a:off x="244237" y="5974081"/>
            <a:ext cx="11111740" cy="746358"/>
          </a:xfrm>
          <a:prstGeom prst="rect">
            <a:avLst/>
          </a:prstGeom>
        </p:spPr>
        <p:txBody>
          <a:bodyPr wrap="square">
            <a:spAutoFit/>
          </a:bodyPr>
          <a:lstStyle/>
          <a:p>
            <a:pPr>
              <a:spcBef>
                <a:spcPts val="81"/>
              </a:spcBef>
            </a:pPr>
            <a:r>
              <a:rPr lang="zh-CN" altLang="en-US" sz="800" dirty="0">
                <a:ea typeface="思源黑体 CN Regular" panose="020B0500000000000000" pitchFamily="34" charset="-122"/>
              </a:rPr>
              <a:t>资料来源</a:t>
            </a:r>
            <a:r>
              <a:rPr lang="zh-CN" altLang="en-US" sz="800" dirty="0" smtClean="0">
                <a:ea typeface="思源黑体 CN Regular" panose="020B0500000000000000" pitchFamily="34" charset="-122"/>
              </a:rPr>
              <a:t>：</a:t>
            </a:r>
            <a:endParaRPr lang="en-US" altLang="zh-CN" sz="800" dirty="0" smtClean="0">
              <a:ea typeface="思源黑体 CN Regular" panose="020B0500000000000000" pitchFamily="34" charset="-122"/>
            </a:endParaRPr>
          </a:p>
          <a:p>
            <a:pPr>
              <a:spcBef>
                <a:spcPts val="81"/>
              </a:spcBef>
            </a:pPr>
            <a:r>
              <a:rPr lang="en-US" altLang="zh-CN" sz="800" dirty="0" smtClean="0">
                <a:ea typeface="思源黑体 CN Regular" panose="020B0500000000000000" pitchFamily="34" charset="-122"/>
              </a:rPr>
              <a:t>1</a:t>
            </a:r>
            <a:r>
              <a:rPr lang="zh-CN" altLang="en-US" sz="800" dirty="0" smtClean="0">
                <a:ea typeface="思源黑体 CN Regular" panose="020B0500000000000000" pitchFamily="34" charset="-122"/>
              </a:rPr>
              <a:t>、</a:t>
            </a:r>
            <a:r>
              <a:rPr lang="en-US" altLang="zh-CN" sz="800" dirty="0" smtClean="0">
                <a:ea typeface="思源黑体 CN Regular" panose="020B0500000000000000" pitchFamily="34" charset="-122"/>
              </a:rPr>
              <a:t>Point72</a:t>
            </a:r>
            <a:r>
              <a:rPr lang="zh-CN" altLang="en-US" sz="800" dirty="0">
                <a:ea typeface="思源黑体 CN Regular" panose="020B0500000000000000" pitchFamily="34" charset="-122"/>
              </a:rPr>
              <a:t>，截至</a:t>
            </a:r>
            <a:r>
              <a:rPr lang="en-US" altLang="zh-CN" sz="800" dirty="0">
                <a:ea typeface="思源黑体 CN Regular" panose="020B0500000000000000" pitchFamily="34" charset="-122"/>
              </a:rPr>
              <a:t>2024</a:t>
            </a:r>
            <a:r>
              <a:rPr lang="zh-CN" altLang="en-US" sz="800" dirty="0" smtClean="0">
                <a:ea typeface="思源黑体 CN Regular" panose="020B0500000000000000" pitchFamily="34" charset="-122"/>
              </a:rPr>
              <a:t>年</a:t>
            </a:r>
            <a:r>
              <a:rPr lang="en-US" altLang="zh-CN" sz="800" dirty="0">
                <a:ea typeface="思源黑体 CN Regular" panose="020B0500000000000000" pitchFamily="34" charset="-122"/>
              </a:rPr>
              <a:t>9</a:t>
            </a:r>
            <a:r>
              <a:rPr lang="zh-CN" altLang="en-US" sz="800" dirty="0" smtClean="0">
                <a:ea typeface="思源黑体 CN Regular" panose="020B0500000000000000" pitchFamily="34" charset="-122"/>
              </a:rPr>
              <a:t>月</a:t>
            </a:r>
            <a:r>
              <a:rPr lang="en-US" altLang="zh-CN" sz="800" dirty="0" smtClean="0">
                <a:ea typeface="思源黑体 CN Regular" panose="020B0500000000000000" pitchFamily="34" charset="-122"/>
              </a:rPr>
              <a:t>30</a:t>
            </a:r>
            <a:r>
              <a:rPr lang="zh-CN" altLang="en-US" sz="800" dirty="0" smtClean="0">
                <a:ea typeface="思源黑体 CN Regular" panose="020B0500000000000000" pitchFamily="34" charset="-122"/>
              </a:rPr>
              <a:t>日，为扣除</a:t>
            </a:r>
            <a:r>
              <a:rPr lang="en-US" altLang="zh-CN" sz="800" dirty="0" smtClean="0">
                <a:ea typeface="思源黑体 CN Regular" panose="020B0500000000000000" pitchFamily="34" charset="-122"/>
              </a:rPr>
              <a:t>2%/</a:t>
            </a:r>
            <a:r>
              <a:rPr lang="zh-CN" altLang="en-US" sz="800" dirty="0" smtClean="0">
                <a:ea typeface="思源黑体 CN Regular" panose="020B0500000000000000" pitchFamily="34" charset="-122"/>
              </a:rPr>
              <a:t>年管理费</a:t>
            </a:r>
            <a:r>
              <a:rPr lang="en-US" altLang="zh-CN" sz="800" dirty="0" smtClean="0">
                <a:ea typeface="思源黑体 CN Regular" panose="020B0500000000000000" pitchFamily="34" charset="-122"/>
              </a:rPr>
              <a:t>+20%</a:t>
            </a:r>
            <a:r>
              <a:rPr lang="zh-CN" altLang="en-US" sz="800" dirty="0" smtClean="0">
                <a:ea typeface="思源黑体 CN Regular" panose="020B0500000000000000" pitchFamily="34" charset="-122"/>
              </a:rPr>
              <a:t>业绩报酬的费后收益。</a:t>
            </a:r>
            <a:endParaRPr lang="en-US" altLang="zh-CN" sz="800" dirty="0" smtClean="0">
              <a:ea typeface="思源黑体 CN Regular" panose="020B0500000000000000" pitchFamily="34" charset="-122"/>
            </a:endParaRPr>
          </a:p>
          <a:p>
            <a:pPr>
              <a:spcBef>
                <a:spcPts val="81"/>
              </a:spcBef>
            </a:pPr>
            <a:r>
              <a:rPr lang="en-US" altLang="zh-CN" sz="800" dirty="0" smtClean="0">
                <a:ea typeface="思源黑体 CN Regular" panose="020B0500000000000000" pitchFamily="34" charset="-122"/>
              </a:rPr>
              <a:t>2</a:t>
            </a:r>
            <a:r>
              <a:rPr lang="zh-CN" altLang="en-US" sz="800" dirty="0" smtClean="0">
                <a:ea typeface="思源黑体 CN Regular" panose="020B0500000000000000" pitchFamily="34" charset="-122"/>
              </a:rPr>
              <a:t>、</a:t>
            </a:r>
            <a:r>
              <a:rPr lang="zh-CN" altLang="en-US" sz="800" b="1" dirty="0" smtClean="0">
                <a:solidFill>
                  <a:srgbClr val="C00000"/>
                </a:solidFill>
                <a:ea typeface="思源黑体 CN Regular" panose="020B0500000000000000" pitchFamily="34" charset="-122"/>
              </a:rPr>
              <a:t>对冲业绩为投资经理所管理的投资组合中提取的投资子集的表现；非对冲业绩为多头持仓的投资子集的表现。</a:t>
            </a:r>
            <a:endParaRPr lang="en-US" altLang="zh-CN" sz="800" b="1" dirty="0" smtClean="0">
              <a:solidFill>
                <a:srgbClr val="C00000"/>
              </a:solidFill>
              <a:ea typeface="思源黑体 CN Regular" panose="020B0500000000000000" pitchFamily="34" charset="-122"/>
            </a:endParaRPr>
          </a:p>
          <a:p>
            <a:pPr>
              <a:spcBef>
                <a:spcPts val="81"/>
              </a:spcBef>
            </a:pPr>
            <a:r>
              <a:rPr lang="en-US" altLang="zh-CN" sz="800" b="1" dirty="0">
                <a:solidFill>
                  <a:srgbClr val="C00000"/>
                </a:solidFill>
                <a:ea typeface="思源黑体 CN Regular" panose="020B0500000000000000" pitchFamily="34" charset="-122"/>
              </a:rPr>
              <a:t>3</a:t>
            </a:r>
            <a:r>
              <a:rPr lang="zh-CN" altLang="en-US" sz="800" b="1" dirty="0" smtClean="0">
                <a:solidFill>
                  <a:srgbClr val="C00000"/>
                </a:solidFill>
                <a:ea typeface="思源黑体 CN Regular" panose="020B0500000000000000" pitchFamily="34" charset="-122"/>
              </a:rPr>
              <a:t>、所</a:t>
            </a:r>
            <a:r>
              <a:rPr lang="zh-CN" altLang="en-US" sz="800" b="1" dirty="0">
                <a:solidFill>
                  <a:srgbClr val="C00000"/>
                </a:solidFill>
                <a:ea typeface="思源黑体 CN Regular" panose="020B0500000000000000" pitchFamily="34" charset="-122"/>
              </a:rPr>
              <a:t>示业绩展示了投资经理过去实际业绩表现信息，这是投资经理所管理的投资组合中提取的投资子集的表现</a:t>
            </a:r>
            <a:r>
              <a:rPr lang="zh-CN" altLang="en-US" sz="800" dirty="0">
                <a:ea typeface="思源黑体 CN Regular" panose="020B0500000000000000" pitchFamily="34" charset="-122"/>
              </a:rPr>
              <a:t>，不包括</a:t>
            </a:r>
            <a:r>
              <a:rPr lang="en-US" altLang="zh-CN" sz="800" dirty="0">
                <a:ea typeface="思源黑体 CN Regular" panose="020B0500000000000000" pitchFamily="34" charset="-122"/>
              </a:rPr>
              <a:t>Point72</a:t>
            </a:r>
            <a:r>
              <a:rPr lang="zh-CN" altLang="en-US" sz="800" dirty="0">
                <a:ea typeface="思源黑体 CN Regular" panose="020B0500000000000000" pitchFamily="34" charset="-122"/>
              </a:rPr>
              <a:t>基金中由其他投资组合经理管理的其他投资的表现。投资基金的业绩表现仅供参考</a:t>
            </a:r>
            <a:r>
              <a:rPr lang="en-US" altLang="zh-CN" sz="800" dirty="0">
                <a:ea typeface="思源黑体 CN Regular" panose="020B0500000000000000" pitchFamily="34" charset="-122"/>
              </a:rPr>
              <a:t>--</a:t>
            </a:r>
            <a:r>
              <a:rPr lang="zh-CN" altLang="en-US" sz="800" dirty="0">
                <a:ea typeface="思源黑体 CN Regular" panose="020B0500000000000000" pitchFamily="34" charset="-122"/>
              </a:rPr>
              <a:t>因为投资经理组合是更广泛的</a:t>
            </a:r>
            <a:r>
              <a:rPr lang="en-US" altLang="zh-CN" sz="800" dirty="0">
                <a:ea typeface="思源黑体 CN Regular" panose="020B0500000000000000" pitchFamily="34" charset="-122"/>
              </a:rPr>
              <a:t>Point72</a:t>
            </a:r>
            <a:r>
              <a:rPr lang="zh-CN" altLang="en-US" sz="800" dirty="0">
                <a:ea typeface="思源黑体 CN Regular" panose="020B0500000000000000" pitchFamily="34" charset="-122"/>
              </a:rPr>
              <a:t>基金组合的子集，潜在投资者不能单独投资于投资经理投资组合。</a:t>
            </a:r>
            <a:r>
              <a:rPr lang="en-US" altLang="zh-CN" sz="800" b="1" dirty="0">
                <a:solidFill>
                  <a:srgbClr val="C00000"/>
                </a:solidFill>
                <a:ea typeface="思源黑体 CN Regular" panose="020B0500000000000000" pitchFamily="34" charset="-122"/>
              </a:rPr>
              <a:t>Turion</a:t>
            </a:r>
            <a:r>
              <a:rPr lang="zh-CN" altLang="en-US" sz="800" b="1" dirty="0">
                <a:solidFill>
                  <a:srgbClr val="C00000"/>
                </a:solidFill>
                <a:ea typeface="思源黑体 CN Regular" panose="020B0500000000000000" pitchFamily="34" charset="-122"/>
              </a:rPr>
              <a:t>基金将作为一个独立基金运作</a:t>
            </a:r>
            <a:r>
              <a:rPr lang="zh-CN" altLang="en-US" sz="800" dirty="0">
                <a:ea typeface="思源黑体 CN Regular" panose="020B0500000000000000" pitchFamily="34" charset="-122"/>
              </a:rPr>
              <a:t>。投资涉及风险，过去表现不代表或不保证未来表现。</a:t>
            </a:r>
          </a:p>
        </p:txBody>
      </p:sp>
      <p:graphicFrame>
        <p:nvGraphicFramePr>
          <p:cNvPr id="4" name="图表 3"/>
          <p:cNvGraphicFramePr>
            <a:graphicFrameLocks/>
          </p:cNvGraphicFramePr>
          <p:nvPr>
            <p:extLst/>
          </p:nvPr>
        </p:nvGraphicFramePr>
        <p:xfrm>
          <a:off x="244237" y="1233625"/>
          <a:ext cx="7419306" cy="474045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404911543"/>
              </p:ext>
            </p:extLst>
          </p:nvPr>
        </p:nvGraphicFramePr>
        <p:xfrm>
          <a:off x="8091055" y="1029550"/>
          <a:ext cx="3759199" cy="5070675"/>
        </p:xfrm>
        <a:graphic>
          <a:graphicData uri="http://schemas.openxmlformats.org/drawingml/2006/table">
            <a:tbl>
              <a:tblPr firstRow="1">
                <a:tableStyleId>{9D7B26C5-4107-4FEC-AEDC-1716B250A1EF}</a:tableStyleId>
              </a:tblPr>
              <a:tblGrid>
                <a:gridCol w="1281609">
                  <a:extLst>
                    <a:ext uri="{9D8B030D-6E8A-4147-A177-3AD203B41FA5}">
                      <a16:colId xmlns:a16="http://schemas.microsoft.com/office/drawing/2014/main" val="4258707227"/>
                    </a:ext>
                  </a:extLst>
                </a:gridCol>
                <a:gridCol w="1210444">
                  <a:extLst>
                    <a:ext uri="{9D8B030D-6E8A-4147-A177-3AD203B41FA5}">
                      <a16:colId xmlns:a16="http://schemas.microsoft.com/office/drawing/2014/main" val="1750354153"/>
                    </a:ext>
                  </a:extLst>
                </a:gridCol>
                <a:gridCol w="1267146">
                  <a:extLst>
                    <a:ext uri="{9D8B030D-6E8A-4147-A177-3AD203B41FA5}">
                      <a16:colId xmlns:a16="http://schemas.microsoft.com/office/drawing/2014/main" val="4258249650"/>
                    </a:ext>
                  </a:extLst>
                </a:gridCol>
              </a:tblGrid>
              <a:tr h="522159">
                <a:tc>
                  <a:txBody>
                    <a:bodyPr/>
                    <a:lstStyle/>
                    <a:p>
                      <a:pPr algn="ctr" fontAlgn="ctr"/>
                      <a:r>
                        <a:rPr lang="zh-CN" altLang="en-US" sz="1200" u="none" strike="noStrike" dirty="0">
                          <a:effectLst/>
                        </a:rPr>
                        <a:t>　</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ctr"/>
                      <a:r>
                        <a:rPr lang="zh-CN" altLang="en-US" sz="1200" b="1" u="none" strike="noStrike" kern="1200" dirty="0" smtClean="0">
                          <a:solidFill>
                            <a:srgbClr val="C00000"/>
                          </a:solidFill>
                          <a:effectLst/>
                          <a:latin typeface="+mn-lt"/>
                          <a:ea typeface="+mn-ea"/>
                          <a:cs typeface="+mn-cs"/>
                        </a:rPr>
                        <a:t>实盘业绩</a:t>
                      </a:r>
                      <a:endParaRPr lang="en-US" altLang="zh-CN" sz="1200" b="1" u="none" strike="noStrike" kern="1200" dirty="0" smtClean="0">
                        <a:solidFill>
                          <a:srgbClr val="C00000"/>
                        </a:solidFill>
                        <a:effectLst/>
                        <a:latin typeface="+mn-lt"/>
                        <a:ea typeface="+mn-ea"/>
                        <a:cs typeface="+mn-cs"/>
                      </a:endParaRPr>
                    </a:p>
                    <a:p>
                      <a:pPr algn="ctr" fontAlgn="ctr"/>
                      <a:r>
                        <a:rPr lang="zh-CN" altLang="en-US" sz="1200" b="1" u="none" strike="noStrike" kern="1200" dirty="0" smtClean="0">
                          <a:solidFill>
                            <a:srgbClr val="C00000"/>
                          </a:solidFill>
                          <a:effectLst/>
                          <a:latin typeface="+mn-lt"/>
                          <a:ea typeface="+mn-ea"/>
                          <a:cs typeface="+mn-cs"/>
                        </a:rPr>
                        <a:t>（对冲）</a:t>
                      </a:r>
                      <a:endParaRPr lang="zh-CN" altLang="en-US" sz="1200" b="1" u="none" strike="noStrike" kern="1200" dirty="0">
                        <a:solidFill>
                          <a:srgbClr val="C00000"/>
                        </a:solidFill>
                        <a:effectLst/>
                        <a:latin typeface="+mn-lt"/>
                        <a:ea typeface="+mn-ea"/>
                        <a:cs typeface="+mn-cs"/>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200" b="1" u="none" strike="noStrike" kern="1200" dirty="0" smtClean="0">
                          <a:solidFill>
                            <a:srgbClr val="C00000"/>
                          </a:solidFill>
                          <a:effectLst/>
                          <a:latin typeface="+mn-lt"/>
                          <a:ea typeface="+mn-ea"/>
                          <a:cs typeface="+mn-cs"/>
                        </a:rPr>
                        <a:t>实盘业绩</a:t>
                      </a:r>
                    </a:p>
                    <a:p>
                      <a:pPr algn="ctr" fontAlgn="ctr"/>
                      <a:r>
                        <a:rPr lang="zh-CN" altLang="en-US" sz="1200" b="1" u="none" strike="noStrike" kern="1200" dirty="0" smtClean="0">
                          <a:solidFill>
                            <a:srgbClr val="C00000"/>
                          </a:solidFill>
                          <a:effectLst/>
                          <a:latin typeface="+mn-lt"/>
                          <a:ea typeface="+mn-ea"/>
                          <a:cs typeface="+mn-cs"/>
                        </a:rPr>
                        <a:t>（非对冲）</a:t>
                      </a:r>
                      <a:endParaRPr lang="zh-CN" altLang="en-US" sz="1200" b="1" u="none" strike="noStrike" kern="1200" dirty="0">
                        <a:solidFill>
                          <a:srgbClr val="C00000"/>
                        </a:solidFill>
                        <a:effectLst/>
                        <a:latin typeface="+mn-lt"/>
                        <a:ea typeface="+mn-ea"/>
                        <a:cs typeface="+mn-cs"/>
                      </a:endParaRPr>
                    </a:p>
                  </a:txBody>
                  <a:tcPr marL="9525" marR="9525" marT="9525" marB="0" anchor="ctr"/>
                </a:tc>
                <a:extLst>
                  <a:ext uri="{0D108BD9-81ED-4DB2-BD59-A6C34878D82A}">
                    <a16:rowId xmlns:a16="http://schemas.microsoft.com/office/drawing/2014/main" val="2470171375"/>
                  </a:ext>
                </a:extLst>
              </a:tr>
              <a:tr h="379043">
                <a:tc>
                  <a:txBody>
                    <a:bodyPr/>
                    <a:lstStyle/>
                    <a:p>
                      <a:pPr algn="ctr" fontAlgn="b"/>
                      <a:r>
                        <a:rPr lang="zh-CN" altLang="en-US" sz="1200" b="1" u="none" strike="noStrike" dirty="0">
                          <a:effectLst/>
                        </a:rPr>
                        <a:t>成立日期</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2020/7/31</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r>
                        <a:rPr lang="zh-CN" altLang="en-US" sz="1600" u="none" strike="noStrike">
                          <a:effectLst/>
                        </a:rPr>
                        <a:t>　</a:t>
                      </a:r>
                      <a:endParaRPr lang="zh-CN" altLang="en-US" sz="1600" b="0" i="0" u="none" strike="noStrike">
                        <a:solidFill>
                          <a:srgbClr val="000000"/>
                        </a:solidFill>
                        <a:effectLst/>
                        <a:latin typeface="等线" panose="02010600030101010101" pitchFamily="2" charset="-122"/>
                        <a:ea typeface="等线" panose="02010600030101010101" pitchFamily="2" charset="-122"/>
                      </a:endParaRPr>
                    </a:p>
                  </a:txBody>
                  <a:tcPr marL="9525" marR="9525" marT="9525" marB="0" anchor="ctr"/>
                </a:tc>
                <a:extLst>
                  <a:ext uri="{0D108BD9-81ED-4DB2-BD59-A6C34878D82A}">
                    <a16:rowId xmlns:a16="http://schemas.microsoft.com/office/drawing/2014/main" val="349184879"/>
                  </a:ext>
                </a:extLst>
              </a:tr>
              <a:tr h="379043">
                <a:tc>
                  <a:txBody>
                    <a:bodyPr/>
                    <a:lstStyle/>
                    <a:p>
                      <a:pPr algn="ctr" fontAlgn="b"/>
                      <a:r>
                        <a:rPr lang="zh-CN" altLang="en-US" sz="1200" b="1" u="none" strike="noStrike" dirty="0">
                          <a:effectLst/>
                        </a:rPr>
                        <a:t>最新净值</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510.52 </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a:effectLst/>
                        </a:rPr>
                        <a:t>1037.82 </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560880142"/>
                  </a:ext>
                </a:extLst>
              </a:tr>
              <a:tr h="379043">
                <a:tc>
                  <a:txBody>
                    <a:bodyPr/>
                    <a:lstStyle/>
                    <a:p>
                      <a:pPr algn="ctr" fontAlgn="b"/>
                      <a:r>
                        <a:rPr lang="zh-CN" altLang="en-US" sz="1200" b="1" u="none" strike="noStrike" dirty="0">
                          <a:effectLst/>
                        </a:rPr>
                        <a:t>成立以来收益率</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200" b="1" u="none" strike="noStrike" dirty="0">
                          <a:solidFill>
                            <a:srgbClr val="C00000"/>
                          </a:solidFill>
                          <a:effectLst/>
                        </a:rPr>
                        <a:t>410.5%</a:t>
                      </a:r>
                      <a:endParaRPr lang="en-US" altLang="zh-CN" sz="1200" b="1" i="0" u="none" strike="noStrike" dirty="0">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200" b="1" u="none" strike="noStrike">
                          <a:solidFill>
                            <a:srgbClr val="C00000"/>
                          </a:solidFill>
                          <a:effectLst/>
                        </a:rPr>
                        <a:t>937.8%</a:t>
                      </a:r>
                      <a:endParaRPr lang="en-US" altLang="zh-CN" sz="1200" b="1" i="0" u="none" strike="noStrike">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2951663363"/>
                  </a:ext>
                </a:extLst>
              </a:tr>
              <a:tr h="379043">
                <a:tc>
                  <a:txBody>
                    <a:bodyPr/>
                    <a:lstStyle/>
                    <a:p>
                      <a:pPr algn="ctr" fontAlgn="b"/>
                      <a:r>
                        <a:rPr lang="zh-CN" altLang="en-US" sz="1200" b="1" u="none" strike="noStrike" dirty="0">
                          <a:effectLst/>
                        </a:rPr>
                        <a:t>年化收益率</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200" b="1" u="none" strike="noStrike" dirty="0">
                          <a:solidFill>
                            <a:srgbClr val="C00000"/>
                          </a:solidFill>
                          <a:effectLst/>
                        </a:rPr>
                        <a:t>47.8%</a:t>
                      </a:r>
                      <a:endParaRPr lang="en-US" altLang="zh-CN" sz="1200" b="1" i="0" u="none" strike="noStrike" dirty="0">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tc>
                  <a:txBody>
                    <a:bodyPr/>
                    <a:lstStyle/>
                    <a:p>
                      <a:pPr algn="ctr" fontAlgn="b"/>
                      <a:r>
                        <a:rPr lang="en-US" altLang="zh-CN" sz="1200" b="1" u="none" strike="noStrike" dirty="0">
                          <a:solidFill>
                            <a:srgbClr val="C00000"/>
                          </a:solidFill>
                          <a:effectLst/>
                        </a:rPr>
                        <a:t>75.3%</a:t>
                      </a:r>
                      <a:endParaRPr lang="en-US" altLang="zh-CN" sz="1200" b="1" i="0" u="none" strike="noStrike" dirty="0">
                        <a:solidFill>
                          <a:srgbClr val="C00000"/>
                        </a:solidFill>
                        <a:effectLst/>
                        <a:latin typeface="微软雅黑" panose="020B0503020204020204" pitchFamily="34" charset="-122"/>
                        <a:ea typeface="微软雅黑" panose="020B0503020204020204" pitchFamily="34" charset="-122"/>
                      </a:endParaRPr>
                    </a:p>
                  </a:txBody>
                  <a:tcPr marL="9525" marR="9525" marT="9525" marB="0" anchor="ctr">
                    <a:solidFill>
                      <a:schemeClr val="accent2">
                        <a:lumMod val="20000"/>
                        <a:lumOff val="80000"/>
                      </a:schemeClr>
                    </a:solidFill>
                  </a:tcPr>
                </a:tc>
                <a:extLst>
                  <a:ext uri="{0D108BD9-81ED-4DB2-BD59-A6C34878D82A}">
                    <a16:rowId xmlns:a16="http://schemas.microsoft.com/office/drawing/2014/main" val="2077141769"/>
                  </a:ext>
                </a:extLst>
              </a:tr>
              <a:tr h="379043">
                <a:tc>
                  <a:txBody>
                    <a:bodyPr/>
                    <a:lstStyle/>
                    <a:p>
                      <a:pPr algn="ctr" fontAlgn="b"/>
                      <a:r>
                        <a:rPr lang="zh-CN" altLang="en-US" sz="1200" b="1" u="none" strike="noStrike" dirty="0">
                          <a:effectLst/>
                        </a:rPr>
                        <a:t>最大回撤（月度）</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-10.9%</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-74.4%</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649033196"/>
                  </a:ext>
                </a:extLst>
              </a:tr>
              <a:tr h="379043">
                <a:tc>
                  <a:txBody>
                    <a:bodyPr/>
                    <a:lstStyle/>
                    <a:p>
                      <a:pPr algn="ctr" fontAlgn="b"/>
                      <a:r>
                        <a:rPr lang="zh-CN" altLang="en-US" sz="1200" b="1" u="none" strike="noStrike" dirty="0">
                          <a:effectLst/>
                        </a:rPr>
                        <a:t>波动率</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22.6%</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77.4%</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742320978"/>
                  </a:ext>
                </a:extLst>
              </a:tr>
              <a:tr h="379043">
                <a:tc>
                  <a:txBody>
                    <a:bodyPr/>
                    <a:lstStyle/>
                    <a:p>
                      <a:pPr algn="ctr" fontAlgn="b"/>
                      <a:r>
                        <a:rPr lang="zh-CN" altLang="en-US" sz="1200" b="1" u="none" strike="noStrike" dirty="0">
                          <a:effectLst/>
                        </a:rPr>
                        <a:t>夏普比例</a:t>
                      </a:r>
                      <a:endParaRPr lang="zh-CN" altLang="en-US"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2.12 </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a:effectLst/>
                        </a:rPr>
                        <a:t>0.97 </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2476509046"/>
                  </a:ext>
                </a:extLst>
              </a:tr>
              <a:tr h="379043">
                <a:tc>
                  <a:txBody>
                    <a:bodyPr/>
                    <a:lstStyle/>
                    <a:p>
                      <a:pPr algn="ctr" fontAlgn="b"/>
                      <a:r>
                        <a:rPr lang="en-US" altLang="zh-CN" sz="1200" b="1" u="none" strike="noStrike" dirty="0" smtClean="0">
                          <a:effectLst/>
                        </a:rPr>
                        <a:t>2020*</a:t>
                      </a:r>
                      <a:endParaRPr lang="en-US" altLang="zh-CN"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smtClean="0">
                          <a:effectLst/>
                        </a:rPr>
                        <a:t>15.6%</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a:effectLst/>
                        </a:rPr>
                        <a:t>85.7%</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1865109266"/>
                  </a:ext>
                </a:extLst>
              </a:tr>
              <a:tr h="379043">
                <a:tc>
                  <a:txBody>
                    <a:bodyPr/>
                    <a:lstStyle/>
                    <a:p>
                      <a:pPr algn="ctr" fontAlgn="b"/>
                      <a:r>
                        <a:rPr lang="en-US" altLang="zh-CN" sz="1200" b="1" u="none" strike="noStrike" dirty="0">
                          <a:effectLst/>
                        </a:rPr>
                        <a:t>2021</a:t>
                      </a:r>
                      <a:endParaRPr lang="en-US" altLang="zh-CN"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smtClean="0">
                          <a:effectLst/>
                        </a:rPr>
                        <a:t>82.1%</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a:effectLst/>
                        </a:rPr>
                        <a:t>212.2%</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318913887"/>
                  </a:ext>
                </a:extLst>
              </a:tr>
              <a:tr h="379043">
                <a:tc>
                  <a:txBody>
                    <a:bodyPr/>
                    <a:lstStyle/>
                    <a:p>
                      <a:pPr algn="ctr" fontAlgn="b"/>
                      <a:r>
                        <a:rPr lang="en-US" altLang="zh-CN" sz="1200" b="1" u="none" strike="noStrike" dirty="0">
                          <a:effectLst/>
                        </a:rPr>
                        <a:t>2022</a:t>
                      </a:r>
                      <a:endParaRPr lang="en-US" altLang="zh-CN"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smtClean="0">
                          <a:effectLst/>
                        </a:rPr>
                        <a:t>22.8%</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-71.6%</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883110460"/>
                  </a:ext>
                </a:extLst>
              </a:tr>
              <a:tr h="379043">
                <a:tc>
                  <a:txBody>
                    <a:bodyPr/>
                    <a:lstStyle/>
                    <a:p>
                      <a:pPr algn="ctr" fontAlgn="b"/>
                      <a:r>
                        <a:rPr lang="en-US" altLang="zh-CN" sz="1200" b="1" u="none" strike="noStrike" dirty="0">
                          <a:effectLst/>
                        </a:rPr>
                        <a:t>2023</a:t>
                      </a:r>
                      <a:endParaRPr lang="en-US" altLang="zh-CN"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32.4%</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240.8%</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3402859887"/>
                  </a:ext>
                </a:extLst>
              </a:tr>
              <a:tr h="379043">
                <a:tc>
                  <a:txBody>
                    <a:bodyPr/>
                    <a:lstStyle/>
                    <a:p>
                      <a:pPr algn="ctr" fontAlgn="b"/>
                      <a:r>
                        <a:rPr lang="en-US" altLang="zh-CN" sz="1200" b="1" u="none" strike="noStrike" dirty="0">
                          <a:effectLst/>
                        </a:rPr>
                        <a:t>2024/9/30</a:t>
                      </a:r>
                      <a:endParaRPr lang="en-US" altLang="zh-CN" sz="1200" b="1"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smtClean="0">
                          <a:effectLst/>
                        </a:rPr>
                        <a:t>49.1%</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ctr" fontAlgn="b"/>
                      <a:r>
                        <a:rPr lang="en-US" altLang="zh-CN" sz="1200" u="none" strike="noStrike" dirty="0">
                          <a:effectLst/>
                        </a:rPr>
                        <a:t>84.8%</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extLst>
                  <a:ext uri="{0D108BD9-81ED-4DB2-BD59-A6C34878D82A}">
                    <a16:rowId xmlns:a16="http://schemas.microsoft.com/office/drawing/2014/main" val="838388858"/>
                  </a:ext>
                </a:extLst>
              </a:tr>
            </a:tbl>
          </a:graphicData>
        </a:graphic>
      </p:graphicFrame>
      <p:sp>
        <p:nvSpPr>
          <p:cNvPr id="7" name="矩形 6"/>
          <p:cNvSpPr/>
          <p:nvPr>
            <p:custDataLst>
              <p:tags r:id="rId1"/>
            </p:custDataLst>
          </p:nvPr>
        </p:nvSpPr>
        <p:spPr>
          <a:xfrm rot="5400000">
            <a:off x="1636943" y="-387737"/>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8" name="标题 14"/>
          <p:cNvSpPr txBox="1">
            <a:spLocks/>
          </p:cNvSpPr>
          <p:nvPr/>
        </p:nvSpPr>
        <p:spPr>
          <a:xfrm>
            <a:off x="178614" y="-157867"/>
            <a:ext cx="7550552" cy="800735"/>
          </a:xfrm>
          <a:prstGeom prst="rect">
            <a:avLst/>
          </a:prstGeom>
        </p:spPr>
        <p:txBody>
          <a:bodyPr vert="horz" lIns="90000" tIns="46800" rIns="90000" bIns="468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Eric</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账户实盘</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业绩</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：对冲</a:t>
            </a:r>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 V.S </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非对冲</a:t>
            </a:r>
          </a:p>
        </p:txBody>
      </p:sp>
    </p:spTree>
    <p:extLst>
      <p:ext uri="{BB962C8B-B14F-4D97-AF65-F5344CB8AC3E}">
        <p14:creationId xmlns:p14="http://schemas.microsoft.com/office/powerpoint/2010/main" val="151973683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标题 14"/>
          <p:cNvSpPr>
            <a:spLocks noGrp="1"/>
          </p:cNvSpPr>
          <p:nvPr>
            <p:ph type="ctrTitle"/>
          </p:nvPr>
        </p:nvSpPr>
        <p:spPr>
          <a:xfrm>
            <a:off x="323273" y="-1134"/>
            <a:ext cx="7266916" cy="800735"/>
          </a:xfrm>
        </p:spPr>
        <p:txBody>
          <a:bodyPr vert="horz" lIns="90000" tIns="46800" rIns="90000" bIns="46800" rtlCol="0" anchor="b" anchorCtr="0">
            <a:noAutofit/>
          </a:bodyPr>
          <a:lstStyle/>
          <a:p>
            <a:pPr algn="l">
              <a:spcBef>
                <a:spcPts val="0"/>
              </a:spcBef>
              <a:defRPr/>
            </a:pPr>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P72 Turion</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基金</a:t>
            </a:r>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策略概述</a:t>
            </a:r>
          </a:p>
        </p:txBody>
      </p:sp>
      <p:pic>
        <p:nvPicPr>
          <p:cNvPr id="5" name="图片 4" descr="未标题-1"/>
          <p:cNvPicPr>
            <a:picLocks noChangeAspect="1"/>
          </p:cNvPicPr>
          <p:nvPr/>
        </p:nvPicPr>
        <p:blipFill>
          <a:blip r:embed="rId5"/>
          <a:stretch>
            <a:fillRect/>
          </a:stretch>
        </p:blipFill>
        <p:spPr>
          <a:xfrm>
            <a:off x="11133455" y="295910"/>
            <a:ext cx="771525" cy="187960"/>
          </a:xfrm>
          <a:prstGeom prst="rect">
            <a:avLst/>
          </a:prstGeom>
        </p:spPr>
      </p:pic>
      <p:sp>
        <p:nvSpPr>
          <p:cNvPr id="6" name="Rectangle 9">
            <a:extLst>
              <a:ext uri="{FF2B5EF4-FFF2-40B4-BE49-F238E27FC236}">
                <a16:creationId xmlns:a16="http://schemas.microsoft.com/office/drawing/2014/main" id="{02955F2D-E140-4863-8553-F5A7F99F14B2}"/>
              </a:ext>
            </a:extLst>
          </p:cNvPr>
          <p:cNvSpPr/>
          <p:nvPr/>
        </p:nvSpPr>
        <p:spPr>
          <a:xfrm>
            <a:off x="806754" y="6621680"/>
            <a:ext cx="10458628" cy="246221"/>
          </a:xfrm>
          <a:prstGeom prst="rect">
            <a:avLst/>
          </a:prstGeom>
        </p:spPr>
        <p:txBody>
          <a:bodyPr wrap="square">
            <a:spAutoFit/>
          </a:bodyPr>
          <a:lstStyle/>
          <a:p>
            <a:pPr>
              <a:spcBef>
                <a:spcPts val="81"/>
              </a:spcBef>
            </a:pPr>
            <a:r>
              <a:rPr lang="zh-CN" altLang="en-US" sz="1000" dirty="0">
                <a:ea typeface="思源黑体 CN Regular" panose="020B0500000000000000" pitchFamily="34" charset="-122"/>
              </a:rPr>
              <a:t>信息来源： </a:t>
            </a:r>
            <a:r>
              <a:rPr lang="en-US" altLang="zh-CN" sz="1000" dirty="0">
                <a:ea typeface="思源黑体 CN Regular" panose="020B0500000000000000" pitchFamily="34" charset="-122"/>
              </a:rPr>
              <a:t>Point 72 </a:t>
            </a:r>
            <a:r>
              <a:rPr lang="zh-CN" altLang="en-US" sz="1000" dirty="0">
                <a:ea typeface="思源黑体 CN Regular" panose="020B0500000000000000" pitchFamily="34" charset="-122"/>
              </a:rPr>
              <a:t>，截至</a:t>
            </a:r>
            <a:r>
              <a:rPr lang="en-US" altLang="zh-CN" sz="1000" dirty="0">
                <a:ea typeface="思源黑体 CN Regular" panose="020B0500000000000000" pitchFamily="34" charset="-122"/>
              </a:rPr>
              <a:t>2024</a:t>
            </a:r>
            <a:r>
              <a:rPr lang="zh-CN" altLang="en-US" sz="1000" dirty="0">
                <a:ea typeface="思源黑体 CN Regular" panose="020B0500000000000000" pitchFamily="34" charset="-122"/>
              </a:rPr>
              <a:t>年</a:t>
            </a:r>
            <a:r>
              <a:rPr lang="en-US" altLang="zh-CN" sz="1000" dirty="0">
                <a:ea typeface="思源黑体 CN Regular" panose="020B0500000000000000" pitchFamily="34" charset="-122"/>
              </a:rPr>
              <a:t>7</a:t>
            </a:r>
            <a:r>
              <a:rPr lang="zh-CN" altLang="en-US" sz="1000" dirty="0">
                <a:ea typeface="思源黑体 CN Regular" panose="020B0500000000000000" pitchFamily="34" charset="-122"/>
              </a:rPr>
              <a:t>月</a:t>
            </a:r>
            <a:r>
              <a:rPr lang="en-US" altLang="zh-CN" sz="1000" dirty="0">
                <a:ea typeface="思源黑体 CN Regular" panose="020B0500000000000000" pitchFamily="34" charset="-122"/>
              </a:rPr>
              <a:t>1</a:t>
            </a:r>
            <a:r>
              <a:rPr lang="zh-CN" altLang="en-US" sz="1000" dirty="0">
                <a:ea typeface="思源黑体 CN Regular" panose="020B0500000000000000" pitchFamily="34" charset="-122"/>
              </a:rPr>
              <a:t>日。除非</a:t>
            </a:r>
            <a:r>
              <a:rPr lang="en-US" altLang="zh-CN" sz="1000" dirty="0">
                <a:ea typeface="思源黑体 CN Regular" panose="020B0500000000000000" pitchFamily="34" charset="-122"/>
              </a:rPr>
              <a:t>PPM</a:t>
            </a:r>
            <a:r>
              <a:rPr lang="zh-CN" altLang="en-US" sz="1000" dirty="0">
                <a:ea typeface="思源黑体 CN Regular" panose="020B0500000000000000" pitchFamily="34" charset="-122"/>
              </a:rPr>
              <a:t>中另有说明，此页面上描述的投资组合目标和限制仅为反映管理人当前意图的指引，并可能不时进行修订或超出限制。</a:t>
            </a:r>
          </a:p>
        </p:txBody>
      </p:sp>
      <p:sp>
        <p:nvSpPr>
          <p:cNvPr id="9" name="textbox 1148">
            <a:extLst>
              <a:ext uri="{FF2B5EF4-FFF2-40B4-BE49-F238E27FC236}">
                <a16:creationId xmlns:a16="http://schemas.microsoft.com/office/drawing/2014/main" id="{0ADB1A53-006A-40B7-9389-152DD1BBD569}"/>
              </a:ext>
            </a:extLst>
          </p:cNvPr>
          <p:cNvSpPr/>
          <p:nvPr/>
        </p:nvSpPr>
        <p:spPr>
          <a:xfrm>
            <a:off x="1057523" y="1295153"/>
            <a:ext cx="10831654" cy="1177630"/>
          </a:xfrm>
          <a:prstGeom prst="rect">
            <a:avLst/>
          </a:prstGeom>
        </p:spPr>
        <p:txBody>
          <a:bodyPr wrap="square">
            <a:spAutoFit/>
          </a:bodyPr>
          <a:lstStyle/>
          <a:p>
            <a:pPr algn="just">
              <a:lnSpc>
                <a:spcPct val="150000"/>
              </a:lnSpc>
              <a:spcAft>
                <a:spcPts val="600"/>
              </a:spcAft>
            </a:pP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Turion</a:t>
            </a:r>
            <a:r>
              <a:rPr lang="zh-CN" altLang="en-US" sz="1400" b="1" dirty="0">
                <a:latin typeface="微软雅黑" panose="020B0503020204020204" pitchFamily="34" charset="-122"/>
                <a:ea typeface="微软雅黑" panose="020B0503020204020204" pitchFamily="34" charset="-122"/>
              </a:rPr>
              <a:t>（图灵）</a:t>
            </a:r>
            <a:r>
              <a:rPr lang="zh-CN" altLang="en-US" sz="1400" dirty="0">
                <a:latin typeface="微软雅黑" panose="020B0503020204020204" pitchFamily="34" charset="-122"/>
                <a:ea typeface="微软雅黑" panose="020B0503020204020204" pitchFamily="34" charset="-122"/>
              </a:rPr>
              <a:t>：灵感来自于“计算机科学之父”、“人工智能之父”艾伦</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图灵。</a:t>
            </a:r>
          </a:p>
          <a:p>
            <a:pPr algn="just">
              <a:lnSpc>
                <a:spcPct val="150000"/>
              </a:lnSpc>
              <a:spcAft>
                <a:spcPts val="600"/>
              </a:spcAft>
            </a:pPr>
            <a:r>
              <a:rPr lang="en-US" altLang="zh-CN" sz="1400" b="1"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、投资目标</a:t>
            </a:r>
            <a:r>
              <a:rPr lang="zh-CN" altLang="en-US" sz="1400" dirty="0">
                <a:latin typeface="微软雅黑" panose="020B0503020204020204" pitchFamily="34" charset="-122"/>
                <a:ea typeface="微软雅黑" panose="020B0503020204020204" pitchFamily="34" charset="-122"/>
              </a:rPr>
              <a:t>：通过识别和投资受人工智能影响、具有高预期回报的科技和科技驱动的业务来获得收益。</a:t>
            </a:r>
          </a:p>
          <a:p>
            <a:pPr algn="just">
              <a:lnSpc>
                <a:spcPct val="150000"/>
              </a:lnSpc>
              <a:spcAft>
                <a:spcPts val="600"/>
              </a:spcAft>
            </a:pPr>
            <a:r>
              <a:rPr lang="en-US" altLang="zh-CN" sz="1400" b="1" dirty="0">
                <a:latin typeface="微软雅黑" panose="020B0503020204020204" pitchFamily="34" charset="-122"/>
                <a:ea typeface="微软雅黑" panose="020B0503020204020204" pitchFamily="34" charset="-122"/>
              </a:rPr>
              <a:t>3</a:t>
            </a:r>
            <a:r>
              <a:rPr lang="zh-CN" altLang="en-US" sz="1400" b="1" dirty="0">
                <a:latin typeface="微软雅黑" panose="020B0503020204020204" pitchFamily="34" charset="-122"/>
                <a:ea typeface="微软雅黑" panose="020B0503020204020204" pitchFamily="34" charset="-122"/>
              </a:rPr>
              <a:t>、投资策略</a:t>
            </a:r>
            <a:r>
              <a:rPr lang="zh-CN" altLang="en-US" sz="1400"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基本面驱动的股票多空策略</a:t>
            </a:r>
            <a:r>
              <a:rPr lang="zh-CN" altLang="en-US" sz="1400" dirty="0">
                <a:latin typeface="微软雅黑" panose="020B0503020204020204" pitchFamily="34" charset="-122"/>
                <a:ea typeface="微软雅黑" panose="020B0503020204020204" pitchFamily="34" charset="-122"/>
              </a:rPr>
              <a:t>，在全球股票市场中寻找投资机会，</a:t>
            </a:r>
            <a:r>
              <a:rPr lang="zh-CN" altLang="en-US" sz="1400" b="1" dirty="0">
                <a:latin typeface="微软雅黑" panose="020B0503020204020204" pitchFamily="34" charset="-122"/>
                <a:ea typeface="微软雅黑" panose="020B0503020204020204" pitchFamily="34" charset="-122"/>
              </a:rPr>
              <a:t>聚焦科技主题</a:t>
            </a:r>
            <a:r>
              <a:rPr lang="zh-CN" altLang="en-US" sz="1400" dirty="0">
                <a:latin typeface="微软雅黑" panose="020B0503020204020204" pitchFamily="34" charset="-122"/>
                <a:ea typeface="微软雅黑" panose="020B0503020204020204" pitchFamily="34" charset="-122"/>
              </a:rPr>
              <a:t>，主要关注</a:t>
            </a:r>
            <a:r>
              <a:rPr lang="zh-CN" altLang="en-US" sz="1400" b="1" dirty="0">
                <a:solidFill>
                  <a:srgbClr val="C00000"/>
                </a:solidFill>
                <a:latin typeface="微软雅黑" panose="020B0503020204020204" pitchFamily="34" charset="-122"/>
                <a:ea typeface="微软雅黑" panose="020B0503020204020204" pitchFamily="34" charset="-122"/>
              </a:rPr>
              <a:t>被人工智能影响的美国科技股</a:t>
            </a:r>
            <a:r>
              <a:rPr lang="zh-CN" altLang="en-US" sz="1400" dirty="0">
                <a:latin typeface="微软雅黑" panose="020B0503020204020204" pitchFamily="34" charset="-122"/>
                <a:ea typeface="微软雅黑" panose="020B0503020204020204" pitchFamily="34" charset="-122"/>
              </a:rPr>
              <a:t>。</a:t>
            </a:r>
          </a:p>
        </p:txBody>
      </p:sp>
      <p:grpSp>
        <p:nvGrpSpPr>
          <p:cNvPr id="2" name="组合 1">
            <a:extLst>
              <a:ext uri="{FF2B5EF4-FFF2-40B4-BE49-F238E27FC236}">
                <a16:creationId xmlns:a16="http://schemas.microsoft.com/office/drawing/2014/main" id="{C7B92622-228A-4F11-A42D-3C23D67B882D}"/>
              </a:ext>
            </a:extLst>
          </p:cNvPr>
          <p:cNvGrpSpPr/>
          <p:nvPr/>
        </p:nvGrpSpPr>
        <p:grpSpPr>
          <a:xfrm>
            <a:off x="1518525" y="2363523"/>
            <a:ext cx="10150496" cy="4381267"/>
            <a:chOff x="641732" y="1773335"/>
            <a:chExt cx="11418795" cy="4928705"/>
          </a:xfrm>
        </p:grpSpPr>
        <p:grpSp>
          <p:nvGrpSpPr>
            <p:cNvPr id="17" name="group 32">
              <a:extLst>
                <a:ext uri="{FF2B5EF4-FFF2-40B4-BE49-F238E27FC236}">
                  <a16:creationId xmlns:a16="http://schemas.microsoft.com/office/drawing/2014/main" id="{F654BA8C-8C6F-40A6-9C01-7EB87B560E6F}"/>
                </a:ext>
              </a:extLst>
            </p:cNvPr>
            <p:cNvGrpSpPr/>
            <p:nvPr/>
          </p:nvGrpSpPr>
          <p:grpSpPr>
            <a:xfrm rot="21600000">
              <a:off x="3225052" y="2846894"/>
              <a:ext cx="4255776" cy="3093436"/>
              <a:chOff x="-111061" y="0"/>
              <a:chExt cx="4742187" cy="3446998"/>
            </a:xfrm>
          </p:grpSpPr>
          <p:grpSp>
            <p:nvGrpSpPr>
              <p:cNvPr id="18" name="group 34">
                <a:extLst>
                  <a:ext uri="{FF2B5EF4-FFF2-40B4-BE49-F238E27FC236}">
                    <a16:creationId xmlns:a16="http://schemas.microsoft.com/office/drawing/2014/main" id="{DCDF9A65-B994-4817-9F4B-63373D9F41A6}"/>
                  </a:ext>
                </a:extLst>
              </p:cNvPr>
              <p:cNvGrpSpPr/>
              <p:nvPr/>
            </p:nvGrpSpPr>
            <p:grpSpPr>
              <a:xfrm rot="21600000">
                <a:off x="0" y="0"/>
                <a:ext cx="4631126" cy="3446998"/>
                <a:chOff x="0" y="0"/>
                <a:chExt cx="4631126" cy="3446998"/>
              </a:xfrm>
            </p:grpSpPr>
            <p:sp>
              <p:nvSpPr>
                <p:cNvPr id="21" name="path 1292">
                  <a:extLst>
                    <a:ext uri="{FF2B5EF4-FFF2-40B4-BE49-F238E27FC236}">
                      <a16:creationId xmlns:a16="http://schemas.microsoft.com/office/drawing/2014/main" id="{92176808-7707-4C05-A6FE-F5ABB2EA5119}"/>
                    </a:ext>
                  </a:extLst>
                </p:cNvPr>
                <p:cNvSpPr/>
                <p:nvPr/>
              </p:nvSpPr>
              <p:spPr>
                <a:xfrm>
                  <a:off x="0" y="543524"/>
                  <a:ext cx="2321674" cy="2903474"/>
                </a:xfrm>
                <a:custGeom>
                  <a:avLst/>
                  <a:gdLst/>
                  <a:ahLst/>
                  <a:cxnLst/>
                  <a:rect l="0" t="0" r="0" b="0"/>
                  <a:pathLst>
                    <a:path w="3656" h="4572">
                      <a:moveTo>
                        <a:pt x="51" y="2169"/>
                      </a:moveTo>
                      <a:cubicBezTo>
                        <a:pt x="17" y="2371"/>
                        <a:pt x="0" y="2575"/>
                        <a:pt x="0" y="2779"/>
                      </a:cubicBezTo>
                      <a:cubicBezTo>
                        <a:pt x="0" y="3368"/>
                        <a:pt x="141" y="3948"/>
                        <a:pt x="414" y="4470"/>
                      </a:cubicBezTo>
                      <a:cubicBezTo>
                        <a:pt x="457" y="4554"/>
                        <a:pt x="560" y="4586"/>
                        <a:pt x="643" y="4543"/>
                      </a:cubicBezTo>
                      <a:cubicBezTo>
                        <a:pt x="645" y="4542"/>
                        <a:pt x="648" y="4540"/>
                        <a:pt x="650" y="4539"/>
                      </a:cubicBezTo>
                      <a:lnTo>
                        <a:pt x="3656" y="2805"/>
                      </a:lnTo>
                      <a:lnTo>
                        <a:pt x="51" y="2169"/>
                      </a:lnTo>
                      <a:close/>
                    </a:path>
                    <a:path w="3656" h="4572">
                      <a:moveTo>
                        <a:pt x="1293" y="0"/>
                      </a:moveTo>
                      <a:cubicBezTo>
                        <a:pt x="634" y="556"/>
                        <a:pt x="194" y="1329"/>
                        <a:pt x="51" y="2179"/>
                      </a:cubicBezTo>
                      <a:lnTo>
                        <a:pt x="3656" y="2815"/>
                      </a:lnTo>
                      <a:lnTo>
                        <a:pt x="1293" y="0"/>
                      </a:lnTo>
                      <a:close/>
                    </a:path>
                  </a:pathLst>
                </a:custGeom>
                <a:solidFill>
                  <a:srgbClr val="008AD0">
                    <a:alpha val="100000"/>
                  </a:srgbClr>
                </a:solidFill>
                <a:ln w="0" cap="flat">
                  <a:noFill/>
                  <a:prstDash val="solid"/>
                  <a:miter lim="0"/>
                </a:ln>
              </p:spPr>
              <p:txBody>
                <a:bodyPr rtlCol="0"/>
                <a:lstStyle/>
                <a:p>
                  <a:pPr algn="ctr"/>
                  <a:endParaRPr lang="zh-CN" altLang="en-US"/>
                </a:p>
              </p:txBody>
            </p:sp>
            <p:sp>
              <p:nvSpPr>
                <p:cNvPr id="22" name="path 1294">
                  <a:extLst>
                    <a:ext uri="{FF2B5EF4-FFF2-40B4-BE49-F238E27FC236}">
                      <a16:creationId xmlns:a16="http://schemas.microsoft.com/office/drawing/2014/main" id="{2DA110C5-28DC-4AF9-BE5C-B3738BBFBB82}"/>
                    </a:ext>
                  </a:extLst>
                </p:cNvPr>
                <p:cNvSpPr/>
                <p:nvPr/>
              </p:nvSpPr>
              <p:spPr>
                <a:xfrm>
                  <a:off x="814437" y="6"/>
                  <a:ext cx="1501139" cy="2337269"/>
                </a:xfrm>
                <a:custGeom>
                  <a:avLst/>
                  <a:gdLst/>
                  <a:ahLst/>
                  <a:cxnLst/>
                  <a:rect l="0" t="0" r="0" b="0"/>
                  <a:pathLst>
                    <a:path w="2363" h="3680">
                      <a:moveTo>
                        <a:pt x="2363" y="1"/>
                      </a:moveTo>
                      <a:moveTo>
                        <a:pt x="2363" y="1"/>
                      </a:moveTo>
                      <a:cubicBezTo>
                        <a:pt x="1498" y="0"/>
                        <a:pt x="660" y="306"/>
                        <a:pt x="0" y="866"/>
                      </a:cubicBezTo>
                      <a:lnTo>
                        <a:pt x="2363" y="3680"/>
                      </a:lnTo>
                      <a:lnTo>
                        <a:pt x="2363" y="1"/>
                      </a:lnTo>
                      <a:close/>
                    </a:path>
                  </a:pathLst>
                </a:custGeom>
                <a:solidFill>
                  <a:srgbClr val="004A80">
                    <a:alpha val="100000"/>
                  </a:srgbClr>
                </a:solidFill>
                <a:ln w="0" cap="flat">
                  <a:noFill/>
                  <a:prstDash val="solid"/>
                  <a:miter lim="0"/>
                </a:ln>
              </p:spPr>
              <p:txBody>
                <a:bodyPr rtlCol="0"/>
                <a:lstStyle/>
                <a:p>
                  <a:pPr algn="ctr"/>
                  <a:endParaRPr lang="zh-CN" altLang="en-US"/>
                </a:p>
              </p:txBody>
            </p:sp>
            <p:sp>
              <p:nvSpPr>
                <p:cNvPr id="23" name="path 1296">
                  <a:extLst>
                    <a:ext uri="{FF2B5EF4-FFF2-40B4-BE49-F238E27FC236}">
                      <a16:creationId xmlns:a16="http://schemas.microsoft.com/office/drawing/2014/main" id="{38EE1EB1-3B56-4EF9-A6E8-8D8F8F81E542}"/>
                    </a:ext>
                  </a:extLst>
                </p:cNvPr>
                <p:cNvSpPr/>
                <p:nvPr/>
              </p:nvSpPr>
              <p:spPr>
                <a:xfrm>
                  <a:off x="2309480" y="551150"/>
                  <a:ext cx="2289047" cy="1786127"/>
                </a:xfrm>
                <a:custGeom>
                  <a:avLst/>
                  <a:gdLst/>
                  <a:ahLst/>
                  <a:cxnLst/>
                  <a:rect l="0" t="0" r="0" b="0"/>
                  <a:pathLst>
                    <a:path w="3604" h="2812">
                      <a:moveTo>
                        <a:pt x="3604" y="2177"/>
                      </a:moveTo>
                      <a:cubicBezTo>
                        <a:pt x="3461" y="1327"/>
                        <a:pt x="3021" y="556"/>
                        <a:pt x="2362" y="0"/>
                      </a:cubicBezTo>
                      <a:lnTo>
                        <a:pt x="0" y="2812"/>
                      </a:lnTo>
                      <a:lnTo>
                        <a:pt x="3604" y="2177"/>
                      </a:lnTo>
                      <a:close/>
                    </a:path>
                  </a:pathLst>
                </a:custGeom>
                <a:solidFill>
                  <a:srgbClr val="09283F">
                    <a:alpha val="100000"/>
                  </a:srgbClr>
                </a:solidFill>
                <a:ln w="0" cap="flat">
                  <a:noFill/>
                  <a:prstDash val="solid"/>
                  <a:miter lim="0"/>
                </a:ln>
              </p:spPr>
              <p:txBody>
                <a:bodyPr rtlCol="0"/>
                <a:lstStyle/>
                <a:p>
                  <a:pPr algn="ctr"/>
                  <a:endParaRPr lang="zh-CN" altLang="en-US"/>
                </a:p>
              </p:txBody>
            </p:sp>
            <p:sp>
              <p:nvSpPr>
                <p:cNvPr id="24" name="path 1298">
                  <a:extLst>
                    <a:ext uri="{FF2B5EF4-FFF2-40B4-BE49-F238E27FC236}">
                      <a16:creationId xmlns:a16="http://schemas.microsoft.com/office/drawing/2014/main" id="{995FE55C-1814-4B0B-BD19-61B832BFD7BA}"/>
                    </a:ext>
                  </a:extLst>
                </p:cNvPr>
                <p:cNvSpPr/>
                <p:nvPr/>
              </p:nvSpPr>
              <p:spPr>
                <a:xfrm>
                  <a:off x="2315576" y="0"/>
                  <a:ext cx="1499616" cy="2337269"/>
                </a:xfrm>
                <a:custGeom>
                  <a:avLst/>
                  <a:gdLst/>
                  <a:ahLst/>
                  <a:cxnLst/>
                  <a:rect l="0" t="0" r="0" b="0"/>
                  <a:pathLst>
                    <a:path w="2361" h="3680">
                      <a:moveTo>
                        <a:pt x="2361" y="866"/>
                      </a:moveTo>
                      <a:moveTo>
                        <a:pt x="2361" y="866"/>
                      </a:moveTo>
                      <a:cubicBezTo>
                        <a:pt x="1702" y="306"/>
                        <a:pt x="864" y="0"/>
                        <a:pt x="0" y="1"/>
                      </a:cubicBezTo>
                      <a:lnTo>
                        <a:pt x="0" y="3680"/>
                      </a:lnTo>
                      <a:lnTo>
                        <a:pt x="2361" y="866"/>
                      </a:lnTo>
                      <a:close/>
                    </a:path>
                  </a:pathLst>
                </a:custGeom>
                <a:solidFill>
                  <a:srgbClr val="004A80">
                    <a:alpha val="100000"/>
                  </a:srgbClr>
                </a:solidFill>
                <a:ln w="0" cap="flat">
                  <a:noFill/>
                  <a:prstDash val="solid"/>
                  <a:miter lim="0"/>
                </a:ln>
              </p:spPr>
              <p:txBody>
                <a:bodyPr rtlCol="0"/>
                <a:lstStyle/>
                <a:p>
                  <a:pPr algn="ctr"/>
                  <a:endParaRPr lang="zh-CN" altLang="en-US"/>
                </a:p>
              </p:txBody>
            </p:sp>
            <p:sp>
              <p:nvSpPr>
                <p:cNvPr id="25" name="path 1300">
                  <a:extLst>
                    <a:ext uri="{FF2B5EF4-FFF2-40B4-BE49-F238E27FC236}">
                      <a16:creationId xmlns:a16="http://schemas.microsoft.com/office/drawing/2014/main" id="{544C88D6-FE2C-45F4-A170-9ED3F8E1CF5C}"/>
                    </a:ext>
                  </a:extLst>
                </p:cNvPr>
                <p:cNvSpPr/>
                <p:nvPr/>
              </p:nvSpPr>
              <p:spPr>
                <a:xfrm>
                  <a:off x="2309478" y="1921220"/>
                  <a:ext cx="2321648" cy="1522603"/>
                </a:xfrm>
                <a:custGeom>
                  <a:avLst/>
                  <a:gdLst/>
                  <a:ahLst/>
                  <a:cxnLst/>
                  <a:rect l="0" t="0" r="0" b="0"/>
                  <a:pathLst>
                    <a:path w="3656" h="2397">
                      <a:moveTo>
                        <a:pt x="3604" y="0"/>
                      </a:moveTo>
                      <a:lnTo>
                        <a:pt x="0" y="635"/>
                      </a:lnTo>
                      <a:lnTo>
                        <a:pt x="2992" y="2363"/>
                      </a:lnTo>
                      <a:cubicBezTo>
                        <a:pt x="3080" y="2414"/>
                        <a:pt x="3193" y="2384"/>
                        <a:pt x="3244" y="2295"/>
                      </a:cubicBezTo>
                      <a:cubicBezTo>
                        <a:pt x="3246" y="2293"/>
                        <a:pt x="3247" y="2290"/>
                        <a:pt x="3248" y="2288"/>
                      </a:cubicBezTo>
                      <a:cubicBezTo>
                        <a:pt x="3516" y="1769"/>
                        <a:pt x="3656" y="1194"/>
                        <a:pt x="3655" y="610"/>
                      </a:cubicBezTo>
                      <a:cubicBezTo>
                        <a:pt x="3655" y="405"/>
                        <a:pt x="3638" y="201"/>
                        <a:pt x="3604" y="0"/>
                      </a:cubicBezTo>
                    </a:path>
                  </a:pathLst>
                </a:custGeom>
                <a:solidFill>
                  <a:srgbClr val="09283F">
                    <a:alpha val="100000"/>
                  </a:srgbClr>
                </a:solidFill>
                <a:ln w="0" cap="flat">
                  <a:noFill/>
                  <a:prstDash val="solid"/>
                  <a:miter lim="0"/>
                </a:ln>
              </p:spPr>
              <p:txBody>
                <a:bodyPr rtlCol="0"/>
                <a:lstStyle/>
                <a:p>
                  <a:pPr algn="ctr"/>
                  <a:endParaRPr lang="zh-CN" altLang="en-US"/>
                </a:p>
              </p:txBody>
            </p:sp>
            <p:sp>
              <p:nvSpPr>
                <p:cNvPr id="26" name="path 1302">
                  <a:extLst>
                    <a:ext uri="{FF2B5EF4-FFF2-40B4-BE49-F238E27FC236}">
                      <a16:creationId xmlns:a16="http://schemas.microsoft.com/office/drawing/2014/main" id="{6BCC2259-858C-414F-8ADF-4AD4D2A50D2C}"/>
                    </a:ext>
                  </a:extLst>
                </p:cNvPr>
                <p:cNvSpPr/>
                <p:nvPr/>
              </p:nvSpPr>
              <p:spPr>
                <a:xfrm>
                  <a:off x="952748" y="975759"/>
                  <a:ext cx="2725659" cy="2042741"/>
                </a:xfrm>
                <a:custGeom>
                  <a:avLst/>
                  <a:gdLst/>
                  <a:ahLst/>
                  <a:cxnLst/>
                  <a:rect l="0" t="0" r="0" b="0"/>
                  <a:pathLst>
                    <a:path w="4292" h="3216">
                      <a:moveTo>
                        <a:pt x="32" y="1772"/>
                      </a:moveTo>
                      <a:cubicBezTo>
                        <a:pt x="10" y="1895"/>
                        <a:pt x="0" y="2019"/>
                        <a:pt x="0" y="2144"/>
                      </a:cubicBezTo>
                      <a:cubicBezTo>
                        <a:pt x="0" y="2521"/>
                        <a:pt x="99" y="2891"/>
                        <a:pt x="287" y="3216"/>
                      </a:cubicBezTo>
                      <a:lnTo>
                        <a:pt x="2146" y="2144"/>
                      </a:lnTo>
                      <a:lnTo>
                        <a:pt x="32" y="1772"/>
                      </a:lnTo>
                      <a:close/>
                    </a:path>
                    <a:path w="4292" h="3216">
                      <a:moveTo>
                        <a:pt x="31" y="1771"/>
                      </a:moveTo>
                      <a:lnTo>
                        <a:pt x="2146" y="2144"/>
                      </a:lnTo>
                      <a:lnTo>
                        <a:pt x="766" y="502"/>
                      </a:lnTo>
                      <a:cubicBezTo>
                        <a:pt x="379" y="826"/>
                        <a:pt x="119" y="1275"/>
                        <a:pt x="31" y="1771"/>
                      </a:cubicBezTo>
                    </a:path>
                    <a:path w="4292" h="3216">
                      <a:moveTo>
                        <a:pt x="766" y="502"/>
                      </a:moveTo>
                      <a:moveTo>
                        <a:pt x="766" y="502"/>
                      </a:moveTo>
                      <a:lnTo>
                        <a:pt x="2146" y="2144"/>
                      </a:lnTo>
                      <a:lnTo>
                        <a:pt x="2146" y="0"/>
                      </a:lnTo>
                      <a:cubicBezTo>
                        <a:pt x="1641" y="0"/>
                        <a:pt x="1152" y="177"/>
                        <a:pt x="766" y="502"/>
                      </a:cubicBezTo>
                    </a:path>
                    <a:path w="4292" h="3216">
                      <a:moveTo>
                        <a:pt x="3525" y="502"/>
                      </a:moveTo>
                      <a:lnTo>
                        <a:pt x="2146" y="2144"/>
                      </a:lnTo>
                      <a:lnTo>
                        <a:pt x="4258" y="1771"/>
                      </a:lnTo>
                      <a:cubicBezTo>
                        <a:pt x="4170" y="1275"/>
                        <a:pt x="3911" y="826"/>
                        <a:pt x="3525" y="502"/>
                      </a:cubicBezTo>
                    </a:path>
                    <a:path w="4292" h="3216">
                      <a:moveTo>
                        <a:pt x="2146" y="0"/>
                      </a:moveTo>
                      <a:moveTo>
                        <a:pt x="2146" y="0"/>
                      </a:moveTo>
                      <a:lnTo>
                        <a:pt x="2146" y="2144"/>
                      </a:lnTo>
                      <a:lnTo>
                        <a:pt x="3526" y="502"/>
                      </a:lnTo>
                      <a:cubicBezTo>
                        <a:pt x="3139" y="177"/>
                        <a:pt x="2651" y="0"/>
                        <a:pt x="2146" y="0"/>
                      </a:cubicBezTo>
                    </a:path>
                    <a:path w="4292" h="3216">
                      <a:moveTo>
                        <a:pt x="4259" y="1772"/>
                      </a:moveTo>
                      <a:lnTo>
                        <a:pt x="2146" y="2144"/>
                      </a:lnTo>
                      <a:lnTo>
                        <a:pt x="4004" y="3216"/>
                      </a:lnTo>
                      <a:cubicBezTo>
                        <a:pt x="4193" y="2891"/>
                        <a:pt x="4292" y="2521"/>
                        <a:pt x="4291" y="2144"/>
                      </a:cubicBezTo>
                      <a:cubicBezTo>
                        <a:pt x="4291" y="2019"/>
                        <a:pt x="4281" y="1895"/>
                        <a:pt x="4259" y="1772"/>
                      </a:cubicBezTo>
                    </a:path>
                  </a:pathLst>
                </a:custGeom>
                <a:solidFill>
                  <a:srgbClr val="07121E">
                    <a:alpha val="10980"/>
                  </a:srgbClr>
                </a:solidFill>
                <a:ln w="0" cap="flat">
                  <a:noFill/>
                  <a:prstDash val="solid"/>
                  <a:miter lim="0"/>
                </a:ln>
              </p:spPr>
              <p:txBody>
                <a:bodyPr rtlCol="0"/>
                <a:lstStyle/>
                <a:p>
                  <a:pPr algn="ctr"/>
                  <a:endParaRPr lang="zh-CN" altLang="en-US"/>
                </a:p>
              </p:txBody>
            </p:sp>
          </p:grpSp>
          <p:sp>
            <p:nvSpPr>
              <p:cNvPr id="19" name="textbox 1304">
                <a:extLst>
                  <a:ext uri="{FF2B5EF4-FFF2-40B4-BE49-F238E27FC236}">
                    <a16:creationId xmlns:a16="http://schemas.microsoft.com/office/drawing/2014/main" id="{DC7AD4DC-8756-4DB8-8E6C-1B97A589581A}"/>
                  </a:ext>
                </a:extLst>
              </p:cNvPr>
              <p:cNvSpPr/>
              <p:nvPr/>
            </p:nvSpPr>
            <p:spPr>
              <a:xfrm>
                <a:off x="-111061" y="365701"/>
                <a:ext cx="3982644" cy="2964179"/>
              </a:xfrm>
              <a:prstGeom prst="rect">
                <a:avLst/>
              </a:prstGeom>
              <a:noFill/>
              <a:ln w="0" cap="flat">
                <a:noFill/>
                <a:prstDash val="solid"/>
                <a:miter lim="0"/>
              </a:ln>
            </p:spPr>
            <p:txBody>
              <a:bodyPr vert="horz" wrap="square" lIns="0" tIns="0" rIns="0" bIns="0"/>
              <a:lstStyle/>
              <a:p>
                <a:pPr algn="l" rtl="0" eaLnBrk="0">
                  <a:lnSpc>
                    <a:spcPct val="76276"/>
                  </a:lnSpc>
                  <a:tabLst/>
                </a:pPr>
                <a:endParaRPr sz="200" dirty="0">
                  <a:latin typeface="Arial"/>
                  <a:ea typeface="Arial"/>
                  <a:cs typeface="Arial"/>
                </a:endParaRPr>
              </a:p>
              <a:p>
                <a:pPr marL="1433194" algn="l" rtl="0" eaLnBrk="0">
                  <a:lnSpc>
                    <a:spcPct val="77000"/>
                  </a:lnSpc>
                  <a:tabLst/>
                </a:pPr>
                <a:r>
                  <a:rPr lang="zh-CN" altLang="en-US" b="1" kern="0" spc="-20" dirty="0">
                    <a:solidFill>
                      <a:srgbClr val="FFFFFF">
                        <a:alpha val="100000"/>
                      </a:srgbClr>
                    </a:solidFill>
                    <a:latin typeface="Franklin Gothic Medium Cond"/>
                    <a:ea typeface="Franklin Gothic Medium Cond"/>
                    <a:cs typeface="Franklin Gothic Medium Cond"/>
                  </a:rPr>
                  <a:t>        </a:t>
                </a:r>
                <a:r>
                  <a:rPr lang="zh-CN" altLang="en-US" b="1" kern="0" spc="-30" dirty="0">
                    <a:solidFill>
                      <a:srgbClr val="FFFFFF">
                        <a:alpha val="100000"/>
                      </a:srgbClr>
                    </a:solidFill>
                    <a:latin typeface="Franklin Gothic Medium Cond"/>
                    <a:ea typeface="Franklin Gothic Medium Cond"/>
                    <a:cs typeface="Franklin Gothic Medium Cond"/>
                  </a:rPr>
                  <a:t>持仓</a:t>
                </a:r>
                <a:endParaRPr dirty="0">
                  <a:latin typeface="Franklin Gothic Medium Cond"/>
                  <a:ea typeface="Franklin Gothic Medium Cond"/>
                  <a:cs typeface="Franklin Gothic Medium Cond"/>
                </a:endParaRPr>
              </a:p>
              <a:p>
                <a:pPr algn="l" rtl="0" eaLnBrk="0">
                  <a:lnSpc>
                    <a:spcPct val="104000"/>
                  </a:lnSpc>
                  <a:tabLst/>
                </a:pPr>
                <a:endParaRPr sz="900" dirty="0">
                  <a:latin typeface="Arial"/>
                  <a:ea typeface="Arial"/>
                  <a:cs typeface="Arial"/>
                </a:endParaRPr>
              </a:p>
              <a:p>
                <a:pPr algn="l" rtl="0" eaLnBrk="0">
                  <a:lnSpc>
                    <a:spcPct val="104000"/>
                  </a:lnSpc>
                  <a:tabLst/>
                </a:pPr>
                <a:endParaRPr sz="900" dirty="0">
                  <a:latin typeface="Arial"/>
                  <a:ea typeface="Arial"/>
                  <a:cs typeface="Arial"/>
                </a:endParaRPr>
              </a:p>
              <a:p>
                <a:pPr algn="l" rtl="0" eaLnBrk="0">
                  <a:lnSpc>
                    <a:spcPct val="104000"/>
                  </a:lnSpc>
                  <a:tabLst/>
                </a:pPr>
                <a:endParaRPr sz="900" dirty="0">
                  <a:latin typeface="Arial"/>
                  <a:ea typeface="Arial"/>
                  <a:cs typeface="Arial"/>
                </a:endParaRPr>
              </a:p>
              <a:p>
                <a:pPr algn="l" rtl="0" eaLnBrk="0">
                  <a:lnSpc>
                    <a:spcPct val="105000"/>
                  </a:lnSpc>
                  <a:tabLst/>
                </a:pPr>
                <a:endParaRPr sz="900" dirty="0">
                  <a:latin typeface="Arial"/>
                  <a:ea typeface="Arial"/>
                  <a:cs typeface="Arial"/>
                </a:endParaRPr>
              </a:p>
              <a:p>
                <a:pPr algn="l" rtl="0" eaLnBrk="0">
                  <a:lnSpc>
                    <a:spcPct val="105000"/>
                  </a:lnSpc>
                  <a:tabLst/>
                </a:pPr>
                <a:endParaRPr sz="900" dirty="0">
                  <a:latin typeface="Arial"/>
                  <a:ea typeface="Arial"/>
                  <a:cs typeface="Arial"/>
                </a:endParaRPr>
              </a:p>
              <a:p>
                <a:pPr algn="l" rtl="0" eaLnBrk="0">
                  <a:lnSpc>
                    <a:spcPct val="105000"/>
                  </a:lnSpc>
                  <a:tabLst/>
                </a:pPr>
                <a:endParaRPr sz="900" dirty="0">
                  <a:latin typeface="Arial"/>
                  <a:ea typeface="Arial"/>
                  <a:cs typeface="Arial"/>
                </a:endParaRPr>
              </a:p>
              <a:p>
                <a:pPr algn="r" rtl="0" eaLnBrk="0">
                  <a:lnSpc>
                    <a:spcPct val="72000"/>
                  </a:lnSpc>
                  <a:spcBef>
                    <a:spcPts val="640"/>
                  </a:spcBef>
                  <a:tabLst/>
                </a:pPr>
                <a:r>
                  <a:rPr sz="2000" kern="0" spc="-20" dirty="0">
                    <a:solidFill>
                      <a:srgbClr val="FFFFFF">
                        <a:alpha val="100000"/>
                      </a:srgbClr>
                    </a:solidFill>
                    <a:latin typeface="Franklin Gothic Medium Cond"/>
                    <a:ea typeface="Franklin Gothic Medium Cond"/>
                    <a:cs typeface="Franklin Gothic Medium Cond"/>
                  </a:rPr>
                  <a:t> </a:t>
                </a:r>
                <a:r>
                  <a:rPr lang="en-US" sz="2000" kern="0" spc="-20" dirty="0">
                    <a:solidFill>
                      <a:srgbClr val="FFFFFF">
                        <a:alpha val="100000"/>
                      </a:srgbClr>
                    </a:solidFill>
                    <a:latin typeface="Franklin Gothic Medium Cond"/>
                    <a:ea typeface="Franklin Gothic Medium Cond"/>
                    <a:cs typeface="Franklin Gothic Medium Cond"/>
                  </a:rPr>
                  <a:t>        </a:t>
                </a:r>
                <a:r>
                  <a:rPr sz="2000" kern="0" spc="-20" dirty="0">
                    <a:solidFill>
                      <a:srgbClr val="FFFFFF">
                        <a:alpha val="100000"/>
                      </a:srgbClr>
                    </a:solidFill>
                    <a:latin typeface="Franklin Gothic Medium Cond"/>
                    <a:ea typeface="Franklin Gothic Medium Cond"/>
                    <a:cs typeface="Franklin Gothic Medium Cond"/>
                  </a:rPr>
                  <a:t>                    </a:t>
                </a:r>
                <a:r>
                  <a:rPr sz="2000" kern="0" spc="-30" dirty="0">
                    <a:solidFill>
                      <a:srgbClr val="FFFFFF">
                        <a:alpha val="100000"/>
                      </a:srgbClr>
                    </a:solidFill>
                    <a:latin typeface="Franklin Gothic Medium Cond"/>
                    <a:ea typeface="Franklin Gothic Medium Cond"/>
                    <a:cs typeface="Franklin Gothic Medium Cond"/>
                  </a:rPr>
                  <a:t>                               </a:t>
                </a:r>
                <a:endParaRPr sz="2000" dirty="0">
                  <a:latin typeface="Franklin Gothic Medium Cond"/>
                  <a:ea typeface="Franklin Gothic Medium Cond"/>
                  <a:cs typeface="Franklin Gothic Medium Cond"/>
                </a:endParaRPr>
              </a:p>
              <a:p>
                <a:pPr algn="l" rtl="0" eaLnBrk="0">
                  <a:lnSpc>
                    <a:spcPct val="108000"/>
                  </a:lnSpc>
                  <a:tabLst/>
                </a:pPr>
                <a:endParaRPr sz="900" dirty="0">
                  <a:latin typeface="Arial"/>
                  <a:ea typeface="Arial"/>
                  <a:cs typeface="Arial"/>
                </a:endParaRPr>
              </a:p>
              <a:p>
                <a:pPr algn="l" rtl="0" eaLnBrk="0">
                  <a:lnSpc>
                    <a:spcPct val="108000"/>
                  </a:lnSpc>
                  <a:tabLst/>
                </a:pPr>
                <a:endParaRPr sz="900" dirty="0">
                  <a:latin typeface="Arial"/>
                  <a:ea typeface="Arial"/>
                  <a:cs typeface="Arial"/>
                </a:endParaRPr>
              </a:p>
              <a:p>
                <a:pPr algn="l" rtl="0" eaLnBrk="0">
                  <a:lnSpc>
                    <a:spcPct val="109000"/>
                  </a:lnSpc>
                  <a:tabLst/>
                </a:pPr>
                <a:endParaRPr sz="900" dirty="0">
                  <a:latin typeface="Arial"/>
                  <a:ea typeface="Arial"/>
                  <a:cs typeface="Arial"/>
                </a:endParaRPr>
              </a:p>
              <a:p>
                <a:pPr algn="l" rtl="0" eaLnBrk="0">
                  <a:lnSpc>
                    <a:spcPct val="109000"/>
                  </a:lnSpc>
                  <a:tabLst/>
                </a:pPr>
                <a:endParaRPr sz="900" dirty="0">
                  <a:latin typeface="Arial"/>
                  <a:ea typeface="Arial"/>
                  <a:cs typeface="Arial"/>
                </a:endParaRPr>
              </a:p>
              <a:p>
                <a:pPr algn="l" rtl="0" eaLnBrk="0">
                  <a:lnSpc>
                    <a:spcPct val="109000"/>
                  </a:lnSpc>
                  <a:tabLst/>
                </a:pPr>
                <a:endParaRPr sz="900" dirty="0">
                  <a:latin typeface="Arial"/>
                  <a:ea typeface="Arial"/>
                  <a:cs typeface="Arial"/>
                </a:endParaRPr>
              </a:p>
              <a:p>
                <a:pPr algn="l" rtl="0" eaLnBrk="0">
                  <a:lnSpc>
                    <a:spcPct val="109000"/>
                  </a:lnSpc>
                  <a:tabLst/>
                </a:pPr>
                <a:endParaRPr sz="900" dirty="0">
                  <a:latin typeface="Arial"/>
                  <a:ea typeface="Arial"/>
                  <a:cs typeface="Arial"/>
                </a:endParaRPr>
              </a:p>
              <a:p>
                <a:pPr algn="l" rtl="0" eaLnBrk="0">
                  <a:lnSpc>
                    <a:spcPct val="109000"/>
                  </a:lnSpc>
                  <a:tabLst/>
                </a:pPr>
                <a:endParaRPr sz="900" dirty="0">
                  <a:latin typeface="Arial"/>
                  <a:ea typeface="Arial"/>
                  <a:cs typeface="Arial"/>
                </a:endParaRPr>
              </a:p>
              <a:p>
                <a:pPr algn="l" rtl="0" eaLnBrk="0">
                  <a:lnSpc>
                    <a:spcPct val="114000"/>
                  </a:lnSpc>
                  <a:tabLst/>
                </a:pPr>
                <a:endParaRPr sz="300" dirty="0">
                  <a:latin typeface="Arial"/>
                  <a:ea typeface="Arial"/>
                  <a:cs typeface="Arial"/>
                </a:endParaRPr>
              </a:p>
              <a:p>
                <a:pPr marL="1126489" algn="l" rtl="0" eaLnBrk="0">
                  <a:lnSpc>
                    <a:spcPct val="76000"/>
                  </a:lnSpc>
                  <a:spcBef>
                    <a:spcPts val="2"/>
                  </a:spcBef>
                  <a:tabLst/>
                </a:pPr>
                <a:r>
                  <a:rPr lang="zh-CN" altLang="en-US" sz="1600" b="1" kern="0" spc="-30" dirty="0">
                    <a:solidFill>
                      <a:srgbClr val="005F9D">
                        <a:alpha val="100000"/>
                      </a:srgbClr>
                    </a:solidFill>
                    <a:latin typeface="Franklin Gothic Medium Cond"/>
                    <a:ea typeface="Franklin Gothic Medium Cond"/>
                    <a:cs typeface="Franklin Gothic Medium Cond"/>
                  </a:rPr>
                  <a:t>              可投池</a:t>
                </a:r>
                <a:endParaRPr sz="1600" dirty="0">
                  <a:latin typeface="Franklin Gothic Medium Cond"/>
                  <a:ea typeface="Franklin Gothic Medium Cond"/>
                  <a:cs typeface="Franklin Gothic Medium Cond"/>
                </a:endParaRPr>
              </a:p>
            </p:txBody>
          </p:sp>
          <p:pic>
            <p:nvPicPr>
              <p:cNvPr id="20" name="picture 1306">
                <a:extLst>
                  <a:ext uri="{FF2B5EF4-FFF2-40B4-BE49-F238E27FC236}">
                    <a16:creationId xmlns:a16="http://schemas.microsoft.com/office/drawing/2014/main" id="{F9F7B2ED-4B95-4EC2-8BFB-9E076AFB0CD5}"/>
                  </a:ext>
                </a:extLst>
              </p:cNvPr>
              <p:cNvPicPr>
                <a:picLocks noChangeAspect="1"/>
              </p:cNvPicPr>
              <p:nvPr/>
            </p:nvPicPr>
            <p:blipFill>
              <a:blip r:embed="rId6"/>
              <a:stretch>
                <a:fillRect/>
              </a:stretch>
            </p:blipFill>
            <p:spPr>
              <a:xfrm rot="21600000">
                <a:off x="1451044" y="1438243"/>
                <a:ext cx="1796795" cy="1793748"/>
              </a:xfrm>
              <a:prstGeom prst="rect">
                <a:avLst/>
              </a:prstGeom>
            </p:spPr>
          </p:pic>
        </p:grpSp>
        <p:sp>
          <p:nvSpPr>
            <p:cNvPr id="27" name="textbox 1314">
              <a:extLst>
                <a:ext uri="{FF2B5EF4-FFF2-40B4-BE49-F238E27FC236}">
                  <a16:creationId xmlns:a16="http://schemas.microsoft.com/office/drawing/2014/main" id="{A777970D-C09F-4D30-B1FC-1AFBD31B94CA}"/>
                </a:ext>
              </a:extLst>
            </p:cNvPr>
            <p:cNvSpPr/>
            <p:nvPr/>
          </p:nvSpPr>
          <p:spPr>
            <a:xfrm>
              <a:off x="641732" y="2279264"/>
              <a:ext cx="4438393" cy="1624163"/>
            </a:xfrm>
            <a:prstGeom prst="rect">
              <a:avLst/>
            </a:prstGeom>
            <a:noFill/>
            <a:ln w="0" cap="flat">
              <a:noFill/>
              <a:prstDash val="solid"/>
              <a:miter lim="0"/>
            </a:ln>
          </p:spPr>
          <p:txBody>
            <a:bodyPr vert="horz" wrap="square" lIns="0" tIns="0" rIns="0" bIns="0"/>
            <a:lstStyle/>
            <a:p>
              <a:pPr marL="252729" indent="-228600">
                <a:lnSpc>
                  <a:spcPct val="150000"/>
                </a:lnSpc>
                <a:spcBef>
                  <a:spcPts val="0"/>
                </a:spcBef>
                <a:buFont typeface="+mj-lt"/>
                <a:buAutoNum type="arabicPeriod"/>
              </a:pPr>
              <a:r>
                <a:rPr lang="zh-CN" altLang="en-US" sz="1100" b="1" kern="0" spc="-10" dirty="0">
                  <a:solidFill>
                    <a:schemeClr val="tx1"/>
                  </a:solidFill>
                  <a:latin typeface="微软雅黑" panose="020B0503020204020204" pitchFamily="34" charset="-122"/>
                  <a:ea typeface="微软雅黑" panose="020B0503020204020204" pitchFamily="34" charset="-122"/>
                  <a:cs typeface="Arial"/>
                </a:rPr>
                <a:t>多头持仓</a:t>
              </a:r>
              <a:r>
                <a:rPr lang="en-US" altLang="zh-CN" sz="1100" b="1" kern="0" spc="-10" dirty="0">
                  <a:solidFill>
                    <a:schemeClr val="tx1"/>
                  </a:solidFill>
                  <a:latin typeface="微软雅黑" panose="020B0503020204020204" pitchFamily="34" charset="-122"/>
                  <a:ea typeface="微软雅黑" panose="020B0503020204020204" pitchFamily="34" charset="-122"/>
                  <a:cs typeface="Arial"/>
                </a:rPr>
                <a:t>100%</a:t>
              </a:r>
              <a:r>
                <a:rPr lang="zh-CN" altLang="en-US" sz="1100" b="1" kern="0" spc="-10" dirty="0">
                  <a:solidFill>
                    <a:schemeClr val="tx1"/>
                  </a:solidFill>
                  <a:latin typeface="微软雅黑" panose="020B0503020204020204" pitchFamily="34" charset="-122"/>
                  <a:ea typeface="微软雅黑" panose="020B0503020204020204" pitchFamily="34" charset="-122"/>
                  <a:cs typeface="Arial"/>
                </a:rPr>
                <a:t>至</a:t>
              </a:r>
              <a:r>
                <a:rPr lang="en-US" altLang="zh-CN" sz="1100" b="1" kern="0" spc="-10" dirty="0">
                  <a:solidFill>
                    <a:schemeClr val="tx1"/>
                  </a:solidFill>
                  <a:latin typeface="微软雅黑" panose="020B0503020204020204" pitchFamily="34" charset="-122"/>
                  <a:ea typeface="微软雅黑" panose="020B0503020204020204" pitchFamily="34" charset="-122"/>
                  <a:cs typeface="Arial"/>
                </a:rPr>
                <a:t>130%</a:t>
              </a:r>
              <a:r>
                <a:rPr lang="zh-CN" altLang="en-US" sz="1100" b="1" kern="0" spc="-10" dirty="0">
                  <a:solidFill>
                    <a:schemeClr val="tx1"/>
                  </a:solidFill>
                  <a:latin typeface="微软雅黑" panose="020B0503020204020204" pitchFamily="34" charset="-122"/>
                  <a:ea typeface="微软雅黑" panose="020B0503020204020204" pitchFamily="34" charset="-122"/>
                  <a:cs typeface="Arial"/>
                </a:rPr>
                <a:t>，空头持仓</a:t>
              </a:r>
              <a:r>
                <a:rPr lang="en-US" altLang="zh-CN" sz="1100" b="1" kern="0" spc="-10" dirty="0">
                  <a:solidFill>
                    <a:schemeClr val="tx1"/>
                  </a:solidFill>
                  <a:latin typeface="微软雅黑" panose="020B0503020204020204" pitchFamily="34" charset="-122"/>
                  <a:ea typeface="微软雅黑" panose="020B0503020204020204" pitchFamily="34" charset="-122"/>
                  <a:cs typeface="Arial"/>
                </a:rPr>
                <a:t>-40%</a:t>
              </a:r>
              <a:r>
                <a:rPr lang="zh-CN" altLang="en-US" sz="1100" b="1" kern="0" spc="-10" dirty="0">
                  <a:solidFill>
                    <a:schemeClr val="tx1"/>
                  </a:solidFill>
                  <a:latin typeface="微软雅黑" panose="020B0503020204020204" pitchFamily="34" charset="-122"/>
                  <a:ea typeface="微软雅黑" panose="020B0503020204020204" pitchFamily="34" charset="-122"/>
                  <a:cs typeface="Arial"/>
                </a:rPr>
                <a:t>至</a:t>
              </a:r>
              <a:r>
                <a:rPr lang="en-US" altLang="zh-CN" sz="1100" b="1" kern="0" spc="-10" dirty="0">
                  <a:solidFill>
                    <a:schemeClr val="tx1"/>
                  </a:solidFill>
                  <a:latin typeface="微软雅黑" panose="020B0503020204020204" pitchFamily="34" charset="-122"/>
                  <a:ea typeface="微软雅黑" panose="020B0503020204020204" pitchFamily="34" charset="-122"/>
                  <a:cs typeface="Arial"/>
                </a:rPr>
                <a:t>-100%</a:t>
              </a:r>
            </a:p>
            <a:p>
              <a:pPr marL="252729" indent="-228600">
                <a:lnSpc>
                  <a:spcPct val="150000"/>
                </a:lnSpc>
                <a:spcBef>
                  <a:spcPts val="0"/>
                </a:spcBef>
                <a:buFont typeface="+mj-lt"/>
                <a:buAutoNum type="arabicPeriod"/>
              </a:pPr>
              <a:r>
                <a:rPr lang="zh-CN" altLang="en-US" sz="1100" b="1" kern="0" spc="-10" dirty="0">
                  <a:solidFill>
                    <a:srgbClr val="FF0000"/>
                  </a:solidFill>
                  <a:latin typeface="微软雅黑" panose="020B0503020204020204" pitchFamily="34" charset="-122"/>
                  <a:ea typeface="微软雅黑" panose="020B0503020204020204" pitchFamily="34" charset="-122"/>
                  <a:cs typeface="Arial"/>
                </a:rPr>
                <a:t>净敞口约</a:t>
              </a:r>
              <a:r>
                <a:rPr lang="en-US" altLang="zh-CN" sz="1100" b="1" kern="0" spc="-10" dirty="0">
                  <a:solidFill>
                    <a:srgbClr val="FF0000"/>
                  </a:solidFill>
                  <a:latin typeface="微软雅黑" panose="020B0503020204020204" pitchFamily="34" charset="-122"/>
                  <a:ea typeface="微软雅黑" panose="020B0503020204020204" pitchFamily="34" charset="-122"/>
                  <a:cs typeface="Arial"/>
                </a:rPr>
                <a:t>30%</a:t>
              </a:r>
              <a:r>
                <a:rPr lang="zh-CN" altLang="en-US" sz="1100" b="1" kern="0" spc="-10" dirty="0">
                  <a:solidFill>
                    <a:srgbClr val="FF0000"/>
                  </a:solidFill>
                  <a:latin typeface="微软雅黑" panose="020B0503020204020204" pitchFamily="34" charset="-122"/>
                  <a:ea typeface="微软雅黑" panose="020B0503020204020204" pitchFamily="34" charset="-122"/>
                  <a:cs typeface="Arial"/>
                </a:rPr>
                <a:t>至</a:t>
              </a:r>
              <a:r>
                <a:rPr lang="en-US" altLang="zh-CN" sz="1100" b="1" kern="0" spc="-10" dirty="0">
                  <a:solidFill>
                    <a:srgbClr val="FF0000"/>
                  </a:solidFill>
                  <a:latin typeface="微软雅黑" panose="020B0503020204020204" pitchFamily="34" charset="-122"/>
                  <a:ea typeface="微软雅黑" panose="020B0503020204020204" pitchFamily="34" charset="-122"/>
                  <a:cs typeface="Arial"/>
                </a:rPr>
                <a:t>60%</a:t>
              </a:r>
            </a:p>
            <a:p>
              <a:pPr marL="252729" indent="-228600">
                <a:lnSpc>
                  <a:spcPct val="150000"/>
                </a:lnSpc>
                <a:spcBef>
                  <a:spcPts val="0"/>
                </a:spcBef>
                <a:buFont typeface="+mj-lt"/>
                <a:buAutoNum type="arabicPeriod"/>
              </a:pPr>
              <a:r>
                <a:rPr lang="zh-CN" altLang="en-US" sz="1100" kern="0" spc="-10" dirty="0">
                  <a:solidFill>
                    <a:schemeClr val="tx1"/>
                  </a:solidFill>
                  <a:latin typeface="微软雅黑" panose="020B0503020204020204" pitchFamily="34" charset="-122"/>
                  <a:ea typeface="微软雅黑" panose="020B0503020204020204" pitchFamily="34" charset="-122"/>
                  <a:cs typeface="Arial"/>
                </a:rPr>
                <a:t>单个</a:t>
              </a:r>
              <a:r>
                <a:rPr lang="zh-CN" altLang="en-US" sz="1100" kern="0" spc="-10" dirty="0" smtClean="0">
                  <a:solidFill>
                    <a:schemeClr val="tx1"/>
                  </a:solidFill>
                  <a:latin typeface="微软雅黑" panose="020B0503020204020204" pitchFamily="34" charset="-122"/>
                  <a:ea typeface="微软雅黑" panose="020B0503020204020204" pitchFamily="34" charset="-122"/>
                  <a:cs typeface="Arial"/>
                </a:rPr>
                <a:t>头寸占比</a:t>
              </a:r>
              <a:r>
                <a:rPr lang="zh-CN" altLang="en-US" sz="1100" kern="0" spc="-10" dirty="0">
                  <a:latin typeface="微软雅黑" panose="020B0503020204020204" pitchFamily="34" charset="-122"/>
                  <a:ea typeface="微软雅黑" panose="020B0503020204020204" pitchFamily="34" charset="-122"/>
                  <a:cs typeface="Arial"/>
                </a:rPr>
                <a:t>：</a:t>
              </a:r>
              <a:r>
                <a:rPr lang="zh-CN" altLang="en-US" sz="1100" kern="0" spc="-10" dirty="0" smtClean="0">
                  <a:solidFill>
                    <a:schemeClr val="tx1"/>
                  </a:solidFill>
                  <a:latin typeface="微软雅黑" panose="020B0503020204020204" pitchFamily="34" charset="-122"/>
                  <a:ea typeface="微软雅黑" panose="020B0503020204020204" pitchFamily="34" charset="-122"/>
                  <a:cs typeface="Arial"/>
                </a:rPr>
                <a:t>多头低于</a:t>
              </a:r>
              <a:r>
                <a:rPr lang="en-US" altLang="zh-CN" sz="1100" kern="0" spc="-10" dirty="0" smtClean="0">
                  <a:solidFill>
                    <a:schemeClr val="tx1"/>
                  </a:solidFill>
                  <a:latin typeface="微软雅黑" panose="020B0503020204020204" pitchFamily="34" charset="-122"/>
                  <a:ea typeface="微软雅黑" panose="020B0503020204020204" pitchFamily="34" charset="-122"/>
                  <a:cs typeface="Arial"/>
                </a:rPr>
                <a:t>20</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 / </a:t>
              </a:r>
              <a:r>
                <a:rPr lang="zh-CN" altLang="en-US" sz="1100" kern="0" spc="-10" dirty="0" smtClean="0">
                  <a:solidFill>
                    <a:schemeClr val="tx1"/>
                  </a:solidFill>
                  <a:latin typeface="微软雅黑" panose="020B0503020204020204" pitchFamily="34" charset="-122"/>
                  <a:ea typeface="微软雅黑" panose="020B0503020204020204" pitchFamily="34" charset="-122"/>
                  <a:cs typeface="Arial"/>
                </a:rPr>
                <a:t>空头低于</a:t>
              </a:r>
              <a:r>
                <a:rPr lang="en-US" altLang="zh-CN" sz="1100" kern="0" spc="-10" dirty="0" smtClean="0">
                  <a:solidFill>
                    <a:schemeClr val="tx1"/>
                  </a:solidFill>
                  <a:latin typeface="微软雅黑" panose="020B0503020204020204" pitchFamily="34" charset="-122"/>
                  <a:ea typeface="微软雅黑" panose="020B0503020204020204" pitchFamily="34" charset="-122"/>
                  <a:cs typeface="Arial"/>
                </a:rPr>
                <a:t>5</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a:t>
              </a:r>
            </a:p>
            <a:p>
              <a:pPr marL="24129">
                <a:lnSpc>
                  <a:spcPct val="150000"/>
                </a:lnSpc>
                <a:spcBef>
                  <a:spcPts val="0"/>
                </a:spcBef>
              </a:pPr>
              <a:r>
                <a:rPr lang="en-US" altLang="zh-CN" sz="1100" b="1" kern="0" spc="-10" dirty="0" smtClean="0">
                  <a:solidFill>
                    <a:srgbClr val="FF0000"/>
                  </a:solidFill>
                  <a:latin typeface="微软雅黑" panose="020B0503020204020204" pitchFamily="34" charset="-122"/>
                  <a:ea typeface="微软雅黑" panose="020B0503020204020204" pitchFamily="34" charset="-122"/>
                  <a:cs typeface="Arial"/>
                </a:rPr>
                <a:t>4</a:t>
              </a:r>
              <a:r>
                <a:rPr lang="en-US" altLang="zh-CN" sz="1100" b="1" kern="0" spc="-10" dirty="0">
                  <a:solidFill>
                    <a:srgbClr val="FF0000"/>
                  </a:solidFill>
                  <a:latin typeface="微软雅黑" panose="020B0503020204020204" pitchFamily="34" charset="-122"/>
                  <a:ea typeface="微软雅黑" panose="020B0503020204020204" pitchFamily="34" charset="-122"/>
                  <a:cs typeface="Arial"/>
                </a:rPr>
                <a:t>.   </a:t>
              </a:r>
              <a:r>
                <a:rPr lang="zh-CN" altLang="en-US" sz="1100" b="1" kern="0" spc="-10" dirty="0">
                  <a:solidFill>
                    <a:srgbClr val="FF0000"/>
                  </a:solidFill>
                  <a:latin typeface="微软雅黑" panose="020B0503020204020204" pitchFamily="34" charset="-122"/>
                  <a:ea typeface="微软雅黑" panose="020B0503020204020204" pitchFamily="34" charset="-122"/>
                  <a:cs typeface="Arial"/>
                </a:rPr>
                <a:t>年波动率：约</a:t>
              </a:r>
              <a:r>
                <a:rPr lang="en-US" altLang="zh-CN" sz="1100" b="1" kern="0" spc="-10" dirty="0">
                  <a:solidFill>
                    <a:srgbClr val="FF0000"/>
                  </a:solidFill>
                  <a:latin typeface="微软雅黑" panose="020B0503020204020204" pitchFamily="34" charset="-122"/>
                  <a:ea typeface="微软雅黑" panose="020B0503020204020204" pitchFamily="34" charset="-122"/>
                  <a:cs typeface="Arial"/>
                </a:rPr>
                <a:t>10%</a:t>
              </a:r>
              <a:r>
                <a:rPr lang="zh-CN" altLang="en-US" sz="1100" b="1" kern="0" spc="-10" dirty="0">
                  <a:solidFill>
                    <a:srgbClr val="FF0000"/>
                  </a:solidFill>
                  <a:latin typeface="微软雅黑" panose="020B0503020204020204" pitchFamily="34" charset="-122"/>
                  <a:ea typeface="微软雅黑" panose="020B0503020204020204" pitchFamily="34" charset="-122"/>
                  <a:cs typeface="Arial"/>
                </a:rPr>
                <a:t>至</a:t>
              </a:r>
              <a:r>
                <a:rPr lang="en-US" altLang="zh-CN" sz="1100" b="1" kern="0" spc="-10" dirty="0">
                  <a:solidFill>
                    <a:srgbClr val="FF0000"/>
                  </a:solidFill>
                  <a:latin typeface="微软雅黑" panose="020B0503020204020204" pitchFamily="34" charset="-122"/>
                  <a:ea typeface="微软雅黑" panose="020B0503020204020204" pitchFamily="34" charset="-122"/>
                  <a:cs typeface="Arial"/>
                </a:rPr>
                <a:t>20%</a:t>
              </a:r>
            </a:p>
            <a:p>
              <a:pPr marL="24129">
                <a:lnSpc>
                  <a:spcPct val="150000"/>
                </a:lnSpc>
                <a:spcBef>
                  <a:spcPts val="0"/>
                </a:spcBef>
              </a:pPr>
              <a:endParaRPr sz="1100" dirty="0">
                <a:solidFill>
                  <a:schemeClr val="tx1"/>
                </a:solidFill>
                <a:latin typeface="微软雅黑" panose="020B0503020204020204" pitchFamily="34" charset="-122"/>
                <a:ea typeface="微软雅黑" panose="020B0503020204020204" pitchFamily="34" charset="-122"/>
                <a:cs typeface="Franklin Gothic Medium Cond"/>
              </a:endParaRPr>
            </a:p>
          </p:txBody>
        </p:sp>
        <p:sp>
          <p:nvSpPr>
            <p:cNvPr id="28" name="path 1326">
              <a:extLst>
                <a:ext uri="{FF2B5EF4-FFF2-40B4-BE49-F238E27FC236}">
                  <a16:creationId xmlns:a16="http://schemas.microsoft.com/office/drawing/2014/main" id="{BCD4E733-4017-4697-9DE1-1938DE95C657}"/>
                </a:ext>
              </a:extLst>
            </p:cNvPr>
            <p:cNvSpPr/>
            <p:nvPr/>
          </p:nvSpPr>
          <p:spPr>
            <a:xfrm>
              <a:off x="5572615" y="2370222"/>
              <a:ext cx="530045" cy="332762"/>
            </a:xfrm>
            <a:custGeom>
              <a:avLst/>
              <a:gdLst/>
              <a:ahLst/>
              <a:cxnLst/>
              <a:rect l="0" t="0" r="0" b="0"/>
              <a:pathLst>
                <a:path w="1098" h="1807">
                  <a:moveTo>
                    <a:pt x="1088" y="2"/>
                  </a:moveTo>
                  <a:lnTo>
                    <a:pt x="1088" y="10"/>
                  </a:lnTo>
                  <a:lnTo>
                    <a:pt x="10" y="10"/>
                  </a:lnTo>
                  <a:lnTo>
                    <a:pt x="10" y="1807"/>
                  </a:lnTo>
                </a:path>
              </a:pathLst>
            </a:custGeom>
            <a:noFill/>
            <a:ln w="12700" cap="flat">
              <a:solidFill>
                <a:srgbClr val="A6A6A6"/>
              </a:solidFill>
              <a:prstDash val="solid"/>
              <a:miter lim="800000"/>
            </a:ln>
          </p:spPr>
          <p:txBody>
            <a:bodyPr rtlCol="0"/>
            <a:lstStyle/>
            <a:p>
              <a:pPr algn="ctr"/>
              <a:endParaRPr lang="zh-CN" altLang="en-US"/>
            </a:p>
          </p:txBody>
        </p:sp>
        <p:sp>
          <p:nvSpPr>
            <p:cNvPr id="29" name="path 1330">
              <a:extLst>
                <a:ext uri="{FF2B5EF4-FFF2-40B4-BE49-F238E27FC236}">
                  <a16:creationId xmlns:a16="http://schemas.microsoft.com/office/drawing/2014/main" id="{C774567A-F709-4C97-B998-735B1E9B7620}"/>
                </a:ext>
              </a:extLst>
            </p:cNvPr>
            <p:cNvSpPr/>
            <p:nvPr/>
          </p:nvSpPr>
          <p:spPr>
            <a:xfrm>
              <a:off x="5549463" y="2705141"/>
              <a:ext cx="68384" cy="68384"/>
            </a:xfrm>
            <a:custGeom>
              <a:avLst/>
              <a:gdLst/>
              <a:ahLst/>
              <a:cxnLst/>
              <a:rect l="0" t="0" r="0" b="0"/>
              <a:pathLst>
                <a:path w="120" h="120">
                  <a:moveTo>
                    <a:pt x="60" y="120"/>
                  </a:moveTo>
                  <a:cubicBezTo>
                    <a:pt x="26" y="120"/>
                    <a:pt x="0" y="93"/>
                    <a:pt x="0" y="60"/>
                  </a:cubicBezTo>
                  <a:cubicBezTo>
                    <a:pt x="0" y="26"/>
                    <a:pt x="26" y="0"/>
                    <a:pt x="60" y="0"/>
                  </a:cubicBezTo>
                  <a:cubicBezTo>
                    <a:pt x="93" y="0"/>
                    <a:pt x="120" y="26"/>
                    <a:pt x="120" y="60"/>
                  </a:cubicBezTo>
                  <a:cubicBezTo>
                    <a:pt x="120" y="93"/>
                    <a:pt x="93" y="120"/>
                    <a:pt x="60" y="120"/>
                  </a:cubicBezTo>
                </a:path>
              </a:pathLst>
            </a:custGeom>
            <a:solidFill>
              <a:srgbClr val="A6A6A6">
                <a:alpha val="100000"/>
              </a:srgbClr>
            </a:solidFill>
            <a:ln w="0" cap="flat">
              <a:noFill/>
              <a:prstDash val="solid"/>
              <a:miter lim="0"/>
            </a:ln>
          </p:spPr>
          <p:txBody>
            <a:bodyPr rtlCol="0"/>
            <a:lstStyle/>
            <a:p>
              <a:pPr algn="ctr"/>
              <a:endParaRPr lang="zh-CN" altLang="en-US"/>
            </a:p>
          </p:txBody>
        </p:sp>
        <p:sp>
          <p:nvSpPr>
            <p:cNvPr id="31" name="path 1332">
              <a:extLst>
                <a:ext uri="{FF2B5EF4-FFF2-40B4-BE49-F238E27FC236}">
                  <a16:creationId xmlns:a16="http://schemas.microsoft.com/office/drawing/2014/main" id="{94FA40E2-27D2-49AB-B164-C019FD7A4B95}"/>
                </a:ext>
              </a:extLst>
            </p:cNvPr>
            <p:cNvSpPr/>
            <p:nvPr/>
          </p:nvSpPr>
          <p:spPr>
            <a:xfrm>
              <a:off x="7678806" y="4699294"/>
              <a:ext cx="633213" cy="67872"/>
            </a:xfrm>
            <a:custGeom>
              <a:avLst/>
              <a:gdLst/>
              <a:ahLst/>
              <a:cxnLst/>
              <a:rect l="0" t="0" r="0" b="0"/>
              <a:pathLst>
                <a:path w="746" h="20">
                  <a:moveTo>
                    <a:pt x="0" y="10"/>
                  </a:moveTo>
                  <a:lnTo>
                    <a:pt x="746" y="10"/>
                  </a:lnTo>
                </a:path>
              </a:pathLst>
            </a:custGeom>
            <a:noFill/>
            <a:ln w="12700" cap="flat">
              <a:solidFill>
                <a:srgbClr val="A6A6A6"/>
              </a:solidFill>
              <a:prstDash val="solid"/>
              <a:miter lim="800000"/>
            </a:ln>
          </p:spPr>
          <p:txBody>
            <a:bodyPr rtlCol="0"/>
            <a:lstStyle/>
            <a:p>
              <a:pPr algn="ctr"/>
              <a:endParaRPr lang="zh-CN" altLang="en-US"/>
            </a:p>
          </p:txBody>
        </p:sp>
        <p:sp>
          <p:nvSpPr>
            <p:cNvPr id="32" name="textbox 1334">
              <a:extLst>
                <a:ext uri="{FF2B5EF4-FFF2-40B4-BE49-F238E27FC236}">
                  <a16:creationId xmlns:a16="http://schemas.microsoft.com/office/drawing/2014/main" id="{3FF7FD03-0DD6-4AA2-B172-EE0755064AA9}"/>
                </a:ext>
              </a:extLst>
            </p:cNvPr>
            <p:cNvSpPr/>
            <p:nvPr/>
          </p:nvSpPr>
          <p:spPr>
            <a:xfrm>
              <a:off x="8426478" y="4429052"/>
              <a:ext cx="3634049" cy="1161959"/>
            </a:xfrm>
            <a:prstGeom prst="rect">
              <a:avLst/>
            </a:prstGeom>
            <a:noFill/>
            <a:ln w="0" cap="flat">
              <a:noFill/>
              <a:prstDash val="solid"/>
              <a:miter lim="0"/>
            </a:ln>
          </p:spPr>
          <p:txBody>
            <a:bodyPr vert="horz" wrap="square" lIns="0" tIns="0" rIns="0" bIns="0"/>
            <a:lstStyle/>
            <a:p>
              <a:pPr marL="252729" indent="-228600">
                <a:lnSpc>
                  <a:spcPct val="150000"/>
                </a:lnSpc>
                <a:spcBef>
                  <a:spcPts val="0"/>
                </a:spcBef>
                <a:buFont typeface="+mj-lt"/>
                <a:buAutoNum type="arabicPeriod"/>
              </a:pPr>
              <a:r>
                <a:rPr lang="zh-CN" altLang="en-US" sz="1100" kern="0" spc="-10" dirty="0">
                  <a:solidFill>
                    <a:schemeClr val="tx1"/>
                  </a:solidFill>
                  <a:latin typeface="微软雅黑" panose="020B0503020204020204" pitchFamily="34" charset="-122"/>
                  <a:ea typeface="微软雅黑" panose="020B0503020204020204" pitchFamily="34" charset="-122"/>
                  <a:cs typeface="Arial"/>
                </a:rPr>
                <a:t>目标持有期：多头</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&gt;2</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年 </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 </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空头</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&lt;12</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个月</a:t>
              </a:r>
            </a:p>
            <a:p>
              <a:pPr marL="252729" indent="-228600">
                <a:lnSpc>
                  <a:spcPct val="150000"/>
                </a:lnSpc>
                <a:spcBef>
                  <a:spcPts val="0"/>
                </a:spcBef>
                <a:buFont typeface="+mj-lt"/>
                <a:buAutoNum type="arabicPeriod"/>
              </a:pPr>
              <a:r>
                <a:rPr lang="zh-CN" altLang="en-US" sz="1100" kern="0" spc="-10" dirty="0">
                  <a:solidFill>
                    <a:schemeClr val="tx1"/>
                  </a:solidFill>
                  <a:latin typeface="微软雅黑" panose="020B0503020204020204" pitchFamily="34" charset="-122"/>
                  <a:ea typeface="微软雅黑" panose="020B0503020204020204" pitchFamily="34" charset="-122"/>
                  <a:cs typeface="Arial"/>
                </a:rPr>
                <a:t>私募投资：</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5-10</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年</a:t>
              </a:r>
              <a:endParaRPr sz="1100" kern="0" spc="-10" dirty="0">
                <a:solidFill>
                  <a:schemeClr val="tx1"/>
                </a:solidFill>
                <a:latin typeface="微软雅黑" panose="020B0503020204020204" pitchFamily="34" charset="-122"/>
                <a:ea typeface="微软雅黑" panose="020B0503020204020204" pitchFamily="34" charset="-122"/>
                <a:cs typeface="Arial"/>
              </a:endParaRPr>
            </a:p>
          </p:txBody>
        </p:sp>
        <p:sp>
          <p:nvSpPr>
            <p:cNvPr id="33" name="path 1336">
              <a:extLst>
                <a:ext uri="{FF2B5EF4-FFF2-40B4-BE49-F238E27FC236}">
                  <a16:creationId xmlns:a16="http://schemas.microsoft.com/office/drawing/2014/main" id="{AF3C9825-33F3-4FFD-8D7D-75B014CD8AB9}"/>
                </a:ext>
              </a:extLst>
            </p:cNvPr>
            <p:cNvSpPr/>
            <p:nvPr/>
          </p:nvSpPr>
          <p:spPr>
            <a:xfrm>
              <a:off x="7629760" y="4698783"/>
              <a:ext cx="68384" cy="68384"/>
            </a:xfrm>
            <a:custGeom>
              <a:avLst/>
              <a:gdLst/>
              <a:ahLst/>
              <a:cxnLst/>
              <a:rect l="0" t="0" r="0" b="0"/>
              <a:pathLst>
                <a:path w="120" h="120">
                  <a:moveTo>
                    <a:pt x="0" y="60"/>
                  </a:moveTo>
                  <a:cubicBezTo>
                    <a:pt x="0" y="26"/>
                    <a:pt x="26" y="0"/>
                    <a:pt x="60" y="0"/>
                  </a:cubicBezTo>
                  <a:cubicBezTo>
                    <a:pt x="93" y="0"/>
                    <a:pt x="120" y="26"/>
                    <a:pt x="120" y="59"/>
                  </a:cubicBezTo>
                  <a:cubicBezTo>
                    <a:pt x="120" y="93"/>
                    <a:pt x="93" y="120"/>
                    <a:pt x="60" y="120"/>
                  </a:cubicBezTo>
                  <a:cubicBezTo>
                    <a:pt x="26" y="120"/>
                    <a:pt x="0" y="93"/>
                    <a:pt x="0" y="60"/>
                  </a:cubicBezTo>
                </a:path>
              </a:pathLst>
            </a:custGeom>
            <a:solidFill>
              <a:srgbClr val="A6A6A6">
                <a:alpha val="100000"/>
              </a:srgbClr>
            </a:solidFill>
            <a:ln w="0" cap="flat">
              <a:noFill/>
              <a:prstDash val="solid"/>
              <a:miter lim="0"/>
            </a:ln>
          </p:spPr>
          <p:txBody>
            <a:bodyPr rtlCol="0"/>
            <a:lstStyle/>
            <a:p>
              <a:pPr algn="ctr"/>
              <a:endParaRPr lang="zh-CN" altLang="en-US"/>
            </a:p>
          </p:txBody>
        </p:sp>
        <p:sp>
          <p:nvSpPr>
            <p:cNvPr id="34" name="textbox 1356">
              <a:extLst>
                <a:ext uri="{FF2B5EF4-FFF2-40B4-BE49-F238E27FC236}">
                  <a16:creationId xmlns:a16="http://schemas.microsoft.com/office/drawing/2014/main" id="{77CB844C-653A-4E4D-A586-17F1A6DA9A1D}"/>
                </a:ext>
              </a:extLst>
            </p:cNvPr>
            <p:cNvSpPr/>
            <p:nvPr/>
          </p:nvSpPr>
          <p:spPr>
            <a:xfrm>
              <a:off x="3225052" y="6311896"/>
              <a:ext cx="5358672" cy="39014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nSpc>
                  <a:spcPts val="1497"/>
                </a:lnSpc>
              </a:pPr>
              <a:r>
                <a:rPr lang="zh-CN" altLang="en-US" sz="1200" b="1" kern="0" dirty="0">
                  <a:solidFill>
                    <a:srgbClr val="C00000"/>
                  </a:solidFill>
                  <a:latin typeface="Franklin Gothic Medium Cond"/>
                  <a:ea typeface="Franklin Gothic Medium Cond"/>
                  <a:cs typeface="Franklin Gothic Medium Cond"/>
                </a:rPr>
                <a:t>投资于全球股票，无特殊限制，但专注于美国大市值科技股</a:t>
              </a:r>
              <a:endParaRPr sz="1200" dirty="0">
                <a:solidFill>
                  <a:srgbClr val="C00000"/>
                </a:solidFill>
                <a:latin typeface="Franklin Gothic Medium Cond"/>
                <a:ea typeface="Franklin Gothic Medium Cond"/>
                <a:cs typeface="Franklin Gothic Medium Cond"/>
              </a:endParaRPr>
            </a:p>
          </p:txBody>
        </p:sp>
        <p:sp>
          <p:nvSpPr>
            <p:cNvPr id="35" name="path 1326">
              <a:extLst>
                <a:ext uri="{FF2B5EF4-FFF2-40B4-BE49-F238E27FC236}">
                  <a16:creationId xmlns:a16="http://schemas.microsoft.com/office/drawing/2014/main" id="{F85AAA82-9259-4292-8B8A-6248CA6C4B09}"/>
                </a:ext>
              </a:extLst>
            </p:cNvPr>
            <p:cNvSpPr/>
            <p:nvPr/>
          </p:nvSpPr>
          <p:spPr>
            <a:xfrm rot="10800000" flipH="1">
              <a:off x="2493555" y="4246598"/>
              <a:ext cx="532773" cy="529561"/>
            </a:xfrm>
            <a:custGeom>
              <a:avLst/>
              <a:gdLst/>
              <a:ahLst/>
              <a:cxnLst/>
              <a:rect l="0" t="0" r="0" b="0"/>
              <a:pathLst>
                <a:path w="1098" h="1807">
                  <a:moveTo>
                    <a:pt x="1088" y="2"/>
                  </a:moveTo>
                  <a:lnTo>
                    <a:pt x="1088" y="10"/>
                  </a:lnTo>
                  <a:lnTo>
                    <a:pt x="10" y="10"/>
                  </a:lnTo>
                  <a:lnTo>
                    <a:pt x="10" y="1807"/>
                  </a:lnTo>
                </a:path>
              </a:pathLst>
            </a:custGeom>
            <a:noFill/>
            <a:ln w="12700" cap="flat">
              <a:solidFill>
                <a:srgbClr val="A6A6A6"/>
              </a:solidFill>
              <a:prstDash val="solid"/>
              <a:miter lim="800000"/>
            </a:ln>
          </p:spPr>
          <p:txBody>
            <a:bodyPr rtlCol="0"/>
            <a:lstStyle/>
            <a:p>
              <a:pPr algn="ctr"/>
              <a:endParaRPr lang="zh-CN" altLang="en-US"/>
            </a:p>
          </p:txBody>
        </p:sp>
        <p:sp>
          <p:nvSpPr>
            <p:cNvPr id="36" name="path 1316">
              <a:extLst>
                <a:ext uri="{FF2B5EF4-FFF2-40B4-BE49-F238E27FC236}">
                  <a16:creationId xmlns:a16="http://schemas.microsoft.com/office/drawing/2014/main" id="{48947E65-77AD-42D0-B0E4-1E9A820867CF}"/>
                </a:ext>
              </a:extLst>
            </p:cNvPr>
            <p:cNvSpPr/>
            <p:nvPr/>
          </p:nvSpPr>
          <p:spPr>
            <a:xfrm>
              <a:off x="3113053" y="4742193"/>
              <a:ext cx="68384" cy="68384"/>
            </a:xfrm>
            <a:custGeom>
              <a:avLst/>
              <a:gdLst/>
              <a:ahLst/>
              <a:cxnLst/>
              <a:rect l="0" t="0" r="0" b="0"/>
              <a:pathLst>
                <a:path w="120" h="120">
                  <a:moveTo>
                    <a:pt x="120" y="60"/>
                  </a:moveTo>
                  <a:cubicBezTo>
                    <a:pt x="120" y="93"/>
                    <a:pt x="93" y="120"/>
                    <a:pt x="60" y="120"/>
                  </a:cubicBezTo>
                  <a:cubicBezTo>
                    <a:pt x="26" y="120"/>
                    <a:pt x="0" y="93"/>
                    <a:pt x="0" y="60"/>
                  </a:cubicBezTo>
                  <a:cubicBezTo>
                    <a:pt x="0" y="26"/>
                    <a:pt x="26" y="0"/>
                    <a:pt x="60" y="0"/>
                  </a:cubicBezTo>
                  <a:cubicBezTo>
                    <a:pt x="93" y="0"/>
                    <a:pt x="120" y="26"/>
                    <a:pt x="120" y="60"/>
                  </a:cubicBezTo>
                </a:path>
              </a:pathLst>
            </a:custGeom>
            <a:solidFill>
              <a:srgbClr val="A6A6A6">
                <a:alpha val="100000"/>
              </a:srgbClr>
            </a:solidFill>
            <a:ln w="0" cap="flat">
              <a:noFill/>
              <a:prstDash val="solid"/>
              <a:miter lim="0"/>
            </a:ln>
          </p:spPr>
          <p:txBody>
            <a:bodyPr rtlCol="0"/>
            <a:lstStyle/>
            <a:p>
              <a:pPr algn="ctr"/>
              <a:endParaRPr lang="zh-CN" altLang="en-US"/>
            </a:p>
          </p:txBody>
        </p:sp>
        <p:sp>
          <p:nvSpPr>
            <p:cNvPr id="37" name="文本框 36">
              <a:extLst>
                <a:ext uri="{FF2B5EF4-FFF2-40B4-BE49-F238E27FC236}">
                  <a16:creationId xmlns:a16="http://schemas.microsoft.com/office/drawing/2014/main" id="{520FB897-5ADB-41E0-8BB4-50858E62AC37}"/>
                </a:ext>
              </a:extLst>
            </p:cNvPr>
            <p:cNvSpPr txBox="1"/>
            <p:nvPr/>
          </p:nvSpPr>
          <p:spPr>
            <a:xfrm>
              <a:off x="3492036" y="4246598"/>
              <a:ext cx="848115" cy="338554"/>
            </a:xfrm>
            <a:prstGeom prst="rect">
              <a:avLst/>
            </a:prstGeom>
            <a:noFill/>
          </p:spPr>
          <p:txBody>
            <a:bodyPr wrap="square" rtlCol="0">
              <a:spAutoFit/>
            </a:bodyPr>
            <a:lstStyle/>
            <a:p>
              <a:r>
                <a:rPr lang="zh-CN" altLang="en-US" sz="1600" b="1" kern="0" spc="-30" dirty="0">
                  <a:solidFill>
                    <a:srgbClr val="FFFFFF">
                      <a:alpha val="100000"/>
                    </a:srgbClr>
                  </a:solidFill>
                  <a:latin typeface="Franklin Gothic Medium Cond"/>
                  <a:ea typeface="Franklin Gothic Medium Cond"/>
                  <a:cs typeface="Franklin Gothic Medium Cond"/>
                </a:rPr>
                <a:t>敞口</a:t>
              </a:r>
            </a:p>
          </p:txBody>
        </p:sp>
        <p:sp>
          <p:nvSpPr>
            <p:cNvPr id="38" name="文本框 37">
              <a:extLst>
                <a:ext uri="{FF2B5EF4-FFF2-40B4-BE49-F238E27FC236}">
                  <a16:creationId xmlns:a16="http://schemas.microsoft.com/office/drawing/2014/main" id="{19CBBBBE-F13A-4E29-A5A7-E0DCDCC3DC68}"/>
                </a:ext>
              </a:extLst>
            </p:cNvPr>
            <p:cNvSpPr txBox="1"/>
            <p:nvPr/>
          </p:nvSpPr>
          <p:spPr>
            <a:xfrm>
              <a:off x="6288722" y="4495379"/>
              <a:ext cx="1227848" cy="338554"/>
            </a:xfrm>
            <a:prstGeom prst="rect">
              <a:avLst/>
            </a:prstGeom>
            <a:noFill/>
          </p:spPr>
          <p:txBody>
            <a:bodyPr wrap="square" rtlCol="0">
              <a:spAutoFit/>
            </a:bodyPr>
            <a:lstStyle/>
            <a:p>
              <a:r>
                <a:rPr lang="zh-CN" altLang="en-US" sz="1600" b="1" kern="0" spc="-30" dirty="0">
                  <a:solidFill>
                    <a:srgbClr val="FFFFFF">
                      <a:alpha val="100000"/>
                    </a:srgbClr>
                  </a:solidFill>
                  <a:latin typeface="Franklin Gothic Medium Cond"/>
                  <a:ea typeface="Franklin Gothic Medium Cond"/>
                  <a:cs typeface="Franklin Gothic Medium Cond"/>
                </a:rPr>
                <a:t>持仓周期</a:t>
              </a:r>
            </a:p>
          </p:txBody>
        </p:sp>
        <p:sp>
          <p:nvSpPr>
            <p:cNvPr id="39" name="textbox 1328">
              <a:extLst>
                <a:ext uri="{FF2B5EF4-FFF2-40B4-BE49-F238E27FC236}">
                  <a16:creationId xmlns:a16="http://schemas.microsoft.com/office/drawing/2014/main" id="{F16533C0-316E-4531-A126-C50148015181}"/>
                </a:ext>
              </a:extLst>
            </p:cNvPr>
            <p:cNvSpPr/>
            <p:nvPr/>
          </p:nvSpPr>
          <p:spPr>
            <a:xfrm>
              <a:off x="6407249" y="1773335"/>
              <a:ext cx="5501830" cy="616168"/>
            </a:xfrm>
            <a:prstGeom prst="rect">
              <a:avLst/>
            </a:prstGeom>
            <a:noFill/>
            <a:ln w="0" cap="flat">
              <a:noFill/>
              <a:prstDash val="solid"/>
              <a:miter lim="0"/>
            </a:ln>
          </p:spPr>
          <p:txBody>
            <a:bodyPr vert="horz" wrap="square" lIns="0" tIns="0" rIns="0" bIns="0"/>
            <a:lstStyle/>
            <a:p>
              <a:pPr marL="252729" indent="-228600">
                <a:lnSpc>
                  <a:spcPct val="150000"/>
                </a:lnSpc>
                <a:spcBef>
                  <a:spcPts val="0"/>
                </a:spcBef>
                <a:buFont typeface="+mj-lt"/>
                <a:buAutoNum type="arabicPeriod"/>
              </a:pPr>
              <a:endParaRPr sz="1100" kern="0" spc="-10" dirty="0">
                <a:solidFill>
                  <a:schemeClr val="tx1"/>
                </a:solidFill>
                <a:latin typeface="微软雅黑" panose="020B0503020204020204" pitchFamily="34" charset="-122"/>
                <a:ea typeface="微软雅黑" panose="020B0503020204020204" pitchFamily="34" charset="-122"/>
                <a:cs typeface="Arial"/>
              </a:endParaRPr>
            </a:p>
            <a:p>
              <a:pPr marL="24129">
                <a:lnSpc>
                  <a:spcPct val="150000"/>
                </a:lnSpc>
                <a:spcBef>
                  <a:spcPts val="0"/>
                </a:spcBef>
              </a:pPr>
              <a:r>
                <a:rPr lang="en-US" altLang="zh-CN" sz="1100" kern="0" spc="-10" dirty="0">
                  <a:solidFill>
                    <a:schemeClr val="tx1"/>
                  </a:solidFill>
                  <a:latin typeface="微软雅黑" panose="020B0503020204020204" pitchFamily="34" charset="-122"/>
                  <a:ea typeface="微软雅黑" panose="020B0503020204020204" pitchFamily="34" charset="-122"/>
                  <a:cs typeface="Arial"/>
                </a:rPr>
                <a:t>1</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、流动性：合计</a:t>
              </a:r>
              <a:r>
                <a:rPr lang="en-US" altLang="zh-CN" sz="1100" b="1" kern="0" spc="-10" dirty="0">
                  <a:solidFill>
                    <a:schemeClr val="tx1"/>
                  </a:solidFill>
                  <a:latin typeface="微软雅黑" panose="020B0503020204020204" pitchFamily="34" charset="-122"/>
                  <a:ea typeface="微软雅黑" panose="020B0503020204020204" pitchFamily="34" charset="-122"/>
                  <a:cs typeface="Arial"/>
                </a:rPr>
                <a:t>30-50</a:t>
              </a:r>
              <a:r>
                <a:rPr lang="zh-CN" altLang="en-US" sz="1100" b="1" kern="0" spc="-10" dirty="0">
                  <a:solidFill>
                    <a:schemeClr val="tx1"/>
                  </a:solidFill>
                  <a:latin typeface="微软雅黑" panose="020B0503020204020204" pitchFamily="34" charset="-122"/>
                  <a:ea typeface="微软雅黑" panose="020B0503020204020204" pitchFamily="34" charset="-122"/>
                  <a:cs typeface="Arial"/>
                </a:rPr>
                <a:t>支股票</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，预期多头</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20-30</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支</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 </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空头</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10-20</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支</a:t>
              </a:r>
              <a:endParaRPr lang="en-US" altLang="zh-CN" sz="1100" kern="0" spc="-10" dirty="0">
                <a:solidFill>
                  <a:schemeClr val="tx1"/>
                </a:solidFill>
                <a:latin typeface="微软雅黑" panose="020B0503020204020204" pitchFamily="34" charset="-122"/>
                <a:ea typeface="微软雅黑" panose="020B0503020204020204" pitchFamily="34" charset="-122"/>
                <a:cs typeface="Arial"/>
              </a:endParaRPr>
            </a:p>
            <a:p>
              <a:pPr marL="24129">
                <a:lnSpc>
                  <a:spcPct val="150000"/>
                </a:lnSpc>
                <a:spcBef>
                  <a:spcPts val="0"/>
                </a:spcBef>
              </a:pPr>
              <a:r>
                <a:rPr lang="en-US" altLang="zh-CN" sz="1100" kern="0" spc="-10" dirty="0">
                  <a:solidFill>
                    <a:schemeClr val="tx1"/>
                  </a:solidFill>
                  <a:latin typeface="微软雅黑" panose="020B0503020204020204" pitchFamily="34" charset="-122"/>
                  <a:ea typeface="微软雅黑" panose="020B0503020204020204" pitchFamily="34" charset="-122"/>
                  <a:cs typeface="Arial"/>
                </a:rPr>
                <a:t>2</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、非流动性：</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A</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轮至</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C</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轮为主的私募投资，占比不超过基金</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AUM</a:t>
              </a:r>
              <a:r>
                <a:rPr lang="zh-CN" altLang="en-US" sz="1100" kern="0" spc="-10" dirty="0">
                  <a:solidFill>
                    <a:schemeClr val="tx1"/>
                  </a:solidFill>
                  <a:latin typeface="微软雅黑" panose="020B0503020204020204" pitchFamily="34" charset="-122"/>
                  <a:ea typeface="微软雅黑" panose="020B0503020204020204" pitchFamily="34" charset="-122"/>
                  <a:cs typeface="Arial"/>
                </a:rPr>
                <a:t>的</a:t>
              </a:r>
              <a:r>
                <a:rPr lang="en-US" altLang="zh-CN" sz="1100" kern="0" spc="-10" dirty="0">
                  <a:solidFill>
                    <a:schemeClr val="tx1"/>
                  </a:solidFill>
                  <a:latin typeface="微软雅黑" panose="020B0503020204020204" pitchFamily="34" charset="-122"/>
                  <a:ea typeface="微软雅黑" panose="020B0503020204020204" pitchFamily="34" charset="-122"/>
                  <a:cs typeface="Arial"/>
                </a:rPr>
                <a:t>5%</a:t>
              </a:r>
              <a:endParaRPr lang="zh-CN" altLang="en-US" sz="1100" kern="0" spc="-10" dirty="0">
                <a:solidFill>
                  <a:schemeClr val="tx1"/>
                </a:solidFill>
                <a:latin typeface="微软雅黑" panose="020B0503020204020204" pitchFamily="34" charset="-122"/>
                <a:ea typeface="微软雅黑" panose="020B0503020204020204" pitchFamily="34" charset="-122"/>
                <a:cs typeface="Arial"/>
              </a:endParaRPr>
            </a:p>
          </p:txBody>
        </p:sp>
      </p:grpSp>
    </p:spTree>
    <p:custDataLst>
      <p:tags r:id="rId1"/>
    </p:custDataLst>
    <p:extLst>
      <p:ext uri="{BB962C8B-B14F-4D97-AF65-F5344CB8AC3E}">
        <p14:creationId xmlns:p14="http://schemas.microsoft.com/office/powerpoint/2010/main" val="39408452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标题 14"/>
          <p:cNvSpPr>
            <a:spLocks noGrp="1"/>
          </p:cNvSpPr>
          <p:nvPr>
            <p:ph type="ctrTitle"/>
          </p:nvPr>
        </p:nvSpPr>
        <p:spPr>
          <a:xfrm>
            <a:off x="219709" y="146893"/>
            <a:ext cx="7550552" cy="800735"/>
          </a:xfrm>
        </p:spPr>
        <p:txBody>
          <a:bodyPr vert="horz" lIns="90000" tIns="46800" rIns="90000" bIns="46800" rtlCol="0" anchor="b" anchorCtr="0">
            <a:noAutofit/>
          </a:bodyPr>
          <a:lstStyle/>
          <a:p>
            <a:pPr algn="l">
              <a:defRPr/>
            </a:pP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持</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仓地域分布</a:t>
            </a:r>
            <a:endPar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endParaRPr>
          </a:p>
        </p:txBody>
      </p:sp>
      <p:pic>
        <p:nvPicPr>
          <p:cNvPr id="5" name="图片 4" descr="未标题-1"/>
          <p:cNvPicPr>
            <a:picLocks noChangeAspect="1"/>
          </p:cNvPicPr>
          <p:nvPr/>
        </p:nvPicPr>
        <p:blipFill>
          <a:blip r:embed="rId5"/>
          <a:stretch>
            <a:fillRect/>
          </a:stretch>
        </p:blipFill>
        <p:spPr>
          <a:xfrm>
            <a:off x="11133455" y="295910"/>
            <a:ext cx="771525" cy="187960"/>
          </a:xfrm>
          <a:prstGeom prst="rect">
            <a:avLst/>
          </a:prstGeom>
        </p:spPr>
      </p:pic>
      <p:sp>
        <p:nvSpPr>
          <p:cNvPr id="29" name="Rectangle 21"/>
          <p:cNvSpPr/>
          <p:nvPr/>
        </p:nvSpPr>
        <p:spPr>
          <a:xfrm>
            <a:off x="1207360" y="6621447"/>
            <a:ext cx="8981305" cy="200055"/>
          </a:xfrm>
          <a:prstGeom prst="rect">
            <a:avLst/>
          </a:prstGeom>
        </p:spPr>
        <p:txBody>
          <a:bodyPr wrap="square">
            <a:spAutoFit/>
          </a:bodyPr>
          <a:lstStyle/>
          <a:p>
            <a:r>
              <a:rPr lang="zh-CN" altLang="en-US" sz="700" dirty="0" smtClean="0">
                <a:latin typeface="微软雅黑" panose="020B0503020204020204" pitchFamily="34" charset="-122"/>
                <a:ea typeface="微软雅黑" panose="020B0503020204020204" pitchFamily="34" charset="-122"/>
              </a:rPr>
              <a:t>资料来源：</a:t>
            </a:r>
            <a:r>
              <a:rPr lang="en-US" altLang="zh-CN" sz="700" dirty="0" smtClean="0">
                <a:latin typeface="微软雅黑" panose="020B0503020204020204" pitchFamily="34" charset="-122"/>
                <a:ea typeface="微软雅黑" panose="020B0503020204020204" pitchFamily="34" charset="-122"/>
              </a:rPr>
              <a:t>Point 72</a:t>
            </a:r>
            <a:r>
              <a:rPr lang="zh-CN" altLang="en-US" sz="700" dirty="0" smtClean="0">
                <a:latin typeface="微软雅黑" panose="020B0503020204020204" pitchFamily="34" charset="-122"/>
                <a:ea typeface="微软雅黑" panose="020B0503020204020204" pitchFamily="34" charset="-122"/>
              </a:rPr>
              <a:t>，截至</a:t>
            </a:r>
            <a:r>
              <a:rPr lang="en-US" altLang="zh-CN" sz="700" dirty="0" smtClean="0">
                <a:latin typeface="微软雅黑" panose="020B0503020204020204" pitchFamily="34" charset="-122"/>
                <a:ea typeface="微软雅黑" panose="020B0503020204020204" pitchFamily="34" charset="-122"/>
              </a:rPr>
              <a:t>2024</a:t>
            </a:r>
            <a:r>
              <a:rPr lang="zh-CN" altLang="en-US" sz="700" dirty="0" smtClean="0">
                <a:latin typeface="微软雅黑" panose="020B0503020204020204" pitchFamily="34" charset="-122"/>
                <a:ea typeface="微软雅黑" panose="020B0503020204020204" pitchFamily="34" charset="-122"/>
              </a:rPr>
              <a:t>年</a:t>
            </a:r>
            <a:r>
              <a:rPr lang="en-US" altLang="zh-CN" sz="700" dirty="0">
                <a:latin typeface="微软雅黑" panose="020B0503020204020204" pitchFamily="34" charset="-122"/>
                <a:ea typeface="微软雅黑" panose="020B0503020204020204" pitchFamily="34" charset="-122"/>
              </a:rPr>
              <a:t>8</a:t>
            </a:r>
            <a:r>
              <a:rPr lang="zh-CN" altLang="en-US" sz="700" dirty="0" smtClean="0">
                <a:latin typeface="微软雅黑" panose="020B0503020204020204" pitchFamily="34" charset="-122"/>
                <a:ea typeface="微软雅黑" panose="020B0503020204020204" pitchFamily="34" charset="-122"/>
              </a:rPr>
              <a:t>月</a:t>
            </a:r>
            <a:r>
              <a:rPr lang="en-US" altLang="zh-CN" sz="700" dirty="0" smtClean="0">
                <a:latin typeface="微软雅黑" panose="020B0503020204020204" pitchFamily="34" charset="-122"/>
                <a:ea typeface="微软雅黑" panose="020B0503020204020204" pitchFamily="34" charset="-122"/>
              </a:rPr>
              <a:t>31</a:t>
            </a:r>
            <a:r>
              <a:rPr lang="zh-CN" altLang="en-US" sz="700" dirty="0" smtClean="0">
                <a:latin typeface="微软雅黑" panose="020B0503020204020204" pitchFamily="34" charset="-122"/>
                <a:ea typeface="微软雅黑" panose="020B0503020204020204" pitchFamily="34" charset="-122"/>
              </a:rPr>
              <a:t>日</a:t>
            </a:r>
            <a:r>
              <a:rPr lang="zh-CN" altLang="en-US" sz="700" dirty="0">
                <a:latin typeface="微软雅黑" panose="020B0503020204020204" pitchFamily="34" charset="-122"/>
                <a:ea typeface="微软雅黑" panose="020B0503020204020204" pitchFamily="34" charset="-122"/>
              </a:rPr>
              <a:t>。本</a:t>
            </a:r>
            <a:r>
              <a:rPr lang="zh-CN" altLang="en-US" sz="700" dirty="0" smtClean="0">
                <a:latin typeface="微软雅黑" panose="020B0503020204020204" pitchFamily="34" charset="-122"/>
                <a:ea typeface="微软雅黑" panose="020B0503020204020204" pitchFamily="34" charset="-122"/>
              </a:rPr>
              <a:t>基金所示业绩为</a:t>
            </a:r>
            <a:r>
              <a:rPr lang="en-US" altLang="zh-CN" sz="700" dirty="0">
                <a:latin typeface="微软雅黑" panose="020B0503020204020204" pitchFamily="34" charset="-122"/>
                <a:ea typeface="微软雅黑" panose="020B0503020204020204" pitchFamily="34" charset="-122"/>
              </a:rPr>
              <a:t>P72 PM Pro Forma</a:t>
            </a:r>
            <a:r>
              <a:rPr lang="zh-CN" altLang="en-US" sz="700" dirty="0" smtClean="0">
                <a:latin typeface="微软雅黑" panose="020B0503020204020204" pitchFamily="34" charset="-122"/>
                <a:ea typeface="微软雅黑" panose="020B0503020204020204" pitchFamily="34" charset="-122"/>
              </a:rPr>
              <a:t>业绩</a:t>
            </a:r>
            <a:r>
              <a:rPr lang="zh-CN" altLang="en-US" sz="700" dirty="0">
                <a:latin typeface="微软雅黑" panose="020B0503020204020204" pitchFamily="34" charset="-122"/>
                <a:ea typeface="微软雅黑" panose="020B0503020204020204" pitchFamily="34" charset="-122"/>
              </a:rPr>
              <a:t>扣除管理费和</a:t>
            </a:r>
            <a:r>
              <a:rPr lang="zh-CN" altLang="en-US" sz="700" dirty="0">
                <a:solidFill>
                  <a:schemeClr val="tx1"/>
                </a:solidFill>
                <a:latin typeface="微软雅黑" panose="020B0503020204020204" pitchFamily="34" charset="-122"/>
                <a:ea typeface="微软雅黑" panose="020B0503020204020204" pitchFamily="34" charset="-122"/>
              </a:rPr>
              <a:t>业绩表现费后</a:t>
            </a:r>
            <a:r>
              <a:rPr lang="zh-CN" altLang="en-US" sz="700" dirty="0" smtClean="0">
                <a:solidFill>
                  <a:schemeClr val="tx1"/>
                </a:solidFill>
                <a:latin typeface="微软雅黑" panose="020B0503020204020204" pitchFamily="34" charset="-122"/>
                <a:ea typeface="微软雅黑" panose="020B0503020204020204" pitchFamily="34" charset="-122"/>
              </a:rPr>
              <a:t>的模拟业绩，与所代销的</a:t>
            </a:r>
            <a:r>
              <a:rPr lang="en-US" altLang="zh-CN" sz="700" dirty="0" err="1" smtClean="0">
                <a:solidFill>
                  <a:schemeClr val="tx1"/>
                </a:solidFill>
                <a:latin typeface="微软雅黑" panose="020B0503020204020204" pitchFamily="34" charset="-122"/>
                <a:ea typeface="微软雅黑" panose="020B0503020204020204" pitchFamily="34" charset="-122"/>
              </a:rPr>
              <a:t>Turion</a:t>
            </a:r>
            <a:r>
              <a:rPr lang="en-US" altLang="zh-CN" sz="700" dirty="0" smtClean="0">
                <a:solidFill>
                  <a:schemeClr val="tx1"/>
                </a:solidFill>
                <a:latin typeface="微软雅黑" panose="020B0503020204020204" pitchFamily="34" charset="-122"/>
                <a:ea typeface="微软雅黑" panose="020B0503020204020204" pitchFamily="34" charset="-122"/>
              </a:rPr>
              <a:t> Class B</a:t>
            </a:r>
            <a:r>
              <a:rPr lang="zh-CN" altLang="en-US" sz="700" dirty="0" smtClean="0">
                <a:solidFill>
                  <a:schemeClr val="tx1"/>
                </a:solidFill>
                <a:latin typeface="微软雅黑" panose="020B0503020204020204" pitchFamily="34" charset="-122"/>
                <a:ea typeface="微软雅黑" panose="020B0503020204020204" pitchFamily="34" charset="-122"/>
              </a:rPr>
              <a:t>业绩有所不同。</a:t>
            </a:r>
            <a:r>
              <a:rPr lang="zh-TW" altLang="zh-CN" sz="700" dirty="0">
                <a:solidFill>
                  <a:schemeClr val="tx1"/>
                </a:solidFill>
                <a:latin typeface="微软雅黑" panose="020B0503020204020204" pitchFamily="34" charset="-122"/>
                <a:ea typeface="微软雅黑" panose="020B0503020204020204" pitchFamily="34" charset="-122"/>
              </a:rPr>
              <a:t>投资涉及风险，</a:t>
            </a:r>
            <a:r>
              <a:rPr lang="zh-CN" altLang="en-US" sz="700" dirty="0">
                <a:solidFill>
                  <a:schemeClr val="tx1"/>
                </a:solidFill>
                <a:latin typeface="微软雅黑" panose="020B0503020204020204" pitchFamily="34" charset="-122"/>
                <a:ea typeface="微软雅黑" panose="020B0503020204020204" pitchFamily="34" charset="-122"/>
              </a:rPr>
              <a:t>过去表现不代表</a:t>
            </a:r>
            <a:r>
              <a:rPr lang="zh-TW" altLang="zh-CN" sz="700" dirty="0">
                <a:solidFill>
                  <a:schemeClr val="tx1"/>
                </a:solidFill>
                <a:latin typeface="微软雅黑" panose="020B0503020204020204" pitchFamily="34" charset="-122"/>
                <a:ea typeface="微软雅黑" panose="020B0503020204020204" pitchFamily="34" charset="-122"/>
              </a:rPr>
              <a:t>或不保证</a:t>
            </a:r>
            <a:r>
              <a:rPr lang="zh-CN" altLang="en-US" sz="700" dirty="0">
                <a:solidFill>
                  <a:schemeClr val="tx1"/>
                </a:solidFill>
                <a:latin typeface="微软雅黑" panose="020B0503020204020204" pitchFamily="34" charset="-122"/>
                <a:ea typeface="微软雅黑" panose="020B0503020204020204" pitchFamily="34" charset="-122"/>
              </a:rPr>
              <a:t>未来表现</a:t>
            </a:r>
            <a:r>
              <a:rPr lang="zh-CN" altLang="en-US" sz="700" dirty="0">
                <a:latin typeface="微软雅黑" panose="020B0503020204020204" pitchFamily="34" charset="-122"/>
                <a:ea typeface="微软雅黑" panose="020B0503020204020204" pitchFamily="34" charset="-122"/>
              </a:rPr>
              <a:t>。</a:t>
            </a:r>
          </a:p>
        </p:txBody>
      </p:sp>
      <p:graphicFrame>
        <p:nvGraphicFramePr>
          <p:cNvPr id="31" name="图表 30"/>
          <p:cNvGraphicFramePr>
            <a:graphicFrameLocks/>
          </p:cNvGraphicFramePr>
          <p:nvPr>
            <p:extLst>
              <p:ext uri="{D42A27DB-BD31-4B8C-83A1-F6EECF244321}">
                <p14:modId xmlns:p14="http://schemas.microsoft.com/office/powerpoint/2010/main" val="1571339250"/>
              </p:ext>
            </p:extLst>
          </p:nvPr>
        </p:nvGraphicFramePr>
        <p:xfrm>
          <a:off x="1388105" y="1345341"/>
          <a:ext cx="4388008" cy="269294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2" name="图表 31"/>
          <p:cNvGraphicFramePr>
            <a:graphicFrameLocks/>
          </p:cNvGraphicFramePr>
          <p:nvPr>
            <p:extLst>
              <p:ext uri="{D42A27DB-BD31-4B8C-83A1-F6EECF244321}">
                <p14:modId xmlns:p14="http://schemas.microsoft.com/office/powerpoint/2010/main" val="900068503"/>
              </p:ext>
            </p:extLst>
          </p:nvPr>
        </p:nvGraphicFramePr>
        <p:xfrm>
          <a:off x="5838572" y="1381306"/>
          <a:ext cx="4183900" cy="2621018"/>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3" name="图表 32"/>
          <p:cNvGraphicFramePr>
            <a:graphicFrameLocks/>
          </p:cNvGraphicFramePr>
          <p:nvPr>
            <p:extLst>
              <p:ext uri="{D42A27DB-BD31-4B8C-83A1-F6EECF244321}">
                <p14:modId xmlns:p14="http://schemas.microsoft.com/office/powerpoint/2010/main" val="2301898755"/>
              </p:ext>
            </p:extLst>
          </p:nvPr>
        </p:nvGraphicFramePr>
        <p:xfrm>
          <a:off x="1388105" y="4038289"/>
          <a:ext cx="4309908" cy="2648303"/>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34" name="图表 33"/>
          <p:cNvGraphicFramePr>
            <a:graphicFrameLocks/>
          </p:cNvGraphicFramePr>
          <p:nvPr>
            <p:extLst>
              <p:ext uri="{D42A27DB-BD31-4B8C-83A1-F6EECF244321}">
                <p14:modId xmlns:p14="http://schemas.microsoft.com/office/powerpoint/2010/main" val="2810403781"/>
              </p:ext>
            </p:extLst>
          </p:nvPr>
        </p:nvGraphicFramePr>
        <p:xfrm>
          <a:off x="5924000" y="3973938"/>
          <a:ext cx="4395215" cy="2712654"/>
        </p:xfrm>
        <a:graphic>
          <a:graphicData uri="http://schemas.openxmlformats.org/drawingml/2006/chart">
            <c:chart xmlns:c="http://schemas.openxmlformats.org/drawingml/2006/chart" xmlns:r="http://schemas.openxmlformats.org/officeDocument/2006/relationships" r:id="rId9"/>
          </a:graphicData>
        </a:graphic>
      </p:graphicFrame>
    </p:spTree>
    <p:custDataLst>
      <p:tags r:id="rId1"/>
    </p:custDataLst>
    <p:extLst>
      <p:ext uri="{BB962C8B-B14F-4D97-AF65-F5344CB8AC3E}">
        <p14:creationId xmlns:p14="http://schemas.microsoft.com/office/powerpoint/2010/main" val="29091763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标题 14"/>
          <p:cNvSpPr>
            <a:spLocks noGrp="1"/>
          </p:cNvSpPr>
          <p:nvPr>
            <p:ph type="ctrTitle"/>
          </p:nvPr>
        </p:nvSpPr>
        <p:spPr>
          <a:xfrm>
            <a:off x="219709" y="146893"/>
            <a:ext cx="7550552" cy="800735"/>
          </a:xfrm>
        </p:spPr>
        <p:txBody>
          <a:bodyPr vert="horz" lIns="90000" tIns="46800" rIns="90000" bIns="46800" rtlCol="0" anchor="b" anchorCtr="0">
            <a:noAutofit/>
          </a:bodyPr>
          <a:lstStyle/>
          <a:p>
            <a:pPr algn="l">
              <a:defRPr/>
            </a:pP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持</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仓板块分布</a:t>
            </a:r>
            <a:endPar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endParaRPr>
          </a:p>
        </p:txBody>
      </p:sp>
      <p:pic>
        <p:nvPicPr>
          <p:cNvPr id="5" name="图片 4" descr="未标题-1"/>
          <p:cNvPicPr>
            <a:picLocks noChangeAspect="1"/>
          </p:cNvPicPr>
          <p:nvPr/>
        </p:nvPicPr>
        <p:blipFill>
          <a:blip r:embed="rId5"/>
          <a:stretch>
            <a:fillRect/>
          </a:stretch>
        </p:blipFill>
        <p:spPr>
          <a:xfrm>
            <a:off x="11133455" y="295910"/>
            <a:ext cx="771525" cy="187960"/>
          </a:xfrm>
          <a:prstGeom prst="rect">
            <a:avLst/>
          </a:prstGeom>
        </p:spPr>
      </p:pic>
      <p:sp>
        <p:nvSpPr>
          <p:cNvPr id="10" name="Rectangle 21"/>
          <p:cNvSpPr/>
          <p:nvPr/>
        </p:nvSpPr>
        <p:spPr>
          <a:xfrm>
            <a:off x="1548148" y="6620023"/>
            <a:ext cx="8981305" cy="200055"/>
          </a:xfrm>
          <a:prstGeom prst="rect">
            <a:avLst/>
          </a:prstGeom>
        </p:spPr>
        <p:txBody>
          <a:bodyPr wrap="square">
            <a:spAutoFit/>
          </a:bodyPr>
          <a:lstStyle/>
          <a:p>
            <a:r>
              <a:rPr lang="zh-CN" altLang="en-US" sz="700" dirty="0" smtClean="0">
                <a:latin typeface="微软雅黑" panose="020B0503020204020204" pitchFamily="34" charset="-122"/>
                <a:ea typeface="微软雅黑" panose="020B0503020204020204" pitchFamily="34" charset="-122"/>
              </a:rPr>
              <a:t>资料来源：</a:t>
            </a:r>
            <a:r>
              <a:rPr lang="en-US" altLang="zh-CN" sz="700" dirty="0" smtClean="0">
                <a:latin typeface="微软雅黑" panose="020B0503020204020204" pitchFamily="34" charset="-122"/>
                <a:ea typeface="微软雅黑" panose="020B0503020204020204" pitchFamily="34" charset="-122"/>
              </a:rPr>
              <a:t>Point 72</a:t>
            </a:r>
            <a:r>
              <a:rPr lang="zh-CN" altLang="en-US" sz="700" dirty="0" smtClean="0">
                <a:latin typeface="微软雅黑" panose="020B0503020204020204" pitchFamily="34" charset="-122"/>
                <a:ea typeface="微软雅黑" panose="020B0503020204020204" pitchFamily="34" charset="-122"/>
              </a:rPr>
              <a:t>，截至</a:t>
            </a:r>
            <a:r>
              <a:rPr lang="en-US" altLang="zh-CN" sz="700" dirty="0" smtClean="0">
                <a:latin typeface="微软雅黑" panose="020B0503020204020204" pitchFamily="34" charset="-122"/>
                <a:ea typeface="微软雅黑" panose="020B0503020204020204" pitchFamily="34" charset="-122"/>
              </a:rPr>
              <a:t>2024</a:t>
            </a:r>
            <a:r>
              <a:rPr lang="zh-CN" altLang="en-US" sz="700" dirty="0" smtClean="0">
                <a:latin typeface="微软雅黑" panose="020B0503020204020204" pitchFamily="34" charset="-122"/>
                <a:ea typeface="微软雅黑" panose="020B0503020204020204" pitchFamily="34" charset="-122"/>
              </a:rPr>
              <a:t>年</a:t>
            </a:r>
            <a:r>
              <a:rPr lang="en-US" altLang="zh-CN" sz="700" dirty="0">
                <a:latin typeface="微软雅黑" panose="020B0503020204020204" pitchFamily="34" charset="-122"/>
                <a:ea typeface="微软雅黑" panose="020B0503020204020204" pitchFamily="34" charset="-122"/>
              </a:rPr>
              <a:t>8</a:t>
            </a:r>
            <a:r>
              <a:rPr lang="zh-CN" altLang="en-US" sz="700" dirty="0" smtClean="0">
                <a:latin typeface="微软雅黑" panose="020B0503020204020204" pitchFamily="34" charset="-122"/>
                <a:ea typeface="微软雅黑" panose="020B0503020204020204" pitchFamily="34" charset="-122"/>
              </a:rPr>
              <a:t>月</a:t>
            </a:r>
            <a:r>
              <a:rPr lang="en-US" altLang="zh-CN" sz="700" dirty="0" smtClean="0">
                <a:latin typeface="微软雅黑" panose="020B0503020204020204" pitchFamily="34" charset="-122"/>
                <a:ea typeface="微软雅黑" panose="020B0503020204020204" pitchFamily="34" charset="-122"/>
              </a:rPr>
              <a:t>31</a:t>
            </a:r>
            <a:r>
              <a:rPr lang="zh-CN" altLang="en-US" sz="700" dirty="0" smtClean="0">
                <a:latin typeface="微软雅黑" panose="020B0503020204020204" pitchFamily="34" charset="-122"/>
                <a:ea typeface="微软雅黑" panose="020B0503020204020204" pitchFamily="34" charset="-122"/>
              </a:rPr>
              <a:t>日</a:t>
            </a:r>
            <a:r>
              <a:rPr lang="zh-CN" altLang="en-US" sz="700" dirty="0">
                <a:latin typeface="微软雅黑" panose="020B0503020204020204" pitchFamily="34" charset="-122"/>
                <a:ea typeface="微软雅黑" panose="020B0503020204020204" pitchFamily="34" charset="-122"/>
              </a:rPr>
              <a:t>。本</a:t>
            </a:r>
            <a:r>
              <a:rPr lang="zh-CN" altLang="en-US" sz="700" dirty="0" smtClean="0">
                <a:latin typeface="微软雅黑" panose="020B0503020204020204" pitchFamily="34" charset="-122"/>
                <a:ea typeface="微软雅黑" panose="020B0503020204020204" pitchFamily="34" charset="-122"/>
              </a:rPr>
              <a:t>基金所示业绩为</a:t>
            </a:r>
            <a:r>
              <a:rPr lang="en-US" altLang="zh-CN" sz="700" dirty="0">
                <a:latin typeface="微软雅黑" panose="020B0503020204020204" pitchFamily="34" charset="-122"/>
                <a:ea typeface="微软雅黑" panose="020B0503020204020204" pitchFamily="34" charset="-122"/>
              </a:rPr>
              <a:t>P72 PM Pro Forma</a:t>
            </a:r>
            <a:r>
              <a:rPr lang="zh-CN" altLang="en-US" sz="700" dirty="0" smtClean="0">
                <a:latin typeface="微软雅黑" panose="020B0503020204020204" pitchFamily="34" charset="-122"/>
                <a:ea typeface="微软雅黑" panose="020B0503020204020204" pitchFamily="34" charset="-122"/>
              </a:rPr>
              <a:t>业绩</a:t>
            </a:r>
            <a:r>
              <a:rPr lang="zh-CN" altLang="en-US" sz="700" dirty="0">
                <a:latin typeface="微软雅黑" panose="020B0503020204020204" pitchFamily="34" charset="-122"/>
                <a:ea typeface="微软雅黑" panose="020B0503020204020204" pitchFamily="34" charset="-122"/>
              </a:rPr>
              <a:t>扣除管理费和</a:t>
            </a:r>
            <a:r>
              <a:rPr lang="zh-CN" altLang="en-US" sz="700" dirty="0">
                <a:solidFill>
                  <a:schemeClr val="tx1"/>
                </a:solidFill>
                <a:latin typeface="微软雅黑" panose="020B0503020204020204" pitchFamily="34" charset="-122"/>
                <a:ea typeface="微软雅黑" panose="020B0503020204020204" pitchFamily="34" charset="-122"/>
              </a:rPr>
              <a:t>业绩表现费后</a:t>
            </a:r>
            <a:r>
              <a:rPr lang="zh-CN" altLang="en-US" sz="700" dirty="0" smtClean="0">
                <a:solidFill>
                  <a:schemeClr val="tx1"/>
                </a:solidFill>
                <a:latin typeface="微软雅黑" panose="020B0503020204020204" pitchFamily="34" charset="-122"/>
                <a:ea typeface="微软雅黑" panose="020B0503020204020204" pitchFamily="34" charset="-122"/>
              </a:rPr>
              <a:t>的模拟业绩，与所代销的</a:t>
            </a:r>
            <a:r>
              <a:rPr lang="en-US" altLang="zh-CN" sz="700" dirty="0" err="1" smtClean="0">
                <a:solidFill>
                  <a:schemeClr val="tx1"/>
                </a:solidFill>
                <a:latin typeface="微软雅黑" panose="020B0503020204020204" pitchFamily="34" charset="-122"/>
                <a:ea typeface="微软雅黑" panose="020B0503020204020204" pitchFamily="34" charset="-122"/>
              </a:rPr>
              <a:t>Turion</a:t>
            </a:r>
            <a:r>
              <a:rPr lang="en-US" altLang="zh-CN" sz="700" dirty="0" smtClean="0">
                <a:solidFill>
                  <a:schemeClr val="tx1"/>
                </a:solidFill>
                <a:latin typeface="微软雅黑" panose="020B0503020204020204" pitchFamily="34" charset="-122"/>
                <a:ea typeface="微软雅黑" panose="020B0503020204020204" pitchFamily="34" charset="-122"/>
              </a:rPr>
              <a:t> Class B</a:t>
            </a:r>
            <a:r>
              <a:rPr lang="zh-CN" altLang="en-US" sz="700" dirty="0" smtClean="0">
                <a:solidFill>
                  <a:schemeClr val="tx1"/>
                </a:solidFill>
                <a:latin typeface="微软雅黑" panose="020B0503020204020204" pitchFamily="34" charset="-122"/>
                <a:ea typeface="微软雅黑" panose="020B0503020204020204" pitchFamily="34" charset="-122"/>
              </a:rPr>
              <a:t>业绩有所不同。</a:t>
            </a:r>
            <a:r>
              <a:rPr lang="zh-TW" altLang="zh-CN" sz="700" dirty="0">
                <a:solidFill>
                  <a:schemeClr val="tx1"/>
                </a:solidFill>
                <a:latin typeface="微软雅黑" panose="020B0503020204020204" pitchFamily="34" charset="-122"/>
                <a:ea typeface="微软雅黑" panose="020B0503020204020204" pitchFamily="34" charset="-122"/>
              </a:rPr>
              <a:t>投资涉及风险，</a:t>
            </a:r>
            <a:r>
              <a:rPr lang="zh-CN" altLang="en-US" sz="700" dirty="0">
                <a:solidFill>
                  <a:schemeClr val="tx1"/>
                </a:solidFill>
                <a:latin typeface="微软雅黑" panose="020B0503020204020204" pitchFamily="34" charset="-122"/>
                <a:ea typeface="微软雅黑" panose="020B0503020204020204" pitchFamily="34" charset="-122"/>
              </a:rPr>
              <a:t>过去表现不代表</a:t>
            </a:r>
            <a:r>
              <a:rPr lang="zh-TW" altLang="zh-CN" sz="700" dirty="0">
                <a:solidFill>
                  <a:schemeClr val="tx1"/>
                </a:solidFill>
                <a:latin typeface="微软雅黑" panose="020B0503020204020204" pitchFamily="34" charset="-122"/>
                <a:ea typeface="微软雅黑" panose="020B0503020204020204" pitchFamily="34" charset="-122"/>
              </a:rPr>
              <a:t>或不保证</a:t>
            </a:r>
            <a:r>
              <a:rPr lang="zh-CN" altLang="en-US" sz="700" dirty="0">
                <a:solidFill>
                  <a:schemeClr val="tx1"/>
                </a:solidFill>
                <a:latin typeface="微软雅黑" panose="020B0503020204020204" pitchFamily="34" charset="-122"/>
                <a:ea typeface="微软雅黑" panose="020B0503020204020204" pitchFamily="34" charset="-122"/>
              </a:rPr>
              <a:t>未来表现</a:t>
            </a:r>
            <a:r>
              <a:rPr lang="zh-CN" altLang="en-US" sz="700" dirty="0">
                <a:latin typeface="微软雅黑" panose="020B0503020204020204" pitchFamily="34" charset="-122"/>
                <a:ea typeface="微软雅黑" panose="020B0503020204020204" pitchFamily="34" charset="-122"/>
              </a:rPr>
              <a:t>。</a:t>
            </a:r>
          </a:p>
        </p:txBody>
      </p:sp>
      <p:graphicFrame>
        <p:nvGraphicFramePr>
          <p:cNvPr id="11" name="图表 10"/>
          <p:cNvGraphicFramePr>
            <a:graphicFrameLocks/>
          </p:cNvGraphicFramePr>
          <p:nvPr>
            <p:extLst>
              <p:ext uri="{D42A27DB-BD31-4B8C-83A1-F6EECF244321}">
                <p14:modId xmlns:p14="http://schemas.microsoft.com/office/powerpoint/2010/main" val="577576226"/>
              </p:ext>
            </p:extLst>
          </p:nvPr>
        </p:nvGraphicFramePr>
        <p:xfrm>
          <a:off x="816470" y="1465372"/>
          <a:ext cx="4935700" cy="3368707"/>
        </p:xfrm>
        <a:graphic>
          <a:graphicData uri="http://schemas.openxmlformats.org/drawingml/2006/chart">
            <c:chart xmlns:c="http://schemas.openxmlformats.org/drawingml/2006/chart" xmlns:r="http://schemas.openxmlformats.org/officeDocument/2006/relationships" r:id="rId6"/>
          </a:graphicData>
        </a:graphic>
      </p:graphicFrame>
      <p:pic>
        <p:nvPicPr>
          <p:cNvPr id="2" name="图片 1"/>
          <p:cNvPicPr>
            <a:picLocks noChangeAspect="1"/>
          </p:cNvPicPr>
          <p:nvPr/>
        </p:nvPicPr>
        <p:blipFill>
          <a:blip r:embed="rId7"/>
          <a:stretch>
            <a:fillRect/>
          </a:stretch>
        </p:blipFill>
        <p:spPr>
          <a:xfrm>
            <a:off x="6158872" y="1287190"/>
            <a:ext cx="4593220" cy="3285581"/>
          </a:xfrm>
          <a:prstGeom prst="rect">
            <a:avLst/>
          </a:prstGeom>
        </p:spPr>
      </p:pic>
      <p:pic>
        <p:nvPicPr>
          <p:cNvPr id="3" name="图片 2"/>
          <p:cNvPicPr>
            <a:picLocks noChangeAspect="1"/>
          </p:cNvPicPr>
          <p:nvPr/>
        </p:nvPicPr>
        <p:blipFill>
          <a:blip r:embed="rId8"/>
          <a:stretch>
            <a:fillRect/>
          </a:stretch>
        </p:blipFill>
        <p:spPr>
          <a:xfrm>
            <a:off x="2657834" y="4879326"/>
            <a:ext cx="4467225" cy="1695450"/>
          </a:xfrm>
          <a:prstGeom prst="rect">
            <a:avLst/>
          </a:prstGeom>
        </p:spPr>
      </p:pic>
      <p:pic>
        <p:nvPicPr>
          <p:cNvPr id="4" name="图片 3"/>
          <p:cNvPicPr>
            <a:picLocks noChangeAspect="1"/>
          </p:cNvPicPr>
          <p:nvPr/>
        </p:nvPicPr>
        <p:blipFill>
          <a:blip r:embed="rId9"/>
          <a:stretch>
            <a:fillRect/>
          </a:stretch>
        </p:blipFill>
        <p:spPr>
          <a:xfrm>
            <a:off x="7233395" y="4871773"/>
            <a:ext cx="4457700" cy="1685925"/>
          </a:xfrm>
          <a:prstGeom prst="rect">
            <a:avLst/>
          </a:prstGeom>
        </p:spPr>
      </p:pic>
    </p:spTree>
    <p:custDataLst>
      <p:tags r:id="rId1"/>
    </p:custDataLst>
    <p:extLst>
      <p:ext uri="{BB962C8B-B14F-4D97-AF65-F5344CB8AC3E}">
        <p14:creationId xmlns:p14="http://schemas.microsoft.com/office/powerpoint/2010/main" val="40031791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标题 14"/>
          <p:cNvSpPr>
            <a:spLocks noGrp="1"/>
          </p:cNvSpPr>
          <p:nvPr>
            <p:ph type="ctrTitle"/>
          </p:nvPr>
        </p:nvSpPr>
        <p:spPr>
          <a:xfrm>
            <a:off x="219709" y="146893"/>
            <a:ext cx="7550552" cy="800735"/>
          </a:xfrm>
        </p:spPr>
        <p:txBody>
          <a:bodyPr vert="horz" lIns="90000" tIns="46800" rIns="90000" bIns="46800" rtlCol="0" anchor="b" anchorCtr="0">
            <a:noAutofit/>
          </a:bodyPr>
          <a:lstStyle/>
          <a:p>
            <a:pPr algn="l">
              <a:defRPr/>
            </a:pP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持</a:t>
            </a:r>
            <a:r>
              <a:rPr lang="zh-CN" altLang="en-US" sz="2400" b="1" spc="300" dirty="0" smtClean="0">
                <a:solidFill>
                  <a:srgbClr val="015658"/>
                </a:solidFill>
                <a:latin typeface="獅尾四季春加糖SC-Bold" panose="020B0500000000000000" pitchFamily="34" charset="-120"/>
                <a:ea typeface="獅尾四季春加糖SC-Bold" panose="020B0500000000000000" pitchFamily="34" charset="-120"/>
                <a:cs typeface="+mn-cs"/>
                <a:sym typeface="+mn-ea"/>
              </a:rPr>
              <a:t>仓市值分布</a:t>
            </a:r>
            <a:endPar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endParaRPr>
          </a:p>
        </p:txBody>
      </p:sp>
      <p:pic>
        <p:nvPicPr>
          <p:cNvPr id="5" name="图片 4" descr="未标题-1"/>
          <p:cNvPicPr>
            <a:picLocks noChangeAspect="1"/>
          </p:cNvPicPr>
          <p:nvPr/>
        </p:nvPicPr>
        <p:blipFill>
          <a:blip r:embed="rId5"/>
          <a:stretch>
            <a:fillRect/>
          </a:stretch>
        </p:blipFill>
        <p:spPr>
          <a:xfrm>
            <a:off x="11133455" y="295910"/>
            <a:ext cx="771525" cy="187960"/>
          </a:xfrm>
          <a:prstGeom prst="rect">
            <a:avLst/>
          </a:prstGeom>
        </p:spPr>
      </p:pic>
      <p:sp>
        <p:nvSpPr>
          <p:cNvPr id="16" name="灯片编号占位符 1"/>
          <p:cNvSpPr>
            <a:spLocks noGrp="1"/>
          </p:cNvSpPr>
          <p:nvPr>
            <p:ph type="sldNum" sz="quarter" idx="4294967295"/>
          </p:nvPr>
        </p:nvSpPr>
        <p:spPr>
          <a:xfrm>
            <a:off x="9055842" y="6354925"/>
            <a:ext cx="2311400" cy="365125"/>
          </a:xfrm>
          <a:prstGeom prst="rect">
            <a:avLst/>
          </a:prstGeom>
        </p:spPr>
        <p:txBody>
          <a:bodyPr/>
          <a:lstStyle/>
          <a:p>
            <a:pPr marL="0" marR="0" lvl="0" indent="0" algn="r" defTabSz="914400" rtl="0" eaLnBrk="1" fontAlgn="base" latinLnBrk="0" hangingPunct="1">
              <a:lnSpc>
                <a:spcPct val="100000"/>
              </a:lnSpc>
              <a:spcBef>
                <a:spcPct val="50000"/>
              </a:spcBef>
              <a:spcAft>
                <a:spcPct val="0"/>
              </a:spcAft>
              <a:buClr>
                <a:srgbClr val="C12727"/>
              </a:buClr>
              <a:buSzPct val="80000"/>
              <a:buFont typeface="Wingdings" panose="05000000000000000000" pitchFamily="2" charset="2"/>
              <a:buNone/>
              <a:defRPr/>
            </a:pPr>
            <a:fld id="{1E4C59EA-AFF2-48DD-AA49-FAF0DBD700F8}" type="slidenum">
              <a:rPr kumimoji="0" lang="zh-CN" altLang="en-US" sz="1200" b="0" i="0" u="none" strike="noStrike" kern="1200" cap="none" spc="0" normalizeH="0" baseline="0" noProof="1" smtClean="0">
                <a:ln>
                  <a:noFill/>
                </a:ln>
                <a:solidFill>
                  <a:schemeClr val="tx1">
                    <a:tint val="75000"/>
                  </a:schemeClr>
                </a:solidFill>
                <a:effectLst/>
                <a:uLnTx/>
                <a:uFillTx/>
                <a:latin typeface="仿宋_GB2312" pitchFamily="49" charset="-122"/>
                <a:ea typeface="仿宋_GB2312" pitchFamily="49" charset="-122"/>
                <a:cs typeface="+mn-cs"/>
              </a:rPr>
              <a:t>20</a:t>
            </a:fld>
            <a:endParaRPr kumimoji="0" lang="zh-CN" altLang="en-US" sz="1200" b="0" i="0" u="none" strike="noStrike" kern="1200" cap="none" spc="0" normalizeH="0" baseline="0" noProof="1">
              <a:ln>
                <a:noFill/>
              </a:ln>
              <a:solidFill>
                <a:schemeClr val="tx1">
                  <a:tint val="75000"/>
                </a:schemeClr>
              </a:solidFill>
              <a:effectLst/>
              <a:uLnTx/>
              <a:uFillTx/>
              <a:latin typeface="仿宋_GB2312" pitchFamily="49" charset="-122"/>
              <a:ea typeface="仿宋_GB2312" pitchFamily="49" charset="-122"/>
              <a:cs typeface="+mn-cs"/>
            </a:endParaRPr>
          </a:p>
        </p:txBody>
      </p:sp>
      <p:sp>
        <p:nvSpPr>
          <p:cNvPr id="17" name="Rectangle 21"/>
          <p:cNvSpPr/>
          <p:nvPr/>
        </p:nvSpPr>
        <p:spPr>
          <a:xfrm>
            <a:off x="2074623" y="6620023"/>
            <a:ext cx="8981305" cy="200055"/>
          </a:xfrm>
          <a:prstGeom prst="rect">
            <a:avLst/>
          </a:prstGeom>
        </p:spPr>
        <p:txBody>
          <a:bodyPr wrap="square">
            <a:spAutoFit/>
          </a:bodyPr>
          <a:lstStyle/>
          <a:p>
            <a:r>
              <a:rPr lang="zh-CN" altLang="en-US" sz="700" dirty="0" smtClean="0">
                <a:latin typeface="微软雅黑" panose="020B0503020204020204" pitchFamily="34" charset="-122"/>
                <a:ea typeface="微软雅黑" panose="020B0503020204020204" pitchFamily="34" charset="-122"/>
              </a:rPr>
              <a:t>资料来源：</a:t>
            </a:r>
            <a:r>
              <a:rPr lang="en-US" altLang="zh-CN" sz="700" dirty="0" smtClean="0">
                <a:latin typeface="微软雅黑" panose="020B0503020204020204" pitchFamily="34" charset="-122"/>
                <a:ea typeface="微软雅黑" panose="020B0503020204020204" pitchFamily="34" charset="-122"/>
              </a:rPr>
              <a:t>Point 72</a:t>
            </a:r>
            <a:r>
              <a:rPr lang="zh-CN" altLang="en-US" sz="700" dirty="0" smtClean="0">
                <a:latin typeface="微软雅黑" panose="020B0503020204020204" pitchFamily="34" charset="-122"/>
                <a:ea typeface="微软雅黑" panose="020B0503020204020204" pitchFamily="34" charset="-122"/>
              </a:rPr>
              <a:t>，截至</a:t>
            </a:r>
            <a:r>
              <a:rPr lang="en-US" altLang="zh-CN" sz="700" dirty="0" smtClean="0">
                <a:latin typeface="微软雅黑" panose="020B0503020204020204" pitchFamily="34" charset="-122"/>
                <a:ea typeface="微软雅黑" panose="020B0503020204020204" pitchFamily="34" charset="-122"/>
              </a:rPr>
              <a:t>2024</a:t>
            </a:r>
            <a:r>
              <a:rPr lang="zh-CN" altLang="en-US" sz="700" dirty="0" smtClean="0">
                <a:latin typeface="微软雅黑" panose="020B0503020204020204" pitchFamily="34" charset="-122"/>
                <a:ea typeface="微软雅黑" panose="020B0503020204020204" pitchFamily="34" charset="-122"/>
              </a:rPr>
              <a:t>年</a:t>
            </a:r>
            <a:r>
              <a:rPr lang="en-US" altLang="zh-CN" sz="700" dirty="0">
                <a:latin typeface="微软雅黑" panose="020B0503020204020204" pitchFamily="34" charset="-122"/>
                <a:ea typeface="微软雅黑" panose="020B0503020204020204" pitchFamily="34" charset="-122"/>
              </a:rPr>
              <a:t>8</a:t>
            </a:r>
            <a:r>
              <a:rPr lang="zh-CN" altLang="en-US" sz="700" dirty="0" smtClean="0">
                <a:latin typeface="微软雅黑" panose="020B0503020204020204" pitchFamily="34" charset="-122"/>
                <a:ea typeface="微软雅黑" panose="020B0503020204020204" pitchFamily="34" charset="-122"/>
              </a:rPr>
              <a:t>月</a:t>
            </a:r>
            <a:r>
              <a:rPr lang="en-US" altLang="zh-CN" sz="700" dirty="0" smtClean="0">
                <a:latin typeface="微软雅黑" panose="020B0503020204020204" pitchFamily="34" charset="-122"/>
                <a:ea typeface="微软雅黑" panose="020B0503020204020204" pitchFamily="34" charset="-122"/>
              </a:rPr>
              <a:t>31</a:t>
            </a:r>
            <a:r>
              <a:rPr lang="zh-CN" altLang="en-US" sz="700" dirty="0" smtClean="0">
                <a:latin typeface="微软雅黑" panose="020B0503020204020204" pitchFamily="34" charset="-122"/>
                <a:ea typeface="微软雅黑" panose="020B0503020204020204" pitchFamily="34" charset="-122"/>
              </a:rPr>
              <a:t>日</a:t>
            </a:r>
            <a:r>
              <a:rPr lang="zh-CN" altLang="en-US" sz="700" dirty="0">
                <a:latin typeface="微软雅黑" panose="020B0503020204020204" pitchFamily="34" charset="-122"/>
                <a:ea typeface="微软雅黑" panose="020B0503020204020204" pitchFamily="34" charset="-122"/>
              </a:rPr>
              <a:t>。本</a:t>
            </a:r>
            <a:r>
              <a:rPr lang="zh-CN" altLang="en-US" sz="700" dirty="0" smtClean="0">
                <a:latin typeface="微软雅黑" panose="020B0503020204020204" pitchFamily="34" charset="-122"/>
                <a:ea typeface="微软雅黑" panose="020B0503020204020204" pitchFamily="34" charset="-122"/>
              </a:rPr>
              <a:t>基金所示业绩为</a:t>
            </a:r>
            <a:r>
              <a:rPr lang="en-US" altLang="zh-CN" sz="700" dirty="0">
                <a:latin typeface="微软雅黑" panose="020B0503020204020204" pitchFamily="34" charset="-122"/>
                <a:ea typeface="微软雅黑" panose="020B0503020204020204" pitchFamily="34" charset="-122"/>
              </a:rPr>
              <a:t>P72 PM Pro Forma</a:t>
            </a:r>
            <a:r>
              <a:rPr lang="zh-CN" altLang="en-US" sz="700" dirty="0" smtClean="0">
                <a:latin typeface="微软雅黑" panose="020B0503020204020204" pitchFamily="34" charset="-122"/>
                <a:ea typeface="微软雅黑" panose="020B0503020204020204" pitchFamily="34" charset="-122"/>
              </a:rPr>
              <a:t>业绩</a:t>
            </a:r>
            <a:r>
              <a:rPr lang="zh-CN" altLang="en-US" sz="700" dirty="0">
                <a:latin typeface="微软雅黑" panose="020B0503020204020204" pitchFamily="34" charset="-122"/>
                <a:ea typeface="微软雅黑" panose="020B0503020204020204" pitchFamily="34" charset="-122"/>
              </a:rPr>
              <a:t>扣除管理费和</a:t>
            </a:r>
            <a:r>
              <a:rPr lang="zh-CN" altLang="en-US" sz="700" dirty="0">
                <a:solidFill>
                  <a:schemeClr val="tx1"/>
                </a:solidFill>
                <a:latin typeface="微软雅黑" panose="020B0503020204020204" pitchFamily="34" charset="-122"/>
                <a:ea typeface="微软雅黑" panose="020B0503020204020204" pitchFamily="34" charset="-122"/>
              </a:rPr>
              <a:t>业绩表现费后</a:t>
            </a:r>
            <a:r>
              <a:rPr lang="zh-CN" altLang="en-US" sz="700" dirty="0" smtClean="0">
                <a:solidFill>
                  <a:schemeClr val="tx1"/>
                </a:solidFill>
                <a:latin typeface="微软雅黑" panose="020B0503020204020204" pitchFamily="34" charset="-122"/>
                <a:ea typeface="微软雅黑" panose="020B0503020204020204" pitchFamily="34" charset="-122"/>
              </a:rPr>
              <a:t>的模拟业绩，与所代销的</a:t>
            </a:r>
            <a:r>
              <a:rPr lang="en-US" altLang="zh-CN" sz="700" dirty="0" err="1" smtClean="0">
                <a:solidFill>
                  <a:schemeClr val="tx1"/>
                </a:solidFill>
                <a:latin typeface="微软雅黑" panose="020B0503020204020204" pitchFamily="34" charset="-122"/>
                <a:ea typeface="微软雅黑" panose="020B0503020204020204" pitchFamily="34" charset="-122"/>
              </a:rPr>
              <a:t>Turion</a:t>
            </a:r>
            <a:r>
              <a:rPr lang="en-US" altLang="zh-CN" sz="700" dirty="0" smtClean="0">
                <a:solidFill>
                  <a:schemeClr val="tx1"/>
                </a:solidFill>
                <a:latin typeface="微软雅黑" panose="020B0503020204020204" pitchFamily="34" charset="-122"/>
                <a:ea typeface="微软雅黑" panose="020B0503020204020204" pitchFamily="34" charset="-122"/>
              </a:rPr>
              <a:t> Class B</a:t>
            </a:r>
            <a:r>
              <a:rPr lang="zh-CN" altLang="en-US" sz="700" dirty="0" smtClean="0">
                <a:solidFill>
                  <a:schemeClr val="tx1"/>
                </a:solidFill>
                <a:latin typeface="微软雅黑" panose="020B0503020204020204" pitchFamily="34" charset="-122"/>
                <a:ea typeface="微软雅黑" panose="020B0503020204020204" pitchFamily="34" charset="-122"/>
              </a:rPr>
              <a:t>业绩有所不同。</a:t>
            </a:r>
            <a:r>
              <a:rPr lang="zh-TW" altLang="zh-CN" sz="700" dirty="0">
                <a:solidFill>
                  <a:schemeClr val="tx1"/>
                </a:solidFill>
                <a:latin typeface="微软雅黑" panose="020B0503020204020204" pitchFamily="34" charset="-122"/>
                <a:ea typeface="微软雅黑" panose="020B0503020204020204" pitchFamily="34" charset="-122"/>
              </a:rPr>
              <a:t>投资涉及风险，</a:t>
            </a:r>
            <a:r>
              <a:rPr lang="zh-CN" altLang="en-US" sz="700" dirty="0">
                <a:solidFill>
                  <a:schemeClr val="tx1"/>
                </a:solidFill>
                <a:latin typeface="微软雅黑" panose="020B0503020204020204" pitchFamily="34" charset="-122"/>
                <a:ea typeface="微软雅黑" panose="020B0503020204020204" pitchFamily="34" charset="-122"/>
              </a:rPr>
              <a:t>过去表现不代表</a:t>
            </a:r>
            <a:r>
              <a:rPr lang="zh-TW" altLang="zh-CN" sz="700" dirty="0">
                <a:solidFill>
                  <a:schemeClr val="tx1"/>
                </a:solidFill>
                <a:latin typeface="微软雅黑" panose="020B0503020204020204" pitchFamily="34" charset="-122"/>
                <a:ea typeface="微软雅黑" panose="020B0503020204020204" pitchFamily="34" charset="-122"/>
              </a:rPr>
              <a:t>或不保证</a:t>
            </a:r>
            <a:r>
              <a:rPr lang="zh-CN" altLang="en-US" sz="700" dirty="0">
                <a:solidFill>
                  <a:schemeClr val="tx1"/>
                </a:solidFill>
                <a:latin typeface="微软雅黑" panose="020B0503020204020204" pitchFamily="34" charset="-122"/>
                <a:ea typeface="微软雅黑" panose="020B0503020204020204" pitchFamily="34" charset="-122"/>
              </a:rPr>
              <a:t>未来表现</a:t>
            </a:r>
            <a:r>
              <a:rPr lang="zh-CN" altLang="en-US" sz="700" dirty="0">
                <a:latin typeface="微软雅黑" panose="020B0503020204020204" pitchFamily="34" charset="-122"/>
                <a:ea typeface="微软雅黑" panose="020B0503020204020204" pitchFamily="34" charset="-122"/>
              </a:rPr>
              <a:t>。</a:t>
            </a:r>
          </a:p>
        </p:txBody>
      </p:sp>
      <p:graphicFrame>
        <p:nvGraphicFramePr>
          <p:cNvPr id="18" name="图表 17"/>
          <p:cNvGraphicFramePr>
            <a:graphicFrameLocks/>
          </p:cNvGraphicFramePr>
          <p:nvPr>
            <p:extLst>
              <p:ext uri="{D42A27DB-BD31-4B8C-83A1-F6EECF244321}">
                <p14:modId xmlns:p14="http://schemas.microsoft.com/office/powerpoint/2010/main" val="1610895641"/>
              </p:ext>
            </p:extLst>
          </p:nvPr>
        </p:nvGraphicFramePr>
        <p:xfrm>
          <a:off x="1782658" y="4043206"/>
          <a:ext cx="4578435" cy="2607548"/>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9" name="图表 18"/>
          <p:cNvGraphicFramePr>
            <a:graphicFrameLocks/>
          </p:cNvGraphicFramePr>
          <p:nvPr>
            <p:extLst>
              <p:ext uri="{D42A27DB-BD31-4B8C-83A1-F6EECF244321}">
                <p14:modId xmlns:p14="http://schemas.microsoft.com/office/powerpoint/2010/main" val="4171151047"/>
              </p:ext>
            </p:extLst>
          </p:nvPr>
        </p:nvGraphicFramePr>
        <p:xfrm>
          <a:off x="6232334" y="4040815"/>
          <a:ext cx="4765678" cy="260754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0" name="图表 19"/>
          <p:cNvGraphicFramePr>
            <a:graphicFrameLocks/>
          </p:cNvGraphicFramePr>
          <p:nvPr>
            <p:extLst>
              <p:ext uri="{D42A27DB-BD31-4B8C-83A1-F6EECF244321}">
                <p14:modId xmlns:p14="http://schemas.microsoft.com/office/powerpoint/2010/main" val="1718799924"/>
              </p:ext>
            </p:extLst>
          </p:nvPr>
        </p:nvGraphicFramePr>
        <p:xfrm>
          <a:off x="1680426" y="1422400"/>
          <a:ext cx="4551907" cy="2642552"/>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1" name="图表 20"/>
          <p:cNvGraphicFramePr>
            <a:graphicFrameLocks/>
          </p:cNvGraphicFramePr>
          <p:nvPr>
            <p:extLst>
              <p:ext uri="{D42A27DB-BD31-4B8C-83A1-F6EECF244321}">
                <p14:modId xmlns:p14="http://schemas.microsoft.com/office/powerpoint/2010/main" val="1310070690"/>
              </p:ext>
            </p:extLst>
          </p:nvPr>
        </p:nvGraphicFramePr>
        <p:xfrm>
          <a:off x="6463325" y="1479038"/>
          <a:ext cx="4554506" cy="2611646"/>
        </p:xfrm>
        <a:graphic>
          <a:graphicData uri="http://schemas.openxmlformats.org/drawingml/2006/chart">
            <c:chart xmlns:c="http://schemas.openxmlformats.org/drawingml/2006/chart" xmlns:r="http://schemas.openxmlformats.org/officeDocument/2006/relationships" r:id="rId9"/>
          </a:graphicData>
        </a:graphic>
      </p:graphicFrame>
    </p:spTree>
    <p:custDataLst>
      <p:tags r:id="rId1"/>
    </p:custDataLst>
    <p:extLst>
      <p:ext uri="{BB962C8B-B14F-4D97-AF65-F5344CB8AC3E}">
        <p14:creationId xmlns:p14="http://schemas.microsoft.com/office/powerpoint/2010/main" val="9032461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2"/>
            </p:custDataLst>
          </p:nvPr>
        </p:nvSpPr>
        <p:spPr>
          <a:xfrm rot="5400000">
            <a:off x="2032495" y="-47625"/>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5" name="标题 14"/>
          <p:cNvSpPr>
            <a:spLocks noGrp="1"/>
          </p:cNvSpPr>
          <p:nvPr>
            <p:ph type="ctrTitle"/>
          </p:nvPr>
        </p:nvSpPr>
        <p:spPr>
          <a:xfrm>
            <a:off x="575310" y="472775"/>
            <a:ext cx="1920953" cy="444500"/>
          </a:xfrm>
        </p:spPr>
        <p:txBody>
          <a:bodyPr vert="horz" lIns="90000" tIns="46800" rIns="90000" bIns="46800" rtlCol="0" anchor="b" anchorCtr="0">
            <a:noAutofit/>
          </a:bodyPr>
          <a:lstStyle/>
          <a:p>
            <a:pPr lvl="0" algn="l">
              <a:buClrTx/>
              <a:buSzTx/>
              <a:buFontTx/>
            </a:pPr>
            <a:r>
              <a:rPr lang="zh-CN" altLang="en-US" sz="28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总结</a:t>
            </a:r>
          </a:p>
        </p:txBody>
      </p:sp>
      <p:pic>
        <p:nvPicPr>
          <p:cNvPr id="5" name="图片 4" descr="未标题-1"/>
          <p:cNvPicPr>
            <a:picLocks noChangeAspect="1"/>
          </p:cNvPicPr>
          <p:nvPr/>
        </p:nvPicPr>
        <p:blipFill>
          <a:blip r:embed="rId5"/>
          <a:stretch>
            <a:fillRect/>
          </a:stretch>
        </p:blipFill>
        <p:spPr>
          <a:xfrm>
            <a:off x="11133455" y="295910"/>
            <a:ext cx="771525" cy="187960"/>
          </a:xfrm>
          <a:prstGeom prst="rect">
            <a:avLst/>
          </a:prstGeom>
        </p:spPr>
      </p:pic>
      <p:graphicFrame>
        <p:nvGraphicFramePr>
          <p:cNvPr id="6" name="图示 5">
            <a:extLst>
              <a:ext uri="{FF2B5EF4-FFF2-40B4-BE49-F238E27FC236}">
                <a16:creationId xmlns:a16="http://schemas.microsoft.com/office/drawing/2014/main" id="{89B96807-3121-4622-9E6B-1E28BA2C8966}"/>
              </a:ext>
            </a:extLst>
          </p:cNvPr>
          <p:cNvGraphicFramePr/>
          <p:nvPr>
            <p:extLst>
              <p:ext uri="{D42A27DB-BD31-4B8C-83A1-F6EECF244321}">
                <p14:modId xmlns:p14="http://schemas.microsoft.com/office/powerpoint/2010/main" val="3351811544"/>
              </p:ext>
            </p:extLst>
          </p:nvPr>
        </p:nvGraphicFramePr>
        <p:xfrm>
          <a:off x="1278573" y="1302351"/>
          <a:ext cx="9394257" cy="539401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ustDataLst>
      <p:tags r:id="rId1"/>
    </p:custDataLst>
    <p:extLst>
      <p:ext uri="{BB962C8B-B14F-4D97-AF65-F5344CB8AC3E}">
        <p14:creationId xmlns:p14="http://schemas.microsoft.com/office/powerpoint/2010/main" val="21609019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rot="5400000">
            <a:off x="1603598" y="-238180"/>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5" name="标题 14"/>
          <p:cNvSpPr txBox="1">
            <a:spLocks/>
          </p:cNvSpPr>
          <p:nvPr/>
        </p:nvSpPr>
        <p:spPr>
          <a:xfrm>
            <a:off x="288652" y="181556"/>
            <a:ext cx="7550552" cy="521102"/>
          </a:xfrm>
          <a:prstGeom prst="rect">
            <a:avLst/>
          </a:prstGeom>
        </p:spPr>
        <p:txBody>
          <a:bodyPr vert="horz" lIns="90000" tIns="46800" rIns="90000" bIns="468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P72 </a:t>
            </a:r>
            <a:r>
              <a:rPr lang="en-US" altLang="zh-CN" sz="2400" b="1" spc="300" dirty="0" err="1">
                <a:solidFill>
                  <a:srgbClr val="015658"/>
                </a:solidFill>
                <a:latin typeface="獅尾四季春加糖SC-Bold" panose="020B0500000000000000" pitchFamily="34" charset="-120"/>
                <a:ea typeface="獅尾四季春加糖SC-Bold" panose="020B0500000000000000" pitchFamily="34" charset="-120"/>
                <a:cs typeface="+mn-cs"/>
                <a:sym typeface="+mn-ea"/>
              </a:rPr>
              <a:t>Turion</a:t>
            </a:r>
            <a:r>
              <a:rPr lang="zh-CN" altLang="en-US" sz="2400" b="1" spc="300" dirty="0">
                <a:solidFill>
                  <a:srgbClr val="015658"/>
                </a:solidFill>
                <a:latin typeface="獅尾四季春加糖SC-Bold" panose="020B0500000000000000" pitchFamily="34" charset="-120"/>
                <a:ea typeface="獅尾四季春加糖SC-Bold" panose="020B0500000000000000" pitchFamily="34" charset="-120"/>
                <a:cs typeface="+mn-cs"/>
                <a:sym typeface="+mn-ea"/>
              </a:rPr>
              <a:t>基金实盘业绩</a:t>
            </a:r>
          </a:p>
        </p:txBody>
      </p:sp>
      <p:sp>
        <p:nvSpPr>
          <p:cNvPr id="6" name="矩形 5">
            <a:extLst>
              <a:ext uri="{FF2B5EF4-FFF2-40B4-BE49-F238E27FC236}">
                <a16:creationId xmlns:a16="http://schemas.microsoft.com/office/drawing/2014/main" id="{150D7285-593D-474E-815E-1C5284B90D14}"/>
              </a:ext>
            </a:extLst>
          </p:cNvPr>
          <p:cNvSpPr/>
          <p:nvPr/>
        </p:nvSpPr>
        <p:spPr>
          <a:xfrm>
            <a:off x="717549" y="1472925"/>
            <a:ext cx="6934986" cy="1061829"/>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Turion Performance: Point72 Turion Offshore, L.P</a:t>
            </a:r>
            <a:r>
              <a:rPr lang="en-US" altLang="zh-CN" sz="1400" dirty="0" smtClean="0">
                <a:latin typeface="微软雅黑" panose="020B0503020204020204" pitchFamily="34" charset="-122"/>
                <a:ea typeface="微软雅黑" panose="020B0503020204020204" pitchFamily="34" charset="-122"/>
              </a:rPr>
              <a:t>.</a:t>
            </a:r>
          </a:p>
          <a:p>
            <a:pPr marL="285750" indent="-285750">
              <a:lnSpc>
                <a:spcPct val="150000"/>
              </a:lnSpc>
              <a:buFont typeface="Arial" panose="020B0604020202020204" pitchFamily="34" charset="0"/>
              <a:buChar char="•"/>
            </a:pPr>
            <a:r>
              <a:rPr lang="en-US" altLang="zh-CN" sz="1400" dirty="0" smtClean="0">
                <a:latin typeface="微软雅黑" panose="020B0503020204020204" pitchFamily="34" charset="-122"/>
                <a:ea typeface="微软雅黑" panose="020B0503020204020204" pitchFamily="34" charset="-122"/>
              </a:rPr>
              <a:t>Share Class B: 2.0% Management Fee &amp; 20% Incentive Fee</a:t>
            </a:r>
          </a:p>
          <a:p>
            <a:pPr marL="285750" indent="-285750">
              <a:lnSpc>
                <a:spcPct val="150000"/>
              </a:lnSpc>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B56AF504-F257-4CA9-B8A8-BB1EEAE5B120}"/>
              </a:ext>
            </a:extLst>
          </p:cNvPr>
          <p:cNvPicPr>
            <a:picLocks noChangeAspect="1"/>
          </p:cNvPicPr>
          <p:nvPr/>
        </p:nvPicPr>
        <p:blipFill>
          <a:blip r:embed="rId3"/>
          <a:stretch>
            <a:fillRect/>
          </a:stretch>
        </p:blipFill>
        <p:spPr>
          <a:xfrm>
            <a:off x="518160" y="2663214"/>
            <a:ext cx="11508352" cy="862630"/>
          </a:xfrm>
          <a:prstGeom prst="rect">
            <a:avLst/>
          </a:prstGeom>
        </p:spPr>
      </p:pic>
      <p:sp>
        <p:nvSpPr>
          <p:cNvPr id="9" name="矩形 8">
            <a:extLst>
              <a:ext uri="{FF2B5EF4-FFF2-40B4-BE49-F238E27FC236}">
                <a16:creationId xmlns:a16="http://schemas.microsoft.com/office/drawing/2014/main" id="{921924B7-10F8-4553-B20E-D2A1FD028388}"/>
              </a:ext>
            </a:extLst>
          </p:cNvPr>
          <p:cNvSpPr/>
          <p:nvPr/>
        </p:nvSpPr>
        <p:spPr>
          <a:xfrm>
            <a:off x="8069095" y="2956560"/>
            <a:ext cx="2806459" cy="569283"/>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717549" y="3801032"/>
            <a:ext cx="4075611" cy="276999"/>
          </a:xfrm>
          <a:prstGeom prst="rect">
            <a:avLst/>
          </a:prstGeom>
          <a:noFill/>
        </p:spPr>
        <p:txBody>
          <a:bodyPr wrap="square" rtlCol="0">
            <a:spAutoFit/>
          </a:bodyPr>
          <a:lstStyle/>
          <a:p>
            <a:r>
              <a:rPr lang="en-US" altLang="zh-CN" sz="1200" b="1" dirty="0" smtClean="0">
                <a:latin typeface="+mj-ea"/>
                <a:ea typeface="+mj-ea"/>
              </a:rPr>
              <a:t>*    2025</a:t>
            </a:r>
            <a:r>
              <a:rPr lang="zh-CN" altLang="en-US" sz="1200" b="1" dirty="0" smtClean="0">
                <a:latin typeface="+mj-ea"/>
                <a:ea typeface="+mj-ea"/>
              </a:rPr>
              <a:t>年</a:t>
            </a:r>
            <a:r>
              <a:rPr lang="en-US" altLang="zh-CN" sz="1200" b="1" dirty="0" smtClean="0">
                <a:latin typeface="+mj-ea"/>
                <a:ea typeface="+mj-ea"/>
              </a:rPr>
              <a:t>1</a:t>
            </a:r>
            <a:r>
              <a:rPr lang="zh-CN" altLang="en-US" sz="1200" b="1" dirty="0" smtClean="0">
                <a:latin typeface="+mj-ea"/>
                <a:ea typeface="+mj-ea"/>
              </a:rPr>
              <a:t>月预估 </a:t>
            </a:r>
            <a:r>
              <a:rPr lang="en-US" altLang="zh-CN" sz="1200" b="1" dirty="0" smtClean="0">
                <a:solidFill>
                  <a:srgbClr val="C00000"/>
                </a:solidFill>
                <a:latin typeface="+mj-ea"/>
                <a:ea typeface="+mj-ea"/>
              </a:rPr>
              <a:t>0.21%</a:t>
            </a:r>
            <a:endParaRPr lang="zh-CN" altLang="en-US" sz="1200" b="1" dirty="0">
              <a:solidFill>
                <a:srgbClr val="C00000"/>
              </a:solidFill>
              <a:latin typeface="+mj-ea"/>
              <a:ea typeface="+mj-ea"/>
            </a:endParaRPr>
          </a:p>
        </p:txBody>
      </p:sp>
      <p:sp>
        <p:nvSpPr>
          <p:cNvPr id="12" name="Rectangle 9">
            <a:extLst>
              <a:ext uri="{FF2B5EF4-FFF2-40B4-BE49-F238E27FC236}">
                <a16:creationId xmlns:a16="http://schemas.microsoft.com/office/drawing/2014/main" id="{02955F2D-E140-4863-8553-F5A7F99F14B2}"/>
              </a:ext>
            </a:extLst>
          </p:cNvPr>
          <p:cNvSpPr/>
          <p:nvPr/>
        </p:nvSpPr>
        <p:spPr>
          <a:xfrm>
            <a:off x="204475" y="6048322"/>
            <a:ext cx="11898945" cy="487313"/>
          </a:xfrm>
          <a:prstGeom prst="rect">
            <a:avLst/>
          </a:prstGeom>
        </p:spPr>
        <p:txBody>
          <a:bodyPr wrap="square">
            <a:spAutoFit/>
          </a:bodyPr>
          <a:lstStyle/>
          <a:p>
            <a:pPr>
              <a:spcBef>
                <a:spcPts val="81"/>
              </a:spcBef>
            </a:pPr>
            <a:r>
              <a:rPr lang="zh-CN" altLang="en-US" sz="800" dirty="0">
                <a:ea typeface="思源黑体 CN Regular" panose="020B0500000000000000" pitchFamily="34" charset="-122"/>
              </a:rPr>
              <a:t>资料来源</a:t>
            </a:r>
            <a:r>
              <a:rPr lang="zh-CN" altLang="en-US" sz="800" dirty="0" smtClean="0">
                <a:ea typeface="思源黑体 CN Regular" panose="020B0500000000000000" pitchFamily="34" charset="-122"/>
              </a:rPr>
              <a:t>：</a:t>
            </a:r>
            <a:endParaRPr lang="en-US" altLang="zh-CN" sz="800" dirty="0" smtClean="0">
              <a:ea typeface="思源黑体 CN Regular" panose="020B0500000000000000" pitchFamily="34" charset="-122"/>
            </a:endParaRPr>
          </a:p>
          <a:p>
            <a:pPr>
              <a:spcBef>
                <a:spcPts val="81"/>
              </a:spcBef>
            </a:pPr>
            <a:r>
              <a:rPr lang="en-US" altLang="zh-CN" sz="800" dirty="0" smtClean="0">
                <a:ea typeface="思源黑体 CN Regular" panose="020B0500000000000000" pitchFamily="34" charset="-122"/>
              </a:rPr>
              <a:t>1</a:t>
            </a:r>
            <a:r>
              <a:rPr lang="zh-CN" altLang="en-US" sz="800" dirty="0" smtClean="0">
                <a:ea typeface="思源黑体 CN Regular" panose="020B0500000000000000" pitchFamily="34" charset="-122"/>
              </a:rPr>
              <a:t>、</a:t>
            </a:r>
            <a:r>
              <a:rPr lang="en-US" altLang="zh-CN" sz="800" dirty="0" smtClean="0">
                <a:ea typeface="思源黑体 CN Regular" panose="020B0500000000000000" pitchFamily="34" charset="-122"/>
              </a:rPr>
              <a:t>Point72</a:t>
            </a:r>
            <a:r>
              <a:rPr lang="zh-CN" altLang="en-US" sz="800" dirty="0">
                <a:ea typeface="思源黑体 CN Regular" panose="020B0500000000000000" pitchFamily="34" charset="-122"/>
              </a:rPr>
              <a:t>，截至</a:t>
            </a:r>
            <a:r>
              <a:rPr lang="en-US" altLang="zh-CN" sz="800" dirty="0">
                <a:ea typeface="思源黑体 CN Regular" panose="020B0500000000000000" pitchFamily="34" charset="-122"/>
              </a:rPr>
              <a:t>2024</a:t>
            </a:r>
            <a:r>
              <a:rPr lang="zh-CN" altLang="en-US" sz="800" dirty="0" smtClean="0">
                <a:ea typeface="思源黑体 CN Regular" panose="020B0500000000000000" pitchFamily="34" charset="-122"/>
              </a:rPr>
              <a:t>年</a:t>
            </a:r>
            <a:r>
              <a:rPr lang="en-US" altLang="zh-CN" sz="800" dirty="0">
                <a:ea typeface="思源黑体 CN Regular" panose="020B0500000000000000" pitchFamily="34" charset="-122"/>
              </a:rPr>
              <a:t>9</a:t>
            </a:r>
            <a:r>
              <a:rPr lang="zh-CN" altLang="en-US" sz="800" dirty="0" smtClean="0">
                <a:ea typeface="思源黑体 CN Regular" panose="020B0500000000000000" pitchFamily="34" charset="-122"/>
              </a:rPr>
              <a:t>月</a:t>
            </a:r>
            <a:r>
              <a:rPr lang="en-US" altLang="zh-CN" sz="800" dirty="0" smtClean="0">
                <a:ea typeface="思源黑体 CN Regular" panose="020B0500000000000000" pitchFamily="34" charset="-122"/>
              </a:rPr>
              <a:t>30</a:t>
            </a:r>
            <a:r>
              <a:rPr lang="zh-CN" altLang="en-US" sz="800" dirty="0" smtClean="0">
                <a:ea typeface="思源黑体 CN Regular" panose="020B0500000000000000" pitchFamily="34" charset="-122"/>
              </a:rPr>
              <a:t>日，为扣除</a:t>
            </a:r>
            <a:r>
              <a:rPr lang="en-US" altLang="zh-CN" sz="800" dirty="0" smtClean="0">
                <a:ea typeface="思源黑体 CN Regular" panose="020B0500000000000000" pitchFamily="34" charset="-122"/>
              </a:rPr>
              <a:t>2%/</a:t>
            </a:r>
            <a:r>
              <a:rPr lang="zh-CN" altLang="en-US" sz="800" dirty="0" smtClean="0">
                <a:ea typeface="思源黑体 CN Regular" panose="020B0500000000000000" pitchFamily="34" charset="-122"/>
              </a:rPr>
              <a:t>年管理费</a:t>
            </a:r>
            <a:r>
              <a:rPr lang="en-US" altLang="zh-CN" sz="800" dirty="0" smtClean="0">
                <a:ea typeface="思源黑体 CN Regular" panose="020B0500000000000000" pitchFamily="34" charset="-122"/>
              </a:rPr>
              <a:t>+20%</a:t>
            </a:r>
            <a:r>
              <a:rPr lang="zh-CN" altLang="en-US" sz="800" dirty="0" smtClean="0">
                <a:ea typeface="思源黑体 CN Regular" panose="020B0500000000000000" pitchFamily="34" charset="-122"/>
              </a:rPr>
              <a:t>业绩报酬的费后收益。</a:t>
            </a:r>
            <a:endParaRPr lang="en-US" altLang="zh-CN" sz="800" dirty="0" smtClean="0">
              <a:ea typeface="思源黑体 CN Regular" panose="020B0500000000000000" pitchFamily="34" charset="-122"/>
            </a:endParaRPr>
          </a:p>
          <a:p>
            <a:pPr>
              <a:spcBef>
                <a:spcPts val="81"/>
              </a:spcBef>
            </a:pPr>
            <a:r>
              <a:rPr lang="en-US" altLang="zh-CN" sz="800" dirty="0" smtClean="0">
                <a:ea typeface="思源黑体 CN Regular" panose="020B0500000000000000" pitchFamily="34" charset="-122"/>
              </a:rPr>
              <a:t>2</a:t>
            </a:r>
            <a:r>
              <a:rPr lang="zh-CN" altLang="en-US" sz="800" dirty="0" smtClean="0">
                <a:ea typeface="思源黑体 CN Regular" panose="020B0500000000000000" pitchFamily="34" charset="-122"/>
              </a:rPr>
              <a:t>、</a:t>
            </a:r>
            <a:r>
              <a:rPr lang="en-US" altLang="zh-CN" sz="800" b="1" dirty="0" smtClean="0">
                <a:solidFill>
                  <a:srgbClr val="C00000"/>
                </a:solidFill>
                <a:ea typeface="思源黑体 CN Regular" panose="020B0500000000000000" pitchFamily="34" charset="-122"/>
              </a:rPr>
              <a:t>2025</a:t>
            </a:r>
            <a:r>
              <a:rPr lang="zh-CN" altLang="en-US" sz="800" b="1" dirty="0" smtClean="0">
                <a:solidFill>
                  <a:srgbClr val="C00000"/>
                </a:solidFill>
                <a:ea typeface="思源黑体 CN Regular" panose="020B0500000000000000" pitchFamily="34" charset="-122"/>
              </a:rPr>
              <a:t>年</a:t>
            </a:r>
            <a:r>
              <a:rPr lang="en-US" altLang="zh-CN" sz="800" b="1" dirty="0" smtClean="0">
                <a:solidFill>
                  <a:srgbClr val="C00000"/>
                </a:solidFill>
                <a:ea typeface="思源黑体 CN Regular" panose="020B0500000000000000" pitchFamily="34" charset="-122"/>
              </a:rPr>
              <a:t>1</a:t>
            </a:r>
            <a:r>
              <a:rPr lang="zh-CN" altLang="en-US" sz="800" b="1" dirty="0" smtClean="0">
                <a:solidFill>
                  <a:srgbClr val="C00000"/>
                </a:solidFill>
                <a:ea typeface="思源黑体 CN Regular" panose="020B0500000000000000" pitchFamily="34" charset="-122"/>
              </a:rPr>
              <a:t>月表现为预估收益。</a:t>
            </a:r>
            <a:endParaRPr lang="zh-CN" altLang="en-US" sz="800" dirty="0">
              <a:ea typeface="思源黑体 CN Regular" panose="020B0500000000000000" pitchFamily="34" charset="-122"/>
            </a:endParaRPr>
          </a:p>
        </p:txBody>
      </p:sp>
    </p:spTree>
    <p:extLst>
      <p:ext uri="{BB962C8B-B14F-4D97-AF65-F5344CB8AC3E}">
        <p14:creationId xmlns:p14="http://schemas.microsoft.com/office/powerpoint/2010/main" val="285659660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4.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11.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1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1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17.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1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9.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20.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21.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2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3.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2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5.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2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7.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2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9.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3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1.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32.xml><?xml version="1.0" encoding="utf-8"?>
<p:tagLst xmlns:a="http://schemas.openxmlformats.org/drawingml/2006/main" xmlns:r="http://schemas.openxmlformats.org/officeDocument/2006/relationships"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684</TotalTime>
  <Words>3576</Words>
  <Application>Microsoft Office PowerPoint</Application>
  <PresentationFormat>宽屏</PresentationFormat>
  <Paragraphs>679</Paragraphs>
  <Slides>22</Slides>
  <Notes>17</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22</vt:i4>
      </vt:variant>
    </vt:vector>
  </HeadingPairs>
  <TitlesOfParts>
    <vt:vector size="39" baseType="lpstr">
      <vt:lpstr>Domaine Display</vt:lpstr>
      <vt:lpstr>Noto Sans CJK HK</vt:lpstr>
      <vt:lpstr>等线</vt:lpstr>
      <vt:lpstr>等线 Light</vt:lpstr>
      <vt:lpstr>仿宋_GB2312</vt:lpstr>
      <vt:lpstr>獅尾四季春加糖SC-Bold</vt:lpstr>
      <vt:lpstr>思源黑体 CN Light</vt:lpstr>
      <vt:lpstr>思源黑体 CN Medium</vt:lpstr>
      <vt:lpstr>思源黑体 CN Regular</vt:lpstr>
      <vt:lpstr>思源宋体 CN SemiBold</vt:lpstr>
      <vt:lpstr>微软雅黑</vt:lpstr>
      <vt:lpstr>Arial</vt:lpstr>
      <vt:lpstr>Franklin Gothic Demi Cond</vt:lpstr>
      <vt:lpstr>Franklin Gothic Medium Cond</vt:lpstr>
      <vt:lpstr>Trebuchet MS</vt:lpstr>
      <vt:lpstr>Wingdings</vt:lpstr>
      <vt:lpstr>Office 主题​​</vt:lpstr>
      <vt:lpstr>PowerPoint 演示文稿</vt:lpstr>
      <vt:lpstr>PowerPoint 演示文稿</vt:lpstr>
      <vt:lpstr>PowerPoint 演示文稿</vt:lpstr>
      <vt:lpstr>平台型对冲基金三巨头</vt:lpstr>
      <vt:lpstr>PowerPoint 演示文稿</vt:lpstr>
      <vt:lpstr>P72公司概览</vt:lpstr>
      <vt:lpstr>P72核心人物</vt:lpstr>
      <vt:lpstr>PowerPoint 演示文稿</vt:lpstr>
      <vt:lpstr>PowerPoint 演示文稿</vt:lpstr>
      <vt:lpstr>P72 Turion投资经理&amp;研究团队</vt:lpstr>
      <vt:lpstr>2025.01.09 基金经理交流</vt:lpstr>
      <vt:lpstr>PowerPoint 演示文稿</vt:lpstr>
      <vt:lpstr>实盘账户-多空仓位配置参考</vt:lpstr>
      <vt:lpstr>PowerPoint 演示文稿</vt:lpstr>
      <vt:lpstr>PowerPoint 演示文稿</vt:lpstr>
      <vt:lpstr>PowerPoint 演示文稿</vt:lpstr>
      <vt:lpstr>P72 Turion基金-策略概述</vt:lpstr>
      <vt:lpstr>持仓地域分布</vt:lpstr>
      <vt:lpstr>持仓板块分布</vt:lpstr>
      <vt:lpstr>持仓市值分布</vt:lpstr>
      <vt:lpstr>总结</vt:lpstr>
      <vt:lpstr>PowerPoint 演示文稿</vt:lpstr>
    </vt:vector>
  </TitlesOfParts>
  <Company>NOAHGROUP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石昊晨</dc:creator>
  <cp:lastModifiedBy>石昊晨</cp:lastModifiedBy>
  <cp:revision>26</cp:revision>
  <dcterms:created xsi:type="dcterms:W3CDTF">2025-02-13T07:06:02Z</dcterms:created>
  <dcterms:modified xsi:type="dcterms:W3CDTF">2025-02-14T03:06:45Z</dcterms:modified>
</cp:coreProperties>
</file>